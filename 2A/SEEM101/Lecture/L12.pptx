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tmp" ContentType="image/png"/>
  <Default Extension="vsdx" ContentType="application/vnd.ms-visio.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453" r:id="rId2"/>
    <p:sldId id="348" r:id="rId3"/>
    <p:sldId id="435" r:id="rId4"/>
    <p:sldId id="389" r:id="rId5"/>
    <p:sldId id="350" r:id="rId6"/>
    <p:sldId id="390" r:id="rId7"/>
    <p:sldId id="401" r:id="rId8"/>
    <p:sldId id="403" r:id="rId9"/>
    <p:sldId id="404" r:id="rId10"/>
    <p:sldId id="407" r:id="rId11"/>
    <p:sldId id="351" r:id="rId12"/>
    <p:sldId id="402" r:id="rId13"/>
    <p:sldId id="408" r:id="rId14"/>
    <p:sldId id="423" r:id="rId15"/>
    <p:sldId id="352" r:id="rId16"/>
    <p:sldId id="424" r:id="rId17"/>
    <p:sldId id="426" r:id="rId18"/>
    <p:sldId id="409" r:id="rId19"/>
    <p:sldId id="410" r:id="rId20"/>
    <p:sldId id="415" r:id="rId21"/>
    <p:sldId id="416" r:id="rId22"/>
    <p:sldId id="417" r:id="rId23"/>
    <p:sldId id="421" r:id="rId24"/>
    <p:sldId id="428" r:id="rId25"/>
    <p:sldId id="427" r:id="rId26"/>
    <p:sldId id="422" r:id="rId27"/>
    <p:sldId id="411" r:id="rId28"/>
    <p:sldId id="419" r:id="rId29"/>
    <p:sldId id="418" r:id="rId30"/>
    <p:sldId id="420" r:id="rId31"/>
    <p:sldId id="429" r:id="rId32"/>
    <p:sldId id="412" r:id="rId33"/>
    <p:sldId id="430" r:id="rId34"/>
    <p:sldId id="431" r:id="rId35"/>
    <p:sldId id="432" r:id="rId36"/>
    <p:sldId id="433" r:id="rId37"/>
    <p:sldId id="434" r:id="rId38"/>
    <p:sldId id="392" r:id="rId39"/>
    <p:sldId id="440" r:id="rId40"/>
    <p:sldId id="441" r:id="rId41"/>
    <p:sldId id="442" r:id="rId42"/>
    <p:sldId id="443" r:id="rId43"/>
    <p:sldId id="444" r:id="rId44"/>
    <p:sldId id="446" r:id="rId45"/>
    <p:sldId id="445" r:id="rId46"/>
    <p:sldId id="447" r:id="rId47"/>
    <p:sldId id="448" r:id="rId48"/>
    <p:sldId id="449" r:id="rId49"/>
    <p:sldId id="450" r:id="rId50"/>
    <p:sldId id="451" r:id="rId51"/>
    <p:sldId id="452" r:id="rId52"/>
    <p:sldId id="353" r:id="rId53"/>
    <p:sldId id="354" r:id="rId54"/>
    <p:sldId id="356" r:id="rId55"/>
    <p:sldId id="355" r:id="rId56"/>
    <p:sldId id="357" r:id="rId57"/>
    <p:sldId id="360" r:id="rId58"/>
    <p:sldId id="359" r:id="rId59"/>
    <p:sldId id="358" r:id="rId60"/>
    <p:sldId id="361" r:id="rId61"/>
    <p:sldId id="362" r:id="rId62"/>
    <p:sldId id="363" r:id="rId63"/>
    <p:sldId id="364" r:id="rId64"/>
    <p:sldId id="365" r:id="rId65"/>
    <p:sldId id="369" r:id="rId66"/>
    <p:sldId id="366" r:id="rId67"/>
    <p:sldId id="367" r:id="rId68"/>
    <p:sldId id="370" r:id="rId69"/>
    <p:sldId id="371" r:id="rId70"/>
    <p:sldId id="372" r:id="rId71"/>
    <p:sldId id="373" r:id="rId72"/>
    <p:sldId id="374" r:id="rId73"/>
    <p:sldId id="375" r:id="rId74"/>
    <p:sldId id="376" r:id="rId75"/>
    <p:sldId id="378" r:id="rId76"/>
    <p:sldId id="379" r:id="rId77"/>
    <p:sldId id="380" r:id="rId78"/>
    <p:sldId id="377" r:id="rId79"/>
    <p:sldId id="368" r:id="rId80"/>
    <p:sldId id="286" r:id="rId81"/>
    <p:sldId id="257" r:id="rId82"/>
  </p:sldIdLst>
  <p:sldSz cx="12192000" cy="6858000"/>
  <p:notesSz cx="9866313" cy="6735763"/>
  <p:custDataLst>
    <p:tags r:id="rId8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0FF65C-CA29-52B5-E688-B9F869745318}" name="T B" initials="TB" userId="cc74087b7d702b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07" autoAdjust="0"/>
    <p:restoredTop sz="90714" autoAdjust="0"/>
  </p:normalViewPr>
  <p:slideViewPr>
    <p:cSldViewPr snapToGrid="0">
      <p:cViewPr varScale="1">
        <p:scale>
          <a:sx n="75" d="100"/>
          <a:sy n="75" d="100"/>
        </p:scale>
        <p:origin x="1267" y="48"/>
      </p:cViewPr>
      <p:guideLst/>
    </p:cSldViewPr>
  </p:slid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gs" Target="tags/tag1.xml"/><Relationship Id="rId89"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8/10/relationships/authors" Target="author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minjin Tsogtbayar" userId="c94a63f096c67c9e" providerId="LiveId" clId="{1D03B473-5C41-4C92-89E8-3498AA8364B6}"/>
    <pc:docChg chg="modSld sldOrd">
      <pc:chgData name="Nominjin Tsogtbayar" userId="c94a63f096c67c9e" providerId="LiveId" clId="{1D03B473-5C41-4C92-89E8-3498AA8364B6}" dt="2025-12-04T15:49:44.683" v="2"/>
      <pc:docMkLst>
        <pc:docMk/>
      </pc:docMkLst>
      <pc:sldChg chg="modSp mod">
        <pc:chgData name="Nominjin Tsogtbayar" userId="c94a63f096c67c9e" providerId="LiveId" clId="{1D03B473-5C41-4C92-89E8-3498AA8364B6}" dt="2025-11-28T15:02:54.925" v="0" actId="20577"/>
        <pc:sldMkLst>
          <pc:docMk/>
          <pc:sldMk cId="4126945138" sldId="390"/>
        </pc:sldMkLst>
        <pc:spChg chg="mod">
          <ac:chgData name="Nominjin Tsogtbayar" userId="c94a63f096c67c9e" providerId="LiveId" clId="{1D03B473-5C41-4C92-89E8-3498AA8364B6}" dt="2025-11-28T15:02:54.925" v="0" actId="20577"/>
          <ac:spMkLst>
            <pc:docMk/>
            <pc:sldMk cId="4126945138" sldId="390"/>
            <ac:spMk id="8" creationId="{ABEE56E0-C334-483A-8B25-EA6F504632D8}"/>
          </ac:spMkLst>
        </pc:spChg>
      </pc:sldChg>
      <pc:sldChg chg="ord">
        <pc:chgData name="Nominjin Tsogtbayar" userId="c94a63f096c67c9e" providerId="LiveId" clId="{1D03B473-5C41-4C92-89E8-3498AA8364B6}" dt="2025-12-04T15:49:44.683" v="2"/>
        <pc:sldMkLst>
          <pc:docMk/>
          <pc:sldMk cId="913328635" sldId="45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63CF28-0DEF-4C29-AAC1-75EE97F5E210}" type="doc">
      <dgm:prSet loTypeId="urn:microsoft.com/office/officeart/2005/8/layout/vProcess5" loCatId="process" qsTypeId="urn:microsoft.com/office/officeart/2005/8/quickstyle/3d4" qsCatId="3D" csTypeId="urn:microsoft.com/office/officeart/2005/8/colors/colorful1" csCatId="colorful" phldr="1"/>
      <dgm:spPr/>
      <dgm:t>
        <a:bodyPr/>
        <a:lstStyle/>
        <a:p>
          <a:endParaRPr lang="en-US"/>
        </a:p>
      </dgm:t>
    </dgm:pt>
    <dgm:pt modelId="{A40123AC-36CF-4CEF-916B-96A527667C64}">
      <dgm:prSet phldrT="[Text]" custT="1"/>
      <dgm:spPr/>
      <dgm:t>
        <a:bodyPr lIns="121920"/>
        <a:lstStyle/>
        <a:p>
          <a:r>
            <a:rPr lang="mn-MN" sz="3200" b="1" dirty="0">
              <a:solidFill>
                <a:schemeClr val="tx1"/>
              </a:solidFill>
              <a:latin typeface="Times New Roman" panose="02020603050405020304" pitchFamily="18" charset="0"/>
              <a:cs typeface="Times New Roman" panose="02020603050405020304" pitchFamily="18" charset="0"/>
            </a:rPr>
            <a:t>Хөрөнгө оруулалтын зорилгоо тодорхойлох</a:t>
          </a:r>
          <a:endParaRPr lang="en-US" sz="3200" b="1" dirty="0">
            <a:solidFill>
              <a:schemeClr val="tx1"/>
            </a:solidFill>
            <a:latin typeface="Times New Roman" panose="02020603050405020304" pitchFamily="18" charset="0"/>
            <a:cs typeface="Times New Roman" panose="02020603050405020304" pitchFamily="18" charset="0"/>
          </a:endParaRPr>
        </a:p>
      </dgm:t>
    </dgm:pt>
    <dgm:pt modelId="{7988528E-987B-42F1-B36F-F960D26E06BC}" type="parTrans" cxnId="{F2C94E07-F9E1-4054-9A31-E1F3FE617500}">
      <dgm:prSet/>
      <dgm:spPr/>
      <dgm:t>
        <a:bodyPr/>
        <a:lstStyle/>
        <a:p>
          <a:endParaRPr lang="en-US" sz="2400">
            <a:latin typeface="Times New Roman" panose="02020603050405020304" pitchFamily="18" charset="0"/>
            <a:cs typeface="Times New Roman" panose="02020603050405020304" pitchFamily="18" charset="0"/>
          </a:endParaRPr>
        </a:p>
      </dgm:t>
    </dgm:pt>
    <dgm:pt modelId="{A3D41132-8C47-483B-8ACA-BF6111861917}" type="sibTrans" cxnId="{F2C94E07-F9E1-4054-9A31-E1F3FE617500}">
      <dgm:prSet custT="1"/>
      <dgm:spPr/>
      <dgm:t>
        <a:bodyPr/>
        <a:lstStyle/>
        <a:p>
          <a:endParaRPr lang="en-US" sz="2800">
            <a:latin typeface="Times New Roman" panose="02020603050405020304" pitchFamily="18" charset="0"/>
            <a:cs typeface="Times New Roman" panose="02020603050405020304" pitchFamily="18" charset="0"/>
          </a:endParaRPr>
        </a:p>
      </dgm:t>
    </dgm:pt>
    <dgm:pt modelId="{D6A31C29-A198-439A-9DF8-26CA097AB85B}">
      <dgm:prSet phldrT="[Text]" custT="1"/>
      <dgm:spPr/>
      <dgm:t>
        <a:bodyPr/>
        <a:lstStyle/>
        <a:p>
          <a:pPr algn="just"/>
          <a:r>
            <a:rPr lang="mn-MN" sz="3200" b="1" dirty="0">
              <a:solidFill>
                <a:schemeClr val="tx1"/>
              </a:solidFill>
              <a:latin typeface="Times New Roman" panose="02020603050405020304" pitchFamily="18" charset="0"/>
              <a:cs typeface="Times New Roman" panose="02020603050405020304" pitchFamily="18" charset="0"/>
            </a:rPr>
            <a:t>Хувийн болон зах зээлийн хүчин зүйлсийн нөлөөллийг тооцох  </a:t>
          </a:r>
          <a:endParaRPr lang="en-US" sz="3200" b="1" dirty="0">
            <a:solidFill>
              <a:schemeClr val="tx1"/>
            </a:solidFill>
            <a:latin typeface="Times New Roman" panose="02020603050405020304" pitchFamily="18" charset="0"/>
            <a:cs typeface="Times New Roman" panose="02020603050405020304" pitchFamily="18" charset="0"/>
          </a:endParaRPr>
        </a:p>
      </dgm:t>
    </dgm:pt>
    <dgm:pt modelId="{BA03652B-C22E-48A3-AC12-1BE4F9547575}" type="parTrans" cxnId="{FAD747E0-7540-42D0-A06E-E1CF47775D71}">
      <dgm:prSet/>
      <dgm:spPr/>
      <dgm:t>
        <a:bodyPr/>
        <a:lstStyle/>
        <a:p>
          <a:endParaRPr lang="en-US" sz="2400">
            <a:latin typeface="Times New Roman" panose="02020603050405020304" pitchFamily="18" charset="0"/>
            <a:cs typeface="Times New Roman" panose="02020603050405020304" pitchFamily="18" charset="0"/>
          </a:endParaRPr>
        </a:p>
      </dgm:t>
    </dgm:pt>
    <dgm:pt modelId="{28C4CE9C-44E4-4CC3-B3B4-B0CF5DA93322}" type="sibTrans" cxnId="{FAD747E0-7540-42D0-A06E-E1CF47775D71}">
      <dgm:prSet custT="1"/>
      <dgm:spPr/>
      <dgm:t>
        <a:bodyPr/>
        <a:lstStyle/>
        <a:p>
          <a:endParaRPr lang="en-US" sz="2800">
            <a:latin typeface="Times New Roman" panose="02020603050405020304" pitchFamily="18" charset="0"/>
            <a:cs typeface="Times New Roman" panose="02020603050405020304" pitchFamily="18" charset="0"/>
          </a:endParaRPr>
        </a:p>
      </dgm:t>
    </dgm:pt>
    <dgm:pt modelId="{A3765CFA-6344-499E-8F25-CE31759C32E0}">
      <dgm:prSet phldrT="[Text]" custT="1"/>
      <dgm:spPr/>
      <dgm:t>
        <a:bodyPr/>
        <a:lstStyle/>
        <a:p>
          <a:r>
            <a:rPr lang="mn-MN" sz="3200" b="1" dirty="0">
              <a:solidFill>
                <a:schemeClr val="tx1"/>
              </a:solidFill>
              <a:latin typeface="Times New Roman" panose="02020603050405020304" pitchFamily="18" charset="0"/>
              <a:cs typeface="Times New Roman" panose="02020603050405020304" pitchFamily="18" charset="0"/>
            </a:rPr>
            <a:t>Хөрөнгө оруулалтын боломжит хувилбаруудыг тодорхойлох</a:t>
          </a:r>
          <a:endParaRPr lang="en-US" sz="3200" b="1" dirty="0">
            <a:solidFill>
              <a:schemeClr val="tx1"/>
            </a:solidFill>
            <a:latin typeface="Times New Roman" panose="02020603050405020304" pitchFamily="18" charset="0"/>
            <a:cs typeface="Times New Roman" panose="02020603050405020304" pitchFamily="18" charset="0"/>
          </a:endParaRPr>
        </a:p>
      </dgm:t>
    </dgm:pt>
    <dgm:pt modelId="{C4D4362E-348F-4B6F-8450-9A27ABA1AFAE}" type="parTrans" cxnId="{22FD151B-B050-4A32-BEAC-6FC53988830E}">
      <dgm:prSet/>
      <dgm:spPr/>
      <dgm:t>
        <a:bodyPr/>
        <a:lstStyle/>
        <a:p>
          <a:endParaRPr lang="en-US" sz="2400">
            <a:latin typeface="Times New Roman" panose="02020603050405020304" pitchFamily="18" charset="0"/>
            <a:cs typeface="Times New Roman" panose="02020603050405020304" pitchFamily="18" charset="0"/>
          </a:endParaRPr>
        </a:p>
      </dgm:t>
    </dgm:pt>
    <dgm:pt modelId="{1340FAE7-DFE6-450C-AFC4-0672EFA8BD80}" type="sibTrans" cxnId="{22FD151B-B050-4A32-BEAC-6FC53988830E}">
      <dgm:prSet custT="1"/>
      <dgm:spPr/>
      <dgm:t>
        <a:bodyPr/>
        <a:lstStyle/>
        <a:p>
          <a:endParaRPr lang="en-US" sz="2800">
            <a:latin typeface="Times New Roman" panose="02020603050405020304" pitchFamily="18" charset="0"/>
            <a:cs typeface="Times New Roman" panose="02020603050405020304" pitchFamily="18" charset="0"/>
          </a:endParaRPr>
        </a:p>
      </dgm:t>
    </dgm:pt>
    <dgm:pt modelId="{4D7842D0-A73E-4F08-9DF9-13A993695A30}">
      <dgm:prSet custT="1"/>
      <dgm:spPr/>
      <dgm:t>
        <a:bodyPr/>
        <a:lstStyle/>
        <a:p>
          <a:r>
            <a:rPr lang="mn-MN" sz="3200" b="1" dirty="0">
              <a:solidFill>
                <a:schemeClr val="tx1"/>
              </a:solidFill>
              <a:latin typeface="Times New Roman" panose="02020603050405020304" pitchFamily="18" charset="0"/>
              <a:cs typeface="Times New Roman" panose="02020603050405020304" pitchFamily="18" charset="0"/>
            </a:rPr>
            <a:t>Хөрөнгө оруулалтын ач холбогдлыг үнэлэх</a:t>
          </a:r>
          <a:endParaRPr lang="en-US" sz="3200" b="1" dirty="0">
            <a:solidFill>
              <a:schemeClr val="tx1"/>
            </a:solidFill>
            <a:latin typeface="Times New Roman" panose="02020603050405020304" pitchFamily="18" charset="0"/>
            <a:cs typeface="Times New Roman" panose="02020603050405020304" pitchFamily="18" charset="0"/>
          </a:endParaRPr>
        </a:p>
      </dgm:t>
    </dgm:pt>
    <dgm:pt modelId="{5D0EA90C-7A3A-442F-ABFD-1030D945C801}" type="parTrans" cxnId="{2DB33C03-0EB3-4BD3-A68C-AFAA18ED2891}">
      <dgm:prSet/>
      <dgm:spPr/>
      <dgm:t>
        <a:bodyPr/>
        <a:lstStyle/>
        <a:p>
          <a:endParaRPr lang="en-US" sz="2400">
            <a:latin typeface="Times New Roman" panose="02020603050405020304" pitchFamily="18" charset="0"/>
            <a:cs typeface="Times New Roman" panose="02020603050405020304" pitchFamily="18" charset="0"/>
          </a:endParaRPr>
        </a:p>
      </dgm:t>
    </dgm:pt>
    <dgm:pt modelId="{8567E2B8-8119-4FB0-A1DA-CB68A891F77F}" type="sibTrans" cxnId="{2DB33C03-0EB3-4BD3-A68C-AFAA18ED2891}">
      <dgm:prSet custT="1"/>
      <dgm:spPr/>
      <dgm:t>
        <a:bodyPr/>
        <a:lstStyle/>
        <a:p>
          <a:endParaRPr lang="en-US" sz="2800">
            <a:latin typeface="Times New Roman" panose="02020603050405020304" pitchFamily="18" charset="0"/>
            <a:cs typeface="Times New Roman" panose="02020603050405020304" pitchFamily="18" charset="0"/>
          </a:endParaRPr>
        </a:p>
      </dgm:t>
    </dgm:pt>
    <dgm:pt modelId="{1F20F2BA-BD76-4446-8507-54360BB7615F}">
      <dgm:prSet custT="1"/>
      <dgm:spPr/>
      <dgm:t>
        <a:bodyPr/>
        <a:lstStyle/>
        <a:p>
          <a:r>
            <a:rPr lang="mn-MN" sz="2800" b="1" dirty="0">
              <a:solidFill>
                <a:schemeClr val="tx1"/>
              </a:solidFill>
              <a:latin typeface="Times New Roman" panose="02020603050405020304" pitchFamily="18" charset="0"/>
              <a:cs typeface="Times New Roman" panose="02020603050405020304" pitchFamily="18" charset="0"/>
            </a:rPr>
            <a:t>Хөрөнгө оруулалтын шийдвэрийг хэрэгжүүлэх, Хөрөнгө оруулалтын багцыг хянах, шинэчлэх</a:t>
          </a:r>
          <a:endParaRPr lang="en-US" sz="2800" b="1" dirty="0">
            <a:solidFill>
              <a:schemeClr val="tx1"/>
            </a:solidFill>
            <a:latin typeface="Times New Roman" panose="02020603050405020304" pitchFamily="18" charset="0"/>
            <a:cs typeface="Times New Roman" panose="02020603050405020304" pitchFamily="18" charset="0"/>
          </a:endParaRPr>
        </a:p>
      </dgm:t>
    </dgm:pt>
    <dgm:pt modelId="{B033F683-8BF6-4682-B2A5-EEBDCBD5EAA6}" type="parTrans" cxnId="{3B6940F2-08CD-42AE-A4D8-8EDAFC8A90F7}">
      <dgm:prSet/>
      <dgm:spPr/>
      <dgm:t>
        <a:bodyPr/>
        <a:lstStyle/>
        <a:p>
          <a:endParaRPr lang="en-US">
            <a:latin typeface="Times New Roman" panose="02020603050405020304" pitchFamily="18" charset="0"/>
            <a:cs typeface="Times New Roman" panose="02020603050405020304" pitchFamily="18" charset="0"/>
          </a:endParaRPr>
        </a:p>
      </dgm:t>
    </dgm:pt>
    <dgm:pt modelId="{1D668A2A-1488-46D0-99D9-D386A6C67D92}" type="sibTrans" cxnId="{3B6940F2-08CD-42AE-A4D8-8EDAFC8A90F7}">
      <dgm:prSet/>
      <dgm:spPr/>
      <dgm:t>
        <a:bodyPr/>
        <a:lstStyle/>
        <a:p>
          <a:endParaRPr lang="en-US">
            <a:latin typeface="Times New Roman" panose="02020603050405020304" pitchFamily="18" charset="0"/>
            <a:cs typeface="Times New Roman" panose="02020603050405020304" pitchFamily="18" charset="0"/>
          </a:endParaRPr>
        </a:p>
      </dgm:t>
    </dgm:pt>
    <dgm:pt modelId="{A298B046-4B53-4E42-9A84-A6A649757852}" type="pres">
      <dgm:prSet presAssocID="{B063CF28-0DEF-4C29-AAC1-75EE97F5E210}" presName="outerComposite" presStyleCnt="0">
        <dgm:presLayoutVars>
          <dgm:chMax val="5"/>
          <dgm:dir/>
          <dgm:resizeHandles val="exact"/>
        </dgm:presLayoutVars>
      </dgm:prSet>
      <dgm:spPr/>
    </dgm:pt>
    <dgm:pt modelId="{69CF73A5-3A5C-4316-90CC-5E27E68848E6}" type="pres">
      <dgm:prSet presAssocID="{B063CF28-0DEF-4C29-AAC1-75EE97F5E210}" presName="dummyMaxCanvas" presStyleCnt="0">
        <dgm:presLayoutVars/>
      </dgm:prSet>
      <dgm:spPr/>
    </dgm:pt>
    <dgm:pt modelId="{0B57D7A8-9454-4FD7-9320-AE42216FAF17}" type="pres">
      <dgm:prSet presAssocID="{B063CF28-0DEF-4C29-AAC1-75EE97F5E210}" presName="FiveNodes_1" presStyleLbl="node1" presStyleIdx="0" presStyleCnt="5" custScaleX="96533">
        <dgm:presLayoutVars>
          <dgm:bulletEnabled val="1"/>
        </dgm:presLayoutVars>
      </dgm:prSet>
      <dgm:spPr/>
    </dgm:pt>
    <dgm:pt modelId="{B71D45C1-808B-45A6-B41A-DA066B724A35}" type="pres">
      <dgm:prSet presAssocID="{B063CF28-0DEF-4C29-AAC1-75EE97F5E210}" presName="FiveNodes_2" presStyleLbl="node1" presStyleIdx="1" presStyleCnt="5" custLinFactNeighborX="-1815">
        <dgm:presLayoutVars>
          <dgm:bulletEnabled val="1"/>
        </dgm:presLayoutVars>
      </dgm:prSet>
      <dgm:spPr/>
    </dgm:pt>
    <dgm:pt modelId="{D5C08430-64C0-4406-A02B-218BE8F7D2C1}" type="pres">
      <dgm:prSet presAssocID="{B063CF28-0DEF-4C29-AAC1-75EE97F5E210}" presName="FiveNodes_3" presStyleLbl="node1" presStyleIdx="2" presStyleCnt="5" custLinFactNeighborX="-3960" custLinFactNeighborY="-3473">
        <dgm:presLayoutVars>
          <dgm:bulletEnabled val="1"/>
        </dgm:presLayoutVars>
      </dgm:prSet>
      <dgm:spPr/>
    </dgm:pt>
    <dgm:pt modelId="{8444034F-0036-4E66-8C7C-EB781F1E7ECC}" type="pres">
      <dgm:prSet presAssocID="{B063CF28-0DEF-4C29-AAC1-75EE97F5E210}" presName="FiveNodes_4" presStyleLbl="node1" presStyleIdx="3" presStyleCnt="5">
        <dgm:presLayoutVars>
          <dgm:bulletEnabled val="1"/>
        </dgm:presLayoutVars>
      </dgm:prSet>
      <dgm:spPr/>
    </dgm:pt>
    <dgm:pt modelId="{936B0022-158D-4E47-AE15-7959C932A63A}" type="pres">
      <dgm:prSet presAssocID="{B063CF28-0DEF-4C29-AAC1-75EE97F5E210}" presName="FiveNodes_5" presStyleLbl="node1" presStyleIdx="4" presStyleCnt="5" custScaleX="106934" custLinFactNeighborX="-2640" custLinFactNeighborY="-2778">
        <dgm:presLayoutVars>
          <dgm:bulletEnabled val="1"/>
        </dgm:presLayoutVars>
      </dgm:prSet>
      <dgm:spPr/>
    </dgm:pt>
    <dgm:pt modelId="{34BE9F35-B1E0-4FE6-A646-8ABFE23E04C4}" type="pres">
      <dgm:prSet presAssocID="{B063CF28-0DEF-4C29-AAC1-75EE97F5E210}" presName="FiveConn_1-2" presStyleLbl="fgAccFollowNode1" presStyleIdx="0" presStyleCnt="4">
        <dgm:presLayoutVars>
          <dgm:bulletEnabled val="1"/>
        </dgm:presLayoutVars>
      </dgm:prSet>
      <dgm:spPr/>
    </dgm:pt>
    <dgm:pt modelId="{8D4149D5-75FC-4F16-ACC2-0EEE70C14957}" type="pres">
      <dgm:prSet presAssocID="{B063CF28-0DEF-4C29-AAC1-75EE97F5E210}" presName="FiveConn_2-3" presStyleLbl="fgAccFollowNode1" presStyleIdx="1" presStyleCnt="4">
        <dgm:presLayoutVars>
          <dgm:bulletEnabled val="1"/>
        </dgm:presLayoutVars>
      </dgm:prSet>
      <dgm:spPr/>
    </dgm:pt>
    <dgm:pt modelId="{6AEB721D-BAF5-4E97-B0CF-687F9FC10115}" type="pres">
      <dgm:prSet presAssocID="{B063CF28-0DEF-4C29-AAC1-75EE97F5E210}" presName="FiveConn_3-4" presStyleLbl="fgAccFollowNode1" presStyleIdx="2" presStyleCnt="4">
        <dgm:presLayoutVars>
          <dgm:bulletEnabled val="1"/>
        </dgm:presLayoutVars>
      </dgm:prSet>
      <dgm:spPr/>
    </dgm:pt>
    <dgm:pt modelId="{EEBDB33A-C64F-48F0-BCEB-4C4757E0BC1D}" type="pres">
      <dgm:prSet presAssocID="{B063CF28-0DEF-4C29-AAC1-75EE97F5E210}" presName="FiveConn_4-5" presStyleLbl="fgAccFollowNode1" presStyleIdx="3" presStyleCnt="4">
        <dgm:presLayoutVars>
          <dgm:bulletEnabled val="1"/>
        </dgm:presLayoutVars>
      </dgm:prSet>
      <dgm:spPr/>
    </dgm:pt>
    <dgm:pt modelId="{6C15F488-2EFF-480F-8ACD-746BE2769513}" type="pres">
      <dgm:prSet presAssocID="{B063CF28-0DEF-4C29-AAC1-75EE97F5E210}" presName="FiveNodes_1_text" presStyleLbl="node1" presStyleIdx="4" presStyleCnt="5">
        <dgm:presLayoutVars>
          <dgm:bulletEnabled val="1"/>
        </dgm:presLayoutVars>
      </dgm:prSet>
      <dgm:spPr/>
    </dgm:pt>
    <dgm:pt modelId="{8EA73DA4-EC85-4B72-96E6-764014FE2BB8}" type="pres">
      <dgm:prSet presAssocID="{B063CF28-0DEF-4C29-AAC1-75EE97F5E210}" presName="FiveNodes_2_text" presStyleLbl="node1" presStyleIdx="4" presStyleCnt="5">
        <dgm:presLayoutVars>
          <dgm:bulletEnabled val="1"/>
        </dgm:presLayoutVars>
      </dgm:prSet>
      <dgm:spPr/>
    </dgm:pt>
    <dgm:pt modelId="{402EFD58-AFFE-44A4-93DB-CF7532B9FC23}" type="pres">
      <dgm:prSet presAssocID="{B063CF28-0DEF-4C29-AAC1-75EE97F5E210}" presName="FiveNodes_3_text" presStyleLbl="node1" presStyleIdx="4" presStyleCnt="5">
        <dgm:presLayoutVars>
          <dgm:bulletEnabled val="1"/>
        </dgm:presLayoutVars>
      </dgm:prSet>
      <dgm:spPr/>
    </dgm:pt>
    <dgm:pt modelId="{4DACC05D-1183-42C9-857A-42E8B4BC424D}" type="pres">
      <dgm:prSet presAssocID="{B063CF28-0DEF-4C29-AAC1-75EE97F5E210}" presName="FiveNodes_4_text" presStyleLbl="node1" presStyleIdx="4" presStyleCnt="5">
        <dgm:presLayoutVars>
          <dgm:bulletEnabled val="1"/>
        </dgm:presLayoutVars>
      </dgm:prSet>
      <dgm:spPr/>
    </dgm:pt>
    <dgm:pt modelId="{39989E5D-8490-40E7-AB07-A876641B1AF8}" type="pres">
      <dgm:prSet presAssocID="{B063CF28-0DEF-4C29-AAC1-75EE97F5E210}" presName="FiveNodes_5_text" presStyleLbl="node1" presStyleIdx="4" presStyleCnt="5">
        <dgm:presLayoutVars>
          <dgm:bulletEnabled val="1"/>
        </dgm:presLayoutVars>
      </dgm:prSet>
      <dgm:spPr/>
    </dgm:pt>
  </dgm:ptLst>
  <dgm:cxnLst>
    <dgm:cxn modelId="{2DB33C03-0EB3-4BD3-A68C-AFAA18ED2891}" srcId="{B063CF28-0DEF-4C29-AAC1-75EE97F5E210}" destId="{4D7842D0-A73E-4F08-9DF9-13A993695A30}" srcOrd="3" destOrd="0" parTransId="{5D0EA90C-7A3A-442F-ABFD-1030D945C801}" sibTransId="{8567E2B8-8119-4FB0-A1DA-CB68A891F77F}"/>
    <dgm:cxn modelId="{F2C94E07-F9E1-4054-9A31-E1F3FE617500}" srcId="{B063CF28-0DEF-4C29-AAC1-75EE97F5E210}" destId="{A40123AC-36CF-4CEF-916B-96A527667C64}" srcOrd="0" destOrd="0" parTransId="{7988528E-987B-42F1-B36F-F960D26E06BC}" sibTransId="{A3D41132-8C47-483B-8ACA-BF6111861917}"/>
    <dgm:cxn modelId="{22FD151B-B050-4A32-BEAC-6FC53988830E}" srcId="{B063CF28-0DEF-4C29-AAC1-75EE97F5E210}" destId="{A3765CFA-6344-499E-8F25-CE31759C32E0}" srcOrd="2" destOrd="0" parTransId="{C4D4362E-348F-4B6F-8450-9A27ABA1AFAE}" sibTransId="{1340FAE7-DFE6-450C-AFC4-0672EFA8BD80}"/>
    <dgm:cxn modelId="{CC67153B-6123-4967-9FF0-B555049A2BE1}" type="presOf" srcId="{1F20F2BA-BD76-4446-8507-54360BB7615F}" destId="{936B0022-158D-4E47-AE15-7959C932A63A}" srcOrd="0" destOrd="0" presId="urn:microsoft.com/office/officeart/2005/8/layout/vProcess5"/>
    <dgm:cxn modelId="{73DA7C62-81E3-4656-BCCE-966E633298D2}" type="presOf" srcId="{A40123AC-36CF-4CEF-916B-96A527667C64}" destId="{6C15F488-2EFF-480F-8ACD-746BE2769513}" srcOrd="1" destOrd="0" presId="urn:microsoft.com/office/officeart/2005/8/layout/vProcess5"/>
    <dgm:cxn modelId="{CDA1F462-3ACA-4CAE-8BEA-92C05E3D6158}" type="presOf" srcId="{1F20F2BA-BD76-4446-8507-54360BB7615F}" destId="{39989E5D-8490-40E7-AB07-A876641B1AF8}" srcOrd="1" destOrd="0" presId="urn:microsoft.com/office/officeart/2005/8/layout/vProcess5"/>
    <dgm:cxn modelId="{425A3664-1F25-46FE-9611-B19888618508}" type="presOf" srcId="{4D7842D0-A73E-4F08-9DF9-13A993695A30}" destId="{4DACC05D-1183-42C9-857A-42E8B4BC424D}" srcOrd="1" destOrd="0" presId="urn:microsoft.com/office/officeart/2005/8/layout/vProcess5"/>
    <dgm:cxn modelId="{04A6724F-A22C-4CAD-A28D-862A66E72F7D}" type="presOf" srcId="{8567E2B8-8119-4FB0-A1DA-CB68A891F77F}" destId="{EEBDB33A-C64F-48F0-BCEB-4C4757E0BC1D}" srcOrd="0" destOrd="0" presId="urn:microsoft.com/office/officeart/2005/8/layout/vProcess5"/>
    <dgm:cxn modelId="{66A2B97E-6E57-42D1-BA27-31D919F019E6}" type="presOf" srcId="{D6A31C29-A198-439A-9DF8-26CA097AB85B}" destId="{8EA73DA4-EC85-4B72-96E6-764014FE2BB8}" srcOrd="1" destOrd="0" presId="urn:microsoft.com/office/officeart/2005/8/layout/vProcess5"/>
    <dgm:cxn modelId="{9C21DE8E-A45C-4B68-A1E5-5BDCF45519BB}" type="presOf" srcId="{A3765CFA-6344-499E-8F25-CE31759C32E0}" destId="{D5C08430-64C0-4406-A02B-218BE8F7D2C1}" srcOrd="0" destOrd="0" presId="urn:microsoft.com/office/officeart/2005/8/layout/vProcess5"/>
    <dgm:cxn modelId="{7B836DA1-7A88-4999-A77D-9D8D54C220B4}" type="presOf" srcId="{B063CF28-0DEF-4C29-AAC1-75EE97F5E210}" destId="{A298B046-4B53-4E42-9A84-A6A649757852}" srcOrd="0" destOrd="0" presId="urn:microsoft.com/office/officeart/2005/8/layout/vProcess5"/>
    <dgm:cxn modelId="{E6DF79AA-8BFF-40A7-BCE4-59E493542022}" type="presOf" srcId="{28C4CE9C-44E4-4CC3-B3B4-B0CF5DA93322}" destId="{8D4149D5-75FC-4F16-ACC2-0EEE70C14957}" srcOrd="0" destOrd="0" presId="urn:microsoft.com/office/officeart/2005/8/layout/vProcess5"/>
    <dgm:cxn modelId="{9DF288B1-F541-43C9-AB05-94C8B65A91BD}" type="presOf" srcId="{D6A31C29-A198-439A-9DF8-26CA097AB85B}" destId="{B71D45C1-808B-45A6-B41A-DA066B724A35}" srcOrd="0" destOrd="0" presId="urn:microsoft.com/office/officeart/2005/8/layout/vProcess5"/>
    <dgm:cxn modelId="{5EB083BE-4D34-44F0-B7C0-280C00A92133}" type="presOf" srcId="{A40123AC-36CF-4CEF-916B-96A527667C64}" destId="{0B57D7A8-9454-4FD7-9320-AE42216FAF17}" srcOrd="0" destOrd="0" presId="urn:microsoft.com/office/officeart/2005/8/layout/vProcess5"/>
    <dgm:cxn modelId="{231674DA-89E8-472E-9030-E9B1BFB9D69A}" type="presOf" srcId="{1340FAE7-DFE6-450C-AFC4-0672EFA8BD80}" destId="{6AEB721D-BAF5-4E97-B0CF-687F9FC10115}" srcOrd="0" destOrd="0" presId="urn:microsoft.com/office/officeart/2005/8/layout/vProcess5"/>
    <dgm:cxn modelId="{E31F65DD-53A6-4558-8A65-859D74508DFF}" type="presOf" srcId="{A3765CFA-6344-499E-8F25-CE31759C32E0}" destId="{402EFD58-AFFE-44A4-93DB-CF7532B9FC23}" srcOrd="1" destOrd="0" presId="urn:microsoft.com/office/officeart/2005/8/layout/vProcess5"/>
    <dgm:cxn modelId="{FAD747E0-7540-42D0-A06E-E1CF47775D71}" srcId="{B063CF28-0DEF-4C29-AAC1-75EE97F5E210}" destId="{D6A31C29-A198-439A-9DF8-26CA097AB85B}" srcOrd="1" destOrd="0" parTransId="{BA03652B-C22E-48A3-AC12-1BE4F9547575}" sibTransId="{28C4CE9C-44E4-4CC3-B3B4-B0CF5DA93322}"/>
    <dgm:cxn modelId="{3B6940F2-08CD-42AE-A4D8-8EDAFC8A90F7}" srcId="{B063CF28-0DEF-4C29-AAC1-75EE97F5E210}" destId="{1F20F2BA-BD76-4446-8507-54360BB7615F}" srcOrd="4" destOrd="0" parTransId="{B033F683-8BF6-4682-B2A5-EEBDCBD5EAA6}" sibTransId="{1D668A2A-1488-46D0-99D9-D386A6C67D92}"/>
    <dgm:cxn modelId="{AAC528F9-05C3-4A86-A19D-E2DD19419A6A}" type="presOf" srcId="{4D7842D0-A73E-4F08-9DF9-13A993695A30}" destId="{8444034F-0036-4E66-8C7C-EB781F1E7ECC}" srcOrd="0" destOrd="0" presId="urn:microsoft.com/office/officeart/2005/8/layout/vProcess5"/>
    <dgm:cxn modelId="{72A5AEFC-5DC5-4DDA-93ED-3330DACC70B2}" type="presOf" srcId="{A3D41132-8C47-483B-8ACA-BF6111861917}" destId="{34BE9F35-B1E0-4FE6-A646-8ABFE23E04C4}" srcOrd="0" destOrd="0" presId="urn:microsoft.com/office/officeart/2005/8/layout/vProcess5"/>
    <dgm:cxn modelId="{B469EC7A-257C-407E-AA34-5D5B56B7A8B9}" type="presParOf" srcId="{A298B046-4B53-4E42-9A84-A6A649757852}" destId="{69CF73A5-3A5C-4316-90CC-5E27E68848E6}" srcOrd="0" destOrd="0" presId="urn:microsoft.com/office/officeart/2005/8/layout/vProcess5"/>
    <dgm:cxn modelId="{FD1E87EF-6FB1-45BF-88DE-16EBBA503744}" type="presParOf" srcId="{A298B046-4B53-4E42-9A84-A6A649757852}" destId="{0B57D7A8-9454-4FD7-9320-AE42216FAF17}" srcOrd="1" destOrd="0" presId="urn:microsoft.com/office/officeart/2005/8/layout/vProcess5"/>
    <dgm:cxn modelId="{EBD98671-DE35-4115-BAB4-F85A8ACFB0EA}" type="presParOf" srcId="{A298B046-4B53-4E42-9A84-A6A649757852}" destId="{B71D45C1-808B-45A6-B41A-DA066B724A35}" srcOrd="2" destOrd="0" presId="urn:microsoft.com/office/officeart/2005/8/layout/vProcess5"/>
    <dgm:cxn modelId="{69F2EFA3-4A62-41FE-B6BF-D7266183098C}" type="presParOf" srcId="{A298B046-4B53-4E42-9A84-A6A649757852}" destId="{D5C08430-64C0-4406-A02B-218BE8F7D2C1}" srcOrd="3" destOrd="0" presId="urn:microsoft.com/office/officeart/2005/8/layout/vProcess5"/>
    <dgm:cxn modelId="{A00B7DF5-7BC3-4E01-BAF4-BFD12A41D858}" type="presParOf" srcId="{A298B046-4B53-4E42-9A84-A6A649757852}" destId="{8444034F-0036-4E66-8C7C-EB781F1E7ECC}" srcOrd="4" destOrd="0" presId="urn:microsoft.com/office/officeart/2005/8/layout/vProcess5"/>
    <dgm:cxn modelId="{A1BB75BF-0910-47F0-AE1F-4548841F6173}" type="presParOf" srcId="{A298B046-4B53-4E42-9A84-A6A649757852}" destId="{936B0022-158D-4E47-AE15-7959C932A63A}" srcOrd="5" destOrd="0" presId="urn:microsoft.com/office/officeart/2005/8/layout/vProcess5"/>
    <dgm:cxn modelId="{EFF2C6D1-C402-4A91-AC0B-D5D51E8CB711}" type="presParOf" srcId="{A298B046-4B53-4E42-9A84-A6A649757852}" destId="{34BE9F35-B1E0-4FE6-A646-8ABFE23E04C4}" srcOrd="6" destOrd="0" presId="urn:microsoft.com/office/officeart/2005/8/layout/vProcess5"/>
    <dgm:cxn modelId="{8EDC485F-B240-4CA0-9CAA-1A234CD9C6AC}" type="presParOf" srcId="{A298B046-4B53-4E42-9A84-A6A649757852}" destId="{8D4149D5-75FC-4F16-ACC2-0EEE70C14957}" srcOrd="7" destOrd="0" presId="urn:microsoft.com/office/officeart/2005/8/layout/vProcess5"/>
    <dgm:cxn modelId="{D9FBFDDF-FB2A-4AA9-A86E-92B528EC0C7C}" type="presParOf" srcId="{A298B046-4B53-4E42-9A84-A6A649757852}" destId="{6AEB721D-BAF5-4E97-B0CF-687F9FC10115}" srcOrd="8" destOrd="0" presId="urn:microsoft.com/office/officeart/2005/8/layout/vProcess5"/>
    <dgm:cxn modelId="{94E2ED4E-A16C-426B-ADFF-6645191FB83D}" type="presParOf" srcId="{A298B046-4B53-4E42-9A84-A6A649757852}" destId="{EEBDB33A-C64F-48F0-BCEB-4C4757E0BC1D}" srcOrd="9" destOrd="0" presId="urn:microsoft.com/office/officeart/2005/8/layout/vProcess5"/>
    <dgm:cxn modelId="{8455CC6E-59B4-42E7-B2B4-9D584F8C72A9}" type="presParOf" srcId="{A298B046-4B53-4E42-9A84-A6A649757852}" destId="{6C15F488-2EFF-480F-8ACD-746BE2769513}" srcOrd="10" destOrd="0" presId="urn:microsoft.com/office/officeart/2005/8/layout/vProcess5"/>
    <dgm:cxn modelId="{B0B4273E-36D8-4DE0-9577-49F3E5F2A0DA}" type="presParOf" srcId="{A298B046-4B53-4E42-9A84-A6A649757852}" destId="{8EA73DA4-EC85-4B72-96E6-764014FE2BB8}" srcOrd="11" destOrd="0" presId="urn:microsoft.com/office/officeart/2005/8/layout/vProcess5"/>
    <dgm:cxn modelId="{BAFD2289-DD9A-464C-9286-7E4FE9EE0474}" type="presParOf" srcId="{A298B046-4B53-4E42-9A84-A6A649757852}" destId="{402EFD58-AFFE-44A4-93DB-CF7532B9FC23}" srcOrd="12" destOrd="0" presId="urn:microsoft.com/office/officeart/2005/8/layout/vProcess5"/>
    <dgm:cxn modelId="{B9E92324-F2CC-4FA8-84D8-C63548536C85}" type="presParOf" srcId="{A298B046-4B53-4E42-9A84-A6A649757852}" destId="{4DACC05D-1183-42C9-857A-42E8B4BC424D}" srcOrd="13" destOrd="0" presId="urn:microsoft.com/office/officeart/2005/8/layout/vProcess5"/>
    <dgm:cxn modelId="{82612D77-6BDD-4C2F-8DEE-FFC8F8EC2E49}" type="presParOf" srcId="{A298B046-4B53-4E42-9A84-A6A649757852}" destId="{39989E5D-8490-40E7-AB07-A876641B1AF8}"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57D7A8-9454-4FD7-9320-AE42216FAF17}">
      <dsp:nvSpPr>
        <dsp:cNvPr id="0" name=""/>
        <dsp:cNvSpPr/>
      </dsp:nvSpPr>
      <dsp:spPr>
        <a:xfrm>
          <a:off x="0" y="0"/>
          <a:ext cx="8768950" cy="1062137"/>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mn-MN" sz="3200" b="1" kern="1200" dirty="0">
              <a:solidFill>
                <a:schemeClr val="tx1"/>
              </a:solidFill>
              <a:latin typeface="Times New Roman" panose="02020603050405020304" pitchFamily="18" charset="0"/>
              <a:cs typeface="Times New Roman" panose="02020603050405020304" pitchFamily="18" charset="0"/>
            </a:rPr>
            <a:t>Хөрөнгө оруулалтын зорилгоо тодорхойлох</a:t>
          </a:r>
          <a:endParaRPr lang="en-US" sz="3200" b="1" kern="1200" dirty="0">
            <a:solidFill>
              <a:schemeClr val="tx1"/>
            </a:solidFill>
            <a:latin typeface="Times New Roman" panose="02020603050405020304" pitchFamily="18" charset="0"/>
            <a:cs typeface="Times New Roman" panose="02020603050405020304" pitchFamily="18" charset="0"/>
          </a:endParaRPr>
        </a:p>
      </dsp:txBody>
      <dsp:txXfrm>
        <a:off x="31109" y="31109"/>
        <a:ext cx="7540439" cy="999919"/>
      </dsp:txXfrm>
    </dsp:sp>
    <dsp:sp modelId="{B71D45C1-808B-45A6-B41A-DA066B724A35}">
      <dsp:nvSpPr>
        <dsp:cNvPr id="0" name=""/>
        <dsp:cNvSpPr/>
      </dsp:nvSpPr>
      <dsp:spPr>
        <a:xfrm>
          <a:off x="356000" y="1209656"/>
          <a:ext cx="9083889" cy="1062137"/>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just" defTabSz="1422400">
            <a:lnSpc>
              <a:spcPct val="90000"/>
            </a:lnSpc>
            <a:spcBef>
              <a:spcPct val="0"/>
            </a:spcBef>
            <a:spcAft>
              <a:spcPct val="35000"/>
            </a:spcAft>
            <a:buNone/>
          </a:pPr>
          <a:r>
            <a:rPr lang="mn-MN" sz="3200" b="1" kern="1200" dirty="0">
              <a:solidFill>
                <a:schemeClr val="tx1"/>
              </a:solidFill>
              <a:latin typeface="Times New Roman" panose="02020603050405020304" pitchFamily="18" charset="0"/>
              <a:cs typeface="Times New Roman" panose="02020603050405020304" pitchFamily="18" charset="0"/>
            </a:rPr>
            <a:t>Хувийн болон зах зээлийн хүчин зүйлсийн нөлөөллийг тооцох  </a:t>
          </a:r>
          <a:endParaRPr lang="en-US" sz="3200" b="1" kern="1200" dirty="0">
            <a:solidFill>
              <a:schemeClr val="tx1"/>
            </a:solidFill>
            <a:latin typeface="Times New Roman" panose="02020603050405020304" pitchFamily="18" charset="0"/>
            <a:cs typeface="Times New Roman" panose="02020603050405020304" pitchFamily="18" charset="0"/>
          </a:endParaRPr>
        </a:p>
      </dsp:txBody>
      <dsp:txXfrm>
        <a:off x="387109" y="1240765"/>
        <a:ext cx="7652939" cy="999919"/>
      </dsp:txXfrm>
    </dsp:sp>
    <dsp:sp modelId="{D5C08430-64C0-4406-A02B-218BE8F7D2C1}">
      <dsp:nvSpPr>
        <dsp:cNvPr id="0" name=""/>
        <dsp:cNvSpPr/>
      </dsp:nvSpPr>
      <dsp:spPr>
        <a:xfrm>
          <a:off x="839493" y="2382424"/>
          <a:ext cx="9083889" cy="1062137"/>
        </a:xfrm>
        <a:prstGeom prst="roundRect">
          <a:avLst>
            <a:gd name="adj" fmla="val 10000"/>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mn-MN" sz="3200" b="1" kern="1200" dirty="0">
              <a:solidFill>
                <a:schemeClr val="tx1"/>
              </a:solidFill>
              <a:latin typeface="Times New Roman" panose="02020603050405020304" pitchFamily="18" charset="0"/>
              <a:cs typeface="Times New Roman" panose="02020603050405020304" pitchFamily="18" charset="0"/>
            </a:rPr>
            <a:t>Хөрөнгө оруулалтын боломжит хувилбаруудыг тодорхойлох</a:t>
          </a:r>
          <a:endParaRPr lang="en-US" sz="3200" b="1" kern="1200" dirty="0">
            <a:solidFill>
              <a:schemeClr val="tx1"/>
            </a:solidFill>
            <a:latin typeface="Times New Roman" panose="02020603050405020304" pitchFamily="18" charset="0"/>
            <a:cs typeface="Times New Roman" panose="02020603050405020304" pitchFamily="18" charset="0"/>
          </a:endParaRPr>
        </a:p>
      </dsp:txBody>
      <dsp:txXfrm>
        <a:off x="870602" y="2413533"/>
        <a:ext cx="7652939" cy="999919"/>
      </dsp:txXfrm>
    </dsp:sp>
    <dsp:sp modelId="{8444034F-0036-4E66-8C7C-EB781F1E7ECC}">
      <dsp:nvSpPr>
        <dsp:cNvPr id="0" name=""/>
        <dsp:cNvSpPr/>
      </dsp:nvSpPr>
      <dsp:spPr>
        <a:xfrm>
          <a:off x="1877557" y="3628969"/>
          <a:ext cx="9083889" cy="1062137"/>
        </a:xfrm>
        <a:prstGeom prst="roundRect">
          <a:avLst>
            <a:gd name="adj" fmla="val 10000"/>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mn-MN" sz="3200" b="1" kern="1200" dirty="0">
              <a:solidFill>
                <a:schemeClr val="tx1"/>
              </a:solidFill>
              <a:latin typeface="Times New Roman" panose="02020603050405020304" pitchFamily="18" charset="0"/>
              <a:cs typeface="Times New Roman" panose="02020603050405020304" pitchFamily="18" charset="0"/>
            </a:rPr>
            <a:t>Хөрөнгө оруулалтын ач холбогдлыг үнэлэх</a:t>
          </a:r>
          <a:endParaRPr lang="en-US" sz="3200" b="1" kern="1200" dirty="0">
            <a:solidFill>
              <a:schemeClr val="tx1"/>
            </a:solidFill>
            <a:latin typeface="Times New Roman" panose="02020603050405020304" pitchFamily="18" charset="0"/>
            <a:cs typeface="Times New Roman" panose="02020603050405020304" pitchFamily="18" charset="0"/>
          </a:endParaRPr>
        </a:p>
      </dsp:txBody>
      <dsp:txXfrm>
        <a:off x="1908666" y="3660078"/>
        <a:ext cx="7652939" cy="999919"/>
      </dsp:txXfrm>
    </dsp:sp>
    <dsp:sp modelId="{936B0022-158D-4E47-AE15-7959C932A63A}">
      <dsp:nvSpPr>
        <dsp:cNvPr id="0" name=""/>
        <dsp:cNvSpPr/>
      </dsp:nvSpPr>
      <dsp:spPr>
        <a:xfrm>
          <a:off x="2001147" y="4809119"/>
          <a:ext cx="9713766" cy="1062137"/>
        </a:xfrm>
        <a:prstGeom prst="roundRect">
          <a:avLst>
            <a:gd name="adj" fmla="val 10000"/>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mn-MN" sz="2800" b="1" kern="1200" dirty="0">
              <a:solidFill>
                <a:schemeClr val="tx1"/>
              </a:solidFill>
              <a:latin typeface="Times New Roman" panose="02020603050405020304" pitchFamily="18" charset="0"/>
              <a:cs typeface="Times New Roman" panose="02020603050405020304" pitchFamily="18" charset="0"/>
            </a:rPr>
            <a:t>Хөрөнгө оруулалтын шийдвэрийг хэрэгжүүлэх, Хөрөнгө оруулалтын багцыг хянах, шинэчлэх</a:t>
          </a:r>
          <a:endParaRPr lang="en-US" sz="2800" b="1" kern="1200" dirty="0">
            <a:solidFill>
              <a:schemeClr val="tx1"/>
            </a:solidFill>
            <a:latin typeface="Times New Roman" panose="02020603050405020304" pitchFamily="18" charset="0"/>
            <a:cs typeface="Times New Roman" panose="02020603050405020304" pitchFamily="18" charset="0"/>
          </a:endParaRPr>
        </a:p>
      </dsp:txBody>
      <dsp:txXfrm>
        <a:off x="2032256" y="4840228"/>
        <a:ext cx="8187908" cy="999919"/>
      </dsp:txXfrm>
    </dsp:sp>
    <dsp:sp modelId="{34BE9F35-B1E0-4FE6-A646-8ABFE23E04C4}">
      <dsp:nvSpPr>
        <dsp:cNvPr id="0" name=""/>
        <dsp:cNvSpPr/>
      </dsp:nvSpPr>
      <dsp:spPr>
        <a:xfrm>
          <a:off x="8236030" y="775950"/>
          <a:ext cx="690389" cy="690389"/>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latin typeface="Times New Roman" panose="02020603050405020304" pitchFamily="18" charset="0"/>
            <a:cs typeface="Times New Roman" panose="02020603050405020304" pitchFamily="18" charset="0"/>
          </a:endParaRPr>
        </a:p>
      </dsp:txBody>
      <dsp:txXfrm>
        <a:off x="8391368" y="775950"/>
        <a:ext cx="379713" cy="519518"/>
      </dsp:txXfrm>
    </dsp:sp>
    <dsp:sp modelId="{8D4149D5-75FC-4F16-ACC2-0EEE70C14957}">
      <dsp:nvSpPr>
        <dsp:cNvPr id="0" name=""/>
        <dsp:cNvSpPr/>
      </dsp:nvSpPr>
      <dsp:spPr>
        <a:xfrm>
          <a:off x="8914373" y="1985606"/>
          <a:ext cx="690389" cy="690389"/>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latin typeface="Times New Roman" panose="02020603050405020304" pitchFamily="18" charset="0"/>
            <a:cs typeface="Times New Roman" panose="02020603050405020304" pitchFamily="18" charset="0"/>
          </a:endParaRPr>
        </a:p>
      </dsp:txBody>
      <dsp:txXfrm>
        <a:off x="9069711" y="1985606"/>
        <a:ext cx="379713" cy="519518"/>
      </dsp:txXfrm>
    </dsp:sp>
    <dsp:sp modelId="{6AEB721D-BAF5-4E97-B0CF-687F9FC10115}">
      <dsp:nvSpPr>
        <dsp:cNvPr id="0" name=""/>
        <dsp:cNvSpPr/>
      </dsp:nvSpPr>
      <dsp:spPr>
        <a:xfrm>
          <a:off x="9592715" y="3177560"/>
          <a:ext cx="690389" cy="690389"/>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latin typeface="Times New Roman" panose="02020603050405020304" pitchFamily="18" charset="0"/>
            <a:cs typeface="Times New Roman" panose="02020603050405020304" pitchFamily="18" charset="0"/>
          </a:endParaRPr>
        </a:p>
      </dsp:txBody>
      <dsp:txXfrm>
        <a:off x="9748053" y="3177560"/>
        <a:ext cx="379713" cy="519518"/>
      </dsp:txXfrm>
    </dsp:sp>
    <dsp:sp modelId="{EEBDB33A-C64F-48F0-BCEB-4C4757E0BC1D}">
      <dsp:nvSpPr>
        <dsp:cNvPr id="0" name=""/>
        <dsp:cNvSpPr/>
      </dsp:nvSpPr>
      <dsp:spPr>
        <a:xfrm>
          <a:off x="10271058" y="4399018"/>
          <a:ext cx="690389" cy="690389"/>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latin typeface="Times New Roman" panose="02020603050405020304" pitchFamily="18" charset="0"/>
            <a:cs typeface="Times New Roman" panose="02020603050405020304" pitchFamily="18" charset="0"/>
          </a:endParaRPr>
        </a:p>
      </dsp:txBody>
      <dsp:txXfrm>
        <a:off x="10426396" y="4399018"/>
        <a:ext cx="379713" cy="519518"/>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75403" cy="337958"/>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5588627" y="0"/>
            <a:ext cx="4275403" cy="337958"/>
          </a:xfrm>
          <a:prstGeom prst="rect">
            <a:avLst/>
          </a:prstGeom>
        </p:spPr>
        <p:txBody>
          <a:bodyPr vert="horz" lIns="96661" tIns="48331" rIns="96661" bIns="48331" rtlCol="0"/>
          <a:lstStyle>
            <a:lvl1pPr algn="r">
              <a:defRPr sz="1300"/>
            </a:lvl1pPr>
          </a:lstStyle>
          <a:p>
            <a:fld id="{4C622D43-C65E-428A-89C7-8C19C0C28B05}" type="datetimeFigureOut">
              <a:rPr lang="en-US" smtClean="0"/>
              <a:t>12/4/2025</a:t>
            </a:fld>
            <a:endParaRPr lang="en-US" dirty="0"/>
          </a:p>
        </p:txBody>
      </p:sp>
      <p:sp>
        <p:nvSpPr>
          <p:cNvPr id="4" name="Slide Image Placeholder 3"/>
          <p:cNvSpPr>
            <a:spLocks noGrp="1" noRot="1" noChangeAspect="1"/>
          </p:cNvSpPr>
          <p:nvPr>
            <p:ph type="sldImg" idx="2"/>
          </p:nvPr>
        </p:nvSpPr>
        <p:spPr>
          <a:xfrm>
            <a:off x="2913063" y="841375"/>
            <a:ext cx="4040187" cy="227330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986632" y="3241586"/>
            <a:ext cx="7893050" cy="2652207"/>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397806"/>
            <a:ext cx="4275403" cy="337957"/>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5588627" y="6397806"/>
            <a:ext cx="4275403" cy="337957"/>
          </a:xfrm>
          <a:prstGeom prst="rect">
            <a:avLst/>
          </a:prstGeom>
        </p:spPr>
        <p:txBody>
          <a:bodyPr vert="horz" lIns="96661" tIns="48331" rIns="96661" bIns="48331" rtlCol="0" anchor="b"/>
          <a:lstStyle>
            <a:lvl1pPr algn="r">
              <a:defRPr sz="1300"/>
            </a:lvl1pPr>
          </a:lstStyle>
          <a:p>
            <a:fld id="{E4CFEF27-99CE-459F-8C01-F12FB244F5E1}" type="slidenum">
              <a:rPr lang="en-US" smtClean="0"/>
              <a:t>‹#›</a:t>
            </a:fld>
            <a:endParaRPr lang="en-US" dirty="0"/>
          </a:p>
        </p:txBody>
      </p:sp>
    </p:spTree>
    <p:extLst>
      <p:ext uri="{BB962C8B-B14F-4D97-AF65-F5344CB8AC3E}">
        <p14:creationId xmlns:p14="http://schemas.microsoft.com/office/powerpoint/2010/main" val="3465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a:t>
            </a:fld>
            <a:endParaRPr lang="en-US" dirty="0"/>
          </a:p>
        </p:txBody>
      </p:sp>
    </p:spTree>
    <p:extLst>
      <p:ext uri="{BB962C8B-B14F-4D97-AF65-F5344CB8AC3E}">
        <p14:creationId xmlns:p14="http://schemas.microsoft.com/office/powerpoint/2010/main" val="4112386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3154017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a:t>
            </a:fld>
            <a:endParaRPr lang="en-US" dirty="0"/>
          </a:p>
        </p:txBody>
      </p:sp>
    </p:spTree>
    <p:extLst>
      <p:ext uri="{BB962C8B-B14F-4D97-AF65-F5344CB8AC3E}">
        <p14:creationId xmlns:p14="http://schemas.microsoft.com/office/powerpoint/2010/main" val="1772065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a:t>
            </a:fld>
            <a:endParaRPr lang="en-US" dirty="0"/>
          </a:p>
        </p:txBody>
      </p:sp>
    </p:spTree>
    <p:extLst>
      <p:ext uri="{BB962C8B-B14F-4D97-AF65-F5344CB8AC3E}">
        <p14:creationId xmlns:p14="http://schemas.microsoft.com/office/powerpoint/2010/main" val="177936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a:t>
            </a:fld>
            <a:endParaRPr lang="en-US" dirty="0"/>
          </a:p>
        </p:txBody>
      </p:sp>
    </p:spTree>
    <p:extLst>
      <p:ext uri="{BB962C8B-B14F-4D97-AF65-F5344CB8AC3E}">
        <p14:creationId xmlns:p14="http://schemas.microsoft.com/office/powerpoint/2010/main" val="1973694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6</a:t>
            </a:fld>
            <a:endParaRPr lang="en-US" dirty="0"/>
          </a:p>
        </p:txBody>
      </p:sp>
    </p:spTree>
    <p:extLst>
      <p:ext uri="{BB962C8B-B14F-4D97-AF65-F5344CB8AC3E}">
        <p14:creationId xmlns:p14="http://schemas.microsoft.com/office/powerpoint/2010/main" val="2725869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7</a:t>
            </a:fld>
            <a:endParaRPr lang="en-US" dirty="0"/>
          </a:p>
        </p:txBody>
      </p:sp>
    </p:spTree>
    <p:extLst>
      <p:ext uri="{BB962C8B-B14F-4D97-AF65-F5344CB8AC3E}">
        <p14:creationId xmlns:p14="http://schemas.microsoft.com/office/powerpoint/2010/main" val="1962173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8</a:t>
            </a:fld>
            <a:endParaRPr lang="en-US" dirty="0"/>
          </a:p>
        </p:txBody>
      </p:sp>
    </p:spTree>
    <p:extLst>
      <p:ext uri="{BB962C8B-B14F-4D97-AF65-F5344CB8AC3E}">
        <p14:creationId xmlns:p14="http://schemas.microsoft.com/office/powerpoint/2010/main" val="2057387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9</a:t>
            </a:fld>
            <a:endParaRPr lang="en-US" dirty="0"/>
          </a:p>
        </p:txBody>
      </p:sp>
    </p:spTree>
    <p:extLst>
      <p:ext uri="{BB962C8B-B14F-4D97-AF65-F5344CB8AC3E}">
        <p14:creationId xmlns:p14="http://schemas.microsoft.com/office/powerpoint/2010/main" val="2232629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10</a:t>
            </a:fld>
            <a:endParaRPr lang="en-US" dirty="0"/>
          </a:p>
        </p:txBody>
      </p:sp>
    </p:spTree>
    <p:extLst>
      <p:ext uri="{BB962C8B-B14F-4D97-AF65-F5344CB8AC3E}">
        <p14:creationId xmlns:p14="http://schemas.microsoft.com/office/powerpoint/2010/main" val="3987133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11</a:t>
            </a:fld>
            <a:endParaRPr lang="en-US" dirty="0"/>
          </a:p>
        </p:txBody>
      </p:sp>
    </p:spTree>
    <p:extLst>
      <p:ext uri="{BB962C8B-B14F-4D97-AF65-F5344CB8AC3E}">
        <p14:creationId xmlns:p14="http://schemas.microsoft.com/office/powerpoint/2010/main" val="1259315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12</a:t>
            </a:fld>
            <a:endParaRPr lang="en-US" dirty="0"/>
          </a:p>
        </p:txBody>
      </p:sp>
    </p:spTree>
    <p:extLst>
      <p:ext uri="{BB962C8B-B14F-4D97-AF65-F5344CB8AC3E}">
        <p14:creationId xmlns:p14="http://schemas.microsoft.com/office/powerpoint/2010/main" val="2563758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13</a:t>
            </a:fld>
            <a:endParaRPr lang="en-US" dirty="0"/>
          </a:p>
        </p:txBody>
      </p:sp>
    </p:spTree>
    <p:extLst>
      <p:ext uri="{BB962C8B-B14F-4D97-AF65-F5344CB8AC3E}">
        <p14:creationId xmlns:p14="http://schemas.microsoft.com/office/powerpoint/2010/main" val="1177162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14</a:t>
            </a:fld>
            <a:endParaRPr lang="en-US" dirty="0"/>
          </a:p>
        </p:txBody>
      </p:sp>
    </p:spTree>
    <p:extLst>
      <p:ext uri="{BB962C8B-B14F-4D97-AF65-F5344CB8AC3E}">
        <p14:creationId xmlns:p14="http://schemas.microsoft.com/office/powerpoint/2010/main" val="1096125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15</a:t>
            </a:fld>
            <a:endParaRPr lang="en-US" dirty="0"/>
          </a:p>
        </p:txBody>
      </p:sp>
    </p:spTree>
    <p:extLst>
      <p:ext uri="{BB962C8B-B14F-4D97-AF65-F5344CB8AC3E}">
        <p14:creationId xmlns:p14="http://schemas.microsoft.com/office/powerpoint/2010/main" val="2510751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16</a:t>
            </a:fld>
            <a:endParaRPr lang="en-US" dirty="0"/>
          </a:p>
        </p:txBody>
      </p:sp>
    </p:spTree>
    <p:extLst>
      <p:ext uri="{BB962C8B-B14F-4D97-AF65-F5344CB8AC3E}">
        <p14:creationId xmlns:p14="http://schemas.microsoft.com/office/powerpoint/2010/main" val="1680027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17</a:t>
            </a:fld>
            <a:endParaRPr lang="en-US" dirty="0"/>
          </a:p>
        </p:txBody>
      </p:sp>
    </p:spTree>
    <p:extLst>
      <p:ext uri="{BB962C8B-B14F-4D97-AF65-F5344CB8AC3E}">
        <p14:creationId xmlns:p14="http://schemas.microsoft.com/office/powerpoint/2010/main" val="2102641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18</a:t>
            </a:fld>
            <a:endParaRPr lang="en-US" dirty="0"/>
          </a:p>
        </p:txBody>
      </p:sp>
    </p:spTree>
    <p:extLst>
      <p:ext uri="{BB962C8B-B14F-4D97-AF65-F5344CB8AC3E}">
        <p14:creationId xmlns:p14="http://schemas.microsoft.com/office/powerpoint/2010/main" val="27718814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19</a:t>
            </a:fld>
            <a:endParaRPr lang="en-US" dirty="0"/>
          </a:p>
        </p:txBody>
      </p:sp>
    </p:spTree>
    <p:extLst>
      <p:ext uri="{BB962C8B-B14F-4D97-AF65-F5344CB8AC3E}">
        <p14:creationId xmlns:p14="http://schemas.microsoft.com/office/powerpoint/2010/main" val="39086264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20</a:t>
            </a:fld>
            <a:endParaRPr lang="en-US" dirty="0"/>
          </a:p>
        </p:txBody>
      </p:sp>
    </p:spTree>
    <p:extLst>
      <p:ext uri="{BB962C8B-B14F-4D97-AF65-F5344CB8AC3E}">
        <p14:creationId xmlns:p14="http://schemas.microsoft.com/office/powerpoint/2010/main" val="2135812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21</a:t>
            </a:fld>
            <a:endParaRPr lang="en-US" dirty="0"/>
          </a:p>
        </p:txBody>
      </p:sp>
    </p:spTree>
    <p:extLst>
      <p:ext uri="{BB962C8B-B14F-4D97-AF65-F5344CB8AC3E}">
        <p14:creationId xmlns:p14="http://schemas.microsoft.com/office/powerpoint/2010/main" val="24264286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22</a:t>
            </a:fld>
            <a:endParaRPr lang="en-US" dirty="0"/>
          </a:p>
        </p:txBody>
      </p:sp>
    </p:spTree>
    <p:extLst>
      <p:ext uri="{BB962C8B-B14F-4D97-AF65-F5344CB8AC3E}">
        <p14:creationId xmlns:p14="http://schemas.microsoft.com/office/powerpoint/2010/main" val="616447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23</a:t>
            </a:fld>
            <a:endParaRPr lang="en-US" dirty="0"/>
          </a:p>
        </p:txBody>
      </p:sp>
    </p:spTree>
    <p:extLst>
      <p:ext uri="{BB962C8B-B14F-4D97-AF65-F5344CB8AC3E}">
        <p14:creationId xmlns:p14="http://schemas.microsoft.com/office/powerpoint/2010/main" val="32931871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24</a:t>
            </a:fld>
            <a:endParaRPr lang="en-US" dirty="0"/>
          </a:p>
        </p:txBody>
      </p:sp>
    </p:spTree>
    <p:extLst>
      <p:ext uri="{BB962C8B-B14F-4D97-AF65-F5344CB8AC3E}">
        <p14:creationId xmlns:p14="http://schemas.microsoft.com/office/powerpoint/2010/main" val="27915640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25</a:t>
            </a:fld>
            <a:endParaRPr lang="en-US" dirty="0"/>
          </a:p>
        </p:txBody>
      </p:sp>
    </p:spTree>
    <p:extLst>
      <p:ext uri="{BB962C8B-B14F-4D97-AF65-F5344CB8AC3E}">
        <p14:creationId xmlns:p14="http://schemas.microsoft.com/office/powerpoint/2010/main" val="9796748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26</a:t>
            </a:fld>
            <a:endParaRPr lang="en-US" dirty="0"/>
          </a:p>
        </p:txBody>
      </p:sp>
    </p:spTree>
    <p:extLst>
      <p:ext uri="{BB962C8B-B14F-4D97-AF65-F5344CB8AC3E}">
        <p14:creationId xmlns:p14="http://schemas.microsoft.com/office/powerpoint/2010/main" val="42848806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27</a:t>
            </a:fld>
            <a:endParaRPr lang="en-US" dirty="0"/>
          </a:p>
        </p:txBody>
      </p:sp>
    </p:spTree>
    <p:extLst>
      <p:ext uri="{BB962C8B-B14F-4D97-AF65-F5344CB8AC3E}">
        <p14:creationId xmlns:p14="http://schemas.microsoft.com/office/powerpoint/2010/main" val="27563710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28</a:t>
            </a:fld>
            <a:endParaRPr lang="en-US" dirty="0"/>
          </a:p>
        </p:txBody>
      </p:sp>
    </p:spTree>
    <p:extLst>
      <p:ext uri="{BB962C8B-B14F-4D97-AF65-F5344CB8AC3E}">
        <p14:creationId xmlns:p14="http://schemas.microsoft.com/office/powerpoint/2010/main" val="12066412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29</a:t>
            </a:fld>
            <a:endParaRPr lang="en-US" dirty="0"/>
          </a:p>
        </p:txBody>
      </p:sp>
    </p:spTree>
    <p:extLst>
      <p:ext uri="{BB962C8B-B14F-4D97-AF65-F5344CB8AC3E}">
        <p14:creationId xmlns:p14="http://schemas.microsoft.com/office/powerpoint/2010/main" val="8240814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30</a:t>
            </a:fld>
            <a:endParaRPr lang="en-US" dirty="0"/>
          </a:p>
        </p:txBody>
      </p:sp>
    </p:spTree>
    <p:extLst>
      <p:ext uri="{BB962C8B-B14F-4D97-AF65-F5344CB8AC3E}">
        <p14:creationId xmlns:p14="http://schemas.microsoft.com/office/powerpoint/2010/main" val="4524918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31</a:t>
            </a:fld>
            <a:endParaRPr lang="en-US" dirty="0"/>
          </a:p>
        </p:txBody>
      </p:sp>
    </p:spTree>
    <p:extLst>
      <p:ext uri="{BB962C8B-B14F-4D97-AF65-F5344CB8AC3E}">
        <p14:creationId xmlns:p14="http://schemas.microsoft.com/office/powerpoint/2010/main" val="8898421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32</a:t>
            </a:fld>
            <a:endParaRPr lang="en-US" dirty="0"/>
          </a:p>
        </p:txBody>
      </p:sp>
    </p:spTree>
    <p:extLst>
      <p:ext uri="{BB962C8B-B14F-4D97-AF65-F5344CB8AC3E}">
        <p14:creationId xmlns:p14="http://schemas.microsoft.com/office/powerpoint/2010/main" val="1942965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33</a:t>
            </a:fld>
            <a:endParaRPr lang="en-US" dirty="0"/>
          </a:p>
        </p:txBody>
      </p:sp>
    </p:spTree>
    <p:extLst>
      <p:ext uri="{BB962C8B-B14F-4D97-AF65-F5344CB8AC3E}">
        <p14:creationId xmlns:p14="http://schemas.microsoft.com/office/powerpoint/2010/main" val="24672060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34</a:t>
            </a:fld>
            <a:endParaRPr lang="en-US" dirty="0"/>
          </a:p>
        </p:txBody>
      </p:sp>
    </p:spTree>
    <p:extLst>
      <p:ext uri="{BB962C8B-B14F-4D97-AF65-F5344CB8AC3E}">
        <p14:creationId xmlns:p14="http://schemas.microsoft.com/office/powerpoint/2010/main" val="34716610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35</a:t>
            </a:fld>
            <a:endParaRPr lang="en-US" dirty="0"/>
          </a:p>
        </p:txBody>
      </p:sp>
    </p:spTree>
    <p:extLst>
      <p:ext uri="{BB962C8B-B14F-4D97-AF65-F5344CB8AC3E}">
        <p14:creationId xmlns:p14="http://schemas.microsoft.com/office/powerpoint/2010/main" val="14163419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36</a:t>
            </a:fld>
            <a:endParaRPr lang="en-US" dirty="0"/>
          </a:p>
        </p:txBody>
      </p:sp>
    </p:spTree>
    <p:extLst>
      <p:ext uri="{BB962C8B-B14F-4D97-AF65-F5344CB8AC3E}">
        <p14:creationId xmlns:p14="http://schemas.microsoft.com/office/powerpoint/2010/main" val="40376143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37</a:t>
            </a:fld>
            <a:endParaRPr lang="en-US" dirty="0"/>
          </a:p>
        </p:txBody>
      </p:sp>
    </p:spTree>
    <p:extLst>
      <p:ext uri="{BB962C8B-B14F-4D97-AF65-F5344CB8AC3E}">
        <p14:creationId xmlns:p14="http://schemas.microsoft.com/office/powerpoint/2010/main" val="33210693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38</a:t>
            </a:fld>
            <a:endParaRPr lang="en-US" dirty="0"/>
          </a:p>
        </p:txBody>
      </p:sp>
    </p:spTree>
    <p:extLst>
      <p:ext uri="{BB962C8B-B14F-4D97-AF65-F5344CB8AC3E}">
        <p14:creationId xmlns:p14="http://schemas.microsoft.com/office/powerpoint/2010/main" val="31170567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39</a:t>
            </a:fld>
            <a:endParaRPr lang="en-US" dirty="0"/>
          </a:p>
        </p:txBody>
      </p:sp>
    </p:spTree>
    <p:extLst>
      <p:ext uri="{BB962C8B-B14F-4D97-AF65-F5344CB8AC3E}">
        <p14:creationId xmlns:p14="http://schemas.microsoft.com/office/powerpoint/2010/main" val="26136188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40</a:t>
            </a:fld>
            <a:endParaRPr lang="en-US" dirty="0"/>
          </a:p>
        </p:txBody>
      </p:sp>
    </p:spTree>
    <p:extLst>
      <p:ext uri="{BB962C8B-B14F-4D97-AF65-F5344CB8AC3E}">
        <p14:creationId xmlns:p14="http://schemas.microsoft.com/office/powerpoint/2010/main" val="9897786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41</a:t>
            </a:fld>
            <a:endParaRPr lang="en-US" dirty="0"/>
          </a:p>
        </p:txBody>
      </p:sp>
    </p:spTree>
    <p:extLst>
      <p:ext uri="{BB962C8B-B14F-4D97-AF65-F5344CB8AC3E}">
        <p14:creationId xmlns:p14="http://schemas.microsoft.com/office/powerpoint/2010/main" val="1808611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42</a:t>
            </a:fld>
            <a:endParaRPr lang="en-US" dirty="0"/>
          </a:p>
        </p:txBody>
      </p:sp>
    </p:spTree>
    <p:extLst>
      <p:ext uri="{BB962C8B-B14F-4D97-AF65-F5344CB8AC3E}">
        <p14:creationId xmlns:p14="http://schemas.microsoft.com/office/powerpoint/2010/main" val="22981716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43</a:t>
            </a:fld>
            <a:endParaRPr lang="en-US" dirty="0"/>
          </a:p>
        </p:txBody>
      </p:sp>
    </p:spTree>
    <p:extLst>
      <p:ext uri="{BB962C8B-B14F-4D97-AF65-F5344CB8AC3E}">
        <p14:creationId xmlns:p14="http://schemas.microsoft.com/office/powerpoint/2010/main" val="2608136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44</a:t>
            </a:fld>
            <a:endParaRPr lang="en-US" dirty="0"/>
          </a:p>
        </p:txBody>
      </p:sp>
    </p:spTree>
    <p:extLst>
      <p:ext uri="{BB962C8B-B14F-4D97-AF65-F5344CB8AC3E}">
        <p14:creationId xmlns:p14="http://schemas.microsoft.com/office/powerpoint/2010/main" val="5816153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45</a:t>
            </a:fld>
            <a:endParaRPr lang="en-US" dirty="0"/>
          </a:p>
        </p:txBody>
      </p:sp>
    </p:spTree>
    <p:extLst>
      <p:ext uri="{BB962C8B-B14F-4D97-AF65-F5344CB8AC3E}">
        <p14:creationId xmlns:p14="http://schemas.microsoft.com/office/powerpoint/2010/main" val="14413975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46</a:t>
            </a:fld>
            <a:endParaRPr lang="en-US" dirty="0"/>
          </a:p>
        </p:txBody>
      </p:sp>
    </p:spTree>
    <p:extLst>
      <p:ext uri="{BB962C8B-B14F-4D97-AF65-F5344CB8AC3E}">
        <p14:creationId xmlns:p14="http://schemas.microsoft.com/office/powerpoint/2010/main" val="28011097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47</a:t>
            </a:fld>
            <a:endParaRPr lang="en-US" dirty="0"/>
          </a:p>
        </p:txBody>
      </p:sp>
    </p:spTree>
    <p:extLst>
      <p:ext uri="{BB962C8B-B14F-4D97-AF65-F5344CB8AC3E}">
        <p14:creationId xmlns:p14="http://schemas.microsoft.com/office/powerpoint/2010/main" val="4482357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48</a:t>
            </a:fld>
            <a:endParaRPr lang="en-US" dirty="0"/>
          </a:p>
        </p:txBody>
      </p:sp>
    </p:spTree>
    <p:extLst>
      <p:ext uri="{BB962C8B-B14F-4D97-AF65-F5344CB8AC3E}">
        <p14:creationId xmlns:p14="http://schemas.microsoft.com/office/powerpoint/2010/main" val="17544936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49</a:t>
            </a:fld>
            <a:endParaRPr lang="en-US" dirty="0"/>
          </a:p>
        </p:txBody>
      </p:sp>
    </p:spTree>
    <p:extLst>
      <p:ext uri="{BB962C8B-B14F-4D97-AF65-F5344CB8AC3E}">
        <p14:creationId xmlns:p14="http://schemas.microsoft.com/office/powerpoint/2010/main" val="15705712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50</a:t>
            </a:fld>
            <a:endParaRPr lang="en-US" dirty="0"/>
          </a:p>
        </p:txBody>
      </p:sp>
    </p:spTree>
    <p:extLst>
      <p:ext uri="{BB962C8B-B14F-4D97-AF65-F5344CB8AC3E}">
        <p14:creationId xmlns:p14="http://schemas.microsoft.com/office/powerpoint/2010/main" val="20213784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51</a:t>
            </a:fld>
            <a:endParaRPr lang="en-US" dirty="0"/>
          </a:p>
        </p:txBody>
      </p:sp>
    </p:spTree>
    <p:extLst>
      <p:ext uri="{BB962C8B-B14F-4D97-AF65-F5344CB8AC3E}">
        <p14:creationId xmlns:p14="http://schemas.microsoft.com/office/powerpoint/2010/main" val="26757800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a:t>
            </a:r>
            <a:r>
              <a:rPr lang="mn-MN" b="1" dirty="0">
                <a:solidFill>
                  <a:srgbClr val="FF0000"/>
                </a:solidFill>
                <a:latin typeface="Times New Roman" panose="02020603050405020304" pitchFamily="18" charset="0"/>
                <a:cs typeface="Times New Roman" panose="02020603050405020304" pitchFamily="18" charset="0"/>
              </a:rPr>
              <a:t>ИЭЗ-тай холбосон-манай сэдэв-13р бүлэг</a:t>
            </a:r>
            <a:r>
              <a:rPr lang="en-US" b="1" dirty="0">
                <a:solidFill>
                  <a:srgbClr val="FF0000"/>
                </a:solidFill>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52</a:t>
            </a:fld>
            <a:endParaRPr lang="en-US" dirty="0"/>
          </a:p>
        </p:txBody>
      </p:sp>
    </p:spTree>
    <p:extLst>
      <p:ext uri="{BB962C8B-B14F-4D97-AF65-F5344CB8AC3E}">
        <p14:creationId xmlns:p14="http://schemas.microsoft.com/office/powerpoint/2010/main" val="35192573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53</a:t>
            </a:fld>
            <a:endParaRPr lang="en-US" dirty="0"/>
          </a:p>
        </p:txBody>
      </p:sp>
    </p:spTree>
    <p:extLst>
      <p:ext uri="{BB962C8B-B14F-4D97-AF65-F5344CB8AC3E}">
        <p14:creationId xmlns:p14="http://schemas.microsoft.com/office/powerpoint/2010/main" val="4299763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54</a:t>
            </a:fld>
            <a:endParaRPr lang="en-US" dirty="0"/>
          </a:p>
        </p:txBody>
      </p:sp>
    </p:spTree>
    <p:extLst>
      <p:ext uri="{BB962C8B-B14F-4D97-AF65-F5344CB8AC3E}">
        <p14:creationId xmlns:p14="http://schemas.microsoft.com/office/powerpoint/2010/main" val="7953569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0000"/>
                </a:solidFill>
              </a:rPr>
              <a:t>(</a:t>
            </a:r>
            <a:r>
              <a:rPr lang="mn-MN" sz="1200" b="1" dirty="0">
                <a:solidFill>
                  <a:srgbClr val="FF0000"/>
                </a:solidFill>
              </a:rPr>
              <a:t>энэ слайд манай ном+бусад номоос цуглуулсан</a:t>
            </a:r>
            <a:r>
              <a:rPr lang="en-US" sz="1200" b="1" dirty="0">
                <a:solidFill>
                  <a:srgbClr val="FF0000"/>
                </a:solidFill>
              </a:rPr>
              <a:t>)</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55</a:t>
            </a:fld>
            <a:endParaRPr lang="en-US" dirty="0"/>
          </a:p>
        </p:txBody>
      </p:sp>
    </p:spTree>
    <p:extLst>
      <p:ext uri="{BB962C8B-B14F-4D97-AF65-F5344CB8AC3E}">
        <p14:creationId xmlns:p14="http://schemas.microsoft.com/office/powerpoint/2010/main" val="22827294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dirty="0">
                <a:cs typeface="Times New Roman" pitchFamily="18" charset="0"/>
              </a:rPr>
              <a:t>Жилийн өгөөжийн стандарт хазайлт нь эрсдэлийн бүрэн хэмжүүр болно. Дундах баганы мэдээлэл нь хөрөнгө оруулагчдын хүлээж байгаа жилийн өгөөж тул компани нь хөрөнгө оруулагчдыг татахын тулд энэ үзүүлэлтийг голлон харуулах шаардлагатай. </a:t>
            </a:r>
            <a:endParaRPr lang="en-US" dirty="0">
              <a:cs typeface="Times New Roman" pitchFamily="18" charset="0"/>
            </a:endParaRPr>
          </a:p>
          <a:p>
            <a:endParaRPr lang="mn-MN" dirty="0"/>
          </a:p>
          <a:p>
            <a:pPr marL="0" marR="0" lvl="0" indent="0" algn="l" defTabSz="914400" rtl="0" eaLnBrk="1" fontAlgn="auto" latinLnBrk="0" hangingPunct="1">
              <a:lnSpc>
                <a:spcPct val="100000"/>
              </a:lnSpc>
              <a:spcBef>
                <a:spcPts val="0"/>
              </a:spcBef>
              <a:spcAft>
                <a:spcPts val="0"/>
              </a:spcAft>
              <a:buClrTx/>
              <a:buSzTx/>
              <a:buFontTx/>
              <a:buNone/>
              <a:tabLst/>
              <a:defRPr/>
            </a:pPr>
            <a:r>
              <a:rPr lang="mn-MN" sz="1200" dirty="0">
                <a:cs typeface="Times New Roman" pitchFamily="18" charset="0"/>
              </a:rPr>
              <a:t>Өгөөжийг хэмжихдээ хүлээгдэж буй өгөөжөөр, харин эрсдэлийг өгөөжийн стандарт хазайлтаар хэмждэг</a:t>
            </a:r>
            <a:r>
              <a:rPr lang="en-US" sz="1200" dirty="0">
                <a:cs typeface="Times New Roman" pitchFamily="18" charset="0"/>
              </a:rPr>
              <a:t>.</a:t>
            </a:r>
            <a:r>
              <a:rPr lang="mn-MN" sz="1200" dirty="0">
                <a:cs typeface="Times New Roman" pitchFamily="18" charset="0"/>
              </a:rPr>
              <a:t> </a:t>
            </a:r>
            <a:endParaRPr lang="en-US" sz="1200" dirty="0">
              <a:cs typeface="Times New Roman" pitchFamily="18" charset="0"/>
            </a:endParaRP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56</a:t>
            </a:fld>
            <a:endParaRPr lang="en-US" dirty="0"/>
          </a:p>
        </p:txBody>
      </p:sp>
    </p:spTree>
    <p:extLst>
      <p:ext uri="{BB962C8B-B14F-4D97-AF65-F5344CB8AC3E}">
        <p14:creationId xmlns:p14="http://schemas.microsoft.com/office/powerpoint/2010/main" val="18106608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sSub>
                      <m:sSubPr>
                        <m:ctrlPr>
                          <a:rPr lang="en-US" i="1" dirty="0" smtClean="0">
                            <a:solidFill>
                              <a:srgbClr val="002060"/>
                            </a:solidFill>
                            <a:latin typeface="Cambria Math" panose="02040503050406030204" pitchFamily="18" charset="0"/>
                          </a:rPr>
                        </m:ctrlPr>
                      </m:sSubPr>
                      <m:e>
                        <m:r>
                          <a:rPr lang="en-US" i="1" dirty="0">
                            <a:solidFill>
                              <a:srgbClr val="002060"/>
                            </a:solidFill>
                            <a:latin typeface="Cambria Math" panose="02040503050406030204" pitchFamily="18" charset="0"/>
                          </a:rPr>
                          <m:t>𝑅</m:t>
                        </m:r>
                      </m:e>
                      <m:sub>
                        <m:r>
                          <a:rPr lang="en-US" b="0" i="1" dirty="0" smtClean="0">
                            <a:solidFill>
                              <a:srgbClr val="002060"/>
                            </a:solidFill>
                            <a:latin typeface="Cambria Math" panose="02040503050406030204" pitchFamily="18" charset="0"/>
                          </a:rPr>
                          <m:t>𝐹</m:t>
                        </m:r>
                      </m:sub>
                    </m:sSub>
                  </m:oMath>
                </a14:m>
                <a:r>
                  <a:rPr lang="en-US" dirty="0"/>
                  <a:t> - </a:t>
                </a:r>
              </a:p>
            </p:txBody>
          </p:sp>
        </mc:Choice>
        <mc:Fallback xmlns="">
          <p:sp>
            <p:nvSpPr>
              <p:cNvPr id="3" name="Notes Placeholder 2"/>
              <p:cNvSpPr>
                <a:spLocks noGrp="1"/>
              </p:cNvSpPr>
              <p:nvPr>
                <p:ph type="body" idx="1"/>
              </p:nvPr>
            </p:nvSpPr>
            <p:spPr/>
            <p:txBody>
              <a:bodyPr/>
              <a:lstStyle/>
              <a:p>
                <a:r>
                  <a:rPr lang="en-US" i="0" dirty="0">
                    <a:solidFill>
                      <a:srgbClr val="002060"/>
                    </a:solidFill>
                    <a:latin typeface="Cambria Math" panose="02040503050406030204" pitchFamily="18" charset="0"/>
                  </a:rPr>
                  <a:t>𝑅_</a:t>
                </a:r>
                <a:r>
                  <a:rPr lang="en-US" b="0" i="0" dirty="0">
                    <a:solidFill>
                      <a:srgbClr val="002060"/>
                    </a:solidFill>
                    <a:latin typeface="Cambria Math" panose="02040503050406030204" pitchFamily="18" charset="0"/>
                  </a:rPr>
                  <a:t>𝐹</a:t>
                </a:r>
                <a:r>
                  <a:rPr lang="en-US" dirty="0"/>
                  <a:t> - </a:t>
                </a:r>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57</a:t>
            </a:fld>
            <a:endParaRPr lang="en-US" dirty="0"/>
          </a:p>
        </p:txBody>
      </p:sp>
    </p:spTree>
    <p:extLst>
      <p:ext uri="{BB962C8B-B14F-4D97-AF65-F5344CB8AC3E}">
        <p14:creationId xmlns:p14="http://schemas.microsoft.com/office/powerpoint/2010/main" val="13984830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sSub>
                      <m:sSubPr>
                        <m:ctrlPr>
                          <a:rPr lang="en-US" i="1" dirty="0" smtClean="0">
                            <a:solidFill>
                              <a:srgbClr val="002060"/>
                            </a:solidFill>
                            <a:latin typeface="Cambria Math" panose="02040503050406030204" pitchFamily="18" charset="0"/>
                          </a:rPr>
                        </m:ctrlPr>
                      </m:sSubPr>
                      <m:e>
                        <m:r>
                          <a:rPr lang="en-US" i="1" dirty="0">
                            <a:solidFill>
                              <a:srgbClr val="002060"/>
                            </a:solidFill>
                            <a:latin typeface="Cambria Math" panose="02040503050406030204" pitchFamily="18" charset="0"/>
                          </a:rPr>
                          <m:t>𝑅</m:t>
                        </m:r>
                      </m:e>
                      <m:sub>
                        <m:r>
                          <a:rPr lang="en-US" b="0" i="1" dirty="0" smtClean="0">
                            <a:solidFill>
                              <a:srgbClr val="002060"/>
                            </a:solidFill>
                            <a:latin typeface="Cambria Math" panose="02040503050406030204" pitchFamily="18" charset="0"/>
                          </a:rPr>
                          <m:t>𝐹</m:t>
                        </m:r>
                      </m:sub>
                    </m:sSub>
                  </m:oMath>
                </a14:m>
                <a:r>
                  <a:rPr lang="en-US" dirty="0"/>
                  <a:t> - </a:t>
                </a:r>
                <a:endParaRPr lang="mn-MN" dirty="0"/>
              </a:p>
              <a:p>
                <a:r>
                  <a:rPr lang="en-US" b="0" i="0" dirty="0">
                    <a:solidFill>
                      <a:srgbClr val="050505"/>
                    </a:solidFill>
                    <a:effectLst/>
                    <a:latin typeface="Segoe UI Historic" panose="020B0502040204020203" pitchFamily="34" charset="0"/>
                  </a:rPr>
                  <a:t>dk </a:t>
                </a:r>
                <a:r>
                  <a:rPr lang="mn-MN" b="0" i="0">
                    <a:solidFill>
                      <a:srgbClr val="050505"/>
                    </a:solidFill>
                    <a:effectLst/>
                    <a:latin typeface="Segoe UI Historic" panose="020B0502040204020203" pitchFamily="34" charset="0"/>
                  </a:rPr>
                  <a:t>тухайн жилийн элэгдлийн шимтгэл байх ёстой</a:t>
                </a:r>
                <a:endParaRPr lang="en-US" dirty="0"/>
              </a:p>
            </p:txBody>
          </p:sp>
        </mc:Choice>
        <mc:Fallback xmlns="">
          <p:sp>
            <p:nvSpPr>
              <p:cNvPr id="3" name="Notes Placeholder 2"/>
              <p:cNvSpPr>
                <a:spLocks noGrp="1"/>
              </p:cNvSpPr>
              <p:nvPr>
                <p:ph type="body" idx="1"/>
              </p:nvPr>
            </p:nvSpPr>
            <p:spPr/>
            <p:txBody>
              <a:bodyPr/>
              <a:lstStyle/>
              <a:p>
                <a:r>
                  <a:rPr lang="en-US" i="0" dirty="0">
                    <a:solidFill>
                      <a:srgbClr val="002060"/>
                    </a:solidFill>
                    <a:latin typeface="Cambria Math" panose="02040503050406030204" pitchFamily="18" charset="0"/>
                  </a:rPr>
                  <a:t>𝑅_</a:t>
                </a:r>
                <a:r>
                  <a:rPr lang="en-US" b="0" i="0" dirty="0">
                    <a:solidFill>
                      <a:srgbClr val="002060"/>
                    </a:solidFill>
                    <a:latin typeface="Cambria Math" panose="02040503050406030204" pitchFamily="18" charset="0"/>
                  </a:rPr>
                  <a:t>𝐹</a:t>
                </a:r>
                <a:r>
                  <a:rPr lang="en-US" dirty="0"/>
                  <a:t> - </a:t>
                </a:r>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58</a:t>
            </a:fld>
            <a:endParaRPr lang="en-US" dirty="0"/>
          </a:p>
        </p:txBody>
      </p:sp>
    </p:spTree>
    <p:extLst>
      <p:ext uri="{BB962C8B-B14F-4D97-AF65-F5344CB8AC3E}">
        <p14:creationId xmlns:p14="http://schemas.microsoft.com/office/powerpoint/2010/main" val="30502707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sSub>
                      <m:sSubPr>
                        <m:ctrlPr>
                          <a:rPr lang="en-US" i="1" dirty="0" smtClean="0">
                            <a:solidFill>
                              <a:srgbClr val="002060"/>
                            </a:solidFill>
                            <a:latin typeface="Cambria Math" panose="02040503050406030204" pitchFamily="18" charset="0"/>
                          </a:rPr>
                        </m:ctrlPr>
                      </m:sSubPr>
                      <m:e>
                        <m:r>
                          <a:rPr lang="en-US" i="1" dirty="0">
                            <a:solidFill>
                              <a:srgbClr val="002060"/>
                            </a:solidFill>
                            <a:latin typeface="Cambria Math" panose="02040503050406030204" pitchFamily="18" charset="0"/>
                          </a:rPr>
                          <m:t>𝑅</m:t>
                        </m:r>
                      </m:e>
                      <m:sub>
                        <m:r>
                          <a:rPr lang="en-US" b="0" i="1" dirty="0" smtClean="0">
                            <a:solidFill>
                              <a:srgbClr val="002060"/>
                            </a:solidFill>
                            <a:latin typeface="Cambria Math" panose="02040503050406030204" pitchFamily="18" charset="0"/>
                          </a:rPr>
                          <m:t>𝐹</m:t>
                        </m:r>
                      </m:sub>
                    </m:sSub>
                  </m:oMath>
                </a14:m>
                <a:r>
                  <a:rPr lang="en-US" dirty="0"/>
                  <a:t> - </a:t>
                </a:r>
              </a:p>
            </p:txBody>
          </p:sp>
        </mc:Choice>
        <mc:Fallback xmlns="">
          <p:sp>
            <p:nvSpPr>
              <p:cNvPr id="3" name="Notes Placeholder 2"/>
              <p:cNvSpPr>
                <a:spLocks noGrp="1"/>
              </p:cNvSpPr>
              <p:nvPr>
                <p:ph type="body" idx="1"/>
              </p:nvPr>
            </p:nvSpPr>
            <p:spPr/>
            <p:txBody>
              <a:bodyPr/>
              <a:lstStyle/>
              <a:p>
                <a:r>
                  <a:rPr lang="en-US" i="0" dirty="0">
                    <a:solidFill>
                      <a:srgbClr val="002060"/>
                    </a:solidFill>
                    <a:latin typeface="Cambria Math" panose="02040503050406030204" pitchFamily="18" charset="0"/>
                  </a:rPr>
                  <a:t>𝑅_</a:t>
                </a:r>
                <a:r>
                  <a:rPr lang="en-US" b="0" i="0" dirty="0">
                    <a:solidFill>
                      <a:srgbClr val="002060"/>
                    </a:solidFill>
                    <a:latin typeface="Cambria Math" panose="02040503050406030204" pitchFamily="18" charset="0"/>
                  </a:rPr>
                  <a:t>𝐹</a:t>
                </a:r>
                <a:r>
                  <a:rPr lang="en-US" dirty="0"/>
                  <a:t> - </a:t>
                </a:r>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59</a:t>
            </a:fld>
            <a:endParaRPr lang="en-US" dirty="0"/>
          </a:p>
        </p:txBody>
      </p:sp>
    </p:spTree>
    <p:extLst>
      <p:ext uri="{BB962C8B-B14F-4D97-AF65-F5344CB8AC3E}">
        <p14:creationId xmlns:p14="http://schemas.microsoft.com/office/powerpoint/2010/main" val="93442687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15000"/>
              </a:lnSpc>
              <a:spcAft>
                <a:spcPts val="1000"/>
              </a:spcAft>
            </a:pPr>
            <a:r>
              <a:rPr lang="mn-MN" sz="1200" dirty="0">
                <a:latin typeface="Times New Roman" panose="02020603050405020304" pitchFamily="18" charset="0"/>
                <a:cs typeface="Times New Roman" panose="02020603050405020304" pitchFamily="18" charset="0"/>
              </a:rPr>
              <a:t>Өгөөжийг хэмжихдээ хүлээгдэж буй өгөөжөөр, харин эрсдэлийг өгөөжийн стандарт хазайлтаар хэмждэг</a:t>
            </a:r>
            <a:r>
              <a:rPr lang="en-US" sz="1200" dirty="0">
                <a:latin typeface="Times New Roman" panose="02020603050405020304" pitchFamily="18" charset="0"/>
                <a:cs typeface="Times New Roman" panose="02020603050405020304" pitchFamily="18" charset="0"/>
              </a:rPr>
              <a:t>.</a:t>
            </a:r>
            <a:r>
              <a:rPr lang="mn-MN" sz="12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algn="just">
              <a:lnSpc>
                <a:spcPct val="115000"/>
              </a:lnSpc>
              <a:spcAft>
                <a:spcPts val="1000"/>
              </a:spcAft>
            </a:pPr>
            <a:r>
              <a:rPr lang="mn-MN" sz="1200" dirty="0">
                <a:latin typeface="Times New Roman" panose="02020603050405020304" pitchFamily="18" charset="0"/>
                <a:cs typeface="Times New Roman" panose="02020603050405020304" pitchFamily="18" charset="0"/>
              </a:rPr>
              <a:t>Тиймээс хөрөнгө оруулагч тэсвэрлэх боломжтой эрсдлийн түвшинтэй уялдуулсан илүү их өгөөж хүртэхийн тулд хувьцааны хөрөнгө оруулалтаа төрөлжүүлж болно. </a:t>
            </a:r>
            <a:endParaRPr lang="en-US" sz="1200" dirty="0">
              <a:latin typeface="Times New Roman" panose="02020603050405020304" pitchFamily="18" charset="0"/>
              <a:cs typeface="Times New Roman" panose="02020603050405020304" pitchFamily="18" charset="0"/>
            </a:endParaRPr>
          </a:p>
          <a:p>
            <a:pPr algn="just">
              <a:lnSpc>
                <a:spcPct val="115000"/>
              </a:lnSpc>
              <a:spcAft>
                <a:spcPts val="1000"/>
              </a:spcAft>
            </a:pPr>
            <a:r>
              <a:rPr lang="mn-MN" sz="1200" dirty="0">
                <a:latin typeface="Times New Roman" panose="02020603050405020304" pitchFamily="18" charset="0"/>
                <a:cs typeface="Times New Roman" panose="02020603050405020304" pitchFamily="18" charset="0"/>
              </a:rPr>
              <a:t>Нөгөө талаас, Зурагт харуулснаар хөрөнгө оруулагч Марковицийн муруй дээрх багцыг сонгосноор шаардлагатай өгөөжтэй холбоотой эрсдлийг бууруулж чадна.</a:t>
            </a:r>
            <a:endParaRPr lang="en-US" sz="1200" dirty="0">
              <a:solidFill>
                <a:srgbClr val="00B0F0"/>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60</a:t>
            </a:fld>
            <a:endParaRPr lang="en-US" dirty="0"/>
          </a:p>
        </p:txBody>
      </p:sp>
    </p:spTree>
    <p:extLst>
      <p:ext uri="{BB962C8B-B14F-4D97-AF65-F5344CB8AC3E}">
        <p14:creationId xmlns:p14="http://schemas.microsoft.com/office/powerpoint/2010/main" val="5009084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61</a:t>
            </a:fld>
            <a:endParaRPr lang="en-US" dirty="0"/>
          </a:p>
        </p:txBody>
      </p:sp>
    </p:spTree>
    <p:extLst>
      <p:ext uri="{BB962C8B-B14F-4D97-AF65-F5344CB8AC3E}">
        <p14:creationId xmlns:p14="http://schemas.microsoft.com/office/powerpoint/2010/main" val="25059398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mn-MN" dirty="0">
                    <a:latin typeface="Times New Roman" panose="02020603050405020304" pitchFamily="18" charset="0"/>
                    <a:cs typeface="Times New Roman" panose="02020603050405020304" pitchFamily="18" charset="0"/>
                  </a:rPr>
                  <a:t>Зурагт үзүүлснээр ҮЦЗЗШ-ыг аливаа үнэт цаасны эрсдэлийн стандартчилсан үнэлгээг бий болгоход хэрэглэснээр аливаа үнэт цаасны өгөөжийг тооцох боломжтой. </a:t>
                </a:r>
              </a:p>
              <a:p>
                <a:r>
                  <a:rPr lang="mn-MN" dirty="0">
                    <a:latin typeface="Times New Roman" panose="02020603050405020304" pitchFamily="18" charset="0"/>
                    <a:cs typeface="Times New Roman" panose="02020603050405020304" pitchFamily="18" charset="0"/>
                  </a:rPr>
                  <a:t>Энэ загварыг хэрэглэснээр эрсдэлийг зах зээлийн багцтай холбоотойгоор тохируулна.</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sz="1200" i="1" smtClean="0">
                            <a:latin typeface="Cambria Math" panose="02040503050406030204" pitchFamily="18" charset="0"/>
                            <a:cs typeface="Times New Roman" pitchFamily="18" charset="0"/>
                          </a:rPr>
                        </m:ctrlPr>
                      </m:sSubPr>
                      <m:e>
                        <m:r>
                          <a:rPr lang="mn-MN" sz="1200">
                            <a:latin typeface="Cambria Math" panose="02040503050406030204" pitchFamily="18" charset="0"/>
                            <a:cs typeface="Times New Roman" pitchFamily="18" charset="0"/>
                          </a:rPr>
                          <m:t>𝛽</m:t>
                        </m:r>
                      </m:e>
                      <m:sub>
                        <m:r>
                          <a:rPr lang="mn-MN" sz="1200">
                            <a:latin typeface="Cambria Math" panose="02040503050406030204" pitchFamily="18" charset="0"/>
                            <a:cs typeface="Times New Roman" pitchFamily="18" charset="0"/>
                          </a:rPr>
                          <m:t>𝑆</m:t>
                        </m:r>
                      </m:sub>
                    </m:sSub>
                  </m:oMath>
                </a14:m>
                <a:r>
                  <a:rPr lang="mn-MN" sz="1200" dirty="0">
                    <a:latin typeface="Times New Roman" panose="02020603050405020304" pitchFamily="18" charset="0"/>
                    <a:cs typeface="Times New Roman" panose="02020603050405020304" pitchFamily="18" charset="0"/>
                  </a:rPr>
                  <a:t> - хувьцаа </a:t>
                </a:r>
                <a:r>
                  <a:rPr lang="en-US" sz="1200" dirty="0">
                    <a:latin typeface="Times New Roman" panose="02020603050405020304" pitchFamily="18" charset="0"/>
                    <a:cs typeface="Times New Roman" panose="02020603050405020304" pitchFamily="18" charset="0"/>
                  </a:rPr>
                  <a:t>S-</a:t>
                </a:r>
                <a:r>
                  <a:rPr lang="mn-MN" sz="1200" dirty="0">
                    <a:latin typeface="Times New Roman" panose="02020603050405020304" pitchFamily="18" charset="0"/>
                    <a:cs typeface="Times New Roman" panose="02020603050405020304" pitchFamily="18" charset="0"/>
                  </a:rPr>
                  <a:t>ийн бета утга. Энэ нь аливаа хувьцааны хувьд тодорхой хугацаанд шинэчлэгдэн</a:t>
                </a:r>
                <a:r>
                  <a:rPr lang="en-US" sz="1200" dirty="0">
                    <a:latin typeface="Times New Roman" panose="02020603050405020304" pitchFamily="18" charset="0"/>
                    <a:cs typeface="Times New Roman" panose="02020603050405020304" pitchFamily="18" charset="0"/>
                  </a:rPr>
                  <a:t>,</a:t>
                </a:r>
                <a:r>
                  <a:rPr lang="mn-MN" sz="1200" dirty="0">
                    <a:latin typeface="Times New Roman" panose="02020603050405020304" pitchFamily="18" charset="0"/>
                    <a:cs typeface="Times New Roman" panose="02020603050405020304" pitchFamily="18" charset="0"/>
                  </a:rPr>
                  <a:t> гарч байдаг статистик мэдээ юм. Үүнийг зах зээлийн индексийн эсрэг хувьцааны үнийн регрессийн өөрчлөлтөөр хэмждэг</a:t>
                </a:r>
                <a:r>
                  <a:rPr lang="en-US" sz="1200" dirty="0">
                    <a:latin typeface="Times New Roman" panose="02020603050405020304" pitchFamily="18" charset="0"/>
                    <a:cs typeface="Times New Roman" panose="02020603050405020304" pitchFamily="18" charset="0"/>
                  </a:rPr>
                  <a:t>. </a:t>
                </a:r>
                <a:r>
                  <a:rPr lang="mn-MN" sz="1200" dirty="0">
                    <a:latin typeface="Times New Roman" panose="02020603050405020304" pitchFamily="18" charset="0"/>
                    <a:cs typeface="Times New Roman" panose="02020603050405020304" pitchFamily="18" charset="0"/>
                  </a:rPr>
                  <a:t>Регрессийн шугамын өнцгийн коэффициентийг бетагаар тэмдэглэдэг ба хувьцааны эрсдлийг тооцоолоход түгээмэл ашигладаг.</a:t>
                </a:r>
                <a:endParaRPr lang="en-US" sz="1200" dirty="0">
                  <a:latin typeface="Times New Roman" panose="02020603050405020304" pitchFamily="18" charset="0"/>
                  <a:cs typeface="Times New Roman" panose="02020603050405020304" pitchFamily="18" charset="0"/>
                </a:endParaRPr>
              </a:p>
              <a:p>
                <a:endParaRPr lang="mn-M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mc:Choice>
        <mc:Fallback xmlns="">
          <p:sp>
            <p:nvSpPr>
              <p:cNvPr id="3" name="Notes Placeholder 2"/>
              <p:cNvSpPr>
                <a:spLocks noGrp="1"/>
              </p:cNvSpPr>
              <p:nvPr>
                <p:ph type="body" idx="1"/>
              </p:nvPr>
            </p:nvSpPr>
            <p:spPr/>
            <p:txBody>
              <a:bodyPr/>
              <a:lstStyle/>
              <a:p>
                <a:r>
                  <a:rPr lang="mn-MN" dirty="0"/>
                  <a:t>Зурагт үзүүлснээр ҮЦЗЗШ-ыг аливаа үнэт цаасны эрсдэлийн стандартчилсан үнэлгээг бий болгоход хэрэглэснээр аливаа үнэт цаасны өгөөжийг тооцох боломжтой. </a:t>
                </a:r>
              </a:p>
              <a:p>
                <a:r>
                  <a:rPr lang="mn-MN" dirty="0"/>
                  <a:t>Энэ загварыг хэрэглэснээр эрсдэлийг зах зээлийн багцтай холбоотойгоор тохируулна.</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mn-MN" sz="1200" i="0">
                    <a:latin typeface="Cambria Math" panose="02040503050406030204" pitchFamily="18" charset="0"/>
                    <a:cs typeface="Times New Roman" pitchFamily="18" charset="0"/>
                  </a:rPr>
                  <a:t>𝛽</a:t>
                </a:r>
                <a:r>
                  <a:rPr lang="en-US" sz="1200" i="0">
                    <a:latin typeface="Cambria Math" panose="02040503050406030204" pitchFamily="18" charset="0"/>
                    <a:cs typeface="Times New Roman" pitchFamily="18" charset="0"/>
                  </a:rPr>
                  <a:t>_</a:t>
                </a:r>
                <a:r>
                  <a:rPr lang="mn-MN" sz="1200" i="0">
                    <a:latin typeface="Cambria Math" panose="02040503050406030204" pitchFamily="18" charset="0"/>
                    <a:cs typeface="Times New Roman" pitchFamily="18" charset="0"/>
                  </a:rPr>
                  <a:t>𝑆</a:t>
                </a:r>
                <a:r>
                  <a:rPr lang="mn-MN" sz="1200" dirty="0">
                    <a:cs typeface="Times New Roman" pitchFamily="18" charset="0"/>
                  </a:rPr>
                  <a:t> - хувьцаа </a:t>
                </a:r>
                <a:r>
                  <a:rPr lang="en-US" sz="1200" dirty="0">
                    <a:cs typeface="Times New Roman" pitchFamily="18" charset="0"/>
                  </a:rPr>
                  <a:t>S-</a:t>
                </a:r>
                <a:r>
                  <a:rPr lang="mn-MN" sz="1200" dirty="0">
                    <a:cs typeface="Times New Roman" pitchFamily="18" charset="0"/>
                  </a:rPr>
                  <a:t>ийн бета утга. Энэ нь аливаа хувьцааны хувьд тодорхой хугацаанд шинэчлэгдэн</a:t>
                </a:r>
                <a:r>
                  <a:rPr lang="en-US" sz="1200" dirty="0">
                    <a:cs typeface="Times New Roman" pitchFamily="18" charset="0"/>
                  </a:rPr>
                  <a:t>,</a:t>
                </a:r>
                <a:r>
                  <a:rPr lang="mn-MN" sz="1200" dirty="0">
                    <a:cs typeface="Times New Roman" pitchFamily="18" charset="0"/>
                  </a:rPr>
                  <a:t> гарч байдаг статистик мэдээ юм. Үүнийг зах зээлийн индексийн эсрэг хувьцааны үнийн регрессийн өөрчлөлтөөр хэмждэг</a:t>
                </a:r>
                <a:r>
                  <a:rPr lang="en-US" sz="1200" dirty="0">
                    <a:cs typeface="Times New Roman" pitchFamily="18" charset="0"/>
                  </a:rPr>
                  <a:t>. </a:t>
                </a:r>
                <a:r>
                  <a:rPr lang="mn-MN" sz="1200" dirty="0">
                    <a:cs typeface="Times New Roman" pitchFamily="18" charset="0"/>
                  </a:rPr>
                  <a:t>Регрессийн шугамын өнцгийн коэффициентийг бетагаар тэмдэглэдэг ба хувьцааны эрсдлийг тооцоолоход түгээмэл ашигладаг.</a:t>
                </a:r>
                <a:endParaRPr lang="en-US" sz="1200" dirty="0">
                  <a:cs typeface="Times New Roman" pitchFamily="18" charset="0"/>
                </a:endParaRPr>
              </a:p>
              <a:p>
                <a:endParaRPr lang="mn-MN" dirty="0"/>
              </a:p>
              <a:p>
                <a:endParaRPr lang="en-US" dirty="0"/>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62</a:t>
            </a:fld>
            <a:endParaRPr lang="en-US" dirty="0"/>
          </a:p>
        </p:txBody>
      </p:sp>
    </p:spTree>
    <p:extLst>
      <p:ext uri="{BB962C8B-B14F-4D97-AF65-F5344CB8AC3E}">
        <p14:creationId xmlns:p14="http://schemas.microsoft.com/office/powerpoint/2010/main" val="35761755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63</a:t>
            </a:fld>
            <a:endParaRPr lang="en-US" dirty="0"/>
          </a:p>
        </p:txBody>
      </p:sp>
    </p:spTree>
    <p:extLst>
      <p:ext uri="{BB962C8B-B14F-4D97-AF65-F5344CB8AC3E}">
        <p14:creationId xmlns:p14="http://schemas.microsoft.com/office/powerpoint/2010/main" val="10004424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002060"/>
                </a:solidFill>
                <a:latin typeface="Times New Roman" panose="02020603050405020304" pitchFamily="18" charset="0"/>
                <a:cs typeface="Times New Roman" panose="02020603050405020304" pitchFamily="18" charset="0"/>
              </a:rPr>
              <a:t>(+</a:t>
            </a:r>
            <a:r>
              <a:rPr lang="mn-MN" sz="1200" b="1" dirty="0">
                <a:solidFill>
                  <a:srgbClr val="FF0000"/>
                </a:solidFill>
                <a:latin typeface="Times New Roman" panose="02020603050405020304" pitchFamily="18" charset="0"/>
                <a:cs typeface="Times New Roman" panose="02020603050405020304" pitchFamily="18" charset="0"/>
              </a:rPr>
              <a:t>бусад номоос цуглуулсан</a:t>
            </a:r>
            <a:r>
              <a:rPr lang="en-US" sz="1200" b="1" dirty="0">
                <a:solidFill>
                  <a:srgbClr val="FF0000"/>
                </a:solidFill>
                <a:latin typeface="Times New Roman" panose="02020603050405020304" pitchFamily="18" charset="0"/>
                <a:cs typeface="Times New Roman" panose="02020603050405020304" pitchFamily="18" charset="0"/>
              </a:rPr>
              <a:t>)</a:t>
            </a:r>
            <a:r>
              <a:rPr lang="en-US" b="1" dirty="0">
                <a:solidFill>
                  <a:srgbClr val="002060"/>
                </a:solidFill>
                <a:latin typeface="Times New Roman" panose="02020603050405020304" pitchFamily="18" charset="0"/>
                <a:cs typeface="Times New Roman" panose="02020603050405020304" pitchFamily="18" charset="0"/>
              </a:rPr>
              <a:t>)</a:t>
            </a:r>
            <a:endParaRPr lang="mn-MN" b="1" dirty="0">
              <a:solidFill>
                <a:srgbClr val="00206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mn-MN" sz="1200" b="1" dirty="0">
                <a:solidFill>
                  <a:srgbClr val="002060"/>
                </a:solidFill>
                <a:latin typeface="Times New Roman" panose="02020603050405020304" pitchFamily="18" charset="0"/>
                <a:cs typeface="Times New Roman" panose="02020603050405020304" pitchFamily="18" charset="0"/>
              </a:rPr>
              <a:t>Эрсдэл – хүссэн болон хүлээгдэж буй үр дүнгээс сөрөг хазайлт үүсч болзошгүй нөхцөл юм.</a:t>
            </a:r>
            <a:r>
              <a:rPr lang="en-US" sz="1200" b="1" dirty="0">
                <a:solidFill>
                  <a:srgbClr val="002060"/>
                </a:solidFill>
                <a:latin typeface="Times New Roman" panose="02020603050405020304" pitchFamily="18" charset="0"/>
                <a:cs typeface="Times New Roman" panose="02020603050405020304" pitchFamily="18" charset="0"/>
              </a:rPr>
              <a:t> </a:t>
            </a:r>
            <a:r>
              <a:rPr lang="en-US" sz="1200" b="1" dirty="0">
                <a:solidFill>
                  <a:srgbClr val="FF0000"/>
                </a:solidFill>
                <a:latin typeface="Times New Roman" panose="02020603050405020304" pitchFamily="18" charset="0"/>
                <a:cs typeface="Times New Roman" panose="02020603050405020304" pitchFamily="18" charset="0"/>
              </a:rPr>
              <a:t>(</a:t>
            </a:r>
            <a:r>
              <a:rPr lang="mn-MN" sz="1200" b="1" dirty="0">
                <a:solidFill>
                  <a:srgbClr val="FF0000"/>
                </a:solidFill>
                <a:latin typeface="Times New Roman" panose="02020603050405020304" pitchFamily="18" charset="0"/>
                <a:cs typeface="Times New Roman" panose="02020603050405020304" pitchFamily="18" charset="0"/>
              </a:rPr>
              <a:t>манай номын тодхлт</a:t>
            </a:r>
            <a:r>
              <a:rPr lang="en-US" sz="1200" b="1" dirty="0">
                <a:solidFill>
                  <a:srgbClr val="FF0000"/>
                </a:solidFill>
                <a:latin typeface="Times New Roman" panose="02020603050405020304" pitchFamily="18" charset="0"/>
                <a:cs typeface="Times New Roman" panose="02020603050405020304" pitchFamily="18" charset="0"/>
              </a:rPr>
              <a:t>)</a:t>
            </a:r>
            <a:endParaRPr lang="mn-MN" sz="12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64</a:t>
            </a:fld>
            <a:endParaRPr lang="en-US" dirty="0"/>
          </a:p>
        </p:txBody>
      </p:sp>
    </p:spTree>
    <p:extLst>
      <p:ext uri="{BB962C8B-B14F-4D97-AF65-F5344CB8AC3E}">
        <p14:creationId xmlns:p14="http://schemas.microsoft.com/office/powerpoint/2010/main" val="41112100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65</a:t>
            </a:fld>
            <a:endParaRPr lang="en-US" dirty="0"/>
          </a:p>
        </p:txBody>
      </p:sp>
    </p:spTree>
    <p:extLst>
      <p:ext uri="{BB962C8B-B14F-4D97-AF65-F5344CB8AC3E}">
        <p14:creationId xmlns:p14="http://schemas.microsoft.com/office/powerpoint/2010/main" val="217331128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dirty="0">
                <a:solidFill>
                  <a:srgbClr val="FF0000"/>
                </a:solidFill>
                <a:latin typeface="Times New Roman" panose="02020603050405020304" pitchFamily="18" charset="0"/>
                <a:cs typeface="Times New Roman" panose="02020603050405020304" pitchFamily="18" charset="0"/>
              </a:rPr>
              <a:t>(</a:t>
            </a:r>
            <a:r>
              <a:rPr lang="mn-MN" sz="1200" b="1" dirty="0">
                <a:solidFill>
                  <a:srgbClr val="FF0000"/>
                </a:solidFill>
                <a:latin typeface="Times New Roman" panose="02020603050405020304" pitchFamily="18" charset="0"/>
                <a:cs typeface="Times New Roman" panose="02020603050405020304" pitchFamily="18" charset="0"/>
              </a:rPr>
              <a:t>манай ном</a:t>
            </a:r>
            <a:r>
              <a:rPr lang="en-US" sz="1200" b="1" dirty="0">
                <a:solidFill>
                  <a:srgbClr val="FF0000"/>
                </a:solidFill>
                <a:latin typeface="Times New Roman" panose="02020603050405020304" pitchFamily="18" charset="0"/>
                <a:cs typeface="Times New Roman" panose="02020603050405020304" pitchFamily="18" charset="0"/>
              </a:rPr>
              <a:t>)</a:t>
            </a:r>
            <a:endParaRPr lang="mn-MN" sz="1200" dirty="0"/>
          </a:p>
          <a:p>
            <a:pPr marL="228600" indent="-228600">
              <a:buFont typeface="+mj-lt"/>
              <a:buAutoNum type="arabicPeriod"/>
            </a:pPr>
            <a:r>
              <a:rPr lang="mn-MN" sz="1200" dirty="0"/>
              <a:t>С</a:t>
            </a:r>
            <a:r>
              <a:rPr lang="en-US" sz="1200" dirty="0" err="1"/>
              <a:t>удалгаанд</a:t>
            </a:r>
            <a:r>
              <a:rPr lang="en-US" sz="1200" dirty="0"/>
              <a:t> </a:t>
            </a:r>
            <a:r>
              <a:rPr lang="en-US" sz="1200" dirty="0" err="1"/>
              <a:t>ашигласан</a:t>
            </a:r>
            <a:r>
              <a:rPr lang="en-US" sz="1200" dirty="0"/>
              <a:t> </a:t>
            </a:r>
            <a:r>
              <a:rPr lang="en-US" sz="1200" dirty="0" err="1"/>
              <a:t>мөнгөн</a:t>
            </a:r>
            <a:r>
              <a:rPr lang="en-US" sz="1200" dirty="0"/>
              <a:t> </a:t>
            </a:r>
            <a:r>
              <a:rPr lang="en-US" sz="1200" dirty="0" err="1"/>
              <a:t>урсгалын</a:t>
            </a:r>
            <a:r>
              <a:rPr lang="en-US" sz="1200" dirty="0"/>
              <a:t> </a:t>
            </a:r>
            <a:r>
              <a:rPr lang="en-US" sz="1200" dirty="0" err="1"/>
              <a:t>тооцооллын</a:t>
            </a:r>
            <a:r>
              <a:rPr lang="en-US" sz="1200" dirty="0"/>
              <a:t> </a:t>
            </a:r>
            <a:r>
              <a:rPr lang="en-US" sz="1200" dirty="0" err="1"/>
              <a:t>болзошгүй</a:t>
            </a:r>
            <a:r>
              <a:rPr lang="en-US" sz="1200" dirty="0"/>
              <a:t> </a:t>
            </a:r>
            <a:r>
              <a:rPr lang="en-US" sz="1200" dirty="0" err="1"/>
              <a:t>алдаа</a:t>
            </a:r>
            <a:r>
              <a:rPr lang="mn-MN" sz="1200" dirty="0"/>
              <a:t> - Орлогын мөнгөн урсгалын нарийвчлалыг тодорхойлоход хэцүү байдаг. Хэрэв эдгээр нь өнгөрсөн туршлага дээр үндэслэсэн, эсвэл зах зээлийн харгалзах судалгаагаар тодорхойлогдсон бол хангалттай итгэл үнэмшилтэйд тооцож болно. Нөгөө талаас, хэрвээ тэдгээр нь итгэл найдвар дээр тулгуурлан тодорхойлсон хязгаарлагдмал мэдээлэл дээр суурилсан бол тодорхойгүй байдлын томоохон элементийг агуулж болно.</a:t>
            </a:r>
          </a:p>
          <a:p>
            <a:pPr marL="228600" indent="-228600">
              <a:buFont typeface="+mj-lt"/>
              <a:buAutoNum type="arabicPeriod"/>
            </a:pPr>
            <a:r>
              <a:rPr lang="mn-MN" sz="1200" dirty="0"/>
              <a:t>Э</a:t>
            </a:r>
            <a:r>
              <a:rPr lang="en-US" sz="1200" dirty="0" err="1"/>
              <a:t>дийн</a:t>
            </a:r>
            <a:r>
              <a:rPr lang="en-US" sz="1200" dirty="0"/>
              <a:t> </a:t>
            </a:r>
            <a:r>
              <a:rPr lang="en-US" sz="1200" dirty="0" err="1"/>
              <a:t>засгийн</a:t>
            </a:r>
            <a:r>
              <a:rPr lang="en-US" sz="1200" dirty="0"/>
              <a:t> </a:t>
            </a:r>
            <a:r>
              <a:rPr lang="en-US" sz="1200" dirty="0" err="1"/>
              <a:t>ирээдүйн</a:t>
            </a:r>
            <a:r>
              <a:rPr lang="en-US" sz="1200" dirty="0"/>
              <a:t> </a:t>
            </a:r>
            <a:r>
              <a:rPr lang="mn-MN" sz="1200" dirty="0"/>
              <a:t>эерэг байдалтай холбоотой </a:t>
            </a:r>
            <a:r>
              <a:rPr lang="en-US" sz="1200" dirty="0" err="1"/>
              <a:t>бизнесийн</a:t>
            </a:r>
            <a:r>
              <a:rPr lang="en-US" sz="1200" dirty="0"/>
              <a:t> </a:t>
            </a:r>
            <a:r>
              <a:rPr lang="en-US" sz="1200" dirty="0" err="1"/>
              <a:t>төрөл</a:t>
            </a:r>
            <a:r>
              <a:rPr lang="mn-MN" sz="1200" dirty="0"/>
              <a:t> - Зарим төрлийн бизнесийн үйл ажиллагаа бусадтай харьцуулахад тогтвортой бус байна. Жишээлбэл, ихэнх олборлох уул уурхай нь үйлдвэрийн үйл ажиллагаанаас илүү эрсдэлтэй байдаг. Инженерийн төсөлд хөрөнгө оруулах бүрт ямар эрсдэл байгаа талаар шийдвэр гаргахад бизнесийн шинж чанар, эдийн засгийн ирээдүйн нөхцөл байдлыг (жишээлбэл, хүүний түвшин) харгалзан үзнэ.</a:t>
            </a:r>
          </a:p>
          <a:p>
            <a:pPr marL="228600" indent="-228600">
              <a:buFont typeface="+mj-lt"/>
              <a:buAutoNum type="arabicPeriod"/>
            </a:pPr>
            <a:endParaRPr lang="mn-MN" sz="1200" dirty="0"/>
          </a:p>
          <a:p>
            <a:pPr marL="228600" indent="-228600">
              <a:buFont typeface="+mj-lt"/>
              <a:buAutoNum type="arabicPeriod"/>
            </a:pPr>
            <a:r>
              <a:rPr lang="mn-MN" sz="1200" dirty="0"/>
              <a:t>Зарим төрлийн бүтэц, тоног төхөөрөмж нь тодорхой хугацаа, зах зээлийн үнэ цэнэтэй байдаг явдал - Сайн хөдөлгүүртэй токарын машин ихэнх тохиолдолд ямар ч үйлдвэрлэлд олон зорилгоор ашиглагдах боломжтой байдаг. Гэтэл зөвхөн нэг тусгай зориулалтын ажил хийхээр үйлдвэрлэсэн токарын машины онцлог төрөл байж болно. Түүний үнэ цэнэ тухайн тусгай зориулалтын үйл ажиллагааны эрэлт хэрэгцээнээс бараг бүрэн хамааран тодорхойлогдох болно. Тиймээс, биет өмчийн төрөл тооцоолсон мөнгөн урсгалын нарийвчлалд нөлөөлдөг.</a:t>
            </a:r>
          </a:p>
          <a:p>
            <a:pPr marL="228600" indent="-228600">
              <a:buFont typeface="+mj-lt"/>
              <a:buAutoNum type="arabicPeriod"/>
            </a:pPr>
            <a:endParaRPr lang="mn-MN" sz="1200" dirty="0"/>
          </a:p>
          <a:p>
            <a:pPr marL="228600" indent="-228600">
              <a:buFont typeface="+mj-lt"/>
              <a:buAutoNum type="arabicPeriod"/>
            </a:pPr>
            <a:r>
              <a:rPr lang="mn-MN" sz="1200" dirty="0"/>
              <a:t>Шинжилгээнд ашиглаж байгаа судалгааны хугацааны урт - Судалгааны хугацаа урт байх нь тооцоолсон бүх хүчин зүйлсийн магадлалыг бууруулдаг. Тиймээс судалгааны хугацаа урт байх нь ихэнх тохиолдолд хөрөнгө оруулалтын тодорхой бус байдлыг ихэсгэдэг.</a:t>
            </a:r>
          </a:p>
          <a:p>
            <a:pPr marL="0" indent="0">
              <a:buFont typeface="+mj-lt"/>
              <a:buNone/>
            </a:pPr>
            <a:endParaRPr lang="en-US" sz="1200" dirty="0"/>
          </a:p>
        </p:txBody>
      </p:sp>
      <p:sp>
        <p:nvSpPr>
          <p:cNvPr id="4" name="Slide Number Placeholder 3"/>
          <p:cNvSpPr>
            <a:spLocks noGrp="1"/>
          </p:cNvSpPr>
          <p:nvPr>
            <p:ph type="sldNum" sz="quarter" idx="5"/>
          </p:nvPr>
        </p:nvSpPr>
        <p:spPr/>
        <p:txBody>
          <a:bodyPr/>
          <a:lstStyle/>
          <a:p>
            <a:fld id="{E4CFEF27-99CE-459F-8C01-F12FB244F5E1}" type="slidenum">
              <a:rPr lang="en-US" smtClean="0"/>
              <a:t>66</a:t>
            </a:fld>
            <a:endParaRPr lang="en-US" dirty="0"/>
          </a:p>
        </p:txBody>
      </p:sp>
    </p:spTree>
    <p:extLst>
      <p:ext uri="{BB962C8B-B14F-4D97-AF65-F5344CB8AC3E}">
        <p14:creationId xmlns:p14="http://schemas.microsoft.com/office/powerpoint/2010/main" val="291277919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mn-MN" sz="1200" b="1" dirty="0">
                <a:solidFill>
                  <a:srgbClr val="002060"/>
                </a:solidFill>
                <a:latin typeface="Times New Roman" panose="02020603050405020304" pitchFamily="18" charset="0"/>
                <a:cs typeface="Times New Roman" panose="02020603050405020304" pitchFamily="18" charset="0"/>
              </a:rPr>
              <a:t> </a:t>
            </a:r>
            <a:r>
              <a:rPr lang="en-US" sz="1200" b="1" dirty="0">
                <a:solidFill>
                  <a:srgbClr val="FF0000"/>
                </a:solidFill>
                <a:latin typeface="Times New Roman" panose="02020603050405020304" pitchFamily="18" charset="0"/>
                <a:cs typeface="Times New Roman" panose="02020603050405020304" pitchFamily="18" charset="0"/>
              </a:rPr>
              <a:t>(</a:t>
            </a:r>
            <a:r>
              <a:rPr lang="mn-MN" sz="1200" b="1" dirty="0">
                <a:solidFill>
                  <a:srgbClr val="FF0000"/>
                </a:solidFill>
                <a:latin typeface="Times New Roman" panose="02020603050405020304" pitchFamily="18" charset="0"/>
                <a:cs typeface="Times New Roman" panose="02020603050405020304" pitchFamily="18" charset="0"/>
              </a:rPr>
              <a:t>энэ слайд манайх</a:t>
            </a:r>
            <a:r>
              <a:rPr lang="en-US" sz="1200" b="1" dirty="0">
                <a:solidFill>
                  <a:srgbClr val="FF0000"/>
                </a:solidFill>
                <a:latin typeface="Times New Roman" panose="02020603050405020304" pitchFamily="18" charset="0"/>
                <a:cs typeface="Times New Roman" panose="02020603050405020304" pitchFamily="18" charset="0"/>
              </a:rPr>
              <a:t>)</a:t>
            </a:r>
            <a:endParaRPr lang="en-US" sz="1200" dirty="0"/>
          </a:p>
        </p:txBody>
      </p:sp>
      <p:sp>
        <p:nvSpPr>
          <p:cNvPr id="4" name="Slide Number Placeholder 3"/>
          <p:cNvSpPr>
            <a:spLocks noGrp="1"/>
          </p:cNvSpPr>
          <p:nvPr>
            <p:ph type="sldNum" sz="quarter" idx="5"/>
          </p:nvPr>
        </p:nvSpPr>
        <p:spPr/>
        <p:txBody>
          <a:bodyPr/>
          <a:lstStyle/>
          <a:p>
            <a:fld id="{E4CFEF27-99CE-459F-8C01-F12FB244F5E1}" type="slidenum">
              <a:rPr lang="en-US" smtClean="0"/>
              <a:t>67</a:t>
            </a:fld>
            <a:endParaRPr lang="en-US" dirty="0"/>
          </a:p>
        </p:txBody>
      </p:sp>
    </p:spTree>
    <p:extLst>
      <p:ext uri="{BB962C8B-B14F-4D97-AF65-F5344CB8AC3E}">
        <p14:creationId xmlns:p14="http://schemas.microsoft.com/office/powerpoint/2010/main" val="41734378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sz="1200" kern="1200" dirty="0">
                <a:solidFill>
                  <a:schemeClr val="tx1"/>
                </a:solidFill>
                <a:effectLst/>
                <a:latin typeface="Times New Roman" panose="02020603050405020304" pitchFamily="18" charset="0"/>
                <a:ea typeface="+mn-ea"/>
                <a:cs typeface="Times New Roman" panose="02020603050405020304" pitchFamily="18" charset="0"/>
              </a:rPr>
              <a:t>Өмнөх лекцүүдэд</a:t>
            </a:r>
            <a:r>
              <a:rPr lang="mn-MN" sz="12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бид зах зээлийн талбар дахь бүтээгдэхүүн/үйлчилгээний үнийг уртасгасан үеүдэд харьцангуй өөрчлөгдөхгүй байхаар төсөөлсөн. Харамсалтай нь, энэ бол ихэнх тохиолдолд бодит бус төсөөлөл юм.</a:t>
            </a:r>
          </a:p>
          <a:p>
            <a:r>
              <a:rPr lang="mn-MN" sz="1200" i="1" kern="1200" dirty="0">
                <a:solidFill>
                  <a:schemeClr val="tx1"/>
                </a:solidFill>
                <a:effectLst/>
                <a:latin typeface="Times New Roman" panose="02020603050405020304" pitchFamily="18" charset="0"/>
                <a:ea typeface="+mn-ea"/>
                <a:cs typeface="Times New Roman" panose="02020603050405020304" pitchFamily="18" charset="0"/>
              </a:rPr>
              <a:t>Ерөнхий үнийн инфляц</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 нь мөнгөний нэгжийн худалдан авах чадварыг бууруулах бүтээгдэхүүн/үйлчилгээнд төлсөн дундаж үнийн өсөлтөөр тодорхойлогдох ба хувилбаруудын эдийн засгийн харьцуулалтад нөлөөлж чадах бизнесийн бодит байдал юм.</a:t>
            </a:r>
          </a:p>
          <a:p>
            <a:r>
              <a:rPr lang="mn-MN" sz="1200" kern="1200" dirty="0">
                <a:solidFill>
                  <a:schemeClr val="tx1"/>
                </a:solidFill>
                <a:effectLst/>
                <a:latin typeface="Times New Roman" panose="02020603050405020304" pitchFamily="18" charset="0"/>
                <a:ea typeface="+mn-ea"/>
                <a:cs typeface="Times New Roman" panose="02020603050405020304" pitchFamily="18" charset="0"/>
              </a:rPr>
              <a:t>Үнийн өөрчлөлтийн түүхээс харахад үнийн инфляц бол үнийн дефляцаас илүү түгээмэл тохиолддог. Дефляц бол мөнгөний нэгжийн худалдан авах чадвар сайжирснаар бүтээгдэхүүн, үйлчилгээний дундаж үнэ буурах үзэгдэл юм. Энэ бүлэгт үнийн дурын өөрчлөлтөд хэрэглэх зарчим, аргачлалыг авч үзэх болно.</a:t>
            </a:r>
          </a:p>
          <a:p>
            <a:r>
              <a:rPr lang="mn-MN" sz="1200" kern="1200" dirty="0">
                <a:solidFill>
                  <a:schemeClr val="tx1"/>
                </a:solidFill>
                <a:effectLst/>
                <a:latin typeface="Times New Roman" panose="02020603050405020304" pitchFamily="18" charset="0"/>
                <a:ea typeface="+mn-ea"/>
                <a:cs typeface="Times New Roman" panose="02020603050405020304" pitchFamily="18" charset="0"/>
              </a:rPr>
              <a:t>Дефляцийн үзэгдэл инфляцийн үзэгдлээс илүү </a:t>
            </a:r>
            <a:r>
              <a:rPr lang="mn-MN" sz="1200" b="1" kern="1200" dirty="0">
                <a:solidFill>
                  <a:schemeClr val="tx1"/>
                </a:solidFill>
                <a:effectLst/>
                <a:latin typeface="Times New Roman" panose="02020603050405020304" pitchFamily="18" charset="0"/>
                <a:ea typeface="+mn-ea"/>
                <a:cs typeface="Times New Roman" panose="02020603050405020304" pitchFamily="18" charset="0"/>
              </a:rPr>
              <a:t>аюултай. </a:t>
            </a:r>
          </a:p>
          <a:p>
            <a:r>
              <a:rPr lang="ru-RU" sz="1200" b="0" i="0" kern="1200" dirty="0">
                <a:solidFill>
                  <a:schemeClr val="tx1"/>
                </a:solidFill>
                <a:effectLst/>
                <a:latin typeface="Times New Roman" panose="02020603050405020304" pitchFamily="18" charset="0"/>
                <a:ea typeface="+mn-ea"/>
                <a:cs typeface="Times New Roman" panose="02020603050405020304" pitchFamily="18" charset="0"/>
              </a:rPr>
              <a:t>Выделяют следующие негативные последствия дефляции:</a:t>
            </a:r>
            <a:endParaRPr lang="mn-MN" sz="1200" b="0" i="0" kern="1200" dirty="0">
              <a:solidFill>
                <a:schemeClr val="tx1"/>
              </a:solidFill>
              <a:effectLst/>
              <a:latin typeface="Times New Roman" panose="02020603050405020304" pitchFamily="18" charset="0"/>
              <a:ea typeface="+mn-ea"/>
              <a:cs typeface="Times New Roman" panose="02020603050405020304" pitchFamily="18" charset="0"/>
            </a:endParaRPr>
          </a:p>
          <a:p>
            <a:pPr marL="228600" indent="-228600">
              <a:buFont typeface="+mj-lt"/>
              <a:buAutoNum type="arabicPeriod"/>
            </a:pPr>
            <a:r>
              <a:rPr lang="ru-RU" sz="1200" b="0" i="0" kern="1200" dirty="0">
                <a:solidFill>
                  <a:schemeClr val="tx1"/>
                </a:solidFill>
                <a:effectLst/>
                <a:latin typeface="Times New Roman" panose="02020603050405020304" pitchFamily="18" charset="0"/>
                <a:ea typeface="+mn-ea"/>
                <a:cs typeface="Times New Roman" panose="02020603050405020304" pitchFamily="18" charset="0"/>
              </a:rPr>
              <a:t>Уменьшение спроса на товары. Население страны ждет понижение цен и люди начинает копить денежные средства</a:t>
            </a:r>
          </a:p>
          <a:p>
            <a:pPr marL="228600" indent="-228600">
              <a:buFont typeface="+mj-lt"/>
              <a:buAutoNum type="arabicPeriod"/>
            </a:pPr>
            <a:r>
              <a:rPr lang="ru-RU" sz="1200" b="0" i="0" kern="1200" dirty="0">
                <a:solidFill>
                  <a:schemeClr val="tx1"/>
                </a:solidFill>
                <a:effectLst/>
                <a:latin typeface="Times New Roman" panose="02020603050405020304" pitchFamily="18" charset="0"/>
                <a:ea typeface="+mn-ea"/>
                <a:cs typeface="Times New Roman" panose="02020603050405020304" pitchFamily="18" charset="0"/>
              </a:rPr>
              <a:t>Возникает принцип отложенного спроса, что ведет к еще большему снижению цен без соответствующих покупок</a:t>
            </a:r>
          </a:p>
          <a:p>
            <a:pPr marL="228600" indent="-228600">
              <a:buFont typeface="+mj-lt"/>
              <a:buAutoNum type="arabicPeriod"/>
            </a:pPr>
            <a:r>
              <a:rPr lang="ru-RU" sz="1200" b="0" i="0" kern="1200" dirty="0">
                <a:solidFill>
                  <a:schemeClr val="tx1"/>
                </a:solidFill>
                <a:effectLst/>
                <a:latin typeface="Times New Roman" panose="02020603050405020304" pitchFamily="18" charset="0"/>
                <a:ea typeface="+mn-ea"/>
                <a:cs typeface="Times New Roman" panose="02020603050405020304" pitchFamily="18" charset="0"/>
              </a:rPr>
              <a:t>Падает производительность (нет тех, кто станет приобретать товар и изготовлять его невыгодно)</a:t>
            </a:r>
          </a:p>
          <a:p>
            <a:pPr marL="228600" indent="-228600">
              <a:buFont typeface="+mj-lt"/>
              <a:buAutoNum type="arabicPeriod"/>
            </a:pPr>
            <a:r>
              <a:rPr lang="ru-RU" sz="1200" b="0" i="0" kern="1200" dirty="0">
                <a:solidFill>
                  <a:schemeClr val="tx1"/>
                </a:solidFill>
                <a:effectLst/>
                <a:latin typeface="Times New Roman" panose="02020603050405020304" pitchFamily="18" charset="0"/>
                <a:ea typeface="+mn-ea"/>
                <a:cs typeface="Times New Roman" panose="02020603050405020304" pitchFamily="18" charset="0"/>
              </a:rPr>
              <a:t>Сокращать зарплаты можно только до определенного предела, оставляя производство рентабельным</a:t>
            </a:r>
          </a:p>
          <a:p>
            <a:pPr marL="228600" indent="-228600">
              <a:buFont typeface="+mj-lt"/>
              <a:buAutoNum type="arabicPeriod"/>
            </a:pPr>
            <a:r>
              <a:rPr lang="ru-RU" sz="1200" b="0" i="0" kern="1200" dirty="0">
                <a:solidFill>
                  <a:schemeClr val="tx1"/>
                </a:solidFill>
                <a:effectLst/>
                <a:latin typeface="Times New Roman" panose="02020603050405020304" pitchFamily="18" charset="0"/>
                <a:ea typeface="+mn-ea"/>
                <a:cs typeface="Times New Roman" panose="02020603050405020304" pitchFamily="18" charset="0"/>
              </a:rPr>
              <a:t>На фоне всего происходящего многие организации ликвидируются, начинается волна увольнений</a:t>
            </a:r>
          </a:p>
          <a:p>
            <a:pPr marL="228600" indent="-228600">
              <a:buFont typeface="+mj-lt"/>
              <a:buAutoNum type="arabicPeriod"/>
            </a:pPr>
            <a:r>
              <a:rPr lang="ru-RU" sz="1200" b="0" i="0" kern="1200" dirty="0">
                <a:solidFill>
                  <a:schemeClr val="tx1"/>
                </a:solidFill>
                <a:effectLst/>
                <a:latin typeface="Times New Roman" panose="02020603050405020304" pitchFamily="18" charset="0"/>
                <a:ea typeface="+mn-ea"/>
                <a:cs typeface="Times New Roman" panose="02020603050405020304" pitchFamily="18" charset="0"/>
              </a:rPr>
              <a:t>Доходы населения снижаются</a:t>
            </a:r>
          </a:p>
          <a:p>
            <a:pPr marL="228600" indent="-228600">
              <a:buFont typeface="+mj-lt"/>
              <a:buAutoNum type="arabicPeriod"/>
            </a:pPr>
            <a:r>
              <a:rPr lang="ru-RU" sz="1200" b="0" i="0" kern="1200" dirty="0">
                <a:solidFill>
                  <a:schemeClr val="tx1"/>
                </a:solidFill>
                <a:effectLst/>
                <a:latin typeface="Times New Roman" panose="02020603050405020304" pitchFamily="18" charset="0"/>
                <a:ea typeface="+mn-ea"/>
                <a:cs typeface="Times New Roman" panose="02020603050405020304" pitchFamily="18" charset="0"/>
              </a:rPr>
              <a:t>Уменьшается поток инвестиций и как следствие происходит дальнейшее ухудшение ситуации в стране</a:t>
            </a:r>
          </a:p>
          <a:p>
            <a:pPr marL="228600" indent="-228600">
              <a:buFont typeface="+mj-lt"/>
              <a:buAutoNum type="arabicPeriod"/>
            </a:pPr>
            <a:r>
              <a:rPr lang="ru-RU" sz="1200" b="0" i="0" kern="1200" dirty="0">
                <a:solidFill>
                  <a:schemeClr val="tx1"/>
                </a:solidFill>
                <a:effectLst/>
                <a:latin typeface="Times New Roman" panose="02020603050405020304" pitchFamily="18" charset="0"/>
                <a:ea typeface="+mn-ea"/>
                <a:cs typeface="Times New Roman" panose="02020603050405020304" pitchFamily="18" charset="0"/>
              </a:rPr>
              <a:t>В банковской сфере сокращается уровень выдаваемых кредитов, получить займ становится сложно</a:t>
            </a:r>
          </a:p>
          <a:p>
            <a:pPr marL="228600" indent="-228600">
              <a:buFont typeface="+mj-lt"/>
              <a:buAutoNum type="arabicPeriod"/>
            </a:pPr>
            <a:r>
              <a:rPr lang="ru-RU" sz="1200" b="0" i="0" kern="1200" dirty="0">
                <a:solidFill>
                  <a:schemeClr val="tx1"/>
                </a:solidFill>
                <a:effectLst/>
                <a:latin typeface="Times New Roman" panose="02020603050405020304" pitchFamily="18" charset="0"/>
                <a:ea typeface="+mn-ea"/>
                <a:cs typeface="Times New Roman" panose="02020603050405020304" pitchFamily="18" charset="0"/>
              </a:rPr>
              <a:t>Круг замыкается и ситуация переходит в экономический кризис</a:t>
            </a:r>
            <a:endParaRPr lang="en-US" dirty="0">
              <a:latin typeface="Times New Roman" panose="02020603050405020304" pitchFamily="18" charset="0"/>
              <a:cs typeface="Times New Roman" panose="02020603050405020304" pitchFamily="18" charset="0"/>
            </a:endParaRPr>
          </a:p>
          <a:p>
            <a:pPr marL="0" indent="0">
              <a:buFont typeface="+mj-lt"/>
              <a:buNone/>
            </a:pP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68</a:t>
            </a:fld>
            <a:endParaRPr lang="en-US" dirty="0"/>
          </a:p>
        </p:txBody>
      </p:sp>
    </p:spTree>
    <p:extLst>
      <p:ext uri="{BB962C8B-B14F-4D97-AF65-F5344CB8AC3E}">
        <p14:creationId xmlns:p14="http://schemas.microsoft.com/office/powerpoint/2010/main" val="413466026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69</a:t>
            </a:fld>
            <a:endParaRPr lang="en-US" dirty="0"/>
          </a:p>
        </p:txBody>
      </p:sp>
    </p:spTree>
    <p:extLst>
      <p:ext uri="{BB962C8B-B14F-4D97-AF65-F5344CB8AC3E}">
        <p14:creationId xmlns:p14="http://schemas.microsoft.com/office/powerpoint/2010/main" val="165573998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0000"/>
                </a:solidFill>
                <a:latin typeface="Times New Roman" panose="02020603050405020304" pitchFamily="18" charset="0"/>
                <a:cs typeface="Times New Roman" panose="02020603050405020304" pitchFamily="18" charset="0"/>
              </a:rPr>
              <a:t>(</a:t>
            </a:r>
            <a:r>
              <a:rPr lang="mn-MN" sz="1200" b="1" dirty="0">
                <a:solidFill>
                  <a:srgbClr val="FF0000"/>
                </a:solidFill>
                <a:latin typeface="Times New Roman" panose="02020603050405020304" pitchFamily="18" charset="0"/>
                <a:cs typeface="Times New Roman" panose="02020603050405020304" pitchFamily="18" charset="0"/>
              </a:rPr>
              <a:t>энэ слайд манайх</a:t>
            </a:r>
            <a:r>
              <a:rPr lang="en-US" sz="1200" b="1" dirty="0">
                <a:solidFill>
                  <a:srgbClr val="FF0000"/>
                </a:solidFill>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70</a:t>
            </a:fld>
            <a:endParaRPr lang="en-US" dirty="0"/>
          </a:p>
        </p:txBody>
      </p:sp>
    </p:spTree>
    <p:extLst>
      <p:ext uri="{BB962C8B-B14F-4D97-AF65-F5344CB8AC3E}">
        <p14:creationId xmlns:p14="http://schemas.microsoft.com/office/powerpoint/2010/main" val="204302235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b="1" dirty="0">
                <a:solidFill>
                  <a:srgbClr val="FF0000"/>
                </a:solidFill>
                <a:latin typeface="Times New Roman" panose="02020603050405020304" pitchFamily="18" charset="0"/>
                <a:cs typeface="Times New Roman" panose="02020603050405020304" pitchFamily="18" charset="0"/>
              </a:rPr>
              <a:t>манайх</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71</a:t>
            </a:fld>
            <a:endParaRPr lang="en-US" dirty="0"/>
          </a:p>
        </p:txBody>
      </p:sp>
    </p:spTree>
    <p:extLst>
      <p:ext uri="{BB962C8B-B14F-4D97-AF65-F5344CB8AC3E}">
        <p14:creationId xmlns:p14="http://schemas.microsoft.com/office/powerpoint/2010/main" val="208589302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b= </a:t>
            </a:r>
            <a:r>
              <a:rPr lang="mn-MN" sz="1200" dirty="0">
                <a:latin typeface="Times New Roman" panose="02020603050405020304" pitchFamily="18" charset="0"/>
                <a:cs typeface="Times New Roman" panose="02020603050405020304" pitchFamily="18" charset="0"/>
              </a:rPr>
              <a:t>хугацааны үндсэн үе</a:t>
            </a:r>
          </a:p>
          <a:p>
            <a:pPr marL="0" marR="0" indent="0" algn="just" defTabSz="914400" rtl="0" eaLnBrk="1" fontAlgn="auto" latinLnBrk="0" hangingPunct="1">
              <a:lnSpc>
                <a:spcPct val="100000"/>
              </a:lnSpc>
              <a:spcBef>
                <a:spcPts val="0"/>
              </a:spcBef>
              <a:spcAft>
                <a:spcPts val="0"/>
              </a:spcAft>
              <a:buClrTx/>
              <a:buSzTx/>
              <a:buFontTx/>
              <a:buNone/>
              <a:tabLst/>
              <a:defRPr/>
            </a:pPr>
            <a:r>
              <a:rPr lang="mn-MN" sz="1200" dirty="0">
                <a:solidFill>
                  <a:schemeClr val="tx1"/>
                </a:solidFill>
                <a:latin typeface="Times New Roman" panose="02020603050405020304" pitchFamily="18" charset="0"/>
                <a:cs typeface="Times New Roman" panose="02020603050405020304" pitchFamily="18" charset="0"/>
              </a:rPr>
              <a:t>Энд, </a:t>
            </a:r>
            <a:r>
              <a:rPr lang="en-US" sz="1200" dirty="0" err="1">
                <a:solidFill>
                  <a:schemeClr val="tx1"/>
                </a:solidFill>
                <a:latin typeface="Times New Roman" panose="02020603050405020304" pitchFamily="18" charset="0"/>
                <a:cs typeface="Times New Roman" panose="02020603050405020304" pitchFamily="18" charset="0"/>
              </a:rPr>
              <a:t>R$</a:t>
            </a:r>
            <a:r>
              <a:rPr lang="en-US" sz="1200" i="1" baseline="-25000" dirty="0" err="1">
                <a:solidFill>
                  <a:schemeClr val="tx1"/>
                </a:solidFill>
                <a:latin typeface="Times New Roman" panose="02020603050405020304" pitchFamily="18" charset="0"/>
                <a:cs typeface="Times New Roman" panose="02020603050405020304" pitchFamily="18" charset="0"/>
              </a:rPr>
              <a:t>k</a:t>
            </a:r>
            <a:r>
              <a:rPr lang="en-US" sz="1200" baseline="-25000" dirty="0" err="1">
                <a:solidFill>
                  <a:schemeClr val="tx1"/>
                </a:solidFill>
                <a:latin typeface="Times New Roman" panose="02020603050405020304" pitchFamily="18" charset="0"/>
                <a:cs typeface="Times New Roman" panose="02020603050405020304" pitchFamily="18" charset="0"/>
              </a:rPr>
              <a:t>,</a:t>
            </a:r>
            <a:r>
              <a:rPr lang="en-US" sz="1200" i="1" baseline="-25000" dirty="0" err="1">
                <a:solidFill>
                  <a:schemeClr val="tx1"/>
                </a:solidFill>
                <a:latin typeface="Times New Roman" panose="02020603050405020304" pitchFamily="18" charset="0"/>
                <a:cs typeface="Times New Roman" panose="02020603050405020304" pitchFamily="18" charset="0"/>
              </a:rPr>
              <a:t>j</a:t>
            </a:r>
            <a:r>
              <a:rPr lang="en-US" sz="1200" i="1" dirty="0">
                <a:solidFill>
                  <a:schemeClr val="tx1"/>
                </a:solidFill>
                <a:latin typeface="Times New Roman" panose="02020603050405020304" pitchFamily="18" charset="0"/>
                <a:cs typeface="Times New Roman" panose="02020603050405020304" pitchFamily="18" charset="0"/>
              </a:rPr>
              <a:t>  </a:t>
            </a:r>
            <a:r>
              <a:rPr lang="mn-MN" sz="1200" dirty="0">
                <a:solidFill>
                  <a:schemeClr val="tx1"/>
                </a:solidFill>
                <a:latin typeface="Times New Roman" panose="02020603050405020304" pitchFamily="18" charset="0"/>
                <a:cs typeface="Times New Roman" panose="02020603050405020304" pitchFamily="18" charset="0"/>
              </a:rPr>
              <a:t>ба</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A$</a:t>
            </a:r>
            <a:r>
              <a:rPr lang="en-US" sz="1200" i="1" baseline="-25000" dirty="0" err="1">
                <a:solidFill>
                  <a:schemeClr val="tx1"/>
                </a:solidFill>
                <a:latin typeface="Times New Roman" panose="02020603050405020304" pitchFamily="18" charset="0"/>
                <a:cs typeface="Times New Roman" panose="02020603050405020304" pitchFamily="18" charset="0"/>
              </a:rPr>
              <a:t>k</a:t>
            </a:r>
            <a:r>
              <a:rPr lang="en-US" sz="1200" baseline="-25000" dirty="0">
                <a:solidFill>
                  <a:schemeClr val="tx1"/>
                </a:solidFill>
                <a:latin typeface="Times New Roman" panose="02020603050405020304" pitchFamily="18" charset="0"/>
                <a:cs typeface="Times New Roman" panose="02020603050405020304" pitchFamily="18" charset="0"/>
              </a:rPr>
              <a:t>, </a:t>
            </a:r>
            <a:r>
              <a:rPr lang="mn-MN" sz="1200" dirty="0">
                <a:solidFill>
                  <a:schemeClr val="tx1"/>
                </a:solidFill>
                <a:latin typeface="Times New Roman" panose="02020603050405020304" pitchFamily="18" charset="0"/>
                <a:cs typeface="Times New Roman" panose="02020603050405020304" pitchFamily="18" charset="0"/>
              </a:rPr>
              <a:t>-</a:t>
            </a:r>
            <a:r>
              <a:rPr lang="mn-MN" sz="1200" i="1" dirty="0">
                <a:solidFill>
                  <a:schemeClr val="tx1"/>
                </a:solidFill>
                <a:latin typeface="Times New Roman" panose="02020603050405020304" pitchFamily="18" charset="0"/>
                <a:cs typeface="Times New Roman" panose="02020603050405020304" pitchFamily="18" charset="0"/>
              </a:rPr>
              <a:t> </a:t>
            </a:r>
            <a:r>
              <a:rPr lang="en-US" sz="1200" i="1" dirty="0">
                <a:solidFill>
                  <a:schemeClr val="tx1"/>
                </a:solidFill>
                <a:latin typeface="Times New Roman" panose="02020603050405020304" pitchFamily="18" charset="0"/>
                <a:cs typeface="Times New Roman" panose="02020603050405020304" pitchFamily="18" charset="0"/>
              </a:rPr>
              <a:t>k </a:t>
            </a:r>
            <a:r>
              <a:rPr lang="mn-MN" sz="1200" dirty="0">
                <a:solidFill>
                  <a:schemeClr val="tx1"/>
                </a:solidFill>
                <a:latin typeface="Times New Roman" panose="02020603050405020304" pitchFamily="18" charset="0"/>
                <a:cs typeface="Times New Roman" panose="02020603050405020304" pitchFamily="18" charset="0"/>
              </a:rPr>
              <a:t>хугацаан дахь  </a:t>
            </a:r>
            <a:r>
              <a:rPr lang="en-US" sz="1200" i="1" dirty="0">
                <a:solidFill>
                  <a:schemeClr val="tx1"/>
                </a:solidFill>
                <a:latin typeface="Times New Roman" panose="02020603050405020304" pitchFamily="18" charset="0"/>
                <a:cs typeface="Times New Roman" panose="02020603050405020304" pitchFamily="18" charset="0"/>
              </a:rPr>
              <a:t>j</a:t>
            </a:r>
            <a:r>
              <a:rPr lang="mn-MN" sz="1200" dirty="0">
                <a:solidFill>
                  <a:schemeClr val="tx1"/>
                </a:solidFill>
                <a:latin typeface="Times New Roman" panose="02020603050405020304" pitchFamily="18" charset="0"/>
                <a:cs typeface="Times New Roman" panose="02020603050405020304" pitchFamily="18" charset="0"/>
              </a:rPr>
              <a:t> бүтээгдэхүүн/үйлчилгээний тогтмол үнийн зардал, эсвэл нэгжийн үнэ </a:t>
            </a:r>
            <a:r>
              <a:rPr lang="en-US" sz="1200" dirty="0">
                <a:solidFill>
                  <a:schemeClr val="tx1"/>
                </a:solidFill>
                <a:latin typeface="Times New Roman" panose="02020603050405020304" pitchFamily="18" charset="0"/>
                <a:cs typeface="Times New Roman" panose="02020603050405020304" pitchFamily="18" charset="0"/>
              </a:rPr>
              <a:t>(</a:t>
            </a:r>
            <a:r>
              <a:rPr lang="mn-MN" sz="1200" dirty="0">
                <a:solidFill>
                  <a:schemeClr val="tx1"/>
                </a:solidFill>
                <a:latin typeface="Times New Roman" panose="02020603050405020304" pitchFamily="18" charset="0"/>
                <a:cs typeface="Times New Roman" panose="02020603050405020304" pitchFamily="18" charset="0"/>
              </a:rPr>
              <a:t>бодит доллар болон нэрлэсэн доллар</a:t>
            </a:r>
            <a:r>
              <a:rPr lang="en-US" sz="1200" dirty="0">
                <a:solidFill>
                  <a:schemeClr val="tx1"/>
                </a:solidFill>
                <a:latin typeface="Times New Roman" panose="02020603050405020304" pitchFamily="18" charset="0"/>
                <a:cs typeface="Times New Roman" panose="02020603050405020304" pitchFamily="18" charset="0"/>
              </a:rPr>
              <a:t>)</a:t>
            </a:r>
          </a:p>
          <a:p>
            <a:pPr algn="just"/>
            <a:endParaRPr lang="mn-MN"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mn-MN" dirty="0">
                <a:solidFill>
                  <a:srgbClr val="002060"/>
                </a:solidFill>
                <a:latin typeface="Times New Roman" panose="02020603050405020304" pitchFamily="18" charset="0"/>
                <a:cs typeface="Times New Roman" panose="02020603050405020304" pitchFamily="18" charset="0"/>
              </a:rPr>
              <a:t>энд, </a:t>
            </a:r>
            <a:r>
              <a:rPr lang="en-US" dirty="0" err="1">
                <a:solidFill>
                  <a:srgbClr val="002060"/>
                </a:solidFill>
                <a:latin typeface="Times New Roman" panose="02020603050405020304" pitchFamily="18" charset="0"/>
                <a:cs typeface="Times New Roman" panose="02020603050405020304" pitchFamily="18" charset="0"/>
              </a:rPr>
              <a:t>R$k</a:t>
            </a:r>
            <a:r>
              <a:rPr lang="en-US" dirty="0">
                <a:solidFill>
                  <a:srgbClr val="002060"/>
                </a:solidFill>
                <a:latin typeface="Times New Roman" panose="02020603050405020304" pitchFamily="18" charset="0"/>
                <a:cs typeface="Times New Roman" panose="02020603050405020304" pitchFamily="18" charset="0"/>
              </a:rPr>
              <a:t>, j </a:t>
            </a:r>
            <a:r>
              <a:rPr lang="mn-MN" dirty="0">
                <a:solidFill>
                  <a:srgbClr val="002060"/>
                </a:solidFill>
                <a:latin typeface="Times New Roman" panose="02020603050405020304" pitchFamily="18" charset="0"/>
                <a:cs typeface="Times New Roman" panose="02020603050405020304" pitchFamily="18" charset="0"/>
              </a:rPr>
              <a:t>ба </a:t>
            </a:r>
            <a:r>
              <a:rPr lang="en-US" dirty="0" err="1">
                <a:solidFill>
                  <a:srgbClr val="002060"/>
                </a:solidFill>
                <a:latin typeface="Times New Roman" panose="02020603050405020304" pitchFamily="18" charset="0"/>
                <a:cs typeface="Times New Roman" panose="02020603050405020304" pitchFamily="18" charset="0"/>
              </a:rPr>
              <a:t>A$k,j</a:t>
            </a:r>
            <a:r>
              <a:rPr lang="en-US" dirty="0">
                <a:solidFill>
                  <a:srgbClr val="002060"/>
                </a:solidFill>
                <a:latin typeface="Times New Roman" panose="02020603050405020304" pitchFamily="18" charset="0"/>
                <a:cs typeface="Times New Roman" panose="02020603050405020304" pitchFamily="18" charset="0"/>
              </a:rPr>
              <a:t> – k </a:t>
            </a:r>
            <a:r>
              <a:rPr lang="mn-MN" dirty="0">
                <a:solidFill>
                  <a:srgbClr val="002060"/>
                </a:solidFill>
                <a:latin typeface="Times New Roman" panose="02020603050405020304" pitchFamily="18" charset="0"/>
                <a:cs typeface="Times New Roman" panose="02020603050405020304" pitchFamily="18" charset="0"/>
              </a:rPr>
              <a:t>хугацаан дахь </a:t>
            </a:r>
            <a:r>
              <a:rPr lang="en-US" dirty="0">
                <a:solidFill>
                  <a:srgbClr val="002060"/>
                </a:solidFill>
                <a:latin typeface="Times New Roman" panose="02020603050405020304" pitchFamily="18" charset="0"/>
                <a:cs typeface="Times New Roman" panose="02020603050405020304" pitchFamily="18" charset="0"/>
              </a:rPr>
              <a:t>j </a:t>
            </a:r>
            <a:r>
              <a:rPr lang="mn-MN" dirty="0">
                <a:solidFill>
                  <a:srgbClr val="002060"/>
                </a:solidFill>
                <a:latin typeface="Times New Roman" panose="02020603050405020304" pitchFamily="18" charset="0"/>
                <a:cs typeface="Times New Roman" panose="02020603050405020304" pitchFamily="18" charset="0"/>
              </a:rPr>
              <a:t>бүтээгдэхүүн/үйлчилгээний тогтмол зардал, эсвэл нэгжийн үнэ (бодит ханш болон нэрлэсэн ханшаар).</a:t>
            </a:r>
          </a:p>
          <a:p>
            <a:pPr algn="just"/>
            <a:endParaRPr lang="mn-MN" dirty="0">
              <a:latin typeface="Times New Roman" panose="02020603050405020304" pitchFamily="18" charset="0"/>
              <a:cs typeface="Times New Roman" panose="02020603050405020304" pitchFamily="18" charset="0"/>
            </a:endParaRPr>
          </a:p>
          <a:p>
            <a:pPr algn="just"/>
            <a:r>
              <a:rPr lang="mn-MN" sz="1200" b="1" kern="1200" dirty="0">
                <a:solidFill>
                  <a:schemeClr val="tx1"/>
                </a:solidFill>
                <a:effectLst/>
                <a:latin typeface="Times New Roman" panose="02020603050405020304" pitchFamily="18" charset="0"/>
                <a:ea typeface="+mn-ea"/>
                <a:cs typeface="Times New Roman" panose="02020603050405020304" pitchFamily="18" charset="0"/>
              </a:rPr>
              <a:t>3. Ерөнхий үнийн инфляц (дефляц)-ын түвшин </a:t>
            </a:r>
            <a:r>
              <a:rPr lang="mn-MN" sz="1200" b="1" i="1" kern="1200" dirty="0">
                <a:solidFill>
                  <a:schemeClr val="tx1"/>
                </a:solidFill>
                <a:effectLst/>
                <a:latin typeface="Times New Roman" panose="02020603050405020304" pitchFamily="18" charset="0"/>
                <a:ea typeface="+mn-ea"/>
                <a:cs typeface="Times New Roman" panose="02020603050405020304" pitchFamily="18" charset="0"/>
              </a:rPr>
              <a:t>(f): </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Энэ нь цаг хугацааны тодорхой заагдсан үечлэлийн турш мөнгөний худалдан авах чадварын дундаж өөрчлөлтийг хэмжих хэмжигдэхүүн юм. Ерөнхий үнийн инфляц, эсвэл дефляцын түвшинг зах зээлийн үнийн өөрчлөлтийн индекс дээр тулгуурлан тодорхойлдог. Инженерчлэлийн эдийн засгийн шинжилгээнд инфляц, эсвэл дефляцын түвшинг ирээдүйн цаг хугацааны интервалд таамаглах ба үр ашигтай жилийн түвшингээр ихэвчлэн илэрхийлнэ. Олонх том байгууллагууд тэдний үйл ажиллагаа явуулж байгаа  бизнесийн орчинг илэрхийлэх, өөрсдийн сонгосон индекстэй байдаг.</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p>
            <a:pPr algn="just"/>
            <a:r>
              <a:rPr lang="mn-MN" sz="1200" b="1" kern="1200" dirty="0">
                <a:solidFill>
                  <a:schemeClr val="tx1"/>
                </a:solidFill>
                <a:effectLst/>
                <a:latin typeface="Times New Roman" panose="02020603050405020304" pitchFamily="18" charset="0"/>
                <a:ea typeface="+mn-ea"/>
                <a:cs typeface="Times New Roman" panose="02020603050405020304" pitchFamily="18" charset="0"/>
              </a:rPr>
              <a:t>4. Зах зээлийн </a:t>
            </a:r>
            <a:r>
              <a:rPr lang="mn-MN" sz="1200" b="1" i="1" kern="1200" dirty="0">
                <a:solidFill>
                  <a:schemeClr val="tx1"/>
                </a:solidFill>
                <a:effectLst/>
                <a:latin typeface="Times New Roman" panose="02020603050405020304" pitchFamily="18" charset="0"/>
                <a:ea typeface="+mn-ea"/>
                <a:cs typeface="Times New Roman" panose="02020603050405020304" pitchFamily="18" charset="0"/>
              </a:rPr>
              <a:t>(нэрлэсэн)</a:t>
            </a:r>
            <a:r>
              <a:rPr lang="mn-MN" sz="1200" b="1" kern="1200" dirty="0">
                <a:solidFill>
                  <a:schemeClr val="tx1"/>
                </a:solidFill>
                <a:effectLst/>
                <a:latin typeface="Times New Roman" panose="02020603050405020304" pitchFamily="18" charset="0"/>
                <a:ea typeface="+mn-ea"/>
                <a:cs typeface="Times New Roman" panose="02020603050405020304" pitchFamily="18" charset="0"/>
              </a:rPr>
              <a:t> хүүний түвшин </a:t>
            </a:r>
            <a:r>
              <a:rPr lang="mn-MN" sz="1200" b="1" i="1" kern="1200" dirty="0">
                <a:solidFill>
                  <a:schemeClr val="tx1"/>
                </a:solidFill>
                <a:effectLst/>
                <a:latin typeface="Times New Roman" panose="02020603050405020304" pitchFamily="18" charset="0"/>
                <a:ea typeface="+mn-ea"/>
                <a:cs typeface="Times New Roman" panose="02020603050405020304" pitchFamily="18" charset="0"/>
              </a:rPr>
              <a:t>(i</a:t>
            </a:r>
            <a:r>
              <a:rPr lang="mn-MN" sz="1200" b="1" i="1" kern="1200" baseline="-25000" dirty="0">
                <a:solidFill>
                  <a:schemeClr val="tx1"/>
                </a:solidFill>
                <a:effectLst/>
                <a:latin typeface="Times New Roman" panose="02020603050405020304" pitchFamily="18" charset="0"/>
                <a:ea typeface="+mn-ea"/>
                <a:cs typeface="Times New Roman" panose="02020603050405020304" pitchFamily="18" charset="0"/>
              </a:rPr>
              <a:t>m</a:t>
            </a:r>
            <a:r>
              <a:rPr lang="en-US" sz="1200" b="1" i="1" kern="1200" dirty="0">
                <a:solidFill>
                  <a:schemeClr val="tx1"/>
                </a:solidFill>
                <a:effectLst/>
                <a:latin typeface="Times New Roman" panose="02020603050405020304" pitchFamily="18" charset="0"/>
                <a:ea typeface="+mn-ea"/>
                <a:cs typeface="Times New Roman" panose="02020603050405020304" pitchFamily="18" charset="0"/>
              </a:rPr>
              <a:t>)</a:t>
            </a:r>
            <a:r>
              <a:rPr lang="mn-MN" sz="1200" b="1" i="1" kern="1200" dirty="0">
                <a:solidFill>
                  <a:schemeClr val="tx1"/>
                </a:solidFill>
                <a:effectLst/>
                <a:latin typeface="Times New Roman" panose="02020603050405020304" pitchFamily="18" charset="0"/>
                <a:ea typeface="+mn-ea"/>
                <a:cs typeface="Times New Roman" panose="02020603050405020304" pitchFamily="18" charset="0"/>
              </a:rPr>
              <a:t>: </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Хөрөнгийн ашиглалтад зориулж төлсөн мөнгийг ихэвчлэн эдийн засаг дахь урьдчилан таамагласан ерөнхий үнийн инфляцын түвшингийн зах зээлийн тохируулгыг багтаасан жилийн түвшин (%)-гээр илэрхийлдэг. Тиймээс, энэ нь </a:t>
            </a:r>
            <a:r>
              <a:rPr lang="mn-MN" sz="1200" i="1" kern="1200" dirty="0">
                <a:solidFill>
                  <a:schemeClr val="tx1"/>
                </a:solidFill>
                <a:effectLst/>
                <a:latin typeface="Times New Roman" panose="02020603050405020304" pitchFamily="18" charset="0"/>
                <a:ea typeface="+mn-ea"/>
                <a:cs typeface="Times New Roman" panose="02020603050405020304" pitchFamily="18" charset="0"/>
              </a:rPr>
              <a:t>зах зээлийн хүүний түвшин</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 болдог ба эдийн засаг дахь тооцоолсон ерөнхий үнийн инфляц, эсвэл дефляц болон бодит хуримтлуулсан мөнгөний худалдан авах чадвар хоёрыг хоёуланг нь тооцсон нэрлэсэн долларын ирээдүйн мөнгөн урсгалын цаг хугацааны үнэ цэнийн өөрчлөлтийг илэрхийлдэг. </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p>
            <a:pPr algn="just"/>
            <a:r>
              <a:rPr lang="mn-MN" sz="1200" b="1" kern="1200" dirty="0">
                <a:solidFill>
                  <a:schemeClr val="tx1"/>
                </a:solidFill>
                <a:effectLst/>
                <a:latin typeface="Times New Roman" panose="02020603050405020304" pitchFamily="18" charset="0"/>
                <a:ea typeface="+mn-ea"/>
                <a:cs typeface="Times New Roman" panose="02020603050405020304" pitchFamily="18" charset="0"/>
              </a:rPr>
              <a:t>5. Бодит хүүний түвшин </a:t>
            </a:r>
            <a:r>
              <a:rPr lang="mn-MN" sz="1200" b="1" i="1" kern="1200" dirty="0">
                <a:solidFill>
                  <a:schemeClr val="tx1"/>
                </a:solidFill>
                <a:effectLst/>
                <a:latin typeface="Times New Roman" panose="02020603050405020304" pitchFamily="18" charset="0"/>
                <a:ea typeface="+mn-ea"/>
                <a:cs typeface="Times New Roman" panose="02020603050405020304" pitchFamily="18" charset="0"/>
              </a:rPr>
              <a:t>(i</a:t>
            </a:r>
            <a:r>
              <a:rPr lang="mn-MN" sz="1200" b="1" i="1" kern="1200" baseline="-25000" dirty="0">
                <a:solidFill>
                  <a:schemeClr val="tx1"/>
                </a:solidFill>
                <a:effectLst/>
                <a:latin typeface="Times New Roman" panose="02020603050405020304" pitchFamily="18" charset="0"/>
                <a:ea typeface="+mn-ea"/>
                <a:cs typeface="Times New Roman" panose="02020603050405020304" pitchFamily="18" charset="0"/>
              </a:rPr>
              <a:t>r</a:t>
            </a:r>
            <a:r>
              <a:rPr lang="mn-MN" sz="1200" b="1" i="1" kern="1200" dirty="0">
                <a:solidFill>
                  <a:schemeClr val="tx1"/>
                </a:solidFill>
                <a:effectLst/>
                <a:latin typeface="Times New Roman" panose="02020603050405020304" pitchFamily="18" charset="0"/>
                <a:ea typeface="+mn-ea"/>
                <a:cs typeface="Times New Roman" panose="02020603050405020304" pitchFamily="18" charset="0"/>
              </a:rPr>
              <a:t>): </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Хөрөнгийн ашиглалтад зориулж төлсөн мөнгийг ихэвчлэн эдийн засаг дахь урьдчилан таамагласан ерөнхий үнийн инфляцын түвшингийн зах зээлийн тохируулгыг </a:t>
            </a:r>
            <a:r>
              <a:rPr lang="mn-MN" sz="1200" i="1" kern="1200" dirty="0">
                <a:solidFill>
                  <a:schemeClr val="tx1"/>
                </a:solidFill>
                <a:effectLst/>
                <a:latin typeface="Times New Roman" panose="02020603050405020304" pitchFamily="18" charset="0"/>
                <a:ea typeface="+mn-ea"/>
                <a:cs typeface="Times New Roman" panose="02020603050405020304" pitchFamily="18" charset="0"/>
              </a:rPr>
              <a:t>багтаагаагүй</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 жилийн түвшин (%)-гээр илэрхийлдэг. Энэ нь зөвхөн боломжит бодит хуримтлуулсан мөнгөний худалдан авах чадварт тулгуурласан ирээдүйн бодит долларын мөнгөн урсгалын цаг хугацааны үнэ цэнийн өөрчлөлтийг харуулдаг. Энэ түвшинг заримдаа </a:t>
            </a:r>
            <a:r>
              <a:rPr lang="mn-MN" sz="1200" i="1" kern="1200" dirty="0">
                <a:solidFill>
                  <a:schemeClr val="tx1"/>
                </a:solidFill>
                <a:effectLst/>
                <a:latin typeface="Times New Roman" panose="02020603050405020304" pitchFamily="18" charset="0"/>
                <a:ea typeface="+mn-ea"/>
                <a:cs typeface="Times New Roman" panose="02020603050405020304" pitchFamily="18" charset="0"/>
              </a:rPr>
              <a:t>инфляцаас хамаарахгүй (чөлөөлсөн)</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 хүүний түвшин гэж нэрлэдэг. </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p>
            <a:pPr algn="just"/>
            <a:r>
              <a:rPr lang="mn-MN" sz="1200" b="1" kern="1200" dirty="0">
                <a:solidFill>
                  <a:schemeClr val="tx1"/>
                </a:solidFill>
                <a:effectLst/>
                <a:latin typeface="Times New Roman" panose="02020603050405020304" pitchFamily="18" charset="0"/>
                <a:ea typeface="+mn-ea"/>
                <a:cs typeface="Times New Roman" panose="02020603050405020304" pitchFamily="18" charset="0"/>
              </a:rPr>
              <a:t>6. Цаг хугацааны үндсэн үе </a:t>
            </a:r>
            <a:r>
              <a:rPr lang="mn-MN" sz="1200" b="1" i="1" kern="1200" dirty="0">
                <a:solidFill>
                  <a:schemeClr val="tx1"/>
                </a:solidFill>
                <a:effectLst/>
                <a:latin typeface="Times New Roman" panose="02020603050405020304" pitchFamily="18" charset="0"/>
                <a:ea typeface="+mn-ea"/>
                <a:cs typeface="Times New Roman" panose="02020603050405020304" pitchFamily="18" charset="0"/>
              </a:rPr>
              <a:t>(b): </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Цаг хугацааны үндсэн үе буюу тулгуур үеийг бодит долларын тогтмол худалдан авах чадварыг тодорхойлоход ашигладаг. Практикт ихэвчлэн хугацааны үндсэн үе гэж инженерчлэлийн эдийн засгийн шинжилгээний хугацааны эхлэл (өөрөөр хэлбэл, </a:t>
            </a:r>
            <a:r>
              <a:rPr lang="mn-MN" sz="1200" i="1" kern="1200" dirty="0">
                <a:solidFill>
                  <a:schemeClr val="tx1"/>
                </a:solidFill>
                <a:effectLst/>
                <a:latin typeface="Times New Roman" panose="02020603050405020304" pitchFamily="18" charset="0"/>
                <a:ea typeface="+mn-ea"/>
                <a:cs typeface="Times New Roman" panose="02020603050405020304" pitchFamily="18" charset="0"/>
              </a:rPr>
              <a:t>b </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 0)-ийг нэрлэсэн байдаг. Гэсэн хэдий ч </a:t>
            </a:r>
            <a:r>
              <a:rPr lang="mn-MN" sz="1200" i="1" kern="1200" dirty="0">
                <a:solidFill>
                  <a:schemeClr val="tx1"/>
                </a:solidFill>
                <a:effectLst/>
                <a:latin typeface="Times New Roman" panose="02020603050405020304" pitchFamily="18" charset="0"/>
                <a:ea typeface="+mn-ea"/>
                <a:cs typeface="Times New Roman" panose="02020603050405020304" pitchFamily="18" charset="0"/>
              </a:rPr>
              <a:t>b </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нь ямар ч хугацааны цэгт байгуулагдсан байж болно. </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72</a:t>
            </a:fld>
            <a:endParaRPr lang="en-US" dirty="0"/>
          </a:p>
        </p:txBody>
      </p:sp>
    </p:spTree>
    <p:extLst>
      <p:ext uri="{BB962C8B-B14F-4D97-AF65-F5344CB8AC3E}">
        <p14:creationId xmlns:p14="http://schemas.microsoft.com/office/powerpoint/2010/main" val="73175247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mn-MN" sz="1200" b="1" dirty="0">
                <a:solidFill>
                  <a:srgbClr val="FF0000"/>
                </a:solidFill>
                <a:latin typeface="Times New Roman" panose="02020603050405020304" pitchFamily="18" charset="0"/>
                <a:cs typeface="Times New Roman" panose="02020603050405020304" pitchFamily="18" charset="0"/>
              </a:rPr>
              <a:t>Манайх: </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Тиймээс, эквивалент үнэ цэнийн тооцоололд зохистой хүүний түвшинг ашигласан тохиолдолд нэрлэсэн, эсвэл бодит долларын ханшаар эдийн засгийн шинжилгээ хийх боломжтой. </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73</a:t>
            </a:fld>
            <a:endParaRPr lang="en-US" dirty="0"/>
          </a:p>
        </p:txBody>
      </p:sp>
    </p:spTree>
    <p:extLst>
      <p:ext uri="{BB962C8B-B14F-4D97-AF65-F5344CB8AC3E}">
        <p14:creationId xmlns:p14="http://schemas.microsoft.com/office/powerpoint/2010/main" val="274529630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sz="1200" b="1" dirty="0">
                <a:solidFill>
                  <a:srgbClr val="FF0000"/>
                </a:solidFill>
                <a:latin typeface="Times New Roman" panose="02020603050405020304" pitchFamily="18" charset="0"/>
                <a:cs typeface="Times New Roman" panose="02020603050405020304" pitchFamily="18" charset="0"/>
              </a:rPr>
              <a:t>Манайх </a:t>
            </a:r>
            <a:r>
              <a:rPr lang="mn-MN" sz="1200" b="1" kern="1200" dirty="0">
                <a:solidFill>
                  <a:schemeClr val="tx1"/>
                </a:solidFill>
                <a:effectLst/>
                <a:latin typeface="+mn-lt"/>
                <a:ea typeface="+mn-ea"/>
                <a:cs typeface="+mn-cs"/>
              </a:rPr>
              <a:t>3. Ерөнхий үнийн инфляц (дефляц)-ын түвшин </a:t>
            </a:r>
            <a:r>
              <a:rPr lang="mn-MN" sz="1200" b="1" i="1" kern="1200" dirty="0">
                <a:solidFill>
                  <a:schemeClr val="tx1"/>
                </a:solidFill>
                <a:effectLst/>
                <a:latin typeface="+mn-lt"/>
                <a:ea typeface="+mn-ea"/>
                <a:cs typeface="+mn-cs"/>
              </a:rPr>
              <a:t>(f): </a:t>
            </a:r>
            <a:r>
              <a:rPr lang="mn-MN" sz="1200" kern="1200" dirty="0">
                <a:solidFill>
                  <a:schemeClr val="tx1"/>
                </a:solidFill>
                <a:effectLst/>
                <a:latin typeface="+mn-lt"/>
                <a:ea typeface="+mn-ea"/>
                <a:cs typeface="+mn-cs"/>
              </a:rPr>
              <a:t>Энэ нь цаг хугацааны тодорхой заагдсан үечлэлийн турш мөнгөний худалдан авах чадварын дундаж өөрчлөлтийг хэмжих хэмжигдэхүүн юм. Ерөнхий үнийн инфляц, эсвэл дефляцын түвшинг зах зээлийн үнийн өөрчлөлтийн индекс дээр тулгуурлан тодорхойлдог. Инженерчлэлийн эдийн засгийн шинжилгээнд инфляц, эсвэл дефляцын түвшинг ирээдүйн цаг хугацааны интервалд таамаглах ба үр ашигтай жилийн түвшингээр ихэвчлэн илэрхийлнэ. Олонх том байгууллагууд тэдний үйл ажиллагаа явуулж байгаа  бизнесийн орчинг илэрхийлэх, өөрсдийн сонгосон индекстэй байдаг.</a:t>
            </a:r>
            <a:endParaRPr lang="en-US" sz="1200" kern="1200" dirty="0">
              <a:solidFill>
                <a:schemeClr val="tx1"/>
              </a:solidFill>
              <a:effectLst/>
              <a:latin typeface="+mn-lt"/>
              <a:ea typeface="+mn-ea"/>
              <a:cs typeface="+mn-cs"/>
            </a:endParaRPr>
          </a:p>
          <a:p>
            <a:r>
              <a:rPr lang="mn-MN" sz="1200" b="1" kern="1200" dirty="0">
                <a:solidFill>
                  <a:schemeClr val="tx1"/>
                </a:solidFill>
                <a:effectLst/>
                <a:latin typeface="+mn-lt"/>
                <a:ea typeface="+mn-ea"/>
                <a:cs typeface="+mn-cs"/>
              </a:rPr>
              <a:t>4. Зах зээлийн </a:t>
            </a:r>
            <a:r>
              <a:rPr lang="mn-MN" sz="1200" b="1" i="1" kern="1200" dirty="0">
                <a:solidFill>
                  <a:schemeClr val="tx1"/>
                </a:solidFill>
                <a:effectLst/>
                <a:latin typeface="+mn-lt"/>
                <a:ea typeface="+mn-ea"/>
                <a:cs typeface="+mn-cs"/>
              </a:rPr>
              <a:t>(нэрлэсэн)</a:t>
            </a:r>
            <a:r>
              <a:rPr lang="mn-MN" sz="1200" b="1" kern="1200" dirty="0">
                <a:solidFill>
                  <a:schemeClr val="tx1"/>
                </a:solidFill>
                <a:effectLst/>
                <a:latin typeface="+mn-lt"/>
                <a:ea typeface="+mn-ea"/>
                <a:cs typeface="+mn-cs"/>
              </a:rPr>
              <a:t> хүүний түвшин </a:t>
            </a:r>
            <a:r>
              <a:rPr lang="mn-MN" sz="1200" b="1" i="1" kern="1200" dirty="0">
                <a:solidFill>
                  <a:schemeClr val="tx1"/>
                </a:solidFill>
                <a:effectLst/>
                <a:latin typeface="+mn-lt"/>
                <a:ea typeface="+mn-ea"/>
                <a:cs typeface="+mn-cs"/>
              </a:rPr>
              <a:t>(i</a:t>
            </a:r>
            <a:r>
              <a:rPr lang="mn-MN" sz="1200" b="1" i="1" kern="1200" baseline="-25000" dirty="0">
                <a:solidFill>
                  <a:schemeClr val="tx1"/>
                </a:solidFill>
                <a:effectLst/>
                <a:latin typeface="+mn-lt"/>
                <a:ea typeface="+mn-ea"/>
                <a:cs typeface="+mn-cs"/>
              </a:rPr>
              <a:t>m</a:t>
            </a:r>
            <a:r>
              <a:rPr lang="en-US" sz="1200" b="1" i="1" kern="1200" dirty="0">
                <a:solidFill>
                  <a:schemeClr val="tx1"/>
                </a:solidFill>
                <a:effectLst/>
                <a:latin typeface="+mn-lt"/>
                <a:ea typeface="+mn-ea"/>
                <a:cs typeface="+mn-cs"/>
              </a:rPr>
              <a:t>)</a:t>
            </a:r>
            <a:r>
              <a:rPr lang="mn-MN" sz="1200" b="1" i="1" kern="1200" dirty="0">
                <a:solidFill>
                  <a:schemeClr val="tx1"/>
                </a:solidFill>
                <a:effectLst/>
                <a:latin typeface="+mn-lt"/>
                <a:ea typeface="+mn-ea"/>
                <a:cs typeface="+mn-cs"/>
              </a:rPr>
              <a:t>: </a:t>
            </a:r>
            <a:r>
              <a:rPr lang="mn-MN" sz="1200" kern="1200" dirty="0">
                <a:solidFill>
                  <a:schemeClr val="tx1"/>
                </a:solidFill>
                <a:effectLst/>
                <a:latin typeface="+mn-lt"/>
                <a:ea typeface="+mn-ea"/>
                <a:cs typeface="+mn-cs"/>
              </a:rPr>
              <a:t>Хөрөнгийн ашиглалтад зориулж төлсөн мөнгийг ихэвчлэн эдийн засаг дахь урьдчилан таамагласан ерөнхий үнийн инфляцын түвшингийн зах зээлийн тохируулгыг багтаасан жилийн түвшин (%)-гээр илэрхийлдэг. Тиймээс, энэ нь </a:t>
            </a:r>
            <a:r>
              <a:rPr lang="mn-MN" sz="1200" i="1" kern="1200" dirty="0">
                <a:solidFill>
                  <a:schemeClr val="tx1"/>
                </a:solidFill>
                <a:effectLst/>
                <a:latin typeface="+mn-lt"/>
                <a:ea typeface="+mn-ea"/>
                <a:cs typeface="+mn-cs"/>
              </a:rPr>
              <a:t>зах зээлийн хүүний түвшин</a:t>
            </a:r>
            <a:r>
              <a:rPr lang="mn-MN" sz="1200" kern="1200" dirty="0">
                <a:solidFill>
                  <a:schemeClr val="tx1"/>
                </a:solidFill>
                <a:effectLst/>
                <a:latin typeface="+mn-lt"/>
                <a:ea typeface="+mn-ea"/>
                <a:cs typeface="+mn-cs"/>
              </a:rPr>
              <a:t> болдог ба эдийн засаг дахь тооцоолсон ерөнхий үнийн инфляц, эсвэл дефляц болон бодит хуримтлуулсан мөнгөний худалдан авах чадвар хоёрыг хоёуланг нь тооцсон нэрлэсэн долларын ирээдүйн мөнгөн урсгалын цаг хугацааны үнэ цэнийн өөрчлөлтийг илэрхийлдэг. </a:t>
            </a:r>
            <a:endParaRPr lang="en-US" sz="1200" kern="1200" dirty="0">
              <a:solidFill>
                <a:schemeClr val="tx1"/>
              </a:solidFill>
              <a:effectLst/>
              <a:latin typeface="+mn-lt"/>
              <a:ea typeface="+mn-ea"/>
              <a:cs typeface="+mn-cs"/>
            </a:endParaRPr>
          </a:p>
          <a:p>
            <a:r>
              <a:rPr lang="mn-MN" sz="1200" b="1" kern="1200" dirty="0">
                <a:solidFill>
                  <a:schemeClr val="tx1"/>
                </a:solidFill>
                <a:effectLst/>
                <a:latin typeface="+mn-lt"/>
                <a:ea typeface="+mn-ea"/>
                <a:cs typeface="+mn-cs"/>
              </a:rPr>
              <a:t>5. Бодит хүүний түвшин </a:t>
            </a:r>
            <a:r>
              <a:rPr lang="mn-MN" sz="1200" b="1" i="1" kern="1200" dirty="0">
                <a:solidFill>
                  <a:schemeClr val="tx1"/>
                </a:solidFill>
                <a:effectLst/>
                <a:latin typeface="+mn-lt"/>
                <a:ea typeface="+mn-ea"/>
                <a:cs typeface="+mn-cs"/>
              </a:rPr>
              <a:t>(i</a:t>
            </a:r>
            <a:r>
              <a:rPr lang="mn-MN" sz="1200" b="1" i="1" kern="1200" baseline="-25000" dirty="0">
                <a:solidFill>
                  <a:schemeClr val="tx1"/>
                </a:solidFill>
                <a:effectLst/>
                <a:latin typeface="+mn-lt"/>
                <a:ea typeface="+mn-ea"/>
                <a:cs typeface="+mn-cs"/>
              </a:rPr>
              <a:t>r</a:t>
            </a:r>
            <a:r>
              <a:rPr lang="mn-MN" sz="1200" b="1" i="1" kern="1200" dirty="0">
                <a:solidFill>
                  <a:schemeClr val="tx1"/>
                </a:solidFill>
                <a:effectLst/>
                <a:latin typeface="+mn-lt"/>
                <a:ea typeface="+mn-ea"/>
                <a:cs typeface="+mn-cs"/>
              </a:rPr>
              <a:t>): </a:t>
            </a:r>
            <a:r>
              <a:rPr lang="mn-MN" sz="1200" kern="1200" dirty="0">
                <a:solidFill>
                  <a:schemeClr val="tx1"/>
                </a:solidFill>
                <a:effectLst/>
                <a:latin typeface="+mn-lt"/>
                <a:ea typeface="+mn-ea"/>
                <a:cs typeface="+mn-cs"/>
              </a:rPr>
              <a:t>Хөрөнгийн ашиглалтад зориулж төлсөн мөнгийг ихэвчлэн эдийн засаг дахь урьдчилан таамагласан ерөнхий үнийн инфляцын түвшингийн зах зээлийн тохируулгыг </a:t>
            </a:r>
            <a:r>
              <a:rPr lang="mn-MN" sz="1200" i="1" kern="1200" dirty="0">
                <a:solidFill>
                  <a:schemeClr val="tx1"/>
                </a:solidFill>
                <a:effectLst/>
                <a:latin typeface="+mn-lt"/>
                <a:ea typeface="+mn-ea"/>
                <a:cs typeface="+mn-cs"/>
              </a:rPr>
              <a:t>багтаагаагүй</a:t>
            </a:r>
            <a:r>
              <a:rPr lang="mn-MN" sz="1200" kern="1200" dirty="0">
                <a:solidFill>
                  <a:schemeClr val="tx1"/>
                </a:solidFill>
                <a:effectLst/>
                <a:latin typeface="+mn-lt"/>
                <a:ea typeface="+mn-ea"/>
                <a:cs typeface="+mn-cs"/>
              </a:rPr>
              <a:t> жилийн түвшин (%)-гээр илэрхийлдэг. Энэ нь зөвхөн боломжит бодит хуримтлуулсан мөнгөний худалдан авах чадварт тулгуурласан ирээдүйн бодит долларын мөнгөн урсгалын цаг хугацааны үнэ цэнийн өөрчлөлтийг харуулдаг. Энэ түвшинг заримдаа </a:t>
            </a:r>
            <a:r>
              <a:rPr lang="mn-MN" sz="1200" i="1" kern="1200" dirty="0">
                <a:solidFill>
                  <a:schemeClr val="tx1"/>
                </a:solidFill>
                <a:effectLst/>
                <a:latin typeface="+mn-lt"/>
                <a:ea typeface="+mn-ea"/>
                <a:cs typeface="+mn-cs"/>
              </a:rPr>
              <a:t>инфляцаас хамаарахгүй (чөлөөлсөн)</a:t>
            </a:r>
            <a:r>
              <a:rPr lang="mn-MN" sz="1200" kern="1200" dirty="0">
                <a:solidFill>
                  <a:schemeClr val="tx1"/>
                </a:solidFill>
                <a:effectLst/>
                <a:latin typeface="+mn-lt"/>
                <a:ea typeface="+mn-ea"/>
                <a:cs typeface="+mn-cs"/>
              </a:rPr>
              <a:t> хүүний түвшин гэж нэрлэдэг. </a:t>
            </a:r>
            <a:endParaRPr lang="en-US" sz="1200" kern="1200" dirty="0">
              <a:solidFill>
                <a:schemeClr val="tx1"/>
              </a:solidFill>
              <a:effectLst/>
              <a:latin typeface="+mn-lt"/>
              <a:ea typeface="+mn-ea"/>
              <a:cs typeface="+mn-cs"/>
            </a:endParaRPr>
          </a:p>
          <a:p>
            <a:r>
              <a:rPr lang="mn-MN" sz="1200" b="1" kern="1200" dirty="0">
                <a:solidFill>
                  <a:schemeClr val="tx1"/>
                </a:solidFill>
                <a:effectLst/>
                <a:latin typeface="+mn-lt"/>
                <a:ea typeface="+mn-ea"/>
                <a:cs typeface="+mn-cs"/>
              </a:rPr>
              <a:t>6. Цаг хугацааны үндсэн үе </a:t>
            </a:r>
            <a:r>
              <a:rPr lang="mn-MN" sz="1200" b="1" i="1" kern="1200" dirty="0">
                <a:solidFill>
                  <a:schemeClr val="tx1"/>
                </a:solidFill>
                <a:effectLst/>
                <a:latin typeface="+mn-lt"/>
                <a:ea typeface="+mn-ea"/>
                <a:cs typeface="+mn-cs"/>
              </a:rPr>
              <a:t>(b): </a:t>
            </a:r>
            <a:r>
              <a:rPr lang="mn-MN" sz="1200" kern="1200" dirty="0">
                <a:solidFill>
                  <a:schemeClr val="tx1"/>
                </a:solidFill>
                <a:effectLst/>
                <a:latin typeface="+mn-lt"/>
                <a:ea typeface="+mn-ea"/>
                <a:cs typeface="+mn-cs"/>
              </a:rPr>
              <a:t>Цаг хугацааны үндсэн үе буюу тулгуур үеийг бодит долларын тогтмол худалдан авах чадварыг тодорхойлоход ашигладаг. Практикт ихэвчлэн хугацааны үндсэн үе гэж инженерчлэлийн эдийн засгийн шинжилгээний хугацааны эхлэл (өөрөөр хэлбэл, </a:t>
            </a:r>
            <a:r>
              <a:rPr lang="mn-MN" sz="1200" i="1" kern="1200" dirty="0">
                <a:solidFill>
                  <a:schemeClr val="tx1"/>
                </a:solidFill>
                <a:effectLst/>
                <a:latin typeface="+mn-lt"/>
                <a:ea typeface="+mn-ea"/>
                <a:cs typeface="+mn-cs"/>
              </a:rPr>
              <a:t>b </a:t>
            </a:r>
            <a:r>
              <a:rPr lang="mn-MN" sz="1200" kern="1200" dirty="0">
                <a:solidFill>
                  <a:schemeClr val="tx1"/>
                </a:solidFill>
                <a:effectLst/>
                <a:latin typeface="+mn-lt"/>
                <a:ea typeface="+mn-ea"/>
                <a:cs typeface="+mn-cs"/>
              </a:rPr>
              <a:t>= 0)-ийг нэрлэсэн байдаг. Гэсэн хэдий ч </a:t>
            </a:r>
            <a:r>
              <a:rPr lang="mn-MN" sz="1200" i="1" kern="1200" dirty="0">
                <a:solidFill>
                  <a:schemeClr val="tx1"/>
                </a:solidFill>
                <a:effectLst/>
                <a:latin typeface="+mn-lt"/>
                <a:ea typeface="+mn-ea"/>
                <a:cs typeface="+mn-cs"/>
              </a:rPr>
              <a:t>b </a:t>
            </a:r>
            <a:r>
              <a:rPr lang="mn-MN" sz="1200" kern="1200" dirty="0">
                <a:solidFill>
                  <a:schemeClr val="tx1"/>
                </a:solidFill>
                <a:effectLst/>
                <a:latin typeface="+mn-lt"/>
                <a:ea typeface="+mn-ea"/>
                <a:cs typeface="+mn-cs"/>
              </a:rPr>
              <a:t>нь ямар ч хугацааны цэгт байгуулагдсан байж болно.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74</a:t>
            </a:fld>
            <a:endParaRPr lang="en-US" dirty="0"/>
          </a:p>
        </p:txBody>
      </p:sp>
    </p:spTree>
    <p:extLst>
      <p:ext uri="{BB962C8B-B14F-4D97-AF65-F5344CB8AC3E}">
        <p14:creationId xmlns:p14="http://schemas.microsoft.com/office/powerpoint/2010/main" val="205550102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sz="1200" b="1" dirty="0">
                <a:solidFill>
                  <a:srgbClr val="FF0000"/>
                </a:solidFill>
                <a:latin typeface="Times New Roman" panose="02020603050405020304" pitchFamily="18" charset="0"/>
                <a:cs typeface="Times New Roman" panose="02020603050405020304" pitchFamily="18" charset="0"/>
              </a:rPr>
              <a:t>манайх</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75</a:t>
            </a:fld>
            <a:endParaRPr lang="en-US" dirty="0"/>
          </a:p>
        </p:txBody>
      </p:sp>
    </p:spTree>
    <p:extLst>
      <p:ext uri="{BB962C8B-B14F-4D97-AF65-F5344CB8AC3E}">
        <p14:creationId xmlns:p14="http://schemas.microsoft.com/office/powerpoint/2010/main" val="18107404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n-MN" sz="1200" i="1" kern="1200" baseline="30000" dirty="0">
                <a:solidFill>
                  <a:schemeClr val="tx1"/>
                </a:solidFill>
                <a:effectLst/>
                <a:latin typeface="Times New Roman" panose="02020603050405020304" pitchFamily="18" charset="0"/>
                <a:ea typeface="+mn-ea"/>
                <a:cs typeface="Times New Roman" panose="02020603050405020304" pitchFamily="18" charset="0"/>
              </a:rPr>
              <a:t>а </a:t>
            </a:r>
            <a:r>
              <a:rPr lang="en-US" sz="1200" kern="1200" dirty="0">
                <a:solidFill>
                  <a:schemeClr val="tx1"/>
                </a:solidFill>
                <a:effectLst/>
                <a:latin typeface="Times New Roman" panose="02020603050405020304" pitchFamily="18" charset="0"/>
                <a:ea typeface="+mn-ea"/>
                <a:cs typeface="Times New Roman" panose="02020603050405020304" pitchFamily="18" charset="0"/>
              </a:rPr>
              <a:t>(8.1) </a:t>
            </a:r>
            <a:r>
              <a:rPr lang="mn-MN" sz="1200" kern="1200" dirty="0">
                <a:solidFill>
                  <a:schemeClr val="tx1"/>
                </a:solidFill>
                <a:effectLst/>
                <a:latin typeface="Times New Roman" panose="02020603050405020304" pitchFamily="18" charset="0"/>
                <a:ea typeface="+mn-ea"/>
                <a:cs typeface="Times New Roman" panose="02020603050405020304" pitchFamily="18" charset="0"/>
              </a:rPr>
              <a:t>тэгшитгэлийг харна уу</a:t>
            </a:r>
            <a:r>
              <a:rPr lang="ru-RU" sz="12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mn-MN" sz="1200" kern="1200" dirty="0">
                <a:solidFill>
                  <a:schemeClr val="tx1"/>
                </a:solidFill>
                <a:effectLst/>
                <a:latin typeface="Times New Roman" panose="02020603050405020304" pitchFamily="18" charset="0"/>
                <a:ea typeface="+mn-ea"/>
                <a:cs typeface="Times New Roman" panose="02020603050405020304" pitchFamily="18" charset="0"/>
              </a:rPr>
              <a:t>Тиймээс, мөнгөн дүнгүүд нь нэрлэсэн ханшаар (ерөнхий үнийн инфляцд хамааралгүй) тогтмол байх үед, тэдгээрийн бодит ханшаар илэрхийлэгдэх эквивалент мөнгөн дүн 10 жилийн хугацааны туршид эцсийн жилд $1,117 хүртэл багассан байна. Ирээдүйн мөнгөн урсгалын дүнгүүд нь бодит ханшаар (ерөнхий үнийн инфляцд хамааралтай) тогтмол байх үед, тэдгээрийн нэрлэсэн ханшаар илэрхийлэгдэх эквивалент мөнгөн дүнгүүд 10 дахь жилд $3,582 болж өссөн байна.</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4CFEF27-99CE-459F-8C01-F12FB244F5E1}" type="slidenum">
              <a:rPr lang="en-US" smtClean="0"/>
              <a:t>76</a:t>
            </a:fld>
            <a:endParaRPr lang="en-US" dirty="0"/>
          </a:p>
        </p:txBody>
      </p:sp>
    </p:spTree>
    <p:extLst>
      <p:ext uri="{BB962C8B-B14F-4D97-AF65-F5344CB8AC3E}">
        <p14:creationId xmlns:p14="http://schemas.microsoft.com/office/powerpoint/2010/main" val="136565675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sz="1200" b="1" dirty="0">
                <a:solidFill>
                  <a:srgbClr val="FF0000"/>
                </a:solidFill>
                <a:latin typeface="Times New Roman" panose="02020603050405020304" pitchFamily="18" charset="0"/>
                <a:cs typeface="Times New Roman" panose="02020603050405020304" pitchFamily="18" charset="0"/>
              </a:rPr>
              <a:t>манайх</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77</a:t>
            </a:fld>
            <a:endParaRPr lang="en-US" dirty="0"/>
          </a:p>
        </p:txBody>
      </p:sp>
    </p:spTree>
    <p:extLst>
      <p:ext uri="{BB962C8B-B14F-4D97-AF65-F5344CB8AC3E}">
        <p14:creationId xmlns:p14="http://schemas.microsoft.com/office/powerpoint/2010/main" val="186633859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b="1" dirty="0">
                <a:solidFill>
                  <a:srgbClr val="FF0000"/>
                </a:solidFill>
                <a:latin typeface="Times New Roman" panose="02020603050405020304" pitchFamily="18" charset="0"/>
                <a:cs typeface="Times New Roman" panose="02020603050405020304" pitchFamily="18" charset="0"/>
              </a:rPr>
              <a:t>манай+нэмэлт гаднаас авсан</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78</a:t>
            </a:fld>
            <a:endParaRPr lang="en-US" dirty="0"/>
          </a:p>
        </p:txBody>
      </p:sp>
    </p:spTree>
    <p:extLst>
      <p:ext uri="{BB962C8B-B14F-4D97-AF65-F5344CB8AC3E}">
        <p14:creationId xmlns:p14="http://schemas.microsoft.com/office/powerpoint/2010/main" val="43826968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mn-MN" sz="1200" b="1" dirty="0">
                <a:solidFill>
                  <a:srgbClr val="FF0000"/>
                </a:solidFill>
                <a:latin typeface="Times New Roman" panose="02020603050405020304" pitchFamily="18" charset="0"/>
                <a:cs typeface="Times New Roman" panose="02020603050405020304" pitchFamily="18" charset="0"/>
              </a:rPr>
              <a:t>гаднаас+БДУдирдамж</a:t>
            </a:r>
            <a:r>
              <a:rPr lang="mn-MN" sz="1200" b="1" dirty="0">
                <a:solidFill>
                  <a:srgbClr val="002060"/>
                </a:solidFill>
                <a:latin typeface="Times New Roman" panose="02020603050405020304" pitchFamily="18" charset="0"/>
                <a:cs typeface="Times New Roman" panose="02020603050405020304" pitchFamily="18" charset="0"/>
              </a:rPr>
              <a:t> </a:t>
            </a:r>
            <a:endParaRPr lang="en-US" sz="1200" dirty="0"/>
          </a:p>
        </p:txBody>
      </p:sp>
      <p:sp>
        <p:nvSpPr>
          <p:cNvPr id="4" name="Slide Number Placeholder 3"/>
          <p:cNvSpPr>
            <a:spLocks noGrp="1"/>
          </p:cNvSpPr>
          <p:nvPr>
            <p:ph type="sldNum" sz="quarter" idx="5"/>
          </p:nvPr>
        </p:nvSpPr>
        <p:spPr/>
        <p:txBody>
          <a:bodyPr/>
          <a:lstStyle/>
          <a:p>
            <a:fld id="{E4CFEF27-99CE-459F-8C01-F12FB244F5E1}" type="slidenum">
              <a:rPr lang="en-US" smtClean="0"/>
              <a:t>79</a:t>
            </a:fld>
            <a:endParaRPr lang="en-US" dirty="0"/>
          </a:p>
        </p:txBody>
      </p:sp>
    </p:spTree>
    <p:extLst>
      <p:ext uri="{BB962C8B-B14F-4D97-AF65-F5344CB8AC3E}">
        <p14:creationId xmlns:p14="http://schemas.microsoft.com/office/powerpoint/2010/main" val="101020682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80</a:t>
            </a:fld>
            <a:endParaRPr lang="en-US" dirty="0"/>
          </a:p>
        </p:txBody>
      </p:sp>
    </p:spTree>
    <p:extLst>
      <p:ext uri="{BB962C8B-B14F-4D97-AF65-F5344CB8AC3E}">
        <p14:creationId xmlns:p14="http://schemas.microsoft.com/office/powerpoint/2010/main" val="375348969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81</a:t>
            </a:fld>
            <a:endParaRPr lang="en-US" dirty="0"/>
          </a:p>
        </p:txBody>
      </p:sp>
    </p:spTree>
    <p:extLst>
      <p:ext uri="{BB962C8B-B14F-4D97-AF65-F5344CB8AC3E}">
        <p14:creationId xmlns:p14="http://schemas.microsoft.com/office/powerpoint/2010/main" val="1301416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7D8C-4D35-6BE7-8913-EE48165F6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E3668D-C2DB-80DC-A1DD-F60A137AF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D1920-FED3-D39C-539E-7B5A566391DD}"/>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5" name="Footer Placeholder 4">
            <a:extLst>
              <a:ext uri="{FF2B5EF4-FFF2-40B4-BE49-F238E27FC236}">
                <a16:creationId xmlns:a16="http://schemas.microsoft.com/office/drawing/2014/main" id="{8E53230D-E594-D7A5-32EC-9616DF20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421CD8-BAE7-5A75-5A6C-4A94631F2DE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09158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C744-581C-A465-D5AD-698E5735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0F86A-AA32-A112-1308-F20B349FF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C6181-E825-1285-E416-EE218D446D42}"/>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5" name="Footer Placeholder 4">
            <a:extLst>
              <a:ext uri="{FF2B5EF4-FFF2-40B4-BE49-F238E27FC236}">
                <a16:creationId xmlns:a16="http://schemas.microsoft.com/office/drawing/2014/main" id="{572C597F-71A2-6113-48B7-23FBF239C2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B3508B-421D-3159-299D-6A50E1BB8ADB}"/>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87891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90E7-AF98-583B-B3C9-E30B90DF8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172DBB-25A0-77B9-56E0-E617E9D7AD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DC2C-A214-4BAD-37A9-2AF51A57E355}"/>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5" name="Footer Placeholder 4">
            <a:extLst>
              <a:ext uri="{FF2B5EF4-FFF2-40B4-BE49-F238E27FC236}">
                <a16:creationId xmlns:a16="http://schemas.microsoft.com/office/drawing/2014/main" id="{091C845C-023D-8EAD-81C8-4BBE5DA6C6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E7C64A-2365-EABC-5F33-CDA3D6CE0229}"/>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20414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0046-0812-2CE0-21AB-F2D471CDD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F84E91-81BA-B0C8-43E2-0C1FB0708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61BD2-1A58-7C56-D7A7-135866A4D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83FC1E-148B-EB6A-533C-A895CE8A2DE2}"/>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6" name="Footer Placeholder 5">
            <a:extLst>
              <a:ext uri="{FF2B5EF4-FFF2-40B4-BE49-F238E27FC236}">
                <a16:creationId xmlns:a16="http://schemas.microsoft.com/office/drawing/2014/main" id="{41E110CF-5980-BE5D-9406-39F27D7591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86073-4A93-20AE-0F86-129975236E0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17067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A182-292F-33B0-9A13-21D03CA661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B62B1-B0F4-D60D-9CE6-4D0E730C7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0E5CA-EE3A-F3E7-7FBE-BB5ADF5C6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79186F-B8E2-72F3-72AE-3FA8848ED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88BD3-5740-E308-43A7-9518ACE58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1AE7A-40F2-FDED-EA7F-916E5163350B}"/>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8" name="Footer Placeholder 7">
            <a:extLst>
              <a:ext uri="{FF2B5EF4-FFF2-40B4-BE49-F238E27FC236}">
                <a16:creationId xmlns:a16="http://schemas.microsoft.com/office/drawing/2014/main" id="{276873A7-8D41-C1BE-DFF8-172CB3F3BF4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C8E814-2557-C6DE-8A25-A4EF60D29B4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413382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397D-71F1-CCDC-44C6-DBC5BFE1CF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7B16D-F9FC-BCE6-1B42-BDE141D9DF5D}"/>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4" name="Footer Placeholder 3">
            <a:extLst>
              <a:ext uri="{FF2B5EF4-FFF2-40B4-BE49-F238E27FC236}">
                <a16:creationId xmlns:a16="http://schemas.microsoft.com/office/drawing/2014/main" id="{0B6116CF-3051-29AA-D7A5-D541C877A3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5D2961-87BC-269D-8A12-082DD2B0C414}"/>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6081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42EFB-3455-988C-4371-6A02EC617A67}"/>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3" name="Footer Placeholder 2">
            <a:extLst>
              <a:ext uri="{FF2B5EF4-FFF2-40B4-BE49-F238E27FC236}">
                <a16:creationId xmlns:a16="http://schemas.microsoft.com/office/drawing/2014/main" id="{E1023196-D0D5-1737-480A-AC1B231A72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AA5807-4B8C-8F0B-1E78-8808049AAFDC}"/>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62293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8877-E86E-7B34-444B-E143B1819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B929B-DC3D-522B-D048-3021588858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3059F-6707-DF7E-1BE4-62F707BB9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24B2-E883-95C9-6B96-0C3CA02A0AC4}"/>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6" name="Footer Placeholder 5">
            <a:extLst>
              <a:ext uri="{FF2B5EF4-FFF2-40B4-BE49-F238E27FC236}">
                <a16:creationId xmlns:a16="http://schemas.microsoft.com/office/drawing/2014/main" id="{14C2D7E2-C7A6-E14A-739A-278F59E25B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4A7BBE-F519-5822-9D2B-941BE610F1AE}"/>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5489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29B-0D66-F795-85BE-7E78BDADB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EC4CF0-08AB-1C0A-815A-2BA203A8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63B9B51-C177-2817-1D1A-C92F903B4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A76B8-0006-54B6-EC79-B119F0FF5ABE}"/>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6" name="Footer Placeholder 5">
            <a:extLst>
              <a:ext uri="{FF2B5EF4-FFF2-40B4-BE49-F238E27FC236}">
                <a16:creationId xmlns:a16="http://schemas.microsoft.com/office/drawing/2014/main" id="{C3DF90E3-24E4-AFFB-E554-B66EC265A2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B57FE3-ECEA-4E08-D41E-EA19B38B4AEF}"/>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0428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9902-7CD5-F898-A3C7-EA33606C1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88072-5629-164B-6FBB-FD7D6676D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4E99-671D-9C4B-5F52-93E666ABDFA2}"/>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5" name="Footer Placeholder 4">
            <a:extLst>
              <a:ext uri="{FF2B5EF4-FFF2-40B4-BE49-F238E27FC236}">
                <a16:creationId xmlns:a16="http://schemas.microsoft.com/office/drawing/2014/main" id="{D3052A27-D855-9487-5850-AA12D3CC7A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AB33CC-E6C6-4390-2D7D-F9F348F4AFE6}"/>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064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627C86-B539-8330-A66A-0FE29628B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18C975-ECBF-3772-1D5D-5F4B5DD65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6307C-889B-74E9-03D3-079595FBAA0C}"/>
              </a:ext>
            </a:extLst>
          </p:cNvPr>
          <p:cNvSpPr>
            <a:spLocks noGrp="1"/>
          </p:cNvSpPr>
          <p:nvPr>
            <p:ph type="dt" sz="half" idx="10"/>
          </p:nvPr>
        </p:nvSpPr>
        <p:spPr/>
        <p:txBody>
          <a:bodyPr/>
          <a:lstStyle/>
          <a:p>
            <a:fld id="{83867F83-6740-47E4-93AE-3D5AB4AA4876}" type="datetimeFigureOut">
              <a:rPr lang="en-US" smtClean="0"/>
              <a:t>12/4/2025</a:t>
            </a:fld>
            <a:endParaRPr lang="en-US" dirty="0"/>
          </a:p>
        </p:txBody>
      </p:sp>
      <p:sp>
        <p:nvSpPr>
          <p:cNvPr id="5" name="Footer Placeholder 4">
            <a:extLst>
              <a:ext uri="{FF2B5EF4-FFF2-40B4-BE49-F238E27FC236}">
                <a16:creationId xmlns:a16="http://schemas.microsoft.com/office/drawing/2014/main" id="{0F71C601-CDCF-8113-0351-6229FE214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145360-2CBE-551F-CCEE-8E997F9ABDA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1597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87FCA-762D-6470-BFF4-B2C55CEA1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4B729-E129-522C-12D0-6FFCA7620B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80C4F-690A-D0BF-6490-9F27DEC2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7F83-6740-47E4-93AE-3D5AB4AA4876}" type="datetimeFigureOut">
              <a:rPr lang="en-US" smtClean="0"/>
              <a:t>12/4/2025</a:t>
            </a:fld>
            <a:endParaRPr lang="en-US" dirty="0"/>
          </a:p>
        </p:txBody>
      </p:sp>
      <p:sp>
        <p:nvSpPr>
          <p:cNvPr id="5" name="Footer Placeholder 4">
            <a:extLst>
              <a:ext uri="{FF2B5EF4-FFF2-40B4-BE49-F238E27FC236}">
                <a16:creationId xmlns:a16="http://schemas.microsoft.com/office/drawing/2014/main" id="{AB97EBD5-0880-276D-00D3-BDE8B6BCD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495C48-2E4B-20AA-E642-20DF5BE9E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28A5F-89C8-4E63-9CC2-CD7E02775F2F}" type="slidenum">
              <a:rPr lang="en-US" smtClean="0"/>
              <a:t>‹#›</a:t>
            </a:fld>
            <a:endParaRPr lang="en-US" dirty="0"/>
          </a:p>
        </p:txBody>
      </p:sp>
    </p:spTree>
    <p:extLst>
      <p:ext uri="{BB962C8B-B14F-4D97-AF65-F5344CB8AC3E}">
        <p14:creationId xmlns:p14="http://schemas.microsoft.com/office/powerpoint/2010/main" val="188756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22.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9.tmp"/></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microsoft.com/office/2007/relationships/hdphoto" Target="../media/hdphoto2.wdp"/></Relationships>
</file>

<file path=ppt/slides/_rels/slide38.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7.tif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7.tiff"/><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62.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190.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8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4490-C09C-F2C1-1BED-C30E9C6493C0}"/>
              </a:ext>
            </a:extLst>
          </p:cNvPr>
          <p:cNvSpPr>
            <a:spLocks noGrp="1"/>
          </p:cNvSpPr>
          <p:nvPr>
            <p:ph type="ctrTitle"/>
          </p:nvPr>
        </p:nvSpPr>
        <p:spPr>
          <a:xfrm>
            <a:off x="806824" y="1264025"/>
            <a:ext cx="10912425" cy="2415436"/>
          </a:xfrm>
        </p:spPr>
        <p:txBody>
          <a:bodyPr>
            <a:noAutofit/>
          </a:bodyPr>
          <a:lstStyle/>
          <a:p>
            <a:r>
              <a:rPr lang="mn-MN" altLang="en-US" sz="5400" b="1" dirty="0">
                <a:solidFill>
                  <a:srgbClr val="002060"/>
                </a:solidFill>
                <a:latin typeface="Times New Roman" panose="02020603050405020304" pitchFamily="18" charset="0"/>
                <a:cs typeface="Times New Roman" panose="02020603050405020304" pitchFamily="18" charset="0"/>
              </a:rPr>
              <a:t>ЛЕКЦ №</a:t>
            </a:r>
            <a:r>
              <a:rPr lang="en-US" altLang="en-US" sz="5400" b="1" dirty="0">
                <a:solidFill>
                  <a:srgbClr val="002060"/>
                </a:solidFill>
                <a:latin typeface="Times New Roman" panose="02020603050405020304" pitchFamily="18" charset="0"/>
                <a:cs typeface="Times New Roman" panose="02020603050405020304" pitchFamily="18" charset="0"/>
              </a:rPr>
              <a:t>12</a:t>
            </a:r>
            <a:br>
              <a:rPr lang="en-US" altLang="en-US" sz="5400" dirty="0">
                <a:solidFill>
                  <a:srgbClr val="002060"/>
                </a:solidFill>
                <a:latin typeface="Times New Roman" panose="02020603050405020304" pitchFamily="18" charset="0"/>
                <a:cs typeface="Times New Roman" panose="02020603050405020304" pitchFamily="18" charset="0"/>
              </a:rPr>
            </a:br>
            <a:r>
              <a:rPr lang="mn-MN" sz="4800" b="1" dirty="0">
                <a:solidFill>
                  <a:srgbClr val="002060"/>
                </a:solidFill>
                <a:latin typeface="Times New Roman" panose="02020603050405020304" pitchFamily="18" charset="0"/>
                <a:cs typeface="Times New Roman" panose="02020603050405020304" pitchFamily="18" charset="0"/>
              </a:rPr>
              <a:t>Хөрөнгө оруулалтын үндэс</a:t>
            </a:r>
            <a:endParaRPr lang="en-US" sz="4800" b="1"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4687C9-0602-4AB3-C68B-47EB63DFD361}"/>
              </a:ext>
            </a:extLst>
          </p:cNvPr>
          <p:cNvSpPr>
            <a:spLocks noGrp="1"/>
          </p:cNvSpPr>
          <p:nvPr>
            <p:ph type="subTitle" idx="1"/>
          </p:nvPr>
        </p:nvSpPr>
        <p:spPr>
          <a:xfrm>
            <a:off x="1524000" y="5497475"/>
            <a:ext cx="9144000" cy="871267"/>
          </a:xfrm>
        </p:spPr>
        <p:txBody>
          <a:bodyPr>
            <a:normAutofit lnSpcReduction="10000"/>
          </a:bodyPr>
          <a:lstStyle/>
          <a:p>
            <a:r>
              <a:rPr lang="mn-MN" dirty="0">
                <a:solidFill>
                  <a:srgbClr val="002060"/>
                </a:solidFill>
                <a:latin typeface="Times New Roman" panose="02020603050405020304" pitchFamily="18" charset="0"/>
                <a:cs typeface="Times New Roman" panose="02020603050405020304" pitchFamily="18" charset="0"/>
              </a:rPr>
              <a:t>ШУТИС-ийн МХТС, холбооны салбарын багш Ц.Балжинням</a:t>
            </a:r>
          </a:p>
          <a:p>
            <a:r>
              <a:rPr lang="mn-MN" dirty="0">
                <a:solidFill>
                  <a:srgbClr val="002060"/>
                </a:solidFill>
                <a:latin typeface="Times New Roman" panose="02020603050405020304" pitchFamily="18" charset="0"/>
                <a:cs typeface="Times New Roman" panose="02020603050405020304" pitchFamily="18" charset="0"/>
              </a:rPr>
              <a:t>Улаанбаатар хот. 2023-24.Хавар.</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id="{AB551975-1CE2-308D-D250-4B65BD2EFC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458" y="16278"/>
            <a:ext cx="4957464" cy="1363947"/>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493B6D6-2330-40E5-BEBE-D3505B39EAF9}"/>
              </a:ext>
            </a:extLst>
          </p:cNvPr>
          <p:cNvSpPr txBox="1">
            <a:spLocks/>
          </p:cNvSpPr>
          <p:nvPr/>
        </p:nvSpPr>
        <p:spPr>
          <a:xfrm>
            <a:off x="1751012" y="3905250"/>
            <a:ext cx="8689976" cy="133954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a:t>
            </a:r>
            <a:r>
              <a:rPr lang="ru-RU"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a:t>
            </a: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EEM101  </a:t>
            </a:r>
            <a:b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Инженерчлэлийн эдийн засаг</a:t>
            </a:r>
            <a:b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32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745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8F32-BFE1-C21B-C995-8F54A877F02F}"/>
              </a:ext>
            </a:extLst>
          </p:cNvPr>
          <p:cNvSpPr>
            <a:spLocks noGrp="1"/>
          </p:cNvSpPr>
          <p:nvPr>
            <p:ph type="title"/>
          </p:nvPr>
        </p:nvSpPr>
        <p:spPr>
          <a:xfrm>
            <a:off x="147853" y="201478"/>
            <a:ext cx="11874258" cy="593002"/>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Хичээлийн суралцахуйн үр дүнгүүд </a:t>
            </a:r>
            <a:br>
              <a:rPr lang="mn-MN" b="1" dirty="0">
                <a:solidFill>
                  <a:srgbClr val="002060"/>
                </a:solidFill>
                <a:latin typeface="Times New Roman" panose="02020603050405020304" pitchFamily="18" charset="0"/>
                <a:cs typeface="Times New Roman" panose="02020603050405020304" pitchFamily="18" charset="0"/>
              </a:rPr>
            </a:br>
            <a:r>
              <a:rPr lang="mn-MN" sz="2700" b="1" dirty="0">
                <a:solidFill>
                  <a:srgbClr val="002060"/>
                </a:solidFill>
                <a:latin typeface="Times New Roman" panose="02020603050405020304" pitchFamily="18" charset="0"/>
                <a:cs typeface="Times New Roman" panose="02020603050405020304" pitchFamily="18" charset="0"/>
              </a:rPr>
              <a:t>Оюутан энэ сэдвийг судалснаар дараах ур чадваруудтай болсон байна. </a:t>
            </a:r>
            <a:endParaRPr lang="en-US"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5DFE0557-5EF0-6AAF-FD86-D7A6892F3C29}"/>
              </a:ext>
            </a:extLst>
          </p:cNvPr>
          <p:cNvGraphicFramePr>
            <a:graphicFrameLocks noGrp="1"/>
          </p:cNvGraphicFramePr>
          <p:nvPr>
            <p:ph idx="1"/>
            <p:extLst>
              <p:ext uri="{D42A27DB-BD31-4B8C-83A1-F6EECF244321}">
                <p14:modId xmlns:p14="http://schemas.microsoft.com/office/powerpoint/2010/main" val="3455600289"/>
              </p:ext>
            </p:extLst>
          </p:nvPr>
        </p:nvGraphicFramePr>
        <p:xfrm>
          <a:off x="158871" y="1007745"/>
          <a:ext cx="11874258" cy="4913370"/>
        </p:xfrm>
        <a:graphic>
          <a:graphicData uri="http://schemas.openxmlformats.org/drawingml/2006/table">
            <a:tbl>
              <a:tblPr firstRow="1" bandRow="1">
                <a:tableStyleId>{5C22544A-7EE6-4342-B048-85BDC9FD1C3A}</a:tableStyleId>
              </a:tblPr>
              <a:tblGrid>
                <a:gridCol w="560657">
                  <a:extLst>
                    <a:ext uri="{9D8B030D-6E8A-4147-A177-3AD203B41FA5}">
                      <a16:colId xmlns:a16="http://schemas.microsoft.com/office/drawing/2014/main" val="78146492"/>
                    </a:ext>
                  </a:extLst>
                </a:gridCol>
                <a:gridCol w="5340270">
                  <a:extLst>
                    <a:ext uri="{9D8B030D-6E8A-4147-A177-3AD203B41FA5}">
                      <a16:colId xmlns:a16="http://schemas.microsoft.com/office/drawing/2014/main" val="2993372031"/>
                    </a:ext>
                  </a:extLst>
                </a:gridCol>
                <a:gridCol w="2443635">
                  <a:extLst>
                    <a:ext uri="{9D8B030D-6E8A-4147-A177-3AD203B41FA5}">
                      <a16:colId xmlns:a16="http://schemas.microsoft.com/office/drawing/2014/main" val="3377302877"/>
                    </a:ext>
                  </a:extLst>
                </a:gridCol>
                <a:gridCol w="2190221">
                  <a:extLst>
                    <a:ext uri="{9D8B030D-6E8A-4147-A177-3AD203B41FA5}">
                      <a16:colId xmlns:a16="http://schemas.microsoft.com/office/drawing/2014/main" val="574671118"/>
                    </a:ext>
                  </a:extLst>
                </a:gridCol>
                <a:gridCol w="1339475">
                  <a:extLst>
                    <a:ext uri="{9D8B030D-6E8A-4147-A177-3AD203B41FA5}">
                      <a16:colId xmlns:a16="http://schemas.microsoft.com/office/drawing/2014/main" val="1155244748"/>
                    </a:ext>
                  </a:extLst>
                </a:gridCol>
              </a:tblGrid>
              <a:tr h="880033">
                <a:tc>
                  <a:txBody>
                    <a:bodyPr/>
                    <a:lstStyle/>
                    <a:p>
                      <a:pPr algn="ctr">
                        <a:lnSpc>
                          <a:spcPct val="90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дүнгийн түвшин</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90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90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494423415"/>
                  </a:ext>
                </a:extLst>
              </a:tr>
              <a:tr h="834659">
                <a:tc>
                  <a:txBody>
                    <a:bodyPr/>
                    <a:lstStyle/>
                    <a:p>
                      <a:pPr algn="ctr">
                        <a:lnSpc>
                          <a:spcPct val="90000"/>
                        </a:lnSpc>
                        <a:spcAft>
                          <a:spcPts val="0"/>
                        </a:spcAft>
                      </a:pP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tc>
                  <a:txBody>
                    <a:bodyPr/>
                    <a:lstStyle/>
                    <a:p>
                      <a:pPr algn="just">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Хөрөнгө оруулалтын тухай ойлголтууд, нэр томъёог </a:t>
                      </a:r>
                      <a:r>
                        <a:rPr lang="mn-MN" sz="2400" dirty="0">
                          <a:effectLst/>
                          <a:latin typeface="Times New Roman" panose="02020603050405020304" pitchFamily="18" charset="0"/>
                          <a:cs typeface="Times New Roman" panose="02020603050405020304" pitchFamily="18" charset="0"/>
                        </a:rPr>
                        <a:t>тайлбарлах, </a:t>
                      </a:r>
                      <a:r>
                        <a:rPr lang="mn-MN" sz="2400" kern="1200" dirty="0">
                          <a:solidFill>
                            <a:schemeClr val="dk1"/>
                          </a:solidFill>
                          <a:effectLst/>
                          <a:latin typeface="Times New Roman" panose="02020603050405020304" pitchFamily="18" charset="0"/>
                          <a:ea typeface="+mn-ea"/>
                          <a:cs typeface="Times New Roman" panose="02020603050405020304" pitchFamily="18" charset="0"/>
                        </a:rPr>
                        <a:t>ашиглах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000" dirty="0">
                          <a:effectLst/>
                          <a:latin typeface="Times New Roman" panose="02020603050405020304" pitchFamily="18" charset="0"/>
                          <a:cs typeface="Times New Roman" panose="02020603050405020304" pitchFamily="18" charset="0"/>
                        </a:rPr>
                        <a:t>Тайлбарлах </a:t>
                      </a:r>
                      <a:r>
                        <a:rPr lang="en-US" sz="2000" dirty="0">
                          <a:effectLst/>
                          <a:latin typeface="Times New Roman" panose="02020603050405020304" pitchFamily="18" charset="0"/>
                          <a:cs typeface="Times New Roman" panose="02020603050405020304" pitchFamily="18" charset="0"/>
                        </a:rPr>
                        <a:t>(Explain)</a:t>
                      </a:r>
                      <a:endParaRPr lang="mn-MN" sz="2000" dirty="0">
                        <a:effectLst/>
                        <a:latin typeface="Times New Roman" panose="02020603050405020304" pitchFamily="18" charset="0"/>
                        <a:cs typeface="Times New Roman" panose="02020603050405020304" pitchFamily="18" charset="0"/>
                      </a:endParaRPr>
                    </a:p>
                    <a:p>
                      <a:pPr algn="ctr">
                        <a:lnSpc>
                          <a:spcPct val="90000"/>
                        </a:lnSpc>
                        <a:spcAft>
                          <a:spcPts val="0"/>
                        </a:spcAft>
                      </a:pPr>
                      <a:r>
                        <a:rPr lang="mn-MN" sz="2000" dirty="0">
                          <a:effectLst/>
                          <a:latin typeface="Times New Roman" panose="02020603050405020304" pitchFamily="18" charset="0"/>
                          <a:ea typeface="Times New Roman" panose="02020603050405020304" pitchFamily="18" charset="0"/>
                          <a:cs typeface="Times New Roman" panose="02020603050405020304" pitchFamily="18" charset="0"/>
                        </a:rPr>
                        <a:t>Хэрэглэх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(Apply)</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r>
                        <a:rPr lang="mn-MN"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800" dirty="0">
                          <a:effectLst/>
                          <a:latin typeface="Times New Roman" panose="02020603050405020304" pitchFamily="18" charset="0"/>
                          <a:cs typeface="Times New Roman" panose="02020603050405020304" pitchFamily="18" charset="0"/>
                        </a:rPr>
                        <a:t>1, 3</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954028067"/>
                  </a:ext>
                </a:extLst>
              </a:tr>
              <a:tr h="1066226">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2</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90000"/>
                        </a:lnSpc>
                        <a:spcBef>
                          <a:spcPts val="0"/>
                        </a:spcBef>
                        <a:spcAft>
                          <a:spcPts val="0"/>
                        </a:spcAft>
                        <a:buClrTx/>
                        <a:buSzTx/>
                        <a:buFontTx/>
                        <a:buNone/>
                        <a:tabLst/>
                        <a:defRPr/>
                      </a:pPr>
                      <a:r>
                        <a:rPr lang="mn-MN" sz="2400" dirty="0">
                          <a:effectLst/>
                          <a:latin typeface="Times New Roman" panose="02020603050405020304" pitchFamily="18" charset="0"/>
                          <a:cs typeface="Times New Roman" panose="02020603050405020304" pitchFamily="18" charset="0"/>
                        </a:rPr>
                        <a:t>Хөрөнгө төсөвлөх үйл явцын функцуудыг болон санхүүжилтийн эх үүсвэрүүдийг ойлгох, тайлбарлах</a:t>
                      </a: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000" dirty="0">
                          <a:effectLst/>
                          <a:latin typeface="Times New Roman" panose="02020603050405020304" pitchFamily="18" charset="0"/>
                          <a:cs typeface="Times New Roman" panose="02020603050405020304" pitchFamily="18" charset="0"/>
                        </a:rPr>
                        <a:t>Тайлбарлах </a:t>
                      </a:r>
                      <a:r>
                        <a:rPr lang="en-US" sz="2000" dirty="0">
                          <a:effectLst/>
                          <a:latin typeface="Times New Roman" panose="02020603050405020304" pitchFamily="18" charset="0"/>
                          <a:cs typeface="Times New Roman" panose="02020603050405020304" pitchFamily="18" charset="0"/>
                        </a:rPr>
                        <a:t>(Explain)</a:t>
                      </a:r>
                      <a:endParaRPr lang="mn-MN" sz="2000" dirty="0">
                        <a:effectLst/>
                        <a:latin typeface="Times New Roman" panose="02020603050405020304" pitchFamily="18" charset="0"/>
                        <a:cs typeface="Times New Roman" panose="02020603050405020304" pitchFamily="18" charset="0"/>
                      </a:endParaRPr>
                    </a:p>
                    <a:p>
                      <a:pPr algn="ctr">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 </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(Apply)</a:t>
                      </a:r>
                      <a:endParaRPr lang="mn-MN" sz="2000" kern="1200" dirty="0">
                        <a:solidFill>
                          <a:schemeClr val="dk1"/>
                        </a:solidFill>
                        <a:effectLst/>
                        <a:latin typeface="Times New Roman" panose="02020603050405020304" pitchFamily="18" charset="0"/>
                        <a:ea typeface="+mn-ea"/>
                        <a:cs typeface="Times New Roman" panose="02020603050405020304" pitchFamily="18" charset="0"/>
                      </a:endParaRPr>
                    </a:p>
                    <a:p>
                      <a:pPr algn="ctr">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Шийдэх</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 /Solve/</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800" dirty="0">
                          <a:effectLst/>
                          <a:latin typeface="Times New Roman" panose="02020603050405020304" pitchFamily="18" charset="0"/>
                          <a:cs typeface="Times New Roman" panose="02020603050405020304" pitchFamily="18" charset="0"/>
                        </a:rPr>
                        <a:t>1, 3</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810878109"/>
                  </a:ext>
                </a:extLst>
              </a:tr>
              <a:tr h="1418239">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90000"/>
                        </a:lnSpc>
                        <a:spcBef>
                          <a:spcPts val="0"/>
                        </a:spcBef>
                        <a:spcAft>
                          <a:spcPts val="0"/>
                        </a:spcAft>
                        <a:buClrTx/>
                        <a:buSzTx/>
                        <a:buFontTx/>
                        <a:buNone/>
                        <a:tabLst/>
                        <a:defRPr/>
                      </a:pPr>
                      <a:r>
                        <a:rPr lang="mn-MN" sz="2400" dirty="0">
                          <a:effectLst/>
                          <a:latin typeface="Times New Roman" panose="02020603050405020304" pitchFamily="18" charset="0"/>
                          <a:cs typeface="Times New Roman" panose="02020603050405020304" pitchFamily="18" charset="0"/>
                        </a:rPr>
                        <a:t>Эрсдлийн болон инфляцийн нөхцөл дэх төслийн эдийн засгийн үр ашгийн тооцох аргачлалын онцлогийг төслийн үнэлгээнд хэрэглэх</a:t>
                      </a: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000" dirty="0">
                          <a:effectLst/>
                          <a:latin typeface="Times New Roman" panose="02020603050405020304" pitchFamily="18" charset="0"/>
                          <a:cs typeface="Times New Roman" panose="02020603050405020304" pitchFamily="18" charset="0"/>
                        </a:rPr>
                        <a:t>Тайлбарлах </a:t>
                      </a:r>
                      <a:r>
                        <a:rPr lang="en-US" sz="2000" dirty="0">
                          <a:effectLst/>
                          <a:latin typeface="Times New Roman" panose="02020603050405020304" pitchFamily="18" charset="0"/>
                          <a:cs typeface="Times New Roman" panose="02020603050405020304" pitchFamily="18" charset="0"/>
                        </a:rPr>
                        <a:t>(Explain)</a:t>
                      </a:r>
                      <a:endParaRPr lang="mn-MN" sz="2000" dirty="0">
                        <a:effectLst/>
                        <a:latin typeface="Times New Roman" panose="02020603050405020304" pitchFamily="18" charset="0"/>
                        <a:cs typeface="Times New Roman" panose="02020603050405020304" pitchFamily="18" charset="0"/>
                      </a:endParaRPr>
                    </a:p>
                    <a:p>
                      <a:pPr algn="ctr">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 </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(Apply)</a:t>
                      </a:r>
                      <a:endParaRPr lang="mn-MN" sz="2000" kern="1200" dirty="0">
                        <a:solidFill>
                          <a:schemeClr val="dk1"/>
                        </a:solidFill>
                        <a:effectLst/>
                        <a:latin typeface="Times New Roman" panose="02020603050405020304" pitchFamily="18" charset="0"/>
                        <a:ea typeface="+mn-ea"/>
                        <a:cs typeface="Times New Roman" panose="02020603050405020304" pitchFamily="18" charset="0"/>
                      </a:endParaRPr>
                    </a:p>
                    <a:p>
                      <a:pPr algn="ctr">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Шийдэх</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 /Solve/</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800" dirty="0">
                          <a:effectLst/>
                          <a:latin typeface="Times New Roman" panose="02020603050405020304" pitchFamily="18" charset="0"/>
                          <a:cs typeface="Times New Roman" panose="02020603050405020304" pitchFamily="18" charset="0"/>
                        </a:rPr>
                        <a:t>1, 3</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656165348"/>
                  </a:ext>
                </a:extLst>
              </a:tr>
              <a:tr h="714213">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4</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just">
                        <a:lnSpc>
                          <a:spcPct val="90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Сэдэвтэй холбоотой материалуудыг ашиглах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Гүйцэтгэх </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(Function)</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90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90000"/>
                        </a:lnSpc>
                        <a:spcAft>
                          <a:spcPts val="0"/>
                        </a:spcAft>
                      </a:pPr>
                      <a:r>
                        <a:rPr lang="mn-MN" sz="2800" dirty="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1746794371"/>
                  </a:ext>
                </a:extLst>
              </a:tr>
            </a:tbl>
          </a:graphicData>
        </a:graphic>
      </p:graphicFrame>
    </p:spTree>
    <p:extLst>
      <p:ext uri="{BB962C8B-B14F-4D97-AF65-F5344CB8AC3E}">
        <p14:creationId xmlns:p14="http://schemas.microsoft.com/office/powerpoint/2010/main" val="2758320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179281" y="65478"/>
            <a:ext cx="10706535" cy="421864"/>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Хичээлийн агуулга </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idx="1"/>
          </p:nvPr>
        </p:nvSpPr>
        <p:spPr>
          <a:xfrm>
            <a:off x="179281" y="439717"/>
            <a:ext cx="11767879" cy="6095630"/>
          </a:xfrm>
        </p:spPr>
        <p:txBody>
          <a:bodyPr>
            <a:noAutofit/>
          </a:bodyPr>
          <a:lstStyle/>
          <a:p>
            <a:pPr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Хөрөнгө оруулалтын тухай ойлголт</a:t>
            </a:r>
            <a:r>
              <a:rPr lang="en-US" sz="2000" dirty="0">
                <a:solidFill>
                  <a:srgbClr val="002060"/>
                </a:solidFill>
                <a:latin typeface="Times New Roman" panose="02020603050405020304" pitchFamily="18" charset="0"/>
                <a:cs typeface="Times New Roman" panose="02020603050405020304" pitchFamily="18" charset="0"/>
              </a:rPr>
              <a:t>, </a:t>
            </a:r>
            <a:r>
              <a:rPr lang="mn-MN" sz="2000" dirty="0">
                <a:solidFill>
                  <a:srgbClr val="002060"/>
                </a:solidFill>
                <a:latin typeface="Times New Roman" panose="02020603050405020304" pitchFamily="18" charset="0"/>
                <a:cs typeface="Times New Roman" panose="02020603050405020304" pitchFamily="18" charset="0"/>
              </a:rPr>
              <a:t>тодорхойлолтууд</a:t>
            </a:r>
          </a:p>
          <a:p>
            <a:pPr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Хөрөнгө оруулалтын үүрэг, мөн чанар, ач холбогдол</a:t>
            </a:r>
          </a:p>
          <a:p>
            <a:pPr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Хөрөнгө оруулалтын сонголтын нөлөө, үе шат</a:t>
            </a:r>
          </a:p>
          <a:p>
            <a:pPr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Хөрөнгө оруулалтад нөлөөлөх хүчин зүйл</a:t>
            </a:r>
          </a:p>
          <a:p>
            <a:pPr lvl="1"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Хөрөнгө оруулалтанд нөлөөлөх хүүгийн бус хүчин зүйлс</a:t>
            </a:r>
          </a:p>
          <a:p>
            <a:pPr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Хөрөнгө оруулалтын ангилал</a:t>
            </a:r>
          </a:p>
          <a:p>
            <a:pPr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Хөрөнгө оруулалтын хэрэгсэлүүд</a:t>
            </a:r>
          </a:p>
          <a:p>
            <a:pPr lvl="1"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Хувьцаа, </a:t>
            </a:r>
            <a:r>
              <a:rPr lang="ru-RU" sz="2000" dirty="0">
                <a:solidFill>
                  <a:srgbClr val="002060"/>
                </a:solidFill>
                <a:latin typeface="Times New Roman" panose="02020603050405020304" pitchFamily="18" charset="0"/>
                <a:cs typeface="Times New Roman" panose="02020603050405020304" pitchFamily="18" charset="0"/>
              </a:rPr>
              <a:t>Энгийн болон давуу эрхийн хувьцаа</a:t>
            </a:r>
            <a:endParaRPr lang="mn-MN" sz="2000" dirty="0">
              <a:solidFill>
                <a:srgbClr val="002060"/>
              </a:solidFill>
              <a:latin typeface="Times New Roman" panose="02020603050405020304" pitchFamily="18" charset="0"/>
              <a:cs typeface="Times New Roman" panose="02020603050405020304" pitchFamily="18" charset="0"/>
            </a:endParaRPr>
          </a:p>
          <a:p>
            <a:pPr lvl="1"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Бондын хөрөнгө оруулалт</a:t>
            </a:r>
          </a:p>
          <a:p>
            <a:pPr lvl="1"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Үл хөдлөх хөрөнгийн хөрөнгө оруулалт</a:t>
            </a:r>
          </a:p>
          <a:p>
            <a:pPr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Үнэт цааснуудыг арилжаалж буй зах зээлээсс хамааруулан ангилах нь</a:t>
            </a:r>
          </a:p>
          <a:p>
            <a:pPr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Хөрөнгө оруулалтын ангилал: Мөнгөний зах зээлийн үнэт цааснууд, Үүсмэл үнэт цааснууд</a:t>
            </a:r>
          </a:p>
          <a:p>
            <a:pPr algn="just">
              <a:spcBef>
                <a:spcPts val="0"/>
              </a:spcBef>
            </a:pPr>
            <a:r>
              <a:rPr lang="ru-RU" sz="2000" dirty="0">
                <a:solidFill>
                  <a:srgbClr val="002060"/>
                </a:solidFill>
                <a:latin typeface="Times New Roman" panose="02020603050405020304" pitchFamily="18" charset="0"/>
                <a:cs typeface="Times New Roman" panose="02020603050405020304" pitchFamily="18" charset="0"/>
              </a:rPr>
              <a:t>Үнэт цаасны зах зээлийн ангилал </a:t>
            </a:r>
          </a:p>
          <a:p>
            <a:pPr lvl="1"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Анхдагч зах зээл: </a:t>
            </a:r>
          </a:p>
          <a:p>
            <a:pPr lvl="1"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Анхдагч зах зээл дээр хөрөнгө босгох, үнэт цаасыг худалдах арга</a:t>
            </a:r>
          </a:p>
          <a:p>
            <a:pPr lvl="1" algn="just">
              <a:spcBef>
                <a:spcPts val="0"/>
              </a:spcBef>
            </a:pPr>
            <a:r>
              <a:rPr lang="mn-MN" sz="2000" dirty="0">
                <a:solidFill>
                  <a:srgbClr val="002060"/>
                </a:solidFill>
                <a:latin typeface="Times New Roman" panose="02020603050405020304" pitchFamily="18" charset="0"/>
                <a:cs typeface="Times New Roman" panose="02020603050405020304" pitchFamily="18" charset="0"/>
              </a:rPr>
              <a:t>Хоёрдогч зах зээл:</a:t>
            </a:r>
          </a:p>
          <a:p>
            <a:pPr algn="just">
              <a:spcBef>
                <a:spcPts val="0"/>
              </a:spcBef>
            </a:pPr>
            <a:r>
              <a:rPr lang="mn-MN" sz="2000" dirty="0">
                <a:solidFill>
                  <a:srgbClr val="0000FF"/>
                </a:solidFill>
                <a:latin typeface="Times New Roman" panose="02020603050405020304" pitchFamily="18" charset="0"/>
                <a:cs typeface="Times New Roman" panose="02020603050405020304" pitchFamily="18" charset="0"/>
              </a:rPr>
              <a:t>Хөрөнгө төсөвлөх үйл явц</a:t>
            </a:r>
            <a:endParaRPr lang="mn-MN" sz="2000" dirty="0">
              <a:solidFill>
                <a:srgbClr val="FF0000"/>
              </a:solidFill>
              <a:latin typeface="Times New Roman" panose="02020603050405020304" pitchFamily="18" charset="0"/>
              <a:cs typeface="Times New Roman" panose="02020603050405020304" pitchFamily="18" charset="0"/>
            </a:endParaRPr>
          </a:p>
          <a:p>
            <a:pPr lvl="1" algn="just">
              <a:spcBef>
                <a:spcPts val="0"/>
              </a:spcBef>
            </a:pPr>
            <a:r>
              <a:rPr lang="mn-MN" sz="2000" dirty="0">
                <a:solidFill>
                  <a:srgbClr val="0000FF"/>
                </a:solidFill>
                <a:latin typeface="Times New Roman" panose="02020603050405020304" pitchFamily="18" charset="0"/>
                <a:cs typeface="Times New Roman" panose="02020603050405020304" pitchFamily="18" charset="0"/>
              </a:rPr>
              <a:t>Хөрөнгийн санхүүжилт, хуваарилалтын функцүүд</a:t>
            </a:r>
          </a:p>
          <a:p>
            <a:pPr algn="just">
              <a:spcBef>
                <a:spcPts val="0"/>
              </a:spcBef>
            </a:pPr>
            <a:r>
              <a:rPr lang="mn-MN" sz="2000" dirty="0">
                <a:solidFill>
                  <a:srgbClr val="0000FF"/>
                </a:solidFill>
                <a:latin typeface="Times New Roman" panose="02020603050405020304" pitchFamily="18" charset="0"/>
                <a:cs typeface="Times New Roman" panose="02020603050405020304" pitchFamily="18" charset="0"/>
              </a:rPr>
              <a:t>Хөрөнгө оруулалтын санхүүжилтийн эх үүсвэр</a:t>
            </a:r>
          </a:p>
          <a:p>
            <a:pPr algn="just">
              <a:spcBef>
                <a:spcPts val="0"/>
              </a:spcBef>
            </a:pPr>
            <a:r>
              <a:rPr lang="mn-MN" sz="2000" dirty="0">
                <a:solidFill>
                  <a:srgbClr val="0000FF"/>
                </a:solidFill>
                <a:latin typeface="Times New Roman" panose="02020603050405020304" pitchFamily="18" charset="0"/>
                <a:cs typeface="Times New Roman" panose="02020603050405020304" pitchFamily="18" charset="0"/>
              </a:rPr>
              <a:t>Хөрөнгийн активийн үнэлгээний загвар </a:t>
            </a:r>
            <a:r>
              <a:rPr lang="en-US" sz="2000" dirty="0">
                <a:solidFill>
                  <a:srgbClr val="0000FF"/>
                </a:solidFill>
                <a:latin typeface="Times New Roman" panose="02020603050405020304" pitchFamily="18" charset="0"/>
                <a:cs typeface="Times New Roman" panose="02020603050405020304" pitchFamily="18" charset="0"/>
              </a:rPr>
              <a:t>(CAPM - The Capital Asset Pricing Model)</a:t>
            </a:r>
            <a:endParaRPr lang="mn-MN" sz="2000" dirty="0">
              <a:solidFill>
                <a:srgbClr val="0000FF"/>
              </a:solidFill>
              <a:latin typeface="Times New Roman" panose="02020603050405020304" pitchFamily="18" charset="0"/>
              <a:cs typeface="Times New Roman" panose="02020603050405020304" pitchFamily="18" charset="0"/>
            </a:endParaRPr>
          </a:p>
          <a:p>
            <a:pPr algn="just">
              <a:spcBef>
                <a:spcPts val="0"/>
              </a:spcBef>
            </a:pPr>
            <a:r>
              <a:rPr lang="mn-MN" sz="2000" dirty="0">
                <a:solidFill>
                  <a:srgbClr val="0000FF"/>
                </a:solidFill>
                <a:latin typeface="Times New Roman" panose="02020603050405020304" pitchFamily="18" charset="0"/>
                <a:cs typeface="Times New Roman" panose="02020603050405020304" pitchFamily="18" charset="0"/>
              </a:rPr>
              <a:t>Төслийн эдийн засгийн үр ашгийн үнэлгээний аргууд </a:t>
            </a:r>
          </a:p>
          <a:p>
            <a:pPr lvl="1" algn="just">
              <a:spcBef>
                <a:spcPts val="0"/>
              </a:spcBef>
            </a:pPr>
            <a:r>
              <a:rPr lang="mn-MN" sz="2000" dirty="0">
                <a:solidFill>
                  <a:srgbClr val="0000FF"/>
                </a:solidFill>
                <a:latin typeface="Times New Roman" panose="02020603050405020304" pitchFamily="18" charset="0"/>
                <a:cs typeface="Times New Roman" panose="02020603050405020304" pitchFamily="18" charset="0"/>
              </a:rPr>
              <a:t>Инфляцийн нөхцөл дэх хөрөнгө оруулалтын төслийн шинжилгээ</a:t>
            </a:r>
          </a:p>
          <a:p>
            <a:pPr lvl="1" algn="just">
              <a:spcBef>
                <a:spcPts val="0"/>
              </a:spcBef>
            </a:pPr>
            <a:r>
              <a:rPr lang="mn-MN" sz="2000" dirty="0">
                <a:solidFill>
                  <a:srgbClr val="0000FF"/>
                </a:solidFill>
                <a:latin typeface="Times New Roman" panose="02020603050405020304" pitchFamily="18" charset="0"/>
                <a:cs typeface="Times New Roman" panose="02020603050405020304" pitchFamily="18" charset="0"/>
              </a:rPr>
              <a:t>Эрсдэлийн нөхцөл дэх хөрөнгө оруулалтын төслийн шинжилгээ</a:t>
            </a:r>
          </a:p>
        </p:txBody>
      </p:sp>
    </p:spTree>
    <p:extLst>
      <p:ext uri="{BB962C8B-B14F-4D97-AF65-F5344CB8AC3E}">
        <p14:creationId xmlns:p14="http://schemas.microsoft.com/office/powerpoint/2010/main" val="1476629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305955"/>
            <a:ext cx="11484244" cy="418652"/>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Хөрөнгө оруулалт </a:t>
            </a:r>
            <a:r>
              <a:rPr lang="en-US" b="1" dirty="0">
                <a:solidFill>
                  <a:srgbClr val="002060"/>
                </a:solidFill>
                <a:latin typeface="Times New Roman" panose="02020603050405020304" pitchFamily="18" charset="0"/>
                <a:cs typeface="Times New Roman" panose="02020603050405020304" pitchFamily="18" charset="0"/>
              </a:rPr>
              <a:t>(</a:t>
            </a:r>
            <a:r>
              <a:rPr lang="mn-MN" b="1" dirty="0">
                <a:solidFill>
                  <a:srgbClr val="002060"/>
                </a:solidFill>
                <a:latin typeface="Times New Roman" panose="02020603050405020304" pitchFamily="18" charset="0"/>
                <a:cs typeface="Times New Roman" panose="02020603050405020304" pitchFamily="18" charset="0"/>
              </a:rPr>
              <a:t>ХО</a:t>
            </a:r>
            <a:r>
              <a:rPr lang="en-US" b="1" dirty="0">
                <a:solidFill>
                  <a:srgbClr val="002060"/>
                </a:solidFill>
                <a:latin typeface="Times New Roman" panose="02020603050405020304" pitchFamily="18" charset="0"/>
                <a:cs typeface="Times New Roman" panose="02020603050405020304" pitchFamily="18" charset="0"/>
              </a:rPr>
              <a:t>): </a:t>
            </a:r>
            <a:r>
              <a:rPr lang="mn-MN" b="1" dirty="0">
                <a:solidFill>
                  <a:schemeClr val="accent2">
                    <a:lumMod val="75000"/>
                  </a:schemeClr>
                </a:solidFill>
                <a:latin typeface="Times New Roman" panose="02020603050405020304" pitchFamily="18" charset="0"/>
                <a:cs typeface="Times New Roman" panose="02020603050405020304" pitchFamily="18" charset="0"/>
              </a:rPr>
              <a:t>Тодорхойлолтууд</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495945" y="739598"/>
            <a:ext cx="11282767" cy="5812448"/>
          </a:xfrm>
        </p:spPr>
        <p:txBody>
          <a:bodyPr>
            <a:normAutofit fontScale="77500" lnSpcReduction="20000"/>
          </a:bodyPr>
          <a:lstStyle/>
          <a:p>
            <a:pPr algn="just">
              <a:lnSpc>
                <a:spcPct val="110000"/>
              </a:lnSpc>
              <a:spcBef>
                <a:spcPts val="200"/>
              </a:spcBef>
            </a:pPr>
            <a:r>
              <a:rPr lang="mn-MN" sz="3200" b="1" dirty="0">
                <a:solidFill>
                  <a:srgbClr val="002060"/>
                </a:solidFill>
                <a:latin typeface="Times New Roman" panose="02020603050405020304" pitchFamily="18" charset="0"/>
                <a:cs typeface="Times New Roman" panose="02020603050405020304" pitchFamily="18" charset="0"/>
              </a:rPr>
              <a:t>Хөрөнгө оруулалт </a:t>
            </a:r>
            <a:r>
              <a:rPr lang="mn-MN" sz="3200" dirty="0">
                <a:solidFill>
                  <a:srgbClr val="002060"/>
                </a:solidFill>
                <a:latin typeface="Times New Roman" panose="02020603050405020304" pitchFamily="18" charset="0"/>
                <a:cs typeface="Times New Roman" panose="02020603050405020304" pitchFamily="18" charset="0"/>
              </a:rPr>
              <a:t>– ашиг орлого олох, эсвэл өөр тааламжтай үр дүнд хүрэх зорилгоор бизнесийн үйл ажиллагаанд оруулж байгаа мөнгөн хөрөнгө, үнэт цаас, бусад хөрөнгө, хөрөнгийн эрх, түүнтэй адилтгах бусад эрх зэрэг үйлдвэрлэл эрхлэгчийн үйл ажиллагаа юм. </a:t>
            </a:r>
            <a:r>
              <a:rPr lang="mn-MN" sz="2400" dirty="0">
                <a:solidFill>
                  <a:srgbClr val="002060"/>
                </a:solidFill>
                <a:latin typeface="Times New Roman" panose="02020603050405020304" pitchFamily="18" charset="0"/>
                <a:cs typeface="Times New Roman" panose="02020603050405020304" pitchFamily="18" charset="0"/>
              </a:rPr>
              <a:t>/Д.Моломжамц, Хөрөнгө оруулалтын эдийн засгийн шинжилгээ, УБ, 2007/, /ОХУ хууль/</a:t>
            </a:r>
          </a:p>
          <a:p>
            <a:pPr algn="just">
              <a:lnSpc>
                <a:spcPct val="110000"/>
              </a:lnSpc>
              <a:spcBef>
                <a:spcPts val="200"/>
              </a:spcBef>
            </a:pPr>
            <a:r>
              <a:rPr lang="mn-MN" sz="3200" b="1" dirty="0">
                <a:solidFill>
                  <a:srgbClr val="002060"/>
                </a:solidFill>
                <a:latin typeface="Times New Roman" panose="02020603050405020304" pitchFamily="18" charset="0"/>
                <a:cs typeface="Times New Roman" panose="02020603050405020304" pitchFamily="18" charset="0"/>
              </a:rPr>
              <a:t>Хөрөнгө оруулалт </a:t>
            </a:r>
            <a:r>
              <a:rPr lang="mn-MN" sz="3200" dirty="0">
                <a:solidFill>
                  <a:srgbClr val="002060"/>
                </a:solidFill>
                <a:latin typeface="Times New Roman" panose="02020603050405020304" pitchFamily="18" charset="0"/>
                <a:cs typeface="Times New Roman" panose="02020603050405020304" pitchFamily="18" charset="0"/>
              </a:rPr>
              <a:t>– мөнгийг ашиглаж ашиг орлого олохыг хэлнэ. Энэ нэр томъёо нь бас төрөл бүрийн үйлдвэрүүд, газар тариалангийн тоног төхөөрөмж, мал, машин механизм зэрэг бараа материалын капиталын зардалд хамаарна. </a:t>
            </a:r>
            <a:r>
              <a:rPr lang="mn-MN" sz="2400" dirty="0">
                <a:solidFill>
                  <a:srgbClr val="002060"/>
                </a:solidFill>
                <a:latin typeface="Times New Roman" panose="02020603050405020304" pitchFamily="18" charset="0"/>
                <a:cs typeface="Times New Roman" panose="02020603050405020304" pitchFamily="18" charset="0"/>
              </a:rPr>
              <a:t>/</a:t>
            </a:r>
            <a:r>
              <a:rPr lang="en-US" sz="2400" dirty="0">
                <a:solidFill>
                  <a:srgbClr val="002060"/>
                </a:solidFill>
                <a:latin typeface="Times New Roman" panose="02020603050405020304" pitchFamily="18" charset="0"/>
                <a:cs typeface="Times New Roman" panose="02020603050405020304" pitchFamily="18" charset="0"/>
              </a:rPr>
              <a:t>The World Book Encyclopedia</a:t>
            </a:r>
            <a:r>
              <a:rPr lang="mn-MN" sz="2400" dirty="0">
                <a:solidFill>
                  <a:srgbClr val="002060"/>
                </a:solidFill>
                <a:latin typeface="Times New Roman" panose="02020603050405020304" pitchFamily="18" charset="0"/>
                <a:cs typeface="Times New Roman" panose="02020603050405020304" pitchFamily="18" charset="0"/>
              </a:rPr>
              <a:t>/</a:t>
            </a:r>
            <a:endParaRPr lang="en-US" sz="2400" dirty="0">
              <a:solidFill>
                <a:srgbClr val="002060"/>
              </a:solidFill>
              <a:latin typeface="Times New Roman" panose="02020603050405020304" pitchFamily="18" charset="0"/>
              <a:cs typeface="Times New Roman" panose="02020603050405020304" pitchFamily="18" charset="0"/>
            </a:endParaRPr>
          </a:p>
          <a:p>
            <a:pPr algn="just">
              <a:lnSpc>
                <a:spcPct val="110000"/>
              </a:lnSpc>
              <a:spcBef>
                <a:spcPts val="200"/>
              </a:spcBef>
            </a:pPr>
            <a:r>
              <a:rPr lang="mn-MN" sz="3200" b="1" dirty="0">
                <a:solidFill>
                  <a:srgbClr val="002060"/>
                </a:solidFill>
                <a:latin typeface="Times New Roman" panose="02020603050405020304" pitchFamily="18" charset="0"/>
                <a:cs typeface="Times New Roman" panose="02020603050405020304" pitchFamily="18" charset="0"/>
              </a:rPr>
              <a:t>Хөрөнгө оруулалт </a:t>
            </a:r>
            <a:r>
              <a:rPr lang="mn-MN" sz="3200" dirty="0">
                <a:solidFill>
                  <a:srgbClr val="002060"/>
                </a:solidFill>
                <a:latin typeface="Times New Roman" panose="02020603050405020304" pitchFamily="18" charset="0"/>
                <a:cs typeface="Times New Roman" panose="02020603050405020304" pitchFamily="18" charset="0"/>
              </a:rPr>
              <a:t>– аливаа бизнесийн гол хөдөлгөгч хүч. </a:t>
            </a:r>
            <a:r>
              <a:rPr lang="mn-MN" sz="2400" dirty="0">
                <a:solidFill>
                  <a:srgbClr val="002060"/>
                </a:solidFill>
                <a:latin typeface="Times New Roman" panose="02020603050405020304" pitchFamily="18" charset="0"/>
                <a:cs typeface="Times New Roman" panose="02020603050405020304" pitchFamily="18" charset="0"/>
              </a:rPr>
              <a:t>/Эрик Хелферт/</a:t>
            </a:r>
          </a:p>
          <a:p>
            <a:pPr algn="just">
              <a:lnSpc>
                <a:spcPct val="110000"/>
              </a:lnSpc>
              <a:spcBef>
                <a:spcPts val="200"/>
              </a:spcBef>
            </a:pPr>
            <a:r>
              <a:rPr lang="mn-MN" sz="3200" b="1" dirty="0">
                <a:solidFill>
                  <a:srgbClr val="002060"/>
                </a:solidFill>
                <a:latin typeface="Times New Roman" panose="02020603050405020304" pitchFamily="18" charset="0"/>
                <a:cs typeface="Times New Roman" panose="02020603050405020304" pitchFamily="18" charset="0"/>
              </a:rPr>
              <a:t>Хөрөнгө оруулалт </a:t>
            </a:r>
            <a:r>
              <a:rPr lang="mn-MN" sz="3200" dirty="0">
                <a:solidFill>
                  <a:srgbClr val="002060"/>
                </a:solidFill>
                <a:latin typeface="Times New Roman" panose="02020603050405020304" pitchFamily="18" charset="0"/>
                <a:cs typeface="Times New Roman" panose="02020603050405020304" pitchFamily="18" charset="0"/>
              </a:rPr>
              <a:t>– хөгжлийн түлхүүр мөн. Үйлдвэрлэл, үйлчилгээний үр ашгийг дээшлүүлж, хүнд хүрэх өгөөжийг нэмэгдүүлэх замаар ашиг орлогыг өсгөх зорилгоор урьдчилан оруулж байгаа хөрөнгийг </a:t>
            </a:r>
            <a:r>
              <a:rPr lang="mn-MN" sz="3200" b="1" dirty="0">
                <a:solidFill>
                  <a:srgbClr val="002060"/>
                </a:solidFill>
                <a:latin typeface="Times New Roman" panose="02020603050405020304" pitchFamily="18" charset="0"/>
                <a:cs typeface="Times New Roman" panose="02020603050405020304" pitchFamily="18" charset="0"/>
              </a:rPr>
              <a:t>хөрөнгө оруулалт </a:t>
            </a:r>
            <a:r>
              <a:rPr lang="mn-MN" sz="3200" dirty="0">
                <a:solidFill>
                  <a:srgbClr val="002060"/>
                </a:solidFill>
                <a:latin typeface="Times New Roman" panose="02020603050405020304" pitchFamily="18" charset="0"/>
                <a:cs typeface="Times New Roman" panose="02020603050405020304" pitchFamily="18" charset="0"/>
              </a:rPr>
              <a:t>гэнэ. Энэ нь мөнгөн хөрөнгөөс гадна хувь оролцоо, хувьцаа, бусад үнэт цаас, шинэ технологи, машин тоног төхөөрөмж, лиценз, зээл, эд хөрөнгө, эд хөрөнгө эзэмших эрх, оюутны үнэт зүйлс байж болно. </a:t>
            </a:r>
            <a:r>
              <a:rPr lang="mn-MN" sz="2400" dirty="0">
                <a:solidFill>
                  <a:srgbClr val="002060"/>
                </a:solidFill>
                <a:latin typeface="Times New Roman" panose="02020603050405020304" pitchFamily="18" charset="0"/>
                <a:cs typeface="Times New Roman" panose="02020603050405020304" pitchFamily="18" charset="0"/>
              </a:rPr>
              <a:t>/Ц.Аюурзана/</a:t>
            </a:r>
          </a:p>
        </p:txBody>
      </p:sp>
    </p:spTree>
    <p:extLst>
      <p:ext uri="{BB962C8B-B14F-4D97-AF65-F5344CB8AC3E}">
        <p14:creationId xmlns:p14="http://schemas.microsoft.com/office/powerpoint/2010/main" val="4227554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179882" y="146958"/>
            <a:ext cx="11887200" cy="534284"/>
          </a:xfrm>
        </p:spPr>
        <p:txBody>
          <a:bodyPr>
            <a:noAutofit/>
          </a:bodyPr>
          <a:lstStyle/>
          <a:p>
            <a:pPr algn="just"/>
            <a:r>
              <a:rPr lang="mn-MN" sz="4000" b="1" dirty="0">
                <a:solidFill>
                  <a:srgbClr val="002060"/>
                </a:solidFill>
                <a:latin typeface="Times New Roman" panose="02020603050405020304" pitchFamily="18" charset="0"/>
                <a:cs typeface="Times New Roman" panose="02020603050405020304" pitchFamily="18" charset="0"/>
              </a:rPr>
              <a:t>Хөрөнгө оруулалт</a:t>
            </a:r>
            <a:r>
              <a:rPr lang="en-US" sz="4000" b="1" dirty="0">
                <a:solidFill>
                  <a:srgbClr val="002060"/>
                </a:solidFill>
                <a:latin typeface="Times New Roman" panose="02020603050405020304" pitchFamily="18" charset="0"/>
                <a:cs typeface="Times New Roman" panose="02020603050405020304" pitchFamily="18" charset="0"/>
              </a:rPr>
              <a:t>ы</a:t>
            </a:r>
            <a:r>
              <a:rPr lang="mn-MN" sz="4000" b="1" dirty="0">
                <a:solidFill>
                  <a:srgbClr val="002060"/>
                </a:solidFill>
                <a:latin typeface="Times New Roman" panose="02020603050405020304" pitchFamily="18" charset="0"/>
                <a:cs typeface="Times New Roman" panose="02020603050405020304" pitchFamily="18" charset="0"/>
              </a:rPr>
              <a:t>н </a:t>
            </a:r>
            <a:r>
              <a:rPr lang="mn-MN" sz="4000" b="1" dirty="0">
                <a:solidFill>
                  <a:schemeClr val="accent2">
                    <a:lumMod val="75000"/>
                  </a:schemeClr>
                </a:solidFill>
                <a:latin typeface="Times New Roman" panose="02020603050405020304" pitchFamily="18" charset="0"/>
                <a:cs typeface="Times New Roman" panose="02020603050405020304" pitchFamily="18" charset="0"/>
              </a:rPr>
              <a:t>үүргүүд:</a:t>
            </a:r>
            <a:endParaRPr lang="en-US" sz="40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00902" y="681242"/>
            <a:ext cx="11887200" cy="5257799"/>
          </a:xfrm>
        </p:spPr>
        <p:txBody>
          <a:bodyPr>
            <a:noAutofit/>
          </a:bodyPr>
          <a:lstStyle/>
          <a:p>
            <a:pPr algn="just">
              <a:spcBef>
                <a:spcPts val="0"/>
              </a:spcBef>
            </a:pPr>
            <a:r>
              <a:rPr lang="mn-MN" sz="3200" dirty="0">
                <a:solidFill>
                  <a:srgbClr val="002060"/>
                </a:solidFill>
                <a:latin typeface="Times New Roman" panose="02020603050405020304" pitchFamily="18" charset="0"/>
                <a:cs typeface="Times New Roman" panose="02020603050405020304" pitchFamily="18" charset="0"/>
              </a:rPr>
              <a:t>Эдийн засгийн тодорхой үр дүнд хүрэхийн тулд оруулж байгаа хөрөнгө ба бусад зүйлс, түүнийг үр ашигтай болгох арга, хэрэгслүүд, үйл ажиллагааны цогцыг бүхэлд нь </a:t>
            </a:r>
            <a:r>
              <a:rPr lang="mn-MN" sz="3200" b="1" dirty="0">
                <a:solidFill>
                  <a:srgbClr val="002060"/>
                </a:solidFill>
                <a:latin typeface="Times New Roman" panose="02020603050405020304" pitchFamily="18" charset="0"/>
                <a:cs typeface="Times New Roman" panose="02020603050405020304" pitchFamily="18" charset="0"/>
              </a:rPr>
              <a:t>хөрөнгө оруулалтын харилцаа </a:t>
            </a:r>
            <a:r>
              <a:rPr lang="mn-MN" sz="3200" dirty="0">
                <a:solidFill>
                  <a:srgbClr val="002060"/>
                </a:solidFill>
                <a:latin typeface="Times New Roman" panose="02020603050405020304" pitchFamily="18" charset="0"/>
                <a:cs typeface="Times New Roman" panose="02020603050405020304" pitchFamily="18" charset="0"/>
              </a:rPr>
              <a:t>гэнэ. </a:t>
            </a:r>
          </a:p>
          <a:p>
            <a:pPr algn="just">
              <a:spcBef>
                <a:spcPts val="0"/>
              </a:spcBef>
            </a:pPr>
            <a:r>
              <a:rPr lang="mn-MN" sz="3200" dirty="0">
                <a:solidFill>
                  <a:srgbClr val="002060"/>
                </a:solidFill>
                <a:latin typeface="Times New Roman" panose="02020603050405020304" pitchFamily="18" charset="0"/>
                <a:cs typeface="Times New Roman" panose="02020603050405020304" pitchFamily="18" charset="0"/>
              </a:rPr>
              <a:t>Хөрөнгө оруулалт дараах үүргүүдтэй: </a:t>
            </a:r>
          </a:p>
          <a:p>
            <a:pPr marL="971550" lvl="1" indent="-514350" algn="just">
              <a:spcBef>
                <a:spcPts val="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Эдийн засгийн өсөлт</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ба чанарыг бий болгох</a:t>
            </a:r>
            <a:r>
              <a:rPr lang="en-US" sz="3200" dirty="0">
                <a:solidFill>
                  <a:srgbClr val="002060"/>
                </a:solidFill>
                <a:latin typeface="Times New Roman" panose="02020603050405020304" pitchFamily="18" charset="0"/>
                <a:cs typeface="Times New Roman" panose="02020603050405020304" pitchFamily="18" charset="0"/>
              </a:rPr>
              <a:t>;</a:t>
            </a:r>
            <a:endParaRPr lang="mn-MN" sz="3200" dirty="0">
              <a:solidFill>
                <a:srgbClr val="002060"/>
              </a:solidFill>
              <a:latin typeface="Times New Roman" panose="02020603050405020304" pitchFamily="18" charset="0"/>
              <a:cs typeface="Times New Roman" panose="02020603050405020304" pitchFamily="18" charset="0"/>
            </a:endParaRPr>
          </a:p>
          <a:p>
            <a:pPr marL="971550" lvl="1" indent="-514350" algn="just">
              <a:spcBef>
                <a:spcPts val="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Эдийн засгийн тэнцвэрт харьцааг тогтоох</a:t>
            </a:r>
            <a:r>
              <a:rPr lang="en-US" sz="3200" dirty="0">
                <a:solidFill>
                  <a:srgbClr val="002060"/>
                </a:solidFill>
                <a:latin typeface="Times New Roman" panose="02020603050405020304" pitchFamily="18" charset="0"/>
                <a:cs typeface="Times New Roman" panose="02020603050405020304" pitchFamily="18" charset="0"/>
              </a:rPr>
              <a:t>;</a:t>
            </a:r>
            <a:endParaRPr lang="mn-MN" sz="3200" dirty="0">
              <a:solidFill>
                <a:srgbClr val="002060"/>
              </a:solidFill>
              <a:latin typeface="Times New Roman" panose="02020603050405020304" pitchFamily="18" charset="0"/>
              <a:cs typeface="Times New Roman" panose="02020603050405020304" pitchFamily="18" charset="0"/>
            </a:endParaRPr>
          </a:p>
          <a:p>
            <a:pPr marL="971550" lvl="1" indent="-514350" algn="just">
              <a:spcBef>
                <a:spcPts val="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Инновацийг хэрэгжүүлэх</a:t>
            </a:r>
            <a:r>
              <a:rPr lang="en-US" sz="3200" dirty="0">
                <a:solidFill>
                  <a:srgbClr val="002060"/>
                </a:solidFill>
                <a:latin typeface="Times New Roman" panose="02020603050405020304" pitchFamily="18" charset="0"/>
                <a:cs typeface="Times New Roman" panose="02020603050405020304" pitchFamily="18" charset="0"/>
              </a:rPr>
              <a:t>;</a:t>
            </a:r>
          </a:p>
          <a:p>
            <a:pPr marL="971550" lvl="1" indent="-514350" algn="just">
              <a:spcBef>
                <a:spcPts val="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Эдийн засгийг идэвхжүүлэх</a:t>
            </a:r>
            <a:r>
              <a:rPr lang="en-US" sz="3200" dirty="0">
                <a:solidFill>
                  <a:srgbClr val="002060"/>
                </a:solidFill>
                <a:latin typeface="Times New Roman" panose="02020603050405020304" pitchFamily="18" charset="0"/>
                <a:cs typeface="Times New Roman" panose="02020603050405020304" pitchFamily="18" charset="0"/>
              </a:rPr>
              <a:t>;</a:t>
            </a:r>
          </a:p>
          <a:p>
            <a:pPr marL="971550" lvl="1" indent="-514350" algn="just">
              <a:spcBef>
                <a:spcPts val="0"/>
              </a:spcBef>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Эдийн засгийн үр ашгийг хангах. </a:t>
            </a:r>
          </a:p>
          <a:p>
            <a:pPr marL="236538" lvl="1" indent="-236538" algn="just">
              <a:spcBef>
                <a:spcPts val="0"/>
              </a:spcBef>
            </a:pP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Хөрөнгө</a:t>
            </a:r>
            <a:r>
              <a:rPr lang="en-US" sz="3200" b="1"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оруулалт</a:t>
            </a:r>
            <a:r>
              <a:rPr lang="en-US" sz="3200" b="1"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бол</a:t>
            </a:r>
            <a:r>
              <a:rPr lang="en-US" sz="3200"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үндэсний</a:t>
            </a:r>
            <a:r>
              <a:rPr lang="en-US" sz="3200"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эдийн</a:t>
            </a:r>
            <a:r>
              <a:rPr lang="en-US" sz="3200"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засгийн</a:t>
            </a:r>
            <a:r>
              <a:rPr lang="en-US" sz="3200"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бодлогын</a:t>
            </a:r>
            <a:r>
              <a:rPr lang="en-US" sz="3200"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spc="-5"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стратегийн</a:t>
            </a:r>
            <a:r>
              <a:rPr lang="en-US" sz="3200"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хүрээнд</a:t>
            </a:r>
            <a:r>
              <a:rPr lang="en-US" sz="32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хэрэгжих</a:t>
            </a:r>
            <a:r>
              <a:rPr lang="en-US" sz="32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ёстой</a:t>
            </a:r>
            <a:r>
              <a:rPr lang="en-US" sz="32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улс</a:t>
            </a:r>
            <a:r>
              <a:rPr lang="en-US" sz="32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орны</a:t>
            </a:r>
            <a:r>
              <a:rPr lang="en-US" sz="32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нийгэм</a:t>
            </a:r>
            <a:r>
              <a:rPr lang="en-US" sz="32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эдийн</a:t>
            </a:r>
            <a:r>
              <a:rPr lang="en-US" sz="32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засгийн</a:t>
            </a:r>
            <a:r>
              <a:rPr lang="en-US" sz="3200" b="1"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нэн</a:t>
            </a:r>
            <a:r>
              <a:rPr lang="en-US" sz="3200" b="1"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тэргүүн</a:t>
            </a:r>
            <a:r>
              <a:rPr lang="en-US" sz="3200" b="1"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зэргийн</a:t>
            </a:r>
            <a:r>
              <a:rPr lang="en-US" sz="3200" b="1"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асуудал</a:t>
            </a:r>
            <a:r>
              <a:rPr lang="en-US" sz="3200" b="1" spc="5"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юм</a:t>
            </a:r>
            <a:r>
              <a:rPr lang="en-US" sz="32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3200" dirty="0">
              <a:solidFill>
                <a:srgbClr val="002060"/>
              </a:solidFill>
              <a:latin typeface="Times New Roman" panose="02020603050405020304" pitchFamily="18" charset="0"/>
              <a:cs typeface="Times New Roman" panose="02020603050405020304" pitchFamily="18" charset="0"/>
            </a:endParaRPr>
          </a:p>
          <a:p>
            <a:pPr algn="just">
              <a:spcBef>
                <a:spcPts val="0"/>
              </a:spcBef>
            </a:pPr>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9719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465627" y="204357"/>
            <a:ext cx="11313085" cy="418652"/>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Хөрөнгө оруулалт</a:t>
            </a:r>
            <a:r>
              <a:rPr lang="en-US" sz="3600" b="1" dirty="0">
                <a:solidFill>
                  <a:srgbClr val="002060"/>
                </a:solidFill>
                <a:latin typeface="Times New Roman" panose="02020603050405020304" pitchFamily="18" charset="0"/>
                <a:cs typeface="Times New Roman" panose="02020603050405020304" pitchFamily="18" charset="0"/>
              </a:rPr>
              <a:t>=</a:t>
            </a:r>
            <a:r>
              <a:rPr lang="mn-MN" sz="3600" b="1" dirty="0">
                <a:solidFill>
                  <a:srgbClr val="FF0000"/>
                </a:solidFill>
                <a:latin typeface="Times New Roman" panose="02020603050405020304" pitchFamily="18" charset="0"/>
                <a:cs typeface="Times New Roman" panose="02020603050405020304" pitchFamily="18" charset="0"/>
              </a:rPr>
              <a:t>ХО</a:t>
            </a:r>
            <a:r>
              <a:rPr lang="en-US" sz="3600" dirty="0">
                <a:solidFill>
                  <a:srgbClr val="FF0000"/>
                </a:solidFill>
                <a:latin typeface="Times New Roman" panose="02020603050405020304" pitchFamily="18" charset="0"/>
                <a:cs typeface="Times New Roman" panose="02020603050405020304" pitchFamily="18" charset="0"/>
              </a:rPr>
              <a:t>: </a:t>
            </a:r>
            <a:r>
              <a:rPr lang="mn-MN" sz="3200" b="1" dirty="0">
                <a:solidFill>
                  <a:schemeClr val="accent2">
                    <a:lumMod val="75000"/>
                  </a:schemeClr>
                </a:solidFill>
                <a:latin typeface="Times New Roman" panose="02020603050405020304" pitchFamily="18" charset="0"/>
                <a:cs typeface="Times New Roman" panose="02020603050405020304" pitchFamily="18" charset="0"/>
              </a:rPr>
              <a:t>мөн чанар, ач холбогдол</a:t>
            </a:r>
            <a:endParaRPr lang="en-US" sz="36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Textbox 2">
            <a:extLst>
              <a:ext uri="{FF2B5EF4-FFF2-40B4-BE49-F238E27FC236}">
                <a16:creationId xmlns:a16="http://schemas.microsoft.com/office/drawing/2014/main" id="{DEACD4A7-FA9A-4F94-9683-3D441852F20F}"/>
              </a:ext>
            </a:extLst>
          </p:cNvPr>
          <p:cNvSpPr txBox="1">
            <a:spLocks/>
          </p:cNvSpPr>
          <p:nvPr/>
        </p:nvSpPr>
        <p:spPr>
          <a:xfrm>
            <a:off x="5309525" y="692820"/>
            <a:ext cx="3723284" cy="1871476"/>
          </a:xfrm>
          <a:prstGeom prst="rect">
            <a:avLst/>
          </a:prstGeom>
          <a:solidFill>
            <a:srgbClr val="FFFF99"/>
          </a:solidFill>
        </p:spPr>
        <p:txBody>
          <a:bodyPr wrap="square" lIns="0" tIns="0" rIns="0" bIns="0" rtlCol="0">
            <a:noAutofit/>
          </a:bodyPr>
          <a:lstStyle/>
          <a:p>
            <a:pPr algn="ctr">
              <a:spcBef>
                <a:spcPts val="5"/>
              </a:spcBef>
            </a:pPr>
            <a:r>
              <a:rPr lang="kk-KZ" sz="2800" dirty="0">
                <a:solidFill>
                  <a:srgbClr val="000000"/>
                </a:solidFill>
                <a:effectLst/>
                <a:latin typeface="Times New Roman" panose="02020603050405020304" pitchFamily="18" charset="0"/>
                <a:ea typeface="Times New Roman" panose="02020603050405020304" pitchFamily="18" charset="0"/>
              </a:rPr>
              <a:t> </a:t>
            </a:r>
            <a:r>
              <a:rPr lang="kk-KZ" sz="3200" b="1" dirty="0">
                <a:solidFill>
                  <a:srgbClr val="FF0000"/>
                </a:solidFill>
                <a:effectLst/>
                <a:latin typeface="Times New Roman" panose="02020603050405020304" pitchFamily="18" charset="0"/>
                <a:ea typeface="Times New Roman" panose="02020603050405020304" pitchFamily="18" charset="0"/>
              </a:rPr>
              <a:t>Хөрөнгө оруулалт</a:t>
            </a:r>
            <a:r>
              <a:rPr lang="kk-KZ" sz="3200" dirty="0">
                <a:solidFill>
                  <a:srgbClr val="FF0000"/>
                </a:solidFill>
                <a:effectLst/>
                <a:latin typeface="Times New Roman" panose="02020603050405020304" pitchFamily="18" charset="0"/>
                <a:ea typeface="Times New Roman" panose="02020603050405020304" pitchFamily="18" charset="0"/>
              </a:rPr>
              <a:t>:</a:t>
            </a:r>
            <a:r>
              <a:rPr lang="mn-MN" sz="3200" dirty="0">
                <a:solidFill>
                  <a:srgbClr val="FF0000"/>
                </a:solidFill>
                <a:effectLst/>
                <a:latin typeface="Times New Roman" panose="02020603050405020304" pitchFamily="18" charset="0"/>
                <a:ea typeface="Times New Roman" panose="02020603050405020304" pitchFamily="18" charset="0"/>
              </a:rPr>
              <a:t> </a:t>
            </a:r>
            <a:r>
              <a:rPr lang="kk-KZ" sz="3200" dirty="0">
                <a:solidFill>
                  <a:srgbClr val="FF0000"/>
                </a:solidFill>
                <a:effectLst/>
                <a:latin typeface="Times New Roman" panose="02020603050405020304" pitchFamily="18" charset="0"/>
                <a:ea typeface="Times New Roman" panose="02020603050405020304" pitchFamily="18" charset="0"/>
              </a:rPr>
              <a:t> </a:t>
            </a:r>
            <a:r>
              <a:rPr lang="kk-KZ" sz="2800" i="1" dirty="0">
                <a:solidFill>
                  <a:srgbClr val="000000"/>
                </a:solidFill>
                <a:effectLst/>
                <a:latin typeface="Times New Roman" panose="02020603050405020304" pitchFamily="18" charset="0"/>
                <a:ea typeface="Times New Roman" panose="02020603050405020304" pitchFamily="18" charset="0"/>
              </a:rPr>
              <a:t>Ирээдүйд</a:t>
            </a:r>
            <a:r>
              <a:rPr lang="kk-KZ" sz="2800" i="1" spc="400" dirty="0">
                <a:solidFill>
                  <a:srgbClr val="000000"/>
                </a:solidFill>
                <a:effectLst/>
                <a:latin typeface="Times New Roman" panose="02020603050405020304" pitchFamily="18" charset="0"/>
                <a:ea typeface="Times New Roman" panose="02020603050405020304" pitchFamily="18" charset="0"/>
              </a:rPr>
              <a:t> </a:t>
            </a:r>
            <a:r>
              <a:rPr lang="kk-KZ" sz="2800" i="1" dirty="0">
                <a:solidFill>
                  <a:srgbClr val="000000"/>
                </a:solidFill>
                <a:effectLst/>
                <a:latin typeface="Times New Roman" panose="02020603050405020304" pitchFamily="18" charset="0"/>
                <a:ea typeface="Times New Roman" panose="02020603050405020304" pitchFamily="18" charset="0"/>
              </a:rPr>
              <a:t>орлого, ашиг олох зорилгоор өнөөдөр зарцуулж буй мөнгө.</a:t>
            </a:r>
            <a:endParaRPr lang="en-US" sz="3200" dirty="0">
              <a:effectLst/>
              <a:latin typeface="Times New Roman" panose="02020603050405020304" pitchFamily="18" charset="0"/>
              <a:ea typeface="Times New Roman" panose="02020603050405020304" pitchFamily="18" charset="0"/>
            </a:endParaRPr>
          </a:p>
        </p:txBody>
      </p:sp>
      <p:sp>
        <p:nvSpPr>
          <p:cNvPr id="5" name="Content Placeholder 2">
            <a:extLst>
              <a:ext uri="{FF2B5EF4-FFF2-40B4-BE49-F238E27FC236}">
                <a16:creationId xmlns:a16="http://schemas.microsoft.com/office/drawing/2014/main" id="{995C8652-8A78-43CD-9DCF-FA51E1CF9E1F}"/>
              </a:ext>
            </a:extLst>
          </p:cNvPr>
          <p:cNvSpPr txBox="1">
            <a:spLocks/>
          </p:cNvSpPr>
          <p:nvPr/>
        </p:nvSpPr>
        <p:spPr>
          <a:xfrm>
            <a:off x="291797" y="620544"/>
            <a:ext cx="4988700" cy="23829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None/>
            </a:pPr>
            <a:r>
              <a:rPr lang="mn-MN" b="1" dirty="0">
                <a:solidFill>
                  <a:srgbClr val="002060"/>
                </a:solidFill>
                <a:latin typeface="Times New Roman" panose="02020603050405020304" pitchFamily="18" charset="0"/>
                <a:cs typeface="Times New Roman" panose="02020603050405020304" pitchFamily="18" charset="0"/>
              </a:rPr>
              <a:t>ХО-ын</a:t>
            </a:r>
            <a:r>
              <a:rPr lang="mn-MN" dirty="0">
                <a:solidFill>
                  <a:srgbClr val="002060"/>
                </a:solidFill>
                <a:latin typeface="Times New Roman" panose="02020603050405020304" pitchFamily="18" charset="0"/>
                <a:cs typeface="Times New Roman" panose="02020603050405020304" pitchFamily="18" charset="0"/>
              </a:rPr>
              <a:t> </a:t>
            </a:r>
            <a:r>
              <a:rPr lang="mn-MN" b="1" dirty="0">
                <a:solidFill>
                  <a:srgbClr val="002060"/>
                </a:solidFill>
                <a:latin typeface="Times New Roman" panose="02020603050405020304" pitchFamily="18" charset="0"/>
                <a:cs typeface="Times New Roman" panose="02020603050405020304" pitchFamily="18" charset="0"/>
              </a:rPr>
              <a:t>ерөнхий зорилго нь</a:t>
            </a:r>
            <a:r>
              <a:rPr lang="mn-MN" sz="2200" b="1"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мөнгөөр мөнгө олох явдал. </a:t>
            </a:r>
            <a:r>
              <a:rPr lang="mn-MN" sz="2400" b="1" dirty="0">
                <a:solidFill>
                  <a:srgbClr val="002060"/>
                </a:solidFill>
                <a:latin typeface="Times New Roman" panose="02020603050405020304" pitchFamily="18" charset="0"/>
                <a:cs typeface="Times New Roman" panose="02020603050405020304" pitchFamily="18" charset="0"/>
              </a:rPr>
              <a:t>Хөрөнгө оруулалтын ач холбогдол нь</a:t>
            </a:r>
            <a:r>
              <a:rPr lang="mn-MN" sz="2400" dirty="0">
                <a:solidFill>
                  <a:srgbClr val="002060"/>
                </a:solidFill>
                <a:latin typeface="Times New Roman" panose="02020603050405020304" pitchFamily="18" charset="0"/>
                <a:cs typeface="Times New Roman" panose="02020603050405020304" pitchFamily="18" charset="0"/>
              </a:rPr>
              <a:t> хөрөнгө оруулагч өөрийн хөрөнгийг өсгөөд зогсохгүй улс орны эдийн засгийн өсөлтийг дэмжих хэрэгсэл болдогт оршино.</a:t>
            </a:r>
            <a:endParaRPr lang="mn-MN" sz="2400" b="1" dirty="0">
              <a:solidFill>
                <a:srgbClr val="002060"/>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CD263936-63CF-4481-855B-F1FFC93FF79C}"/>
              </a:ext>
            </a:extLst>
          </p:cNvPr>
          <p:cNvSpPr txBox="1">
            <a:spLocks/>
          </p:cNvSpPr>
          <p:nvPr/>
        </p:nvSpPr>
        <p:spPr>
          <a:xfrm>
            <a:off x="239457" y="3110130"/>
            <a:ext cx="6640315" cy="33306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None/>
            </a:pPr>
            <a:r>
              <a:rPr lang="mn-MN" b="1" dirty="0">
                <a:solidFill>
                  <a:srgbClr val="0000FF"/>
                </a:solidFill>
                <a:latin typeface="Times New Roman" panose="02020603050405020304" pitchFamily="18" charset="0"/>
                <a:cs typeface="Times New Roman" panose="02020603050405020304" pitchFamily="18" charset="0"/>
              </a:rPr>
              <a:t>Эдийн засгийн хувьд </a:t>
            </a:r>
            <a:r>
              <a:rPr lang="mn-MN" dirty="0">
                <a:solidFill>
                  <a:srgbClr val="002060"/>
                </a:solidFill>
                <a:latin typeface="Times New Roman" panose="02020603050405020304" pitchFamily="18" charset="0"/>
                <a:cs typeface="Times New Roman" panose="02020603050405020304" pitchFamily="18" charset="0"/>
              </a:rPr>
              <a:t>өнөөдөр хэрэглэж чадахгүй боловч ирээдүйд баялаг бүтээх барааны худалдан авалт юм. Жишээ нь: Бараа/бүтээгдэхүүний үйлдвэрлэлд хөрөнгө оруулах, машин тоног төхөөрөмж худалдан авах, Их сургууль/коллежид сурахад хөрөнгө оруулах нь эдийн засгийн хөрөнгө оруулалт юм. </a:t>
            </a:r>
          </a:p>
        </p:txBody>
      </p:sp>
      <p:sp>
        <p:nvSpPr>
          <p:cNvPr id="8" name="Content Placeholder 2">
            <a:extLst>
              <a:ext uri="{FF2B5EF4-FFF2-40B4-BE49-F238E27FC236}">
                <a16:creationId xmlns:a16="http://schemas.microsoft.com/office/drawing/2014/main" id="{ABEE56E0-C334-483A-8B25-EA6F504632D8}"/>
              </a:ext>
            </a:extLst>
          </p:cNvPr>
          <p:cNvSpPr txBox="1">
            <a:spLocks/>
          </p:cNvSpPr>
          <p:nvPr/>
        </p:nvSpPr>
        <p:spPr>
          <a:xfrm>
            <a:off x="7053602" y="3110129"/>
            <a:ext cx="4699957" cy="33306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None/>
            </a:pPr>
            <a:r>
              <a:rPr lang="mn-MN" b="1" dirty="0">
                <a:solidFill>
                  <a:srgbClr val="0000FF"/>
                </a:solidFill>
                <a:latin typeface="Times New Roman" panose="02020603050405020304" pitchFamily="18" charset="0"/>
                <a:cs typeface="Times New Roman" panose="02020603050405020304" pitchFamily="18" charset="0"/>
              </a:rPr>
              <a:t>Санхүүгийн хувьд </a:t>
            </a:r>
            <a:r>
              <a:rPr lang="mn-MN" dirty="0">
                <a:solidFill>
                  <a:srgbClr val="002060"/>
                </a:solidFill>
                <a:latin typeface="Times New Roman" panose="02020603050405020304" pitchFamily="18" charset="0"/>
                <a:cs typeface="Times New Roman" panose="02020603050405020304" pitchFamily="18" charset="0"/>
              </a:rPr>
              <a:t>ирээдүйд орлого авчрах, эсхүл илүү өндөр үнээр зарагдах магдлалтай авсан хөрөнгө юм. Бонд, хувьцаа, үл хөдлөх хөрөнгө нь санхүүгийн хөрөнгө оруулалт юм. </a:t>
            </a:r>
          </a:p>
        </p:txBody>
      </p:sp>
      <p:pic>
        <p:nvPicPr>
          <p:cNvPr id="17" name="Picture 16">
            <a:extLst>
              <a:ext uri="{FF2B5EF4-FFF2-40B4-BE49-F238E27FC236}">
                <a16:creationId xmlns:a16="http://schemas.microsoft.com/office/drawing/2014/main" id="{E7CAA191-B5B9-4B83-A700-EBB57982E3C4}"/>
              </a:ext>
            </a:extLst>
          </p:cNvPr>
          <p:cNvPicPr>
            <a:picLocks noChangeAspect="1"/>
          </p:cNvPicPr>
          <p:nvPr/>
        </p:nvPicPr>
        <p:blipFill rotWithShape="1">
          <a:blip r:embed="rId3">
            <a:extLst>
              <a:ext uri="{28A0092B-C50C-407E-A947-70E740481C1C}">
                <a14:useLocalDpi xmlns:a14="http://schemas.microsoft.com/office/drawing/2010/main" val="0"/>
              </a:ext>
            </a:extLst>
          </a:blip>
          <a:srcRect t="12797"/>
          <a:stretch/>
        </p:blipFill>
        <p:spPr>
          <a:xfrm>
            <a:off x="8958943" y="530879"/>
            <a:ext cx="2993600" cy="2472601"/>
          </a:xfrm>
          <a:prstGeom prst="rect">
            <a:avLst/>
          </a:prstGeom>
        </p:spPr>
      </p:pic>
      <p:sp>
        <p:nvSpPr>
          <p:cNvPr id="19" name="Oval 18">
            <a:extLst>
              <a:ext uri="{FF2B5EF4-FFF2-40B4-BE49-F238E27FC236}">
                <a16:creationId xmlns:a16="http://schemas.microsoft.com/office/drawing/2014/main" id="{A355BB61-21F5-42BD-98DC-1485924A7BEA}"/>
              </a:ext>
            </a:extLst>
          </p:cNvPr>
          <p:cNvSpPr/>
          <p:nvPr/>
        </p:nvSpPr>
        <p:spPr>
          <a:xfrm>
            <a:off x="9061837" y="1102168"/>
            <a:ext cx="1647491" cy="1097280"/>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mn-MN" sz="6000" b="1" dirty="0">
                <a:solidFill>
                  <a:srgbClr val="FF0000"/>
                </a:solidFill>
                <a:latin typeface="Times New Roman" panose="02020603050405020304" pitchFamily="18" charset="0"/>
                <a:cs typeface="Times New Roman" panose="02020603050405020304" pitchFamily="18" charset="0"/>
              </a:rPr>
              <a:t>ХО</a:t>
            </a:r>
            <a:endParaRPr lang="en-US" sz="6000" b="1" dirty="0">
              <a:solidFill>
                <a:srgbClr val="FF0000"/>
              </a:solidFill>
              <a:latin typeface="Times New Roman" panose="02020603050405020304" pitchFamily="18" charset="0"/>
              <a:cs typeface="Times New Roman" panose="02020603050405020304" pitchFamily="18" charset="0"/>
            </a:endParaRPr>
          </a:p>
        </p:txBody>
      </p:sp>
      <p:sp>
        <p:nvSpPr>
          <p:cNvPr id="9" name="Textbox 2">
            <a:extLst>
              <a:ext uri="{FF2B5EF4-FFF2-40B4-BE49-F238E27FC236}">
                <a16:creationId xmlns:a16="http://schemas.microsoft.com/office/drawing/2014/main" id="{5E2C3EC5-8BE8-4C77-83FC-188249966830}"/>
              </a:ext>
            </a:extLst>
          </p:cNvPr>
          <p:cNvSpPr txBox="1">
            <a:spLocks/>
          </p:cNvSpPr>
          <p:nvPr/>
        </p:nvSpPr>
        <p:spPr>
          <a:xfrm>
            <a:off x="5272592" y="2609361"/>
            <a:ext cx="3723284" cy="500768"/>
          </a:xfrm>
          <a:prstGeom prst="rect">
            <a:avLst/>
          </a:prstGeom>
          <a:solidFill>
            <a:srgbClr val="FFFF99"/>
          </a:solidFill>
        </p:spPr>
        <p:txBody>
          <a:bodyPr wrap="square" lIns="0" tIns="0" rIns="0" bIns="0" rtlCol="0">
            <a:noAutofit/>
          </a:bodyPr>
          <a:lstStyle/>
          <a:p>
            <a:pPr algn="ctr">
              <a:spcBef>
                <a:spcPts val="5"/>
              </a:spcBef>
            </a:pPr>
            <a:r>
              <a:rPr lang="kk-KZ" sz="2800" dirty="0">
                <a:solidFill>
                  <a:srgbClr val="000000"/>
                </a:solidFill>
                <a:effectLst/>
                <a:latin typeface="Times New Roman" panose="02020603050405020304" pitchFamily="18" charset="0"/>
                <a:ea typeface="Times New Roman" panose="02020603050405020304" pitchFamily="18" charset="0"/>
              </a:rPr>
              <a:t> </a:t>
            </a:r>
            <a:r>
              <a:rPr lang="kk-KZ" sz="3200" b="1" dirty="0">
                <a:solidFill>
                  <a:srgbClr val="FF0000"/>
                </a:solidFill>
                <a:effectLst/>
                <a:latin typeface="Times New Roman" panose="02020603050405020304" pitchFamily="18" charset="0"/>
                <a:ea typeface="Times New Roman" panose="02020603050405020304" pitchFamily="18" charset="0"/>
              </a:rPr>
              <a:t>Хөрөнгө оруулалт</a:t>
            </a:r>
            <a:r>
              <a:rPr lang="kk-KZ" sz="3200" dirty="0">
                <a:solidFill>
                  <a:srgbClr val="FF0000"/>
                </a:solidFill>
                <a:effectLst/>
                <a:latin typeface="Times New Roman" panose="02020603050405020304" pitchFamily="18" charset="0"/>
                <a:ea typeface="Times New Roman" panose="02020603050405020304" pitchFamily="18" charset="0"/>
              </a:rPr>
              <a:t>:</a:t>
            </a:r>
            <a:endParaRPr lang="en-US"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26945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204357"/>
            <a:ext cx="11484244" cy="418652"/>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Хөрөнгө оруулалт</a:t>
            </a:r>
            <a:r>
              <a:rPr lang="en-US" b="1" dirty="0">
                <a:solidFill>
                  <a:srgbClr val="002060"/>
                </a:solidFill>
                <a:latin typeface="Times New Roman" panose="02020603050405020304" pitchFamily="18" charset="0"/>
                <a:cs typeface="Times New Roman" panose="02020603050405020304" pitchFamily="18" charset="0"/>
              </a:rPr>
              <a:t>: </a:t>
            </a:r>
            <a:r>
              <a:rPr lang="mn-MN" b="1" dirty="0">
                <a:solidFill>
                  <a:schemeClr val="accent2">
                    <a:lumMod val="75000"/>
                  </a:schemeClr>
                </a:solidFill>
                <a:latin typeface="Times New Roman" panose="02020603050405020304" pitchFamily="18" charset="0"/>
                <a:cs typeface="Times New Roman" panose="02020603050405020304" pitchFamily="18" charset="0"/>
              </a:rPr>
              <a:t>мөн чанар, ач холбогдол</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CD263936-63CF-4481-855B-F1FFC93FF79C}"/>
              </a:ext>
            </a:extLst>
          </p:cNvPr>
          <p:cNvSpPr txBox="1">
            <a:spLocks/>
          </p:cNvSpPr>
          <p:nvPr/>
        </p:nvSpPr>
        <p:spPr>
          <a:xfrm>
            <a:off x="294468" y="792266"/>
            <a:ext cx="11484243" cy="533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3820" marR="158750" indent="-635" algn="just">
              <a:lnSpc>
                <a:spcPct val="95000"/>
              </a:lnSpc>
              <a:spcBef>
                <a:spcPts val="0"/>
              </a:spcBef>
            </a:pPr>
            <a:r>
              <a:rPr lang="kk-KZ" sz="2400" dirty="0">
                <a:effectLst/>
                <a:latin typeface="Times New Roman" panose="02020603050405020304" pitchFamily="18" charset="0"/>
                <a:ea typeface="Times New Roman" panose="02020603050405020304" pitchFamily="18" charset="0"/>
              </a:rPr>
              <a:t>Дараах асуултууд </a:t>
            </a:r>
            <a:r>
              <a:rPr lang="kk-KZ" sz="2400" b="1" dirty="0">
                <a:solidFill>
                  <a:srgbClr val="0000FF"/>
                </a:solidFill>
                <a:effectLst/>
                <a:latin typeface="Times New Roman" panose="02020603050405020304" pitchFamily="18" charset="0"/>
                <a:ea typeface="Times New Roman" panose="02020603050405020304" pitchFamily="18" charset="0"/>
              </a:rPr>
              <a:t>хөрөнгө оруулалтын зорилгоо үндэслэлтэй тодорхойлоход</a:t>
            </a:r>
            <a:r>
              <a:rPr lang="kk-KZ" sz="2400" b="1" dirty="0">
                <a:effectLst/>
                <a:latin typeface="Times New Roman" panose="02020603050405020304" pitchFamily="18" charset="0"/>
                <a:ea typeface="Times New Roman" panose="02020603050405020304" pitchFamily="18" charset="0"/>
              </a:rPr>
              <a:t> </a:t>
            </a:r>
            <a:r>
              <a:rPr lang="kk-KZ" sz="2400" dirty="0">
                <a:solidFill>
                  <a:srgbClr val="0000FF"/>
                </a:solidFill>
                <a:effectLst/>
                <a:latin typeface="Times New Roman" panose="02020603050405020304" pitchFamily="18" charset="0"/>
                <a:ea typeface="Times New Roman" panose="02020603050405020304" pitchFamily="18" charset="0"/>
              </a:rPr>
              <a:t>тусална</a:t>
            </a:r>
            <a:r>
              <a:rPr lang="kk-KZ" sz="2400" dirty="0">
                <a:effectLst/>
                <a:latin typeface="Times New Roman" panose="02020603050405020304" pitchFamily="18" charset="0"/>
                <a:ea typeface="Times New Roman" panose="02020603050405020304" pitchFamily="18" charset="0"/>
              </a:rPr>
              <a:t>. Үүнд:</a:t>
            </a:r>
            <a:endParaRPr lang="en-US" sz="2400" dirty="0">
              <a:effectLst/>
              <a:latin typeface="Times New Roman" panose="02020603050405020304" pitchFamily="18" charset="0"/>
              <a:ea typeface="Times New Roman" panose="02020603050405020304" pitchFamily="18" charset="0"/>
            </a:endParaRPr>
          </a:p>
          <a:p>
            <a:pPr marL="682625" lvl="2" indent="-276225" algn="just">
              <a:lnSpc>
                <a:spcPct val="95000"/>
              </a:lnSpc>
              <a:spcBef>
                <a:spcPts val="0"/>
              </a:spcBef>
              <a:buClr>
                <a:srgbClr val="231F20"/>
              </a:buClr>
              <a:buSzPts val="1050"/>
              <a:buFont typeface="Symbol" panose="05050102010706020507" pitchFamily="18" charset="2"/>
              <a:buChar char=""/>
            </a:pPr>
            <a:r>
              <a:rPr lang="kk-KZ" sz="2400" spc="0" dirty="0">
                <a:effectLst/>
                <a:latin typeface="Times New Roman" panose="02020603050405020304" pitchFamily="18" charset="0"/>
                <a:ea typeface="Symbol" panose="05050102010706020507" pitchFamily="18" charset="2"/>
                <a:cs typeface="Symbol" panose="05050102010706020507" pitchFamily="18" charset="2"/>
              </a:rPr>
              <a:t>Та</a:t>
            </a:r>
            <a:r>
              <a:rPr lang="kk-KZ" sz="2400" spc="15"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мөнгөө</a:t>
            </a:r>
            <a:r>
              <a:rPr lang="kk-KZ" sz="2400" spc="1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юунд</a:t>
            </a:r>
            <a:r>
              <a:rPr lang="kk-KZ" sz="2400" spc="15"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зориулж</a:t>
            </a:r>
            <a:r>
              <a:rPr lang="kk-KZ" sz="2400" spc="15"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ашиглах</a:t>
            </a:r>
            <a:r>
              <a:rPr lang="kk-KZ" sz="2400" spc="15" dirty="0">
                <a:effectLst/>
                <a:latin typeface="Times New Roman" panose="02020603050405020304" pitchFamily="18" charset="0"/>
                <a:ea typeface="Symbol" panose="05050102010706020507" pitchFamily="18" charset="2"/>
                <a:cs typeface="Symbol" panose="05050102010706020507" pitchFamily="18" charset="2"/>
              </a:rPr>
              <a:t> </a:t>
            </a:r>
            <a:r>
              <a:rPr lang="kk-KZ" sz="2400" spc="-25" dirty="0">
                <a:effectLst/>
                <a:latin typeface="Times New Roman" panose="02020603050405020304" pitchFamily="18" charset="0"/>
                <a:ea typeface="Symbol" panose="05050102010706020507" pitchFamily="18" charset="2"/>
                <a:cs typeface="Symbol" panose="05050102010706020507" pitchFamily="18" charset="2"/>
              </a:rPr>
              <a:t>вэ?</a:t>
            </a:r>
            <a:endParaRPr lang="en-US" sz="2800" spc="0" dirty="0">
              <a:effectLst/>
              <a:latin typeface="Times New Roman" panose="02020603050405020304" pitchFamily="18" charset="0"/>
              <a:ea typeface="Symbol" panose="05050102010706020507" pitchFamily="18" charset="2"/>
              <a:cs typeface="Symbol" panose="05050102010706020507" pitchFamily="18" charset="2"/>
            </a:endParaRPr>
          </a:p>
          <a:p>
            <a:pPr marL="682625" marR="160655" lvl="2" indent="-276225" algn="just">
              <a:lnSpc>
                <a:spcPct val="95000"/>
              </a:lnSpc>
              <a:spcBef>
                <a:spcPts val="0"/>
              </a:spcBef>
              <a:buClr>
                <a:srgbClr val="231F20"/>
              </a:buClr>
              <a:buSzPts val="1050"/>
              <a:buFont typeface="Symbol" panose="05050102010706020507" pitchFamily="18" charset="2"/>
              <a:buChar char=""/>
            </a:pPr>
            <a:r>
              <a:rPr lang="kk-KZ" sz="2400" spc="0" dirty="0">
                <a:effectLst/>
                <a:latin typeface="Times New Roman" panose="02020603050405020304" pitchFamily="18" charset="0"/>
                <a:ea typeface="Symbol" panose="05050102010706020507" pitchFamily="18" charset="2"/>
                <a:cs typeface="Symbol" panose="05050102010706020507" pitchFamily="18" charset="2"/>
              </a:rPr>
              <a:t>Хөрөнгө оруулалтын зорилгоо биелүүлэхэд</a:t>
            </a:r>
            <a:endParaRPr lang="mn-MN" sz="2400" spc="0" dirty="0">
              <a:effectLst/>
              <a:latin typeface="Times New Roman" panose="02020603050405020304" pitchFamily="18" charset="0"/>
              <a:ea typeface="Symbol" panose="05050102010706020507" pitchFamily="18" charset="2"/>
              <a:cs typeface="Symbol" panose="05050102010706020507" pitchFamily="18" charset="2"/>
            </a:endParaRPr>
          </a:p>
          <a:p>
            <a:pPr marL="682625" marR="160655" lvl="2" indent="0" algn="just">
              <a:lnSpc>
                <a:spcPct val="95000"/>
              </a:lnSpc>
              <a:spcBef>
                <a:spcPts val="0"/>
              </a:spcBef>
              <a:buClr>
                <a:srgbClr val="231F20"/>
              </a:buClr>
              <a:buSzPts val="1050"/>
              <a:buNone/>
            </a:pPr>
            <a:r>
              <a:rPr lang="kk-KZ" sz="2400" spc="0" dirty="0">
                <a:effectLst/>
                <a:latin typeface="Times New Roman" panose="02020603050405020304" pitchFamily="18" charset="0"/>
                <a:ea typeface="Symbol" panose="05050102010706020507" pitchFamily="18" charset="2"/>
                <a:cs typeface="Symbol" panose="05050102010706020507" pitchFamily="18" charset="2"/>
              </a:rPr>
              <a:t>танд хэдий хэмжээний мөнгө хэрэгтэй вэ?</a:t>
            </a:r>
            <a:endParaRPr lang="en-US" sz="2800" spc="0" dirty="0">
              <a:effectLst/>
              <a:latin typeface="Times New Roman" panose="02020603050405020304" pitchFamily="18" charset="0"/>
              <a:ea typeface="Symbol" panose="05050102010706020507" pitchFamily="18" charset="2"/>
              <a:cs typeface="Symbol" panose="05050102010706020507" pitchFamily="18" charset="2"/>
            </a:endParaRPr>
          </a:p>
          <a:p>
            <a:pPr marL="682625" lvl="2" indent="-276225" algn="just">
              <a:lnSpc>
                <a:spcPct val="95000"/>
              </a:lnSpc>
              <a:spcBef>
                <a:spcPts val="0"/>
              </a:spcBef>
              <a:buClr>
                <a:srgbClr val="231F20"/>
              </a:buClr>
              <a:buSzPts val="1050"/>
              <a:buFont typeface="Symbol" panose="05050102010706020507" pitchFamily="18" charset="2"/>
              <a:buChar char=""/>
            </a:pPr>
            <a:r>
              <a:rPr lang="kk-KZ" sz="2400" spc="0" dirty="0">
                <a:effectLst/>
                <a:latin typeface="Times New Roman" panose="02020603050405020304" pitchFamily="18" charset="0"/>
                <a:ea typeface="Symbol" panose="05050102010706020507" pitchFamily="18" charset="2"/>
                <a:cs typeface="Symbol" panose="05050102010706020507" pitchFamily="18" charset="2"/>
              </a:rPr>
              <a:t>Та хэрхэн</a:t>
            </a:r>
            <a:r>
              <a:rPr lang="kk-KZ" sz="2400" spc="1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мөнгө</a:t>
            </a:r>
            <a:r>
              <a:rPr lang="kk-KZ" sz="2400" spc="1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олох</a:t>
            </a:r>
            <a:r>
              <a:rPr lang="kk-KZ" sz="2400" spc="1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25" dirty="0">
                <a:effectLst/>
                <a:latin typeface="Times New Roman" panose="02020603050405020304" pitchFamily="18" charset="0"/>
                <a:ea typeface="Symbol" panose="05050102010706020507" pitchFamily="18" charset="2"/>
                <a:cs typeface="Symbol" panose="05050102010706020507" pitchFamily="18" charset="2"/>
              </a:rPr>
              <a:t>вэ?</a:t>
            </a:r>
            <a:endParaRPr lang="en-US" sz="2800" spc="0" dirty="0">
              <a:effectLst/>
              <a:latin typeface="Times New Roman" panose="02020603050405020304" pitchFamily="18" charset="0"/>
              <a:ea typeface="Symbol" panose="05050102010706020507" pitchFamily="18" charset="2"/>
              <a:cs typeface="Symbol" panose="05050102010706020507" pitchFamily="18" charset="2"/>
            </a:endParaRPr>
          </a:p>
          <a:p>
            <a:pPr marL="682625" lvl="2" indent="-276225" algn="just">
              <a:lnSpc>
                <a:spcPct val="95000"/>
              </a:lnSpc>
              <a:spcBef>
                <a:spcPts val="0"/>
              </a:spcBef>
              <a:buClr>
                <a:srgbClr val="231F20"/>
              </a:buClr>
              <a:buSzPts val="1050"/>
              <a:buFont typeface="Symbol" panose="05050102010706020507" pitchFamily="18" charset="2"/>
              <a:buChar char=""/>
            </a:pPr>
            <a:r>
              <a:rPr lang="kk-KZ" sz="2400" spc="0" dirty="0">
                <a:effectLst/>
                <a:latin typeface="Times New Roman" panose="02020603050405020304" pitchFamily="18" charset="0"/>
                <a:ea typeface="Symbol" panose="05050102010706020507" pitchFamily="18" charset="2"/>
                <a:cs typeface="Symbol" panose="05050102010706020507" pitchFamily="18" charset="2"/>
              </a:rPr>
              <a:t>Танд</a:t>
            </a:r>
            <a:r>
              <a:rPr lang="kk-KZ" sz="2400" spc="1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мөнгө олоход</a:t>
            </a:r>
            <a:r>
              <a:rPr lang="kk-KZ" sz="2400" spc="1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хэр</a:t>
            </a:r>
            <a:r>
              <a:rPr lang="kk-KZ" sz="2400" spc="1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хугацаа</a:t>
            </a:r>
            <a:r>
              <a:rPr lang="kk-KZ" sz="2400" spc="1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шаардагдах</a:t>
            </a:r>
            <a:r>
              <a:rPr lang="kk-KZ" sz="2400" spc="5" dirty="0">
                <a:effectLst/>
                <a:latin typeface="Times New Roman" panose="02020603050405020304" pitchFamily="18" charset="0"/>
                <a:ea typeface="Symbol" panose="05050102010706020507" pitchFamily="18" charset="2"/>
                <a:cs typeface="Symbol" panose="05050102010706020507" pitchFamily="18" charset="2"/>
              </a:rPr>
              <a:t> </a:t>
            </a:r>
            <a:r>
              <a:rPr lang="kk-KZ" sz="2400" spc="-25" dirty="0">
                <a:effectLst/>
                <a:latin typeface="Times New Roman" panose="02020603050405020304" pitchFamily="18" charset="0"/>
                <a:ea typeface="Symbol" panose="05050102010706020507" pitchFamily="18" charset="2"/>
                <a:cs typeface="Symbol" panose="05050102010706020507" pitchFamily="18" charset="2"/>
              </a:rPr>
              <a:t>вэ?</a:t>
            </a:r>
            <a:endParaRPr lang="en-US" sz="2800" spc="0" dirty="0">
              <a:effectLst/>
              <a:latin typeface="Times New Roman" panose="02020603050405020304" pitchFamily="18" charset="0"/>
              <a:ea typeface="Symbol" panose="05050102010706020507" pitchFamily="18" charset="2"/>
              <a:cs typeface="Symbol" panose="05050102010706020507" pitchFamily="18" charset="2"/>
            </a:endParaRPr>
          </a:p>
          <a:p>
            <a:pPr marL="682625" lvl="2" indent="-276225" algn="just">
              <a:lnSpc>
                <a:spcPct val="95000"/>
              </a:lnSpc>
              <a:spcBef>
                <a:spcPts val="0"/>
              </a:spcBef>
              <a:buClr>
                <a:srgbClr val="231F20"/>
              </a:buClr>
              <a:buSzPts val="1050"/>
              <a:buFont typeface="Symbol" panose="05050102010706020507" pitchFamily="18" charset="2"/>
              <a:buChar char=""/>
            </a:pPr>
            <a:r>
              <a:rPr lang="kk-KZ" sz="2400" spc="0" dirty="0">
                <a:effectLst/>
                <a:latin typeface="Times New Roman" panose="02020603050405020304" pitchFamily="18" charset="0"/>
                <a:ea typeface="Symbol" panose="05050102010706020507" pitchFamily="18" charset="2"/>
                <a:cs typeface="Symbol" panose="05050102010706020507" pitchFamily="18" charset="2"/>
              </a:rPr>
              <a:t>Ямар</a:t>
            </a:r>
            <a:r>
              <a:rPr lang="kk-KZ" sz="2400" spc="5"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хэмжээний</a:t>
            </a:r>
            <a:r>
              <a:rPr lang="kk-KZ" sz="2400" spc="5"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эрсдэлийг</a:t>
            </a:r>
            <a:r>
              <a:rPr lang="kk-KZ" sz="2400" spc="1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хүлээх</a:t>
            </a:r>
            <a:r>
              <a:rPr lang="kk-KZ" sz="2400" spc="1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чадвартай</a:t>
            </a:r>
            <a:r>
              <a:rPr lang="kk-KZ" sz="2400" spc="5" dirty="0">
                <a:effectLst/>
                <a:latin typeface="Times New Roman" panose="02020603050405020304" pitchFamily="18" charset="0"/>
                <a:ea typeface="Symbol" panose="05050102010706020507" pitchFamily="18" charset="2"/>
                <a:cs typeface="Symbol" panose="05050102010706020507" pitchFamily="18" charset="2"/>
              </a:rPr>
              <a:t> </a:t>
            </a:r>
            <a:r>
              <a:rPr lang="kk-KZ" sz="2400" spc="-25" dirty="0">
                <a:effectLst/>
                <a:latin typeface="Times New Roman" panose="02020603050405020304" pitchFamily="18" charset="0"/>
                <a:ea typeface="Symbol" panose="05050102010706020507" pitchFamily="18" charset="2"/>
                <a:cs typeface="Symbol" panose="05050102010706020507" pitchFamily="18" charset="2"/>
              </a:rPr>
              <a:t>вэ?</a:t>
            </a:r>
            <a:endParaRPr lang="en-US" sz="2800" spc="0" dirty="0">
              <a:effectLst/>
              <a:latin typeface="Times New Roman" panose="02020603050405020304" pitchFamily="18" charset="0"/>
              <a:ea typeface="Symbol" panose="05050102010706020507" pitchFamily="18" charset="2"/>
              <a:cs typeface="Symbol" panose="05050102010706020507" pitchFamily="18" charset="2"/>
            </a:endParaRPr>
          </a:p>
          <a:p>
            <a:pPr marL="682625" marR="160020" lvl="2" indent="-276225" algn="just">
              <a:lnSpc>
                <a:spcPct val="95000"/>
              </a:lnSpc>
              <a:spcBef>
                <a:spcPts val="0"/>
              </a:spcBef>
              <a:buClr>
                <a:srgbClr val="231F20"/>
              </a:buClr>
              <a:buSzPts val="1050"/>
              <a:buFont typeface="Symbol" panose="05050102010706020507" pitchFamily="18" charset="2"/>
              <a:buChar char=""/>
            </a:pPr>
            <a:r>
              <a:rPr lang="kk-KZ" sz="2400" spc="0" dirty="0">
                <a:effectLst/>
                <a:latin typeface="Times New Roman" panose="02020603050405020304" pitchFamily="18" charset="0"/>
                <a:ea typeface="Symbol" panose="05050102010706020507" pitchFamily="18" charset="2"/>
                <a:cs typeface="Symbol" panose="05050102010706020507" pitchFamily="18" charset="2"/>
              </a:rPr>
              <a:t>Хөрөнгө</a:t>
            </a:r>
            <a:r>
              <a:rPr lang="kk-KZ" sz="2400" spc="4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оруулалтын</a:t>
            </a:r>
            <a:r>
              <a:rPr lang="kk-KZ" sz="2400" spc="4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зорилгоо</a:t>
            </a:r>
            <a:r>
              <a:rPr lang="kk-KZ" sz="2400" spc="4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өөрчилж</a:t>
            </a:r>
            <a:r>
              <a:rPr lang="kk-KZ" sz="2400" spc="4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чадах</a:t>
            </a:r>
            <a:endParaRPr lang="mn-MN" sz="2400" spc="0" dirty="0">
              <a:effectLst/>
              <a:latin typeface="Times New Roman" panose="02020603050405020304" pitchFamily="18" charset="0"/>
              <a:ea typeface="Symbol" panose="05050102010706020507" pitchFamily="18" charset="2"/>
              <a:cs typeface="Symbol" panose="05050102010706020507" pitchFamily="18" charset="2"/>
            </a:endParaRPr>
          </a:p>
          <a:p>
            <a:pPr marL="739775" marR="160020" lvl="2" indent="0" algn="just">
              <a:lnSpc>
                <a:spcPct val="95000"/>
              </a:lnSpc>
              <a:spcBef>
                <a:spcPts val="0"/>
              </a:spcBef>
              <a:buClr>
                <a:srgbClr val="231F20"/>
              </a:buClr>
              <a:buSzPts val="1050"/>
              <a:buNone/>
            </a:pPr>
            <a:r>
              <a:rPr lang="kk-KZ" sz="2400" spc="0" dirty="0">
                <a:effectLst/>
                <a:latin typeface="Times New Roman" panose="02020603050405020304" pitchFamily="18" charset="0"/>
                <a:ea typeface="Symbol" panose="05050102010706020507" pitchFamily="18" charset="2"/>
                <a:cs typeface="Symbol" panose="05050102010706020507" pitchFamily="18" charset="2"/>
              </a:rPr>
              <a:t>эдийн</a:t>
            </a:r>
            <a:r>
              <a:rPr lang="kk-KZ" sz="2400" spc="4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засгийн</a:t>
            </a:r>
            <a:r>
              <a:rPr lang="kk-KZ" sz="2400" spc="4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болон хувийн ямар боломжит нөхцөлүүд байгаа вэ?</a:t>
            </a:r>
            <a:endParaRPr lang="en-US" sz="2800" spc="0" dirty="0">
              <a:effectLst/>
              <a:latin typeface="Times New Roman" panose="02020603050405020304" pitchFamily="18" charset="0"/>
              <a:ea typeface="Symbol" panose="05050102010706020507" pitchFamily="18" charset="2"/>
              <a:cs typeface="Symbol" panose="05050102010706020507" pitchFamily="18" charset="2"/>
            </a:endParaRPr>
          </a:p>
          <a:p>
            <a:pPr marL="682625" marR="155575" lvl="2" indent="-276225" algn="just">
              <a:lnSpc>
                <a:spcPct val="95000"/>
              </a:lnSpc>
              <a:spcBef>
                <a:spcPts val="0"/>
              </a:spcBef>
              <a:buClr>
                <a:srgbClr val="231F20"/>
              </a:buClr>
              <a:buSzPts val="1050"/>
              <a:buFont typeface="Symbol" panose="05050102010706020507" pitchFamily="18" charset="2"/>
              <a:buChar char=""/>
            </a:pPr>
            <a:r>
              <a:rPr lang="kk-KZ" sz="2400" spc="0" dirty="0">
                <a:effectLst/>
                <a:latin typeface="Times New Roman" panose="02020603050405020304" pitchFamily="18" charset="0"/>
                <a:ea typeface="Symbol" panose="05050102010706020507" pitchFamily="18" charset="2"/>
                <a:cs typeface="Symbol" panose="05050102010706020507" pitchFamily="18" charset="2"/>
              </a:rPr>
              <a:t>Хөрөнгө</a:t>
            </a:r>
            <a:r>
              <a:rPr lang="kk-KZ" sz="2400" spc="2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оруулалтын</a:t>
            </a:r>
            <a:r>
              <a:rPr lang="kk-KZ" sz="2400" spc="2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зорилгыг</a:t>
            </a:r>
            <a:r>
              <a:rPr lang="kk-KZ" sz="2400" spc="2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хэрэгжүүлэх</a:t>
            </a:r>
            <a:r>
              <a:rPr lang="kk-KZ" sz="2400" spc="2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боломжтой</a:t>
            </a:r>
            <a:r>
              <a:rPr lang="kk-KZ" sz="2400" spc="2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эдийн</a:t>
            </a:r>
            <a:r>
              <a:rPr lang="kk-KZ" sz="2400" spc="200" dirty="0">
                <a:effectLst/>
                <a:latin typeface="Times New Roman" panose="02020603050405020304" pitchFamily="18" charset="0"/>
                <a:ea typeface="Symbol" panose="05050102010706020507" pitchFamily="18" charset="2"/>
                <a:cs typeface="Symbol" panose="05050102010706020507" pitchFamily="18" charset="2"/>
              </a:rPr>
              <a:t> </a:t>
            </a:r>
            <a:r>
              <a:rPr lang="kk-KZ" sz="2400" spc="0" dirty="0">
                <a:effectLst/>
                <a:latin typeface="Times New Roman" panose="02020603050405020304" pitchFamily="18" charset="0"/>
                <a:ea typeface="Symbol" panose="05050102010706020507" pitchFamily="18" charset="2"/>
                <a:cs typeface="Symbol" panose="05050102010706020507" pitchFamily="18" charset="2"/>
              </a:rPr>
              <a:t>засгийн нөхцөл байдлаа тооцсон уу?</a:t>
            </a:r>
            <a:endParaRPr lang="en-US" sz="2800" spc="0" dirty="0">
              <a:effectLst/>
              <a:latin typeface="Times New Roman" panose="02020603050405020304" pitchFamily="18" charset="0"/>
              <a:ea typeface="Symbol" panose="05050102010706020507" pitchFamily="18" charset="2"/>
              <a:cs typeface="Symbol" panose="05050102010706020507" pitchFamily="18" charset="2"/>
            </a:endParaRPr>
          </a:p>
          <a:p>
            <a:pPr marL="682625" marR="158115" lvl="2" indent="-276225" algn="just">
              <a:lnSpc>
                <a:spcPct val="95000"/>
              </a:lnSpc>
              <a:spcBef>
                <a:spcPts val="0"/>
              </a:spcBef>
              <a:buClr>
                <a:srgbClr val="231F20"/>
              </a:buClr>
              <a:buSzPts val="1050"/>
              <a:buFont typeface="Symbol" panose="05050102010706020507" pitchFamily="18" charset="2"/>
              <a:buChar char=""/>
            </a:pPr>
            <a:r>
              <a:rPr lang="kk-KZ" sz="2400" spc="0" dirty="0">
                <a:effectLst/>
                <a:latin typeface="Times New Roman" panose="02020603050405020304" pitchFamily="18" charset="0"/>
                <a:ea typeface="Symbol" panose="05050102010706020507" pitchFamily="18" charset="2"/>
                <a:cs typeface="Symbol" panose="05050102010706020507" pitchFamily="18" charset="2"/>
              </a:rPr>
              <a:t>Хөрөнгө оруулалтын зорилгоо хэрэгжүүлэхийн тулд хэрэглээгээ багасгаж чадах уу?</a:t>
            </a:r>
            <a:endParaRPr lang="en-US" sz="2800" spc="0" dirty="0">
              <a:effectLst/>
              <a:latin typeface="Times New Roman" panose="02020603050405020304" pitchFamily="18" charset="0"/>
              <a:ea typeface="Symbol" panose="05050102010706020507" pitchFamily="18" charset="2"/>
              <a:cs typeface="Symbol" panose="05050102010706020507" pitchFamily="18" charset="2"/>
            </a:endParaRPr>
          </a:p>
          <a:p>
            <a:pPr algn="just">
              <a:lnSpc>
                <a:spcPct val="95000"/>
              </a:lnSpc>
              <a:spcBef>
                <a:spcPts val="0"/>
              </a:spcBef>
            </a:pPr>
            <a:r>
              <a:rPr lang="kk-KZ" sz="2400" dirty="0">
                <a:effectLst/>
                <a:latin typeface="Times New Roman" panose="02020603050405020304" pitchFamily="18" charset="0"/>
                <a:ea typeface="Times New Roman" panose="02020603050405020304" pitchFamily="18" charset="0"/>
              </a:rPr>
              <a:t>Хэрэв хөрөнгө оруулалтын зорилгодоо хүрч чадахгүй бол ямар үр дагавар гарах вэ?</a:t>
            </a:r>
            <a:endParaRPr lang="mn-MN" sz="5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380DF9A-B1DA-4968-AF15-D4047EC548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8400" y="1165423"/>
            <a:ext cx="4260311" cy="2863066"/>
          </a:xfrm>
          <a:prstGeom prst="rect">
            <a:avLst/>
          </a:prstGeom>
        </p:spPr>
      </p:pic>
    </p:spTree>
    <p:extLst>
      <p:ext uri="{BB962C8B-B14F-4D97-AF65-F5344CB8AC3E}">
        <p14:creationId xmlns:p14="http://schemas.microsoft.com/office/powerpoint/2010/main" val="3739686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799D139-BA2E-453B-B22F-5BDB2114E56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8712659" y="530779"/>
            <a:ext cx="3184872" cy="2716759"/>
          </a:xfrm>
          <a:prstGeom prst="rect">
            <a:avLst/>
          </a:prstGeom>
        </p:spPr>
      </p:pic>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305955"/>
            <a:ext cx="11484244" cy="418652"/>
          </a:xfrm>
        </p:spPr>
        <p:txBody>
          <a:bodyPr>
            <a:no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Хөрөнгө оруулалтын сонголт</a:t>
            </a:r>
            <a:r>
              <a:rPr lang="en-US" sz="3200" b="1" dirty="0">
                <a:solidFill>
                  <a:srgbClr val="002060"/>
                </a:solidFill>
                <a:latin typeface="Times New Roman" panose="02020603050405020304" pitchFamily="18" charset="0"/>
                <a:cs typeface="Times New Roman" panose="02020603050405020304" pitchFamily="18" charset="0"/>
              </a:rPr>
              <a:t>: </a:t>
            </a:r>
            <a:r>
              <a:rPr lang="mn-MN" sz="3200" b="1" dirty="0">
                <a:solidFill>
                  <a:schemeClr val="accent2">
                    <a:lumMod val="75000"/>
                  </a:schemeClr>
                </a:solidFill>
                <a:latin typeface="Times New Roman" panose="02020603050405020304" pitchFamily="18" charset="0"/>
                <a:cs typeface="Times New Roman" panose="02020603050405020304" pitchFamily="18" charset="0"/>
              </a:rPr>
              <a:t>буюу эрсдэл багатай, эрсдэл ихтэй байдал</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379709" y="921566"/>
            <a:ext cx="8531816" cy="2507434"/>
          </a:xfrm>
        </p:spPr>
        <p:txBody>
          <a:bodyPr>
            <a:noAutofit/>
          </a:bodyPr>
          <a:lstStyle/>
          <a:p>
            <a:pPr marL="0" indent="0" algn="just">
              <a:spcBef>
                <a:spcPts val="0"/>
              </a:spcBef>
              <a:buNone/>
            </a:pPr>
            <a:r>
              <a:rPr lang="mn-MN" sz="2600" dirty="0">
                <a:solidFill>
                  <a:srgbClr val="002060"/>
                </a:solidFill>
                <a:latin typeface="Times New Roman" panose="02020603050405020304" pitchFamily="18" charset="0"/>
                <a:cs typeface="Times New Roman" panose="02020603050405020304" pitchFamily="18" charset="0"/>
              </a:rPr>
              <a:t>ХО-ын </a:t>
            </a:r>
            <a:r>
              <a:rPr lang="mn-MN" sz="2600" b="1" dirty="0">
                <a:solidFill>
                  <a:srgbClr val="002060"/>
                </a:solidFill>
                <a:latin typeface="Times New Roman" panose="02020603050405020304" pitchFamily="18" charset="0"/>
                <a:cs typeface="Times New Roman" panose="02020603050405020304" pitchFamily="18" charset="0"/>
              </a:rPr>
              <a:t>найдвартай байдал </a:t>
            </a:r>
            <a:r>
              <a:rPr lang="mn-MN" sz="2600" dirty="0">
                <a:solidFill>
                  <a:srgbClr val="002060"/>
                </a:solidFill>
                <a:latin typeface="Times New Roman" panose="02020603050405020304" pitchFamily="18" charset="0"/>
                <a:cs typeface="Times New Roman" panose="02020603050405020304" pitchFamily="18" charset="0"/>
              </a:rPr>
              <a:t>болон </a:t>
            </a:r>
            <a:r>
              <a:rPr lang="mn-MN" sz="2600" b="1" dirty="0">
                <a:solidFill>
                  <a:srgbClr val="002060"/>
                </a:solidFill>
                <a:latin typeface="Times New Roman" panose="02020603050405020304" pitchFamily="18" charset="0"/>
                <a:cs typeface="Times New Roman" panose="02020603050405020304" pitchFamily="18" charset="0"/>
              </a:rPr>
              <a:t>эрсдэл</a:t>
            </a:r>
            <a:r>
              <a:rPr lang="mn-MN" sz="2600" dirty="0">
                <a:solidFill>
                  <a:srgbClr val="002060"/>
                </a:solidFill>
                <a:latin typeface="Times New Roman" panose="02020603050405020304" pitchFamily="18" charset="0"/>
                <a:cs typeface="Times New Roman" panose="02020603050405020304" pitchFamily="18" charset="0"/>
              </a:rPr>
              <a:t> гэсэн хоёр ойлголт нь нэг юмны хоёр тал юм. Энэ хоёр </a:t>
            </a:r>
            <a:r>
              <a:rPr lang="mn-MN" sz="2600" b="1" dirty="0">
                <a:solidFill>
                  <a:srgbClr val="002060"/>
                </a:solidFill>
                <a:latin typeface="Times New Roman" panose="02020603050405020304" pitchFamily="18" charset="0"/>
                <a:cs typeface="Times New Roman" panose="02020603050405020304" pitchFamily="18" charset="0"/>
              </a:rPr>
              <a:t>хэрхэн холбогдож байгааг анхаарч, ХО-ын шийдвэр гаргана. </a:t>
            </a:r>
            <a:endParaRPr lang="en-US" sz="2600" dirty="0">
              <a:solidFill>
                <a:srgbClr val="002060"/>
              </a:solidFill>
              <a:latin typeface="Times New Roman" panose="02020603050405020304" pitchFamily="18" charset="0"/>
              <a:cs typeface="Times New Roman" panose="02020603050405020304" pitchFamily="18" charset="0"/>
            </a:endParaRPr>
          </a:p>
          <a:p>
            <a:pPr marL="83820" marR="158115" algn="just">
              <a:spcBef>
                <a:spcPts val="0"/>
              </a:spcBef>
            </a:pPr>
            <a:r>
              <a:rPr lang="mn-MN" sz="2600" dirty="0">
                <a:solidFill>
                  <a:srgbClr val="231F20"/>
                </a:solidFill>
                <a:effectLst/>
                <a:latin typeface="Times New Roman" panose="02020603050405020304" pitchFamily="18" charset="0"/>
                <a:ea typeface="Times New Roman" panose="02020603050405020304" pitchFamily="18" charset="0"/>
              </a:rPr>
              <a:t>А</a:t>
            </a:r>
            <a:r>
              <a:rPr lang="kk-KZ" sz="2600" dirty="0">
                <a:solidFill>
                  <a:srgbClr val="231F20"/>
                </a:solidFill>
                <a:effectLst/>
                <a:latin typeface="Times New Roman" panose="02020603050405020304" pitchFamily="18" charset="0"/>
                <a:ea typeface="Times New Roman" panose="02020603050405020304" pitchFamily="18" charset="0"/>
              </a:rPr>
              <a:t>юул</a:t>
            </a:r>
            <a:r>
              <a:rPr lang="mn-MN" sz="2600" dirty="0">
                <a:solidFill>
                  <a:srgbClr val="231F20"/>
                </a:solidFill>
                <a:effectLst/>
                <a:latin typeface="Times New Roman" panose="02020603050405020304" pitchFamily="18" charset="0"/>
                <a:ea typeface="Times New Roman" panose="02020603050405020304" pitchFamily="18" charset="0"/>
              </a:rPr>
              <a:t> багатай, </a:t>
            </a:r>
            <a:r>
              <a:rPr lang="kk-KZ" sz="2600" dirty="0">
                <a:solidFill>
                  <a:srgbClr val="231F20"/>
                </a:solidFill>
                <a:effectLst/>
                <a:latin typeface="Times New Roman" panose="02020603050405020304" pitchFamily="18" charset="0"/>
                <a:ea typeface="Times New Roman" panose="02020603050405020304" pitchFamily="18" charset="0"/>
              </a:rPr>
              <a:t>найдвартай хөрөнгө оруулалтууд </a:t>
            </a:r>
            <a:r>
              <a:rPr lang="en-US" sz="2600" dirty="0">
                <a:solidFill>
                  <a:srgbClr val="231F20"/>
                </a:solidFill>
                <a:effectLst/>
                <a:latin typeface="Times New Roman" panose="02020603050405020304" pitchFamily="18" charset="0"/>
                <a:ea typeface="Times New Roman" panose="02020603050405020304" pitchFamily="18" charset="0"/>
              </a:rPr>
              <a:t>(</a:t>
            </a:r>
            <a:r>
              <a:rPr lang="kk-KZ" sz="2600" dirty="0">
                <a:solidFill>
                  <a:srgbClr val="231F20"/>
                </a:solidFill>
                <a:effectLst/>
                <a:latin typeface="Times New Roman" panose="02020603050405020304" pitchFamily="18" charset="0"/>
                <a:ea typeface="Times New Roman" panose="02020603050405020304" pitchFamily="18" charset="0"/>
              </a:rPr>
              <a:t>Засгийн газрын бонд, хадгаламжийн сертификат, хадгаламжийн данс, нэр хүнд бүхий компанийн бонд, хувьцаа</a:t>
            </a:r>
            <a:r>
              <a:rPr lang="mn-MN" sz="2600" dirty="0">
                <a:solidFill>
                  <a:srgbClr val="231F20"/>
                </a:solidFill>
                <a:effectLst/>
                <a:latin typeface="Times New Roman" panose="02020603050405020304" pitchFamily="18" charset="0"/>
                <a:ea typeface="Times New Roman" panose="02020603050405020304" pitchFamily="18" charset="0"/>
              </a:rPr>
              <a:t> г.м</a:t>
            </a:r>
            <a:r>
              <a:rPr lang="en-US" sz="2600" dirty="0">
                <a:solidFill>
                  <a:srgbClr val="231F20"/>
                </a:solidFill>
                <a:effectLst/>
                <a:latin typeface="Times New Roman" panose="02020603050405020304" pitchFamily="18" charset="0"/>
                <a:ea typeface="Times New Roman" panose="02020603050405020304" pitchFamily="18" charset="0"/>
              </a:rPr>
              <a:t>)-</a:t>
            </a:r>
            <a:r>
              <a:rPr lang="mn-MN" sz="2600" dirty="0">
                <a:solidFill>
                  <a:srgbClr val="231F20"/>
                </a:solidFill>
                <a:effectLst/>
                <a:latin typeface="Times New Roman" panose="02020603050405020304" pitchFamily="18" charset="0"/>
                <a:ea typeface="Times New Roman" panose="02020603050405020304" pitchFamily="18" charset="0"/>
              </a:rPr>
              <a:t>ыг </a:t>
            </a:r>
            <a:r>
              <a:rPr lang="kk-KZ" sz="2600" dirty="0">
                <a:solidFill>
                  <a:srgbClr val="231F20"/>
                </a:solidFill>
                <a:effectLst/>
                <a:latin typeface="Times New Roman" panose="02020603050405020304" pitchFamily="18" charset="0"/>
                <a:ea typeface="Times New Roman" panose="02020603050405020304" pitchFamily="18" charset="0"/>
              </a:rPr>
              <a:t>сонгох хэд хэдэн шалтгаан байдаг</a:t>
            </a:r>
            <a:r>
              <a:rPr lang="en-US" sz="2600" dirty="0">
                <a:solidFill>
                  <a:srgbClr val="231F20"/>
                </a:solidFill>
                <a:latin typeface="Times New Roman" panose="02020603050405020304" pitchFamily="18" charset="0"/>
                <a:ea typeface="Times New Roman" panose="02020603050405020304" pitchFamily="18" charset="0"/>
              </a:rPr>
              <a:t>. </a:t>
            </a:r>
            <a:r>
              <a:rPr lang="mn-MN" sz="2600" dirty="0">
                <a:solidFill>
                  <a:srgbClr val="231F20"/>
                </a:solidFill>
                <a:latin typeface="Times New Roman" panose="02020603050405020304" pitchFamily="18" charset="0"/>
                <a:ea typeface="Times New Roman" panose="02020603050405020304" pitchFamily="18" charset="0"/>
              </a:rPr>
              <a:t>Үүнд:</a:t>
            </a:r>
            <a:endParaRPr lang="mn-MN" sz="2600"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534757D-BDDD-421B-9462-AAE6BADB62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618698"/>
            <a:ext cx="4091952" cy="1840556"/>
          </a:xfrm>
          <a:prstGeom prst="rect">
            <a:avLst/>
          </a:prstGeom>
        </p:spPr>
      </p:pic>
      <p:sp>
        <p:nvSpPr>
          <p:cNvPr id="8" name="Content Placeholder 2">
            <a:extLst>
              <a:ext uri="{FF2B5EF4-FFF2-40B4-BE49-F238E27FC236}">
                <a16:creationId xmlns:a16="http://schemas.microsoft.com/office/drawing/2014/main" id="{2FFA7AED-8D86-4AF4-8038-5BCB505F4CC3}"/>
              </a:ext>
            </a:extLst>
          </p:cNvPr>
          <p:cNvSpPr txBox="1">
            <a:spLocks/>
          </p:cNvSpPr>
          <p:nvPr/>
        </p:nvSpPr>
        <p:spPr>
          <a:xfrm>
            <a:off x="490781" y="3429000"/>
            <a:ext cx="11406750" cy="35380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156210" indent="-342900" algn="just">
              <a:spcBef>
                <a:spcPts val="0"/>
              </a:spcBef>
              <a:buClr>
                <a:srgbClr val="231F20"/>
              </a:buClr>
              <a:buSzPts val="1050"/>
              <a:buFont typeface="Symbol" panose="05050102010706020507" pitchFamily="18" charset="2"/>
              <a:buChar char=""/>
              <a:tabLst>
                <a:tab pos="525145" algn="l"/>
                <a:tab pos="526415" algn="l"/>
              </a:tabLst>
            </a:pPr>
            <a:r>
              <a:rPr lang="kk-KZ"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Х</a:t>
            </a:r>
            <a:r>
              <a:rPr lang="mn-MN"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О-</a:t>
            </a:r>
            <a:r>
              <a:rPr lang="kk-KZ"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гч өөрийгээ санхүүжүүлдэг учраас эрсдэл багатай </a:t>
            </a:r>
            <a:r>
              <a:rPr lang="mn-MN"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ХО-</a:t>
            </a:r>
            <a:r>
              <a:rPr lang="kk-KZ"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ыг сонгодог.</a:t>
            </a:r>
            <a:endParaRPr lang="en-US" sz="2600" dirty="0">
              <a:latin typeface="Times New Roman" panose="02020603050405020304" pitchFamily="18" charset="0"/>
              <a:ea typeface="Symbol" panose="05050102010706020507" pitchFamily="18" charset="2"/>
              <a:cs typeface="Symbol" panose="05050102010706020507" pitchFamily="18" charset="2"/>
            </a:endParaRPr>
          </a:p>
          <a:p>
            <a:pPr marL="342900" marR="158115" indent="-342900" algn="just">
              <a:spcBef>
                <a:spcPts val="0"/>
              </a:spcBef>
              <a:buClr>
                <a:srgbClr val="231F20"/>
              </a:buClr>
              <a:buSzPts val="1050"/>
              <a:buFont typeface="Symbol" panose="05050102010706020507" pitchFamily="18" charset="2"/>
              <a:buChar char=""/>
              <a:tabLst>
                <a:tab pos="525145" algn="l"/>
                <a:tab pos="526415" algn="l"/>
              </a:tabLst>
            </a:pPr>
            <a:r>
              <a:rPr lang="kk-KZ"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Тэтгэвэрт гарах дөхөж байгаа </a:t>
            </a:r>
            <a:r>
              <a:rPr lang="mn-MN"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ХО-</a:t>
            </a:r>
            <a:r>
              <a:rPr lang="kk-KZ"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чид өөрийн сүүлийн</a:t>
            </a:r>
            <a:r>
              <a:rPr lang="kk-KZ" sz="2600" spc="200" dirty="0">
                <a:solidFill>
                  <a:srgbClr val="231F20"/>
                </a:solidFill>
                <a:latin typeface="Times New Roman" panose="02020603050405020304" pitchFamily="18" charset="0"/>
                <a:ea typeface="Symbol" panose="05050102010706020507" pitchFamily="18" charset="2"/>
                <a:cs typeface="Symbol" panose="05050102010706020507" pitchFamily="18" charset="2"/>
              </a:rPr>
              <a:t> </a:t>
            </a:r>
            <a:r>
              <a:rPr lang="kk-KZ"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ганц боломжоо найдвартай хадгалж үлдэх үүднээс сонгодог.</a:t>
            </a:r>
            <a:endParaRPr lang="en-US" sz="2600" dirty="0">
              <a:latin typeface="Times New Roman" panose="02020603050405020304" pitchFamily="18" charset="0"/>
              <a:ea typeface="Symbol" panose="05050102010706020507" pitchFamily="18" charset="2"/>
              <a:cs typeface="Symbol" panose="05050102010706020507" pitchFamily="18" charset="2"/>
            </a:endParaRPr>
          </a:p>
          <a:p>
            <a:pPr algn="just">
              <a:spcBef>
                <a:spcPts val="0"/>
              </a:spcBef>
            </a:pPr>
            <a:endParaRPr lang="mn-MN" sz="2600" dirty="0">
              <a:solidFill>
                <a:srgbClr val="002060"/>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0A47DF15-E1BC-467A-84BE-33F8B7329E6F}"/>
              </a:ext>
            </a:extLst>
          </p:cNvPr>
          <p:cNvSpPr txBox="1">
            <a:spLocks/>
          </p:cNvSpPr>
          <p:nvPr/>
        </p:nvSpPr>
        <p:spPr>
          <a:xfrm>
            <a:off x="4210770" y="4530111"/>
            <a:ext cx="7686761" cy="20219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155575" indent="-342900" algn="just">
              <a:spcBef>
                <a:spcPts val="0"/>
              </a:spcBef>
              <a:buClr>
                <a:srgbClr val="231F20"/>
              </a:buClr>
              <a:buSzPts val="1050"/>
              <a:buFont typeface="Symbol" panose="05050102010706020507" pitchFamily="18" charset="2"/>
              <a:buChar char=""/>
              <a:tabLst>
                <a:tab pos="525145" algn="l"/>
                <a:tab pos="526415" algn="l"/>
              </a:tabLst>
            </a:pPr>
            <a:r>
              <a:rPr lang="kk-KZ"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Банкнаас мөнгөө татаж байгаа хүмүүс бэлэн мөнгөтэй холбоотой эрсдэлээс сэргийлэхийн тулд энэ </a:t>
            </a:r>
            <a:r>
              <a:rPr lang="mn-MN"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ХО-т</a:t>
            </a:r>
            <a:r>
              <a:rPr lang="kk-KZ" sz="2600" dirty="0">
                <a:solidFill>
                  <a:srgbClr val="231F20"/>
                </a:solidFill>
                <a:latin typeface="Times New Roman" panose="02020603050405020304" pitchFamily="18" charset="0"/>
                <a:ea typeface="Symbol" panose="05050102010706020507" pitchFamily="18" charset="2"/>
                <a:cs typeface="Symbol" panose="05050102010706020507" pitchFamily="18" charset="2"/>
              </a:rPr>
              <a:t>ад мөнгөө </a:t>
            </a:r>
            <a:r>
              <a:rPr lang="kk-KZ" sz="2600" spc="-10" dirty="0">
                <a:solidFill>
                  <a:srgbClr val="231F20"/>
                </a:solidFill>
                <a:latin typeface="Times New Roman" panose="02020603050405020304" pitchFamily="18" charset="0"/>
                <a:ea typeface="Symbol" panose="05050102010706020507" pitchFamily="18" charset="2"/>
                <a:cs typeface="Symbol" panose="05050102010706020507" pitchFamily="18" charset="2"/>
              </a:rPr>
              <a:t>байршуулдаг.</a:t>
            </a:r>
            <a:endParaRPr lang="mn-MN" sz="2600" dirty="0">
              <a:latin typeface="Times New Roman" panose="02020603050405020304" pitchFamily="18" charset="0"/>
              <a:ea typeface="Symbol" panose="05050102010706020507" pitchFamily="18" charset="2"/>
              <a:cs typeface="Symbol" panose="05050102010706020507" pitchFamily="18" charset="2"/>
            </a:endParaRPr>
          </a:p>
          <a:p>
            <a:pPr marL="342900" marR="155575" indent="-342900" algn="just">
              <a:spcBef>
                <a:spcPts val="0"/>
              </a:spcBef>
              <a:buClr>
                <a:srgbClr val="231F20"/>
              </a:buClr>
              <a:buSzPts val="1050"/>
              <a:buFont typeface="Symbol" panose="05050102010706020507" pitchFamily="18" charset="2"/>
              <a:buChar char=""/>
              <a:tabLst>
                <a:tab pos="525145" algn="l"/>
                <a:tab pos="526415" algn="l"/>
              </a:tabLst>
            </a:pPr>
            <a:r>
              <a:rPr lang="kk-KZ" sz="2600" dirty="0">
                <a:solidFill>
                  <a:srgbClr val="231F20"/>
                </a:solidFill>
                <a:latin typeface="Times New Roman" panose="02020603050405020304" pitchFamily="18" charset="0"/>
                <a:ea typeface="Times New Roman" panose="02020603050405020304" pitchFamily="18" charset="0"/>
              </a:rPr>
              <a:t>Зарим хөрөнгө оруулагчид өндөр ашиг амлаж байгаа, эрсдэл өндөртэй хөрөнгө оруулалтаас зайлсхийж үүнийг сонгодог.</a:t>
            </a:r>
            <a:endParaRPr lang="en-US" sz="2600" dirty="0">
              <a:solidFill>
                <a:srgbClr val="002060"/>
              </a:solidFill>
              <a:latin typeface="Times New Roman" panose="02020603050405020304" pitchFamily="18" charset="0"/>
              <a:cs typeface="Times New Roman" panose="02020603050405020304" pitchFamily="18" charset="0"/>
            </a:endParaRPr>
          </a:p>
          <a:p>
            <a:pPr algn="just">
              <a:spcBef>
                <a:spcPts val="0"/>
              </a:spcBef>
            </a:pPr>
            <a:endParaRPr lang="mn-MN" sz="2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084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394754-1DB4-4808-B594-A5D65A249C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3580" y="515280"/>
            <a:ext cx="4658912" cy="3284209"/>
          </a:xfrm>
          <a:prstGeom prst="rect">
            <a:avLst/>
          </a:prstGeom>
        </p:spPr>
      </p:pic>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305955"/>
            <a:ext cx="11484244" cy="418652"/>
          </a:xfrm>
        </p:spPr>
        <p:txBody>
          <a:bodyPr>
            <a:no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Хөрөнгө оруулалтын сонголт</a:t>
            </a:r>
            <a:r>
              <a:rPr lang="en-US" sz="3600" b="1" dirty="0">
                <a:solidFill>
                  <a:srgbClr val="002060"/>
                </a:solidFill>
                <a:latin typeface="Times New Roman" panose="02020603050405020304" pitchFamily="18" charset="0"/>
                <a:cs typeface="Times New Roman" panose="02020603050405020304" pitchFamily="18" charset="0"/>
              </a:rPr>
              <a:t>: </a:t>
            </a:r>
            <a:r>
              <a:rPr lang="mn-MN" sz="3600" b="1" dirty="0">
                <a:solidFill>
                  <a:schemeClr val="accent2">
                    <a:lumMod val="75000"/>
                  </a:schemeClr>
                </a:solidFill>
                <a:latin typeface="Times New Roman" panose="02020603050405020304" pitchFamily="18" charset="0"/>
                <a:cs typeface="Times New Roman" panose="02020603050405020304" pitchFamily="18" charset="0"/>
              </a:rPr>
              <a:t>буюу эрсдэл багатай, эрсдэл ихтэй байдал</a:t>
            </a:r>
            <a:endParaRPr lang="en-US" sz="36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395207" y="1045552"/>
            <a:ext cx="7329896" cy="2963262"/>
          </a:xfrm>
        </p:spPr>
        <p:txBody>
          <a:bodyPr>
            <a:noAutofit/>
          </a:bodyPr>
          <a:lstStyle/>
          <a:p>
            <a:pPr marL="0" indent="0" algn="just">
              <a:spcBef>
                <a:spcPts val="0"/>
              </a:spcBef>
              <a:buNone/>
            </a:pPr>
            <a:r>
              <a:rPr lang="mn-MN" sz="2600" dirty="0">
                <a:solidFill>
                  <a:srgbClr val="002060"/>
                </a:solidFill>
                <a:latin typeface="Times New Roman" panose="02020603050405020304" pitchFamily="18" charset="0"/>
                <a:cs typeface="Times New Roman" panose="02020603050405020304" pitchFamily="18" charset="0"/>
              </a:rPr>
              <a:t>Спекулятив буюу </a:t>
            </a:r>
            <a:r>
              <a:rPr lang="mn-MN" sz="2600" b="1" dirty="0">
                <a:solidFill>
                  <a:srgbClr val="002060"/>
                </a:solidFill>
                <a:latin typeface="Times New Roman" panose="02020603050405020304" pitchFamily="18" charset="0"/>
                <a:cs typeface="Times New Roman" panose="02020603050405020304" pitchFamily="18" charset="0"/>
              </a:rPr>
              <a:t>эрсдэлтэй</a:t>
            </a:r>
            <a:r>
              <a:rPr lang="mn-MN" sz="2600" dirty="0">
                <a:solidFill>
                  <a:srgbClr val="002060"/>
                </a:solidFill>
                <a:latin typeface="Times New Roman" panose="02020603050405020304" pitchFamily="18" charset="0"/>
                <a:cs typeface="Times New Roman" panose="02020603050405020304" pitchFamily="18" charset="0"/>
              </a:rPr>
              <a:t> хөрөнгө оруулалт: Харьцангуй богино хугацаанд их хэмжээний ашиг олох сонирхлыг төрүүлдэг, өндөр эрсдэл дагуулдаг.</a:t>
            </a:r>
            <a:r>
              <a:rPr lang="en-US" sz="2600" dirty="0">
                <a:solidFill>
                  <a:srgbClr val="002060"/>
                </a:solidFill>
                <a:latin typeface="Times New Roman" panose="02020603050405020304" pitchFamily="18" charset="0"/>
                <a:cs typeface="Times New Roman" panose="02020603050405020304" pitchFamily="18" charset="0"/>
              </a:rPr>
              <a:t> </a:t>
            </a:r>
            <a:r>
              <a:rPr lang="mn-MN" sz="2600" dirty="0">
                <a:solidFill>
                  <a:srgbClr val="002060"/>
                </a:solidFill>
                <a:effectLst/>
                <a:latin typeface="Times New Roman" panose="02020603050405020304" pitchFamily="18" charset="0"/>
                <a:ea typeface="Times New Roman" panose="02020603050405020304" pitchFamily="18" charset="0"/>
              </a:rPr>
              <a:t>Ийм төрлийн ХО-ууд их ашиг амладаг ч амжилтай нь бага бөгөөд ХО-гч нь хөрөнгийнхөө ихэнх хэсгийг, тэр ч байтугай бүгдийг алдах магадлал өндөртэй байдаг</a:t>
            </a:r>
            <a:r>
              <a:rPr lang="kk-KZ" sz="2600" dirty="0">
                <a:solidFill>
                  <a:srgbClr val="002060"/>
                </a:solidFill>
                <a:effectLst/>
                <a:latin typeface="Times New Roman" panose="02020603050405020304" pitchFamily="18" charset="0"/>
                <a:ea typeface="Times New Roman" panose="02020603050405020304" pitchFamily="18" charset="0"/>
              </a:rPr>
              <a:t>. </a:t>
            </a:r>
            <a:endParaRPr lang="mn-MN" sz="2600" dirty="0">
              <a:solidFill>
                <a:srgbClr val="002060"/>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D692A8EF-C6E9-4746-B329-2A80BAE8A82F}"/>
              </a:ext>
            </a:extLst>
          </p:cNvPr>
          <p:cNvSpPr txBox="1">
            <a:spLocks/>
          </p:cNvSpPr>
          <p:nvPr/>
        </p:nvSpPr>
        <p:spPr>
          <a:xfrm>
            <a:off x="413287" y="3809740"/>
            <a:ext cx="11383506" cy="44861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kk-KZ" spc="-10" dirty="0">
                <a:solidFill>
                  <a:srgbClr val="002060"/>
                </a:solidFill>
                <a:latin typeface="Times New Roman" panose="02020603050405020304" pitchFamily="18" charset="0"/>
                <a:ea typeface="Times New Roman" panose="02020603050405020304" pitchFamily="18" charset="0"/>
              </a:rPr>
              <a:t>Үүнд:</a:t>
            </a:r>
            <a:r>
              <a:rPr lang="mn-MN" spc="-10" dirty="0">
                <a:solidFill>
                  <a:srgbClr val="002060"/>
                </a:solidFill>
                <a:latin typeface="Times New Roman" panose="02020603050405020304" pitchFamily="18" charset="0"/>
                <a:ea typeface="Times New Roman" panose="02020603050405020304" pitchFamily="18" charset="0"/>
              </a:rPr>
              <a:t> </a:t>
            </a:r>
            <a:r>
              <a:rPr lang="mn-MN" b="1" spc="-10" dirty="0">
                <a:solidFill>
                  <a:srgbClr val="002060"/>
                </a:solidFill>
                <a:latin typeface="Times New Roman" panose="02020603050405020304" pitchFamily="18" charset="0"/>
                <a:ea typeface="Times New Roman" panose="02020603050405020304" pitchFamily="18" charset="0"/>
              </a:rPr>
              <a:t>Эрсдэл өндөртэй хувьцаа, бонд, бараа таваар, опцион зэрэг нь эрсдэлтэй хөрөнгө оруулалтад хамаардаг.</a:t>
            </a:r>
          </a:p>
          <a:p>
            <a:pPr marL="0" indent="0" algn="just">
              <a:spcBef>
                <a:spcPts val="0"/>
              </a:spcBef>
              <a:buFont typeface="Arial" panose="020B0604020202020204" pitchFamily="34" charset="0"/>
              <a:buNone/>
            </a:pPr>
            <a:r>
              <a:rPr lang="mn-MN" b="1" dirty="0">
                <a:solidFill>
                  <a:srgbClr val="002060"/>
                </a:solidFill>
                <a:latin typeface="Times New Roman" panose="02020603050405020304" pitchFamily="18" charset="0"/>
                <a:ea typeface="Times New Roman" panose="02020603050405020304" pitchFamily="18" charset="0"/>
              </a:rPr>
              <a:t>ХО-чдын баримталбал зохих </a:t>
            </a:r>
            <a:r>
              <a:rPr lang="mn-MN" sz="3000" b="1" dirty="0">
                <a:solidFill>
                  <a:srgbClr val="FF0000"/>
                </a:solidFill>
                <a:latin typeface="Times New Roman" panose="02020603050405020304" pitchFamily="18" charset="0"/>
                <a:ea typeface="Times New Roman" panose="02020603050405020304" pitchFamily="18" charset="0"/>
              </a:rPr>
              <a:t>үндсэн зарчим нь эрсдэл болон түүнд нөлөөлөх хүчин зүйлсийн хоорондын хамаарлыг үнэлж байх </a:t>
            </a:r>
            <a:r>
              <a:rPr lang="mn-MN" dirty="0">
                <a:solidFill>
                  <a:srgbClr val="002060"/>
                </a:solidFill>
                <a:latin typeface="Times New Roman" panose="02020603050405020304" pitchFamily="18" charset="0"/>
                <a:ea typeface="Times New Roman" panose="02020603050405020304" pitchFamily="18" charset="0"/>
              </a:rPr>
              <a:t>явдал юм. Учир нь хөрөнгө оруулагчийн </a:t>
            </a:r>
            <a:r>
              <a:rPr lang="mn-MN" b="1" dirty="0">
                <a:solidFill>
                  <a:srgbClr val="002060"/>
                </a:solidFill>
                <a:latin typeface="Times New Roman" panose="02020603050405020304" pitchFamily="18" charset="0"/>
                <a:ea typeface="Times New Roman" panose="02020603050405020304" pitchFamily="18" charset="0"/>
              </a:rPr>
              <a:t>төсөөлж байгаа хөрөнгө оруулалтаас олох боломжит ашгийн хэмжээ нь эрсдэлд шууд нөлөө үзүүлнэ.</a:t>
            </a:r>
            <a:endParaRPr lang="mn-M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2598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97469"/>
            <a:ext cx="11484244" cy="418652"/>
          </a:xfrm>
        </p:spPr>
        <p:txBody>
          <a:bodyPr>
            <a:no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Хөрөнгө оруулалтын сонголт</a:t>
            </a:r>
            <a:r>
              <a:rPr lang="en-US" sz="3600" b="1" dirty="0">
                <a:solidFill>
                  <a:srgbClr val="002060"/>
                </a:solidFill>
                <a:latin typeface="Times New Roman" panose="02020603050405020304" pitchFamily="18" charset="0"/>
                <a:cs typeface="Times New Roman" panose="02020603050405020304" pitchFamily="18" charset="0"/>
              </a:rPr>
              <a:t>:</a:t>
            </a:r>
            <a:endParaRPr lang="en-US" sz="36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395207" y="689090"/>
            <a:ext cx="4409269" cy="2751533"/>
          </a:xfrm>
        </p:spPr>
        <p:txBody>
          <a:bodyPr>
            <a:noAutofit/>
          </a:bodyPr>
          <a:lstStyle/>
          <a:p>
            <a:pPr marL="0" indent="0" algn="just">
              <a:spcBef>
                <a:spcPts val="0"/>
              </a:spcBef>
              <a:buFont typeface="Arial" panose="020B0604020202020204" pitchFamily="34" charset="0"/>
              <a:buNone/>
            </a:pPr>
            <a:r>
              <a:rPr lang="mn-MN" sz="2600" spc="-10" dirty="0">
                <a:solidFill>
                  <a:srgbClr val="002060"/>
                </a:solidFill>
                <a:latin typeface="Times New Roman" panose="02020603050405020304" pitchFamily="18" charset="0"/>
                <a:ea typeface="Times New Roman" panose="02020603050405020304" pitchFamily="18" charset="0"/>
              </a:rPr>
              <a:t>ХО-</a:t>
            </a:r>
            <a:r>
              <a:rPr lang="kk-KZ" sz="2600" spc="-10" dirty="0">
                <a:solidFill>
                  <a:srgbClr val="002060"/>
                </a:solidFill>
                <a:latin typeface="Times New Roman" panose="02020603050405020304" pitchFamily="18" charset="0"/>
                <a:ea typeface="Times New Roman" panose="02020603050405020304" pitchFamily="18" charset="0"/>
              </a:rPr>
              <a:t>ын эрсдэл болон хөрөнгө оруулалтын пирамид</a:t>
            </a:r>
            <a:r>
              <a:rPr lang="mn-MN" sz="2600" spc="-10" dirty="0">
                <a:solidFill>
                  <a:srgbClr val="002060"/>
                </a:solidFill>
                <a:latin typeface="Times New Roman" panose="02020603050405020304" pitchFamily="18" charset="0"/>
                <a:ea typeface="Times New Roman" panose="02020603050405020304" pitchFamily="18" charset="0"/>
              </a:rPr>
              <a:t>:</a:t>
            </a:r>
          </a:p>
          <a:p>
            <a:pPr marL="0" indent="0" algn="just">
              <a:spcBef>
                <a:spcPts val="0"/>
              </a:spcBef>
              <a:buFont typeface="Arial" panose="020B0604020202020204" pitchFamily="34" charset="0"/>
              <a:buNone/>
            </a:pPr>
            <a:r>
              <a:rPr lang="kk-KZ" sz="2600" spc="-10" dirty="0">
                <a:solidFill>
                  <a:srgbClr val="002060"/>
                </a:solidFill>
                <a:latin typeface="Times New Roman" panose="02020603050405020304" pitchFamily="18" charset="0"/>
                <a:ea typeface="Times New Roman" panose="02020603050405020304" pitchFamily="18" charset="0"/>
              </a:rPr>
              <a:t>Хөрөнгө оруулалтын эрсдлийг ерөнхий ангил</a:t>
            </a:r>
            <a:r>
              <a:rPr lang="mn-MN" sz="2600" spc="-10" dirty="0">
                <a:solidFill>
                  <a:srgbClr val="002060"/>
                </a:solidFill>
                <a:latin typeface="Times New Roman" panose="02020603050405020304" pitchFamily="18" charset="0"/>
                <a:ea typeface="Times New Roman" panose="02020603050405020304" pitchFamily="18" charset="0"/>
              </a:rPr>
              <a:t>ал: </a:t>
            </a:r>
          </a:p>
          <a:p>
            <a:pPr marL="806450" indent="-457200" algn="just">
              <a:spcBef>
                <a:spcPts val="0"/>
              </a:spcBef>
              <a:buFont typeface="Arial" panose="020B0604020202020204" pitchFamily="34" charset="0"/>
              <a:buAutoNum type="arabicPeriod"/>
            </a:pPr>
            <a:r>
              <a:rPr lang="kk-KZ" sz="2600" spc="-10" dirty="0">
                <a:solidFill>
                  <a:srgbClr val="002060"/>
                </a:solidFill>
                <a:latin typeface="Times New Roman" panose="02020603050405020304" pitchFamily="18" charset="0"/>
                <a:ea typeface="Times New Roman" panose="02020603050405020304" pitchFamily="18" charset="0"/>
              </a:rPr>
              <a:t>Бизнесийн эрсдэл</a:t>
            </a:r>
            <a:r>
              <a:rPr lang="mn-MN" sz="2600" spc="-10" dirty="0">
                <a:solidFill>
                  <a:srgbClr val="002060"/>
                </a:solidFill>
                <a:latin typeface="Times New Roman" panose="02020603050405020304" pitchFamily="18" charset="0"/>
                <a:ea typeface="Times New Roman" panose="02020603050405020304" pitchFamily="18" charset="0"/>
              </a:rPr>
              <a:t>.</a:t>
            </a:r>
          </a:p>
          <a:p>
            <a:pPr marL="806450" indent="-457200" algn="just">
              <a:spcBef>
                <a:spcPts val="0"/>
              </a:spcBef>
              <a:buFont typeface="Arial" panose="020B0604020202020204" pitchFamily="34" charset="0"/>
              <a:buAutoNum type="arabicPeriod"/>
            </a:pPr>
            <a:r>
              <a:rPr lang="kk-KZ" sz="2600" spc="-10" dirty="0">
                <a:solidFill>
                  <a:srgbClr val="002060"/>
                </a:solidFill>
                <a:latin typeface="Times New Roman" panose="02020603050405020304" pitchFamily="18" charset="0"/>
                <a:ea typeface="Times New Roman" panose="02020603050405020304" pitchFamily="18" charset="0"/>
              </a:rPr>
              <a:t>Хүүгийн эрсдэл</a:t>
            </a:r>
            <a:r>
              <a:rPr lang="mn-MN" sz="2600" spc="-10" dirty="0">
                <a:solidFill>
                  <a:srgbClr val="002060"/>
                </a:solidFill>
                <a:latin typeface="Times New Roman" panose="02020603050405020304" pitchFamily="18" charset="0"/>
                <a:ea typeface="Times New Roman" panose="02020603050405020304" pitchFamily="18" charset="0"/>
              </a:rPr>
              <a:t>.</a:t>
            </a:r>
          </a:p>
          <a:p>
            <a:pPr marL="806450" indent="-457200" algn="just">
              <a:spcBef>
                <a:spcPts val="0"/>
              </a:spcBef>
              <a:buFont typeface="Arial" panose="020B0604020202020204" pitchFamily="34" charset="0"/>
              <a:buAutoNum type="arabicPeriod"/>
            </a:pPr>
            <a:r>
              <a:rPr lang="kk-KZ" sz="2600" spc="-10" dirty="0">
                <a:solidFill>
                  <a:srgbClr val="002060"/>
                </a:solidFill>
                <a:latin typeface="Times New Roman" panose="02020603050405020304" pitchFamily="18" charset="0"/>
                <a:ea typeface="Times New Roman" panose="02020603050405020304" pitchFamily="18" charset="0"/>
              </a:rPr>
              <a:t>Зах зээлийн эрсдэл</a:t>
            </a:r>
            <a:r>
              <a:rPr lang="mn-MN" sz="2600" spc="-10" dirty="0">
                <a:solidFill>
                  <a:srgbClr val="002060"/>
                </a:solidFill>
                <a:latin typeface="Times New Roman" panose="02020603050405020304" pitchFamily="18" charset="0"/>
                <a:ea typeface="Times New Roman" panose="02020603050405020304" pitchFamily="18" charset="0"/>
              </a:rPr>
              <a:t>.</a:t>
            </a:r>
          </a:p>
          <a:p>
            <a:pPr marL="806450" indent="-457200" algn="just">
              <a:spcBef>
                <a:spcPts val="0"/>
              </a:spcBef>
              <a:buFont typeface="Arial" panose="020B0604020202020204" pitchFamily="34" charset="0"/>
              <a:buAutoNum type="arabicPeriod"/>
            </a:pPr>
            <a:r>
              <a:rPr lang="kk-KZ" sz="2600" spc="-10" dirty="0">
                <a:solidFill>
                  <a:srgbClr val="002060"/>
                </a:solidFill>
                <a:latin typeface="Times New Roman" panose="02020603050405020304" pitchFamily="18" charset="0"/>
                <a:ea typeface="Times New Roman" panose="02020603050405020304" pitchFamily="18" charset="0"/>
              </a:rPr>
              <a:t>Инфляцийн эрсдэл</a:t>
            </a:r>
            <a:r>
              <a:rPr lang="mn-MN" sz="2600" spc="-10" dirty="0">
                <a:solidFill>
                  <a:srgbClr val="002060"/>
                </a:solidFill>
                <a:latin typeface="Times New Roman" panose="02020603050405020304" pitchFamily="18" charset="0"/>
                <a:ea typeface="Times New Roman" panose="02020603050405020304" pitchFamily="18" charset="0"/>
              </a:rPr>
              <a:t>.</a:t>
            </a:r>
            <a:endParaRPr lang="kk-KZ" sz="2600" spc="-10" dirty="0">
              <a:solidFill>
                <a:srgbClr val="002060"/>
              </a:solidFill>
              <a:latin typeface="Times New Roman" panose="02020603050405020304" pitchFamily="18" charset="0"/>
              <a:ea typeface="Times New Roman" panose="02020603050405020304" pitchFamily="18" charset="0"/>
            </a:endParaRPr>
          </a:p>
        </p:txBody>
      </p:sp>
      <p:sp>
        <p:nvSpPr>
          <p:cNvPr id="6" name="Content Placeholder 2">
            <a:extLst>
              <a:ext uri="{FF2B5EF4-FFF2-40B4-BE49-F238E27FC236}">
                <a16:creationId xmlns:a16="http://schemas.microsoft.com/office/drawing/2014/main" id="{D692A8EF-C6E9-4746-B329-2A80BAE8A82F}"/>
              </a:ext>
            </a:extLst>
          </p:cNvPr>
          <p:cNvSpPr txBox="1">
            <a:spLocks/>
          </p:cNvSpPr>
          <p:nvPr/>
        </p:nvSpPr>
        <p:spPr>
          <a:xfrm>
            <a:off x="294470" y="3595603"/>
            <a:ext cx="4510006" cy="23718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kk-KZ" sz="2600" spc="-10" dirty="0">
                <a:solidFill>
                  <a:srgbClr val="002060"/>
                </a:solidFill>
                <a:latin typeface="Times New Roman" panose="02020603050405020304" pitchFamily="18" charset="0"/>
                <a:ea typeface="Times New Roman" panose="02020603050405020304" pitchFamily="18" charset="0"/>
              </a:rPr>
              <a:t>Хөрөнгө оруулалтын пирамидын дээд хэсэгт эрсдэл өндөртэй үүнийгээ дагаад өгөөж өндөртөй хөрөнгө оруулалтын хэрэгслүүд багтдаг бол суурь хэсэгт хамгийн эрсдэл багатай хэрэгслүүд багтана.</a:t>
            </a:r>
          </a:p>
        </p:txBody>
      </p:sp>
      <p:pic>
        <p:nvPicPr>
          <p:cNvPr id="7" name="Picture 6">
            <a:extLst>
              <a:ext uri="{FF2B5EF4-FFF2-40B4-BE49-F238E27FC236}">
                <a16:creationId xmlns:a16="http://schemas.microsoft.com/office/drawing/2014/main" id="{E1F99668-CB50-4A05-87B6-185985C87853}"/>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5160936" y="591778"/>
            <a:ext cx="6653937" cy="5577132"/>
          </a:xfrm>
          <a:prstGeom prst="rect">
            <a:avLst/>
          </a:prstGeom>
        </p:spPr>
      </p:pic>
    </p:spTree>
    <p:extLst>
      <p:ext uri="{BB962C8B-B14F-4D97-AF65-F5344CB8AC3E}">
        <p14:creationId xmlns:p14="http://schemas.microsoft.com/office/powerpoint/2010/main" val="2664838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134913" y="50336"/>
            <a:ext cx="11797259" cy="449701"/>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Хөрөнгө оруулалт</a:t>
            </a:r>
            <a:r>
              <a:rPr lang="en-US" b="1" dirty="0">
                <a:solidFill>
                  <a:srgbClr val="002060"/>
                </a:solidFill>
                <a:latin typeface="Times New Roman" panose="02020603050405020304" pitchFamily="18" charset="0"/>
                <a:cs typeface="Times New Roman" panose="02020603050405020304" pitchFamily="18" charset="0"/>
              </a:rPr>
              <a:t> </a:t>
            </a:r>
            <a:r>
              <a:rPr lang="mn-MN" b="1" dirty="0">
                <a:solidFill>
                  <a:srgbClr val="002060"/>
                </a:solidFill>
                <a:latin typeface="Times New Roman" panose="02020603050405020304" pitchFamily="18" charset="0"/>
                <a:cs typeface="Times New Roman" panose="02020603050405020304" pitchFamily="18" charset="0"/>
              </a:rPr>
              <a:t>хийх үе шатууд</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p:txBody>
      </p:sp>
      <p:graphicFrame>
        <p:nvGraphicFramePr>
          <p:cNvPr id="5" name="Content Placeholder 3">
            <a:extLst>
              <a:ext uri="{FF2B5EF4-FFF2-40B4-BE49-F238E27FC236}">
                <a16:creationId xmlns:a16="http://schemas.microsoft.com/office/drawing/2014/main" id="{9B40FEF9-8C51-4F12-B42A-7C657D06CBDB}"/>
              </a:ext>
            </a:extLst>
          </p:cNvPr>
          <p:cNvGraphicFramePr>
            <a:graphicFrameLocks/>
          </p:cNvGraphicFramePr>
          <p:nvPr>
            <p:extLst>
              <p:ext uri="{D42A27DB-BD31-4B8C-83A1-F6EECF244321}">
                <p14:modId xmlns:p14="http://schemas.microsoft.com/office/powerpoint/2010/main" val="1156268813"/>
              </p:ext>
            </p:extLst>
          </p:nvPr>
        </p:nvGraphicFramePr>
        <p:xfrm>
          <a:off x="134913" y="589977"/>
          <a:ext cx="11797259" cy="5900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66638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74591" y="286077"/>
            <a:ext cx="11484244" cy="418652"/>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Хөрөнгө оруулалтад</a:t>
            </a:r>
            <a:r>
              <a:rPr lang="en-US" b="1" dirty="0">
                <a:solidFill>
                  <a:srgbClr val="002060"/>
                </a:solidFill>
                <a:latin typeface="Times New Roman" panose="02020603050405020304" pitchFamily="18" charset="0"/>
                <a:cs typeface="Times New Roman" panose="02020603050405020304" pitchFamily="18" charset="0"/>
              </a:rPr>
              <a:t>: </a:t>
            </a:r>
            <a:r>
              <a:rPr lang="mn-MN" b="1" dirty="0">
                <a:solidFill>
                  <a:schemeClr val="accent2">
                    <a:lumMod val="75000"/>
                  </a:schemeClr>
                </a:solidFill>
                <a:latin typeface="Times New Roman" panose="02020603050405020304" pitchFamily="18" charset="0"/>
                <a:cs typeface="Times New Roman" panose="02020603050405020304" pitchFamily="18" charset="0"/>
              </a:rPr>
              <a:t>нөлөөлөх хүчин зүйл </a:t>
            </a:r>
            <a:r>
              <a:rPr lang="en-US" b="1" dirty="0">
                <a:solidFill>
                  <a:schemeClr val="accent2">
                    <a:lumMod val="75000"/>
                  </a:schemeClr>
                </a:solidFill>
                <a:latin typeface="Times New Roman" panose="02020603050405020304" pitchFamily="18" charset="0"/>
                <a:cs typeface="Times New Roman" panose="02020603050405020304" pitchFamily="18" charset="0"/>
              </a:rPr>
              <a:t>(</a:t>
            </a:r>
            <a:r>
              <a:rPr lang="mn-MN" b="1" dirty="0">
                <a:solidFill>
                  <a:schemeClr val="accent2">
                    <a:lumMod val="75000"/>
                  </a:schemeClr>
                </a:solidFill>
                <a:latin typeface="Times New Roman" panose="02020603050405020304" pitchFamily="18" charset="0"/>
                <a:cs typeface="Times New Roman" panose="02020603050405020304" pitchFamily="18" charset="0"/>
              </a:rPr>
              <a:t>ХЗ</a:t>
            </a:r>
            <a:r>
              <a:rPr lang="en-US" b="1" dirty="0">
                <a:solidFill>
                  <a:schemeClr val="accent2">
                    <a:lumMod val="75000"/>
                  </a:schemeClr>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74591" y="719720"/>
            <a:ext cx="11484244" cy="5812448"/>
          </a:xfrm>
        </p:spPr>
        <p:txBody>
          <a:bodyPr>
            <a:noAutofit/>
          </a:bodyPr>
          <a:lstStyle/>
          <a:p>
            <a:pPr marL="0" indent="0" algn="just">
              <a:lnSpc>
                <a:spcPct val="95000"/>
              </a:lnSpc>
              <a:spcBef>
                <a:spcPts val="200"/>
              </a:spcBef>
              <a:buNone/>
            </a:pPr>
            <a:r>
              <a:rPr lang="mn-MN" sz="2600" dirty="0">
                <a:solidFill>
                  <a:srgbClr val="002060"/>
                </a:solidFill>
                <a:latin typeface="Times New Roman" panose="02020603050405020304" pitchFamily="18" charset="0"/>
                <a:cs typeface="Times New Roman" panose="02020603050405020304" pitchFamily="18" charset="0"/>
              </a:rPr>
              <a:t>Хэдийгээр хүн бүр хөрөнгө оруулалт хийх тодорхой зорилготой байдаг ч сонголт хийхээс өмнө </a:t>
            </a:r>
            <a:r>
              <a:rPr lang="mn-MN" sz="2600" b="1" dirty="0">
                <a:solidFill>
                  <a:srgbClr val="002060"/>
                </a:solidFill>
                <a:latin typeface="Times New Roman" panose="02020603050405020304" pitchFamily="18" charset="0"/>
                <a:cs typeface="Times New Roman" panose="02020603050405020304" pitchFamily="18" charset="0"/>
              </a:rPr>
              <a:t>хөрөнгө оруулалтад нөлөөлж болох </a:t>
            </a:r>
            <a:r>
              <a:rPr lang="mn-MN" sz="2600" dirty="0">
                <a:solidFill>
                  <a:srgbClr val="002060"/>
                </a:solidFill>
                <a:latin typeface="Times New Roman" panose="02020603050405020304" pitchFamily="18" charset="0"/>
                <a:cs typeface="Times New Roman" panose="02020603050405020304" pitchFamily="18" charset="0"/>
              </a:rPr>
              <a:t>хүчин зүйлүүдийг тооцох хэрэгтэй. Энэ нь хөрөнгө оруулалтын найдвартай байдлыг хангах, эрсдэлээс хамгаалах, орлого ашгаа өсгөх, хөрөнгө оруулалтын хөрвөх чадварыг сайжруулах зэрэг ач холбогдолтой байна. Хөрөнгө оруулалтын шийдвэрт нөлөөлөх </a:t>
            </a:r>
            <a:r>
              <a:rPr lang="mn-MN" sz="2600" b="1" dirty="0">
                <a:solidFill>
                  <a:srgbClr val="002060"/>
                </a:solidFill>
                <a:latin typeface="Times New Roman" panose="02020603050405020304" pitchFamily="18" charset="0"/>
                <a:cs typeface="Times New Roman" panose="02020603050405020304" pitchFamily="18" charset="0"/>
              </a:rPr>
              <a:t>хүчин зүйлсийг үндсэн 3 төрөлд хуваадаг.</a:t>
            </a:r>
            <a:endParaRPr lang="en-US" sz="2600" b="1" dirty="0">
              <a:solidFill>
                <a:srgbClr val="002060"/>
              </a:solidFill>
              <a:latin typeface="Times New Roman" panose="02020603050405020304" pitchFamily="18" charset="0"/>
              <a:cs typeface="Times New Roman" panose="02020603050405020304" pitchFamily="18" charset="0"/>
            </a:endParaRPr>
          </a:p>
          <a:p>
            <a:pPr marL="800100" indent="-342900" algn="just">
              <a:lnSpc>
                <a:spcPct val="95000"/>
              </a:lnSpc>
              <a:spcBef>
                <a:spcPts val="200"/>
              </a:spcBef>
            </a:pPr>
            <a:r>
              <a:rPr lang="mn-MN" sz="2600" b="1" dirty="0">
                <a:solidFill>
                  <a:srgbClr val="0000FF"/>
                </a:solidFill>
                <a:latin typeface="Times New Roman" panose="02020603050405020304" pitchFamily="18" charset="0"/>
                <a:cs typeface="Times New Roman" panose="02020603050405020304" pitchFamily="18" charset="0"/>
              </a:rPr>
              <a:t>Орлогын хүчин зүйл;</a:t>
            </a:r>
          </a:p>
          <a:p>
            <a:pPr marL="800100" indent="-342900" algn="just">
              <a:lnSpc>
                <a:spcPct val="95000"/>
              </a:lnSpc>
              <a:spcBef>
                <a:spcPts val="200"/>
              </a:spcBef>
            </a:pPr>
            <a:r>
              <a:rPr lang="mn-MN" sz="2600" b="1" dirty="0">
                <a:solidFill>
                  <a:srgbClr val="0000FF"/>
                </a:solidFill>
                <a:latin typeface="Times New Roman" panose="02020603050405020304" pitchFamily="18" charset="0"/>
                <a:cs typeface="Times New Roman" panose="02020603050405020304" pitchFamily="18" charset="0"/>
              </a:rPr>
              <a:t>Өсөлтийн хүчин зүйл;</a:t>
            </a:r>
          </a:p>
          <a:p>
            <a:pPr marL="800100" indent="-342900" algn="just">
              <a:lnSpc>
                <a:spcPct val="95000"/>
              </a:lnSpc>
              <a:spcBef>
                <a:spcPts val="200"/>
              </a:spcBef>
            </a:pPr>
            <a:r>
              <a:rPr lang="mn-MN" sz="2600" b="1" dirty="0">
                <a:solidFill>
                  <a:srgbClr val="0000FF"/>
                </a:solidFill>
                <a:latin typeface="Times New Roman" panose="02020603050405020304" pitchFamily="18" charset="0"/>
                <a:cs typeface="Times New Roman" panose="02020603050405020304" pitchFamily="18" charset="0"/>
              </a:rPr>
              <a:t>Хөрвөх чадварын хүчин зүйлс орно.</a:t>
            </a:r>
          </a:p>
          <a:p>
            <a:pPr algn="just">
              <a:lnSpc>
                <a:spcPct val="95000"/>
              </a:lnSpc>
              <a:spcBef>
                <a:spcPts val="200"/>
              </a:spcBef>
            </a:pPr>
            <a:r>
              <a:rPr lang="mn-MN" sz="2600" b="1" dirty="0">
                <a:solidFill>
                  <a:srgbClr val="0000FF"/>
                </a:solidFill>
                <a:latin typeface="Times New Roman" panose="02020603050405020304" pitchFamily="18" charset="0"/>
                <a:ea typeface="Times New Roman" panose="02020603050405020304" pitchFamily="18" charset="0"/>
              </a:rPr>
              <a:t>Орлогын ХЗ:</a:t>
            </a:r>
            <a:r>
              <a:rPr lang="mn-MN" sz="2600" dirty="0">
                <a:solidFill>
                  <a:srgbClr val="002060"/>
                </a:solidFill>
                <a:latin typeface="Times New Roman" panose="02020603050405020304" pitchFamily="18" charset="0"/>
                <a:ea typeface="Times New Roman" panose="02020603050405020304" pitchFamily="18" charset="0"/>
              </a:rPr>
              <a:t> </a:t>
            </a:r>
            <a:r>
              <a:rPr lang="kk-KZ" sz="2600" dirty="0">
                <a:solidFill>
                  <a:srgbClr val="002060"/>
                </a:solidFill>
                <a:effectLst/>
                <a:latin typeface="Times New Roman" panose="02020603050405020304" pitchFamily="18" charset="0"/>
                <a:ea typeface="Times New Roman" panose="02020603050405020304" pitchFamily="18" charset="0"/>
              </a:rPr>
              <a:t>хөрөнгө оруулалтаас тогтмол орлого олж байх зорилгоор хөрөнгө худалдан авдаг. Хамгийн эрсдэл багатай хөрөнгө оруулалт болох хадгаламжийн сертификат, Засгийн газрын бонд, хадгаламжийн дансууд зэрэг нь хамгийн тогтвортой орлогын эх үүсвэрт тооцогддог. Эдгээр төрлийн хөрөнгө оруулалтуудаас хичнээн хэмжээний орлого олох, хэзээ хүү нь төлөгдөх зэргийг хөрөнгө оруулагчид тодорхой</a:t>
            </a:r>
            <a:r>
              <a:rPr lang="kk-KZ" sz="2600" spc="200" dirty="0">
                <a:solidFill>
                  <a:srgbClr val="002060"/>
                </a:solidFill>
                <a:effectLst/>
                <a:latin typeface="Times New Roman" panose="02020603050405020304" pitchFamily="18" charset="0"/>
                <a:ea typeface="Times New Roman" panose="02020603050405020304" pitchFamily="18" charset="0"/>
              </a:rPr>
              <a:t> </a:t>
            </a:r>
            <a:r>
              <a:rPr lang="kk-KZ" sz="2600" dirty="0">
                <a:solidFill>
                  <a:srgbClr val="002060"/>
                </a:solidFill>
                <a:effectLst/>
                <a:latin typeface="Times New Roman" panose="02020603050405020304" pitchFamily="18" charset="0"/>
                <a:ea typeface="Times New Roman" panose="02020603050405020304" pitchFamily="18" charset="0"/>
              </a:rPr>
              <a:t>мэдэх боломжтой.</a:t>
            </a:r>
            <a:endParaRPr lang="mn-MN" sz="2600" dirty="0">
              <a:solidFill>
                <a:srgbClr val="00206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94801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66473"/>
            <a:ext cx="11484244" cy="418652"/>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Хөрөнгө оруулалтад</a:t>
            </a:r>
            <a:r>
              <a:rPr lang="en-US" b="1" dirty="0">
                <a:solidFill>
                  <a:srgbClr val="002060"/>
                </a:solidFill>
                <a:latin typeface="Times New Roman" panose="02020603050405020304" pitchFamily="18" charset="0"/>
                <a:cs typeface="Times New Roman" panose="02020603050405020304" pitchFamily="18" charset="0"/>
              </a:rPr>
              <a:t>: </a:t>
            </a:r>
            <a:r>
              <a:rPr lang="mn-MN" b="1" dirty="0">
                <a:solidFill>
                  <a:schemeClr val="accent2">
                    <a:lumMod val="75000"/>
                  </a:schemeClr>
                </a:solidFill>
                <a:latin typeface="Times New Roman" panose="02020603050405020304" pitchFamily="18" charset="0"/>
                <a:cs typeface="Times New Roman" panose="02020603050405020304" pitchFamily="18" charset="0"/>
              </a:rPr>
              <a:t>нөлөөлөх хүчин зүйл </a:t>
            </a:r>
            <a:r>
              <a:rPr lang="en-US" b="1" dirty="0">
                <a:solidFill>
                  <a:schemeClr val="accent2">
                    <a:lumMod val="75000"/>
                  </a:schemeClr>
                </a:solidFill>
                <a:latin typeface="Times New Roman" panose="02020603050405020304" pitchFamily="18" charset="0"/>
                <a:cs typeface="Times New Roman" panose="02020603050405020304" pitchFamily="18" charset="0"/>
              </a:rPr>
              <a:t>(</a:t>
            </a:r>
            <a:r>
              <a:rPr lang="mn-MN" b="1" dirty="0">
                <a:solidFill>
                  <a:schemeClr val="accent2">
                    <a:lumMod val="75000"/>
                  </a:schemeClr>
                </a:solidFill>
                <a:latin typeface="Times New Roman" panose="02020603050405020304" pitchFamily="18" charset="0"/>
                <a:cs typeface="Times New Roman" panose="02020603050405020304" pitchFamily="18" charset="0"/>
              </a:rPr>
              <a:t>ХЗ</a:t>
            </a:r>
            <a:r>
              <a:rPr lang="en-US" b="1" dirty="0">
                <a:solidFill>
                  <a:schemeClr val="accent2">
                    <a:lumMod val="75000"/>
                  </a:schemeClr>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94469" y="600116"/>
            <a:ext cx="11484243" cy="2158585"/>
          </a:xfrm>
        </p:spPr>
        <p:txBody>
          <a:bodyPr>
            <a:noAutofit/>
          </a:bodyPr>
          <a:lstStyle/>
          <a:p>
            <a:pPr algn="just">
              <a:lnSpc>
                <a:spcPct val="95000"/>
              </a:lnSpc>
              <a:spcBef>
                <a:spcPts val="0"/>
              </a:spcBef>
            </a:pPr>
            <a:r>
              <a:rPr lang="mn-MN" sz="2500" b="1" dirty="0">
                <a:solidFill>
                  <a:srgbClr val="0000FF"/>
                </a:solidFill>
                <a:latin typeface="Times New Roman" panose="02020603050405020304" pitchFamily="18" charset="0"/>
                <a:cs typeface="Times New Roman" panose="02020603050405020304" pitchFamily="18" charset="0"/>
              </a:rPr>
              <a:t>Өсөлтийн ХЗ: </a:t>
            </a:r>
            <a:r>
              <a:rPr lang="mn-MN" sz="2500" dirty="0">
                <a:solidFill>
                  <a:srgbClr val="002060"/>
                </a:solidFill>
                <a:latin typeface="Times New Roman" panose="02020603050405020304" pitchFamily="18" charset="0"/>
                <a:cs typeface="Times New Roman" panose="02020603050405020304" pitchFamily="18" charset="0"/>
              </a:rPr>
              <a:t>Хөрөнгө оруулалтын үнэ цэнийн өсөлт хамаарна. Тухайлбал, Зах зээл дээрх хувьцаа, бонд, үл хөдлөх хөрөнгийн үнийн өөрчлөлт буюу уналт өсөлт юм.</a:t>
            </a:r>
          </a:p>
          <a:p>
            <a:pPr algn="just">
              <a:lnSpc>
                <a:spcPct val="95000"/>
              </a:lnSpc>
              <a:spcBef>
                <a:spcPts val="0"/>
              </a:spcBef>
            </a:pPr>
            <a:r>
              <a:rPr lang="mn-MN" sz="2500" b="1" dirty="0">
                <a:solidFill>
                  <a:srgbClr val="0000FF"/>
                </a:solidFill>
                <a:latin typeface="Times New Roman" panose="02020603050405020304" pitchFamily="18" charset="0"/>
                <a:cs typeface="Times New Roman" panose="02020603050405020304" pitchFamily="18" charset="0"/>
              </a:rPr>
              <a:t>Хөрвөх чадварын ХЗ:  </a:t>
            </a:r>
            <a:r>
              <a:rPr lang="mn-MN" sz="2500" dirty="0">
                <a:latin typeface="Times New Roman" panose="02020603050405020304" pitchFamily="18" charset="0"/>
                <a:cs typeface="Times New Roman" panose="02020603050405020304" pitchFamily="18" charset="0"/>
              </a:rPr>
              <a:t>Ямар нэг зүйл үнэ цэнээ алдахгүйгээр мөнгөнд шилжих чадвар. Чекийн болон хадгаламжийн дансууд хамгийн хөрвөх чадвар сайтайд тооцогдоно. тэд маш хурдан бэлэн мөнгө болон хувирдаг. Гэтэл үл хөдлөх хөрөнгийг яаралтай худалдахын тулд хямд үнийг санал болгох хэрэгтэй болно.</a:t>
            </a:r>
          </a:p>
        </p:txBody>
      </p:sp>
      <p:pic>
        <p:nvPicPr>
          <p:cNvPr id="5" name="Picture 4">
            <a:extLst>
              <a:ext uri="{FF2B5EF4-FFF2-40B4-BE49-F238E27FC236}">
                <a16:creationId xmlns:a16="http://schemas.microsoft.com/office/drawing/2014/main" id="{F127BAE1-CE90-4706-8312-9BC10E24C1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9593" y="3212837"/>
            <a:ext cx="4478725" cy="3045047"/>
          </a:xfrm>
          <a:prstGeom prst="rect">
            <a:avLst/>
          </a:prstGeom>
        </p:spPr>
      </p:pic>
      <p:sp>
        <p:nvSpPr>
          <p:cNvPr id="6" name="Content Placeholder 2">
            <a:extLst>
              <a:ext uri="{FF2B5EF4-FFF2-40B4-BE49-F238E27FC236}">
                <a16:creationId xmlns:a16="http://schemas.microsoft.com/office/drawing/2014/main" id="{FE3AEBFE-8CFA-41E6-BC8C-B705CBDBCCEB}"/>
              </a:ext>
            </a:extLst>
          </p:cNvPr>
          <p:cNvSpPr txBox="1">
            <a:spLocks/>
          </p:cNvSpPr>
          <p:nvPr/>
        </p:nvSpPr>
        <p:spPr>
          <a:xfrm>
            <a:off x="464949" y="3212836"/>
            <a:ext cx="6834753" cy="30450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95000"/>
              </a:lnSpc>
              <a:spcBef>
                <a:spcPts val="0"/>
              </a:spcBef>
              <a:buFont typeface="Arial" panose="020B0604020202020204" pitchFamily="34" charset="0"/>
              <a:buNone/>
            </a:pPr>
            <a:r>
              <a:rPr lang="mn-MN" sz="2600" b="1" dirty="0">
                <a:latin typeface="Times New Roman" panose="02020603050405020304" pitchFamily="18" charset="0"/>
                <a:cs typeface="Times New Roman" panose="02020603050405020304" pitchFamily="18" charset="0"/>
              </a:rPr>
              <a:t>Хөрөнгө оруулалтын төслийн шийдвэр гаргалт</a:t>
            </a:r>
            <a:r>
              <a:rPr lang="mn-MN" sz="2600" dirty="0">
                <a:latin typeface="Times New Roman" panose="02020603050405020304" pitchFamily="18" charset="0"/>
                <a:cs typeface="Times New Roman" panose="02020603050405020304" pitchFamily="18" charset="0"/>
              </a:rPr>
              <a:t>, түүнд нөлөөлөх хүчин зүйл </a:t>
            </a:r>
          </a:p>
          <a:p>
            <a:pPr marL="514350" indent="-514350" algn="just">
              <a:lnSpc>
                <a:spcPct val="95000"/>
              </a:lnSpc>
              <a:spcBef>
                <a:spcPts val="0"/>
              </a:spcBef>
              <a:buFont typeface="Arial" panose="020B0604020202020204" pitchFamily="34" charset="0"/>
              <a:buAutoNum type="arabicPeriod"/>
            </a:pPr>
            <a:r>
              <a:rPr lang="mn-MN" sz="2600" dirty="0">
                <a:latin typeface="Times New Roman" panose="02020603050405020304" pitchFamily="18" charset="0"/>
                <a:cs typeface="Times New Roman" panose="02020603050405020304" pitchFamily="18" charset="0"/>
              </a:rPr>
              <a:t>Мөнгөний цаг хугацааны үнэ цэнийн хүчин зүйлийг харгалзан үзэх.</a:t>
            </a:r>
          </a:p>
          <a:p>
            <a:pPr marL="514350" indent="-514350" algn="just">
              <a:lnSpc>
                <a:spcPct val="95000"/>
              </a:lnSpc>
              <a:spcBef>
                <a:spcPts val="0"/>
              </a:spcBef>
              <a:buFont typeface="Arial" panose="020B0604020202020204" pitchFamily="34" charset="0"/>
              <a:buAutoNum type="arabicPeriod"/>
            </a:pPr>
            <a:r>
              <a:rPr lang="mn-MN" sz="2600" dirty="0">
                <a:latin typeface="Times New Roman" panose="02020603050405020304" pitchFamily="18" charset="0"/>
                <a:cs typeface="Times New Roman" panose="02020603050405020304" pitchFamily="18" charset="0"/>
              </a:rPr>
              <a:t>ХО-тын өгөөжийг зөвхөн мөнгөн орлого, зардлаар үнэлэх. </a:t>
            </a:r>
          </a:p>
          <a:p>
            <a:pPr marL="514350" indent="-514350" algn="just">
              <a:lnSpc>
                <a:spcPct val="95000"/>
              </a:lnSpc>
              <a:spcBef>
                <a:spcPts val="0"/>
              </a:spcBef>
              <a:buFont typeface="Arial" panose="020B0604020202020204" pitchFamily="34" charset="0"/>
              <a:buAutoNum type="arabicPeriod"/>
            </a:pPr>
            <a:r>
              <a:rPr lang="mn-MN" sz="2600" dirty="0">
                <a:latin typeface="Times New Roman" panose="02020603050405020304" pitchFamily="18" charset="0"/>
                <a:cs typeface="Times New Roman" panose="02020603050405020304" pitchFamily="18" charset="0"/>
              </a:rPr>
              <a:t>Оновчтой хувилбар сонголтод хувилбарын харилцан хамааралыг тооцох хэрэгтэй.</a:t>
            </a:r>
          </a:p>
        </p:txBody>
      </p:sp>
    </p:spTree>
    <p:extLst>
      <p:ext uri="{BB962C8B-B14F-4D97-AF65-F5344CB8AC3E}">
        <p14:creationId xmlns:p14="http://schemas.microsoft.com/office/powerpoint/2010/main" val="2762092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66473"/>
            <a:ext cx="11484244" cy="418652"/>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Хөрөнгө оруулалтад</a:t>
            </a:r>
            <a:r>
              <a:rPr lang="en-US" b="1" dirty="0">
                <a:solidFill>
                  <a:srgbClr val="002060"/>
                </a:solidFill>
                <a:latin typeface="Times New Roman" panose="02020603050405020304" pitchFamily="18" charset="0"/>
                <a:cs typeface="Times New Roman" panose="02020603050405020304" pitchFamily="18" charset="0"/>
              </a:rPr>
              <a:t>: </a:t>
            </a:r>
            <a:r>
              <a:rPr lang="mn-MN" b="1" dirty="0">
                <a:solidFill>
                  <a:schemeClr val="accent2">
                    <a:lumMod val="75000"/>
                  </a:schemeClr>
                </a:solidFill>
                <a:latin typeface="Times New Roman" panose="02020603050405020304" pitchFamily="18" charset="0"/>
                <a:cs typeface="Times New Roman" panose="02020603050405020304" pitchFamily="18" charset="0"/>
              </a:rPr>
              <a:t>нөлөөлөх хүчин зүйл </a:t>
            </a:r>
            <a:r>
              <a:rPr lang="en-US" b="1" dirty="0">
                <a:solidFill>
                  <a:schemeClr val="accent2">
                    <a:lumMod val="75000"/>
                  </a:schemeClr>
                </a:solidFill>
                <a:latin typeface="Times New Roman" panose="02020603050405020304" pitchFamily="18" charset="0"/>
                <a:cs typeface="Times New Roman" panose="02020603050405020304" pitchFamily="18" charset="0"/>
              </a:rPr>
              <a:t>(</a:t>
            </a:r>
            <a:r>
              <a:rPr lang="mn-MN" b="1" dirty="0">
                <a:solidFill>
                  <a:schemeClr val="accent2">
                    <a:lumMod val="75000"/>
                  </a:schemeClr>
                </a:solidFill>
                <a:latin typeface="Times New Roman" panose="02020603050405020304" pitchFamily="18" charset="0"/>
                <a:cs typeface="Times New Roman" panose="02020603050405020304" pitchFamily="18" charset="0"/>
              </a:rPr>
              <a:t>ХЗ</a:t>
            </a:r>
            <a:r>
              <a:rPr lang="en-US" b="1" dirty="0">
                <a:solidFill>
                  <a:schemeClr val="accent2">
                    <a:lumMod val="75000"/>
                  </a:schemeClr>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94469" y="600116"/>
            <a:ext cx="11484243" cy="2158585"/>
          </a:xfrm>
        </p:spPr>
        <p:txBody>
          <a:bodyPr>
            <a:noAutofit/>
          </a:bodyPr>
          <a:lstStyle/>
          <a:p>
            <a:pPr marL="0" indent="0" algn="just">
              <a:lnSpc>
                <a:spcPct val="95000"/>
              </a:lnSpc>
              <a:spcBef>
                <a:spcPts val="0"/>
              </a:spcBef>
              <a:buNone/>
            </a:pPr>
            <a:r>
              <a:rPr lang="mn-MN" sz="2000" b="1" dirty="0">
                <a:solidFill>
                  <a:srgbClr val="0000FF"/>
                </a:solidFill>
                <a:latin typeface="Times New Roman" panose="02020603050405020304" pitchFamily="18" charset="0"/>
                <a:cs typeface="Times New Roman" panose="02020603050405020304" pitchFamily="18" charset="0"/>
              </a:rPr>
              <a:t>Хөрөнгө оруулалтанд нөлөөлөх хүүгийн бус хүчин зүйлс</a:t>
            </a:r>
          </a:p>
          <a:p>
            <a:pPr marL="457200" indent="-457200" algn="just">
              <a:lnSpc>
                <a:spcPct val="95000"/>
              </a:lnSpc>
              <a:spcBef>
                <a:spcPts val="0"/>
              </a:spcBef>
              <a:buFont typeface="+mj-lt"/>
              <a:buAutoNum type="arabicPeriod"/>
            </a:pPr>
            <a:r>
              <a:rPr lang="mn-MN" sz="2000" b="1" dirty="0">
                <a:solidFill>
                  <a:srgbClr val="002060"/>
                </a:solidFill>
                <a:latin typeface="Times New Roman" panose="02020603050405020304" pitchFamily="18" charset="0"/>
                <a:cs typeface="Times New Roman" panose="02020603050405020304" pitchFamily="18" charset="0"/>
              </a:rPr>
              <a:t>Үйлдвэрлэлийн зардал. </a:t>
            </a:r>
            <a:r>
              <a:rPr lang="mn-MN" sz="2000" dirty="0">
                <a:solidFill>
                  <a:srgbClr val="002060"/>
                </a:solidFill>
                <a:latin typeface="Times New Roman" panose="02020603050405020304" pitchFamily="18" charset="0"/>
                <a:cs typeface="Times New Roman" panose="02020603050405020304" pitchFamily="18" charset="0"/>
              </a:rPr>
              <a:t>Үйлдвэрлэлийн зардал (цалин, түүхий эд материал, машин, тоног төхөөрөмжийн үнэ) нэмэгдэхэд хөрөнгө оруулалтаас олох ирээдүйн ашиг буурдаг учраас хөрөнгө оруулах сонирхол буурна.</a:t>
            </a:r>
            <a:r>
              <a:rPr lang="en-US" sz="2000" dirty="0">
                <a:solidFill>
                  <a:srgbClr val="002060"/>
                </a:solidFill>
                <a:latin typeface="Times New Roman" panose="02020603050405020304" pitchFamily="18" charset="0"/>
                <a:cs typeface="Times New Roman" panose="02020603050405020304" pitchFamily="18" charset="0"/>
              </a:rPr>
              <a:t> </a:t>
            </a:r>
            <a:r>
              <a:rPr lang="mn-MN" sz="2000" dirty="0">
                <a:solidFill>
                  <a:srgbClr val="002060"/>
                </a:solidFill>
                <a:latin typeface="Times New Roman" panose="02020603050405020304" pitchFamily="18" charset="0"/>
                <a:cs typeface="Times New Roman" panose="02020603050405020304" pitchFamily="18" charset="0"/>
              </a:rPr>
              <a:t>Зардал буурвал хөрөнгө оруулалт нэмэгдэнэ.</a:t>
            </a:r>
            <a:r>
              <a:rPr lang="en-US" sz="2000" dirty="0">
                <a:solidFill>
                  <a:srgbClr val="002060"/>
                </a:solidFill>
                <a:latin typeface="Times New Roman" panose="02020603050405020304" pitchFamily="18" charset="0"/>
                <a:cs typeface="Times New Roman" panose="02020603050405020304" pitchFamily="18" charset="0"/>
              </a:rPr>
              <a:t> (</a:t>
            </a:r>
            <a:r>
              <a:rPr lang="mn-MN" sz="2000" dirty="0">
                <a:solidFill>
                  <a:srgbClr val="002060"/>
                </a:solidFill>
                <a:latin typeface="Times New Roman" panose="02020603050405020304" pitchFamily="18" charset="0"/>
                <a:cs typeface="Times New Roman" panose="02020603050405020304" pitchFamily="18" charset="0"/>
              </a:rPr>
              <a:t>урвуу хамаарал</a:t>
            </a:r>
            <a:r>
              <a:rPr lang="en-US" sz="2000" dirty="0">
                <a:solidFill>
                  <a:srgbClr val="002060"/>
                </a:solidFill>
                <a:latin typeface="Times New Roman" panose="02020603050405020304" pitchFamily="18" charset="0"/>
                <a:cs typeface="Times New Roman" panose="02020603050405020304" pitchFamily="18" charset="0"/>
              </a:rPr>
              <a:t>)</a:t>
            </a:r>
            <a:r>
              <a:rPr lang="mn-MN" sz="2000" dirty="0">
                <a:solidFill>
                  <a:srgbClr val="002060"/>
                </a:solidFill>
                <a:latin typeface="Times New Roman" panose="02020603050405020304" pitchFamily="18" charset="0"/>
                <a:cs typeface="Times New Roman" panose="02020603050405020304" pitchFamily="18" charset="0"/>
              </a:rPr>
              <a:t>.</a:t>
            </a:r>
          </a:p>
          <a:p>
            <a:pPr marL="457200" indent="-457200" algn="just">
              <a:lnSpc>
                <a:spcPct val="95000"/>
              </a:lnSpc>
              <a:spcBef>
                <a:spcPts val="0"/>
              </a:spcBef>
              <a:buFont typeface="+mj-lt"/>
              <a:buAutoNum type="arabicPeriod"/>
            </a:pPr>
            <a:r>
              <a:rPr lang="mn-MN" sz="2000" b="1" dirty="0">
                <a:solidFill>
                  <a:srgbClr val="002060"/>
                </a:solidFill>
                <a:latin typeface="Times New Roman" panose="02020603050405020304" pitchFamily="18" charset="0"/>
                <a:cs typeface="Times New Roman" panose="02020603050405020304" pitchFamily="18" charset="0"/>
              </a:rPr>
              <a:t>Ашигт ноогдуулах татвар.</a:t>
            </a:r>
            <a:r>
              <a:rPr lang="mn-MN" sz="2000" dirty="0">
                <a:solidFill>
                  <a:srgbClr val="002060"/>
                </a:solidFill>
                <a:latin typeface="Times New Roman" panose="02020603050405020304" pitchFamily="18" charset="0"/>
                <a:cs typeface="Times New Roman" panose="02020603050405020304" pitchFamily="18" charset="0"/>
              </a:rPr>
              <a:t> Татварын хэмжээ нэмэгдэхэд бизнес эрхлэгчдэд үлдэх цэвэр ашгийн хэмжээ буурах ба татвар буурахад ашгийн хэмжээ өсдөг.</a:t>
            </a:r>
            <a:r>
              <a:rPr lang="en-US" sz="2000" dirty="0">
                <a:solidFill>
                  <a:srgbClr val="002060"/>
                </a:solidFill>
                <a:latin typeface="Times New Roman" panose="02020603050405020304" pitchFamily="18" charset="0"/>
                <a:cs typeface="Times New Roman" panose="02020603050405020304" pitchFamily="18" charset="0"/>
              </a:rPr>
              <a:t> (</a:t>
            </a:r>
            <a:r>
              <a:rPr lang="mn-MN" sz="2000" dirty="0">
                <a:solidFill>
                  <a:srgbClr val="002060"/>
                </a:solidFill>
                <a:latin typeface="Times New Roman" panose="02020603050405020304" pitchFamily="18" charset="0"/>
                <a:cs typeface="Times New Roman" panose="02020603050405020304" pitchFamily="18" charset="0"/>
              </a:rPr>
              <a:t>шууд хамаарал</a:t>
            </a:r>
            <a:r>
              <a:rPr lang="en-US" sz="2000" dirty="0">
                <a:solidFill>
                  <a:srgbClr val="002060"/>
                </a:solidFill>
                <a:latin typeface="Times New Roman" panose="02020603050405020304" pitchFamily="18" charset="0"/>
                <a:cs typeface="Times New Roman" panose="02020603050405020304" pitchFamily="18" charset="0"/>
              </a:rPr>
              <a:t>)</a:t>
            </a:r>
            <a:r>
              <a:rPr lang="mn-MN" sz="2000" dirty="0">
                <a:solidFill>
                  <a:srgbClr val="002060"/>
                </a:solidFill>
                <a:latin typeface="Times New Roman" panose="02020603050405020304" pitchFamily="18" charset="0"/>
                <a:cs typeface="Times New Roman" panose="02020603050405020304" pitchFamily="18" charset="0"/>
              </a:rPr>
              <a:t>.</a:t>
            </a:r>
          </a:p>
          <a:p>
            <a:pPr marL="457200" indent="-457200" algn="just">
              <a:lnSpc>
                <a:spcPct val="95000"/>
              </a:lnSpc>
              <a:spcBef>
                <a:spcPts val="0"/>
              </a:spcBef>
              <a:buFont typeface="+mj-lt"/>
              <a:buAutoNum type="arabicPeriod"/>
            </a:pPr>
            <a:r>
              <a:rPr lang="mn-MN" sz="2000" b="1" dirty="0">
                <a:solidFill>
                  <a:srgbClr val="002060"/>
                </a:solidFill>
                <a:latin typeface="Times New Roman" panose="02020603050405020304" pitchFamily="18" charset="0"/>
                <a:cs typeface="Times New Roman" panose="02020603050405020304" pitchFamily="18" charset="0"/>
              </a:rPr>
              <a:t>Технологийн өөрчлөлт.</a:t>
            </a:r>
            <a:r>
              <a:rPr lang="mn-MN" sz="2000" dirty="0">
                <a:solidFill>
                  <a:srgbClr val="002060"/>
                </a:solidFill>
                <a:latin typeface="Times New Roman" panose="02020603050405020304" pitchFamily="18" charset="0"/>
                <a:cs typeface="Times New Roman" panose="02020603050405020304" pitchFamily="18" charset="0"/>
              </a:rPr>
              <a:t> ШУТ-н дэвшлийн үр дүнд шинэ, боловсронгуй техник, технологи гарч шинэ бүтээгдэхүүн бий болоход аж ахуйн нэгжүүд техник, технологио шинэчлэх, өргөтгөхийг эрмэлзэж эхэлдэг учир техникийн дэвшил нь хөрөнгө оруулалтыг урамшуулах чухал хөшүүрэг болдог.</a:t>
            </a:r>
          </a:p>
          <a:p>
            <a:pPr marL="457200" indent="-457200" algn="just">
              <a:lnSpc>
                <a:spcPct val="95000"/>
              </a:lnSpc>
              <a:spcBef>
                <a:spcPts val="0"/>
              </a:spcBef>
              <a:buFont typeface="+mj-lt"/>
              <a:buAutoNum type="arabicPeriod"/>
            </a:pPr>
            <a:r>
              <a:rPr lang="mn-MN" sz="2000" b="1" dirty="0">
                <a:solidFill>
                  <a:srgbClr val="002060"/>
                </a:solidFill>
                <a:latin typeface="Times New Roman" panose="02020603050405020304" pitchFamily="18" charset="0"/>
                <a:cs typeface="Times New Roman" panose="02020603050405020304" pitchFamily="18" charset="0"/>
              </a:rPr>
              <a:t>Үндсэн капиталын хэмжээ, хангамж.</a:t>
            </a:r>
            <a:r>
              <a:rPr lang="mn-MN" sz="2000" dirty="0">
                <a:solidFill>
                  <a:srgbClr val="002060"/>
                </a:solidFill>
                <a:latin typeface="Times New Roman" panose="02020603050405020304" pitchFamily="18" charset="0"/>
                <a:cs typeface="Times New Roman" panose="02020603050405020304" pitchFamily="18" charset="0"/>
              </a:rPr>
              <a:t> Ямар ч хөрөнгө оруулалтын үр дүн, гарах ашиг нь түүгээр үйлдвэрлэгдсэн бүтээгдэхүүний ирээдүйн борлуулалт, зах зээлийн үнээс шууд шалтгаалдаг. Иймээс үйлдвэрийн эзэд ирээдүйдээ хэр зэрэг итгэлтэй, өөдрөг сэтгэлтэй байна хөрөнгө оруулалт эрэлт төдий чинээ их байдаг</a:t>
            </a:r>
          </a:p>
        </p:txBody>
      </p:sp>
    </p:spTree>
    <p:extLst>
      <p:ext uri="{BB962C8B-B14F-4D97-AF65-F5344CB8AC3E}">
        <p14:creationId xmlns:p14="http://schemas.microsoft.com/office/powerpoint/2010/main" val="4244655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134912" y="130629"/>
            <a:ext cx="6433252" cy="489314"/>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Хөрөнгө оруулалт</a:t>
            </a:r>
            <a:r>
              <a:rPr lang="en-US" sz="3600" b="1" dirty="0">
                <a:solidFill>
                  <a:srgbClr val="002060"/>
                </a:solidFill>
                <a:latin typeface="Times New Roman" panose="02020603050405020304" pitchFamily="18" charset="0"/>
                <a:cs typeface="Times New Roman" panose="02020603050405020304" pitchFamily="18" charset="0"/>
              </a:rPr>
              <a:t>ы</a:t>
            </a:r>
            <a:r>
              <a:rPr lang="mn-MN" sz="3600" b="1" dirty="0">
                <a:solidFill>
                  <a:srgbClr val="002060"/>
                </a:solidFill>
                <a:latin typeface="Times New Roman" panose="02020603050405020304" pitchFamily="18" charset="0"/>
                <a:cs typeface="Times New Roman" panose="02020603050405020304" pitchFamily="18" charset="0"/>
              </a:rPr>
              <a:t>н ангилал</a:t>
            </a:r>
            <a:endParaRPr lang="en-US" sz="36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197370" y="657544"/>
            <a:ext cx="11797259" cy="5608345"/>
          </a:xfrm>
        </p:spPr>
        <p:txBody>
          <a:bodyPr>
            <a:normAutofit lnSpcReduction="10000"/>
          </a:bodyPr>
          <a:lstStyle/>
          <a:p>
            <a:pPr algn="just">
              <a:lnSpc>
                <a:spcPct val="100000"/>
              </a:lnSpc>
              <a:spcBef>
                <a:spcPts val="200"/>
              </a:spcBef>
            </a:pPr>
            <a:r>
              <a:rPr lang="mn-MN" sz="3200" b="1" dirty="0">
                <a:solidFill>
                  <a:srgbClr val="002060"/>
                </a:solidFill>
                <a:latin typeface="Times New Roman" panose="02020603050405020304" pitchFamily="18" charset="0"/>
                <a:cs typeface="Times New Roman" panose="02020603050405020304" pitchFamily="18" charset="0"/>
              </a:rPr>
              <a:t>Санхүүгийн хөрөнгө оруулалт </a:t>
            </a:r>
            <a:r>
              <a:rPr lang="mn-MN" sz="3200" dirty="0">
                <a:solidFill>
                  <a:srgbClr val="002060"/>
                </a:solidFill>
                <a:latin typeface="Times New Roman" panose="02020603050405020304" pitchFamily="18" charset="0"/>
                <a:cs typeface="Times New Roman" panose="02020603050405020304" pitchFamily="18" charset="0"/>
              </a:rPr>
              <a:t>– </a:t>
            </a:r>
          </a:p>
          <a:p>
            <a:pPr marL="284163" indent="0" algn="just">
              <a:lnSpc>
                <a:spcPct val="100000"/>
              </a:lnSpc>
              <a:spcBef>
                <a:spcPts val="200"/>
              </a:spcBef>
              <a:buNone/>
            </a:pPr>
            <a:r>
              <a:rPr lang="mn-MN" sz="3200" dirty="0">
                <a:solidFill>
                  <a:srgbClr val="002060"/>
                </a:solidFill>
                <a:latin typeface="Times New Roman" panose="02020603050405020304" pitchFamily="18" charset="0"/>
                <a:cs typeface="Times New Roman" panose="02020603050405020304" pitchFamily="18" charset="0"/>
              </a:rPr>
              <a:t>хувийн болон улсын компаниудын гаргасан хувьцаа, бонд, бусад үнэт цаасанд оруулах хөрөнгө оруулалт. </a:t>
            </a:r>
          </a:p>
          <a:p>
            <a:pPr algn="just">
              <a:lnSpc>
                <a:spcPct val="100000"/>
              </a:lnSpc>
              <a:spcBef>
                <a:spcPts val="200"/>
              </a:spcBef>
            </a:pPr>
            <a:r>
              <a:rPr lang="mn-MN" sz="3200" b="1" dirty="0">
                <a:solidFill>
                  <a:srgbClr val="002060"/>
                </a:solidFill>
                <a:latin typeface="Times New Roman" panose="02020603050405020304" pitchFamily="18" charset="0"/>
                <a:cs typeface="Times New Roman" panose="02020603050405020304" pitchFamily="18" charset="0"/>
              </a:rPr>
              <a:t>Бодит буюу шууд хөрөнгө оруулалт </a:t>
            </a:r>
            <a:r>
              <a:rPr lang="mn-MN" sz="3200" dirty="0">
                <a:solidFill>
                  <a:srgbClr val="002060"/>
                </a:solidFill>
                <a:latin typeface="Times New Roman" panose="02020603050405020304" pitchFamily="18" charset="0"/>
                <a:cs typeface="Times New Roman" panose="02020603050405020304" pitchFamily="18" charset="0"/>
              </a:rPr>
              <a:t>– хувийн болон улсын компаниудын ямар нэг бүтээгдэхүүний үйлдвэрлэл, ажил үйлчилгээ, үндсэн ба эргэлтийн хөрөнгөд оруулах хөрөнгө оруулалт. 2 төрөлтэй: </a:t>
            </a:r>
          </a:p>
          <a:p>
            <a:pPr marL="971550" lvl="1" indent="-514350" algn="just">
              <a:lnSpc>
                <a:spcPct val="100000"/>
              </a:lnSpc>
              <a:spcBef>
                <a:spcPts val="200"/>
              </a:spcBef>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Үндсэн хөрөнгөд оруулж байгаа хөрөнгө оруулалт. </a:t>
            </a:r>
          </a:p>
          <a:p>
            <a:pPr marL="971550" lvl="1" indent="-514350" algn="just">
              <a:lnSpc>
                <a:spcPct val="100000"/>
              </a:lnSpc>
              <a:spcBef>
                <a:spcPts val="200"/>
              </a:spcBef>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Бараа материалын нөөцөд зориулсан хөрөнгө оруулалт. </a:t>
            </a:r>
          </a:p>
          <a:p>
            <a:pPr algn="just">
              <a:lnSpc>
                <a:spcPct val="100000"/>
              </a:lnSpc>
              <a:spcBef>
                <a:spcPts val="200"/>
              </a:spcBef>
            </a:pPr>
            <a:r>
              <a:rPr lang="mn-MN" sz="3200" b="1" dirty="0">
                <a:solidFill>
                  <a:srgbClr val="002060"/>
                </a:solidFill>
                <a:latin typeface="Times New Roman" panose="02020603050405020304" pitchFamily="18" charset="0"/>
                <a:cs typeface="Times New Roman" panose="02020603050405020304" pitchFamily="18" charset="0"/>
              </a:rPr>
              <a:t>Оюуны хөрөнгө оруулалт </a:t>
            </a:r>
            <a:r>
              <a:rPr lang="mn-MN" sz="3200" dirty="0">
                <a:solidFill>
                  <a:srgbClr val="002060"/>
                </a:solidFill>
                <a:latin typeface="Times New Roman" panose="02020603050405020304" pitchFamily="18" charset="0"/>
                <a:cs typeface="Times New Roman" panose="02020603050405020304" pitchFamily="18" charset="0"/>
              </a:rPr>
              <a:t>– эрдэм шинжилгээ, судалгаа, туршилт, зохион бүтээлтийн шинжлэх ухааны боловсруулалт, лиценз зэрэгт оруулах хөрөнгө оруулалт. </a:t>
            </a:r>
          </a:p>
        </p:txBody>
      </p:sp>
      <p:sp>
        <p:nvSpPr>
          <p:cNvPr id="5" name="TextBox 4">
            <a:extLst>
              <a:ext uri="{FF2B5EF4-FFF2-40B4-BE49-F238E27FC236}">
                <a16:creationId xmlns:a16="http://schemas.microsoft.com/office/drawing/2014/main" id="{08538CE5-8AF8-FAA2-E82D-23D78F5A58DB}"/>
              </a:ext>
            </a:extLst>
          </p:cNvPr>
          <p:cNvSpPr txBox="1"/>
          <p:nvPr/>
        </p:nvSpPr>
        <p:spPr>
          <a:xfrm>
            <a:off x="6568163" y="66386"/>
            <a:ext cx="5488926" cy="1126462"/>
          </a:xfrm>
          <a:prstGeom prst="rect">
            <a:avLst/>
          </a:prstGeom>
          <a:solidFill>
            <a:schemeClr val="accent4">
              <a:lumMod val="20000"/>
              <a:lumOff val="80000"/>
            </a:schemeClr>
          </a:solidFill>
        </p:spPr>
        <p:txBody>
          <a:bodyPr wrap="square">
            <a:spAutoFit/>
          </a:bodyPr>
          <a:lstStyle/>
          <a:p>
            <a:pPr algn="just">
              <a:lnSpc>
                <a:spcPct val="80000"/>
              </a:lnSpc>
            </a:pPr>
            <a:r>
              <a:rPr lang="mn-MN" sz="2800" dirty="0">
                <a:solidFill>
                  <a:srgbClr val="FF0000"/>
                </a:solidFill>
                <a:latin typeface="Times New Roman" panose="02020603050405020304" pitchFamily="18" charset="0"/>
                <a:cs typeface="Times New Roman" panose="02020603050405020304" pitchFamily="18" charset="0"/>
              </a:rPr>
              <a:t>Хөрөнгө оруулалтыг ном сурах бичгүүд дээр өөр олон шинжээр ангилсан байдаг. </a:t>
            </a:r>
          </a:p>
        </p:txBody>
      </p:sp>
    </p:spTree>
    <p:extLst>
      <p:ext uri="{BB962C8B-B14F-4D97-AF65-F5344CB8AC3E}">
        <p14:creationId xmlns:p14="http://schemas.microsoft.com/office/powerpoint/2010/main" val="2543301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134912" y="130629"/>
            <a:ext cx="6433252" cy="489314"/>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Хөрөнгө оруулалт</a:t>
            </a:r>
            <a:r>
              <a:rPr lang="en-US" sz="3600" b="1" dirty="0">
                <a:solidFill>
                  <a:srgbClr val="002060"/>
                </a:solidFill>
                <a:latin typeface="Times New Roman" panose="02020603050405020304" pitchFamily="18" charset="0"/>
                <a:cs typeface="Times New Roman" panose="02020603050405020304" pitchFamily="18" charset="0"/>
              </a:rPr>
              <a:t>ы</a:t>
            </a:r>
            <a:r>
              <a:rPr lang="mn-MN" sz="3600" b="1" dirty="0">
                <a:solidFill>
                  <a:srgbClr val="002060"/>
                </a:solidFill>
                <a:latin typeface="Times New Roman" panose="02020603050405020304" pitchFamily="18" charset="0"/>
                <a:cs typeface="Times New Roman" panose="02020603050405020304" pitchFamily="18" charset="0"/>
              </a:rPr>
              <a:t>н ангилал</a:t>
            </a:r>
            <a:endParaRPr lang="en-US" sz="36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197371" y="626012"/>
            <a:ext cx="11563706" cy="6069827"/>
          </a:xfrm>
        </p:spPr>
        <p:txBody>
          <a:bodyPr>
            <a:noAutofit/>
          </a:bodyPr>
          <a:lstStyle/>
          <a:p>
            <a:pPr marL="0" indent="0" algn="just">
              <a:spcBef>
                <a:spcPts val="0"/>
              </a:spcBef>
              <a:buNone/>
            </a:pPr>
            <a:r>
              <a:rPr lang="mn-MN" sz="2000" b="1" dirty="0">
                <a:solidFill>
                  <a:srgbClr val="002060"/>
                </a:solidFill>
                <a:latin typeface="Times New Roman" panose="02020603050405020304" pitchFamily="18" charset="0"/>
                <a:cs typeface="Times New Roman" panose="02020603050405020304" pitchFamily="18" charset="0"/>
              </a:rPr>
              <a:t>Санхүүгийн хөрөнгө оруулалтын төрлүүд:</a:t>
            </a:r>
          </a:p>
          <a:p>
            <a:pPr marL="236538" lvl="1" algn="just">
              <a:spcBef>
                <a:spcPts val="0"/>
              </a:spcBef>
            </a:pPr>
            <a:r>
              <a:rPr lang="mn-MN" sz="2000" b="1" i="0" dirty="0">
                <a:solidFill>
                  <a:srgbClr val="0000FF"/>
                </a:solidFill>
                <a:effectLst/>
                <a:latin typeface="Times New Roman" panose="02020603050405020304" pitchFamily="18" charset="0"/>
                <a:cs typeface="Times New Roman" panose="02020603050405020304" pitchFamily="18" charset="0"/>
              </a:rPr>
              <a:t>Уламжлалт хөрөнгө оруулалт:</a:t>
            </a:r>
          </a:p>
          <a:p>
            <a:pPr marL="457200" lvl="2" indent="-173038" algn="just">
              <a:spcBef>
                <a:spcPts val="0"/>
              </a:spcBef>
            </a:pPr>
            <a:r>
              <a:rPr lang="mn-MN" dirty="0">
                <a:solidFill>
                  <a:srgbClr val="002060"/>
                </a:solidFill>
                <a:effectLst/>
                <a:latin typeface="Times New Roman" panose="02020603050405020304" pitchFamily="18" charset="0"/>
                <a:cs typeface="Times New Roman" panose="02020603050405020304" pitchFamily="18" charset="0"/>
              </a:rPr>
              <a:t>Хувьцаа</a:t>
            </a:r>
          </a:p>
          <a:p>
            <a:pPr marL="457200" lvl="2" indent="-173038" algn="just">
              <a:spcBef>
                <a:spcPts val="0"/>
              </a:spcBef>
            </a:pPr>
            <a:r>
              <a:rPr lang="mn-MN" dirty="0">
                <a:solidFill>
                  <a:srgbClr val="002060"/>
                </a:solidFill>
                <a:effectLst/>
                <a:latin typeface="Times New Roman" panose="02020603050405020304" pitchFamily="18" charset="0"/>
                <a:cs typeface="Times New Roman" panose="02020603050405020304" pitchFamily="18" charset="0"/>
              </a:rPr>
              <a:t>Бонд</a:t>
            </a:r>
            <a:endParaRPr lang="mn-MN" dirty="0">
              <a:solidFill>
                <a:srgbClr val="002060"/>
              </a:solidFill>
              <a:latin typeface="Times New Roman" panose="02020603050405020304" pitchFamily="18" charset="0"/>
              <a:cs typeface="Times New Roman" panose="02020603050405020304" pitchFamily="18" charset="0"/>
            </a:endParaRPr>
          </a:p>
          <a:p>
            <a:pPr marL="457200" lvl="2" indent="-173038" algn="just">
              <a:spcBef>
                <a:spcPts val="0"/>
              </a:spcBef>
            </a:pPr>
            <a:r>
              <a:rPr lang="mn-MN" dirty="0">
                <a:solidFill>
                  <a:srgbClr val="002060"/>
                </a:solidFill>
                <a:effectLst/>
                <a:latin typeface="Times New Roman" panose="02020603050405020304" pitchFamily="18" charset="0"/>
                <a:cs typeface="Times New Roman" panose="02020603050405020304" pitchFamily="18" charset="0"/>
              </a:rPr>
              <a:t>Бэлэн мөнгө </a:t>
            </a:r>
          </a:p>
          <a:p>
            <a:pPr marL="457200" lvl="2" indent="-173038" algn="just">
              <a:spcBef>
                <a:spcPts val="0"/>
              </a:spcBef>
            </a:pPr>
            <a:r>
              <a:rPr lang="mn-MN" dirty="0">
                <a:solidFill>
                  <a:srgbClr val="002060"/>
                </a:solidFill>
                <a:effectLst/>
                <a:latin typeface="Times New Roman" panose="02020603050405020304" pitchFamily="18" charset="0"/>
                <a:cs typeface="Times New Roman" panose="02020603050405020304" pitchFamily="18" charset="0"/>
              </a:rPr>
              <a:t>Үл хөдлөх хөрөнгө</a:t>
            </a:r>
            <a:endParaRPr lang="mn-MN" dirty="0">
              <a:solidFill>
                <a:srgbClr val="002060"/>
              </a:solidFill>
              <a:latin typeface="Times New Roman" panose="02020603050405020304" pitchFamily="18" charset="0"/>
              <a:cs typeface="Times New Roman" panose="02020603050405020304" pitchFamily="18" charset="0"/>
            </a:endParaRPr>
          </a:p>
          <a:p>
            <a:pPr marL="236538" lvl="1" algn="just">
              <a:spcBef>
                <a:spcPts val="0"/>
              </a:spcBef>
            </a:pPr>
            <a:r>
              <a:rPr lang="mn-MN" sz="2000" b="1" dirty="0">
                <a:solidFill>
                  <a:srgbClr val="0000FF"/>
                </a:solidFill>
                <a:latin typeface="Times New Roman" panose="02020603050405020304" pitchFamily="18" charset="0"/>
                <a:cs typeface="Times New Roman" panose="02020603050405020304" pitchFamily="18" charset="0"/>
              </a:rPr>
              <a:t>Уламжлалт бус хөрөнгө оруулалт:</a:t>
            </a:r>
          </a:p>
          <a:p>
            <a:pPr marL="457200" lvl="2" indent="-173038" algn="just">
              <a:spcBef>
                <a:spcPts val="0"/>
              </a:spcBef>
            </a:pPr>
            <a:r>
              <a:rPr lang="mn-MN" dirty="0">
                <a:solidFill>
                  <a:srgbClr val="002060"/>
                </a:solidFill>
                <a:latin typeface="Times New Roman" panose="02020603050405020304" pitchFamily="18" charset="0"/>
                <a:cs typeface="Times New Roman" panose="02020603050405020304" pitchFamily="18" charset="0"/>
              </a:rPr>
              <a:t>Хөрөнгийн бирж дээр олон нийтэд арилжаалагддаггүй бизнесүүд дэх хувийн хөрөнгө, үүнд ихэвчлэн венчюр хөрөнгийн сан, хувь сайн хөрөнгө оруулагчид эсвэл олон нийтийн хөрөнгө оруулалтыг хамарсан байна.</a:t>
            </a:r>
          </a:p>
          <a:p>
            <a:pPr marL="457200" lvl="2" indent="-173038" algn="just">
              <a:spcBef>
                <a:spcPts val="0"/>
              </a:spcBef>
            </a:pPr>
            <a:r>
              <a:rPr lang="ru-RU" b="0" i="0" dirty="0">
                <a:solidFill>
                  <a:srgbClr val="002060"/>
                </a:solidFill>
                <a:effectLst/>
                <a:latin typeface="Times New Roman" panose="02020603050405020304" pitchFamily="18" charset="0"/>
                <a:cs typeface="Times New Roman" panose="02020603050405020304" pitchFamily="18" charset="0"/>
              </a:rPr>
              <a:t>Бусад зээл, түүний дотор ипотек /моргэж/-ийн зээл.</a:t>
            </a:r>
            <a:endParaRPr lang="mn-MN" b="0" i="0" dirty="0">
              <a:solidFill>
                <a:srgbClr val="002060"/>
              </a:solidFill>
              <a:effectLst/>
              <a:latin typeface="Times New Roman" panose="02020603050405020304" pitchFamily="18" charset="0"/>
              <a:cs typeface="Times New Roman" panose="02020603050405020304" pitchFamily="18" charset="0"/>
            </a:endParaRPr>
          </a:p>
          <a:p>
            <a:pPr marL="457200" lvl="2" indent="-173038" algn="just">
              <a:spcBef>
                <a:spcPts val="0"/>
              </a:spcBef>
            </a:pPr>
            <a:r>
              <a:rPr lang="mn-MN" b="0" i="0" dirty="0">
                <a:solidFill>
                  <a:srgbClr val="002060"/>
                </a:solidFill>
                <a:effectLst/>
                <a:latin typeface="Times New Roman" panose="02020603050405020304" pitchFamily="18" charset="0"/>
                <a:cs typeface="Times New Roman" panose="02020603050405020304" pitchFamily="18" charset="0"/>
              </a:rPr>
              <a:t>Алт зэрэг үнэт металл, ногоо гэх мэт хөдөө аж ахуйн бүтээгдэхүүн, байгалийн хий зэрэг эрчим хүчний бүтээгдэхүүн зэрэг түүхий эд</a:t>
            </a:r>
            <a:endParaRPr lang="mn-MN" dirty="0">
              <a:solidFill>
                <a:srgbClr val="002060"/>
              </a:solidFill>
              <a:latin typeface="Times New Roman" panose="02020603050405020304" pitchFamily="18" charset="0"/>
              <a:cs typeface="Times New Roman" panose="02020603050405020304" pitchFamily="18" charset="0"/>
            </a:endParaRPr>
          </a:p>
          <a:p>
            <a:pPr marL="457200" lvl="2" indent="-173038" algn="just">
              <a:spcBef>
                <a:spcPts val="0"/>
              </a:spcBef>
            </a:pPr>
            <a:r>
              <a:rPr lang="mn-MN" b="0" i="0" dirty="0">
                <a:solidFill>
                  <a:srgbClr val="002060"/>
                </a:solidFill>
                <a:effectLst/>
                <a:latin typeface="Times New Roman" panose="02020603050405020304" pitchFamily="18" charset="0"/>
                <a:cs typeface="Times New Roman" panose="02020603050405020304" pitchFamily="18" charset="0"/>
              </a:rPr>
              <a:t>Урлагийн бүтээл, эртний ховор зоос, эртний машин, ховор шуудангийн марк, дарс зэрэг цуглуулга.</a:t>
            </a:r>
          </a:p>
          <a:p>
            <a:pPr marL="457200" lvl="2" indent="-173038" algn="just">
              <a:spcBef>
                <a:spcPts val="0"/>
              </a:spcBef>
            </a:pPr>
            <a:r>
              <a:rPr lang="mn-MN" b="0" i="0" dirty="0">
                <a:solidFill>
                  <a:srgbClr val="002060"/>
                </a:solidFill>
                <a:effectLst/>
                <a:latin typeface="Times New Roman" panose="02020603050405020304" pitchFamily="18" charset="0"/>
                <a:cs typeface="Times New Roman" panose="02020603050405020304" pitchFamily="18" charset="0"/>
              </a:rPr>
              <a:t>Нүүрстөрөгчийн нөхөн төлбөр.</a:t>
            </a:r>
          </a:p>
          <a:p>
            <a:pPr marL="457200" lvl="2" indent="-173038" algn="just">
              <a:spcBef>
                <a:spcPts val="0"/>
              </a:spcBef>
            </a:pPr>
            <a:r>
              <a:rPr lang="mn-MN" b="0" i="0" dirty="0">
                <a:solidFill>
                  <a:srgbClr val="002060"/>
                </a:solidFill>
                <a:effectLst/>
                <a:latin typeface="Times New Roman" panose="02020603050405020304" pitchFamily="18" charset="0"/>
                <a:cs typeface="Times New Roman" panose="02020603050405020304" pitchFamily="18" charset="0"/>
              </a:rPr>
              <a:t>Криптовалют болон үл хэрэглэгдэх токен зэрэг дижитал объектууд</a:t>
            </a:r>
            <a:endParaRPr lang="mn-MN" dirty="0">
              <a:solidFill>
                <a:srgbClr val="002060"/>
              </a:solidFill>
              <a:latin typeface="Times New Roman" panose="02020603050405020304" pitchFamily="18" charset="0"/>
              <a:cs typeface="Times New Roman" panose="02020603050405020304" pitchFamily="18" charset="0"/>
            </a:endParaRPr>
          </a:p>
          <a:p>
            <a:pPr marL="457200" lvl="2" indent="-173038" algn="just">
              <a:spcBef>
                <a:spcPts val="0"/>
              </a:spcBef>
            </a:pPr>
            <a:r>
              <a:rPr lang="mn-MN" b="0" i="0" dirty="0">
                <a:solidFill>
                  <a:srgbClr val="002060"/>
                </a:solidFill>
                <a:effectLst/>
                <a:latin typeface="Times New Roman" panose="02020603050405020304" pitchFamily="18" charset="0"/>
                <a:cs typeface="Times New Roman" panose="02020603050405020304" pitchFamily="18" charset="0"/>
              </a:rPr>
              <a:t>Нарийн төвөгтэй арга техникийг ашигладаг хедж сангууд:</a:t>
            </a:r>
          </a:p>
          <a:p>
            <a:pPr marL="457200" lvl="2" indent="-173038" algn="just">
              <a:spcBef>
                <a:spcPts val="0"/>
              </a:spcBef>
            </a:pPr>
            <a:r>
              <a:rPr lang="mn-MN" b="0" i="0" dirty="0">
                <a:solidFill>
                  <a:srgbClr val="002060"/>
                </a:solidFill>
                <a:effectLst/>
                <a:latin typeface="Times New Roman" panose="02020603050405020304" pitchFamily="18" charset="0"/>
                <a:cs typeface="Times New Roman" panose="02020603050405020304" pitchFamily="18" charset="0"/>
              </a:rPr>
              <a:t>бусад төрлийн суурь хөрөнгө оруулалтын гүйцэтгэлд үндэслэн үнэ цэнийг нь гэрээгээр тодорхойлж, тооцоолсон үүсмэл санхүүгийн хэрэгсэл; Үүнд форвард, фьючерс, опцион, своп, барьцаалсан өрийн үүрэг, зээлийн дефолт своп, татварын авлагын хэлцлүүд орно.</a:t>
            </a:r>
          </a:p>
          <a:p>
            <a:pPr marL="457200" lvl="2" indent="-173038" algn="just">
              <a:spcBef>
                <a:spcPts val="0"/>
              </a:spcBef>
            </a:pPr>
            <a:r>
              <a:rPr lang="mn-MN" b="0" i="0" dirty="0">
                <a:solidFill>
                  <a:srgbClr val="002060"/>
                </a:solidFill>
                <a:effectLst/>
                <a:latin typeface="Times New Roman" panose="02020603050405020304" pitchFamily="18" charset="0"/>
                <a:cs typeface="Times New Roman" panose="02020603050405020304" pitchFamily="18" charset="0"/>
              </a:rPr>
              <a:t>Зээлийн хөрөнгө оруулалт, өөрөөр хэлбэл зээлсэн мөнгөнд хөрөнгө оруулалт хийх.</a:t>
            </a:r>
            <a:endParaRPr lang="mn-MN" dirty="0">
              <a:solidFill>
                <a:srgbClr val="002060"/>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908CFD62-5713-4C3B-A8A5-695EE660D0B5}"/>
              </a:ext>
            </a:extLst>
          </p:cNvPr>
          <p:cNvSpPr txBox="1">
            <a:spLocks/>
          </p:cNvSpPr>
          <p:nvPr/>
        </p:nvSpPr>
        <p:spPr>
          <a:xfrm>
            <a:off x="6630623" y="20853"/>
            <a:ext cx="5192913" cy="2591718"/>
          </a:xfrm>
          <a:prstGeom prst="rect">
            <a:avLst/>
          </a:prstGeom>
          <a:solidFill>
            <a:srgbClr val="FFFF99"/>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2000" b="1" dirty="0">
                <a:solidFill>
                  <a:srgbClr val="002060"/>
                </a:solidFill>
                <a:latin typeface="Times New Roman" panose="02020603050405020304" pitchFamily="18" charset="0"/>
                <a:cs typeface="Times New Roman" panose="02020603050405020304" pitchFamily="18" charset="0"/>
              </a:rPr>
              <a:t>Хугацааны хувьд:</a:t>
            </a:r>
          </a:p>
          <a:p>
            <a:pPr marL="342900" indent="-342900">
              <a:buFont typeface="+mj-lt"/>
              <a:buAutoNum type="arabicPeriod"/>
            </a:pPr>
            <a:r>
              <a:rPr lang="mn-MN" sz="2000" dirty="0">
                <a:solidFill>
                  <a:srgbClr val="002060"/>
                </a:solidFill>
                <a:latin typeface="Times New Roman" panose="02020603050405020304" pitchFamily="18" charset="0"/>
                <a:cs typeface="Times New Roman" panose="02020603050405020304" pitchFamily="18" charset="0"/>
              </a:rPr>
              <a:t>Богино хугацааны (1 жил хүртлэх);</a:t>
            </a:r>
          </a:p>
          <a:p>
            <a:pPr marL="342900" indent="-342900">
              <a:buFont typeface="+mj-lt"/>
              <a:buAutoNum type="arabicPeriod"/>
            </a:pPr>
            <a:r>
              <a:rPr lang="mn-MN" sz="2000" dirty="0">
                <a:solidFill>
                  <a:srgbClr val="002060"/>
                </a:solidFill>
                <a:latin typeface="Times New Roman" panose="02020603050405020304" pitchFamily="18" charset="0"/>
                <a:cs typeface="Times New Roman" panose="02020603050405020304" pitchFamily="18" charset="0"/>
              </a:rPr>
              <a:t>Дунд хугацааны (1-3 жил);</a:t>
            </a:r>
          </a:p>
          <a:p>
            <a:pPr marL="342900" indent="-342900">
              <a:buFont typeface="+mj-lt"/>
              <a:buAutoNum type="arabicPeriod"/>
            </a:pPr>
            <a:r>
              <a:rPr lang="mn-MN" sz="2000" dirty="0">
                <a:solidFill>
                  <a:srgbClr val="002060"/>
                </a:solidFill>
                <a:latin typeface="Times New Roman" panose="02020603050405020304" pitchFamily="18" charset="0"/>
                <a:cs typeface="Times New Roman" panose="02020603050405020304" pitchFamily="18" charset="0"/>
              </a:rPr>
              <a:t>Урт хугацааны (3-5 жил, түүнээс дээш).</a:t>
            </a:r>
          </a:p>
          <a:p>
            <a:r>
              <a:rPr lang="mn-MN" sz="2000" b="1" dirty="0">
                <a:solidFill>
                  <a:srgbClr val="002060"/>
                </a:solidFill>
                <a:latin typeface="Times New Roman" panose="02020603050405020304" pitchFamily="18" charset="0"/>
                <a:cs typeface="Times New Roman" panose="02020603050405020304" pitchFamily="18" charset="0"/>
              </a:rPr>
              <a:t>Хөрөнгө оруулалтын өмчлөлийн хувьд:</a:t>
            </a:r>
          </a:p>
          <a:p>
            <a:pPr marL="342900" indent="-342900">
              <a:buFont typeface="+mj-lt"/>
              <a:buAutoNum type="arabicPeriod"/>
            </a:pPr>
            <a:r>
              <a:rPr lang="mn-MN" sz="2000" dirty="0">
                <a:solidFill>
                  <a:srgbClr val="002060"/>
                </a:solidFill>
                <a:latin typeface="Times New Roman" panose="02020603050405020304" pitchFamily="18" charset="0"/>
                <a:cs typeface="Times New Roman" panose="02020603050405020304" pitchFamily="18" charset="0"/>
              </a:rPr>
              <a:t>хувийн;</a:t>
            </a:r>
          </a:p>
          <a:p>
            <a:pPr marL="342900" indent="-342900">
              <a:buFont typeface="+mj-lt"/>
              <a:buAutoNum type="arabicPeriod"/>
            </a:pPr>
            <a:r>
              <a:rPr lang="mn-MN" sz="2000" dirty="0">
                <a:solidFill>
                  <a:srgbClr val="002060"/>
                </a:solidFill>
                <a:latin typeface="Times New Roman" panose="02020603050405020304" pitchFamily="18" charset="0"/>
                <a:cs typeface="Times New Roman" panose="02020603050405020304" pitchFamily="18" charset="0"/>
              </a:rPr>
              <a:t>улсын;</a:t>
            </a:r>
          </a:p>
          <a:p>
            <a:pPr marL="342900" indent="-342900">
              <a:buFont typeface="+mj-lt"/>
              <a:buAutoNum type="arabicPeriod"/>
            </a:pPr>
            <a:r>
              <a:rPr lang="mn-MN" sz="2000" dirty="0">
                <a:solidFill>
                  <a:srgbClr val="002060"/>
                </a:solidFill>
                <a:latin typeface="Times New Roman" panose="02020603050405020304" pitchFamily="18" charset="0"/>
                <a:cs typeface="Times New Roman" panose="02020603050405020304" pitchFamily="18" charset="0"/>
              </a:rPr>
              <a:t>гадаадын;</a:t>
            </a:r>
          </a:p>
          <a:p>
            <a:pPr marL="342900" indent="-342900">
              <a:buFont typeface="+mj-lt"/>
              <a:buAutoNum type="arabicPeriod"/>
            </a:pPr>
            <a:r>
              <a:rPr lang="mn-MN" sz="2000" dirty="0">
                <a:solidFill>
                  <a:srgbClr val="002060"/>
                </a:solidFill>
                <a:latin typeface="Times New Roman" panose="02020603050405020304" pitchFamily="18" charset="0"/>
                <a:cs typeface="Times New Roman" panose="02020603050405020304" pitchFamily="18" charset="0"/>
              </a:rPr>
              <a:t>хамтарсан зэрэг байдаг.</a:t>
            </a:r>
            <a:endParaRPr lang="en-US" sz="2000"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4805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134912" y="130629"/>
            <a:ext cx="6433252" cy="489314"/>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Хөрөнгө оруулалт</a:t>
            </a:r>
            <a:r>
              <a:rPr lang="en-US" sz="3600" b="1" dirty="0">
                <a:solidFill>
                  <a:srgbClr val="002060"/>
                </a:solidFill>
                <a:latin typeface="Times New Roman" panose="02020603050405020304" pitchFamily="18" charset="0"/>
                <a:cs typeface="Times New Roman" panose="02020603050405020304" pitchFamily="18" charset="0"/>
              </a:rPr>
              <a:t>ы</a:t>
            </a:r>
            <a:r>
              <a:rPr lang="mn-MN" sz="3600" b="1" dirty="0">
                <a:solidFill>
                  <a:srgbClr val="002060"/>
                </a:solidFill>
                <a:latin typeface="Times New Roman" panose="02020603050405020304" pitchFamily="18" charset="0"/>
                <a:cs typeface="Times New Roman" panose="02020603050405020304" pitchFamily="18" charset="0"/>
              </a:rPr>
              <a:t>н ангилал</a:t>
            </a:r>
            <a:endParaRPr lang="en-US" sz="36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197371" y="626012"/>
            <a:ext cx="11563706" cy="4308595"/>
          </a:xfrm>
        </p:spPr>
        <p:txBody>
          <a:bodyPr>
            <a:noAutofit/>
          </a:bodyPr>
          <a:lstStyle/>
          <a:p>
            <a:pPr marL="0" lvl="2" indent="0" algn="just">
              <a:spcBef>
                <a:spcPts val="0"/>
              </a:spcBef>
              <a:buNone/>
            </a:pPr>
            <a:r>
              <a:rPr lang="mn-MN" sz="2800" dirty="0">
                <a:solidFill>
                  <a:srgbClr val="0000FF"/>
                </a:solidFill>
                <a:latin typeface="Times New Roman" panose="02020603050405020304" pitchFamily="18" charset="0"/>
                <a:cs typeface="Times New Roman" panose="02020603050405020304" pitchFamily="18" charset="0"/>
              </a:rPr>
              <a:t>Уламжлалт хөрөнгө оруулалттай харьцуулахад уламжлалт бус хөрөнгө оруулалт нь дараах шинж чанартай. </a:t>
            </a:r>
            <a:r>
              <a:rPr lang="mn-MN" sz="2800" dirty="0">
                <a:solidFill>
                  <a:srgbClr val="002060"/>
                </a:solidFill>
                <a:latin typeface="Times New Roman" panose="02020603050405020304" pitchFamily="18" charset="0"/>
                <a:cs typeface="Times New Roman" panose="02020603050405020304" pitchFamily="18" charset="0"/>
              </a:rPr>
              <a:t>Үүнд:</a:t>
            </a:r>
          </a:p>
          <a:p>
            <a:pPr marL="457200" lvl="2" indent="-173038"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Хувьцаа, бонд зэрэг уламжлалт хөрөнгө оруулалтаас хамаарах хамаарал багатай байна.</a:t>
            </a:r>
          </a:p>
          <a:p>
            <a:pPr marL="457200" lvl="2" indent="-173038"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Энэ төрлийн хөрөнгө оруулалтын зах зээл дэх өнөөгийн үнэ цэнийг тодорхойлоход хэцүү</a:t>
            </a:r>
          </a:p>
          <a:p>
            <a:pPr marL="457200" lvl="2" indent="-173038"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Хөрвөх чадвар харьцангуй муутай байдаг. </a:t>
            </a:r>
          </a:p>
          <a:p>
            <a:pPr marL="457200" lvl="2" indent="-173038"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Худалдан авах, худалдах арилжааны зардал харьцангуй ихтэй байдаг.</a:t>
            </a:r>
          </a:p>
          <a:p>
            <a:pPr marL="457200" lvl="2" indent="-173038"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Эрсдэл болон өгөөжийг тооцоход хүндрэлтэй байдаг.</a:t>
            </a:r>
          </a:p>
          <a:p>
            <a:pPr marL="457200" lvl="2" indent="-173038"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Хөрөнгө оруулахаасаа өмнө нарийвчилсан шинжилгээ хийх шаардлагатай.</a:t>
            </a:r>
          </a:p>
        </p:txBody>
      </p:sp>
      <p:sp>
        <p:nvSpPr>
          <p:cNvPr id="5" name="Title 1">
            <a:extLst>
              <a:ext uri="{FF2B5EF4-FFF2-40B4-BE49-F238E27FC236}">
                <a16:creationId xmlns:a16="http://schemas.microsoft.com/office/drawing/2014/main" id="{9A716B34-172E-4750-8657-3334319BA83F}"/>
              </a:ext>
            </a:extLst>
          </p:cNvPr>
          <p:cNvSpPr txBox="1">
            <a:spLocks/>
          </p:cNvSpPr>
          <p:nvPr/>
        </p:nvSpPr>
        <p:spPr>
          <a:xfrm>
            <a:off x="702471" y="5065236"/>
            <a:ext cx="6433252" cy="4893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7073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90CC55B-5462-4165-8ED8-D4FA92865F45}"/>
              </a:ext>
            </a:extLst>
          </p:cNvPr>
          <p:cNvPicPr>
            <a:picLocks noChangeAspect="1"/>
          </p:cNvPicPr>
          <p:nvPr/>
        </p:nvPicPr>
        <p:blipFill rotWithShape="1">
          <a:blip r:embed="rId3">
            <a:extLst>
              <a:ext uri="{28A0092B-C50C-407E-A947-70E740481C1C}">
                <a14:useLocalDpi xmlns:a14="http://schemas.microsoft.com/office/drawing/2010/main" val="0"/>
              </a:ext>
            </a:extLst>
          </a:blip>
          <a:srcRect t="24036"/>
          <a:stretch/>
        </p:blipFill>
        <p:spPr>
          <a:xfrm>
            <a:off x="7135586" y="2290790"/>
            <a:ext cx="4926769" cy="4476382"/>
          </a:xfrm>
          <a:prstGeom prst="rect">
            <a:avLst/>
          </a:prstGeom>
        </p:spPr>
      </p:pic>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66473"/>
            <a:ext cx="11484244" cy="418652"/>
          </a:xfrm>
        </p:spPr>
        <p:txBody>
          <a:bodyPr>
            <a:noAutofit/>
          </a:bodyPr>
          <a:lstStyle/>
          <a:p>
            <a:r>
              <a:rPr lang="mn-MN" sz="24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400" b="1" dirty="0">
                <a:solidFill>
                  <a:srgbClr val="002060"/>
                </a:solidFill>
                <a:latin typeface="Times New Roman" panose="02020603050405020304" pitchFamily="18" charset="0"/>
                <a:cs typeface="Times New Roman" panose="02020603050405020304" pitchFamily="18" charset="0"/>
              </a:rPr>
              <a:t>:</a:t>
            </a:r>
            <a:r>
              <a:rPr lang="mn-MN" sz="24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Хувьцааны хөрөнгө оруулалт</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94469" y="600116"/>
            <a:ext cx="9417089" cy="2630059"/>
          </a:xfrm>
        </p:spPr>
        <p:txBody>
          <a:bodyPr>
            <a:noAutofit/>
          </a:bodyPr>
          <a:lstStyle/>
          <a:p>
            <a:pPr marL="0" marR="129540" indent="0" algn="just">
              <a:lnSpc>
                <a:spcPct val="115000"/>
              </a:lnSpc>
              <a:spcBef>
                <a:spcPts val="1185"/>
              </a:spcBef>
              <a:spcAft>
                <a:spcPts val="0"/>
              </a:spcAft>
              <a:buNone/>
            </a:pPr>
            <a:r>
              <a:rPr lang="kk-KZ" sz="1900" b="1" dirty="0">
                <a:solidFill>
                  <a:srgbClr val="0000FF"/>
                </a:solidFill>
                <a:effectLst/>
                <a:latin typeface="Times New Roman" panose="02020603050405020304" pitchFamily="18" charset="0"/>
                <a:ea typeface="Times New Roman" panose="02020603050405020304" pitchFamily="18" charset="0"/>
              </a:rPr>
              <a:t>Хувьцаа нь тухайн </a:t>
            </a:r>
            <a:r>
              <a:rPr lang="kk-KZ" sz="1900" dirty="0">
                <a:solidFill>
                  <a:srgbClr val="231F20"/>
                </a:solidFill>
                <a:effectLst/>
                <a:latin typeface="Times New Roman" panose="02020603050405020304" pitchFamily="18" charset="0"/>
                <a:ea typeface="Times New Roman" panose="02020603050405020304" pitchFamily="18" charset="0"/>
              </a:rPr>
              <a:t>байгууллагад хөрөнгө оруулсан</a:t>
            </a:r>
            <a:r>
              <a:rPr lang="mn-MN" sz="190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н хөрөнгийн тодорхой хувийг эзэмшиж байгааг гэрчлэх үнэт цаас бөгөөд оруулсан хөрөнгийн тодорхой</a:t>
            </a:r>
            <a:r>
              <a:rPr lang="kk-KZ" sz="1900" b="1" dirty="0">
                <a:solidFill>
                  <a:srgbClr val="231F20"/>
                </a:solidFill>
                <a:effectLst/>
                <a:latin typeface="Times New Roman" panose="02020603050405020304" pitchFamily="18" charset="0"/>
                <a:ea typeface="Times New Roman" panose="02020603050405020304" pitchFamily="18" charset="0"/>
              </a:rPr>
              <a:t> хувиар хариуцлага хүлээж, ногдол ашиг хүртэх</a:t>
            </a:r>
            <a:r>
              <a:rPr lang="kk-KZ" sz="1900" dirty="0">
                <a:solidFill>
                  <a:srgbClr val="231F20"/>
                </a:solidFill>
                <a:effectLst/>
                <a:latin typeface="Times New Roman" panose="02020603050405020304" pitchFamily="18" charset="0"/>
                <a:ea typeface="Times New Roman" panose="02020603050405020304" pitchFamily="18" charset="0"/>
              </a:rPr>
              <a:t> боломжтой. Монгол Улсын </a:t>
            </a:r>
            <a:r>
              <a:rPr lang="mn-MN" sz="1900" dirty="0">
                <a:solidFill>
                  <a:srgbClr val="231F20"/>
                </a:solidFill>
                <a:effectLst/>
                <a:latin typeface="Times New Roman" panose="02020603050405020304" pitchFamily="18" charset="0"/>
                <a:ea typeface="Times New Roman" panose="02020603050405020304" pitchFamily="18" charset="0"/>
              </a:rPr>
              <a:t>хуульд </a:t>
            </a:r>
            <a:r>
              <a:rPr lang="kk-KZ" sz="1900" dirty="0">
                <a:solidFill>
                  <a:srgbClr val="231F20"/>
                </a:solidFill>
                <a:effectLst/>
                <a:latin typeface="Times New Roman" panose="02020603050405020304" pitchFamily="18" charset="0"/>
                <a:ea typeface="Times New Roman" panose="02020603050405020304" pitchFamily="18" charset="0"/>
              </a:rPr>
              <a:t>“Компанид хөрөнгө оруулж, түүнийг үндэслэн хувь нийлүүлэгчдийн хуралд оролцож санал өгөх, ногдол ашиг</a:t>
            </a:r>
            <a:r>
              <a:rPr lang="kk-KZ" sz="1900" spc="175"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авах,</a:t>
            </a:r>
            <a:r>
              <a:rPr lang="kk-KZ" sz="1900" spc="17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компанийг</a:t>
            </a:r>
            <a:r>
              <a:rPr lang="kk-KZ" sz="1900" spc="175"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татан</a:t>
            </a:r>
            <a:r>
              <a:rPr lang="kk-KZ" sz="1900" spc="18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буулгасны</a:t>
            </a:r>
            <a:r>
              <a:rPr lang="kk-KZ" sz="1900" spc="17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дараа</a:t>
            </a:r>
            <a:r>
              <a:rPr lang="kk-KZ" sz="1900" spc="185"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үлдсэн</a:t>
            </a:r>
            <a:r>
              <a:rPr lang="kk-KZ" sz="1900" spc="18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эд</a:t>
            </a:r>
            <a:r>
              <a:rPr lang="kk-KZ" sz="1900" spc="185"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хөрөнгийг</a:t>
            </a:r>
            <a:r>
              <a:rPr lang="kk-KZ" sz="1900" spc="185"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худалдан</a:t>
            </a:r>
            <a:r>
              <a:rPr lang="mn-MN" sz="190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борлуулснаас </a:t>
            </a:r>
            <a:r>
              <a:rPr lang="kk-KZ" sz="1900" b="1" dirty="0">
                <a:solidFill>
                  <a:srgbClr val="231F20"/>
                </a:solidFill>
                <a:effectLst/>
                <a:latin typeface="Times New Roman" panose="02020603050405020304" pitchFamily="18" charset="0"/>
                <a:ea typeface="Times New Roman" panose="02020603050405020304" pitchFamily="18" charset="0"/>
              </a:rPr>
              <a:t>олсон орлогоос хувь хүртэх болон хуулиар тогтоосон бусад эрхийг гэрчилсэн үнэт цаасыг хувьцаа гэнэ</a:t>
            </a:r>
            <a:r>
              <a:rPr lang="kk-KZ" sz="1900" dirty="0">
                <a:solidFill>
                  <a:srgbClr val="231F20"/>
                </a:solidFill>
                <a:effectLst/>
                <a:latin typeface="Times New Roman" panose="02020603050405020304" pitchFamily="18" charset="0"/>
                <a:ea typeface="Times New Roman" panose="02020603050405020304" pitchFamily="18" charset="0"/>
              </a:rPr>
              <a:t>”</a:t>
            </a:r>
            <a:r>
              <a:rPr lang="en-US" sz="1900" dirty="0">
                <a:solidFill>
                  <a:srgbClr val="231F20"/>
                </a:solidFill>
                <a:effectLst/>
                <a:latin typeface="Times New Roman" panose="02020603050405020304" pitchFamily="18" charset="0"/>
                <a:ea typeface="Times New Roman" panose="02020603050405020304" pitchFamily="18" charset="0"/>
              </a:rPr>
              <a:t> </a:t>
            </a:r>
            <a:r>
              <a:rPr lang="en-US" sz="1900" b="1" dirty="0">
                <a:solidFill>
                  <a:srgbClr val="FF0000"/>
                </a:solidFill>
                <a:effectLst/>
                <a:latin typeface="Times New Roman" panose="02020603050405020304" pitchFamily="18" charset="0"/>
                <a:ea typeface="Times New Roman" panose="02020603050405020304" pitchFamily="18" charset="0"/>
              </a:rPr>
              <a:t>[1]</a:t>
            </a:r>
            <a:r>
              <a:rPr lang="kk-KZ" sz="1900" dirty="0">
                <a:solidFill>
                  <a:srgbClr val="231F20"/>
                </a:solidFill>
                <a:effectLst/>
                <a:latin typeface="Times New Roman" panose="02020603050405020304" pitchFamily="18" charset="0"/>
                <a:ea typeface="Times New Roman" panose="02020603050405020304" pitchFamily="18" charset="0"/>
              </a:rPr>
              <a:t> гэж тодорхойлсон байдаг.</a:t>
            </a:r>
            <a:endParaRPr lang="mn-MN" sz="19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FE3AEBFE-8CFA-41E6-BC8C-B705CBDBCCEB}"/>
              </a:ext>
            </a:extLst>
          </p:cNvPr>
          <p:cNvSpPr txBox="1">
            <a:spLocks/>
          </p:cNvSpPr>
          <p:nvPr/>
        </p:nvSpPr>
        <p:spPr>
          <a:xfrm>
            <a:off x="297089" y="3130884"/>
            <a:ext cx="6838498" cy="30450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95000"/>
              </a:lnSpc>
              <a:spcBef>
                <a:spcPts val="0"/>
              </a:spcBef>
              <a:buFont typeface="Wingdings" panose="05000000000000000000" pitchFamily="2" charset="2"/>
              <a:buChar char="Ø"/>
            </a:pPr>
            <a:r>
              <a:rPr lang="kk-KZ" sz="1900" b="1" dirty="0">
                <a:solidFill>
                  <a:srgbClr val="231F20"/>
                </a:solidFill>
                <a:effectLst/>
                <a:latin typeface="Times New Roman" panose="02020603050405020304" pitchFamily="18" charset="0"/>
                <a:ea typeface="Times New Roman" panose="02020603050405020304" pitchFamily="18" charset="0"/>
              </a:rPr>
              <a:t>Хувьцаа нь тодорхой нэрлэсэн үнэтэй </a:t>
            </a:r>
            <a:r>
              <a:rPr lang="kk-KZ" sz="1900" dirty="0">
                <a:solidFill>
                  <a:srgbClr val="231F20"/>
                </a:solidFill>
                <a:effectLst/>
                <a:latin typeface="Times New Roman" panose="02020603050405020304" pitchFamily="18" charset="0"/>
                <a:ea typeface="Times New Roman" panose="02020603050405020304" pitchFamily="18" charset="0"/>
              </a:rPr>
              <a:t>байх ба хугацаа дуусах, хэн нэгэнд, </a:t>
            </a:r>
            <a:r>
              <a:rPr lang="kk-KZ" sz="1900" b="1" dirty="0">
                <a:solidFill>
                  <a:srgbClr val="231F20"/>
                </a:solidFill>
                <a:effectLst/>
                <a:latin typeface="Times New Roman" panose="02020603050405020304" pitchFamily="18" charset="0"/>
                <a:ea typeface="Times New Roman" panose="02020603050405020304" pitchFamily="18" charset="0"/>
              </a:rPr>
              <a:t>ямар нэгэн төлбөр төлөх үүрэггүй байдгаараа онцлог юм.</a:t>
            </a:r>
            <a:endParaRPr lang="mn-MN" sz="1900" b="1" dirty="0">
              <a:solidFill>
                <a:srgbClr val="231F20"/>
              </a:solidFill>
              <a:effectLst/>
              <a:latin typeface="Times New Roman" panose="02020603050405020304" pitchFamily="18" charset="0"/>
              <a:ea typeface="Times New Roman" panose="02020603050405020304" pitchFamily="18" charset="0"/>
            </a:endParaRPr>
          </a:p>
          <a:p>
            <a:pPr algn="just">
              <a:lnSpc>
                <a:spcPct val="95000"/>
              </a:lnSpc>
              <a:spcBef>
                <a:spcPts val="0"/>
              </a:spcBef>
              <a:buFont typeface="Wingdings" panose="05000000000000000000" pitchFamily="2" charset="2"/>
              <a:buChar char="Ø"/>
            </a:pPr>
            <a:r>
              <a:rPr lang="kk-KZ" sz="1900" dirty="0">
                <a:solidFill>
                  <a:srgbClr val="231F20"/>
                </a:solidFill>
                <a:effectLst/>
                <a:latin typeface="Times New Roman" panose="02020603050405020304" pitchFamily="18" charset="0"/>
                <a:ea typeface="Times New Roman" panose="02020603050405020304" pitchFamily="18" charset="0"/>
              </a:rPr>
              <a:t>Хувьцаа нь </a:t>
            </a:r>
            <a:r>
              <a:rPr lang="kk-KZ" sz="1900" b="1" dirty="0">
                <a:solidFill>
                  <a:srgbClr val="231F20"/>
                </a:solidFill>
                <a:effectLst/>
                <a:latin typeface="Times New Roman" panose="02020603050405020304" pitchFamily="18" charset="0"/>
                <a:ea typeface="Times New Roman" panose="02020603050405020304" pitchFamily="18" charset="0"/>
              </a:rPr>
              <a:t>бондоос огт өөр бөгөөд хувьцаа эзэмшигч нь зээлдүүлэгч биш харин хөрөнгө эзэмшигч </a:t>
            </a:r>
            <a:r>
              <a:rPr lang="mn-MN" sz="1900" dirty="0">
                <a:solidFill>
                  <a:srgbClr val="231F20"/>
                </a:solidFill>
                <a:effectLst/>
                <a:latin typeface="Times New Roman" panose="02020603050405020304" pitchFamily="18" charset="0"/>
                <a:ea typeface="Times New Roman" panose="02020603050405020304" pitchFamily="18" charset="0"/>
              </a:rPr>
              <a:t>юм</a:t>
            </a:r>
            <a:r>
              <a:rPr lang="kk-KZ" sz="1900" dirty="0">
                <a:solidFill>
                  <a:srgbClr val="231F20"/>
                </a:solidFill>
                <a:effectLst/>
                <a:latin typeface="Times New Roman" panose="02020603050405020304" pitchFamily="18" charset="0"/>
                <a:ea typeface="Times New Roman" panose="02020603050405020304" pitchFamily="18" charset="0"/>
              </a:rPr>
              <a:t>.</a:t>
            </a:r>
            <a:endParaRPr lang="mn-MN" sz="1900" dirty="0">
              <a:solidFill>
                <a:srgbClr val="231F20"/>
              </a:solidFill>
              <a:effectLst/>
              <a:latin typeface="Times New Roman" panose="02020603050405020304" pitchFamily="18" charset="0"/>
              <a:ea typeface="Times New Roman" panose="02020603050405020304" pitchFamily="18" charset="0"/>
            </a:endParaRPr>
          </a:p>
          <a:p>
            <a:pPr algn="just">
              <a:lnSpc>
                <a:spcPct val="95000"/>
              </a:lnSpc>
              <a:spcBef>
                <a:spcPts val="0"/>
              </a:spcBef>
              <a:buFont typeface="Wingdings" panose="05000000000000000000" pitchFamily="2" charset="2"/>
              <a:buChar char="Ø"/>
            </a:pPr>
            <a:r>
              <a:rPr lang="kk-KZ" sz="1900" dirty="0">
                <a:solidFill>
                  <a:srgbClr val="231F20"/>
                </a:solidFill>
                <a:effectLst/>
                <a:latin typeface="Times New Roman" panose="02020603050405020304" pitchFamily="18" charset="0"/>
                <a:ea typeface="Times New Roman" panose="02020603050405020304" pitchFamily="18" charset="0"/>
              </a:rPr>
              <a:t>Өнөөдөр маш олон хүмүүс </a:t>
            </a:r>
            <a:r>
              <a:rPr lang="kk-KZ" sz="1900" b="1" dirty="0">
                <a:solidFill>
                  <a:srgbClr val="231F20"/>
                </a:solidFill>
                <a:effectLst/>
                <a:latin typeface="Times New Roman" panose="02020603050405020304" pitchFamily="18" charset="0"/>
                <a:ea typeface="Times New Roman" panose="02020603050405020304" pitchFamily="18" charset="0"/>
              </a:rPr>
              <a:t>хувьцаа худалдан авч, худалдаж байна. </a:t>
            </a:r>
            <a:r>
              <a:rPr lang="kk-KZ" sz="1900" dirty="0">
                <a:solidFill>
                  <a:srgbClr val="231F20"/>
                </a:solidFill>
                <a:effectLst/>
                <a:latin typeface="Times New Roman" panose="02020603050405020304" pitchFamily="18" charset="0"/>
                <a:ea typeface="Times New Roman" panose="02020603050405020304" pitchFamily="18" charset="0"/>
              </a:rPr>
              <a:t>Учир нь тэд уламжлалт бусад хөрөнгө оруулалтуудаас илүү их өгөөж олохыг хүсч байдаг.</a:t>
            </a:r>
            <a:endParaRPr lang="mn-MN" sz="1900" dirty="0">
              <a:solidFill>
                <a:srgbClr val="231F20"/>
              </a:solidFill>
              <a:effectLst/>
              <a:latin typeface="Times New Roman" panose="02020603050405020304" pitchFamily="18" charset="0"/>
              <a:ea typeface="Times New Roman" panose="02020603050405020304" pitchFamily="18" charset="0"/>
            </a:endParaRPr>
          </a:p>
          <a:p>
            <a:pPr algn="just">
              <a:lnSpc>
                <a:spcPct val="95000"/>
              </a:lnSpc>
              <a:spcBef>
                <a:spcPts val="0"/>
              </a:spcBef>
              <a:buFont typeface="Wingdings" panose="05000000000000000000" pitchFamily="2" charset="2"/>
              <a:buChar char="Ø"/>
            </a:pPr>
            <a:r>
              <a:rPr lang="kk-KZ" sz="1900" dirty="0">
                <a:solidFill>
                  <a:srgbClr val="231F20"/>
                </a:solidFill>
                <a:effectLst/>
                <a:latin typeface="Times New Roman" panose="02020603050405020304" pitchFamily="18" charset="0"/>
                <a:ea typeface="Times New Roman" panose="02020603050405020304" pitchFamily="18" charset="0"/>
              </a:rPr>
              <a:t>Гэхдээ хувьцаанд хөрөнгө оруулалт хийхээс өмнө энэ төрлийн хөрөнгө оруулалт нь илүү эрсдэлтэй</a:t>
            </a:r>
            <a:r>
              <a:rPr lang="kk-KZ" sz="1900" spc="20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бөгөөд</a:t>
            </a:r>
            <a:r>
              <a:rPr lang="kk-KZ" sz="1900" spc="20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илүү</a:t>
            </a:r>
            <a:r>
              <a:rPr lang="kk-KZ" sz="1900" spc="20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их</a:t>
            </a:r>
            <a:r>
              <a:rPr lang="kk-KZ" sz="1900" spc="20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хэмжээний</a:t>
            </a:r>
            <a:r>
              <a:rPr lang="kk-KZ" sz="1900" spc="20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алдагдал</a:t>
            </a:r>
            <a:r>
              <a:rPr lang="kk-KZ" sz="1900" spc="20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хүлээж</a:t>
            </a:r>
            <a:r>
              <a:rPr lang="kk-KZ" sz="1900" spc="20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болно</a:t>
            </a:r>
            <a:r>
              <a:rPr lang="kk-KZ" sz="1900" spc="200" dirty="0">
                <a:solidFill>
                  <a:srgbClr val="231F20"/>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гэдгийг ойлгосон байх хэрэгтэй.</a:t>
            </a:r>
            <a:endParaRPr lang="mn-MN" sz="1900" b="1" dirty="0">
              <a:latin typeface="Times New Roman" panose="02020603050405020304" pitchFamily="18"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7374FD9F-E3F7-4A49-A3E5-D14EB03C6BFA}"/>
              </a:ext>
            </a:extLst>
          </p:cNvPr>
          <p:cNvSpPr txBox="1">
            <a:spLocks/>
          </p:cNvSpPr>
          <p:nvPr/>
        </p:nvSpPr>
        <p:spPr>
          <a:xfrm>
            <a:off x="9813850" y="178161"/>
            <a:ext cx="2248505" cy="2124622"/>
          </a:xfrm>
          <a:prstGeom prst="rect">
            <a:avLst/>
          </a:prstGeom>
          <a:ln>
            <a:solidFill>
              <a:srgbClr val="FF000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95000"/>
              </a:lnSpc>
              <a:spcBef>
                <a:spcPts val="0"/>
              </a:spcBef>
              <a:buNone/>
            </a:pPr>
            <a:r>
              <a:rPr lang="mn-MN" sz="2000" b="1" dirty="0">
                <a:solidFill>
                  <a:srgbClr val="FF0000"/>
                </a:solidFill>
                <a:latin typeface="Times New Roman" panose="02020603050405020304" pitchFamily="18" charset="0"/>
                <a:cs typeface="Times New Roman" panose="02020603050405020304" pitchFamily="18" charset="0"/>
              </a:rPr>
              <a:t>[1] </a:t>
            </a:r>
            <a:r>
              <a:rPr lang="mn-MN" sz="2000" dirty="0">
                <a:solidFill>
                  <a:schemeClr val="accent1"/>
                </a:solidFill>
                <a:latin typeface="Times New Roman" panose="02020603050405020304" pitchFamily="18" charset="0"/>
                <a:cs typeface="Times New Roman" panose="02020603050405020304" pitchFamily="18" charset="0"/>
              </a:rPr>
              <a:t>Монгол Улсын хууль, (2015). Үнэт цаасны зах зээлийн тухай, шинэчилсэн найруулга, 3.1.5 дахь заалт</a:t>
            </a:r>
          </a:p>
        </p:txBody>
      </p:sp>
    </p:spTree>
    <p:extLst>
      <p:ext uri="{BB962C8B-B14F-4D97-AF65-F5344CB8AC3E}">
        <p14:creationId xmlns:p14="http://schemas.microsoft.com/office/powerpoint/2010/main" val="3878734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66473"/>
            <a:ext cx="11484244" cy="418652"/>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800" b="1"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Хувьцааны хөрөнгө оруулалт</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78703" y="505521"/>
            <a:ext cx="11687324" cy="1696764"/>
          </a:xfrm>
        </p:spPr>
        <p:txBody>
          <a:bodyPr>
            <a:noAutofit/>
          </a:bodyPr>
          <a:lstStyle/>
          <a:p>
            <a:pPr marL="0" indent="0" algn="just">
              <a:spcBef>
                <a:spcPts val="0"/>
              </a:spcBef>
              <a:spcAft>
                <a:spcPts val="0"/>
              </a:spcAft>
              <a:buNone/>
            </a:pPr>
            <a:r>
              <a:rPr lang="mn-MN" sz="2400" b="1" dirty="0">
                <a:solidFill>
                  <a:srgbClr val="0000FF"/>
                </a:solidFill>
                <a:effectLst/>
                <a:latin typeface="Times New Roman" panose="02020603050405020304" pitchFamily="18" charset="0"/>
                <a:ea typeface="Times New Roman" panose="02020603050405020304" pitchFamily="18" charset="0"/>
              </a:rPr>
              <a:t>Энгийн болон давуу эрхийн хувьцаа </a:t>
            </a:r>
            <a:r>
              <a:rPr lang="mn-MN" sz="2400" dirty="0">
                <a:solidFill>
                  <a:srgbClr val="231F20"/>
                </a:solidFill>
                <a:effectLst/>
                <a:latin typeface="Times New Roman" panose="02020603050405020304" pitchFamily="18" charset="0"/>
                <a:ea typeface="Times New Roman" panose="02020603050405020304" pitchFamily="18" charset="0"/>
              </a:rPr>
              <a:t>гэж ангилдаг. </a:t>
            </a:r>
            <a:r>
              <a:rPr lang="kk-KZ" sz="2400" dirty="0">
                <a:solidFill>
                  <a:srgbClr val="0000FF"/>
                </a:solidFill>
                <a:effectLst/>
                <a:latin typeface="Times New Roman" panose="02020603050405020304" pitchFamily="18" charset="0"/>
                <a:ea typeface="Times New Roman" panose="02020603050405020304" pitchFamily="18" charset="0"/>
              </a:rPr>
              <a:t>Энгийн</a:t>
            </a:r>
            <a:r>
              <a:rPr lang="kk-KZ" sz="2400" spc="5" dirty="0">
                <a:solidFill>
                  <a:srgbClr val="0000FF"/>
                </a:solidFill>
                <a:effectLst/>
                <a:latin typeface="Times New Roman" panose="02020603050405020304" pitchFamily="18" charset="0"/>
                <a:ea typeface="Times New Roman" panose="02020603050405020304" pitchFamily="18" charset="0"/>
              </a:rPr>
              <a:t> </a:t>
            </a:r>
            <a:r>
              <a:rPr lang="kk-KZ" sz="2400" dirty="0">
                <a:solidFill>
                  <a:srgbClr val="0000FF"/>
                </a:solidFill>
                <a:effectLst/>
                <a:latin typeface="Times New Roman" panose="02020603050405020304" pitchFamily="18" charset="0"/>
                <a:ea typeface="Times New Roman" panose="02020603050405020304" pitchFamily="18" charset="0"/>
              </a:rPr>
              <a:t>хувьцаа</a:t>
            </a:r>
            <a:r>
              <a:rPr lang="kk-KZ" sz="2400" spc="5" dirty="0">
                <a:solidFill>
                  <a:srgbClr val="0000FF"/>
                </a:solidFill>
                <a:effectLst/>
                <a:latin typeface="Times New Roman" panose="02020603050405020304" pitchFamily="18" charset="0"/>
                <a:ea typeface="Times New Roman" panose="02020603050405020304" pitchFamily="18" charset="0"/>
              </a:rPr>
              <a:t> </a:t>
            </a:r>
            <a:r>
              <a:rPr lang="kk-KZ" sz="2400" dirty="0">
                <a:solidFill>
                  <a:srgbClr val="0000FF"/>
                </a:solidFill>
                <a:effectLst/>
                <a:latin typeface="Times New Roman" panose="02020603050405020304" pitchFamily="18" charset="0"/>
                <a:ea typeface="Times New Roman" panose="02020603050405020304" pitchFamily="18" charset="0"/>
              </a:rPr>
              <a:t>эзэмшигч</a:t>
            </a:r>
            <a:r>
              <a:rPr lang="mn-MN" sz="2400" dirty="0">
                <a:solidFill>
                  <a:srgbClr val="0000FF"/>
                </a:solidFill>
                <a:effectLst/>
                <a:latin typeface="Times New Roman" panose="02020603050405020304" pitchFamily="18" charset="0"/>
                <a:ea typeface="Times New Roman" panose="02020603050405020304" pitchFamily="18" charset="0"/>
              </a:rPr>
              <a:t>ийн эрх</a:t>
            </a:r>
            <a:r>
              <a:rPr lang="kk-KZ" sz="2400" dirty="0">
                <a:solidFill>
                  <a:srgbClr val="0000FF"/>
                </a:solidFill>
                <a:effectLst/>
                <a:latin typeface="Times New Roman" panose="02020603050405020304" pitchFamily="18" charset="0"/>
                <a:ea typeface="Times New Roman" panose="02020603050405020304" pitchFamily="18" charset="0"/>
              </a:rPr>
              <a:t>.</a:t>
            </a:r>
            <a:r>
              <a:rPr lang="kk-KZ" sz="2400" spc="5" dirty="0">
                <a:solidFill>
                  <a:srgbClr val="0000FF"/>
                </a:solidFill>
                <a:effectLst/>
                <a:latin typeface="Times New Roman" panose="02020603050405020304" pitchFamily="18" charset="0"/>
                <a:ea typeface="Times New Roman" panose="02020603050405020304" pitchFamily="18" charset="0"/>
              </a:rPr>
              <a:t> </a:t>
            </a:r>
            <a:endParaRPr lang="en-US" sz="2400" dirty="0">
              <a:solidFill>
                <a:srgbClr val="0000FF"/>
              </a:solidFill>
              <a:effectLst/>
              <a:latin typeface="Times New Roman" panose="02020603050405020304" pitchFamily="18" charset="0"/>
              <a:ea typeface="Times New Roman" panose="02020603050405020304" pitchFamily="18" charset="0"/>
            </a:endParaRPr>
          </a:p>
          <a:p>
            <a:pPr marL="342900" marR="138430" lvl="0" indent="-342900" algn="just">
              <a:spcBef>
                <a:spcPts val="0"/>
              </a:spcBef>
              <a:spcAft>
                <a:spcPts val="0"/>
              </a:spcAft>
              <a:buFont typeface="+mj-lt"/>
              <a:buAutoNum type="arabicPeriod"/>
            </a:pPr>
            <a:r>
              <a:rPr lang="kk-KZ" sz="2400" spc="0" dirty="0">
                <a:solidFill>
                  <a:srgbClr val="231F20"/>
                </a:solidFill>
                <a:effectLst/>
                <a:latin typeface="Times New Roman" panose="02020603050405020304" pitchFamily="18" charset="0"/>
                <a:ea typeface="Times New Roman" panose="02020603050405020304" pitchFamily="18" charset="0"/>
              </a:rPr>
              <a:t>Компанийн олсон ашгаас тодорхой хэмжээний ногдол ашиг авах.</a:t>
            </a:r>
            <a:r>
              <a:rPr lang="kk-KZ" sz="2400" spc="200" dirty="0">
                <a:solidFill>
                  <a:srgbClr val="231F20"/>
                </a:solidFill>
                <a:effectLst/>
                <a:latin typeface="Times New Roman" panose="02020603050405020304" pitchFamily="18" charset="0"/>
                <a:ea typeface="Times New Roman" panose="02020603050405020304" pitchFamily="18" charset="0"/>
              </a:rPr>
              <a:t> </a:t>
            </a:r>
            <a:r>
              <a:rPr lang="kk-KZ" sz="2400" spc="0" dirty="0">
                <a:solidFill>
                  <a:srgbClr val="231F20"/>
                </a:solidFill>
                <a:effectLst/>
                <a:latin typeface="Times New Roman" panose="02020603050405020304" pitchFamily="18" charset="0"/>
                <a:ea typeface="Times New Roman" panose="02020603050405020304" pitchFamily="18" charset="0"/>
              </a:rPr>
              <a:t>Энгийн хувьцаа эзэмшигч компани ашигтай ажилласан эсэх, ашгаа хуваарилах эсэхээс хамаарч ногдол ашиг хүртэх боломжтой. Ногдол ашгийг бэлэн мөнгөөр олгохоос гадна эд хөрөнгө, үнэт цаас хэлбэрээр олгож болдог.</a:t>
            </a:r>
            <a:endParaRPr lang="mn-MN" sz="2400" dirty="0">
              <a:latin typeface="Times New Roman" panose="02020603050405020304" pitchFamily="18" charset="0"/>
              <a:ea typeface="Times New Roman" panose="02020603050405020304" pitchFamily="18" charset="0"/>
            </a:endParaRPr>
          </a:p>
        </p:txBody>
      </p:sp>
      <p:pic>
        <p:nvPicPr>
          <p:cNvPr id="19" name="Picture 18">
            <a:extLst>
              <a:ext uri="{FF2B5EF4-FFF2-40B4-BE49-F238E27FC236}">
                <a16:creationId xmlns:a16="http://schemas.microsoft.com/office/drawing/2014/main" id="{04F59C90-74A5-424E-ABA4-A47B3FF822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85595" y="4335366"/>
            <a:ext cx="3180432" cy="2259331"/>
          </a:xfrm>
          <a:prstGeom prst="rect">
            <a:avLst/>
          </a:prstGeom>
        </p:spPr>
      </p:pic>
      <p:sp>
        <p:nvSpPr>
          <p:cNvPr id="20" name="Content Placeholder 2">
            <a:extLst>
              <a:ext uri="{FF2B5EF4-FFF2-40B4-BE49-F238E27FC236}">
                <a16:creationId xmlns:a16="http://schemas.microsoft.com/office/drawing/2014/main" id="{BA4DE01A-7AE6-484F-8843-8C2B992B0BE8}"/>
              </a:ext>
            </a:extLst>
          </p:cNvPr>
          <p:cNvSpPr txBox="1">
            <a:spLocks/>
          </p:cNvSpPr>
          <p:nvPr/>
        </p:nvSpPr>
        <p:spPr>
          <a:xfrm>
            <a:off x="8796106" y="1827846"/>
            <a:ext cx="3180432" cy="2393049"/>
          </a:xfrm>
          <a:prstGeom prst="rect">
            <a:avLst/>
          </a:prstGeom>
          <a:ln>
            <a:solidFill>
              <a:srgbClr val="FF000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95000"/>
              </a:lnSpc>
              <a:spcBef>
                <a:spcPts val="0"/>
              </a:spcBef>
              <a:buNone/>
            </a:pPr>
            <a:r>
              <a:rPr lang="ru-RU" sz="1800" dirty="0">
                <a:solidFill>
                  <a:schemeClr val="accent5">
                    <a:lumMod val="75000"/>
                  </a:schemeClr>
                </a:solidFill>
                <a:latin typeface="Times New Roman" panose="02020603050405020304" pitchFamily="18" charset="0"/>
                <a:cs typeface="Times New Roman" panose="02020603050405020304" pitchFamily="18" charset="0"/>
              </a:rPr>
              <a:t>Таны өгөх саналын эрх 51%</a:t>
            </a:r>
            <a:r>
              <a:rPr lang="mn-MN" sz="1800" dirty="0">
                <a:solidFill>
                  <a:schemeClr val="accent5">
                    <a:lumMod val="75000"/>
                  </a:schemeClr>
                </a:solidFill>
                <a:latin typeface="Times New Roman" panose="02020603050405020304" pitchFamily="18" charset="0"/>
                <a:cs typeface="Times New Roman" panose="02020603050405020304" pitchFamily="18" charset="0"/>
              </a:rPr>
              <a:t> бол асуудлаар шийдвэр гаргахад таны санал нийт саналын 51 хувь болж, таны хүссэнээр шийдвэр гарах болно. Иймээс компанид өөрийн хяналтыг хүчтэй болгохыг хүсвэл олон хувьцаа эзэмших шаардлагатай.</a:t>
            </a:r>
          </a:p>
        </p:txBody>
      </p:sp>
      <p:sp>
        <p:nvSpPr>
          <p:cNvPr id="21" name="Content Placeholder 2">
            <a:extLst>
              <a:ext uri="{FF2B5EF4-FFF2-40B4-BE49-F238E27FC236}">
                <a16:creationId xmlns:a16="http://schemas.microsoft.com/office/drawing/2014/main" id="{2450E955-DE6B-4069-B975-4EFDC893C044}"/>
              </a:ext>
            </a:extLst>
          </p:cNvPr>
          <p:cNvSpPr txBox="1">
            <a:spLocks/>
          </p:cNvSpPr>
          <p:nvPr/>
        </p:nvSpPr>
        <p:spPr>
          <a:xfrm>
            <a:off x="262937" y="4380789"/>
            <a:ext cx="8660345" cy="22139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gn="just">
              <a:spcBef>
                <a:spcPts val="0"/>
              </a:spcBef>
              <a:buFont typeface="+mj-lt"/>
              <a:buAutoNum type="arabicPeriod" startAt="3"/>
              <a:tabLst>
                <a:tab pos="471170" algn="l"/>
              </a:tabLst>
            </a:pPr>
            <a:r>
              <a:rPr lang="kk-KZ" sz="2400" spc="0" dirty="0">
                <a:effectLst/>
                <a:latin typeface="Times New Roman" panose="02020603050405020304" pitchFamily="18" charset="0"/>
                <a:ea typeface="Times New Roman" panose="02020603050405020304" pitchFamily="18" charset="0"/>
              </a:rPr>
              <a:t>Компанийн</a:t>
            </a:r>
            <a:r>
              <a:rPr lang="kk-KZ" sz="2400" spc="5" dirty="0">
                <a:effectLst/>
                <a:latin typeface="Times New Roman" panose="02020603050405020304" pitchFamily="18" charset="0"/>
                <a:ea typeface="Times New Roman" panose="02020603050405020304" pitchFamily="18" charset="0"/>
              </a:rPr>
              <a:t> </a:t>
            </a:r>
            <a:r>
              <a:rPr lang="kk-KZ" sz="2400" spc="0" dirty="0">
                <a:effectLst/>
                <a:latin typeface="Times New Roman" panose="02020603050405020304" pitchFamily="18" charset="0"/>
                <a:ea typeface="Times New Roman" panose="02020603050405020304" pitchFamily="18" charset="0"/>
              </a:rPr>
              <a:t>үйл</a:t>
            </a:r>
            <a:r>
              <a:rPr lang="kk-KZ" sz="2400" spc="15" dirty="0">
                <a:effectLst/>
                <a:latin typeface="Times New Roman" panose="02020603050405020304" pitchFamily="18" charset="0"/>
                <a:ea typeface="Times New Roman" panose="02020603050405020304" pitchFamily="18" charset="0"/>
              </a:rPr>
              <a:t> </a:t>
            </a:r>
            <a:r>
              <a:rPr lang="kk-KZ" sz="2400" spc="0" dirty="0">
                <a:effectLst/>
                <a:latin typeface="Times New Roman" panose="02020603050405020304" pitchFamily="18" charset="0"/>
                <a:ea typeface="Times New Roman" panose="02020603050405020304" pitchFamily="18" charset="0"/>
              </a:rPr>
              <a:t>ажиллагааны</a:t>
            </a:r>
            <a:r>
              <a:rPr lang="kk-KZ" sz="2400" spc="10" dirty="0">
                <a:effectLst/>
                <a:latin typeface="Times New Roman" panose="02020603050405020304" pitchFamily="18" charset="0"/>
                <a:ea typeface="Times New Roman" panose="02020603050405020304" pitchFamily="18" charset="0"/>
              </a:rPr>
              <a:t> </a:t>
            </a:r>
            <a:r>
              <a:rPr lang="kk-KZ" sz="2400" spc="0" dirty="0">
                <a:effectLst/>
                <a:latin typeface="Times New Roman" panose="02020603050405020304" pitchFamily="18" charset="0"/>
                <a:ea typeface="Times New Roman" panose="02020603050405020304" pitchFamily="18" charset="0"/>
              </a:rPr>
              <a:t>талаарх</a:t>
            </a:r>
            <a:r>
              <a:rPr lang="kk-KZ" sz="2400" spc="15" dirty="0">
                <a:effectLst/>
                <a:latin typeface="Times New Roman" panose="02020603050405020304" pitchFamily="18" charset="0"/>
                <a:ea typeface="Times New Roman" panose="02020603050405020304" pitchFamily="18" charset="0"/>
              </a:rPr>
              <a:t> </a:t>
            </a:r>
            <a:r>
              <a:rPr lang="kk-KZ" sz="2400" spc="0" dirty="0">
                <a:effectLst/>
                <a:latin typeface="Times New Roman" panose="02020603050405020304" pitchFamily="18" charset="0"/>
                <a:ea typeface="Times New Roman" panose="02020603050405020304" pitchFamily="18" charset="0"/>
              </a:rPr>
              <a:t>мэдээллийг </a:t>
            </a:r>
            <a:r>
              <a:rPr lang="kk-KZ" sz="2400" spc="-10" dirty="0">
                <a:effectLst/>
                <a:latin typeface="Times New Roman" panose="02020603050405020304" pitchFamily="18" charset="0"/>
                <a:ea typeface="Times New Roman" panose="02020603050405020304" pitchFamily="18" charset="0"/>
              </a:rPr>
              <a:t>авах;</a:t>
            </a:r>
            <a:endParaRPr lang="mn-MN" sz="2400" dirty="0">
              <a:latin typeface="Times New Roman" panose="02020603050405020304" pitchFamily="18" charset="0"/>
              <a:ea typeface="Times New Roman" panose="02020603050405020304" pitchFamily="18" charset="0"/>
            </a:endParaRPr>
          </a:p>
          <a:p>
            <a:pPr marL="342900" lvl="0" indent="-342900" algn="just">
              <a:spcBef>
                <a:spcPts val="0"/>
              </a:spcBef>
              <a:buFont typeface="+mj-lt"/>
              <a:buAutoNum type="arabicPeriod" startAt="3"/>
              <a:tabLst>
                <a:tab pos="471170" algn="l"/>
              </a:tabLst>
            </a:pPr>
            <a:r>
              <a:rPr lang="kk-KZ" sz="2400" dirty="0">
                <a:effectLst/>
                <a:latin typeface="Times New Roman" panose="02020603050405020304" pitchFamily="18" charset="0"/>
                <a:ea typeface="Times New Roman" panose="02020603050405020304" pitchFamily="18" charset="0"/>
              </a:rPr>
              <a:t>Компани татан буугдах үед оруулсан хөрөнгөө эргүүлж авах. Компани татан буугдах үед татан буулгах комисс нь зээлдүүлэгчдийн өр төлбөрийг барагдуулсны дараа үлдсэн эд хөрөнгийг худалдаж олсон орлогыг тодорхой дарааллын дагуу хувьцаа эзэмшигчдэд хуваарилна.</a:t>
            </a:r>
            <a:endParaRPr lang="mn-MN" sz="2400" dirty="0">
              <a:latin typeface="Times New Roman" panose="02020603050405020304" pitchFamily="18" charset="0"/>
              <a:cs typeface="Times New Roman" panose="02020603050405020304" pitchFamily="18" charset="0"/>
            </a:endParaRPr>
          </a:p>
        </p:txBody>
      </p:sp>
      <p:sp>
        <p:nvSpPr>
          <p:cNvPr id="23" name="Content Placeholder 2">
            <a:extLst>
              <a:ext uri="{FF2B5EF4-FFF2-40B4-BE49-F238E27FC236}">
                <a16:creationId xmlns:a16="http://schemas.microsoft.com/office/drawing/2014/main" id="{934B7D3D-1729-4DC1-83B5-A3B64B061CC8}"/>
              </a:ext>
            </a:extLst>
          </p:cNvPr>
          <p:cNvSpPr txBox="1">
            <a:spLocks/>
          </p:cNvSpPr>
          <p:nvPr/>
        </p:nvSpPr>
        <p:spPr>
          <a:xfrm>
            <a:off x="294469" y="2131417"/>
            <a:ext cx="8676111" cy="22139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4163" marR="138430" indent="-284163" algn="just">
              <a:spcBef>
                <a:spcPts val="0"/>
              </a:spcBef>
              <a:buFont typeface="+mj-lt"/>
              <a:buAutoNum type="arabicPeriod" startAt="2"/>
              <a:tabLst>
                <a:tab pos="284163" algn="l"/>
              </a:tabLst>
            </a:pPr>
            <a:r>
              <a:rPr lang="kk-KZ" sz="2400" dirty="0">
                <a:solidFill>
                  <a:srgbClr val="231F20"/>
                </a:solidFill>
                <a:latin typeface="Times New Roman" panose="02020603050405020304" pitchFamily="18" charset="0"/>
                <a:ea typeface="Times New Roman" panose="02020603050405020304" pitchFamily="18" charset="0"/>
              </a:rPr>
              <a:t>Компанийг удирдахад санал өгөх замаар оролцох. Хувьцаа эзэмшигчид нь компанийн үйл ажиллагаатай холбоотой шийдвэр гаргахад хувь нийлүүлэгчдийн хуралд оролцож саналаа өгөх замаар компанийг удирдахад оролцох боломжтой. Нэг хувьцаа нэг саналын эрхтэй байна. Иймээс та нийт хувьцааны хэдэн хувийг эзэмшиж байгаагаас хамаарч</a:t>
            </a:r>
            <a:r>
              <a:rPr lang="kk-KZ" sz="2400" spc="200" dirty="0">
                <a:solidFill>
                  <a:srgbClr val="231F20"/>
                </a:solidFill>
                <a:latin typeface="Times New Roman" panose="02020603050405020304" pitchFamily="18" charset="0"/>
                <a:ea typeface="Times New Roman" panose="02020603050405020304" pitchFamily="18" charset="0"/>
              </a:rPr>
              <a:t> </a:t>
            </a:r>
            <a:r>
              <a:rPr lang="kk-KZ" sz="2400" dirty="0">
                <a:solidFill>
                  <a:srgbClr val="231F20"/>
                </a:solidFill>
                <a:latin typeface="Times New Roman" panose="02020603050405020304" pitchFamily="18" charset="0"/>
                <a:ea typeface="Times New Roman" panose="02020603050405020304" pitchFamily="18" charset="0"/>
              </a:rPr>
              <a:t>таны</a:t>
            </a:r>
            <a:r>
              <a:rPr lang="kk-KZ" sz="2400" spc="200" dirty="0">
                <a:solidFill>
                  <a:srgbClr val="231F20"/>
                </a:solidFill>
                <a:latin typeface="Times New Roman" panose="02020603050405020304" pitchFamily="18" charset="0"/>
                <a:ea typeface="Times New Roman" panose="02020603050405020304" pitchFamily="18" charset="0"/>
              </a:rPr>
              <a:t> </a:t>
            </a:r>
            <a:r>
              <a:rPr lang="kk-KZ" sz="2400" dirty="0">
                <a:solidFill>
                  <a:srgbClr val="231F20"/>
                </a:solidFill>
                <a:latin typeface="Times New Roman" panose="02020603050405020304" pitchFamily="18" charset="0"/>
                <a:ea typeface="Times New Roman" panose="02020603050405020304" pitchFamily="18" charset="0"/>
              </a:rPr>
              <a:t>санал</a:t>
            </a:r>
            <a:r>
              <a:rPr lang="kk-KZ" sz="2400" spc="200" dirty="0">
                <a:solidFill>
                  <a:srgbClr val="231F20"/>
                </a:solidFill>
                <a:latin typeface="Times New Roman" panose="02020603050405020304" pitchFamily="18" charset="0"/>
                <a:ea typeface="Times New Roman" panose="02020603050405020304" pitchFamily="18" charset="0"/>
              </a:rPr>
              <a:t> </a:t>
            </a:r>
            <a:r>
              <a:rPr lang="kk-KZ" sz="2400" dirty="0">
                <a:solidFill>
                  <a:srgbClr val="231F20"/>
                </a:solidFill>
                <a:latin typeface="Times New Roman" panose="02020603050405020304" pitchFamily="18" charset="0"/>
                <a:ea typeface="Times New Roman" panose="02020603050405020304" pitchFamily="18" charset="0"/>
              </a:rPr>
              <a:t>нийт</a:t>
            </a:r>
            <a:r>
              <a:rPr lang="kk-KZ" sz="2400" spc="200" dirty="0">
                <a:solidFill>
                  <a:srgbClr val="231F20"/>
                </a:solidFill>
                <a:latin typeface="Times New Roman" panose="02020603050405020304" pitchFamily="18" charset="0"/>
                <a:ea typeface="Times New Roman" panose="02020603050405020304" pitchFamily="18" charset="0"/>
              </a:rPr>
              <a:t> </a:t>
            </a:r>
            <a:r>
              <a:rPr lang="kk-KZ" sz="2400" dirty="0">
                <a:solidFill>
                  <a:srgbClr val="231F20"/>
                </a:solidFill>
                <a:latin typeface="Times New Roman" panose="02020603050405020304" pitchFamily="18" charset="0"/>
                <a:ea typeface="Times New Roman" panose="02020603050405020304" pitchFamily="18" charset="0"/>
              </a:rPr>
              <a:t>саналын</a:t>
            </a:r>
            <a:r>
              <a:rPr lang="kk-KZ" sz="2400" spc="200" dirty="0">
                <a:solidFill>
                  <a:srgbClr val="231F20"/>
                </a:solidFill>
                <a:latin typeface="Times New Roman" panose="02020603050405020304" pitchFamily="18" charset="0"/>
                <a:ea typeface="Times New Roman" panose="02020603050405020304" pitchFamily="18" charset="0"/>
              </a:rPr>
              <a:t> </a:t>
            </a:r>
            <a:r>
              <a:rPr lang="kk-KZ" sz="2400" dirty="0">
                <a:solidFill>
                  <a:srgbClr val="231F20"/>
                </a:solidFill>
                <a:latin typeface="Times New Roman" panose="02020603050405020304" pitchFamily="18" charset="0"/>
                <a:ea typeface="Times New Roman" panose="02020603050405020304" pitchFamily="18" charset="0"/>
              </a:rPr>
              <a:t>хэдэн</a:t>
            </a:r>
            <a:r>
              <a:rPr lang="kk-KZ" sz="2400" spc="200" dirty="0">
                <a:solidFill>
                  <a:srgbClr val="231F20"/>
                </a:solidFill>
                <a:latin typeface="Times New Roman" panose="02020603050405020304" pitchFamily="18" charset="0"/>
                <a:ea typeface="Times New Roman" panose="02020603050405020304" pitchFamily="18" charset="0"/>
              </a:rPr>
              <a:t> </a:t>
            </a:r>
            <a:r>
              <a:rPr lang="kk-KZ" sz="2400" dirty="0">
                <a:solidFill>
                  <a:srgbClr val="231F20"/>
                </a:solidFill>
                <a:latin typeface="Times New Roman" panose="02020603050405020304" pitchFamily="18" charset="0"/>
                <a:ea typeface="Times New Roman" panose="02020603050405020304" pitchFamily="18" charset="0"/>
              </a:rPr>
              <a:t>хувь</a:t>
            </a:r>
            <a:r>
              <a:rPr lang="kk-KZ" sz="2400" spc="200" dirty="0">
                <a:solidFill>
                  <a:srgbClr val="231F20"/>
                </a:solidFill>
                <a:latin typeface="Times New Roman" panose="02020603050405020304" pitchFamily="18" charset="0"/>
                <a:ea typeface="Times New Roman" panose="02020603050405020304" pitchFamily="18" charset="0"/>
              </a:rPr>
              <a:t> </a:t>
            </a:r>
            <a:r>
              <a:rPr lang="kk-KZ" sz="2400" dirty="0">
                <a:solidFill>
                  <a:srgbClr val="231F20"/>
                </a:solidFill>
                <a:latin typeface="Times New Roman" panose="02020603050405020304" pitchFamily="18" charset="0"/>
                <a:ea typeface="Times New Roman" panose="02020603050405020304" pitchFamily="18" charset="0"/>
              </a:rPr>
              <a:t>болохыг</a:t>
            </a:r>
            <a:r>
              <a:rPr lang="kk-KZ" sz="2400" spc="200" dirty="0">
                <a:solidFill>
                  <a:srgbClr val="231F20"/>
                </a:solidFill>
                <a:latin typeface="Times New Roman" panose="02020603050405020304" pitchFamily="18" charset="0"/>
                <a:ea typeface="Times New Roman" panose="02020603050405020304" pitchFamily="18" charset="0"/>
              </a:rPr>
              <a:t> </a:t>
            </a:r>
            <a:r>
              <a:rPr lang="kk-KZ" sz="2400" dirty="0">
                <a:solidFill>
                  <a:srgbClr val="231F20"/>
                </a:solidFill>
                <a:latin typeface="Times New Roman" panose="02020603050405020304" pitchFamily="18" charset="0"/>
                <a:ea typeface="Times New Roman" panose="02020603050405020304" pitchFamily="18" charset="0"/>
              </a:rPr>
              <a:t>тодорхойлдог.</a:t>
            </a:r>
            <a:endParaRPr lang="mn-M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42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66473"/>
            <a:ext cx="11484244" cy="418652"/>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800" b="1"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Хувьцааны хөрөнгө оруулалт</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78703" y="505520"/>
            <a:ext cx="11687324" cy="2440293"/>
          </a:xfrm>
        </p:spPr>
        <p:txBody>
          <a:bodyPr>
            <a:noAutofit/>
          </a:bodyPr>
          <a:lstStyle/>
          <a:p>
            <a:pPr marL="0" indent="0" algn="just">
              <a:spcBef>
                <a:spcPts val="0"/>
              </a:spcBef>
              <a:spcAft>
                <a:spcPts val="0"/>
              </a:spcAft>
              <a:buNone/>
            </a:pPr>
            <a:r>
              <a:rPr lang="mn-MN" sz="3200" b="1" dirty="0">
                <a:solidFill>
                  <a:srgbClr val="0000FF"/>
                </a:solidFill>
                <a:effectLst/>
                <a:latin typeface="Times New Roman" panose="02020603050405020304" pitchFamily="18" charset="0"/>
                <a:ea typeface="Times New Roman" panose="02020603050405020304" pitchFamily="18" charset="0"/>
              </a:rPr>
              <a:t>Давуу эрхийн хувьцаа: </a:t>
            </a:r>
            <a:r>
              <a:rPr lang="mn-MN" sz="2600" b="1" dirty="0">
                <a:effectLst/>
                <a:latin typeface="Times New Roman" panose="02020603050405020304" pitchFamily="18" charset="0"/>
                <a:ea typeface="Times New Roman" panose="02020603050405020304" pitchFamily="18" charset="0"/>
              </a:rPr>
              <a:t>О</a:t>
            </a:r>
            <a:r>
              <a:rPr lang="kk-KZ" sz="2600" b="1" dirty="0">
                <a:effectLst/>
                <a:latin typeface="Times New Roman" panose="02020603050405020304" pitchFamily="18" charset="0"/>
                <a:ea typeface="Times New Roman" panose="02020603050405020304" pitchFamily="18" charset="0"/>
              </a:rPr>
              <a:t>нцлог нь саналын эрхгүй, компани ашигтай ажилласан</a:t>
            </a:r>
            <a:r>
              <a:rPr lang="kk-KZ" sz="2600" b="1" spc="200" dirty="0">
                <a:effectLst/>
                <a:latin typeface="Times New Roman" panose="02020603050405020304" pitchFamily="18" charset="0"/>
                <a:ea typeface="Times New Roman" panose="02020603050405020304" pitchFamily="18" charset="0"/>
              </a:rPr>
              <a:t> </a:t>
            </a:r>
            <a:r>
              <a:rPr lang="kk-KZ" sz="2600" b="1" dirty="0">
                <a:effectLst/>
                <a:latin typeface="Times New Roman" panose="02020603050405020304" pitchFamily="18" charset="0"/>
                <a:ea typeface="Times New Roman" panose="02020603050405020304" pitchFamily="18" charset="0"/>
              </a:rPr>
              <a:t>эсэхээс</a:t>
            </a:r>
            <a:r>
              <a:rPr lang="kk-KZ" sz="2600" b="1" spc="200" dirty="0">
                <a:effectLst/>
                <a:latin typeface="Times New Roman" panose="02020603050405020304" pitchFamily="18" charset="0"/>
                <a:ea typeface="Times New Roman" panose="02020603050405020304" pitchFamily="18" charset="0"/>
              </a:rPr>
              <a:t> </a:t>
            </a:r>
            <a:r>
              <a:rPr lang="kk-KZ" sz="2600" b="1" dirty="0">
                <a:effectLst/>
                <a:latin typeface="Times New Roman" panose="02020603050405020304" pitchFamily="18" charset="0"/>
                <a:ea typeface="Times New Roman" panose="02020603050405020304" pitchFamily="18" charset="0"/>
              </a:rPr>
              <a:t>үл</a:t>
            </a:r>
            <a:r>
              <a:rPr lang="kk-KZ" sz="2600" b="1" spc="200" dirty="0">
                <a:effectLst/>
                <a:latin typeface="Times New Roman" panose="02020603050405020304" pitchFamily="18" charset="0"/>
                <a:ea typeface="Times New Roman" panose="02020603050405020304" pitchFamily="18" charset="0"/>
              </a:rPr>
              <a:t> </a:t>
            </a:r>
            <a:r>
              <a:rPr lang="kk-KZ" sz="2600" b="1" dirty="0">
                <a:effectLst/>
                <a:latin typeface="Times New Roman" panose="02020603050405020304" pitchFamily="18" charset="0"/>
                <a:ea typeface="Times New Roman" panose="02020603050405020304" pitchFamily="18" charset="0"/>
              </a:rPr>
              <a:t>хамааран</a:t>
            </a:r>
            <a:r>
              <a:rPr lang="kk-KZ" sz="2600" b="1" spc="200" dirty="0">
                <a:effectLst/>
                <a:latin typeface="Times New Roman" panose="02020603050405020304" pitchFamily="18" charset="0"/>
                <a:ea typeface="Times New Roman" panose="02020603050405020304" pitchFamily="18" charset="0"/>
              </a:rPr>
              <a:t> </a:t>
            </a:r>
            <a:r>
              <a:rPr lang="kk-KZ" sz="2600" b="1" dirty="0">
                <a:effectLst/>
                <a:latin typeface="Times New Roman" panose="02020603050405020304" pitchFamily="18" charset="0"/>
                <a:ea typeface="Times New Roman" panose="02020603050405020304" pitchFamily="18" charset="0"/>
              </a:rPr>
              <a:t>тогтмол</a:t>
            </a:r>
            <a:r>
              <a:rPr lang="kk-KZ" sz="2600" b="1" spc="200" dirty="0">
                <a:effectLst/>
                <a:latin typeface="Times New Roman" panose="02020603050405020304" pitchFamily="18" charset="0"/>
                <a:ea typeface="Times New Roman" panose="02020603050405020304" pitchFamily="18" charset="0"/>
              </a:rPr>
              <a:t> </a:t>
            </a:r>
            <a:r>
              <a:rPr lang="kk-KZ" sz="2600" b="1" dirty="0">
                <a:effectLst/>
                <a:latin typeface="Times New Roman" panose="02020603050405020304" pitchFamily="18" charset="0"/>
                <a:ea typeface="Times New Roman" panose="02020603050405020304" pitchFamily="18" charset="0"/>
              </a:rPr>
              <a:t>хэмжээний</a:t>
            </a:r>
            <a:r>
              <a:rPr lang="kk-KZ" sz="2600" b="1" spc="200" dirty="0">
                <a:effectLst/>
                <a:latin typeface="Times New Roman" panose="02020603050405020304" pitchFamily="18" charset="0"/>
                <a:ea typeface="Times New Roman" panose="02020603050405020304" pitchFamily="18" charset="0"/>
              </a:rPr>
              <a:t> </a:t>
            </a:r>
            <a:r>
              <a:rPr lang="kk-KZ" sz="2600" b="1" dirty="0">
                <a:effectLst/>
                <a:latin typeface="Times New Roman" panose="02020603050405020304" pitchFamily="18" charset="0"/>
                <a:ea typeface="Times New Roman" panose="02020603050405020304" pitchFamily="18" charset="0"/>
              </a:rPr>
              <a:t>ногдол</a:t>
            </a:r>
            <a:r>
              <a:rPr lang="kk-KZ" sz="2600" b="1" spc="200" dirty="0">
                <a:effectLst/>
                <a:latin typeface="Times New Roman" panose="02020603050405020304" pitchFamily="18" charset="0"/>
                <a:ea typeface="Times New Roman" panose="02020603050405020304" pitchFamily="18" charset="0"/>
              </a:rPr>
              <a:t> </a:t>
            </a:r>
            <a:r>
              <a:rPr lang="kk-KZ" sz="2600" b="1" dirty="0">
                <a:effectLst/>
                <a:latin typeface="Times New Roman" panose="02020603050405020304" pitchFamily="18" charset="0"/>
                <a:ea typeface="Times New Roman" panose="02020603050405020304" pitchFamily="18" charset="0"/>
              </a:rPr>
              <a:t>ашиг</a:t>
            </a:r>
            <a:r>
              <a:rPr lang="kk-KZ" sz="2600" b="1" spc="200" dirty="0">
                <a:effectLst/>
                <a:latin typeface="Times New Roman" panose="02020603050405020304" pitchFamily="18" charset="0"/>
                <a:ea typeface="Times New Roman" panose="02020603050405020304" pitchFamily="18" charset="0"/>
              </a:rPr>
              <a:t> </a:t>
            </a:r>
            <a:r>
              <a:rPr lang="kk-KZ" sz="2600" b="1" dirty="0">
                <a:effectLst/>
                <a:latin typeface="Times New Roman" panose="02020603050405020304" pitchFamily="18" charset="0"/>
                <a:ea typeface="Times New Roman" panose="02020603050405020304" pitchFamily="18" charset="0"/>
              </a:rPr>
              <a:t>хүртдэг</a:t>
            </a:r>
            <a:r>
              <a:rPr lang="kk-KZ" sz="2600" dirty="0">
                <a:effectLst/>
                <a:latin typeface="Times New Roman" panose="02020603050405020304" pitchFamily="18" charset="0"/>
                <a:ea typeface="Times New Roman" panose="02020603050405020304" pitchFamily="18" charset="0"/>
              </a:rPr>
              <a:t>. Давуу эрхийн хувьцааг улсын үйлдвэрийг хувьчлах, компаниуд хяналтын багцыг өөрчлөхгүйгээр санхүүжилтийн эх үүсвэр олж авах зорилгоор гаргадаг.</a:t>
            </a:r>
            <a:r>
              <a:rPr lang="mn-MN" sz="2600" dirty="0">
                <a:effectLst/>
                <a:latin typeface="Times New Roman" panose="02020603050405020304" pitchFamily="18" charset="0"/>
                <a:ea typeface="Times New Roman" panose="02020603050405020304" pitchFamily="18" charset="0"/>
              </a:rPr>
              <a:t> </a:t>
            </a:r>
            <a:r>
              <a:rPr lang="kk-KZ" sz="2600" b="1" dirty="0">
                <a:effectLst/>
                <a:latin typeface="Times New Roman" panose="02020603050405020304" pitchFamily="18" charset="0"/>
                <a:ea typeface="Times New Roman" panose="02020603050405020304" pitchFamily="18" charset="0"/>
              </a:rPr>
              <a:t>Давуу эрхийн хувьцаа нь энгийн хувьцааг бодвол доорх давуу талуудтай</a:t>
            </a:r>
            <a:r>
              <a:rPr lang="kk-KZ" sz="2600" dirty="0">
                <a:effectLst/>
                <a:latin typeface="Times New Roman" panose="02020603050405020304" pitchFamily="18" charset="0"/>
                <a:ea typeface="Times New Roman" panose="02020603050405020304" pitchFamily="18" charset="0"/>
              </a:rPr>
              <a:t>. Үүнд:</a:t>
            </a:r>
            <a:endParaRPr lang="mn-MN" sz="2600" b="1" dirty="0">
              <a:solidFill>
                <a:srgbClr val="0000FF"/>
              </a:solidFill>
              <a:effectLst/>
              <a:latin typeface="Times New Roman" panose="02020603050405020304" pitchFamily="18" charset="0"/>
              <a:ea typeface="Times New Roman" panose="02020603050405020304" pitchFamily="18" charset="0"/>
            </a:endParaRPr>
          </a:p>
        </p:txBody>
      </p:sp>
      <p:sp>
        <p:nvSpPr>
          <p:cNvPr id="23" name="Content Placeholder 2">
            <a:extLst>
              <a:ext uri="{FF2B5EF4-FFF2-40B4-BE49-F238E27FC236}">
                <a16:creationId xmlns:a16="http://schemas.microsoft.com/office/drawing/2014/main" id="{934B7D3D-1729-4DC1-83B5-A3B64B061CC8}"/>
              </a:ext>
            </a:extLst>
          </p:cNvPr>
          <p:cNvSpPr txBox="1">
            <a:spLocks/>
          </p:cNvSpPr>
          <p:nvPr/>
        </p:nvSpPr>
        <p:spPr>
          <a:xfrm>
            <a:off x="225973" y="2371288"/>
            <a:ext cx="7593901" cy="43202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4163" marR="138430" indent="-284163" algn="just">
              <a:spcBef>
                <a:spcPts val="0"/>
              </a:spcBef>
              <a:buFont typeface="+mj-lt"/>
              <a:buAutoNum type="arabicPeriod"/>
              <a:tabLst>
                <a:tab pos="284163" algn="l"/>
              </a:tabLst>
            </a:pPr>
            <a:r>
              <a:rPr lang="kk-KZ" sz="2600" dirty="0">
                <a:solidFill>
                  <a:srgbClr val="231F20"/>
                </a:solidFill>
                <a:latin typeface="Times New Roman" panose="02020603050405020304" pitchFamily="18" charset="0"/>
                <a:ea typeface="Times New Roman" panose="02020603050405020304" pitchFamily="18" charset="0"/>
              </a:rPr>
              <a:t>Энгийн хувьцаа эзэмшигчдээс түрүүлж ногдол ашиг авах;</a:t>
            </a:r>
          </a:p>
          <a:p>
            <a:pPr marL="284163" marR="138430" indent="-284163" algn="just">
              <a:spcBef>
                <a:spcPts val="0"/>
              </a:spcBef>
              <a:buFont typeface="+mj-lt"/>
              <a:buAutoNum type="arabicPeriod"/>
              <a:tabLst>
                <a:tab pos="284163" algn="l"/>
              </a:tabLst>
            </a:pPr>
            <a:r>
              <a:rPr lang="kk-KZ" sz="2600" dirty="0">
                <a:solidFill>
                  <a:srgbClr val="231F20"/>
                </a:solidFill>
                <a:latin typeface="Times New Roman" panose="02020603050405020304" pitchFamily="18" charset="0"/>
                <a:ea typeface="Times New Roman" panose="02020603050405020304" pitchFamily="18" charset="0"/>
              </a:rPr>
              <a:t>Тогтмол ногдол ашиг авах. Энгийн хувьцаанд ногдол ашгийг зөвхөн компани ашигтай ажилласан тохиолдолд захирлуудын зөвлөлөөс ногдол ашиг хуваарилахаар шийдвэр гаргасан үед олгодог бол </a:t>
            </a:r>
            <a:r>
              <a:rPr lang="kk-KZ" sz="2600" b="1" dirty="0">
                <a:solidFill>
                  <a:srgbClr val="231F20"/>
                </a:solidFill>
                <a:latin typeface="Times New Roman" panose="02020603050405020304" pitchFamily="18" charset="0"/>
                <a:ea typeface="Times New Roman" panose="02020603050405020304" pitchFamily="18" charset="0"/>
              </a:rPr>
              <a:t>давуу эрхийн хувьцаанд ямарч тохиолдолд тогтмол ногдол ашиг олгодог.</a:t>
            </a:r>
            <a:endParaRPr lang="mn-MN" sz="2600" b="1" dirty="0">
              <a:solidFill>
                <a:srgbClr val="231F20"/>
              </a:solidFill>
              <a:latin typeface="Times New Roman" panose="02020603050405020304" pitchFamily="18" charset="0"/>
              <a:ea typeface="Times New Roman" panose="02020603050405020304" pitchFamily="18" charset="0"/>
            </a:endParaRPr>
          </a:p>
          <a:p>
            <a:pPr marL="284163" marR="138430" indent="-284163" algn="just">
              <a:spcBef>
                <a:spcPts val="0"/>
              </a:spcBef>
              <a:buFont typeface="+mj-lt"/>
              <a:buAutoNum type="arabicPeriod"/>
              <a:tabLst>
                <a:tab pos="284163" algn="l"/>
              </a:tabLst>
            </a:pPr>
            <a:r>
              <a:rPr lang="kk-KZ" sz="2600" dirty="0">
                <a:solidFill>
                  <a:srgbClr val="231F20"/>
                </a:solidFill>
                <a:latin typeface="Times New Roman" panose="02020603050405020304" pitchFamily="18" charset="0"/>
                <a:ea typeface="Times New Roman" panose="02020603050405020304" pitchFamily="18" charset="0"/>
              </a:rPr>
              <a:t>Компани татан буугдах, дампуурах үед </a:t>
            </a:r>
            <a:r>
              <a:rPr lang="kk-KZ" sz="2600" b="1" dirty="0">
                <a:solidFill>
                  <a:srgbClr val="231F20"/>
                </a:solidFill>
                <a:latin typeface="Times New Roman" panose="02020603050405020304" pitchFamily="18" charset="0"/>
                <a:ea typeface="Times New Roman" panose="02020603050405020304" pitchFamily="18" charset="0"/>
              </a:rPr>
              <a:t>энгийн хувьцаа эзэмшигчдээс түрүүлж оруулсан хөрөнгөө авах;</a:t>
            </a:r>
          </a:p>
          <a:p>
            <a:pPr marL="284163" marR="138430" indent="-284163" algn="just">
              <a:spcBef>
                <a:spcPts val="0"/>
              </a:spcBef>
              <a:buFont typeface="+mj-lt"/>
              <a:buAutoNum type="arabicPeriod"/>
              <a:tabLst>
                <a:tab pos="284163" algn="l"/>
              </a:tabLst>
            </a:pPr>
            <a:r>
              <a:rPr lang="kk-KZ" sz="2600" dirty="0">
                <a:solidFill>
                  <a:srgbClr val="231F20"/>
                </a:solidFill>
                <a:latin typeface="Times New Roman" panose="02020603050405020304" pitchFamily="18" charset="0"/>
                <a:ea typeface="Times New Roman" panose="02020603050405020304" pitchFamily="18" charset="0"/>
              </a:rPr>
              <a:t>Энгийн хувьцаанд хөрвөх гэх мэт.</a:t>
            </a:r>
          </a:p>
        </p:txBody>
      </p:sp>
      <p:pic>
        <p:nvPicPr>
          <p:cNvPr id="5" name="Picture 4">
            <a:extLst>
              <a:ext uri="{FF2B5EF4-FFF2-40B4-BE49-F238E27FC236}">
                <a16:creationId xmlns:a16="http://schemas.microsoft.com/office/drawing/2014/main" id="{C764FD38-A62A-4218-8672-84DF473DB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101779" y="2945813"/>
            <a:ext cx="3811518" cy="3089260"/>
          </a:xfrm>
          <a:prstGeom prst="rect">
            <a:avLst/>
          </a:prstGeom>
        </p:spPr>
      </p:pic>
    </p:spTree>
    <p:extLst>
      <p:ext uri="{BB962C8B-B14F-4D97-AF65-F5344CB8AC3E}">
        <p14:creationId xmlns:p14="http://schemas.microsoft.com/office/powerpoint/2010/main" val="2984736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34941"/>
            <a:ext cx="11484244" cy="418652"/>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800" b="1"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Хувьцааны хөрөнгө оруулалт</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78703" y="473989"/>
            <a:ext cx="11687324" cy="1906604"/>
          </a:xfrm>
        </p:spPr>
        <p:txBody>
          <a:bodyPr>
            <a:noAutofit/>
          </a:bodyPr>
          <a:lstStyle/>
          <a:p>
            <a:pPr marL="0" indent="0" algn="just">
              <a:lnSpc>
                <a:spcPct val="100000"/>
              </a:lnSpc>
              <a:spcBef>
                <a:spcPts val="0"/>
              </a:spcBef>
              <a:buNone/>
            </a:pPr>
            <a:r>
              <a:rPr lang="mn-MN" sz="2000" dirty="0">
                <a:effectLst/>
                <a:latin typeface="Times New Roman" panose="02020603050405020304" pitchFamily="18" charset="0"/>
                <a:ea typeface="Times New Roman" panose="02020603050405020304" pitchFamily="18" charset="0"/>
              </a:rPr>
              <a:t>Хувьцаа нь дараах онцлог шинжийг агуулж байдаг:</a:t>
            </a:r>
            <a:r>
              <a:rPr lang="kk-KZ" sz="2000" dirty="0">
                <a:effectLst/>
                <a:latin typeface="Times New Roman" panose="02020603050405020304" pitchFamily="18" charset="0"/>
                <a:ea typeface="Times New Roman" panose="02020603050405020304" pitchFamily="18" charset="0"/>
              </a:rPr>
              <a:t> Үүнд:</a:t>
            </a:r>
            <a:endParaRPr lang="mn-MN" sz="2000" dirty="0">
              <a:latin typeface="Times New Roman" panose="02020603050405020304" pitchFamily="18" charset="0"/>
              <a:ea typeface="Times New Roman" panose="02020603050405020304" pitchFamily="18" charset="0"/>
            </a:endParaRPr>
          </a:p>
          <a:p>
            <a:pPr marL="457200" indent="-457200" algn="just">
              <a:lnSpc>
                <a:spcPct val="100000"/>
              </a:lnSpc>
              <a:spcBef>
                <a:spcPts val="0"/>
              </a:spcBef>
              <a:buFont typeface="+mj-lt"/>
              <a:buAutoNum type="arabicPeriod"/>
            </a:pPr>
            <a:r>
              <a:rPr lang="mn-MN" sz="2000" spc="0" dirty="0">
                <a:effectLst/>
                <a:latin typeface="Times New Roman" panose="02020603050405020304" pitchFamily="18" charset="0"/>
                <a:ea typeface="Times New Roman" panose="02020603050405020304" pitchFamily="18" charset="0"/>
              </a:rPr>
              <a:t>Х</a:t>
            </a:r>
            <a:r>
              <a:rPr lang="kk-KZ" sz="2000" spc="0" dirty="0">
                <a:effectLst/>
                <a:latin typeface="Times New Roman" panose="02020603050405020304" pitchFamily="18" charset="0"/>
                <a:ea typeface="Times New Roman" panose="02020603050405020304" pitchFamily="18" charset="0"/>
              </a:rPr>
              <a:t>увьцаа эзэмшигчид нь уг компанийн өмчлөгчид байдаг бол бонд эзэмшигч нь зээлдүүлэгч болдог.</a:t>
            </a:r>
            <a:endParaRPr lang="mn-MN" sz="2000" dirty="0">
              <a:latin typeface="Times New Roman" panose="02020603050405020304" pitchFamily="18" charset="0"/>
              <a:ea typeface="Times New Roman" panose="02020603050405020304" pitchFamily="18" charset="0"/>
            </a:endParaRPr>
          </a:p>
          <a:p>
            <a:pPr marL="457200" indent="-457200" algn="just">
              <a:lnSpc>
                <a:spcPct val="100000"/>
              </a:lnSpc>
              <a:spcBef>
                <a:spcPts val="0"/>
              </a:spcBef>
              <a:buFont typeface="+mj-lt"/>
              <a:buAutoNum type="arabicPeriod"/>
            </a:pPr>
            <a:r>
              <a:rPr lang="kk-KZ" sz="2000" spc="0" dirty="0">
                <a:effectLst/>
                <a:latin typeface="Times New Roman" panose="02020603050405020304" pitchFamily="18" charset="0"/>
                <a:ea typeface="Times New Roman" panose="02020603050405020304" pitchFamily="18" charset="0"/>
              </a:rPr>
              <a:t>Хувьцаа эзэмшигчид нь ихэвчлэн компанийн захирлыг сонгох болон бусад гол асуудлуудыг шийдэхэд санал өгөх эрхтэй байдаг. Харин зээлдэгч нарт санал өгөх эрх байдаггүй.</a:t>
            </a:r>
            <a:endParaRPr lang="mn-MN" sz="2000" dirty="0">
              <a:latin typeface="Times New Roman" panose="02020603050405020304" pitchFamily="18" charset="0"/>
              <a:ea typeface="Times New Roman" panose="02020603050405020304" pitchFamily="18" charset="0"/>
            </a:endParaRPr>
          </a:p>
          <a:p>
            <a:pPr marL="457200" indent="-457200" algn="just">
              <a:lnSpc>
                <a:spcPct val="100000"/>
              </a:lnSpc>
              <a:spcBef>
                <a:spcPts val="0"/>
              </a:spcBef>
              <a:buFont typeface="+mj-lt"/>
              <a:buAutoNum type="arabicPeriod"/>
            </a:pPr>
            <a:r>
              <a:rPr lang="kk-KZ" sz="2000" dirty="0">
                <a:effectLst/>
                <a:latin typeface="Times New Roman" panose="02020603050405020304" pitchFamily="18" charset="0"/>
                <a:ea typeface="Times New Roman" panose="02020603050405020304" pitchFamily="18" charset="0"/>
              </a:rPr>
              <a:t>Хувьцаа эзэмшигчдийн ногдол ашиг болон хөрөнгө нэхэмжлэх эрх нь тухайн компанийн өр төлбөр төлөгдөж дууссаны дараа тавигдах болно.</a:t>
            </a:r>
            <a:r>
              <a:rPr lang="mn-MN" sz="2000" dirty="0">
                <a:effectLst/>
                <a:latin typeface="Times New Roman" panose="02020603050405020304" pitchFamily="18" charset="0"/>
                <a:ea typeface="Times New Roman" panose="02020603050405020304" pitchFamily="18" charset="0"/>
              </a:rPr>
              <a:t> </a:t>
            </a:r>
            <a:r>
              <a:rPr lang="mn-MN" sz="2000" b="1" i="1" dirty="0">
                <a:solidFill>
                  <a:srgbClr val="0000FF"/>
                </a:solidFill>
                <a:effectLst/>
                <a:latin typeface="Times New Roman" panose="02020603050405020304" pitchFamily="18" charset="0"/>
                <a:ea typeface="Times New Roman" panose="02020603050405020304" pitchFamily="18" charset="0"/>
              </a:rPr>
              <a:t>Хүснэгт 1. Хувьцаа болон бондын харьцуулалт</a:t>
            </a:r>
          </a:p>
        </p:txBody>
      </p:sp>
      <p:graphicFrame>
        <p:nvGraphicFramePr>
          <p:cNvPr id="4" name="Table 3">
            <a:extLst>
              <a:ext uri="{FF2B5EF4-FFF2-40B4-BE49-F238E27FC236}">
                <a16:creationId xmlns:a16="http://schemas.microsoft.com/office/drawing/2014/main" id="{19CD3507-DFA4-4A29-83BE-81AC1848ABEA}"/>
              </a:ext>
            </a:extLst>
          </p:cNvPr>
          <p:cNvGraphicFramePr>
            <a:graphicFrameLocks noGrp="1"/>
          </p:cNvGraphicFramePr>
          <p:nvPr>
            <p:extLst>
              <p:ext uri="{D42A27DB-BD31-4B8C-83A1-F6EECF244321}">
                <p14:modId xmlns:p14="http://schemas.microsoft.com/office/powerpoint/2010/main" val="1819833542"/>
              </p:ext>
            </p:extLst>
          </p:nvPr>
        </p:nvGraphicFramePr>
        <p:xfrm>
          <a:off x="772509" y="2380593"/>
          <a:ext cx="10625959" cy="3770781"/>
        </p:xfrm>
        <a:graphic>
          <a:graphicData uri="http://schemas.openxmlformats.org/drawingml/2006/table">
            <a:tbl>
              <a:tblPr firstRow="1" firstCol="1" lastRow="1" lastCol="1" bandRow="1" bandCol="1">
                <a:tableStyleId>{5C22544A-7EE6-4342-B048-85BDC9FD1C3A}</a:tableStyleId>
              </a:tblPr>
              <a:tblGrid>
                <a:gridCol w="2959371">
                  <a:extLst>
                    <a:ext uri="{9D8B030D-6E8A-4147-A177-3AD203B41FA5}">
                      <a16:colId xmlns:a16="http://schemas.microsoft.com/office/drawing/2014/main" val="666739228"/>
                    </a:ext>
                  </a:extLst>
                </a:gridCol>
                <a:gridCol w="2056637">
                  <a:extLst>
                    <a:ext uri="{9D8B030D-6E8A-4147-A177-3AD203B41FA5}">
                      <a16:colId xmlns:a16="http://schemas.microsoft.com/office/drawing/2014/main" val="4241451781"/>
                    </a:ext>
                  </a:extLst>
                </a:gridCol>
                <a:gridCol w="2056637">
                  <a:extLst>
                    <a:ext uri="{9D8B030D-6E8A-4147-A177-3AD203B41FA5}">
                      <a16:colId xmlns:a16="http://schemas.microsoft.com/office/drawing/2014/main" val="780597973"/>
                    </a:ext>
                  </a:extLst>
                </a:gridCol>
                <a:gridCol w="1799558">
                  <a:extLst>
                    <a:ext uri="{9D8B030D-6E8A-4147-A177-3AD203B41FA5}">
                      <a16:colId xmlns:a16="http://schemas.microsoft.com/office/drawing/2014/main" val="195778310"/>
                    </a:ext>
                  </a:extLst>
                </a:gridCol>
                <a:gridCol w="1753756">
                  <a:extLst>
                    <a:ext uri="{9D8B030D-6E8A-4147-A177-3AD203B41FA5}">
                      <a16:colId xmlns:a16="http://schemas.microsoft.com/office/drawing/2014/main" val="4184328293"/>
                    </a:ext>
                  </a:extLst>
                </a:gridCol>
              </a:tblGrid>
              <a:tr h="329552">
                <a:tc>
                  <a:txBody>
                    <a:bodyPr/>
                    <a:lstStyle/>
                    <a:p>
                      <a:pPr marL="3175" marR="193675" algn="ctr">
                        <a:lnSpc>
                          <a:spcPct val="100000"/>
                        </a:lnSpc>
                        <a:spcBef>
                          <a:spcPts val="0"/>
                        </a:spcBef>
                        <a:spcAft>
                          <a:spcPts val="0"/>
                        </a:spcAft>
                      </a:pPr>
                      <a:r>
                        <a:rPr lang="kk-KZ" sz="2200" spc="-10" dirty="0">
                          <a:effectLst/>
                          <a:latin typeface="Times New Roman" panose="02020603050405020304" pitchFamily="18" charset="0"/>
                          <a:cs typeface="Times New Roman" panose="02020603050405020304" pitchFamily="18" charset="0"/>
                        </a:rPr>
                        <a:t>Үзүүлэлт</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gridSpan="2">
                  <a:txBody>
                    <a:bodyPr/>
                    <a:lstStyle/>
                    <a:p>
                      <a:pPr marL="546735"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Хувьцаа</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gridSpan="2">
                  <a:txBody>
                    <a:bodyPr/>
                    <a:lstStyle/>
                    <a:p>
                      <a:pPr marL="8255" marR="189865" algn="ctr">
                        <a:lnSpc>
                          <a:spcPct val="100000"/>
                        </a:lnSpc>
                        <a:spcBef>
                          <a:spcPts val="0"/>
                        </a:spcBef>
                        <a:spcAft>
                          <a:spcPts val="0"/>
                        </a:spcAft>
                      </a:pPr>
                      <a:r>
                        <a:rPr lang="kk-KZ" sz="2200" spc="-20">
                          <a:effectLst/>
                          <a:latin typeface="Times New Roman" panose="02020603050405020304" pitchFamily="18" charset="0"/>
                          <a:cs typeface="Times New Roman" panose="02020603050405020304" pitchFamily="18" charset="0"/>
                        </a:rPr>
                        <a:t>Бонд</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extLst>
                  <a:ext uri="{0D108BD9-81ED-4DB2-BD59-A6C34878D82A}">
                    <a16:rowId xmlns:a16="http://schemas.microsoft.com/office/drawing/2014/main" val="111277081"/>
                  </a:ext>
                </a:extLst>
              </a:tr>
              <a:tr h="658998">
                <a:tc>
                  <a:txBody>
                    <a:bodyPr/>
                    <a:lstStyle/>
                    <a:p>
                      <a:pPr marL="8255" marR="195580" algn="ctr">
                        <a:lnSpc>
                          <a:spcPct val="100000"/>
                        </a:lnSpc>
                        <a:spcBef>
                          <a:spcPts val="0"/>
                        </a:spcBef>
                        <a:spcAft>
                          <a:spcPts val="0"/>
                        </a:spcAft>
                      </a:pPr>
                      <a:r>
                        <a:rPr lang="kk-KZ" sz="2200" spc="-10" dirty="0">
                          <a:effectLst/>
                          <a:latin typeface="Times New Roman" panose="02020603050405020304" pitchFamily="18" charset="0"/>
                          <a:cs typeface="Times New Roman" panose="02020603050405020304" pitchFamily="18" charset="0"/>
                        </a:rPr>
                        <a:t>Ангилал</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35255" marR="66040" indent="8255" algn="ctr">
                        <a:lnSpc>
                          <a:spcPct val="100000"/>
                        </a:lnSpc>
                        <a:spcBef>
                          <a:spcPts val="0"/>
                        </a:spcBef>
                        <a:spcAft>
                          <a:spcPts val="0"/>
                        </a:spcAft>
                      </a:pPr>
                      <a:r>
                        <a:rPr lang="kk-KZ" sz="2200" spc="-10" dirty="0">
                          <a:effectLst/>
                          <a:latin typeface="Times New Roman" panose="02020603050405020304" pitchFamily="18" charset="0"/>
                          <a:cs typeface="Times New Roman" panose="02020603050405020304" pitchFamily="18" charset="0"/>
                        </a:rPr>
                        <a:t>Энгийн хувьцаа</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68275" marR="66040" indent="14605" algn="ctr">
                        <a:lnSpc>
                          <a:spcPct val="100000"/>
                        </a:lnSpc>
                        <a:spcBef>
                          <a:spcPts val="0"/>
                        </a:spcBef>
                        <a:spcAft>
                          <a:spcPts val="0"/>
                        </a:spcAft>
                      </a:pPr>
                      <a:r>
                        <a:rPr lang="kk-KZ" sz="2200" spc="-10" dirty="0">
                          <a:effectLst/>
                          <a:latin typeface="Times New Roman" panose="02020603050405020304" pitchFamily="18" charset="0"/>
                          <a:cs typeface="Times New Roman" panose="02020603050405020304" pitchFamily="18" charset="0"/>
                        </a:rPr>
                        <a:t>Давуу эрхтэй</a:t>
                      </a:r>
                      <a:endParaRPr lang="en-US" sz="2200" dirty="0">
                        <a:effectLst/>
                        <a:latin typeface="Times New Roman" panose="02020603050405020304" pitchFamily="18" charset="0"/>
                        <a:cs typeface="Times New Roman" panose="02020603050405020304" pitchFamily="18" charset="0"/>
                      </a:endParaRPr>
                    </a:p>
                    <a:p>
                      <a:pPr marL="135890" algn="ctr">
                        <a:lnSpc>
                          <a:spcPct val="100000"/>
                        </a:lnSpc>
                        <a:spcBef>
                          <a:spcPts val="0"/>
                        </a:spcBef>
                        <a:spcAft>
                          <a:spcPts val="0"/>
                        </a:spcAft>
                      </a:pPr>
                      <a:r>
                        <a:rPr lang="kk-KZ" sz="2200" spc="-10" dirty="0">
                          <a:effectLst/>
                          <a:latin typeface="Times New Roman" panose="02020603050405020304" pitchFamily="18" charset="0"/>
                          <a:cs typeface="Times New Roman" panose="02020603050405020304" pitchFamily="18" charset="0"/>
                        </a:rPr>
                        <a:t>хувьцаа</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93345"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Барьцаатай</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69215"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Барьцаагүй</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209216871"/>
                  </a:ext>
                </a:extLst>
              </a:tr>
              <a:tr h="378057">
                <a:tc>
                  <a:txBody>
                    <a:bodyPr/>
                    <a:lstStyle/>
                    <a:p>
                      <a:pPr marL="8255" marR="193675"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Хугацаа</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gridSpan="2">
                  <a:txBody>
                    <a:bodyPr/>
                    <a:lstStyle/>
                    <a:p>
                      <a:pPr marL="480060" algn="ctr">
                        <a:lnSpc>
                          <a:spcPct val="100000"/>
                        </a:lnSpc>
                        <a:spcBef>
                          <a:spcPts val="0"/>
                        </a:spcBef>
                        <a:spcAft>
                          <a:spcPts val="0"/>
                        </a:spcAft>
                      </a:pPr>
                      <a:r>
                        <a:rPr lang="kk-KZ" sz="2200" spc="-10" dirty="0">
                          <a:effectLst/>
                          <a:latin typeface="Times New Roman" panose="02020603050405020304" pitchFamily="18" charset="0"/>
                          <a:cs typeface="Times New Roman" panose="02020603050405020304" pitchFamily="18" charset="0"/>
                        </a:rPr>
                        <a:t>Хугацаагүй</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gridSpan="2">
                  <a:txBody>
                    <a:bodyPr/>
                    <a:lstStyle/>
                    <a:p>
                      <a:pPr marL="171450" algn="ctr">
                        <a:lnSpc>
                          <a:spcPct val="100000"/>
                        </a:lnSpc>
                        <a:spcBef>
                          <a:spcPts val="0"/>
                        </a:spcBef>
                        <a:spcAft>
                          <a:spcPts val="0"/>
                        </a:spcAft>
                      </a:pPr>
                      <a:r>
                        <a:rPr lang="kk-KZ" sz="2200">
                          <a:effectLst/>
                          <a:latin typeface="Times New Roman" panose="02020603050405020304" pitchFamily="18" charset="0"/>
                          <a:cs typeface="Times New Roman" panose="02020603050405020304" pitchFamily="18" charset="0"/>
                        </a:rPr>
                        <a:t>Дуусах</a:t>
                      </a:r>
                      <a:r>
                        <a:rPr lang="kk-KZ" sz="2200" spc="15">
                          <a:effectLst/>
                          <a:latin typeface="Times New Roman" panose="02020603050405020304" pitchFamily="18" charset="0"/>
                          <a:cs typeface="Times New Roman" panose="02020603050405020304" pitchFamily="18" charset="0"/>
                        </a:rPr>
                        <a:t> </a:t>
                      </a:r>
                      <a:r>
                        <a:rPr lang="kk-KZ" sz="2200" spc="-10">
                          <a:effectLst/>
                          <a:latin typeface="Times New Roman" panose="02020603050405020304" pitchFamily="18" charset="0"/>
                          <a:cs typeface="Times New Roman" panose="02020603050405020304" pitchFamily="18" charset="0"/>
                        </a:rPr>
                        <a:t>хугацаатай</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extLst>
                  <a:ext uri="{0D108BD9-81ED-4DB2-BD59-A6C34878D82A}">
                    <a16:rowId xmlns:a16="http://schemas.microsoft.com/office/drawing/2014/main" val="2802169240"/>
                  </a:ext>
                </a:extLst>
              </a:tr>
              <a:tr h="633424">
                <a:tc>
                  <a:txBody>
                    <a:bodyPr/>
                    <a:lstStyle/>
                    <a:p>
                      <a:pPr marL="1270" marR="195580" algn="ctr">
                        <a:lnSpc>
                          <a:spcPct val="100000"/>
                        </a:lnSpc>
                        <a:spcBef>
                          <a:spcPts val="0"/>
                        </a:spcBef>
                        <a:spcAft>
                          <a:spcPts val="0"/>
                        </a:spcAft>
                      </a:pPr>
                      <a:r>
                        <a:rPr lang="kk-KZ" sz="2200">
                          <a:effectLst/>
                          <a:latin typeface="Times New Roman" panose="02020603050405020304" pitchFamily="18" charset="0"/>
                          <a:cs typeface="Times New Roman" panose="02020603050405020304" pitchFamily="18" charset="0"/>
                        </a:rPr>
                        <a:t>Мөнгөн</a:t>
                      </a:r>
                      <a:r>
                        <a:rPr lang="kk-KZ" sz="2200" spc="40">
                          <a:effectLst/>
                          <a:latin typeface="Times New Roman" panose="02020603050405020304" pitchFamily="18" charset="0"/>
                          <a:cs typeface="Times New Roman" panose="02020603050405020304" pitchFamily="18" charset="0"/>
                        </a:rPr>
                        <a:t> </a:t>
                      </a:r>
                      <a:r>
                        <a:rPr lang="kk-KZ" sz="2200" spc="-10">
                          <a:effectLst/>
                          <a:latin typeface="Times New Roman" panose="02020603050405020304" pitchFamily="18" charset="0"/>
                          <a:cs typeface="Times New Roman" panose="02020603050405020304" pitchFamily="18" charset="0"/>
                        </a:rPr>
                        <a:t>урсгал</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8255" marR="40640"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Хувьсах</a:t>
                      </a:r>
                      <a:endParaRPr lang="en-US" sz="2200">
                        <a:effectLst/>
                        <a:latin typeface="Times New Roman" panose="02020603050405020304" pitchFamily="18" charset="0"/>
                        <a:cs typeface="Times New Roman" panose="02020603050405020304" pitchFamily="18" charset="0"/>
                      </a:endParaRPr>
                    </a:p>
                    <a:p>
                      <a:pPr marL="8255" marR="45085" algn="ctr">
                        <a:lnSpc>
                          <a:spcPct val="100000"/>
                        </a:lnSpc>
                        <a:spcBef>
                          <a:spcPts val="0"/>
                        </a:spcBef>
                        <a:spcAft>
                          <a:spcPts val="0"/>
                        </a:spcAft>
                      </a:pPr>
                      <a:r>
                        <a:rPr lang="kk-KZ" sz="2200">
                          <a:effectLst/>
                          <a:latin typeface="Times New Roman" panose="02020603050405020304" pitchFamily="18" charset="0"/>
                          <a:cs typeface="Times New Roman" panose="02020603050405020304" pitchFamily="18" charset="0"/>
                        </a:rPr>
                        <a:t>ногдол</a:t>
                      </a:r>
                      <a:r>
                        <a:rPr lang="kk-KZ" sz="2200" spc="10">
                          <a:effectLst/>
                          <a:latin typeface="Times New Roman" panose="02020603050405020304" pitchFamily="18" charset="0"/>
                          <a:cs typeface="Times New Roman" panose="02020603050405020304" pitchFamily="18" charset="0"/>
                        </a:rPr>
                        <a:t> </a:t>
                      </a:r>
                      <a:r>
                        <a:rPr lang="kk-KZ" sz="2200" spc="-20">
                          <a:effectLst/>
                          <a:latin typeface="Times New Roman" panose="02020603050405020304" pitchFamily="18" charset="0"/>
                          <a:cs typeface="Times New Roman" panose="02020603050405020304" pitchFamily="18" charset="0"/>
                        </a:rPr>
                        <a:t>ашиг</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8255" marR="40005" algn="ctr">
                        <a:lnSpc>
                          <a:spcPct val="100000"/>
                        </a:lnSpc>
                        <a:spcBef>
                          <a:spcPts val="0"/>
                        </a:spcBef>
                        <a:spcAft>
                          <a:spcPts val="0"/>
                        </a:spcAft>
                      </a:pPr>
                      <a:r>
                        <a:rPr lang="kk-KZ" sz="2200" spc="-10" dirty="0">
                          <a:effectLst/>
                          <a:latin typeface="Times New Roman" panose="02020603050405020304" pitchFamily="18" charset="0"/>
                          <a:cs typeface="Times New Roman" panose="02020603050405020304" pitchFamily="18" charset="0"/>
                        </a:rPr>
                        <a:t>Тогтмол</a:t>
                      </a:r>
                      <a:endParaRPr lang="en-US" sz="2200" dirty="0">
                        <a:effectLst/>
                        <a:latin typeface="Times New Roman" panose="02020603050405020304" pitchFamily="18" charset="0"/>
                        <a:cs typeface="Times New Roman" panose="02020603050405020304" pitchFamily="18" charset="0"/>
                      </a:endParaRPr>
                    </a:p>
                    <a:p>
                      <a:pPr marL="8255" marR="44450" algn="ctr">
                        <a:lnSpc>
                          <a:spcPct val="100000"/>
                        </a:lnSpc>
                        <a:spcBef>
                          <a:spcPts val="0"/>
                        </a:spcBef>
                        <a:spcAft>
                          <a:spcPts val="0"/>
                        </a:spcAft>
                      </a:pPr>
                      <a:r>
                        <a:rPr lang="kk-KZ" sz="2200" dirty="0">
                          <a:effectLst/>
                          <a:latin typeface="Times New Roman" panose="02020603050405020304" pitchFamily="18" charset="0"/>
                          <a:cs typeface="Times New Roman" panose="02020603050405020304" pitchFamily="18" charset="0"/>
                        </a:rPr>
                        <a:t>ногдол</a:t>
                      </a:r>
                      <a:r>
                        <a:rPr lang="kk-KZ" sz="2200" spc="10" dirty="0">
                          <a:effectLst/>
                          <a:latin typeface="Times New Roman" panose="02020603050405020304" pitchFamily="18" charset="0"/>
                          <a:cs typeface="Times New Roman" panose="02020603050405020304" pitchFamily="18" charset="0"/>
                        </a:rPr>
                        <a:t> </a:t>
                      </a:r>
                      <a:r>
                        <a:rPr lang="kk-KZ" sz="2200" spc="-20" dirty="0">
                          <a:effectLst/>
                          <a:latin typeface="Times New Roman" panose="02020603050405020304" pitchFamily="18" charset="0"/>
                          <a:cs typeface="Times New Roman" panose="02020603050405020304" pitchFamily="18" charset="0"/>
                        </a:rPr>
                        <a:t>ашиг</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gridSpan="2">
                  <a:txBody>
                    <a:bodyPr/>
                    <a:lstStyle/>
                    <a:p>
                      <a:pPr marL="334010" algn="ctr">
                        <a:lnSpc>
                          <a:spcPct val="100000"/>
                        </a:lnSpc>
                        <a:spcBef>
                          <a:spcPts val="0"/>
                        </a:spcBef>
                        <a:spcAft>
                          <a:spcPts val="0"/>
                        </a:spcAft>
                      </a:pPr>
                      <a:r>
                        <a:rPr lang="kk-KZ" sz="2200" dirty="0">
                          <a:effectLst/>
                          <a:latin typeface="Times New Roman" panose="02020603050405020304" pitchFamily="18" charset="0"/>
                          <a:cs typeface="Times New Roman" panose="02020603050405020304" pitchFamily="18" charset="0"/>
                        </a:rPr>
                        <a:t>Хүү</a:t>
                      </a:r>
                      <a:r>
                        <a:rPr lang="kk-KZ" sz="2200" spc="30" dirty="0">
                          <a:effectLst/>
                          <a:latin typeface="Times New Roman" panose="02020603050405020304" pitchFamily="18" charset="0"/>
                          <a:cs typeface="Times New Roman" panose="02020603050405020304" pitchFamily="18" charset="0"/>
                        </a:rPr>
                        <a:t> </a:t>
                      </a:r>
                      <a:r>
                        <a:rPr lang="kk-KZ" sz="2200" spc="-10" dirty="0">
                          <a:effectLst/>
                          <a:latin typeface="Times New Roman" panose="02020603050405020304" pitchFamily="18" charset="0"/>
                          <a:cs typeface="Times New Roman" panose="02020603050405020304" pitchFamily="18" charset="0"/>
                        </a:rPr>
                        <a:t>(Купон)</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extLst>
                  <a:ext uri="{0D108BD9-81ED-4DB2-BD59-A6C34878D82A}">
                    <a16:rowId xmlns:a16="http://schemas.microsoft.com/office/drawing/2014/main" val="4217541089"/>
                  </a:ext>
                </a:extLst>
              </a:tr>
              <a:tr h="375204">
                <a:tc>
                  <a:txBody>
                    <a:bodyPr/>
                    <a:lstStyle/>
                    <a:p>
                      <a:pPr marL="1270" marR="193675" algn="ctr">
                        <a:lnSpc>
                          <a:spcPct val="100000"/>
                        </a:lnSpc>
                        <a:spcBef>
                          <a:spcPts val="0"/>
                        </a:spcBef>
                        <a:spcAft>
                          <a:spcPts val="0"/>
                        </a:spcAft>
                      </a:pPr>
                      <a:r>
                        <a:rPr lang="kk-KZ" sz="2200">
                          <a:effectLst/>
                          <a:latin typeface="Times New Roman" panose="02020603050405020304" pitchFamily="18" charset="0"/>
                          <a:cs typeface="Times New Roman" panose="02020603050405020304" pitchFamily="18" charset="0"/>
                        </a:rPr>
                        <a:t>Саналын</a:t>
                      </a:r>
                      <a:r>
                        <a:rPr lang="kk-KZ" sz="2200" spc="20">
                          <a:effectLst/>
                          <a:latin typeface="Times New Roman" panose="02020603050405020304" pitchFamily="18" charset="0"/>
                          <a:cs typeface="Times New Roman" panose="02020603050405020304" pitchFamily="18" charset="0"/>
                        </a:rPr>
                        <a:t> </a:t>
                      </a:r>
                      <a:r>
                        <a:rPr lang="kk-KZ" sz="2200" spc="-25">
                          <a:effectLst/>
                          <a:latin typeface="Times New Roman" panose="02020603050405020304" pitchFamily="18" charset="0"/>
                          <a:cs typeface="Times New Roman" panose="02020603050405020304" pitchFamily="18" charset="0"/>
                        </a:rPr>
                        <a:t>эрх</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8255" marR="202565"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Эрхтэй</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8255" marR="201930"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Эрхгүй</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gridSpan="2">
                  <a:txBody>
                    <a:bodyPr/>
                    <a:lstStyle/>
                    <a:p>
                      <a:pPr marL="473710" algn="ctr">
                        <a:lnSpc>
                          <a:spcPct val="100000"/>
                        </a:lnSpc>
                        <a:spcBef>
                          <a:spcPts val="0"/>
                        </a:spcBef>
                        <a:spcAft>
                          <a:spcPts val="0"/>
                        </a:spcAft>
                      </a:pPr>
                      <a:r>
                        <a:rPr lang="kk-KZ" sz="2200" spc="-10" dirty="0">
                          <a:effectLst/>
                          <a:latin typeface="Times New Roman" panose="02020603050405020304" pitchFamily="18" charset="0"/>
                          <a:cs typeface="Times New Roman" panose="02020603050405020304" pitchFamily="18" charset="0"/>
                        </a:rPr>
                        <a:t>Эрхгүй</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extLst>
                  <a:ext uri="{0D108BD9-81ED-4DB2-BD59-A6C34878D82A}">
                    <a16:rowId xmlns:a16="http://schemas.microsoft.com/office/drawing/2014/main" val="2990919737"/>
                  </a:ext>
                </a:extLst>
              </a:tr>
              <a:tr h="633424">
                <a:tc>
                  <a:txBody>
                    <a:bodyPr/>
                    <a:lstStyle/>
                    <a:p>
                      <a:pPr marL="8255" marR="37465" algn="ctr">
                        <a:lnSpc>
                          <a:spcPct val="100000"/>
                        </a:lnSpc>
                        <a:spcBef>
                          <a:spcPts val="0"/>
                        </a:spcBef>
                        <a:spcAft>
                          <a:spcPts val="0"/>
                        </a:spcAft>
                      </a:pPr>
                      <a:r>
                        <a:rPr lang="kk-KZ" sz="2200">
                          <a:effectLst/>
                          <a:latin typeface="Times New Roman" panose="02020603050405020304" pitchFamily="18" charset="0"/>
                          <a:cs typeface="Times New Roman" panose="02020603050405020304" pitchFamily="18" charset="0"/>
                        </a:rPr>
                        <a:t>Хөрөнгө</a:t>
                      </a:r>
                      <a:r>
                        <a:rPr lang="kk-KZ" sz="2200" spc="40">
                          <a:effectLst/>
                          <a:latin typeface="Times New Roman" panose="02020603050405020304" pitchFamily="18" charset="0"/>
                          <a:cs typeface="Times New Roman" panose="02020603050405020304" pitchFamily="18" charset="0"/>
                        </a:rPr>
                        <a:t> </a:t>
                      </a:r>
                      <a:r>
                        <a:rPr lang="kk-KZ" sz="2200" spc="-10">
                          <a:effectLst/>
                          <a:latin typeface="Times New Roman" panose="02020603050405020304" pitchFamily="18" charset="0"/>
                          <a:cs typeface="Times New Roman" panose="02020603050405020304" pitchFamily="18" charset="0"/>
                        </a:rPr>
                        <a:t>хуваарилах</a:t>
                      </a:r>
                      <a:endParaRPr lang="en-US" sz="2200">
                        <a:effectLst/>
                        <a:latin typeface="Times New Roman" panose="02020603050405020304" pitchFamily="18" charset="0"/>
                        <a:cs typeface="Times New Roman" panose="02020603050405020304" pitchFamily="18" charset="0"/>
                      </a:endParaRPr>
                    </a:p>
                    <a:p>
                      <a:pPr marL="8255" marR="38735"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дараалал</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8255" marR="201295" algn="ctr">
                        <a:lnSpc>
                          <a:spcPct val="100000"/>
                        </a:lnSpc>
                        <a:spcBef>
                          <a:spcPts val="0"/>
                        </a:spcBef>
                        <a:spcAft>
                          <a:spcPts val="0"/>
                        </a:spcAft>
                      </a:pPr>
                      <a:r>
                        <a:rPr lang="kk-KZ" sz="2200" spc="-20">
                          <a:effectLst/>
                          <a:latin typeface="Times New Roman" panose="02020603050405020304" pitchFamily="18" charset="0"/>
                          <a:cs typeface="Times New Roman" panose="02020603050405020304" pitchFamily="18" charset="0"/>
                        </a:rPr>
                        <a:t>(IY)</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8255" marR="200025"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(III)</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226060" algn="ctr">
                        <a:lnSpc>
                          <a:spcPct val="100000"/>
                        </a:lnSpc>
                        <a:spcBef>
                          <a:spcPts val="0"/>
                        </a:spcBef>
                        <a:spcAft>
                          <a:spcPts val="0"/>
                        </a:spcAft>
                      </a:pPr>
                      <a:r>
                        <a:rPr lang="kk-KZ" sz="2200" spc="-25" dirty="0">
                          <a:effectLst/>
                          <a:latin typeface="Times New Roman" panose="02020603050405020304" pitchFamily="18" charset="0"/>
                          <a:cs typeface="Times New Roman" panose="02020603050405020304" pitchFamily="18" charset="0"/>
                        </a:rPr>
                        <a:t>(I)</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195580" algn="ctr">
                        <a:lnSpc>
                          <a:spcPct val="100000"/>
                        </a:lnSpc>
                        <a:spcBef>
                          <a:spcPts val="0"/>
                        </a:spcBef>
                        <a:spcAft>
                          <a:spcPts val="0"/>
                        </a:spcAft>
                      </a:pPr>
                      <a:r>
                        <a:rPr lang="kk-KZ" sz="2200" spc="-20" dirty="0">
                          <a:effectLst/>
                          <a:latin typeface="Times New Roman" panose="02020603050405020304" pitchFamily="18" charset="0"/>
                          <a:cs typeface="Times New Roman" panose="02020603050405020304" pitchFamily="18" charset="0"/>
                        </a:rPr>
                        <a:t>(II)</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300571229"/>
                  </a:ext>
                </a:extLst>
              </a:tr>
              <a:tr h="653397">
                <a:tc>
                  <a:txBody>
                    <a:bodyPr/>
                    <a:lstStyle/>
                    <a:p>
                      <a:pPr marL="2540" marR="193675"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Нөхцөл</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45085" marR="36830" algn="ctr">
                        <a:lnSpc>
                          <a:spcPct val="100000"/>
                        </a:lnSpc>
                        <a:spcBef>
                          <a:spcPts val="0"/>
                        </a:spcBef>
                        <a:spcAft>
                          <a:spcPts val="0"/>
                        </a:spcAft>
                      </a:pPr>
                      <a:r>
                        <a:rPr lang="kk-KZ" sz="2200" spc="-10" dirty="0">
                          <a:effectLst/>
                          <a:latin typeface="Times New Roman" panose="02020603050405020304" pitchFamily="18" charset="0"/>
                          <a:cs typeface="Times New Roman" panose="02020603050405020304" pitchFamily="18" charset="0"/>
                        </a:rPr>
                        <a:t>Эргэн</a:t>
                      </a:r>
                      <a:endParaRPr lang="en-US" sz="2200" dirty="0">
                        <a:effectLst/>
                        <a:latin typeface="Times New Roman" panose="02020603050405020304" pitchFamily="18" charset="0"/>
                        <a:cs typeface="Times New Roman" panose="02020603050405020304" pitchFamily="18" charset="0"/>
                      </a:endParaRPr>
                    </a:p>
                    <a:p>
                      <a:pPr marL="43815" marR="36830" algn="ctr">
                        <a:lnSpc>
                          <a:spcPct val="100000"/>
                        </a:lnSpc>
                        <a:spcBef>
                          <a:spcPts val="0"/>
                        </a:spcBef>
                        <a:spcAft>
                          <a:spcPts val="0"/>
                        </a:spcAft>
                      </a:pPr>
                      <a:r>
                        <a:rPr lang="kk-KZ" sz="2200" spc="-10" dirty="0">
                          <a:effectLst/>
                          <a:latin typeface="Times New Roman" panose="02020603050405020304" pitchFamily="18" charset="0"/>
                          <a:cs typeface="Times New Roman" panose="02020603050405020304" pitchFamily="18" charset="0"/>
                        </a:rPr>
                        <a:t>дуудагдах*</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8255" marR="200025" algn="ctr">
                        <a:lnSpc>
                          <a:spcPct val="100000"/>
                        </a:lnSpc>
                        <a:spcBef>
                          <a:spcPts val="0"/>
                        </a:spcBef>
                        <a:spcAft>
                          <a:spcPts val="0"/>
                        </a:spcAft>
                      </a:pPr>
                      <a:r>
                        <a:rPr lang="kk-KZ" sz="2200" spc="-10">
                          <a:effectLst/>
                          <a:latin typeface="Times New Roman" panose="02020603050405020304" pitchFamily="18" charset="0"/>
                          <a:cs typeface="Times New Roman" panose="02020603050405020304" pitchFamily="18" charset="0"/>
                        </a:rPr>
                        <a:t>Хөрвөх**</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gridSpan="2">
                  <a:txBody>
                    <a:bodyPr/>
                    <a:lstStyle/>
                    <a:p>
                      <a:pPr marL="281940" indent="11430" algn="ctr">
                        <a:lnSpc>
                          <a:spcPct val="100000"/>
                        </a:lnSpc>
                        <a:spcBef>
                          <a:spcPts val="0"/>
                        </a:spcBef>
                        <a:spcAft>
                          <a:spcPts val="0"/>
                        </a:spcAft>
                      </a:pPr>
                      <a:r>
                        <a:rPr lang="kk-KZ" sz="2200" dirty="0">
                          <a:effectLst/>
                          <a:latin typeface="Times New Roman" panose="02020603050405020304" pitchFamily="18" charset="0"/>
                          <a:cs typeface="Times New Roman" panose="02020603050405020304" pitchFamily="18" charset="0"/>
                        </a:rPr>
                        <a:t>Олон</a:t>
                      </a:r>
                      <a:r>
                        <a:rPr lang="kk-KZ" sz="2200" spc="-20" dirty="0">
                          <a:effectLst/>
                          <a:latin typeface="Times New Roman" panose="02020603050405020304" pitchFamily="18" charset="0"/>
                          <a:cs typeface="Times New Roman" panose="02020603050405020304" pitchFamily="18" charset="0"/>
                        </a:rPr>
                        <a:t> </a:t>
                      </a:r>
                      <a:r>
                        <a:rPr lang="kk-KZ" sz="2200" dirty="0">
                          <a:effectLst/>
                          <a:latin typeface="Times New Roman" panose="02020603050405020304" pitchFamily="18" charset="0"/>
                          <a:cs typeface="Times New Roman" panose="02020603050405020304" pitchFamily="18" charset="0"/>
                        </a:rPr>
                        <a:t>төрлийн </a:t>
                      </a:r>
                      <a:r>
                        <a:rPr lang="kk-KZ" sz="2200" spc="-10" dirty="0">
                          <a:effectLst/>
                          <a:latin typeface="Times New Roman" panose="02020603050405020304" pitchFamily="18" charset="0"/>
                          <a:cs typeface="Times New Roman" panose="02020603050405020304" pitchFamily="18" charset="0"/>
                        </a:rPr>
                        <a:t>нөхцөлүүдтэй.</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extLst>
                  <a:ext uri="{0D108BD9-81ED-4DB2-BD59-A6C34878D82A}">
                    <a16:rowId xmlns:a16="http://schemas.microsoft.com/office/drawing/2014/main" val="1326761192"/>
                  </a:ext>
                </a:extLst>
              </a:tr>
            </a:tbl>
          </a:graphicData>
        </a:graphic>
      </p:graphicFrame>
      <p:sp>
        <p:nvSpPr>
          <p:cNvPr id="7" name="Content Placeholder 2">
            <a:extLst>
              <a:ext uri="{FF2B5EF4-FFF2-40B4-BE49-F238E27FC236}">
                <a16:creationId xmlns:a16="http://schemas.microsoft.com/office/drawing/2014/main" id="{0A692F3E-5C34-4F95-8788-17C6C72D7C5F}"/>
              </a:ext>
            </a:extLst>
          </p:cNvPr>
          <p:cNvSpPr txBox="1">
            <a:spLocks/>
          </p:cNvSpPr>
          <p:nvPr/>
        </p:nvSpPr>
        <p:spPr>
          <a:xfrm>
            <a:off x="441433" y="6151374"/>
            <a:ext cx="11337279" cy="6750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kk-KZ" sz="1800" dirty="0">
                <a:effectLst/>
                <a:latin typeface="Symbol" panose="05050102010706020507" pitchFamily="18" charset="2"/>
                <a:ea typeface="Times New Roman" panose="02020603050405020304" pitchFamily="18" charset="0"/>
              </a:rPr>
              <a:t>*</a:t>
            </a:r>
            <a:r>
              <a:rPr lang="kk-KZ" sz="1800" spc="4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Үнэт</a:t>
            </a:r>
            <a:r>
              <a:rPr lang="kk-KZ" sz="1800" spc="4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цаасыг</a:t>
            </a:r>
            <a:r>
              <a:rPr lang="kk-KZ" sz="1800" spc="45"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тодорхой</a:t>
            </a:r>
            <a:r>
              <a:rPr lang="kk-KZ" sz="1800" spc="3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хугацааны</a:t>
            </a:r>
            <a:r>
              <a:rPr lang="kk-KZ" sz="1800" spc="35"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дотор</a:t>
            </a:r>
            <a:r>
              <a:rPr lang="kk-KZ" sz="1800" spc="3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заасан</a:t>
            </a:r>
            <a:r>
              <a:rPr lang="kk-KZ" sz="1800" spc="35"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үнээр</a:t>
            </a:r>
            <a:r>
              <a:rPr lang="kk-KZ" sz="1800" spc="6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үнэт</a:t>
            </a:r>
            <a:r>
              <a:rPr lang="kk-KZ" sz="1800" spc="45"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цаас</a:t>
            </a:r>
            <a:r>
              <a:rPr lang="kk-KZ" sz="1800" spc="3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гаргагчид</a:t>
            </a:r>
            <a:r>
              <a:rPr lang="kk-KZ" sz="1800" spc="45"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буцаах</a:t>
            </a:r>
            <a:r>
              <a:rPr lang="kk-KZ" sz="1800" spc="35" dirty="0">
                <a:effectLst/>
                <a:latin typeface="Times New Roman" panose="02020603050405020304" pitchFamily="18" charset="0"/>
                <a:ea typeface="Times New Roman" panose="02020603050405020304" pitchFamily="18" charset="0"/>
              </a:rPr>
              <a:t> </a:t>
            </a:r>
            <a:r>
              <a:rPr lang="kk-KZ" sz="1800" spc="-10" dirty="0">
                <a:effectLst/>
                <a:latin typeface="Times New Roman" panose="02020603050405020304" pitchFamily="18" charset="0"/>
                <a:ea typeface="Times New Roman" panose="02020603050405020304" pitchFamily="18" charset="0"/>
              </a:rPr>
              <a:t>боломжтой.</a:t>
            </a:r>
            <a:endParaRPr lang="en-US" sz="1800" dirty="0">
              <a:effectLst/>
              <a:latin typeface="Times New Roman" panose="02020603050405020304" pitchFamily="18" charset="0"/>
              <a:ea typeface="Times New Roman" panose="02020603050405020304" pitchFamily="18" charset="0"/>
            </a:endParaRPr>
          </a:p>
          <a:p>
            <a:pPr marL="0" indent="0">
              <a:spcBef>
                <a:spcPts val="190"/>
              </a:spcBef>
              <a:spcAft>
                <a:spcPts val="0"/>
              </a:spcAft>
              <a:buNone/>
            </a:pPr>
            <a:r>
              <a:rPr lang="kk-KZ" sz="1800" dirty="0">
                <a:effectLst/>
                <a:latin typeface="Symbol" panose="05050102010706020507" pitchFamily="18" charset="2"/>
                <a:ea typeface="Times New Roman" panose="02020603050405020304" pitchFamily="18" charset="0"/>
              </a:rPr>
              <a:t>**</a:t>
            </a:r>
            <a:r>
              <a:rPr lang="kk-KZ" sz="1800" spc="5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Хөрвөх</a:t>
            </a:r>
            <a:r>
              <a:rPr lang="kk-KZ" sz="1800" spc="4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давуу</a:t>
            </a:r>
            <a:r>
              <a:rPr lang="kk-KZ" sz="1800" spc="4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эрхтэй</a:t>
            </a:r>
            <a:r>
              <a:rPr lang="kk-KZ" sz="1800" spc="45"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хувьцааг</a:t>
            </a:r>
            <a:r>
              <a:rPr lang="kk-KZ" sz="1800" spc="45"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энгийн</a:t>
            </a:r>
            <a:r>
              <a:rPr lang="kk-KZ" sz="1800" spc="4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хувьцаа</a:t>
            </a:r>
            <a:r>
              <a:rPr lang="kk-KZ" sz="1800" spc="40"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болгон</a:t>
            </a:r>
            <a:r>
              <a:rPr lang="kk-KZ" sz="1800" spc="45" dirty="0">
                <a:effectLst/>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хөрвүүлж</a:t>
            </a:r>
            <a:r>
              <a:rPr lang="kk-KZ" sz="1800" spc="50" dirty="0">
                <a:effectLst/>
                <a:latin typeface="Times New Roman" panose="02020603050405020304" pitchFamily="18" charset="0"/>
                <a:ea typeface="Times New Roman" panose="02020603050405020304" pitchFamily="18" charset="0"/>
              </a:rPr>
              <a:t> </a:t>
            </a:r>
            <a:r>
              <a:rPr lang="kk-KZ" sz="1800" spc="-10" dirty="0">
                <a:effectLst/>
                <a:latin typeface="Times New Roman" panose="02020603050405020304" pitchFamily="18" charset="0"/>
                <a:ea typeface="Times New Roman" panose="02020603050405020304" pitchFamily="18" charset="0"/>
              </a:rPr>
              <a:t>болно.</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06682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34941"/>
            <a:ext cx="11484244" cy="418652"/>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800" b="1"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Хувьцааны хөрөнгө оруулалт</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831638" y="5780220"/>
            <a:ext cx="5841352" cy="418652"/>
          </a:xfrm>
        </p:spPr>
        <p:txBody>
          <a:bodyPr>
            <a:noAutofit/>
          </a:bodyPr>
          <a:lstStyle/>
          <a:p>
            <a:pPr marL="0" indent="0" algn="ctr">
              <a:lnSpc>
                <a:spcPct val="100000"/>
              </a:lnSpc>
              <a:spcBef>
                <a:spcPts val="0"/>
              </a:spcBef>
              <a:buNone/>
            </a:pPr>
            <a:r>
              <a:rPr lang="mn-MN" sz="2000" b="1" dirty="0">
                <a:latin typeface="Times New Roman" panose="02020603050405020304" pitchFamily="18" charset="0"/>
                <a:ea typeface="Times New Roman" panose="02020603050405020304" pitchFamily="18" charset="0"/>
              </a:rPr>
              <a:t>Зураг</a:t>
            </a:r>
            <a:r>
              <a:rPr lang="mn-MN" sz="2000" b="1" dirty="0">
                <a:effectLst/>
                <a:latin typeface="Times New Roman" panose="02020603050405020304" pitchFamily="18" charset="0"/>
                <a:ea typeface="Times New Roman" panose="02020603050405020304" pitchFamily="18" charset="0"/>
              </a:rPr>
              <a:t>. </a:t>
            </a:r>
            <a:r>
              <a:rPr lang="mn-MN" sz="2000" dirty="0">
                <a:effectLst/>
                <a:latin typeface="Times New Roman" panose="02020603050405020304" pitchFamily="18" charset="0"/>
                <a:ea typeface="Times New Roman" panose="02020603050405020304" pitchFamily="18" charset="0"/>
              </a:rPr>
              <a:t>Аль нэг компанийн хувьцаа эзэмшигч болохын ач холбогдолтой байна</a:t>
            </a:r>
          </a:p>
        </p:txBody>
      </p:sp>
      <p:grpSp>
        <p:nvGrpSpPr>
          <p:cNvPr id="6" name="Group 5">
            <a:extLst>
              <a:ext uri="{FF2B5EF4-FFF2-40B4-BE49-F238E27FC236}">
                <a16:creationId xmlns:a16="http://schemas.microsoft.com/office/drawing/2014/main" id="{8CC3C748-2A4C-4DEA-A73D-73E128C7929C}"/>
              </a:ext>
            </a:extLst>
          </p:cNvPr>
          <p:cNvGrpSpPr>
            <a:grpSpLocks/>
          </p:cNvGrpSpPr>
          <p:nvPr/>
        </p:nvGrpSpPr>
        <p:grpSpPr>
          <a:xfrm>
            <a:off x="821410" y="892641"/>
            <a:ext cx="10740325" cy="5601149"/>
            <a:chOff x="0" y="0"/>
            <a:chExt cx="4573069" cy="3214261"/>
          </a:xfrm>
        </p:grpSpPr>
        <p:pic>
          <p:nvPicPr>
            <p:cNvPr id="8" name="Image 30">
              <a:extLst>
                <a:ext uri="{FF2B5EF4-FFF2-40B4-BE49-F238E27FC236}">
                  <a16:creationId xmlns:a16="http://schemas.microsoft.com/office/drawing/2014/main" id="{DD80E3EB-B4D3-4C94-876F-B4E782D984B0}"/>
                </a:ext>
              </a:extLst>
            </p:cNvPr>
            <p:cNvPicPr/>
            <p:nvPr/>
          </p:nvPicPr>
          <p:blipFill>
            <a:blip r:embed="rId3" cstate="print"/>
            <a:stretch>
              <a:fillRect/>
            </a:stretch>
          </p:blipFill>
          <p:spPr>
            <a:xfrm>
              <a:off x="0" y="1395645"/>
              <a:ext cx="1329329" cy="421494"/>
            </a:xfrm>
            <a:prstGeom prst="rect">
              <a:avLst/>
            </a:prstGeom>
          </p:spPr>
        </p:pic>
        <p:pic>
          <p:nvPicPr>
            <p:cNvPr id="9" name="Image 31">
              <a:extLst>
                <a:ext uri="{FF2B5EF4-FFF2-40B4-BE49-F238E27FC236}">
                  <a16:creationId xmlns:a16="http://schemas.microsoft.com/office/drawing/2014/main" id="{89F1AB93-53DE-40AD-AEEA-A0B17F4BDE62}"/>
                </a:ext>
              </a:extLst>
            </p:cNvPr>
            <p:cNvPicPr/>
            <p:nvPr/>
          </p:nvPicPr>
          <p:blipFill>
            <a:blip r:embed="rId4" cstate="print"/>
            <a:stretch>
              <a:fillRect/>
            </a:stretch>
          </p:blipFill>
          <p:spPr>
            <a:xfrm>
              <a:off x="1307223" y="912253"/>
              <a:ext cx="337480" cy="700023"/>
            </a:xfrm>
            <a:prstGeom prst="rect">
              <a:avLst/>
            </a:prstGeom>
          </p:spPr>
        </p:pic>
        <p:pic>
          <p:nvPicPr>
            <p:cNvPr id="10" name="Image 32">
              <a:extLst>
                <a:ext uri="{FF2B5EF4-FFF2-40B4-BE49-F238E27FC236}">
                  <a16:creationId xmlns:a16="http://schemas.microsoft.com/office/drawing/2014/main" id="{8420FA90-70E4-4F2D-BC9D-83D838024518}"/>
                </a:ext>
              </a:extLst>
            </p:cNvPr>
            <p:cNvPicPr/>
            <p:nvPr/>
          </p:nvPicPr>
          <p:blipFill>
            <a:blip r:embed="rId5" cstate="print"/>
            <a:stretch>
              <a:fillRect/>
            </a:stretch>
          </p:blipFill>
          <p:spPr>
            <a:xfrm>
              <a:off x="1619660" y="713295"/>
              <a:ext cx="1329329" cy="421487"/>
            </a:xfrm>
            <a:prstGeom prst="rect">
              <a:avLst/>
            </a:prstGeom>
          </p:spPr>
        </p:pic>
        <p:pic>
          <p:nvPicPr>
            <p:cNvPr id="11" name="Image 33">
              <a:extLst>
                <a:ext uri="{FF2B5EF4-FFF2-40B4-BE49-F238E27FC236}">
                  <a16:creationId xmlns:a16="http://schemas.microsoft.com/office/drawing/2014/main" id="{0BFEDCD6-A14D-4916-BFDC-9E31E5EE61C4}"/>
                </a:ext>
              </a:extLst>
            </p:cNvPr>
            <p:cNvPicPr/>
            <p:nvPr/>
          </p:nvPicPr>
          <p:blipFill>
            <a:blip r:embed="rId6" cstate="print"/>
            <a:stretch>
              <a:fillRect/>
            </a:stretch>
          </p:blipFill>
          <p:spPr>
            <a:xfrm>
              <a:off x="2926883" y="198953"/>
              <a:ext cx="341911" cy="730984"/>
            </a:xfrm>
            <a:prstGeom prst="rect">
              <a:avLst/>
            </a:prstGeom>
          </p:spPr>
        </p:pic>
        <p:pic>
          <p:nvPicPr>
            <p:cNvPr id="12" name="Image 34">
              <a:extLst>
                <a:ext uri="{FF2B5EF4-FFF2-40B4-BE49-F238E27FC236}">
                  <a16:creationId xmlns:a16="http://schemas.microsoft.com/office/drawing/2014/main" id="{B61A2024-33EB-42AF-BBA7-04401AAECBFE}"/>
                </a:ext>
              </a:extLst>
            </p:cNvPr>
            <p:cNvPicPr/>
            <p:nvPr/>
          </p:nvPicPr>
          <p:blipFill>
            <a:blip r:embed="rId7" cstate="print"/>
            <a:stretch>
              <a:fillRect/>
            </a:stretch>
          </p:blipFill>
          <p:spPr>
            <a:xfrm>
              <a:off x="3243748" y="0"/>
              <a:ext cx="1329321" cy="421490"/>
            </a:xfrm>
            <a:prstGeom prst="rect">
              <a:avLst/>
            </a:prstGeom>
          </p:spPr>
        </p:pic>
        <p:pic>
          <p:nvPicPr>
            <p:cNvPr id="13" name="Image 35">
              <a:extLst>
                <a:ext uri="{FF2B5EF4-FFF2-40B4-BE49-F238E27FC236}">
                  <a16:creationId xmlns:a16="http://schemas.microsoft.com/office/drawing/2014/main" id="{5EAA2036-A3E5-4A87-A059-AA288259AFA0}"/>
                </a:ext>
              </a:extLst>
            </p:cNvPr>
            <p:cNvPicPr/>
            <p:nvPr/>
          </p:nvPicPr>
          <p:blipFill>
            <a:blip r:embed="rId8" cstate="print"/>
            <a:stretch>
              <a:fillRect/>
            </a:stretch>
          </p:blipFill>
          <p:spPr>
            <a:xfrm>
              <a:off x="2931304" y="801725"/>
              <a:ext cx="324216" cy="131159"/>
            </a:xfrm>
            <a:prstGeom prst="rect">
              <a:avLst/>
            </a:prstGeom>
          </p:spPr>
        </p:pic>
        <p:pic>
          <p:nvPicPr>
            <p:cNvPr id="14" name="Image 36">
              <a:extLst>
                <a:ext uri="{FF2B5EF4-FFF2-40B4-BE49-F238E27FC236}">
                  <a16:creationId xmlns:a16="http://schemas.microsoft.com/office/drawing/2014/main" id="{F0BC7E2C-B6B4-47A4-A8B8-3CE75BEF9D9C}"/>
                </a:ext>
              </a:extLst>
            </p:cNvPr>
            <p:cNvPicPr/>
            <p:nvPr/>
          </p:nvPicPr>
          <p:blipFill>
            <a:blip r:embed="rId7" cstate="print"/>
            <a:stretch>
              <a:fillRect/>
            </a:stretch>
          </p:blipFill>
          <p:spPr>
            <a:xfrm>
              <a:off x="3230478" y="602767"/>
              <a:ext cx="1329329" cy="421487"/>
            </a:xfrm>
            <a:prstGeom prst="rect">
              <a:avLst/>
            </a:prstGeom>
          </p:spPr>
        </p:pic>
        <p:pic>
          <p:nvPicPr>
            <p:cNvPr id="15" name="Image 37">
              <a:extLst>
                <a:ext uri="{FF2B5EF4-FFF2-40B4-BE49-F238E27FC236}">
                  <a16:creationId xmlns:a16="http://schemas.microsoft.com/office/drawing/2014/main" id="{D5D4B9B4-087C-4F6F-8E42-A100545952ED}"/>
                </a:ext>
              </a:extLst>
            </p:cNvPr>
            <p:cNvPicPr/>
            <p:nvPr/>
          </p:nvPicPr>
          <p:blipFill>
            <a:blip r:embed="rId9" cstate="print"/>
            <a:stretch>
              <a:fillRect/>
            </a:stretch>
          </p:blipFill>
          <p:spPr>
            <a:xfrm>
              <a:off x="2928357" y="916686"/>
              <a:ext cx="337488" cy="474537"/>
            </a:xfrm>
            <a:prstGeom prst="rect">
              <a:avLst/>
            </a:prstGeom>
          </p:spPr>
        </p:pic>
        <p:pic>
          <p:nvPicPr>
            <p:cNvPr id="16" name="Image 38">
              <a:extLst>
                <a:ext uri="{FF2B5EF4-FFF2-40B4-BE49-F238E27FC236}">
                  <a16:creationId xmlns:a16="http://schemas.microsoft.com/office/drawing/2014/main" id="{75A6461C-92E8-4D77-8FA6-5E4C377A984F}"/>
                </a:ext>
              </a:extLst>
            </p:cNvPr>
            <p:cNvPicPr/>
            <p:nvPr/>
          </p:nvPicPr>
          <p:blipFill>
            <a:blip r:embed="rId10" cstate="print"/>
            <a:stretch>
              <a:fillRect/>
            </a:stretch>
          </p:blipFill>
          <p:spPr>
            <a:xfrm>
              <a:off x="3240801" y="1168692"/>
              <a:ext cx="1327848" cy="421487"/>
            </a:xfrm>
            <a:prstGeom prst="rect">
              <a:avLst/>
            </a:prstGeom>
          </p:spPr>
        </p:pic>
        <p:pic>
          <p:nvPicPr>
            <p:cNvPr id="17" name="Image 39">
              <a:extLst>
                <a:ext uri="{FF2B5EF4-FFF2-40B4-BE49-F238E27FC236}">
                  <a16:creationId xmlns:a16="http://schemas.microsoft.com/office/drawing/2014/main" id="{BD985B16-F5C1-4D7B-B6D7-D7B34916CD89}"/>
                </a:ext>
              </a:extLst>
            </p:cNvPr>
            <p:cNvPicPr/>
            <p:nvPr/>
          </p:nvPicPr>
          <p:blipFill>
            <a:blip r:embed="rId11" cstate="print"/>
            <a:stretch>
              <a:fillRect/>
            </a:stretch>
          </p:blipFill>
          <p:spPr>
            <a:xfrm>
              <a:off x="1307223" y="1600497"/>
              <a:ext cx="337480" cy="784039"/>
            </a:xfrm>
            <a:prstGeom prst="rect">
              <a:avLst/>
            </a:prstGeom>
          </p:spPr>
        </p:pic>
        <p:pic>
          <p:nvPicPr>
            <p:cNvPr id="18" name="Image 40">
              <a:extLst>
                <a:ext uri="{FF2B5EF4-FFF2-40B4-BE49-F238E27FC236}">
                  <a16:creationId xmlns:a16="http://schemas.microsoft.com/office/drawing/2014/main" id="{6C0063B2-7502-4C5C-B3CA-3087B8012BAC}"/>
                </a:ext>
              </a:extLst>
            </p:cNvPr>
            <p:cNvPicPr/>
            <p:nvPr/>
          </p:nvPicPr>
          <p:blipFill>
            <a:blip r:embed="rId12" cstate="print"/>
            <a:stretch>
              <a:fillRect/>
            </a:stretch>
          </p:blipFill>
          <p:spPr>
            <a:xfrm>
              <a:off x="1619660" y="2162009"/>
              <a:ext cx="1329329" cy="421484"/>
            </a:xfrm>
            <a:prstGeom prst="rect">
              <a:avLst/>
            </a:prstGeom>
          </p:spPr>
        </p:pic>
        <p:pic>
          <p:nvPicPr>
            <p:cNvPr id="19" name="Image 41">
              <a:extLst>
                <a:ext uri="{FF2B5EF4-FFF2-40B4-BE49-F238E27FC236}">
                  <a16:creationId xmlns:a16="http://schemas.microsoft.com/office/drawing/2014/main" id="{B829D722-5027-46FC-87AD-2513DF1EC4F6}"/>
                </a:ext>
              </a:extLst>
            </p:cNvPr>
            <p:cNvPicPr/>
            <p:nvPr/>
          </p:nvPicPr>
          <p:blipFill>
            <a:blip r:embed="rId13" cstate="print"/>
            <a:stretch>
              <a:fillRect/>
            </a:stretch>
          </p:blipFill>
          <p:spPr>
            <a:xfrm>
              <a:off x="2928357" y="1905565"/>
              <a:ext cx="340438" cy="474550"/>
            </a:xfrm>
            <a:prstGeom prst="rect">
              <a:avLst/>
            </a:prstGeom>
          </p:spPr>
        </p:pic>
        <p:pic>
          <p:nvPicPr>
            <p:cNvPr id="20" name="Image 42">
              <a:extLst>
                <a:ext uri="{FF2B5EF4-FFF2-40B4-BE49-F238E27FC236}">
                  <a16:creationId xmlns:a16="http://schemas.microsoft.com/office/drawing/2014/main" id="{E1A1933E-C9D6-4AB3-8961-A3B2C25EB311}"/>
                </a:ext>
              </a:extLst>
            </p:cNvPr>
            <p:cNvPicPr/>
            <p:nvPr/>
          </p:nvPicPr>
          <p:blipFill>
            <a:blip r:embed="rId14" cstate="print"/>
            <a:stretch>
              <a:fillRect/>
            </a:stretch>
          </p:blipFill>
          <p:spPr>
            <a:xfrm>
              <a:off x="3243748" y="1706613"/>
              <a:ext cx="1329321" cy="421489"/>
            </a:xfrm>
            <a:prstGeom prst="rect">
              <a:avLst/>
            </a:prstGeom>
          </p:spPr>
        </p:pic>
        <p:pic>
          <p:nvPicPr>
            <p:cNvPr id="21" name="Image 43">
              <a:extLst>
                <a:ext uri="{FF2B5EF4-FFF2-40B4-BE49-F238E27FC236}">
                  <a16:creationId xmlns:a16="http://schemas.microsoft.com/office/drawing/2014/main" id="{AA61FAFC-921E-41CD-9321-67824EAFB53A}"/>
                </a:ext>
              </a:extLst>
            </p:cNvPr>
            <p:cNvPicPr/>
            <p:nvPr/>
          </p:nvPicPr>
          <p:blipFill>
            <a:blip r:embed="rId15" cstate="print"/>
            <a:stretch>
              <a:fillRect/>
            </a:stretch>
          </p:blipFill>
          <p:spPr>
            <a:xfrm>
              <a:off x="2931304" y="2362430"/>
              <a:ext cx="336016" cy="76635"/>
            </a:xfrm>
            <a:prstGeom prst="rect">
              <a:avLst/>
            </a:prstGeom>
          </p:spPr>
        </p:pic>
        <p:pic>
          <p:nvPicPr>
            <p:cNvPr id="22" name="Image 44">
              <a:extLst>
                <a:ext uri="{FF2B5EF4-FFF2-40B4-BE49-F238E27FC236}">
                  <a16:creationId xmlns:a16="http://schemas.microsoft.com/office/drawing/2014/main" id="{412BF941-9569-4385-B222-C84BC4A7359E}"/>
                </a:ext>
              </a:extLst>
            </p:cNvPr>
            <p:cNvPicPr/>
            <p:nvPr/>
          </p:nvPicPr>
          <p:blipFill>
            <a:blip r:embed="rId14" cstate="print"/>
            <a:stretch>
              <a:fillRect/>
            </a:stretch>
          </p:blipFill>
          <p:spPr>
            <a:xfrm>
              <a:off x="3243748" y="2216530"/>
              <a:ext cx="1329321" cy="421487"/>
            </a:xfrm>
            <a:prstGeom prst="rect">
              <a:avLst/>
            </a:prstGeom>
          </p:spPr>
        </p:pic>
        <p:pic>
          <p:nvPicPr>
            <p:cNvPr id="23" name="Image 45">
              <a:extLst>
                <a:ext uri="{FF2B5EF4-FFF2-40B4-BE49-F238E27FC236}">
                  <a16:creationId xmlns:a16="http://schemas.microsoft.com/office/drawing/2014/main" id="{78210E52-739E-474C-81AA-BC8B04D1FE56}"/>
                </a:ext>
              </a:extLst>
            </p:cNvPr>
            <p:cNvPicPr/>
            <p:nvPr/>
          </p:nvPicPr>
          <p:blipFill>
            <a:blip r:embed="rId16" cstate="print"/>
            <a:stretch>
              <a:fillRect/>
            </a:stretch>
          </p:blipFill>
          <p:spPr>
            <a:xfrm>
              <a:off x="2926883" y="2365377"/>
              <a:ext cx="341911" cy="649927"/>
            </a:xfrm>
            <a:prstGeom prst="rect">
              <a:avLst/>
            </a:prstGeom>
          </p:spPr>
        </p:pic>
        <p:pic>
          <p:nvPicPr>
            <p:cNvPr id="24" name="Image 46">
              <a:extLst>
                <a:ext uri="{FF2B5EF4-FFF2-40B4-BE49-F238E27FC236}">
                  <a16:creationId xmlns:a16="http://schemas.microsoft.com/office/drawing/2014/main" id="{C49792F3-CBEE-4AF9-AEFB-4FDE65088217}"/>
                </a:ext>
              </a:extLst>
            </p:cNvPr>
            <p:cNvPicPr/>
            <p:nvPr/>
          </p:nvPicPr>
          <p:blipFill>
            <a:blip r:embed="rId14" cstate="print"/>
            <a:stretch>
              <a:fillRect/>
            </a:stretch>
          </p:blipFill>
          <p:spPr>
            <a:xfrm>
              <a:off x="3243748" y="2791294"/>
              <a:ext cx="1329321" cy="422967"/>
            </a:xfrm>
            <a:prstGeom prst="rect">
              <a:avLst/>
            </a:prstGeom>
          </p:spPr>
        </p:pic>
        <p:sp>
          <p:nvSpPr>
            <p:cNvPr id="25" name="Textbox 47">
              <a:extLst>
                <a:ext uri="{FF2B5EF4-FFF2-40B4-BE49-F238E27FC236}">
                  <a16:creationId xmlns:a16="http://schemas.microsoft.com/office/drawing/2014/main" id="{65CB350A-B635-4182-9A6F-763AF6CCF2D6}"/>
                </a:ext>
              </a:extLst>
            </p:cNvPr>
            <p:cNvSpPr txBox="1"/>
            <p:nvPr/>
          </p:nvSpPr>
          <p:spPr>
            <a:xfrm>
              <a:off x="3376994" y="138830"/>
              <a:ext cx="1075690" cy="135890"/>
            </a:xfrm>
            <a:prstGeom prst="rect">
              <a:avLst/>
            </a:prstGeom>
          </p:spPr>
          <p:txBody>
            <a:bodyPr wrap="square" lIns="0" tIns="0" rIns="0" bIns="0" rtlCol="0">
              <a:noAutofit/>
            </a:bodyPr>
            <a:lstStyle/>
            <a:p>
              <a:pPr algn="ctr">
                <a:lnSpc>
                  <a:spcPts val="1065"/>
                </a:lnSpc>
              </a:pPr>
              <a:r>
                <a:rPr lang="kk-KZ" sz="2200">
                  <a:solidFill>
                    <a:srgbClr val="231F20"/>
                  </a:solidFill>
                  <a:effectLst/>
                  <a:latin typeface="Times New Roman" panose="02020603050405020304" pitchFamily="18" charset="0"/>
                  <a:ea typeface="Times New Roman" panose="02020603050405020304" pitchFamily="18" charset="0"/>
                </a:rPr>
                <a:t>Ногдол</a:t>
              </a:r>
              <a:r>
                <a:rPr lang="kk-KZ" sz="2200" spc="15">
                  <a:solidFill>
                    <a:srgbClr val="231F20"/>
                  </a:solidFill>
                  <a:effectLst/>
                  <a:latin typeface="Times New Roman" panose="02020603050405020304" pitchFamily="18" charset="0"/>
                  <a:ea typeface="Times New Roman" panose="02020603050405020304" pitchFamily="18" charset="0"/>
                </a:rPr>
                <a:t> </a:t>
              </a:r>
              <a:r>
                <a:rPr lang="kk-KZ" sz="2200">
                  <a:solidFill>
                    <a:srgbClr val="231F20"/>
                  </a:solidFill>
                  <a:effectLst/>
                  <a:latin typeface="Times New Roman" panose="02020603050405020304" pitchFamily="18" charset="0"/>
                  <a:ea typeface="Times New Roman" panose="02020603050405020304" pitchFamily="18" charset="0"/>
                </a:rPr>
                <a:t>ашиг</a:t>
              </a:r>
              <a:r>
                <a:rPr lang="kk-KZ" sz="2200" spc="30">
                  <a:solidFill>
                    <a:srgbClr val="231F20"/>
                  </a:solidFill>
                  <a:effectLst/>
                  <a:latin typeface="Times New Roman" panose="02020603050405020304" pitchFamily="18" charset="0"/>
                  <a:ea typeface="Times New Roman" panose="02020603050405020304" pitchFamily="18" charset="0"/>
                </a:rPr>
                <a:t> </a:t>
              </a:r>
              <a:r>
                <a:rPr lang="kk-KZ" sz="2200" spc="-10">
                  <a:solidFill>
                    <a:srgbClr val="231F20"/>
                  </a:solidFill>
                  <a:effectLst/>
                  <a:latin typeface="Times New Roman" panose="02020603050405020304" pitchFamily="18" charset="0"/>
                  <a:ea typeface="Times New Roman" panose="02020603050405020304" pitchFamily="18" charset="0"/>
                </a:rPr>
                <a:t>хүртэх</a:t>
              </a:r>
              <a:endParaRPr lang="en-US" sz="2200">
                <a:effectLst/>
                <a:latin typeface="Times New Roman" panose="02020603050405020304" pitchFamily="18" charset="0"/>
                <a:ea typeface="Times New Roman" panose="02020603050405020304" pitchFamily="18" charset="0"/>
              </a:endParaRPr>
            </a:p>
          </p:txBody>
        </p:sp>
        <p:sp>
          <p:nvSpPr>
            <p:cNvPr id="26" name="Textbox 48">
              <a:extLst>
                <a:ext uri="{FF2B5EF4-FFF2-40B4-BE49-F238E27FC236}">
                  <a16:creationId xmlns:a16="http://schemas.microsoft.com/office/drawing/2014/main" id="{08DFCF62-8E4D-4109-9542-80D6137EE365}"/>
                </a:ext>
              </a:extLst>
            </p:cNvPr>
            <p:cNvSpPr txBox="1"/>
            <p:nvPr/>
          </p:nvSpPr>
          <p:spPr>
            <a:xfrm>
              <a:off x="1781159" y="788758"/>
              <a:ext cx="1018540" cy="262255"/>
            </a:xfrm>
            <a:prstGeom prst="rect">
              <a:avLst/>
            </a:prstGeom>
          </p:spPr>
          <p:txBody>
            <a:bodyPr wrap="square" lIns="0" tIns="0" rIns="0" bIns="0" rtlCol="0">
              <a:noAutofit/>
            </a:bodyPr>
            <a:lstStyle/>
            <a:p>
              <a:pPr marL="381635" marR="11430" indent="-382270" algn="ctr">
                <a:lnSpc>
                  <a:spcPct val="90000"/>
                </a:lnSpc>
                <a:spcBef>
                  <a:spcPts val="50"/>
                </a:spcBef>
                <a:spcAft>
                  <a:spcPts val="0"/>
                </a:spcAft>
              </a:pPr>
              <a:r>
                <a:rPr lang="kk-KZ" sz="2200">
                  <a:solidFill>
                    <a:srgbClr val="231F20"/>
                  </a:solidFill>
                  <a:effectLst/>
                  <a:latin typeface="Times New Roman" panose="02020603050405020304" pitchFamily="18" charset="0"/>
                  <a:ea typeface="Times New Roman" panose="02020603050405020304" pitchFamily="18" charset="0"/>
                </a:rPr>
                <a:t>Хувьцаагаар</a:t>
              </a:r>
              <a:r>
                <a:rPr lang="kk-KZ" sz="2200" spc="-60">
                  <a:solidFill>
                    <a:srgbClr val="231F20"/>
                  </a:solidFill>
                  <a:effectLst/>
                  <a:latin typeface="Times New Roman" panose="02020603050405020304" pitchFamily="18" charset="0"/>
                  <a:ea typeface="Times New Roman" panose="02020603050405020304" pitchFamily="18" charset="0"/>
                </a:rPr>
                <a:t> </a:t>
              </a:r>
              <a:r>
                <a:rPr lang="kk-KZ" sz="2200">
                  <a:solidFill>
                    <a:srgbClr val="231F20"/>
                  </a:solidFill>
                  <a:effectLst/>
                  <a:latin typeface="Times New Roman" panose="02020603050405020304" pitchFamily="18" charset="0"/>
                  <a:ea typeface="Times New Roman" panose="02020603050405020304" pitchFamily="18" charset="0"/>
                </a:rPr>
                <a:t>мөнгө </a:t>
              </a:r>
              <a:r>
                <a:rPr lang="kk-KZ" sz="2200" spc="-20">
                  <a:solidFill>
                    <a:srgbClr val="231F20"/>
                  </a:solidFill>
                  <a:effectLst/>
                  <a:latin typeface="Times New Roman" panose="02020603050405020304" pitchFamily="18" charset="0"/>
                  <a:ea typeface="Times New Roman" panose="02020603050405020304" pitchFamily="18" charset="0"/>
                </a:rPr>
                <a:t>олох</a:t>
              </a:r>
              <a:endParaRPr lang="en-US" sz="2200">
                <a:effectLst/>
                <a:latin typeface="Times New Roman" panose="02020603050405020304" pitchFamily="18" charset="0"/>
                <a:ea typeface="Times New Roman" panose="02020603050405020304" pitchFamily="18" charset="0"/>
              </a:endParaRPr>
            </a:p>
          </p:txBody>
        </p:sp>
        <p:sp>
          <p:nvSpPr>
            <p:cNvPr id="27" name="Textbox 49">
              <a:extLst>
                <a:ext uri="{FF2B5EF4-FFF2-40B4-BE49-F238E27FC236}">
                  <a16:creationId xmlns:a16="http://schemas.microsoft.com/office/drawing/2014/main" id="{6E5F8214-15ED-4A6A-9683-9603EA9A6793}"/>
                </a:ext>
              </a:extLst>
            </p:cNvPr>
            <p:cNvSpPr txBox="1"/>
            <p:nvPr/>
          </p:nvSpPr>
          <p:spPr>
            <a:xfrm>
              <a:off x="3295077" y="678226"/>
              <a:ext cx="1215390" cy="262255"/>
            </a:xfrm>
            <a:prstGeom prst="rect">
              <a:avLst/>
            </a:prstGeom>
          </p:spPr>
          <p:txBody>
            <a:bodyPr wrap="square" lIns="0" tIns="0" rIns="0" bIns="0" rtlCol="0">
              <a:noAutofit/>
            </a:bodyPr>
            <a:lstStyle/>
            <a:p>
              <a:pPr marL="188595" marR="11430" indent="-189230" algn="ctr">
                <a:lnSpc>
                  <a:spcPct val="90000"/>
                </a:lnSpc>
                <a:spcBef>
                  <a:spcPts val="50"/>
                </a:spcBef>
                <a:spcAft>
                  <a:spcPts val="0"/>
                </a:spcAft>
              </a:pPr>
              <a:r>
                <a:rPr lang="kk-KZ" sz="2200">
                  <a:solidFill>
                    <a:srgbClr val="231F20"/>
                  </a:solidFill>
                  <a:effectLst/>
                  <a:latin typeface="Times New Roman" panose="02020603050405020304" pitchFamily="18" charset="0"/>
                  <a:ea typeface="Times New Roman" panose="02020603050405020304" pitchFamily="18" charset="0"/>
                </a:rPr>
                <a:t>Хувьцаагаа зарж</a:t>
              </a:r>
              <a:r>
                <a:rPr lang="kk-KZ" sz="2200" spc="-35">
                  <a:solidFill>
                    <a:srgbClr val="231F20"/>
                  </a:solidFill>
                  <a:effectLst/>
                  <a:latin typeface="Times New Roman" panose="02020603050405020304" pitchFamily="18" charset="0"/>
                  <a:ea typeface="Times New Roman" panose="02020603050405020304" pitchFamily="18" charset="0"/>
                </a:rPr>
                <a:t> </a:t>
              </a:r>
              <a:r>
                <a:rPr lang="kk-KZ" sz="2200">
                  <a:solidFill>
                    <a:srgbClr val="231F20"/>
                  </a:solidFill>
                  <a:effectLst/>
                  <a:latin typeface="Times New Roman" panose="02020603050405020304" pitchFamily="18" charset="0"/>
                  <a:ea typeface="Times New Roman" panose="02020603050405020304" pitchFamily="18" charset="0"/>
                </a:rPr>
                <a:t>бэлэн мөнгөтэй болох</a:t>
              </a:r>
              <a:endParaRPr lang="en-US" sz="2200">
                <a:effectLst/>
                <a:latin typeface="Times New Roman" panose="02020603050405020304" pitchFamily="18" charset="0"/>
                <a:ea typeface="Times New Roman" panose="02020603050405020304" pitchFamily="18" charset="0"/>
              </a:endParaRPr>
            </a:p>
          </p:txBody>
        </p:sp>
        <p:sp>
          <p:nvSpPr>
            <p:cNvPr id="28" name="Textbox 50">
              <a:extLst>
                <a:ext uri="{FF2B5EF4-FFF2-40B4-BE49-F238E27FC236}">
                  <a16:creationId xmlns:a16="http://schemas.microsoft.com/office/drawing/2014/main" id="{74936EA2-0BDF-4804-B39A-77E5C7786576}"/>
                </a:ext>
              </a:extLst>
            </p:cNvPr>
            <p:cNvSpPr txBox="1"/>
            <p:nvPr/>
          </p:nvSpPr>
          <p:spPr>
            <a:xfrm>
              <a:off x="3367564" y="1244149"/>
              <a:ext cx="1088390" cy="262255"/>
            </a:xfrm>
            <a:prstGeom prst="rect">
              <a:avLst/>
            </a:prstGeom>
          </p:spPr>
          <p:txBody>
            <a:bodyPr wrap="square" lIns="0" tIns="0" rIns="0" bIns="0" rtlCol="0">
              <a:noAutofit/>
            </a:bodyPr>
            <a:lstStyle/>
            <a:p>
              <a:pPr marR="11430" indent="67310" algn="ctr">
                <a:lnSpc>
                  <a:spcPct val="90000"/>
                </a:lnSpc>
                <a:spcBef>
                  <a:spcPts val="50"/>
                </a:spcBef>
                <a:spcAft>
                  <a:spcPts val="0"/>
                </a:spcAft>
              </a:pPr>
              <a:r>
                <a:rPr lang="kk-KZ" sz="2200">
                  <a:solidFill>
                    <a:srgbClr val="231F20"/>
                  </a:solidFill>
                  <a:effectLst/>
                  <a:latin typeface="Times New Roman" panose="02020603050405020304" pitchFamily="18" charset="0"/>
                  <a:ea typeface="Times New Roman" panose="02020603050405020304" pitchFamily="18" charset="0"/>
                </a:rPr>
                <a:t>Хувьцааны үнийн зөрүүгээс</a:t>
              </a:r>
              <a:r>
                <a:rPr lang="kk-KZ" sz="2200" spc="-40">
                  <a:solidFill>
                    <a:srgbClr val="231F20"/>
                  </a:solidFill>
                  <a:effectLst/>
                  <a:latin typeface="Times New Roman" panose="02020603050405020304" pitchFamily="18" charset="0"/>
                  <a:ea typeface="Times New Roman" panose="02020603050405020304" pitchFamily="18" charset="0"/>
                </a:rPr>
                <a:t> </a:t>
              </a:r>
              <a:r>
                <a:rPr lang="kk-KZ" sz="2200">
                  <a:solidFill>
                    <a:srgbClr val="231F20"/>
                  </a:solidFill>
                  <a:effectLst/>
                  <a:latin typeface="Times New Roman" panose="02020603050405020304" pitchFamily="18" charset="0"/>
                  <a:ea typeface="Times New Roman" panose="02020603050405020304" pitchFamily="18" charset="0"/>
                </a:rPr>
                <a:t>ашиг</a:t>
              </a:r>
              <a:r>
                <a:rPr lang="kk-KZ" sz="2200" spc="-15">
                  <a:solidFill>
                    <a:srgbClr val="231F20"/>
                  </a:solidFill>
                  <a:effectLst/>
                  <a:latin typeface="Times New Roman" panose="02020603050405020304" pitchFamily="18" charset="0"/>
                  <a:ea typeface="Times New Roman" panose="02020603050405020304" pitchFamily="18" charset="0"/>
                </a:rPr>
                <a:t> </a:t>
              </a:r>
              <a:r>
                <a:rPr lang="kk-KZ" sz="2200">
                  <a:solidFill>
                    <a:srgbClr val="231F20"/>
                  </a:solidFill>
                  <a:effectLst/>
                  <a:latin typeface="Times New Roman" panose="02020603050405020304" pitchFamily="18" charset="0"/>
                  <a:ea typeface="Times New Roman" panose="02020603050405020304" pitchFamily="18" charset="0"/>
                </a:rPr>
                <a:t>олох</a:t>
              </a:r>
              <a:endParaRPr lang="en-US" sz="2200">
                <a:effectLst/>
                <a:latin typeface="Times New Roman" panose="02020603050405020304" pitchFamily="18" charset="0"/>
                <a:ea typeface="Times New Roman" panose="02020603050405020304" pitchFamily="18" charset="0"/>
              </a:endParaRPr>
            </a:p>
          </p:txBody>
        </p:sp>
        <p:sp>
          <p:nvSpPr>
            <p:cNvPr id="29" name="Textbox 51">
              <a:extLst>
                <a:ext uri="{FF2B5EF4-FFF2-40B4-BE49-F238E27FC236}">
                  <a16:creationId xmlns:a16="http://schemas.microsoft.com/office/drawing/2014/main" id="{2BD532D8-9D5F-4166-9699-46F429CDA380}"/>
                </a:ext>
              </a:extLst>
            </p:cNvPr>
            <p:cNvSpPr txBox="1"/>
            <p:nvPr/>
          </p:nvSpPr>
          <p:spPr>
            <a:xfrm>
              <a:off x="119374" y="1535462"/>
              <a:ext cx="1103630" cy="135890"/>
            </a:xfrm>
            <a:prstGeom prst="rect">
              <a:avLst/>
            </a:prstGeom>
          </p:spPr>
          <p:txBody>
            <a:bodyPr wrap="square" lIns="0" tIns="0" rIns="0" bIns="0" rtlCol="0">
              <a:noAutofit/>
            </a:bodyPr>
            <a:lstStyle/>
            <a:p>
              <a:pPr algn="ctr">
                <a:lnSpc>
                  <a:spcPts val="1065"/>
                </a:lnSpc>
              </a:pPr>
              <a:r>
                <a:rPr lang="kk-KZ" sz="2200" dirty="0">
                  <a:solidFill>
                    <a:srgbClr val="231F20"/>
                  </a:solidFill>
                  <a:effectLst/>
                  <a:latin typeface="Times New Roman" panose="02020603050405020304" pitchFamily="18" charset="0"/>
                  <a:ea typeface="Times New Roman" panose="02020603050405020304" pitchFamily="18" charset="0"/>
                </a:rPr>
                <a:t>Хувьцааны</a:t>
              </a:r>
              <a:r>
                <a:rPr lang="kk-KZ" sz="2200" spc="45" dirty="0">
                  <a:solidFill>
                    <a:srgbClr val="231F20"/>
                  </a:solidFill>
                  <a:effectLst/>
                  <a:latin typeface="Times New Roman" panose="02020603050405020304" pitchFamily="18" charset="0"/>
                  <a:ea typeface="Times New Roman" panose="02020603050405020304" pitchFamily="18" charset="0"/>
                </a:rPr>
                <a:t> </a:t>
              </a:r>
              <a:r>
                <a:rPr lang="kk-KZ" sz="2200" dirty="0">
                  <a:solidFill>
                    <a:srgbClr val="231F20"/>
                  </a:solidFill>
                  <a:effectLst/>
                  <a:latin typeface="Times New Roman" panose="02020603050405020304" pitchFamily="18" charset="0"/>
                  <a:ea typeface="Times New Roman" panose="02020603050405020304" pitchFamily="18" charset="0"/>
                </a:rPr>
                <a:t>үр </a:t>
              </a:r>
              <a:r>
                <a:rPr lang="kk-KZ" sz="2200" spc="-10" dirty="0">
                  <a:solidFill>
                    <a:srgbClr val="231F20"/>
                  </a:solidFill>
                  <a:effectLst/>
                  <a:latin typeface="Times New Roman" panose="02020603050405020304" pitchFamily="18" charset="0"/>
                  <a:ea typeface="Times New Roman" panose="02020603050405020304" pitchFamily="18" charset="0"/>
                </a:rPr>
                <a:t>өгөөж</a:t>
              </a:r>
              <a:endParaRPr lang="en-US" sz="2200" dirty="0">
                <a:effectLst/>
                <a:latin typeface="Times New Roman" panose="02020603050405020304" pitchFamily="18" charset="0"/>
                <a:ea typeface="Times New Roman" panose="02020603050405020304" pitchFamily="18" charset="0"/>
              </a:endParaRPr>
            </a:p>
          </p:txBody>
        </p:sp>
        <p:sp>
          <p:nvSpPr>
            <p:cNvPr id="30" name="Textbox 52">
              <a:extLst>
                <a:ext uri="{FF2B5EF4-FFF2-40B4-BE49-F238E27FC236}">
                  <a16:creationId xmlns:a16="http://schemas.microsoft.com/office/drawing/2014/main" id="{A151514B-A690-4BDD-A469-2B7AE663129F}"/>
                </a:ext>
              </a:extLst>
            </p:cNvPr>
            <p:cNvSpPr txBox="1"/>
            <p:nvPr/>
          </p:nvSpPr>
          <p:spPr>
            <a:xfrm>
              <a:off x="3484578" y="1845810"/>
              <a:ext cx="862330" cy="135890"/>
            </a:xfrm>
            <a:prstGeom prst="rect">
              <a:avLst/>
            </a:prstGeom>
          </p:spPr>
          <p:txBody>
            <a:bodyPr wrap="square" lIns="0" tIns="0" rIns="0" bIns="0" rtlCol="0">
              <a:noAutofit/>
            </a:bodyPr>
            <a:lstStyle/>
            <a:p>
              <a:pPr algn="ctr">
                <a:lnSpc>
                  <a:spcPts val="1065"/>
                </a:lnSpc>
              </a:pPr>
              <a:r>
                <a:rPr lang="kk-KZ" sz="2200">
                  <a:solidFill>
                    <a:srgbClr val="231F20"/>
                  </a:solidFill>
                  <a:effectLst/>
                  <a:latin typeface="Times New Roman" panose="02020603050405020304" pitchFamily="18" charset="0"/>
                  <a:ea typeface="Times New Roman" panose="02020603050405020304" pitchFamily="18" charset="0"/>
                </a:rPr>
                <a:t>Бусдад</a:t>
              </a:r>
              <a:r>
                <a:rPr lang="kk-KZ" sz="2200" spc="30">
                  <a:solidFill>
                    <a:srgbClr val="231F20"/>
                  </a:solidFill>
                  <a:effectLst/>
                  <a:latin typeface="Times New Roman" panose="02020603050405020304" pitchFamily="18" charset="0"/>
                  <a:ea typeface="Times New Roman" panose="02020603050405020304" pitchFamily="18" charset="0"/>
                </a:rPr>
                <a:t> </a:t>
              </a:r>
              <a:r>
                <a:rPr lang="kk-KZ" sz="2200" spc="-10">
                  <a:solidFill>
                    <a:srgbClr val="231F20"/>
                  </a:solidFill>
                  <a:effectLst/>
                  <a:latin typeface="Times New Roman" panose="02020603050405020304" pitchFamily="18" charset="0"/>
                  <a:ea typeface="Times New Roman" panose="02020603050405020304" pitchFamily="18" charset="0"/>
                </a:rPr>
                <a:t>бэлэглэх</a:t>
              </a:r>
              <a:endParaRPr lang="en-US" sz="2200">
                <a:effectLst/>
                <a:latin typeface="Times New Roman" panose="02020603050405020304" pitchFamily="18" charset="0"/>
                <a:ea typeface="Times New Roman" panose="02020603050405020304" pitchFamily="18" charset="0"/>
              </a:endParaRPr>
            </a:p>
          </p:txBody>
        </p:sp>
        <p:sp>
          <p:nvSpPr>
            <p:cNvPr id="31" name="Textbox 53">
              <a:extLst>
                <a:ext uri="{FF2B5EF4-FFF2-40B4-BE49-F238E27FC236}">
                  <a16:creationId xmlns:a16="http://schemas.microsoft.com/office/drawing/2014/main" id="{0747CF3C-FB6C-4DD5-90DC-F1FBA8970470}"/>
                </a:ext>
              </a:extLst>
            </p:cNvPr>
            <p:cNvSpPr txBox="1"/>
            <p:nvPr/>
          </p:nvSpPr>
          <p:spPr>
            <a:xfrm>
              <a:off x="1958010" y="2301202"/>
              <a:ext cx="667385" cy="135890"/>
            </a:xfrm>
            <a:prstGeom prst="rect">
              <a:avLst/>
            </a:prstGeom>
          </p:spPr>
          <p:txBody>
            <a:bodyPr wrap="square" lIns="0" tIns="0" rIns="0" bIns="0" rtlCol="0">
              <a:noAutofit/>
            </a:bodyPr>
            <a:lstStyle/>
            <a:p>
              <a:pPr algn="ctr">
                <a:lnSpc>
                  <a:spcPts val="1065"/>
                </a:lnSpc>
              </a:pPr>
              <a:r>
                <a:rPr lang="kk-KZ" sz="2200">
                  <a:solidFill>
                    <a:srgbClr val="231F20"/>
                  </a:solidFill>
                  <a:effectLst/>
                  <a:latin typeface="Times New Roman" panose="02020603050405020304" pitchFamily="18" charset="0"/>
                  <a:ea typeface="Times New Roman" panose="02020603050405020304" pitchFamily="18" charset="0"/>
                </a:rPr>
                <a:t>Бусад</a:t>
              </a:r>
              <a:r>
                <a:rPr lang="kk-KZ" sz="2200" spc="25">
                  <a:solidFill>
                    <a:srgbClr val="231F20"/>
                  </a:solidFill>
                  <a:effectLst/>
                  <a:latin typeface="Times New Roman" panose="02020603050405020304" pitchFamily="18" charset="0"/>
                  <a:ea typeface="Times New Roman" panose="02020603050405020304" pitchFamily="18" charset="0"/>
                </a:rPr>
                <a:t> </a:t>
              </a:r>
              <a:r>
                <a:rPr lang="kk-KZ" sz="2200" spc="-10">
                  <a:solidFill>
                    <a:srgbClr val="231F20"/>
                  </a:solidFill>
                  <a:effectLst/>
                  <a:latin typeface="Times New Roman" panose="02020603050405020304" pitchFamily="18" charset="0"/>
                  <a:ea typeface="Times New Roman" panose="02020603050405020304" pitchFamily="18" charset="0"/>
                </a:rPr>
                <a:t>өгөөж</a:t>
              </a:r>
              <a:endParaRPr lang="en-US" sz="2200">
                <a:effectLst/>
                <a:latin typeface="Times New Roman" panose="02020603050405020304" pitchFamily="18" charset="0"/>
                <a:ea typeface="Times New Roman" panose="02020603050405020304" pitchFamily="18" charset="0"/>
              </a:endParaRPr>
            </a:p>
          </p:txBody>
        </p:sp>
        <p:sp>
          <p:nvSpPr>
            <p:cNvPr id="32" name="Textbox 54">
              <a:extLst>
                <a:ext uri="{FF2B5EF4-FFF2-40B4-BE49-F238E27FC236}">
                  <a16:creationId xmlns:a16="http://schemas.microsoft.com/office/drawing/2014/main" id="{7E89E0EA-5AAB-476C-9A22-BD40ACB0C6BE}"/>
                </a:ext>
              </a:extLst>
            </p:cNvPr>
            <p:cNvSpPr txBox="1"/>
            <p:nvPr/>
          </p:nvSpPr>
          <p:spPr>
            <a:xfrm>
              <a:off x="3517001" y="2356591"/>
              <a:ext cx="795655" cy="135890"/>
            </a:xfrm>
            <a:prstGeom prst="rect">
              <a:avLst/>
            </a:prstGeom>
          </p:spPr>
          <p:txBody>
            <a:bodyPr wrap="square" lIns="0" tIns="0" rIns="0" bIns="0" rtlCol="0">
              <a:noAutofit/>
            </a:bodyPr>
            <a:lstStyle/>
            <a:p>
              <a:pPr algn="ctr">
                <a:lnSpc>
                  <a:spcPts val="1065"/>
                </a:lnSpc>
              </a:pPr>
              <a:r>
                <a:rPr lang="kk-KZ" sz="2200">
                  <a:solidFill>
                    <a:srgbClr val="231F20"/>
                  </a:solidFill>
                  <a:effectLst/>
                  <a:latin typeface="Times New Roman" panose="02020603050405020304" pitchFamily="18" charset="0"/>
                  <a:ea typeface="Times New Roman" panose="02020603050405020304" pitchFamily="18" charset="0"/>
                </a:rPr>
                <a:t>Өв</a:t>
              </a:r>
              <a:r>
                <a:rPr lang="kk-KZ" sz="2200" spc="5">
                  <a:solidFill>
                    <a:srgbClr val="231F20"/>
                  </a:solidFill>
                  <a:effectLst/>
                  <a:latin typeface="Times New Roman" panose="02020603050405020304" pitchFamily="18" charset="0"/>
                  <a:ea typeface="Times New Roman" panose="02020603050405020304" pitchFamily="18" charset="0"/>
                </a:rPr>
                <a:t> </a:t>
              </a:r>
              <a:r>
                <a:rPr lang="kk-KZ" sz="2200" spc="-10">
                  <a:solidFill>
                    <a:srgbClr val="231F20"/>
                  </a:solidFill>
                  <a:effectLst/>
                  <a:latin typeface="Times New Roman" panose="02020603050405020304" pitchFamily="18" charset="0"/>
                  <a:ea typeface="Times New Roman" panose="02020603050405020304" pitchFamily="18" charset="0"/>
                </a:rPr>
                <a:t>залгамжлах</a:t>
              </a:r>
              <a:endParaRPr lang="en-US" sz="2200">
                <a:effectLst/>
                <a:latin typeface="Times New Roman" panose="02020603050405020304" pitchFamily="18" charset="0"/>
                <a:ea typeface="Times New Roman" panose="02020603050405020304" pitchFamily="18" charset="0"/>
              </a:endParaRPr>
            </a:p>
          </p:txBody>
        </p:sp>
        <p:sp>
          <p:nvSpPr>
            <p:cNvPr id="33" name="Textbox 55">
              <a:extLst>
                <a:ext uri="{FF2B5EF4-FFF2-40B4-BE49-F238E27FC236}">
                  <a16:creationId xmlns:a16="http://schemas.microsoft.com/office/drawing/2014/main" id="{94D048E4-8BC8-42A4-AA7B-0AFCEE4B5A5A}"/>
                </a:ext>
              </a:extLst>
            </p:cNvPr>
            <p:cNvSpPr txBox="1"/>
            <p:nvPr/>
          </p:nvSpPr>
          <p:spPr>
            <a:xfrm>
              <a:off x="3279726" y="2867985"/>
              <a:ext cx="1270000" cy="262255"/>
            </a:xfrm>
            <a:prstGeom prst="rect">
              <a:avLst/>
            </a:prstGeom>
          </p:spPr>
          <p:txBody>
            <a:bodyPr wrap="square" lIns="0" tIns="0" rIns="0" bIns="0" rtlCol="0">
              <a:noAutofit/>
            </a:bodyPr>
            <a:lstStyle/>
            <a:p>
              <a:pPr marL="409575" marR="11430" indent="-410210" algn="ctr">
                <a:lnSpc>
                  <a:spcPct val="90000"/>
                </a:lnSpc>
                <a:spcBef>
                  <a:spcPts val="50"/>
                </a:spcBef>
                <a:spcAft>
                  <a:spcPts val="0"/>
                </a:spcAft>
              </a:pPr>
              <a:r>
                <a:rPr lang="kk-KZ" sz="2200">
                  <a:solidFill>
                    <a:srgbClr val="231F20"/>
                  </a:solidFill>
                  <a:effectLst/>
                  <a:latin typeface="Times New Roman" panose="02020603050405020304" pitchFamily="18" charset="0"/>
                  <a:ea typeface="Times New Roman" panose="02020603050405020304" pitchFamily="18" charset="0"/>
                </a:rPr>
                <a:t>Зээлийн</a:t>
              </a:r>
              <a:r>
                <a:rPr lang="kk-KZ" sz="2200" spc="-15">
                  <a:solidFill>
                    <a:srgbClr val="231F20"/>
                  </a:solidFill>
                  <a:effectLst/>
                  <a:latin typeface="Times New Roman" panose="02020603050405020304" pitchFamily="18" charset="0"/>
                  <a:ea typeface="Times New Roman" panose="02020603050405020304" pitchFamily="18" charset="0"/>
                </a:rPr>
                <a:t> </a:t>
              </a:r>
              <a:r>
                <a:rPr lang="kk-KZ" sz="2200">
                  <a:solidFill>
                    <a:srgbClr val="231F20"/>
                  </a:solidFill>
                  <a:effectLst/>
                  <a:latin typeface="Times New Roman" panose="02020603050405020304" pitchFamily="18" charset="0"/>
                  <a:ea typeface="Times New Roman" panose="02020603050405020304" pitchFamily="18" charset="0"/>
                </a:rPr>
                <a:t>барьцаа</a:t>
              </a:r>
              <a:r>
                <a:rPr lang="kk-KZ" sz="2200" spc="-10">
                  <a:solidFill>
                    <a:srgbClr val="231F20"/>
                  </a:solidFill>
                  <a:effectLst/>
                  <a:latin typeface="Times New Roman" panose="02020603050405020304" pitchFamily="18" charset="0"/>
                  <a:ea typeface="Times New Roman" panose="02020603050405020304" pitchFamily="18" charset="0"/>
                </a:rPr>
                <a:t> </a:t>
              </a:r>
              <a:r>
                <a:rPr lang="kk-KZ" sz="2200">
                  <a:solidFill>
                    <a:srgbClr val="231F20"/>
                  </a:solidFill>
                  <a:effectLst/>
                  <a:latin typeface="Times New Roman" panose="02020603050405020304" pitchFamily="18" charset="0"/>
                  <a:ea typeface="Times New Roman" panose="02020603050405020304" pitchFamily="18" charset="0"/>
                </a:rPr>
                <a:t>болгон </a:t>
              </a:r>
              <a:r>
                <a:rPr lang="kk-KZ" sz="2200" spc="-10">
                  <a:solidFill>
                    <a:srgbClr val="231F20"/>
                  </a:solidFill>
                  <a:effectLst/>
                  <a:latin typeface="Times New Roman" panose="02020603050405020304" pitchFamily="18" charset="0"/>
                  <a:ea typeface="Times New Roman" panose="02020603050405020304" pitchFamily="18" charset="0"/>
                </a:rPr>
                <a:t>ашиглах</a:t>
              </a:r>
              <a:endParaRPr lang="en-US" sz="220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185232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object 16">
            <a:extLst>
              <a:ext uri="{FF2B5EF4-FFF2-40B4-BE49-F238E27FC236}">
                <a16:creationId xmlns:a16="http://schemas.microsoft.com/office/drawing/2014/main" id="{72BF8EE3-41C5-4EEB-BA75-400A6672AAAD}"/>
              </a:ext>
            </a:extLst>
          </p:cNvPr>
          <p:cNvGrpSpPr/>
          <p:nvPr/>
        </p:nvGrpSpPr>
        <p:grpSpPr>
          <a:xfrm>
            <a:off x="7361695" y="379781"/>
            <a:ext cx="4830305" cy="3900470"/>
            <a:chOff x="8560016" y="704977"/>
            <a:chExt cx="3421379" cy="2971165"/>
          </a:xfrm>
        </p:grpSpPr>
        <p:pic>
          <p:nvPicPr>
            <p:cNvPr id="42" name="object 17">
              <a:extLst>
                <a:ext uri="{FF2B5EF4-FFF2-40B4-BE49-F238E27FC236}">
                  <a16:creationId xmlns:a16="http://schemas.microsoft.com/office/drawing/2014/main" id="{05E4104F-F5FB-4B53-86EC-0204160EDF65}"/>
                </a:ext>
              </a:extLst>
            </p:cNvPr>
            <p:cNvPicPr/>
            <p:nvPr/>
          </p:nvPicPr>
          <p:blipFill>
            <a:blip r:embed="rId3" cstate="print"/>
            <a:stretch>
              <a:fillRect/>
            </a:stretch>
          </p:blipFill>
          <p:spPr>
            <a:xfrm>
              <a:off x="9953879" y="704977"/>
              <a:ext cx="2027008" cy="2779572"/>
            </a:xfrm>
            <a:prstGeom prst="rect">
              <a:avLst/>
            </a:prstGeom>
          </p:spPr>
        </p:pic>
        <p:pic>
          <p:nvPicPr>
            <p:cNvPr id="43" name="object 18">
              <a:extLst>
                <a:ext uri="{FF2B5EF4-FFF2-40B4-BE49-F238E27FC236}">
                  <a16:creationId xmlns:a16="http://schemas.microsoft.com/office/drawing/2014/main" id="{474578FA-5D53-444E-96C3-EAD3020E97FC}"/>
                </a:ext>
              </a:extLst>
            </p:cNvPr>
            <p:cNvPicPr/>
            <p:nvPr/>
          </p:nvPicPr>
          <p:blipFill>
            <a:blip r:embed="rId4" cstate="print"/>
            <a:stretch>
              <a:fillRect/>
            </a:stretch>
          </p:blipFill>
          <p:spPr>
            <a:xfrm>
              <a:off x="8560016" y="719671"/>
              <a:ext cx="2343950" cy="2956344"/>
            </a:xfrm>
            <a:prstGeom prst="rect">
              <a:avLst/>
            </a:prstGeom>
          </p:spPr>
        </p:pic>
      </p:grpSp>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353878" y="67967"/>
            <a:ext cx="11484244" cy="842521"/>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800" b="1"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Хувьцааны хөрөнгө оруулалт.</a:t>
            </a:r>
            <a:br>
              <a:rPr lang="mn-MN" sz="2400" b="1" dirty="0">
                <a:solidFill>
                  <a:srgbClr val="0000FF"/>
                </a:solidFill>
                <a:latin typeface="Times New Roman" panose="02020603050405020304" pitchFamily="18" charset="0"/>
                <a:cs typeface="Times New Roman" panose="02020603050405020304" pitchFamily="18" charset="0"/>
              </a:rPr>
            </a:br>
            <a:r>
              <a:rPr lang="mn-MN" sz="2400" b="1" spc="-5" dirty="0">
                <a:solidFill>
                  <a:srgbClr val="001F5F"/>
                </a:solidFill>
                <a:highlight>
                  <a:srgbClr val="FFFF00"/>
                </a:highlight>
                <a:latin typeface="Times New Roman" panose="02020603050405020304" pitchFamily="18" charset="0"/>
                <a:cs typeface="Times New Roman" panose="02020603050405020304" pitchFamily="18" charset="0"/>
              </a:rPr>
              <a:t>ХУВЬЦАА</a:t>
            </a:r>
            <a:r>
              <a:rPr lang="mn-MN" sz="2400" b="1" spc="-15"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dirty="0">
                <a:solidFill>
                  <a:srgbClr val="001F5F"/>
                </a:solidFill>
                <a:highlight>
                  <a:srgbClr val="FFFF00"/>
                </a:highlight>
                <a:latin typeface="Times New Roman" panose="02020603050405020304" pitchFamily="18" charset="0"/>
                <a:cs typeface="Times New Roman" panose="02020603050405020304" pitchFamily="18" charset="0"/>
              </a:rPr>
              <a:t>–</a:t>
            </a:r>
            <a:r>
              <a:rPr lang="mn-MN" sz="2400" b="1" spc="-20"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dirty="0">
                <a:solidFill>
                  <a:srgbClr val="001F5F"/>
                </a:solidFill>
                <a:highlight>
                  <a:srgbClr val="FFFF00"/>
                </a:highlight>
                <a:latin typeface="Times New Roman" panose="02020603050405020304" pitchFamily="18" charset="0"/>
                <a:cs typeface="Times New Roman" panose="02020603050405020304" pitchFamily="18" charset="0"/>
              </a:rPr>
              <a:t>Бидний</a:t>
            </a:r>
            <a:r>
              <a:rPr lang="mn-MN" sz="2400" b="1" spc="-25"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spc="-10" dirty="0">
                <a:solidFill>
                  <a:srgbClr val="001F5F"/>
                </a:solidFill>
                <a:highlight>
                  <a:srgbClr val="FFFF00"/>
                </a:highlight>
                <a:latin typeface="Times New Roman" panose="02020603050405020304" pitchFamily="18" charset="0"/>
                <a:cs typeface="Times New Roman" panose="02020603050405020304" pitchFamily="18" charset="0"/>
              </a:rPr>
              <a:t>амьдралд</a:t>
            </a:r>
            <a:endParaRPr lang="en-US" sz="2400" b="1" dirty="0">
              <a:solidFill>
                <a:srgbClr val="0000FF"/>
              </a:solidFill>
              <a:highlight>
                <a:srgbClr val="FFFF00"/>
              </a:highlight>
              <a:latin typeface="Times New Roman" panose="02020603050405020304" pitchFamily="18" charset="0"/>
              <a:cs typeface="Times New Roman" panose="02020603050405020304" pitchFamily="18" charset="0"/>
            </a:endParaRPr>
          </a:p>
        </p:txBody>
      </p:sp>
      <p:sp>
        <p:nvSpPr>
          <p:cNvPr id="37" name="object 12">
            <a:extLst>
              <a:ext uri="{FF2B5EF4-FFF2-40B4-BE49-F238E27FC236}">
                <a16:creationId xmlns:a16="http://schemas.microsoft.com/office/drawing/2014/main" id="{9DBA6C46-B965-40D1-B1ED-4009466AD545}"/>
              </a:ext>
            </a:extLst>
          </p:cNvPr>
          <p:cNvSpPr txBox="1"/>
          <p:nvPr/>
        </p:nvSpPr>
        <p:spPr>
          <a:xfrm>
            <a:off x="432052" y="1049120"/>
            <a:ext cx="2279650" cy="1105431"/>
          </a:xfrm>
          <a:prstGeom prst="rect">
            <a:avLst/>
          </a:prstGeom>
          <a:solidFill>
            <a:srgbClr val="001F5F"/>
          </a:solidFill>
        </p:spPr>
        <p:txBody>
          <a:bodyPr vert="horz" wrap="square" lIns="0" tIns="43180" rIns="0" bIns="0" rtlCol="0">
            <a:spAutoFit/>
          </a:bodyPr>
          <a:lstStyle/>
          <a:p>
            <a:pPr marR="901065" algn="r">
              <a:lnSpc>
                <a:spcPct val="100000"/>
              </a:lnSpc>
              <a:spcBef>
                <a:spcPts val="340"/>
              </a:spcBef>
            </a:pPr>
            <a:r>
              <a:rPr sz="2300" b="1" spc="-5" dirty="0">
                <a:solidFill>
                  <a:srgbClr val="FFFFFF"/>
                </a:solidFill>
                <a:latin typeface="Times New Roman" panose="02020603050405020304" pitchFamily="18" charset="0"/>
                <a:cs typeface="Times New Roman" panose="02020603050405020304" pitchFamily="18" charset="0"/>
              </a:rPr>
              <a:t>ЦЭ</a:t>
            </a:r>
            <a:r>
              <a:rPr sz="2300" b="1" spc="5" dirty="0">
                <a:solidFill>
                  <a:srgbClr val="FFFFFF"/>
                </a:solidFill>
                <a:latin typeface="Times New Roman" panose="02020603050405020304" pitchFamily="18" charset="0"/>
                <a:cs typeface="Times New Roman" panose="02020603050405020304" pitchFamily="18" charset="0"/>
              </a:rPr>
              <a:t>Н</a:t>
            </a:r>
            <a:r>
              <a:rPr sz="2300" b="1" spc="-60" dirty="0">
                <a:solidFill>
                  <a:srgbClr val="FFFFFF"/>
                </a:solidFill>
                <a:latin typeface="Times New Roman" panose="02020603050405020304" pitchFamily="18" charset="0"/>
                <a:cs typeface="Times New Roman" panose="02020603050405020304" pitchFamily="18" charset="0"/>
              </a:rPr>
              <a:t>Х</a:t>
            </a:r>
            <a:r>
              <a:rPr sz="2300" b="1" spc="-5" dirty="0">
                <a:solidFill>
                  <a:srgbClr val="FFFFFF"/>
                </a:solidFill>
                <a:latin typeface="Times New Roman" panose="02020603050405020304" pitchFamily="18" charset="0"/>
                <a:cs typeface="Times New Roman" panose="02020603050405020304" pitchFamily="18" charset="0"/>
              </a:rPr>
              <a:t>Э</a:t>
            </a:r>
            <a:r>
              <a:rPr sz="2300" b="1" spc="-310" dirty="0">
                <a:solidFill>
                  <a:srgbClr val="FFFFFF"/>
                </a:solidFill>
                <a:latin typeface="Times New Roman" panose="02020603050405020304" pitchFamily="18" charset="0"/>
                <a:cs typeface="Times New Roman" panose="02020603050405020304" pitchFamily="18" charset="0"/>
              </a:rPr>
              <a:t>Р</a:t>
            </a:r>
            <a:r>
              <a:rPr sz="2300" b="1" dirty="0">
                <a:solidFill>
                  <a:srgbClr val="FFFFFF"/>
                </a:solidFill>
                <a:latin typeface="Times New Roman" panose="02020603050405020304" pitchFamily="18" charset="0"/>
                <a:cs typeface="Times New Roman" panose="02020603050405020304" pitchFamily="18" charset="0"/>
              </a:rPr>
              <a:t>,  </a:t>
            </a:r>
            <a:r>
              <a:rPr sz="2300" b="1" spc="-30" dirty="0">
                <a:solidFill>
                  <a:srgbClr val="FFFFFF"/>
                </a:solidFill>
                <a:latin typeface="Times New Roman" panose="02020603050405020304" pitchFamily="18" charset="0"/>
                <a:cs typeface="Times New Roman" panose="02020603050405020304" pitchFamily="18" charset="0"/>
              </a:rPr>
              <a:t>ЯГААН</a:t>
            </a:r>
            <a:endParaRPr sz="2300" dirty="0">
              <a:latin typeface="Times New Roman" panose="02020603050405020304" pitchFamily="18" charset="0"/>
              <a:cs typeface="Times New Roman" panose="02020603050405020304" pitchFamily="18" charset="0"/>
            </a:endParaRPr>
          </a:p>
          <a:p>
            <a:pPr algn="r">
              <a:lnSpc>
                <a:spcPct val="100000"/>
              </a:lnSpc>
            </a:pPr>
            <a:r>
              <a:rPr sz="2300" b="1" spc="-40" dirty="0">
                <a:solidFill>
                  <a:srgbClr val="FFFFFF"/>
                </a:solidFill>
                <a:latin typeface="Times New Roman" panose="02020603050405020304" pitchFamily="18" charset="0"/>
                <a:cs typeface="Times New Roman" panose="02020603050405020304" pitchFamily="18" charset="0"/>
              </a:rPr>
              <a:t>ТАСАЛБАР</a:t>
            </a:r>
            <a:endParaRPr sz="2300" dirty="0">
              <a:latin typeface="Times New Roman" panose="02020603050405020304" pitchFamily="18" charset="0"/>
              <a:cs typeface="Times New Roman" panose="02020603050405020304" pitchFamily="18" charset="0"/>
            </a:endParaRPr>
          </a:p>
        </p:txBody>
      </p:sp>
      <p:sp>
        <p:nvSpPr>
          <p:cNvPr id="38" name="object 13">
            <a:extLst>
              <a:ext uri="{FF2B5EF4-FFF2-40B4-BE49-F238E27FC236}">
                <a16:creationId xmlns:a16="http://schemas.microsoft.com/office/drawing/2014/main" id="{313BD1C3-3B85-4EB5-9D91-AA301EAD9C75}"/>
              </a:ext>
            </a:extLst>
          </p:cNvPr>
          <p:cNvSpPr txBox="1"/>
          <p:nvPr/>
        </p:nvSpPr>
        <p:spPr>
          <a:xfrm>
            <a:off x="381290" y="2332597"/>
            <a:ext cx="2279650" cy="2291653"/>
          </a:xfrm>
          <a:prstGeom prst="rect">
            <a:avLst/>
          </a:prstGeom>
          <a:solidFill>
            <a:schemeClr val="accent1">
              <a:lumMod val="75000"/>
            </a:schemeClr>
          </a:solidFill>
          <a:ln w="9525">
            <a:solidFill>
              <a:schemeClr val="accent1">
                <a:lumMod val="75000"/>
              </a:schemeClr>
            </a:solidFill>
          </a:ln>
        </p:spPr>
        <p:txBody>
          <a:bodyPr vert="horz" wrap="square" lIns="0" tIns="6350" rIns="0" bIns="0" rtlCol="0">
            <a:spAutoFit/>
          </a:bodyPr>
          <a:lstStyle/>
          <a:p>
            <a:pPr algn="ctr">
              <a:lnSpc>
                <a:spcPct val="100000"/>
              </a:lnSpc>
              <a:spcBef>
                <a:spcPts val="50"/>
              </a:spcBef>
            </a:pPr>
            <a:endParaRPr sz="2150" dirty="0">
              <a:latin typeface="Times New Roman" panose="02020603050405020304" pitchFamily="18" charset="0"/>
              <a:cs typeface="Times New Roman" panose="02020603050405020304" pitchFamily="18" charset="0"/>
            </a:endParaRPr>
          </a:p>
          <a:p>
            <a:pPr marL="102870" marR="105410" algn="ctr">
              <a:lnSpc>
                <a:spcPct val="100000"/>
              </a:lnSpc>
            </a:pPr>
            <a:r>
              <a:rPr sz="1800" b="1" dirty="0">
                <a:solidFill>
                  <a:srgbClr val="FFFFFF"/>
                </a:solidFill>
                <a:latin typeface="Times New Roman" panose="02020603050405020304" pitchFamily="18" charset="0"/>
                <a:cs typeface="Times New Roman" panose="02020603050405020304" pitchFamily="18" charset="0"/>
              </a:rPr>
              <a:t>“Э</a:t>
            </a:r>
            <a:r>
              <a:rPr sz="1800" b="1" spc="-105" dirty="0">
                <a:solidFill>
                  <a:srgbClr val="FFFFFF"/>
                </a:solidFill>
                <a:latin typeface="Times New Roman" panose="02020603050405020304" pitchFamily="18" charset="0"/>
                <a:cs typeface="Times New Roman" panose="02020603050405020304" pitchFamily="18" charset="0"/>
              </a:rPr>
              <a:t>Р</a:t>
            </a:r>
            <a:r>
              <a:rPr sz="1800" b="1" spc="-5" dirty="0">
                <a:solidFill>
                  <a:srgbClr val="FFFFFF"/>
                </a:solidFill>
                <a:latin typeface="Times New Roman" panose="02020603050405020304" pitchFamily="18" charset="0"/>
                <a:cs typeface="Times New Roman" panose="02020603050405020304" pitchFamily="18" charset="0"/>
              </a:rPr>
              <a:t>Д</a:t>
            </a:r>
            <a:r>
              <a:rPr sz="1800" b="1" dirty="0">
                <a:solidFill>
                  <a:srgbClr val="FFFFFF"/>
                </a:solidFill>
                <a:latin typeface="Times New Roman" panose="02020603050405020304" pitchFamily="18" charset="0"/>
                <a:cs typeface="Times New Roman" panose="02020603050405020304" pitchFamily="18" charset="0"/>
              </a:rPr>
              <a:t>Э</a:t>
            </a:r>
            <a:r>
              <a:rPr sz="1800" b="1" spc="-5" dirty="0">
                <a:solidFill>
                  <a:srgbClr val="FFFFFF"/>
                </a:solidFill>
                <a:latin typeface="Times New Roman" panose="02020603050405020304" pitchFamily="18" charset="0"/>
                <a:cs typeface="Times New Roman" panose="02020603050405020304" pitchFamily="18" charset="0"/>
              </a:rPr>
              <a:t>НЭ</a:t>
            </a:r>
            <a:r>
              <a:rPr sz="1800" b="1" dirty="0">
                <a:solidFill>
                  <a:srgbClr val="FFFFFF"/>
                </a:solidFill>
                <a:latin typeface="Times New Roman" panose="02020603050405020304" pitchFamily="18" charset="0"/>
                <a:cs typeface="Times New Roman" panose="02020603050405020304" pitchFamily="18" charset="0"/>
              </a:rPr>
              <a:t>С</a:t>
            </a:r>
            <a:r>
              <a:rPr sz="1800" b="1" spc="-25" dirty="0">
                <a:solidFill>
                  <a:srgbClr val="FFFFFF"/>
                </a:solidFill>
                <a:latin typeface="Times New Roman" panose="02020603050405020304" pitchFamily="18" charset="0"/>
                <a:cs typeface="Times New Roman" panose="02020603050405020304" pitchFamily="18" charset="0"/>
              </a:rPr>
              <a:t> </a:t>
            </a:r>
            <a:r>
              <a:rPr sz="1800" b="1" spc="-105" dirty="0">
                <a:solidFill>
                  <a:srgbClr val="FFFFFF"/>
                </a:solidFill>
                <a:latin typeface="Times New Roman" panose="02020603050405020304" pitchFamily="18" charset="0"/>
                <a:cs typeface="Times New Roman" panose="02020603050405020304" pitchFamily="18" charset="0"/>
              </a:rPr>
              <a:t>Т</a:t>
            </a:r>
            <a:r>
              <a:rPr sz="1800" b="1" spc="-55" dirty="0">
                <a:solidFill>
                  <a:srgbClr val="FFFFFF"/>
                </a:solidFill>
                <a:latin typeface="Times New Roman" panose="02020603050405020304" pitchFamily="18" charset="0"/>
                <a:cs typeface="Times New Roman" panose="02020603050405020304" pitchFamily="18" charset="0"/>
              </a:rPr>
              <a:t>А</a:t>
            </a:r>
            <a:r>
              <a:rPr sz="1800" b="1" spc="-80" dirty="0">
                <a:solidFill>
                  <a:srgbClr val="FFFFFF"/>
                </a:solidFill>
                <a:latin typeface="Times New Roman" panose="02020603050405020304" pitchFamily="18" charset="0"/>
                <a:cs typeface="Times New Roman" panose="02020603050405020304" pitchFamily="18" charset="0"/>
              </a:rPr>
              <a:t>В</a:t>
            </a:r>
            <a:r>
              <a:rPr sz="1800" b="1" spc="-30" dirty="0">
                <a:solidFill>
                  <a:srgbClr val="FFFFFF"/>
                </a:solidFill>
                <a:latin typeface="Times New Roman" panose="02020603050405020304" pitchFamily="18" charset="0"/>
                <a:cs typeface="Times New Roman" panose="02020603050405020304" pitchFamily="18" charset="0"/>
              </a:rPr>
              <a:t>А</a:t>
            </a:r>
            <a:r>
              <a:rPr sz="1800" b="1" dirty="0">
                <a:solidFill>
                  <a:srgbClr val="FFFFFF"/>
                </a:solidFill>
                <a:latin typeface="Times New Roman" panose="02020603050405020304" pitchFamily="18" charset="0"/>
                <a:cs typeface="Times New Roman" panose="02020603050405020304" pitchFamily="18" charset="0"/>
              </a:rPr>
              <a:t>Н  </a:t>
            </a:r>
            <a:r>
              <a:rPr sz="1800" b="1" spc="-20" dirty="0">
                <a:solidFill>
                  <a:srgbClr val="FFFFFF"/>
                </a:solidFill>
                <a:latin typeface="Times New Roman" panose="02020603050405020304" pitchFamily="18" charset="0"/>
                <a:cs typeface="Times New Roman" panose="02020603050405020304" pitchFamily="18" charset="0"/>
              </a:rPr>
              <a:t>ТОЛГОЙ”</a:t>
            </a:r>
            <a:r>
              <a:rPr sz="1800" b="1" spc="-25" dirty="0">
                <a:solidFill>
                  <a:srgbClr val="FFFFFF"/>
                </a:solidFill>
                <a:latin typeface="Times New Roman" panose="02020603050405020304" pitchFamily="18" charset="0"/>
                <a:cs typeface="Times New Roman" panose="02020603050405020304" pitchFamily="18" charset="0"/>
              </a:rPr>
              <a:t> </a:t>
            </a:r>
            <a:r>
              <a:rPr sz="1800" b="1" spc="-5" dirty="0">
                <a:solidFill>
                  <a:srgbClr val="FFFFFF"/>
                </a:solidFill>
                <a:latin typeface="Times New Roman" panose="02020603050405020304" pitchFamily="18" charset="0"/>
                <a:cs typeface="Times New Roman" panose="02020603050405020304" pitchFamily="18" charset="0"/>
              </a:rPr>
              <a:t>1072</a:t>
            </a:r>
            <a:r>
              <a:rPr sz="1800" b="1" spc="-15" dirty="0">
                <a:solidFill>
                  <a:srgbClr val="FFFFFF"/>
                </a:solidFill>
                <a:latin typeface="Times New Roman" panose="02020603050405020304" pitchFamily="18" charset="0"/>
                <a:cs typeface="Times New Roman" panose="02020603050405020304" pitchFamily="18" charset="0"/>
              </a:rPr>
              <a:t> </a:t>
            </a:r>
            <a:r>
              <a:rPr sz="1800" b="1" dirty="0">
                <a:solidFill>
                  <a:srgbClr val="FFFFFF"/>
                </a:solidFill>
                <a:latin typeface="Times New Roman" panose="02020603050405020304" pitchFamily="18" charset="0"/>
                <a:cs typeface="Times New Roman" panose="02020603050405020304" pitchFamily="18" charset="0"/>
              </a:rPr>
              <a:t>+</a:t>
            </a:r>
            <a:r>
              <a:rPr sz="1800" b="1" spc="-20" dirty="0">
                <a:solidFill>
                  <a:srgbClr val="FFFFFF"/>
                </a:solidFill>
                <a:latin typeface="Times New Roman" panose="02020603050405020304" pitchFamily="18" charset="0"/>
                <a:cs typeface="Times New Roman" panose="02020603050405020304" pitchFamily="18" charset="0"/>
              </a:rPr>
              <a:t> </a:t>
            </a:r>
            <a:r>
              <a:rPr sz="1800" b="1" dirty="0">
                <a:solidFill>
                  <a:srgbClr val="FFFFFF"/>
                </a:solidFill>
                <a:latin typeface="Times New Roman" panose="02020603050405020304" pitchFamily="18" charset="0"/>
                <a:cs typeface="Times New Roman" panose="02020603050405020304" pitchFamily="18" charset="0"/>
              </a:rPr>
              <a:t>1</a:t>
            </a:r>
            <a:endParaRPr sz="1800" dirty="0">
              <a:latin typeface="Times New Roman" panose="02020603050405020304" pitchFamily="18" charset="0"/>
              <a:cs typeface="Times New Roman" panose="02020603050405020304" pitchFamily="18" charset="0"/>
            </a:endParaRPr>
          </a:p>
          <a:p>
            <a:pPr algn="ctr">
              <a:lnSpc>
                <a:spcPct val="100000"/>
              </a:lnSpc>
              <a:spcBef>
                <a:spcPts val="35"/>
              </a:spcBef>
            </a:pPr>
            <a:endParaRPr sz="1850" dirty="0">
              <a:latin typeface="Times New Roman" panose="02020603050405020304" pitchFamily="18" charset="0"/>
              <a:cs typeface="Times New Roman" panose="02020603050405020304" pitchFamily="18" charset="0"/>
            </a:endParaRPr>
          </a:p>
          <a:p>
            <a:pPr algn="ctr">
              <a:lnSpc>
                <a:spcPct val="100000"/>
              </a:lnSpc>
              <a:spcBef>
                <a:spcPts val="35"/>
              </a:spcBef>
            </a:pPr>
            <a:endParaRPr lang="mn-MN" sz="1850" dirty="0">
              <a:latin typeface="Times New Roman" panose="02020603050405020304" pitchFamily="18" charset="0"/>
              <a:cs typeface="Times New Roman" panose="02020603050405020304" pitchFamily="18" charset="0"/>
            </a:endParaRPr>
          </a:p>
          <a:p>
            <a:pPr marL="102870" algn="ctr">
              <a:lnSpc>
                <a:spcPct val="100000"/>
              </a:lnSpc>
            </a:pPr>
            <a:r>
              <a:rPr sz="1800" b="1" spc="-15" dirty="0">
                <a:solidFill>
                  <a:srgbClr val="FFFFFF"/>
                </a:solidFill>
                <a:latin typeface="Times New Roman" panose="02020603050405020304" pitchFamily="18" charset="0"/>
                <a:cs typeface="Times New Roman" panose="02020603050405020304" pitchFamily="18" charset="0"/>
              </a:rPr>
              <a:t>“ЭРДЭНЭС</a:t>
            </a:r>
            <a:r>
              <a:rPr sz="1800" b="1" spc="-70" dirty="0">
                <a:solidFill>
                  <a:srgbClr val="FFFFFF"/>
                </a:solidFill>
                <a:latin typeface="Times New Roman" panose="02020603050405020304" pitchFamily="18" charset="0"/>
                <a:cs typeface="Times New Roman" panose="02020603050405020304" pitchFamily="18" charset="0"/>
              </a:rPr>
              <a:t> </a:t>
            </a:r>
            <a:r>
              <a:rPr sz="1800" b="1" spc="-15" dirty="0">
                <a:solidFill>
                  <a:srgbClr val="FFFFFF"/>
                </a:solidFill>
                <a:latin typeface="Times New Roman" panose="02020603050405020304" pitchFamily="18" charset="0"/>
                <a:cs typeface="Times New Roman" panose="02020603050405020304" pitchFamily="18" charset="0"/>
              </a:rPr>
              <a:t>МГЛ”</a:t>
            </a:r>
            <a:endParaRPr sz="1800" dirty="0">
              <a:latin typeface="Times New Roman" panose="02020603050405020304" pitchFamily="18" charset="0"/>
              <a:cs typeface="Times New Roman" panose="02020603050405020304" pitchFamily="18" charset="0"/>
            </a:endParaRPr>
          </a:p>
          <a:p>
            <a:pPr marL="102870" marR="635000" algn="r">
              <a:lnSpc>
                <a:spcPct val="100000"/>
              </a:lnSpc>
            </a:pPr>
            <a:r>
              <a:rPr sz="1800" b="1" spc="-20" dirty="0">
                <a:solidFill>
                  <a:srgbClr val="FFFFFF"/>
                </a:solidFill>
                <a:latin typeface="Times New Roman" panose="02020603050405020304" pitchFamily="18" charset="0"/>
                <a:cs typeface="Times New Roman" panose="02020603050405020304" pitchFamily="18" charset="0"/>
              </a:rPr>
              <a:t>давуу </a:t>
            </a:r>
            <a:r>
              <a:rPr sz="1800" b="1" spc="-10" dirty="0">
                <a:solidFill>
                  <a:srgbClr val="FFFFFF"/>
                </a:solidFill>
                <a:latin typeface="Times New Roman" panose="02020603050405020304" pitchFamily="18" charset="0"/>
                <a:cs typeface="Times New Roman" panose="02020603050405020304" pitchFamily="18" charset="0"/>
              </a:rPr>
              <a:t>эрхийн </a:t>
            </a:r>
            <a:r>
              <a:rPr sz="1800" b="1" spc="-490" dirty="0">
                <a:solidFill>
                  <a:srgbClr val="FFFFFF"/>
                </a:solidFill>
                <a:latin typeface="Times New Roman" panose="02020603050405020304" pitchFamily="18" charset="0"/>
                <a:cs typeface="Times New Roman" panose="02020603050405020304" pitchFamily="18" charset="0"/>
              </a:rPr>
              <a:t> </a:t>
            </a:r>
            <a:r>
              <a:rPr sz="1800" b="1" dirty="0">
                <a:solidFill>
                  <a:srgbClr val="FFFFFF"/>
                </a:solidFill>
                <a:latin typeface="Times New Roman" panose="02020603050405020304" pitchFamily="18" charset="0"/>
                <a:cs typeface="Times New Roman" panose="02020603050405020304" pitchFamily="18" charset="0"/>
              </a:rPr>
              <a:t>хувьцаа</a:t>
            </a:r>
            <a:endParaRPr sz="1800" dirty="0">
              <a:latin typeface="Times New Roman" panose="02020603050405020304" pitchFamily="18" charset="0"/>
              <a:cs typeface="Times New Roman" panose="02020603050405020304" pitchFamily="18" charset="0"/>
            </a:endParaRPr>
          </a:p>
        </p:txBody>
      </p:sp>
      <p:sp>
        <p:nvSpPr>
          <p:cNvPr id="39" name="object 14">
            <a:extLst>
              <a:ext uri="{FF2B5EF4-FFF2-40B4-BE49-F238E27FC236}">
                <a16:creationId xmlns:a16="http://schemas.microsoft.com/office/drawing/2014/main" id="{0F61B147-1EA0-43BC-A0ED-5D2BC17C10D1}"/>
              </a:ext>
            </a:extLst>
          </p:cNvPr>
          <p:cNvSpPr txBox="1"/>
          <p:nvPr/>
        </p:nvSpPr>
        <p:spPr>
          <a:xfrm>
            <a:off x="2870415" y="2188365"/>
            <a:ext cx="5366739" cy="1231619"/>
          </a:xfrm>
          <a:prstGeom prst="rect">
            <a:avLst/>
          </a:prstGeom>
        </p:spPr>
        <p:txBody>
          <a:bodyPr vert="horz" wrap="square" lIns="0" tIns="12700" rIns="0" bIns="0" rtlCol="0">
            <a:spAutoFit/>
          </a:bodyPr>
          <a:lstStyle/>
          <a:p>
            <a:pPr marL="21590" marR="5080" indent="-9525" algn="just">
              <a:lnSpc>
                <a:spcPct val="90000"/>
              </a:lnSpc>
            </a:pPr>
            <a:r>
              <a:rPr sz="2200" spc="-5" dirty="0">
                <a:latin typeface="Times New Roman" panose="02020603050405020304" pitchFamily="18" charset="0"/>
                <a:cs typeface="Times New Roman" panose="02020603050405020304" pitchFamily="18" charset="0"/>
              </a:rPr>
              <a:t>2012</a:t>
            </a:r>
            <a:r>
              <a:rPr sz="2200" spc="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оны</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4-р</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сарын</a:t>
            </a:r>
            <a:r>
              <a:rPr sz="2200" spc="35" dirty="0">
                <a:latin typeface="Times New Roman" panose="02020603050405020304" pitchFamily="18" charset="0"/>
                <a:cs typeface="Times New Roman" panose="02020603050405020304" pitchFamily="18" charset="0"/>
              </a:rPr>
              <a:t> </a:t>
            </a:r>
            <a:r>
              <a:rPr sz="2200" spc="-30" dirty="0">
                <a:latin typeface="Times New Roman" panose="02020603050405020304" pitchFamily="18" charset="0"/>
                <a:cs typeface="Times New Roman" panose="02020603050405020304" pitchFamily="18" charset="0"/>
              </a:rPr>
              <a:t>11-ний</a:t>
            </a:r>
            <a:r>
              <a:rPr sz="2200" spc="1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ЗГ-ын</a:t>
            </a:r>
            <a:r>
              <a:rPr sz="2200" spc="30" dirty="0">
                <a:latin typeface="Times New Roman" panose="02020603050405020304" pitchFamily="18" charset="0"/>
                <a:cs typeface="Times New Roman" panose="02020603050405020304" pitchFamily="18" charset="0"/>
              </a:rPr>
              <a:t> </a:t>
            </a:r>
            <a:r>
              <a:rPr sz="2200" spc="-50" dirty="0">
                <a:latin typeface="Times New Roman" panose="02020603050405020304" pitchFamily="18" charset="0"/>
                <a:cs typeface="Times New Roman" panose="02020603050405020304" pitchFamily="18" charset="0"/>
              </a:rPr>
              <a:t>116</a:t>
            </a:r>
            <a:r>
              <a:rPr sz="2200" spc="2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дугаар</a:t>
            </a:r>
            <a:r>
              <a:rPr sz="2200" spc="4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тогтоолоор </a:t>
            </a:r>
            <a:r>
              <a:rPr sz="2200" spc="-46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Монгол</a:t>
            </a:r>
            <a:r>
              <a:rPr sz="2200" spc="15" dirty="0">
                <a:latin typeface="Times New Roman" panose="02020603050405020304" pitchFamily="18" charset="0"/>
                <a:cs typeface="Times New Roman" panose="02020603050405020304" pitchFamily="18" charset="0"/>
              </a:rPr>
              <a:t> </a:t>
            </a:r>
            <a:r>
              <a:rPr sz="2200" spc="-25" dirty="0">
                <a:latin typeface="Times New Roman" panose="02020603050405020304" pitchFamily="18" charset="0"/>
                <a:cs typeface="Times New Roman" panose="02020603050405020304" pitchFamily="18" charset="0"/>
              </a:rPr>
              <a:t>Улсын</a:t>
            </a:r>
            <a:r>
              <a:rPr sz="2200" spc="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иргэдэд</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“Эрдэнэс</a:t>
            </a:r>
            <a:r>
              <a:rPr sz="2200" spc="-10" dirty="0">
                <a:latin typeface="Times New Roman" panose="02020603050405020304" pitchFamily="18" charset="0"/>
                <a:cs typeface="Times New Roman" panose="02020603050405020304" pitchFamily="18" charset="0"/>
              </a:rPr>
              <a:t> </a:t>
            </a:r>
            <a:r>
              <a:rPr sz="2200" spc="-25" dirty="0">
                <a:latin typeface="Times New Roman" panose="02020603050405020304" pitchFamily="18" charset="0"/>
                <a:cs typeface="Times New Roman" panose="02020603050405020304" pitchFamily="18" charset="0"/>
              </a:rPr>
              <a:t>Тавантолгой”</a:t>
            </a:r>
            <a:r>
              <a:rPr sz="2200" spc="20" dirty="0">
                <a:latin typeface="Times New Roman" panose="02020603050405020304" pitchFamily="18" charset="0"/>
                <a:cs typeface="Times New Roman" panose="02020603050405020304" pitchFamily="18" charset="0"/>
              </a:rPr>
              <a:t> </a:t>
            </a:r>
            <a:r>
              <a:rPr sz="2200" spc="-25" dirty="0">
                <a:latin typeface="Times New Roman" panose="02020603050405020304" pitchFamily="18" charset="0"/>
                <a:cs typeface="Times New Roman" panose="02020603050405020304" pitchFamily="18" charset="0"/>
              </a:rPr>
              <a:t>ХК-ийн </a:t>
            </a:r>
            <a:r>
              <a:rPr sz="2200" spc="-20" dirty="0">
                <a:latin typeface="Times New Roman" panose="02020603050405020304" pitchFamily="18" charset="0"/>
                <a:cs typeface="Times New Roman" panose="02020603050405020304" pitchFamily="18" charset="0"/>
              </a:rPr>
              <a:t> </a:t>
            </a:r>
            <a:r>
              <a:rPr sz="2200" b="1" spc="-5" dirty="0">
                <a:latin typeface="Times New Roman" panose="02020603050405020304" pitchFamily="18" charset="0"/>
                <a:cs typeface="Times New Roman" panose="02020603050405020304" pitchFamily="18" charset="0"/>
              </a:rPr>
              <a:t>1072</a:t>
            </a:r>
            <a:r>
              <a:rPr sz="2200" b="1" spc="1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ширхэг</a:t>
            </a:r>
            <a:r>
              <a:rPr sz="2200" spc="4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хувьцааг</a:t>
            </a:r>
            <a:r>
              <a:rPr sz="2200" spc="6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үнэ</a:t>
            </a:r>
            <a:r>
              <a:rPr sz="2200" spc="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төлбөргүй</a:t>
            </a:r>
            <a:r>
              <a:rPr sz="2200" spc="2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эзэмшүүлэхээр </a:t>
            </a:r>
            <a:r>
              <a:rPr sz="2200" spc="-5"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заасан.</a:t>
            </a:r>
            <a:endParaRPr sz="2200" dirty="0">
              <a:latin typeface="Times New Roman" panose="02020603050405020304" pitchFamily="18" charset="0"/>
              <a:cs typeface="Times New Roman" panose="02020603050405020304" pitchFamily="18" charset="0"/>
            </a:endParaRPr>
          </a:p>
        </p:txBody>
      </p:sp>
      <p:sp>
        <p:nvSpPr>
          <p:cNvPr id="40" name="object 15">
            <a:extLst>
              <a:ext uri="{FF2B5EF4-FFF2-40B4-BE49-F238E27FC236}">
                <a16:creationId xmlns:a16="http://schemas.microsoft.com/office/drawing/2014/main" id="{F7EB1E96-6962-4D9D-9E1E-B912D6E7D224}"/>
              </a:ext>
            </a:extLst>
          </p:cNvPr>
          <p:cNvSpPr txBox="1"/>
          <p:nvPr/>
        </p:nvSpPr>
        <p:spPr>
          <a:xfrm>
            <a:off x="2870415" y="3716237"/>
            <a:ext cx="6244590" cy="926920"/>
          </a:xfrm>
          <a:prstGeom prst="rect">
            <a:avLst/>
          </a:prstGeom>
        </p:spPr>
        <p:txBody>
          <a:bodyPr vert="horz" wrap="square" lIns="0" tIns="12700" rIns="0" bIns="0" rtlCol="0">
            <a:spAutoFit/>
          </a:bodyPr>
          <a:lstStyle/>
          <a:p>
            <a:pPr marL="21590" marR="5080" indent="-9525" algn="just">
              <a:lnSpc>
                <a:spcPct val="90000"/>
              </a:lnSpc>
            </a:pPr>
            <a:r>
              <a:rPr sz="2200" spc="-5" dirty="0">
                <a:latin typeface="Times New Roman" panose="02020603050405020304" pitchFamily="18" charset="0"/>
                <a:cs typeface="Times New Roman" panose="02020603050405020304" pitchFamily="18" charset="0"/>
              </a:rPr>
              <a:t>2012</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оны</a:t>
            </a:r>
            <a:r>
              <a:rPr sz="2200" spc="3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6-р</a:t>
            </a:r>
            <a:r>
              <a:rPr sz="2200" spc="15"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сард</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иргэн</a:t>
            </a:r>
            <a:r>
              <a:rPr sz="2200" spc="1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бүрт</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“Эрдэнэс</a:t>
            </a:r>
            <a:r>
              <a:rPr sz="2200" spc="-5" dirty="0">
                <a:latin typeface="Times New Roman" panose="02020603050405020304" pitchFamily="18" charset="0"/>
                <a:cs typeface="Times New Roman" panose="02020603050405020304" pitchFamily="18" charset="0"/>
              </a:rPr>
              <a:t> </a:t>
            </a:r>
            <a:r>
              <a:rPr sz="2200" spc="-60" dirty="0">
                <a:latin typeface="Times New Roman" panose="02020603050405020304" pitchFamily="18" charset="0"/>
                <a:cs typeface="Times New Roman" panose="02020603050405020304" pitchFamily="18" charset="0"/>
              </a:rPr>
              <a:t>МГЛ”</a:t>
            </a:r>
            <a:r>
              <a:rPr sz="2200" spc="20"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ТӨХХК-</a:t>
            </a:r>
            <a:r>
              <a:rPr sz="2200" spc="-20" dirty="0" err="1">
                <a:latin typeface="Times New Roman" panose="02020603050405020304" pitchFamily="18" charset="0"/>
                <a:cs typeface="Times New Roman" panose="02020603050405020304" pitchFamily="18" charset="0"/>
              </a:rPr>
              <a:t>ийн</a:t>
            </a:r>
            <a:r>
              <a:rPr sz="2200" dirty="0">
                <a:latin typeface="Times New Roman" panose="02020603050405020304" pitchFamily="18" charset="0"/>
                <a:cs typeface="Times New Roman" panose="02020603050405020304" pitchFamily="18" charset="0"/>
              </a:rPr>
              <a:t> </a:t>
            </a:r>
            <a:r>
              <a:rPr sz="2200" dirty="0" err="1">
                <a:latin typeface="Times New Roman" panose="02020603050405020304" pitchFamily="18" charset="0"/>
                <a:cs typeface="Times New Roman" panose="02020603050405020304" pitchFamily="18" charset="0"/>
              </a:rPr>
              <a:t>нэг</a:t>
            </a:r>
            <a:r>
              <a:rPr sz="2200" dirty="0">
                <a:latin typeface="Times New Roman" panose="02020603050405020304" pitchFamily="18" charset="0"/>
                <a:cs typeface="Times New Roman" panose="02020603050405020304" pitchFamily="18" charset="0"/>
              </a:rPr>
              <a:t> </a:t>
            </a:r>
            <a:r>
              <a:rPr sz="2200" spc="-459"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ширхэг</a:t>
            </a:r>
            <a:r>
              <a:rPr sz="2200" spc="3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давуу</a:t>
            </a:r>
            <a:r>
              <a:rPr sz="2200" spc="3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эрхийн</a:t>
            </a:r>
            <a:r>
              <a:rPr sz="2200" spc="2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хувьцаа</a:t>
            </a:r>
            <a:r>
              <a:rPr sz="2200" spc="50" dirty="0">
                <a:latin typeface="Times New Roman" panose="02020603050405020304" pitchFamily="18" charset="0"/>
                <a:cs typeface="Times New Roman" panose="02020603050405020304" pitchFamily="18" charset="0"/>
              </a:rPr>
              <a:t> </a:t>
            </a:r>
            <a:r>
              <a:rPr sz="2200" spc="-25" dirty="0">
                <a:latin typeface="Times New Roman" panose="02020603050405020304" pitchFamily="18" charset="0"/>
                <a:cs typeface="Times New Roman" panose="02020603050405020304" pitchFamily="18" charset="0"/>
              </a:rPr>
              <a:t>олгохыг</a:t>
            </a:r>
            <a:r>
              <a:rPr sz="2200" spc="40"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ЗГ-аас </a:t>
            </a:r>
            <a:r>
              <a:rPr sz="2200" spc="-1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баталгаажуулсан.</a:t>
            </a:r>
            <a:endParaRPr sz="2200" dirty="0">
              <a:latin typeface="Times New Roman" panose="02020603050405020304" pitchFamily="18" charset="0"/>
              <a:cs typeface="Times New Roman" panose="02020603050405020304" pitchFamily="18" charset="0"/>
            </a:endParaRPr>
          </a:p>
        </p:txBody>
      </p:sp>
      <p:sp>
        <p:nvSpPr>
          <p:cNvPr id="45" name="object 11">
            <a:extLst>
              <a:ext uri="{FF2B5EF4-FFF2-40B4-BE49-F238E27FC236}">
                <a16:creationId xmlns:a16="http://schemas.microsoft.com/office/drawing/2014/main" id="{6EA7E6F2-0606-4AB7-B826-CB4C32508ECE}"/>
              </a:ext>
            </a:extLst>
          </p:cNvPr>
          <p:cNvSpPr txBox="1"/>
          <p:nvPr/>
        </p:nvSpPr>
        <p:spPr>
          <a:xfrm>
            <a:off x="2870415" y="1037306"/>
            <a:ext cx="4661886" cy="1092607"/>
          </a:xfrm>
          <a:prstGeom prst="rect">
            <a:avLst/>
          </a:prstGeom>
        </p:spPr>
        <p:txBody>
          <a:bodyPr vert="horz" wrap="square" lIns="0" tIns="12700" rIns="0" bIns="0" rtlCol="0">
            <a:spAutoFit/>
          </a:bodyPr>
          <a:lstStyle/>
          <a:p>
            <a:pPr marL="12700">
              <a:lnSpc>
                <a:spcPct val="100000"/>
              </a:lnSpc>
              <a:spcBef>
                <a:spcPts val="100"/>
              </a:spcBef>
            </a:pPr>
            <a:r>
              <a:rPr sz="2200" spc="-5" dirty="0">
                <a:latin typeface="Times New Roman" panose="02020603050405020304" pitchFamily="18" charset="0"/>
                <a:cs typeface="Times New Roman" panose="02020603050405020304" pitchFamily="18" charset="0"/>
              </a:rPr>
              <a:t>1992-1995</a:t>
            </a:r>
            <a:r>
              <a:rPr sz="220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он</a:t>
            </a:r>
            <a:endParaRPr sz="2200" dirty="0">
              <a:latin typeface="Times New Roman" panose="02020603050405020304" pitchFamily="18" charset="0"/>
              <a:cs typeface="Times New Roman" panose="02020603050405020304" pitchFamily="18" charset="0"/>
            </a:endParaRPr>
          </a:p>
          <a:p>
            <a:pPr marL="12700">
              <a:lnSpc>
                <a:spcPct val="100000"/>
              </a:lnSpc>
            </a:pPr>
            <a:r>
              <a:rPr sz="2200" spc="-25" dirty="0">
                <a:latin typeface="Times New Roman" panose="02020603050405020304" pitchFamily="18" charset="0"/>
                <a:cs typeface="Times New Roman" panose="02020603050405020304" pitchFamily="18" charset="0"/>
              </a:rPr>
              <a:t>Улсын</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үйлдвэрийн</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475</a:t>
            </a:r>
            <a:r>
              <a:rPr sz="2200" spc="10" dirty="0">
                <a:latin typeface="Times New Roman" panose="02020603050405020304" pitchFamily="18" charset="0"/>
                <a:cs typeface="Times New Roman" panose="02020603050405020304" pitchFamily="18" charset="0"/>
              </a:rPr>
              <a:t> </a:t>
            </a:r>
            <a:r>
              <a:rPr sz="2200" spc="-30" dirty="0">
                <a:latin typeface="Times New Roman" panose="02020603050405020304" pitchFamily="18" charset="0"/>
                <a:cs typeface="Times New Roman" panose="02020603050405020304" pitchFamily="18" charset="0"/>
              </a:rPr>
              <a:t>компани</a:t>
            </a:r>
            <a:endParaRPr sz="2200" dirty="0">
              <a:latin typeface="Times New Roman" panose="02020603050405020304" pitchFamily="18" charset="0"/>
              <a:cs typeface="Times New Roman" panose="02020603050405020304" pitchFamily="18" charset="0"/>
            </a:endParaRPr>
          </a:p>
          <a:p>
            <a:pPr marL="12700">
              <a:lnSpc>
                <a:spcPct val="100000"/>
              </a:lnSpc>
              <a:spcBef>
                <a:spcPts val="480"/>
              </a:spcBef>
            </a:pPr>
            <a:r>
              <a:rPr sz="2200" spc="-5" dirty="0">
                <a:latin typeface="Times New Roman" panose="02020603050405020304" pitchFamily="18" charset="0"/>
                <a:cs typeface="Times New Roman" panose="02020603050405020304" pitchFamily="18" charset="0"/>
              </a:rPr>
              <a:t>1.1</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сая</a:t>
            </a:r>
            <a:r>
              <a:rPr sz="2200" spc="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хувьцаа</a:t>
            </a:r>
            <a:r>
              <a:rPr sz="2200" spc="45" dirty="0">
                <a:latin typeface="Times New Roman" panose="02020603050405020304" pitchFamily="18" charset="0"/>
                <a:cs typeface="Times New Roman" panose="02020603050405020304" pitchFamily="18" charset="0"/>
              </a:rPr>
              <a:t> </a:t>
            </a:r>
            <a:r>
              <a:rPr sz="2200" spc="-25" dirty="0">
                <a:latin typeface="Times New Roman" panose="02020603050405020304" pitchFamily="18" charset="0"/>
                <a:cs typeface="Times New Roman" panose="02020603050405020304" pitchFamily="18" charset="0"/>
              </a:rPr>
              <a:t>эзэмшигч</a:t>
            </a:r>
            <a:endParaRPr sz="2200" dirty="0">
              <a:latin typeface="Times New Roman" panose="02020603050405020304" pitchFamily="18" charset="0"/>
              <a:cs typeface="Times New Roman" panose="02020603050405020304" pitchFamily="18" charset="0"/>
            </a:endParaRPr>
          </a:p>
        </p:txBody>
      </p:sp>
      <p:sp>
        <p:nvSpPr>
          <p:cNvPr id="48" name="object 15">
            <a:extLst>
              <a:ext uri="{FF2B5EF4-FFF2-40B4-BE49-F238E27FC236}">
                <a16:creationId xmlns:a16="http://schemas.microsoft.com/office/drawing/2014/main" id="{F2C71EF6-9F75-4A6D-A68E-624DF2338CF5}"/>
              </a:ext>
            </a:extLst>
          </p:cNvPr>
          <p:cNvSpPr txBox="1"/>
          <p:nvPr/>
        </p:nvSpPr>
        <p:spPr>
          <a:xfrm>
            <a:off x="381290" y="4772451"/>
            <a:ext cx="11406070" cy="1243930"/>
          </a:xfrm>
          <a:prstGeom prst="rect">
            <a:avLst/>
          </a:prstGeom>
        </p:spPr>
        <p:txBody>
          <a:bodyPr vert="horz" wrap="square" lIns="0" tIns="12700" rIns="0" bIns="0" rtlCol="0">
            <a:spAutoFit/>
          </a:bodyPr>
          <a:lstStyle/>
          <a:p>
            <a:pPr marL="21590" marR="5080" indent="-9525" algn="just">
              <a:lnSpc>
                <a:spcPct val="100000"/>
              </a:lnSpc>
              <a:spcBef>
                <a:spcPts val="100"/>
              </a:spcBef>
            </a:pPr>
            <a:r>
              <a:rPr lang="mn-MN" sz="2400" dirty="0">
                <a:latin typeface="Times New Roman" panose="02020603050405020304" pitchFamily="18" charset="0"/>
                <a:cs typeface="Times New Roman" panose="02020603050405020304" pitchFamily="18" charset="0"/>
              </a:rPr>
              <a:t>Үнэт цаас, хувьцааны талаар ойлголтгүй байсан нь олон хүний хувьд </a:t>
            </a:r>
            <a:r>
              <a:rPr lang="mn-MN" sz="2400" b="1" dirty="0">
                <a:latin typeface="Times New Roman" panose="02020603050405020304" pitchFamily="18" charset="0"/>
                <a:cs typeface="Times New Roman" panose="02020603050405020304" pitchFamily="18" charset="0"/>
              </a:rPr>
              <a:t>цэнхэр, ягаан тасалбараа</a:t>
            </a:r>
            <a:r>
              <a:rPr lang="mn-MN" sz="2400" dirty="0">
                <a:latin typeface="Times New Roman" panose="02020603050405020304" pitchFamily="18" charset="0"/>
                <a:cs typeface="Times New Roman" panose="02020603050405020304" pitchFamily="18" charset="0"/>
              </a:rPr>
              <a:t> зарсан. </a:t>
            </a:r>
            <a:r>
              <a:rPr lang="mn-MN" sz="3200" b="1" dirty="0">
                <a:solidFill>
                  <a:srgbClr val="FF0000"/>
                </a:solidFill>
                <a:latin typeface="Times New Roman" panose="02020603050405020304" pitchFamily="18" charset="0"/>
                <a:cs typeface="Times New Roman" panose="02020603050405020304" pitchFamily="18" charset="0"/>
              </a:rPr>
              <a:t>Энэ алдааг бид давтах хэрэггүй.</a:t>
            </a:r>
            <a:r>
              <a:rPr lang="mn-MN" sz="2400" dirty="0">
                <a:latin typeface="Times New Roman" panose="02020603050405020304" pitchFamily="18" charset="0"/>
                <a:cs typeface="Times New Roman" panose="02020603050405020304" pitchFamily="18" charset="0"/>
              </a:rPr>
              <a:t> Энэ хөрөнгө Монгол Улсын нийт хүн амын 1 хувьд төвлөрч байна. </a:t>
            </a:r>
            <a:endParaRPr sz="24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2487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object 16">
            <a:extLst>
              <a:ext uri="{FF2B5EF4-FFF2-40B4-BE49-F238E27FC236}">
                <a16:creationId xmlns:a16="http://schemas.microsoft.com/office/drawing/2014/main" id="{72BF8EE3-41C5-4EEB-BA75-400A6672AAAD}"/>
              </a:ext>
            </a:extLst>
          </p:cNvPr>
          <p:cNvGrpSpPr/>
          <p:nvPr/>
        </p:nvGrpSpPr>
        <p:grpSpPr>
          <a:xfrm>
            <a:off x="7888638" y="472769"/>
            <a:ext cx="4272366" cy="3336811"/>
            <a:chOff x="8560016" y="704977"/>
            <a:chExt cx="3421379" cy="2971165"/>
          </a:xfrm>
        </p:grpSpPr>
        <p:pic>
          <p:nvPicPr>
            <p:cNvPr id="42" name="object 17">
              <a:extLst>
                <a:ext uri="{FF2B5EF4-FFF2-40B4-BE49-F238E27FC236}">
                  <a16:creationId xmlns:a16="http://schemas.microsoft.com/office/drawing/2014/main" id="{05E4104F-F5FB-4B53-86EC-0204160EDF65}"/>
                </a:ext>
              </a:extLst>
            </p:cNvPr>
            <p:cNvPicPr/>
            <p:nvPr/>
          </p:nvPicPr>
          <p:blipFill>
            <a:blip r:embed="rId3" cstate="print"/>
            <a:stretch>
              <a:fillRect/>
            </a:stretch>
          </p:blipFill>
          <p:spPr>
            <a:xfrm>
              <a:off x="9953879" y="704977"/>
              <a:ext cx="2027008" cy="2779572"/>
            </a:xfrm>
            <a:prstGeom prst="rect">
              <a:avLst/>
            </a:prstGeom>
          </p:spPr>
        </p:pic>
        <p:pic>
          <p:nvPicPr>
            <p:cNvPr id="43" name="object 18">
              <a:extLst>
                <a:ext uri="{FF2B5EF4-FFF2-40B4-BE49-F238E27FC236}">
                  <a16:creationId xmlns:a16="http://schemas.microsoft.com/office/drawing/2014/main" id="{474578FA-5D53-444E-96C3-EAD3020E97FC}"/>
                </a:ext>
              </a:extLst>
            </p:cNvPr>
            <p:cNvPicPr/>
            <p:nvPr/>
          </p:nvPicPr>
          <p:blipFill>
            <a:blip r:embed="rId4" cstate="print"/>
            <a:stretch>
              <a:fillRect/>
            </a:stretch>
          </p:blipFill>
          <p:spPr>
            <a:xfrm>
              <a:off x="8560016" y="719671"/>
              <a:ext cx="2343950" cy="2956344"/>
            </a:xfrm>
            <a:prstGeom prst="rect">
              <a:avLst/>
            </a:prstGeom>
          </p:spPr>
        </p:pic>
      </p:grpSp>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353878" y="67967"/>
            <a:ext cx="11484244" cy="842521"/>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800" b="1"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Хувьцааны хөрөнгө оруулалт.</a:t>
            </a:r>
            <a:br>
              <a:rPr lang="mn-MN" sz="2400" b="1" dirty="0">
                <a:solidFill>
                  <a:srgbClr val="0000FF"/>
                </a:solidFill>
                <a:latin typeface="Times New Roman" panose="02020603050405020304" pitchFamily="18" charset="0"/>
                <a:cs typeface="Times New Roman" panose="02020603050405020304" pitchFamily="18" charset="0"/>
              </a:rPr>
            </a:br>
            <a:r>
              <a:rPr lang="mn-MN" sz="2400" b="1" spc="-5" dirty="0">
                <a:solidFill>
                  <a:srgbClr val="001F5F"/>
                </a:solidFill>
                <a:highlight>
                  <a:srgbClr val="FFFF00"/>
                </a:highlight>
                <a:latin typeface="Times New Roman" panose="02020603050405020304" pitchFamily="18" charset="0"/>
                <a:cs typeface="Times New Roman" panose="02020603050405020304" pitchFamily="18" charset="0"/>
              </a:rPr>
              <a:t>ХУВЬЦАА</a:t>
            </a:r>
            <a:r>
              <a:rPr lang="mn-MN" sz="2400" b="1" spc="-15"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dirty="0">
                <a:solidFill>
                  <a:srgbClr val="001F5F"/>
                </a:solidFill>
                <a:highlight>
                  <a:srgbClr val="FFFF00"/>
                </a:highlight>
                <a:latin typeface="Times New Roman" panose="02020603050405020304" pitchFamily="18" charset="0"/>
                <a:cs typeface="Times New Roman" panose="02020603050405020304" pitchFamily="18" charset="0"/>
              </a:rPr>
              <a:t>–</a:t>
            </a:r>
            <a:r>
              <a:rPr lang="mn-MN" sz="2400" b="1" spc="-20"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dirty="0">
                <a:solidFill>
                  <a:srgbClr val="001F5F"/>
                </a:solidFill>
                <a:highlight>
                  <a:srgbClr val="FFFF00"/>
                </a:highlight>
                <a:latin typeface="Times New Roman" panose="02020603050405020304" pitchFamily="18" charset="0"/>
                <a:cs typeface="Times New Roman" panose="02020603050405020304" pitchFamily="18" charset="0"/>
              </a:rPr>
              <a:t>Бидний</a:t>
            </a:r>
            <a:r>
              <a:rPr lang="mn-MN" sz="2400" b="1" spc="-25"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spc="-10" dirty="0">
                <a:solidFill>
                  <a:srgbClr val="001F5F"/>
                </a:solidFill>
                <a:highlight>
                  <a:srgbClr val="FFFF00"/>
                </a:highlight>
                <a:latin typeface="Times New Roman" panose="02020603050405020304" pitchFamily="18" charset="0"/>
                <a:cs typeface="Times New Roman" panose="02020603050405020304" pitchFamily="18" charset="0"/>
              </a:rPr>
              <a:t>амьдралд</a:t>
            </a:r>
            <a:endParaRPr lang="en-US" sz="2400" b="1" dirty="0">
              <a:solidFill>
                <a:srgbClr val="0000FF"/>
              </a:solidFill>
              <a:highlight>
                <a:srgbClr val="FFFF00"/>
              </a:highlight>
              <a:latin typeface="Times New Roman" panose="02020603050405020304" pitchFamily="18" charset="0"/>
              <a:cs typeface="Times New Roman" panose="02020603050405020304" pitchFamily="18" charset="0"/>
            </a:endParaRPr>
          </a:p>
        </p:txBody>
      </p:sp>
      <p:sp>
        <p:nvSpPr>
          <p:cNvPr id="45" name="object 11">
            <a:extLst>
              <a:ext uri="{FF2B5EF4-FFF2-40B4-BE49-F238E27FC236}">
                <a16:creationId xmlns:a16="http://schemas.microsoft.com/office/drawing/2014/main" id="{6EA7E6F2-0606-4AB7-B826-CB4C32508ECE}"/>
              </a:ext>
            </a:extLst>
          </p:cNvPr>
          <p:cNvSpPr txBox="1"/>
          <p:nvPr/>
        </p:nvSpPr>
        <p:spPr>
          <a:xfrm>
            <a:off x="353878" y="910488"/>
            <a:ext cx="7565756" cy="2755113"/>
          </a:xfrm>
          <a:prstGeom prst="rect">
            <a:avLst/>
          </a:prstGeom>
        </p:spPr>
        <p:txBody>
          <a:bodyPr vert="horz" wrap="square" lIns="0" tIns="12700" rIns="0" bIns="0" rtlCol="0">
            <a:spAutoFit/>
          </a:bodyPr>
          <a:lstStyle/>
          <a:p>
            <a:pPr marL="12700" algn="just">
              <a:lnSpc>
                <a:spcPct val="90000"/>
              </a:lnSpc>
            </a:pPr>
            <a:r>
              <a:rPr lang="mn-MN" sz="2200" dirty="0">
                <a:latin typeface="Times New Roman" panose="02020603050405020304" pitchFamily="18" charset="0"/>
                <a:cs typeface="Times New Roman" panose="02020603050405020304" pitchFamily="18" charset="0"/>
              </a:rPr>
              <a:t>УИХ-ын 2010 оны 39-р тогтоол, 2012 оны 18-р тогтоол болон Засгийн газрын 2011 оны 3-р сарын 31-ний өдрийн 98-р тогтоол, 2012 оны 4-р сарын 11-ний өдрийн 116-р тогтоолын дагуу </a:t>
            </a:r>
            <a:r>
              <a:rPr lang="mn-MN" sz="2200" b="1" dirty="0">
                <a:latin typeface="Times New Roman" panose="02020603050405020304" pitchFamily="18" charset="0"/>
                <a:cs typeface="Times New Roman" panose="02020603050405020304" pitchFamily="18" charset="0"/>
              </a:rPr>
              <a:t>“Эрдэнэс Тавантолгой” ХК-ийн</a:t>
            </a:r>
            <a:r>
              <a:rPr lang="mn-MN" sz="2200" dirty="0">
                <a:latin typeface="Times New Roman" panose="02020603050405020304" pitchFamily="18" charset="0"/>
                <a:cs typeface="Times New Roman" panose="02020603050405020304" pitchFamily="18" charset="0"/>
              </a:rPr>
              <a:t> нийт хувьцааны 20 хүртэлх хувийг 2012 оны 4-р сарын 11- нээс өмнө төрсөн, иргэний шинэчилсэн бүртгэлд хамрагдсан Монгол Улсын иргэдэд үнэ төлбөргүй эзэмшүүлэхээр болсон. Таны эзэмшиж буй </a:t>
            </a:r>
            <a:r>
              <a:rPr lang="mn-MN" sz="2200" b="1" dirty="0">
                <a:solidFill>
                  <a:srgbClr val="0000FF"/>
                </a:solidFill>
                <a:latin typeface="Times New Roman" panose="02020603050405020304" pitchFamily="18" charset="0"/>
                <a:cs typeface="Times New Roman" panose="02020603050405020304" pitchFamily="18" charset="0"/>
              </a:rPr>
              <a:t>“Эрдэнэс Тавантолгой” ХК-ийн 1072 ширхэг хувьцаа нь энгийн хувьцаа юм. </a:t>
            </a:r>
            <a:endParaRPr sz="2200" b="1" dirty="0">
              <a:solidFill>
                <a:srgbClr val="0000FF"/>
              </a:solidFill>
              <a:latin typeface="Times New Roman" panose="02020603050405020304" pitchFamily="18" charset="0"/>
              <a:cs typeface="Times New Roman" panose="02020603050405020304" pitchFamily="18" charset="0"/>
            </a:endParaRPr>
          </a:p>
        </p:txBody>
      </p:sp>
      <p:sp>
        <p:nvSpPr>
          <p:cNvPr id="48" name="object 15">
            <a:extLst>
              <a:ext uri="{FF2B5EF4-FFF2-40B4-BE49-F238E27FC236}">
                <a16:creationId xmlns:a16="http://schemas.microsoft.com/office/drawing/2014/main" id="{F2C71EF6-9F75-4A6D-A68E-624DF2338CF5}"/>
              </a:ext>
            </a:extLst>
          </p:cNvPr>
          <p:cNvSpPr txBox="1"/>
          <p:nvPr/>
        </p:nvSpPr>
        <p:spPr>
          <a:xfrm>
            <a:off x="353877" y="3716449"/>
            <a:ext cx="11484244" cy="2721258"/>
          </a:xfrm>
          <a:prstGeom prst="rect">
            <a:avLst/>
          </a:prstGeom>
        </p:spPr>
        <p:txBody>
          <a:bodyPr vert="horz" wrap="square" lIns="0" tIns="12700" rIns="0" bIns="0" rtlCol="0">
            <a:spAutoFit/>
          </a:bodyPr>
          <a:lstStyle/>
          <a:p>
            <a:pPr marL="21590" marR="5080" indent="-9525" algn="just">
              <a:lnSpc>
                <a:spcPct val="100000"/>
              </a:lnSpc>
              <a:spcBef>
                <a:spcPts val="100"/>
              </a:spcBef>
            </a:pPr>
            <a:r>
              <a:rPr lang="mn-MN" sz="2200" dirty="0">
                <a:latin typeface="Times New Roman" panose="02020603050405020304" pitchFamily="18" charset="0"/>
                <a:cs typeface="Times New Roman" panose="02020603050405020304" pitchFamily="18" charset="0"/>
              </a:rPr>
              <a:t>Харин </a:t>
            </a:r>
            <a:r>
              <a:rPr lang="mn-MN" sz="2200" b="1" dirty="0">
                <a:solidFill>
                  <a:srgbClr val="0000FF"/>
                </a:solidFill>
                <a:latin typeface="Times New Roman" panose="02020603050405020304" pitchFamily="18" charset="0"/>
                <a:cs typeface="Times New Roman" panose="02020603050405020304" pitchFamily="18" charset="0"/>
              </a:rPr>
              <a:t>“Хүний хөгжлийн сангийн тухай” хуульд зааснаар </a:t>
            </a:r>
            <a:r>
              <a:rPr lang="mn-MN" sz="2200" dirty="0">
                <a:latin typeface="Times New Roman" panose="02020603050405020304" pitchFamily="18" charset="0"/>
                <a:cs typeface="Times New Roman" panose="02020603050405020304" pitchFamily="18" charset="0"/>
              </a:rPr>
              <a:t>иргэн бүр “Эрдэнэс МГЛ” компанийн нэг ширхэг давуу эрхийн хувьцааг эзэмшинэ. Энэхүү үйл ажиллагааг Монгол Улсын засгийн газрын 2012 оны 06-р сарын 25-ны өдрийн 218 дугаар тогтоолоор баталгаажуулсан. Уг тогтоолоор хүн ам, өрхийн бүртгэлд бүртгэгдсэн, иргэний харьяаллын зөрчилгүй иргэн бүр нэг ширхэг давуу эрхийн хувьцааг үнэ төлбөргүй эзэмших эрхтэй. </a:t>
            </a:r>
            <a:r>
              <a:rPr lang="mn-MN" sz="2200" b="1" dirty="0">
                <a:solidFill>
                  <a:srgbClr val="0000FF"/>
                </a:solidFill>
                <a:latin typeface="Times New Roman" panose="02020603050405020304" pitchFamily="18" charset="0"/>
                <a:cs typeface="Times New Roman" panose="02020603050405020304" pitchFamily="18" charset="0"/>
              </a:rPr>
              <a:t>Харин давуу эрхийн хувьцааг худалдах, арилжих, бэлэглэх, барьцаалах, өв залгамжлах нь хуулиар хориотой.</a:t>
            </a:r>
            <a:r>
              <a:rPr lang="mn-MN" sz="2200" dirty="0">
                <a:solidFill>
                  <a:srgbClr val="0000FF"/>
                </a:solidFill>
                <a:latin typeface="Times New Roman" panose="02020603050405020304" pitchFamily="18" charset="0"/>
                <a:cs typeface="Times New Roman" panose="02020603050405020304" pitchFamily="18" charset="0"/>
              </a:rPr>
              <a:t> </a:t>
            </a:r>
            <a:r>
              <a:rPr lang="mn-MN" sz="2200" dirty="0">
                <a:latin typeface="Times New Roman" panose="02020603050405020304" pitchFamily="18" charset="0"/>
                <a:cs typeface="Times New Roman" panose="02020603050405020304" pitchFamily="18" charset="0"/>
              </a:rPr>
              <a:t>Мөн тухайн хүн нас барсан, </a:t>
            </a:r>
            <a:r>
              <a:rPr lang="mn-MN" sz="2200" b="1" dirty="0">
                <a:solidFill>
                  <a:srgbClr val="0000FF"/>
                </a:solidFill>
                <a:latin typeface="Times New Roman" panose="02020603050405020304" pitchFamily="18" charset="0"/>
                <a:cs typeface="Times New Roman" panose="02020603050405020304" pitchFamily="18" charset="0"/>
              </a:rPr>
              <a:t>Монгол Улсын харьяатаас гарсан тохиолдолд давуу эрхийн хувьцаа эзэмших эрх нь дуусгавар болно.</a:t>
            </a:r>
            <a:endParaRPr sz="2200" b="1" dirty="0">
              <a:solidFill>
                <a:srgbClr val="0000FF"/>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2779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5790A23-9C18-4409-9961-15CAD6AD95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8036" y="3779317"/>
            <a:ext cx="5501247" cy="3010716"/>
          </a:xfrm>
          <a:prstGeom prst="rect">
            <a:avLst/>
          </a:prstGeom>
        </p:spPr>
      </p:pic>
      <p:pic>
        <p:nvPicPr>
          <p:cNvPr id="4" name="Picture 3">
            <a:extLst>
              <a:ext uri="{FF2B5EF4-FFF2-40B4-BE49-F238E27FC236}">
                <a16:creationId xmlns:a16="http://schemas.microsoft.com/office/drawing/2014/main" id="{73C89F54-9B5D-4502-93DF-5773C2CF1E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6095" y="67967"/>
            <a:ext cx="3711662" cy="3589633"/>
          </a:xfrm>
          <a:prstGeom prst="rect">
            <a:avLst/>
          </a:prstGeom>
        </p:spPr>
      </p:pic>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353878" y="67967"/>
            <a:ext cx="11484244" cy="842521"/>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800" b="1"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Хувьцааны хөрөнгө оруулалт.</a:t>
            </a:r>
            <a:br>
              <a:rPr lang="mn-MN" sz="2400" b="1" dirty="0">
                <a:solidFill>
                  <a:srgbClr val="0000FF"/>
                </a:solidFill>
                <a:latin typeface="Times New Roman" panose="02020603050405020304" pitchFamily="18" charset="0"/>
                <a:cs typeface="Times New Roman" panose="02020603050405020304" pitchFamily="18" charset="0"/>
              </a:rPr>
            </a:br>
            <a:r>
              <a:rPr lang="mn-MN" sz="2400" b="1" spc="-5" dirty="0">
                <a:solidFill>
                  <a:srgbClr val="001F5F"/>
                </a:solidFill>
                <a:highlight>
                  <a:srgbClr val="FFFF00"/>
                </a:highlight>
                <a:latin typeface="Times New Roman" panose="02020603050405020304" pitchFamily="18" charset="0"/>
                <a:cs typeface="Times New Roman" panose="02020603050405020304" pitchFamily="18" charset="0"/>
              </a:rPr>
              <a:t>Хөрөнгө оруулалт</a:t>
            </a:r>
            <a:r>
              <a:rPr lang="mn-MN" sz="2400" b="1" spc="-15"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dirty="0">
                <a:solidFill>
                  <a:srgbClr val="001F5F"/>
                </a:solidFill>
                <a:highlight>
                  <a:srgbClr val="FFFF00"/>
                </a:highlight>
                <a:latin typeface="Times New Roman" panose="02020603050405020304" pitchFamily="18" charset="0"/>
                <a:cs typeface="Times New Roman" panose="02020603050405020304" pitchFamily="18" charset="0"/>
              </a:rPr>
              <a:t>–</a:t>
            </a:r>
            <a:r>
              <a:rPr lang="mn-MN" sz="2400" b="1" spc="-20"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dirty="0">
                <a:solidFill>
                  <a:srgbClr val="001F5F"/>
                </a:solidFill>
                <a:highlight>
                  <a:srgbClr val="FFFF00"/>
                </a:highlight>
                <a:latin typeface="Times New Roman" panose="02020603050405020304" pitchFamily="18" charset="0"/>
                <a:cs typeface="Times New Roman" panose="02020603050405020304" pitchFamily="18" charset="0"/>
              </a:rPr>
              <a:t>Бидний</a:t>
            </a:r>
            <a:r>
              <a:rPr lang="mn-MN" sz="2400" b="1" spc="-25"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spc="-10" dirty="0">
                <a:solidFill>
                  <a:srgbClr val="001F5F"/>
                </a:solidFill>
                <a:highlight>
                  <a:srgbClr val="FFFF00"/>
                </a:highlight>
                <a:latin typeface="Times New Roman" panose="02020603050405020304" pitchFamily="18" charset="0"/>
                <a:cs typeface="Times New Roman" panose="02020603050405020304" pitchFamily="18" charset="0"/>
              </a:rPr>
              <a:t>амьдралд</a:t>
            </a:r>
            <a:endParaRPr lang="en-US" sz="2400" b="1" dirty="0">
              <a:solidFill>
                <a:srgbClr val="0000FF"/>
              </a:solidFill>
              <a:highlight>
                <a:srgbClr val="FFFF00"/>
              </a:highlight>
              <a:latin typeface="Times New Roman" panose="02020603050405020304" pitchFamily="18" charset="0"/>
              <a:cs typeface="Times New Roman" panose="02020603050405020304" pitchFamily="18" charset="0"/>
            </a:endParaRPr>
          </a:p>
        </p:txBody>
      </p:sp>
      <p:sp>
        <p:nvSpPr>
          <p:cNvPr id="12" name="object 15">
            <a:extLst>
              <a:ext uri="{FF2B5EF4-FFF2-40B4-BE49-F238E27FC236}">
                <a16:creationId xmlns:a16="http://schemas.microsoft.com/office/drawing/2014/main" id="{9598BD79-D88C-4571-ADE4-EBBE2A7EC16B}"/>
              </a:ext>
            </a:extLst>
          </p:cNvPr>
          <p:cNvSpPr txBox="1"/>
          <p:nvPr/>
        </p:nvSpPr>
        <p:spPr>
          <a:xfrm>
            <a:off x="432052" y="910488"/>
            <a:ext cx="7844043" cy="2828980"/>
          </a:xfrm>
          <a:prstGeom prst="rect">
            <a:avLst/>
          </a:prstGeom>
        </p:spPr>
        <p:txBody>
          <a:bodyPr vert="horz" wrap="square" lIns="0" tIns="12700" rIns="0" bIns="0" rtlCol="0">
            <a:spAutoFit/>
          </a:bodyPr>
          <a:lstStyle/>
          <a:p>
            <a:pPr marL="21590" marR="5080" indent="-9525" algn="just">
              <a:lnSpc>
                <a:spcPct val="100000"/>
              </a:lnSpc>
              <a:spcBef>
                <a:spcPts val="100"/>
              </a:spcBef>
            </a:pPr>
            <a:r>
              <a:rPr lang="mn-MN" sz="2400" dirty="0">
                <a:latin typeface="Times New Roman" panose="02020603050405020304" pitchFamily="18" charset="0"/>
                <a:cs typeface="Times New Roman" panose="02020603050405020304" pitchFamily="18" charset="0"/>
              </a:rPr>
              <a:t>Хөрөнгө оруулалтын сагс буюу багцыг </a:t>
            </a:r>
            <a:r>
              <a:rPr lang="mn-MN" sz="2400" b="1" dirty="0">
                <a:solidFill>
                  <a:srgbClr val="0000FF"/>
                </a:solidFill>
                <a:latin typeface="Times New Roman" panose="02020603050405020304" pitchFamily="18" charset="0"/>
                <a:cs typeface="Times New Roman" panose="02020603050405020304" pitchFamily="18" charset="0"/>
              </a:rPr>
              <a:t>портфель</a:t>
            </a:r>
            <a:r>
              <a:rPr lang="mn-MN" sz="2400" dirty="0">
                <a:latin typeface="Times New Roman" panose="02020603050405020304" pitchFamily="18" charset="0"/>
                <a:cs typeface="Times New Roman" panose="02020603050405020304" pitchFamily="18" charset="0"/>
              </a:rPr>
              <a:t> гэнэ.</a:t>
            </a:r>
          </a:p>
          <a:p>
            <a:pPr marL="354965" marR="5080" indent="-342900" algn="just">
              <a:lnSpc>
                <a:spcPct val="100000"/>
              </a:lnSpc>
              <a:spcBef>
                <a:spcPts val="100"/>
              </a:spcBef>
              <a:buFont typeface="Wingdings" panose="05000000000000000000" pitchFamily="2" charset="2"/>
              <a:buChar char="Ø"/>
            </a:pPr>
            <a:r>
              <a:rPr lang="mn-MN" sz="2200" dirty="0">
                <a:latin typeface="Times New Roman" panose="02020603050405020304" pitchFamily="18" charset="0"/>
                <a:cs typeface="Times New Roman" panose="02020603050405020304" pitchFamily="18" charset="0"/>
              </a:rPr>
              <a:t>Портфель бүрдүүлэлтийн зорилго нь </a:t>
            </a:r>
            <a:r>
              <a:rPr lang="mn-MN" sz="2200" b="1" dirty="0">
                <a:solidFill>
                  <a:srgbClr val="0000FF"/>
                </a:solidFill>
                <a:latin typeface="Times New Roman" panose="02020603050405020304" pitchFamily="18" charset="0"/>
                <a:cs typeface="Times New Roman" panose="02020603050405020304" pitchFamily="18" charset="0"/>
              </a:rPr>
              <a:t>ХО-ын</a:t>
            </a:r>
            <a:r>
              <a:rPr lang="mn-MN" sz="2200" dirty="0">
                <a:latin typeface="Times New Roman" panose="02020603050405020304" pitchFamily="18" charset="0"/>
                <a:cs typeface="Times New Roman" panose="02020603050405020304" pitchFamily="18" charset="0"/>
              </a:rPr>
              <a:t> эрсдэлийг тараан байршуулж, багцын өгөөжийг өндөр байлгахад оршино.</a:t>
            </a:r>
          </a:p>
          <a:p>
            <a:pPr marL="354965" marR="5080" indent="-342900" algn="just">
              <a:lnSpc>
                <a:spcPct val="100000"/>
              </a:lnSpc>
              <a:spcBef>
                <a:spcPts val="100"/>
              </a:spcBef>
              <a:buFont typeface="Wingdings" panose="05000000000000000000" pitchFamily="2" charset="2"/>
              <a:buChar char="Ø"/>
            </a:pPr>
            <a:r>
              <a:rPr lang="mn-MN" sz="2200" dirty="0">
                <a:latin typeface="Times New Roman" panose="02020603050405020304" pitchFamily="18" charset="0"/>
                <a:cs typeface="Times New Roman" panose="02020603050405020304" pitchFamily="18" charset="0"/>
              </a:rPr>
              <a:t>Портфелийн менежментийг ногоо талбайтай зүйрлэдэг.</a:t>
            </a:r>
          </a:p>
          <a:p>
            <a:pPr marL="812165" marR="5080" lvl="1" indent="-342900" algn="just">
              <a:spcBef>
                <a:spcPts val="100"/>
              </a:spcBef>
              <a:buFont typeface="Wingdings" panose="05000000000000000000" pitchFamily="2" charset="2"/>
              <a:buChar char="ü"/>
            </a:pPr>
            <a:r>
              <a:rPr sz="2200" dirty="0" err="1">
                <a:latin typeface="Times New Roman" panose="02020603050405020304" pitchFamily="18" charset="0"/>
                <a:cs typeface="Times New Roman" panose="02020603050405020304" pitchFamily="18" charset="0"/>
              </a:rPr>
              <a:t>Боловсруулалт</a:t>
            </a:r>
            <a:endParaRPr sz="2200" dirty="0">
              <a:latin typeface="Times New Roman" panose="02020603050405020304" pitchFamily="18" charset="0"/>
              <a:cs typeface="Times New Roman" panose="02020603050405020304" pitchFamily="18" charset="0"/>
            </a:endParaRPr>
          </a:p>
          <a:p>
            <a:pPr marL="812165" marR="5080" lvl="1" indent="-342900" algn="just">
              <a:spcBef>
                <a:spcPts val="100"/>
              </a:spcBef>
              <a:buFont typeface="Wingdings" panose="05000000000000000000" pitchFamily="2" charset="2"/>
              <a:buChar char="ü"/>
            </a:pPr>
            <a:r>
              <a:rPr lang="mn-MN" sz="2200" dirty="0">
                <a:latin typeface="Times New Roman" panose="02020603050405020304" pitchFamily="18" charset="0"/>
                <a:cs typeface="Times New Roman" panose="02020603050405020304" pitchFamily="18" charset="0"/>
              </a:rPr>
              <a:t>Сонгох</a:t>
            </a:r>
          </a:p>
          <a:p>
            <a:pPr marL="812165" marR="5080" lvl="1" indent="-342900" algn="just">
              <a:spcBef>
                <a:spcPts val="100"/>
              </a:spcBef>
              <a:buFont typeface="Wingdings" panose="05000000000000000000" pitchFamily="2" charset="2"/>
              <a:buChar char="ü"/>
            </a:pPr>
            <a:r>
              <a:rPr lang="mn-MN" sz="2200" dirty="0">
                <a:latin typeface="Times New Roman" panose="02020603050405020304" pitchFamily="18" charset="0"/>
                <a:cs typeface="Times New Roman" panose="02020603050405020304" pitchFamily="18" charset="0"/>
              </a:rPr>
              <a:t>Арчлах</a:t>
            </a:r>
          </a:p>
          <a:p>
            <a:pPr marL="812165" marR="5080" lvl="1" indent="-342900" algn="just">
              <a:spcBef>
                <a:spcPts val="100"/>
              </a:spcBef>
              <a:buFont typeface="Wingdings" panose="05000000000000000000" pitchFamily="2" charset="2"/>
              <a:buChar char="ü"/>
            </a:pPr>
            <a:r>
              <a:rPr lang="mn-MN" sz="2200" dirty="0">
                <a:latin typeface="Times New Roman" panose="02020603050405020304" pitchFamily="18" charset="0"/>
                <a:cs typeface="Times New Roman" panose="02020603050405020304" pitchFamily="18" charset="0"/>
              </a:rPr>
              <a:t>Тариагаа хураах</a:t>
            </a:r>
            <a:endParaRPr sz="2200" dirty="0">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BEA42BFF-025A-47A3-853B-526ED9F3683A}"/>
              </a:ext>
            </a:extLst>
          </p:cNvPr>
          <p:cNvSpPr/>
          <p:nvPr/>
        </p:nvSpPr>
        <p:spPr>
          <a:xfrm>
            <a:off x="3481972" y="2276011"/>
            <a:ext cx="4303986" cy="2128345"/>
          </a:xfrm>
          <a:prstGeom prst="roundRect">
            <a:avLst>
              <a:gd name="adj" fmla="val 16666"/>
            </a:avLst>
          </a:prstGeom>
          <a:solidFill>
            <a:srgbClr val="FFFF99"/>
          </a:solid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2400" dirty="0">
                <a:solidFill>
                  <a:schemeClr val="tx1"/>
                </a:solidFill>
                <a:latin typeface="Times New Roman" panose="02020603050405020304" pitchFamily="18" charset="0"/>
                <a:cs typeface="Times New Roman" panose="02020603050405020304" pitchFamily="18" charset="0"/>
              </a:rPr>
              <a:t>Найдаад сул байж болохгүй, байнга хянаж, боловсруулалт хийж байх хэрэгтэй. </a:t>
            </a:r>
          </a:p>
          <a:p>
            <a:pPr algn="ctr"/>
            <a:r>
              <a:rPr lang="mn-MN" sz="2800" b="1" dirty="0">
                <a:solidFill>
                  <a:srgbClr val="0000FF"/>
                </a:solidFill>
                <a:latin typeface="Times New Roman" panose="02020603050405020304" pitchFamily="18" charset="0"/>
                <a:cs typeface="Times New Roman" panose="02020603050405020304" pitchFamily="18" charset="0"/>
              </a:rPr>
              <a:t>Төрөлжүүлэх үү? Төвлөрүүлэх үү?</a:t>
            </a:r>
          </a:p>
        </p:txBody>
      </p:sp>
      <p:sp>
        <p:nvSpPr>
          <p:cNvPr id="18" name="Rectangle: Rounded Corners 17">
            <a:extLst>
              <a:ext uri="{FF2B5EF4-FFF2-40B4-BE49-F238E27FC236}">
                <a16:creationId xmlns:a16="http://schemas.microsoft.com/office/drawing/2014/main" id="{5F4E4C22-29C8-4671-85BD-3E05507BB3E3}"/>
              </a:ext>
            </a:extLst>
          </p:cNvPr>
          <p:cNvSpPr/>
          <p:nvPr/>
        </p:nvSpPr>
        <p:spPr>
          <a:xfrm>
            <a:off x="788275" y="4518925"/>
            <a:ext cx="5753995" cy="2128345"/>
          </a:xfrm>
          <a:prstGeom prst="roundRect">
            <a:avLst>
              <a:gd name="adj" fmla="val 16666"/>
            </a:avLst>
          </a:prstGeom>
          <a:solidFill>
            <a:srgbClr val="FFFF99"/>
          </a:solid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2400" dirty="0">
                <a:solidFill>
                  <a:schemeClr val="tx1"/>
                </a:solidFill>
                <a:latin typeface="Times New Roman" panose="02020603050405020304" pitchFamily="18" charset="0"/>
                <a:cs typeface="Times New Roman" panose="02020603050405020304" pitchFamily="18" charset="0"/>
              </a:rPr>
              <a:t>Хөрөнгө оруулалтын алтан дүрэм:</a:t>
            </a:r>
          </a:p>
          <a:p>
            <a:pPr algn="ctr"/>
            <a:r>
              <a:rPr lang="mn-MN" sz="2400" dirty="0">
                <a:solidFill>
                  <a:schemeClr val="tx1"/>
                </a:solidFill>
                <a:latin typeface="Times New Roman" panose="02020603050405020304" pitchFamily="18" charset="0"/>
                <a:cs typeface="Times New Roman" panose="02020603050405020304" pitchFamily="18" charset="0"/>
              </a:rPr>
              <a:t>Нэг өндгөө бүх өндгөө битгий хи</a:t>
            </a:r>
          </a:p>
          <a:p>
            <a:pPr algn="ctr"/>
            <a:r>
              <a:rPr lang="mn-MN" sz="3200" b="1" dirty="0">
                <a:solidFill>
                  <a:srgbClr val="0000FF"/>
                </a:solidFill>
                <a:latin typeface="Times New Roman" panose="02020603050405020304" pitchFamily="18" charset="0"/>
                <a:cs typeface="Times New Roman" panose="02020603050405020304" pitchFamily="18" charset="0"/>
              </a:rPr>
              <a:t>Нэг сагсанд өөрийн бүх өндөгийг хийж болохгүй. </a:t>
            </a:r>
          </a:p>
        </p:txBody>
      </p:sp>
    </p:spTree>
    <p:extLst>
      <p:ext uri="{BB962C8B-B14F-4D97-AF65-F5344CB8AC3E}">
        <p14:creationId xmlns:p14="http://schemas.microsoft.com/office/powerpoint/2010/main" val="3200876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353878" y="67967"/>
            <a:ext cx="11484244" cy="842521"/>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800" b="1" dirty="0">
                <a:solidFill>
                  <a:srgbClr val="002060"/>
                </a:solidFill>
                <a:latin typeface="Times New Roman" panose="02020603050405020304" pitchFamily="18" charset="0"/>
                <a:cs typeface="Times New Roman" panose="02020603050405020304" pitchFamily="18" charset="0"/>
              </a:rPr>
              <a:t>:</a:t>
            </a:r>
            <a:r>
              <a:rPr lang="mn-MN" sz="28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Хувьцааны хөрөнгө оруулалт.</a:t>
            </a:r>
            <a:br>
              <a:rPr lang="mn-MN" sz="2400" b="1" dirty="0">
                <a:solidFill>
                  <a:srgbClr val="0000FF"/>
                </a:solidFill>
                <a:latin typeface="Times New Roman" panose="02020603050405020304" pitchFamily="18" charset="0"/>
                <a:cs typeface="Times New Roman" panose="02020603050405020304" pitchFamily="18" charset="0"/>
              </a:rPr>
            </a:br>
            <a:r>
              <a:rPr lang="mn-MN" sz="2400" b="1" spc="-5" dirty="0">
                <a:solidFill>
                  <a:srgbClr val="001F5F"/>
                </a:solidFill>
                <a:highlight>
                  <a:srgbClr val="FFFF00"/>
                </a:highlight>
                <a:latin typeface="Times New Roman" panose="02020603050405020304" pitchFamily="18" charset="0"/>
                <a:cs typeface="Times New Roman" panose="02020603050405020304" pitchFamily="18" charset="0"/>
              </a:rPr>
              <a:t>ХУВЬЦАА</a:t>
            </a:r>
            <a:r>
              <a:rPr lang="mn-MN" sz="2400" b="1" spc="-15"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dirty="0">
                <a:solidFill>
                  <a:srgbClr val="001F5F"/>
                </a:solidFill>
                <a:highlight>
                  <a:srgbClr val="FFFF00"/>
                </a:highlight>
                <a:latin typeface="Times New Roman" panose="02020603050405020304" pitchFamily="18" charset="0"/>
                <a:cs typeface="Times New Roman" panose="02020603050405020304" pitchFamily="18" charset="0"/>
              </a:rPr>
              <a:t>–</a:t>
            </a:r>
            <a:r>
              <a:rPr lang="mn-MN" sz="2400" b="1" spc="-20"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dirty="0">
                <a:solidFill>
                  <a:srgbClr val="001F5F"/>
                </a:solidFill>
                <a:highlight>
                  <a:srgbClr val="FFFF00"/>
                </a:highlight>
                <a:latin typeface="Times New Roman" panose="02020603050405020304" pitchFamily="18" charset="0"/>
                <a:cs typeface="Times New Roman" panose="02020603050405020304" pitchFamily="18" charset="0"/>
              </a:rPr>
              <a:t>Бидний</a:t>
            </a:r>
            <a:r>
              <a:rPr lang="mn-MN" sz="2400" b="1" spc="-25" dirty="0">
                <a:solidFill>
                  <a:srgbClr val="001F5F"/>
                </a:solidFill>
                <a:highlight>
                  <a:srgbClr val="FFFF00"/>
                </a:highlight>
                <a:latin typeface="Times New Roman" panose="02020603050405020304" pitchFamily="18" charset="0"/>
                <a:cs typeface="Times New Roman" panose="02020603050405020304" pitchFamily="18" charset="0"/>
              </a:rPr>
              <a:t> </a:t>
            </a:r>
            <a:r>
              <a:rPr lang="mn-MN" sz="2400" b="1" spc="-10" dirty="0">
                <a:solidFill>
                  <a:srgbClr val="001F5F"/>
                </a:solidFill>
                <a:highlight>
                  <a:srgbClr val="FFFF00"/>
                </a:highlight>
                <a:latin typeface="Times New Roman" panose="02020603050405020304" pitchFamily="18" charset="0"/>
                <a:cs typeface="Times New Roman" panose="02020603050405020304" pitchFamily="18" charset="0"/>
              </a:rPr>
              <a:t>амьдралд </a:t>
            </a:r>
            <a:r>
              <a:rPr lang="en-US" sz="2400" b="1" spc="-10" dirty="0">
                <a:solidFill>
                  <a:srgbClr val="001F5F"/>
                </a:solidFill>
                <a:highlight>
                  <a:srgbClr val="FFFF00"/>
                </a:highlight>
                <a:latin typeface="Times New Roman" panose="02020603050405020304" pitchFamily="18" charset="0"/>
                <a:cs typeface="Times New Roman" panose="02020603050405020304" pitchFamily="18" charset="0"/>
              </a:rPr>
              <a:t>(</a:t>
            </a:r>
            <a:r>
              <a:rPr lang="mn-MN" sz="2400" b="1" spc="-10" dirty="0">
                <a:solidFill>
                  <a:srgbClr val="001F5F"/>
                </a:solidFill>
                <a:highlight>
                  <a:srgbClr val="FFFF00"/>
                </a:highlight>
                <a:latin typeface="Times New Roman" panose="02020603050405020304" pitchFamily="18" charset="0"/>
                <a:cs typeface="Times New Roman" panose="02020603050405020304" pitchFamily="18" charset="0"/>
              </a:rPr>
              <a:t>Ханшийн зөрүүнээс ашиг олох</a:t>
            </a:r>
            <a:r>
              <a:rPr lang="en-US" sz="2400" b="1" spc="-10" dirty="0">
                <a:solidFill>
                  <a:srgbClr val="001F5F"/>
                </a:solidFill>
                <a:highlight>
                  <a:srgbClr val="FFFF00"/>
                </a:highlight>
                <a:latin typeface="Times New Roman" panose="02020603050405020304" pitchFamily="18" charset="0"/>
                <a:cs typeface="Times New Roman" panose="02020603050405020304" pitchFamily="18" charset="0"/>
              </a:rPr>
              <a:t>)</a:t>
            </a:r>
            <a:endParaRPr lang="en-US" sz="2400" b="1" dirty="0">
              <a:solidFill>
                <a:srgbClr val="0000FF"/>
              </a:solidFill>
              <a:highlight>
                <a:srgbClr val="FFFF00"/>
              </a:highlight>
              <a:latin typeface="Times New Roman" panose="02020603050405020304" pitchFamily="18" charset="0"/>
              <a:cs typeface="Times New Roman" panose="02020603050405020304" pitchFamily="18" charset="0"/>
            </a:endParaRPr>
          </a:p>
        </p:txBody>
      </p:sp>
      <p:pic>
        <p:nvPicPr>
          <p:cNvPr id="11" name="object 10">
            <a:extLst>
              <a:ext uri="{FF2B5EF4-FFF2-40B4-BE49-F238E27FC236}">
                <a16:creationId xmlns:a16="http://schemas.microsoft.com/office/drawing/2014/main" id="{F53CAB2F-F929-4695-86DC-EDBBED22FE00}"/>
              </a:ext>
            </a:extLst>
          </p:cNvPr>
          <p:cNvPicPr/>
          <p:nvPr/>
        </p:nvPicPr>
        <p:blipFill>
          <a:blip r:embed="rId3" cstate="print"/>
          <a:stretch>
            <a:fillRect/>
          </a:stretch>
        </p:blipFill>
        <p:spPr>
          <a:xfrm>
            <a:off x="1607311" y="2560447"/>
            <a:ext cx="4173092" cy="1351279"/>
          </a:xfrm>
          <a:prstGeom prst="rect">
            <a:avLst/>
          </a:prstGeom>
        </p:spPr>
      </p:pic>
      <p:graphicFrame>
        <p:nvGraphicFramePr>
          <p:cNvPr id="12" name="object 11">
            <a:extLst>
              <a:ext uri="{FF2B5EF4-FFF2-40B4-BE49-F238E27FC236}">
                <a16:creationId xmlns:a16="http://schemas.microsoft.com/office/drawing/2014/main" id="{C29FA546-992E-4361-955C-983D5B3E53D0}"/>
              </a:ext>
            </a:extLst>
          </p:cNvPr>
          <p:cNvGraphicFramePr>
            <a:graphicFrameLocks noGrp="1"/>
          </p:cNvGraphicFramePr>
          <p:nvPr>
            <p:extLst>
              <p:ext uri="{D42A27DB-BD31-4B8C-83A1-F6EECF244321}">
                <p14:modId xmlns:p14="http://schemas.microsoft.com/office/powerpoint/2010/main" val="2876160150"/>
              </p:ext>
            </p:extLst>
          </p:nvPr>
        </p:nvGraphicFramePr>
        <p:xfrm>
          <a:off x="638320" y="2292180"/>
          <a:ext cx="5013825" cy="3785713"/>
        </p:xfrm>
        <a:graphic>
          <a:graphicData uri="http://schemas.openxmlformats.org/drawingml/2006/table">
            <a:tbl>
              <a:tblPr firstRow="1" bandRow="1">
                <a:tableStyleId>{2D5ABB26-0587-4C30-8999-92F81FD0307C}</a:tableStyleId>
              </a:tblPr>
              <a:tblGrid>
                <a:gridCol w="887658">
                  <a:extLst>
                    <a:ext uri="{9D8B030D-6E8A-4147-A177-3AD203B41FA5}">
                      <a16:colId xmlns:a16="http://schemas.microsoft.com/office/drawing/2014/main" val="20000"/>
                    </a:ext>
                  </a:extLst>
                </a:gridCol>
                <a:gridCol w="2052775">
                  <a:extLst>
                    <a:ext uri="{9D8B030D-6E8A-4147-A177-3AD203B41FA5}">
                      <a16:colId xmlns:a16="http://schemas.microsoft.com/office/drawing/2014/main" val="20001"/>
                    </a:ext>
                  </a:extLst>
                </a:gridCol>
                <a:gridCol w="2073392">
                  <a:extLst>
                    <a:ext uri="{9D8B030D-6E8A-4147-A177-3AD203B41FA5}">
                      <a16:colId xmlns:a16="http://schemas.microsoft.com/office/drawing/2014/main" val="20002"/>
                    </a:ext>
                  </a:extLst>
                </a:gridCol>
              </a:tblGrid>
              <a:tr h="289560">
                <a:tc rowSpan="2">
                  <a:txBody>
                    <a:bodyPr/>
                    <a:lstStyle/>
                    <a:p>
                      <a:pPr>
                        <a:lnSpc>
                          <a:spcPct val="100000"/>
                        </a:lnSpc>
                      </a:pPr>
                      <a:endParaRPr sz="2400" dirty="0">
                        <a:latin typeface="Times New Roman" panose="02020603050405020304" pitchFamily="18" charset="0"/>
                        <a:cs typeface="Times New Roman" panose="02020603050405020304" pitchFamily="18" charset="0"/>
                      </a:endParaRPr>
                    </a:p>
                    <a:p>
                      <a:pPr>
                        <a:lnSpc>
                          <a:spcPct val="100000"/>
                        </a:lnSpc>
                        <a:spcBef>
                          <a:spcPts val="35"/>
                        </a:spcBef>
                      </a:pPr>
                      <a:endParaRPr sz="2000" dirty="0">
                        <a:latin typeface="Times New Roman" panose="02020603050405020304" pitchFamily="18" charset="0"/>
                        <a:cs typeface="Times New Roman" panose="02020603050405020304" pitchFamily="18" charset="0"/>
                      </a:endParaRPr>
                    </a:p>
                    <a:p>
                      <a:pPr marL="299720">
                        <a:lnSpc>
                          <a:spcPct val="100000"/>
                        </a:lnSpc>
                      </a:pPr>
                      <a:r>
                        <a:rPr sz="2400" b="1" spc="-5" dirty="0">
                          <a:latin typeface="Times New Roman" panose="02020603050405020304" pitchFamily="18" charset="0"/>
                          <a:cs typeface="Times New Roman" panose="02020603050405020304" pitchFamily="18" charset="0"/>
                        </a:rPr>
                        <a:t>Он</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gn="ctr">
                        <a:lnSpc>
                          <a:spcPts val="2160"/>
                        </a:lnSpc>
                      </a:pPr>
                      <a:r>
                        <a:rPr sz="2400" b="1" spc="-10" dirty="0">
                          <a:latin typeface="Palatino Linotype"/>
                          <a:cs typeface="Palatino Linotype"/>
                        </a:rPr>
                        <a:t>Хувьцаа</a:t>
                      </a:r>
                      <a:endParaRPr sz="2400">
                        <a:latin typeface="Palatino Linotype"/>
                        <a:cs typeface="Palatino Linotype"/>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1061719">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40"/>
                        </a:spcBef>
                      </a:pPr>
                      <a:r>
                        <a:rPr sz="2400" spc="-5" dirty="0">
                          <a:latin typeface="Times New Roman" panose="02020603050405020304" pitchFamily="18" charset="0"/>
                          <a:cs typeface="Times New Roman" panose="02020603050405020304" pitchFamily="18" charset="0"/>
                        </a:rPr>
                        <a:t>“Сүү”</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ХК-ийн</a:t>
                      </a:r>
                      <a:endParaRPr sz="2400" dirty="0">
                        <a:latin typeface="Times New Roman" panose="02020603050405020304" pitchFamily="18" charset="0"/>
                        <a:cs typeface="Times New Roman" panose="02020603050405020304" pitchFamily="18" charset="0"/>
                      </a:endParaRPr>
                    </a:p>
                    <a:p>
                      <a:pPr marL="306070" marR="299720" algn="ctr">
                        <a:lnSpc>
                          <a:spcPct val="100000"/>
                        </a:lnSpc>
                      </a:pPr>
                      <a:r>
                        <a:rPr sz="2400" dirty="0">
                          <a:latin typeface="Times New Roman" panose="02020603050405020304" pitchFamily="18" charset="0"/>
                          <a:cs typeface="Times New Roman" panose="02020603050405020304" pitchFamily="18" charset="0"/>
                        </a:rPr>
                        <a:t>х</a:t>
                      </a:r>
                      <a:r>
                        <a:rPr sz="2400" spc="-10" dirty="0">
                          <a:latin typeface="Times New Roman" panose="02020603050405020304" pitchFamily="18" charset="0"/>
                          <a:cs typeface="Times New Roman" panose="02020603050405020304" pitchFamily="18" charset="0"/>
                        </a:rPr>
                        <a:t>у</a:t>
                      </a:r>
                      <a:r>
                        <a:rPr sz="2400" dirty="0">
                          <a:latin typeface="Times New Roman" panose="02020603050405020304" pitchFamily="18" charset="0"/>
                          <a:cs typeface="Times New Roman" panose="02020603050405020304" pitchFamily="18" charset="0"/>
                        </a:rPr>
                        <a:t>вьцаа</a:t>
                      </a:r>
                      <a:r>
                        <a:rPr sz="2400" spc="-10" dirty="0">
                          <a:latin typeface="Times New Roman" panose="02020603050405020304" pitchFamily="18" charset="0"/>
                          <a:cs typeface="Times New Roman" panose="02020603050405020304" pitchFamily="18" charset="0"/>
                        </a:rPr>
                        <a:t>н</a:t>
                      </a:r>
                      <a:r>
                        <a:rPr sz="2400" dirty="0">
                          <a:latin typeface="Times New Roman" panose="02020603050405020304" pitchFamily="18" charset="0"/>
                          <a:cs typeface="Times New Roman" panose="02020603050405020304" pitchFamily="18" charset="0"/>
                        </a:rPr>
                        <a:t>ы  </a:t>
                      </a:r>
                      <a:r>
                        <a:rPr sz="2400" spc="-5" dirty="0">
                          <a:latin typeface="Times New Roman" panose="02020603050405020304" pitchFamily="18" charset="0"/>
                          <a:cs typeface="Times New Roman" panose="02020603050405020304" pitchFamily="18" charset="0"/>
                        </a:rPr>
                        <a:t>ханш</a:t>
                      </a:r>
                      <a:endParaRPr sz="2400" dirty="0">
                        <a:latin typeface="Times New Roman" panose="02020603050405020304" pitchFamily="18" charset="0"/>
                        <a:cs typeface="Times New Roman" panose="02020603050405020304" pitchFamily="18" charset="0"/>
                      </a:endParaRPr>
                    </a:p>
                  </a:txBody>
                  <a:tcPr marL="0" marR="0" marT="812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dirty="0">
                        <a:latin typeface="Times New Roman" panose="02020603050405020304" pitchFamily="18" charset="0"/>
                        <a:cs typeface="Times New Roman" panose="02020603050405020304" pitchFamily="18" charset="0"/>
                      </a:endParaRPr>
                    </a:p>
                    <a:p>
                      <a:pPr marL="393700" marR="112395" indent="-274320">
                        <a:lnSpc>
                          <a:spcPct val="100000"/>
                        </a:lnSpc>
                      </a:pPr>
                      <a:r>
                        <a:rPr sz="2400" dirty="0">
                          <a:latin typeface="Times New Roman" panose="02020603050405020304" pitchFamily="18" charset="0"/>
                          <a:cs typeface="Times New Roman" panose="02020603050405020304" pitchFamily="18" charset="0"/>
                        </a:rPr>
                        <a:t>М</a:t>
                      </a:r>
                      <a:r>
                        <a:rPr sz="2400" spc="-15" dirty="0">
                          <a:latin typeface="Times New Roman" panose="02020603050405020304" pitchFamily="18" charset="0"/>
                          <a:cs typeface="Times New Roman" panose="02020603050405020304" pitchFamily="18" charset="0"/>
                        </a:rPr>
                        <a:t>ө</a:t>
                      </a:r>
                      <a:r>
                        <a:rPr sz="2400" spc="-5" dirty="0">
                          <a:latin typeface="Times New Roman" panose="02020603050405020304" pitchFamily="18" charset="0"/>
                          <a:cs typeface="Times New Roman" panose="02020603050405020304" pitchFamily="18" charset="0"/>
                        </a:rPr>
                        <a:t>нг</a:t>
                      </a:r>
                      <a:r>
                        <a:rPr sz="2400" spc="-15" dirty="0">
                          <a:latin typeface="Times New Roman" panose="02020603050405020304" pitchFamily="18" charset="0"/>
                          <a:cs typeface="Times New Roman" panose="02020603050405020304" pitchFamily="18" charset="0"/>
                        </a:rPr>
                        <a:t>ө</a:t>
                      </a:r>
                      <a:r>
                        <a:rPr sz="2400" spc="-5" dirty="0">
                          <a:latin typeface="Times New Roman" panose="02020603050405020304" pitchFamily="18" charset="0"/>
                          <a:cs typeface="Times New Roman" panose="02020603050405020304" pitchFamily="18" charset="0"/>
                        </a:rPr>
                        <a:t>ний  </a:t>
                      </a:r>
                      <a:r>
                        <a:rPr sz="2400" spc="-10" dirty="0">
                          <a:latin typeface="Times New Roman" panose="02020603050405020304" pitchFamily="18" charset="0"/>
                          <a:cs typeface="Times New Roman" panose="02020603050405020304" pitchFamily="18" charset="0"/>
                        </a:rPr>
                        <a:t>өсөлт</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89560">
                <a:tc>
                  <a:txBody>
                    <a:bodyPr/>
                    <a:lstStyle/>
                    <a:p>
                      <a:pPr marL="240029">
                        <a:lnSpc>
                          <a:spcPts val="2165"/>
                        </a:lnSpc>
                      </a:pPr>
                      <a:r>
                        <a:rPr sz="2400" spc="-5" dirty="0">
                          <a:latin typeface="Times New Roman" panose="02020603050405020304" pitchFamily="18" charset="0"/>
                          <a:cs typeface="Times New Roman" panose="02020603050405020304" pitchFamily="18" charset="0"/>
                        </a:rPr>
                        <a:t>2008</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1,000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1,000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89560">
                <a:tc>
                  <a:txBody>
                    <a:bodyPr/>
                    <a:lstStyle/>
                    <a:p>
                      <a:pPr marL="240029">
                        <a:lnSpc>
                          <a:spcPts val="2165"/>
                        </a:lnSpc>
                      </a:pPr>
                      <a:r>
                        <a:rPr sz="2400" spc="-5" dirty="0">
                          <a:latin typeface="Times New Roman" panose="02020603050405020304" pitchFamily="18" charset="0"/>
                          <a:cs typeface="Times New Roman" panose="02020603050405020304" pitchFamily="18" charset="0"/>
                        </a:rPr>
                        <a:t>2009</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4,000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4,000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89559">
                <a:tc>
                  <a:txBody>
                    <a:bodyPr/>
                    <a:lstStyle/>
                    <a:p>
                      <a:pPr marL="240029">
                        <a:lnSpc>
                          <a:spcPts val="2165"/>
                        </a:lnSpc>
                      </a:pPr>
                      <a:r>
                        <a:rPr sz="2400" spc="-10" dirty="0">
                          <a:latin typeface="Times New Roman" panose="02020603050405020304" pitchFamily="18" charset="0"/>
                          <a:cs typeface="Times New Roman" panose="02020603050405020304" pitchFamily="18" charset="0"/>
                        </a:rPr>
                        <a:t>2010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16,000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16,000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89560">
                <a:tc>
                  <a:txBody>
                    <a:bodyPr/>
                    <a:lstStyle/>
                    <a:p>
                      <a:pPr marL="240029">
                        <a:lnSpc>
                          <a:spcPts val="2165"/>
                        </a:lnSpc>
                      </a:pPr>
                      <a:r>
                        <a:rPr sz="2400" spc="-5" dirty="0">
                          <a:latin typeface="Times New Roman" panose="02020603050405020304" pitchFamily="18" charset="0"/>
                          <a:cs typeface="Times New Roman" panose="02020603050405020304" pitchFamily="18" charset="0"/>
                        </a:rPr>
                        <a:t>2011</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70,000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70,000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89559">
                <a:tc>
                  <a:txBody>
                    <a:bodyPr/>
                    <a:lstStyle/>
                    <a:p>
                      <a:pPr marL="240029">
                        <a:lnSpc>
                          <a:spcPts val="2165"/>
                        </a:lnSpc>
                      </a:pPr>
                      <a:r>
                        <a:rPr sz="2400" spc="-5" dirty="0">
                          <a:latin typeface="Times New Roman" panose="02020603050405020304" pitchFamily="18" charset="0"/>
                          <a:cs typeface="Times New Roman" panose="02020603050405020304" pitchFamily="18" charset="0"/>
                        </a:rPr>
                        <a:t>2012</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80,000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80,000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89534">
                <a:tc>
                  <a:txBody>
                    <a:bodyPr/>
                    <a:lstStyle/>
                    <a:p>
                      <a:pPr marL="240029">
                        <a:lnSpc>
                          <a:spcPts val="2165"/>
                        </a:lnSpc>
                      </a:pPr>
                      <a:r>
                        <a:rPr sz="2400" spc="-5" dirty="0">
                          <a:latin typeface="Times New Roman" panose="02020603050405020304" pitchFamily="18" charset="0"/>
                          <a:cs typeface="Times New Roman" panose="02020603050405020304" pitchFamily="18" charset="0"/>
                        </a:rPr>
                        <a:t>2013</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89,520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89,520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289559">
                <a:tc>
                  <a:txBody>
                    <a:bodyPr/>
                    <a:lstStyle/>
                    <a:p>
                      <a:pPr marL="240029">
                        <a:lnSpc>
                          <a:spcPts val="2165"/>
                        </a:lnSpc>
                      </a:pPr>
                      <a:r>
                        <a:rPr sz="2400" spc="-5" dirty="0">
                          <a:latin typeface="Times New Roman" panose="02020603050405020304" pitchFamily="18" charset="0"/>
                          <a:cs typeface="Times New Roman" panose="02020603050405020304" pitchFamily="18" charset="0"/>
                        </a:rPr>
                        <a:t>2014</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126,500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65"/>
                        </a:lnSpc>
                      </a:pPr>
                      <a:r>
                        <a:rPr sz="2400" spc="-5" dirty="0">
                          <a:latin typeface="Times New Roman" panose="02020603050405020304" pitchFamily="18" charset="0"/>
                          <a:cs typeface="Times New Roman" panose="02020603050405020304" pitchFamily="18" charset="0"/>
                        </a:rPr>
                        <a:t>126,500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9559">
                <a:tc>
                  <a:txBody>
                    <a:bodyPr/>
                    <a:lstStyle/>
                    <a:p>
                      <a:pPr marL="240029">
                        <a:lnSpc>
                          <a:spcPts val="2170"/>
                        </a:lnSpc>
                      </a:pPr>
                      <a:r>
                        <a:rPr sz="2400" spc="-5" dirty="0">
                          <a:latin typeface="Times New Roman" panose="02020603050405020304" pitchFamily="18" charset="0"/>
                          <a:cs typeface="Times New Roman" panose="02020603050405020304" pitchFamily="18" charset="0"/>
                        </a:rPr>
                        <a:t>2018</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ts val="2170"/>
                        </a:lnSpc>
                      </a:pPr>
                      <a:r>
                        <a:rPr sz="2400" spc="-5" dirty="0">
                          <a:latin typeface="Times New Roman" panose="02020603050405020304" pitchFamily="18" charset="0"/>
                          <a:cs typeface="Times New Roman" panose="02020603050405020304" pitchFamily="18" charset="0"/>
                        </a:rPr>
                        <a:t>200*1000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170"/>
                        </a:lnSpc>
                      </a:pPr>
                      <a:r>
                        <a:rPr sz="2400" spc="-5" dirty="0">
                          <a:latin typeface="Times New Roman" panose="02020603050405020304" pitchFamily="18" charset="0"/>
                          <a:cs typeface="Times New Roman" panose="02020603050405020304" pitchFamily="18" charset="0"/>
                        </a:rPr>
                        <a:t>200,000</a:t>
                      </a:r>
                      <a:endParaRPr sz="240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sp>
        <p:nvSpPr>
          <p:cNvPr id="13" name="object 12">
            <a:extLst>
              <a:ext uri="{FF2B5EF4-FFF2-40B4-BE49-F238E27FC236}">
                <a16:creationId xmlns:a16="http://schemas.microsoft.com/office/drawing/2014/main" id="{1577B44F-BC1C-4C5B-A385-92BF77B6C5DF}"/>
              </a:ext>
            </a:extLst>
          </p:cNvPr>
          <p:cNvSpPr txBox="1">
            <a:spLocks/>
          </p:cNvSpPr>
          <p:nvPr/>
        </p:nvSpPr>
        <p:spPr>
          <a:xfrm>
            <a:off x="638320" y="963397"/>
            <a:ext cx="10826115" cy="1121461"/>
          </a:xfrm>
          <a:prstGeom prst="rect">
            <a:avLst/>
          </a:prstGeom>
        </p:spPr>
        <p:txBody>
          <a:bodyPr vert="horz" wrap="square" lIns="0" tIns="13335"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080" indent="0" algn="just">
              <a:lnSpc>
                <a:spcPct val="100000"/>
              </a:lnSpc>
              <a:spcBef>
                <a:spcPts val="105"/>
              </a:spcBef>
              <a:buNone/>
            </a:pPr>
            <a:r>
              <a:rPr lang="mn-MN" sz="2400" b="1" dirty="0">
                <a:latin typeface="Times New Roman" panose="02020603050405020304" pitchFamily="18" charset="0"/>
                <a:cs typeface="Times New Roman" panose="02020603050405020304" pitchFamily="18" charset="0"/>
              </a:rPr>
              <a:t>“Сүү” </a:t>
            </a:r>
            <a:r>
              <a:rPr lang="mn-MN" sz="2400" b="1" spc="-35" dirty="0">
                <a:latin typeface="Times New Roman" panose="02020603050405020304" pitchFamily="18" charset="0"/>
                <a:cs typeface="Times New Roman" panose="02020603050405020304" pitchFamily="18" charset="0"/>
              </a:rPr>
              <a:t>ХК-ийн </a:t>
            </a:r>
            <a:r>
              <a:rPr lang="mn-MN" sz="2400" b="1" spc="-10" dirty="0">
                <a:latin typeface="Times New Roman" panose="02020603050405020304" pitchFamily="18" charset="0"/>
                <a:cs typeface="Times New Roman" panose="02020603050405020304" pitchFamily="18" charset="0"/>
              </a:rPr>
              <a:t>жишээн </a:t>
            </a:r>
            <a:r>
              <a:rPr lang="mn-MN" sz="2400" b="1" spc="10" dirty="0">
                <a:latin typeface="Times New Roman" panose="02020603050405020304" pitchFamily="18" charset="0"/>
                <a:cs typeface="Times New Roman" panose="02020603050405020304" pitchFamily="18" charset="0"/>
              </a:rPr>
              <a:t>дээр </a:t>
            </a:r>
            <a:r>
              <a:rPr lang="mn-MN" sz="2400" spc="-10" dirty="0">
                <a:latin typeface="Times New Roman" panose="02020603050405020304" pitchFamily="18" charset="0"/>
                <a:cs typeface="Times New Roman" panose="02020603050405020304" pitchFamily="18" charset="0"/>
              </a:rPr>
              <a:t>харвал </a:t>
            </a:r>
            <a:r>
              <a:rPr lang="mn-MN" sz="2400" dirty="0">
                <a:latin typeface="Times New Roman" panose="02020603050405020304" pitchFamily="18" charset="0"/>
                <a:cs typeface="Times New Roman" panose="02020603050405020304" pitchFamily="18" charset="0"/>
              </a:rPr>
              <a:t>сүүлийн 10 </a:t>
            </a:r>
            <a:r>
              <a:rPr lang="mn-MN" sz="2400" spc="-15" dirty="0">
                <a:latin typeface="Times New Roman" panose="02020603050405020304" pitchFamily="18" charset="0"/>
                <a:cs typeface="Times New Roman" panose="02020603050405020304" pitchFamily="18" charset="0"/>
              </a:rPr>
              <a:t>жилийн </a:t>
            </a:r>
            <a:r>
              <a:rPr lang="mn-MN" sz="2400" spc="-20" dirty="0">
                <a:latin typeface="Times New Roman" panose="02020603050405020304" pitchFamily="18" charset="0"/>
                <a:cs typeface="Times New Roman" panose="02020603050405020304" pitchFamily="18" charset="0"/>
              </a:rPr>
              <a:t>дотор </a:t>
            </a:r>
            <a:r>
              <a:rPr lang="mn-MN" sz="2400" spc="-5" dirty="0">
                <a:latin typeface="Times New Roman" panose="02020603050405020304" pitchFamily="18" charset="0"/>
                <a:cs typeface="Times New Roman" panose="02020603050405020304" pitchFamily="18" charset="0"/>
              </a:rPr>
              <a:t>200 </a:t>
            </a:r>
            <a:r>
              <a:rPr lang="mn-MN" sz="2400" spc="-10" dirty="0">
                <a:latin typeface="Times New Roman" panose="02020603050405020304" pitchFamily="18" charset="0"/>
                <a:cs typeface="Times New Roman" panose="02020603050405020304" pitchFamily="18" charset="0"/>
              </a:rPr>
              <a:t>дахин </a:t>
            </a:r>
            <a:r>
              <a:rPr lang="mn-MN" sz="2400" spc="-15" dirty="0">
                <a:latin typeface="Times New Roman" panose="02020603050405020304" pitchFamily="18" charset="0"/>
                <a:cs typeface="Times New Roman" panose="02020603050405020304" pitchFamily="18" charset="0"/>
              </a:rPr>
              <a:t>буюу </a:t>
            </a:r>
            <a:r>
              <a:rPr lang="mn-MN" sz="2400" spc="-5" dirty="0">
                <a:latin typeface="Times New Roman" panose="02020603050405020304" pitchFamily="18" charset="0"/>
                <a:cs typeface="Times New Roman" panose="02020603050405020304" pitchFamily="18" charset="0"/>
              </a:rPr>
              <a:t>20,000 </a:t>
            </a:r>
            <a:r>
              <a:rPr lang="mn-MN" sz="2400" spc="-10" dirty="0">
                <a:latin typeface="Times New Roman" panose="02020603050405020304" pitchFamily="18" charset="0"/>
                <a:cs typeface="Times New Roman" panose="02020603050405020304" pitchFamily="18" charset="0"/>
              </a:rPr>
              <a:t>хувь </a:t>
            </a:r>
            <a:r>
              <a:rPr lang="mn-MN" sz="2400" spc="-5" dirty="0">
                <a:latin typeface="Times New Roman" panose="02020603050405020304" pitchFamily="18" charset="0"/>
                <a:cs typeface="Times New Roman" panose="02020603050405020304" pitchFamily="18" charset="0"/>
              </a:rPr>
              <a:t> өссөн </a:t>
            </a:r>
            <a:r>
              <a:rPr lang="mn-MN" sz="2400" spc="-15" dirty="0">
                <a:latin typeface="Times New Roman" panose="02020603050405020304" pitchFamily="18" charset="0"/>
                <a:cs typeface="Times New Roman" panose="02020603050405020304" pitchFamily="18" charset="0"/>
              </a:rPr>
              <a:t>байна. </a:t>
            </a:r>
            <a:r>
              <a:rPr lang="mn-MN" sz="2400" dirty="0">
                <a:latin typeface="Times New Roman" panose="02020603050405020304" pitchFamily="18" charset="0"/>
                <a:cs typeface="Times New Roman" panose="02020603050405020304" pitchFamily="18" charset="0"/>
              </a:rPr>
              <a:t>2008 </a:t>
            </a:r>
            <a:r>
              <a:rPr lang="mn-MN" sz="2400" spc="-5" dirty="0">
                <a:latin typeface="Times New Roman" panose="02020603050405020304" pitchFamily="18" charset="0"/>
                <a:cs typeface="Times New Roman" panose="02020603050405020304" pitchFamily="18" charset="0"/>
              </a:rPr>
              <a:t>онд </a:t>
            </a:r>
            <a:r>
              <a:rPr lang="mn-MN" sz="2400" dirty="0">
                <a:latin typeface="Times New Roman" panose="02020603050405020304" pitchFamily="18" charset="0"/>
                <a:cs typeface="Times New Roman" panose="02020603050405020304" pitchFamily="18" charset="0"/>
              </a:rPr>
              <a:t>1 сая </a:t>
            </a:r>
            <a:r>
              <a:rPr lang="mn-MN" sz="2400" spc="-15" dirty="0">
                <a:latin typeface="Times New Roman" panose="02020603050405020304" pitchFamily="18" charset="0"/>
                <a:cs typeface="Times New Roman" panose="02020603050405020304" pitchFamily="18" charset="0"/>
              </a:rPr>
              <a:t>төгрөгөөр </a:t>
            </a:r>
            <a:r>
              <a:rPr lang="mn-MN" sz="2400" dirty="0">
                <a:latin typeface="Times New Roman" panose="02020603050405020304" pitchFamily="18" charset="0"/>
                <a:cs typeface="Times New Roman" panose="02020603050405020304" pitchFamily="18" charset="0"/>
              </a:rPr>
              <a:t>1,000 </a:t>
            </a:r>
            <a:r>
              <a:rPr lang="mn-MN" sz="2400" spc="-15" dirty="0">
                <a:latin typeface="Times New Roman" panose="02020603050405020304" pitchFamily="18" charset="0"/>
                <a:cs typeface="Times New Roman" panose="02020603050405020304" pitchFamily="18" charset="0"/>
              </a:rPr>
              <a:t>ширхэг </a:t>
            </a:r>
            <a:r>
              <a:rPr lang="mn-MN" sz="2400" spc="-5" dirty="0">
                <a:latin typeface="Times New Roman" panose="02020603050405020304" pitchFamily="18" charset="0"/>
                <a:cs typeface="Times New Roman" panose="02020603050405020304" pitchFamily="18" charset="0"/>
              </a:rPr>
              <a:t>хувьцаа </a:t>
            </a:r>
            <a:r>
              <a:rPr lang="mn-MN" sz="2400" spc="-10" dirty="0">
                <a:latin typeface="Times New Roman" panose="02020603050405020304" pitchFamily="18" charset="0"/>
                <a:cs typeface="Times New Roman" panose="02020603050405020304" pitchFamily="18" charset="0"/>
              </a:rPr>
              <a:t>авсан </a:t>
            </a:r>
            <a:r>
              <a:rPr lang="mn-MN" sz="2400" spc="-5" dirty="0">
                <a:latin typeface="Times New Roman" panose="02020603050405020304" pitchFamily="18" charset="0"/>
                <a:cs typeface="Times New Roman" panose="02020603050405020304" pitchFamily="18" charset="0"/>
              </a:rPr>
              <a:t>бол </a:t>
            </a:r>
            <a:r>
              <a:rPr lang="mn-MN" sz="2400" spc="-10" dirty="0">
                <a:latin typeface="Times New Roman" panose="02020603050405020304" pitchFamily="18" charset="0"/>
                <a:cs typeface="Times New Roman" panose="02020603050405020304" pitchFamily="18" charset="0"/>
              </a:rPr>
              <a:t>өнөөдөр </a:t>
            </a:r>
            <a:r>
              <a:rPr lang="mn-MN" sz="2400" dirty="0">
                <a:latin typeface="Times New Roman" panose="02020603050405020304" pitchFamily="18" charset="0"/>
                <a:cs typeface="Times New Roman" panose="02020603050405020304" pitchFamily="18" charset="0"/>
              </a:rPr>
              <a:t>200 сая </a:t>
            </a:r>
            <a:r>
              <a:rPr lang="mn-MN" sz="2400" spc="5" dirty="0">
                <a:latin typeface="Times New Roman" panose="02020603050405020304" pitchFamily="18" charset="0"/>
                <a:cs typeface="Times New Roman" panose="02020603050405020304" pitchFamily="18" charset="0"/>
              </a:rPr>
              <a:t> </a:t>
            </a:r>
            <a:r>
              <a:rPr lang="mn-MN" sz="2400" spc="-5" dirty="0">
                <a:latin typeface="Times New Roman" panose="02020603050405020304" pitchFamily="18" charset="0"/>
                <a:cs typeface="Times New Roman" panose="02020603050405020304" pitchFamily="18" charset="0"/>
              </a:rPr>
              <a:t>төгрөгтэй</a:t>
            </a:r>
            <a:r>
              <a:rPr lang="mn-MN" sz="2400" spc="-10" dirty="0">
                <a:latin typeface="Times New Roman" panose="02020603050405020304" pitchFamily="18" charset="0"/>
                <a:cs typeface="Times New Roman" panose="02020603050405020304" pitchFamily="18" charset="0"/>
              </a:rPr>
              <a:t> </a:t>
            </a:r>
            <a:r>
              <a:rPr lang="mn-MN" sz="2400" spc="-5" dirty="0">
                <a:latin typeface="Times New Roman" panose="02020603050405020304" pitchFamily="18" charset="0"/>
                <a:cs typeface="Times New Roman" panose="02020603050405020304" pitchFamily="18" charset="0"/>
              </a:rPr>
              <a:t>болох</a:t>
            </a:r>
            <a:r>
              <a:rPr lang="mn-MN" sz="2400" spc="15" dirty="0">
                <a:latin typeface="Times New Roman" panose="02020603050405020304" pitchFamily="18" charset="0"/>
                <a:cs typeface="Times New Roman" panose="02020603050405020304" pitchFamily="18" charset="0"/>
              </a:rPr>
              <a:t> </a:t>
            </a:r>
            <a:r>
              <a:rPr lang="mn-MN" sz="2400" spc="-15" dirty="0">
                <a:latin typeface="Times New Roman" panose="02020603050405020304" pitchFamily="18" charset="0"/>
                <a:cs typeface="Times New Roman" panose="02020603050405020304" pitchFamily="18" charset="0"/>
              </a:rPr>
              <a:t>байжээ.</a:t>
            </a:r>
            <a:endParaRPr lang="mn-MN" sz="2400" dirty="0">
              <a:latin typeface="Times New Roman" panose="02020603050405020304" pitchFamily="18" charset="0"/>
              <a:cs typeface="Times New Roman" panose="02020603050405020304" pitchFamily="18" charset="0"/>
            </a:endParaRPr>
          </a:p>
        </p:txBody>
      </p:sp>
      <p:grpSp>
        <p:nvGrpSpPr>
          <p:cNvPr id="14" name="object 13">
            <a:extLst>
              <a:ext uri="{FF2B5EF4-FFF2-40B4-BE49-F238E27FC236}">
                <a16:creationId xmlns:a16="http://schemas.microsoft.com/office/drawing/2014/main" id="{E488704A-5E12-4B69-ABFB-9F512489569B}"/>
              </a:ext>
            </a:extLst>
          </p:cNvPr>
          <p:cNvGrpSpPr/>
          <p:nvPr/>
        </p:nvGrpSpPr>
        <p:grpSpPr>
          <a:xfrm>
            <a:off x="6473260" y="3019044"/>
            <a:ext cx="4468009" cy="2190115"/>
            <a:chOff x="7088123" y="3019044"/>
            <a:chExt cx="3775075" cy="2190115"/>
          </a:xfrm>
        </p:grpSpPr>
        <p:sp>
          <p:nvSpPr>
            <p:cNvPr id="15" name="object 14">
              <a:extLst>
                <a:ext uri="{FF2B5EF4-FFF2-40B4-BE49-F238E27FC236}">
                  <a16:creationId xmlns:a16="http://schemas.microsoft.com/office/drawing/2014/main" id="{7140D2AB-3095-43D9-A303-67702218B064}"/>
                </a:ext>
              </a:extLst>
            </p:cNvPr>
            <p:cNvSpPr/>
            <p:nvPr/>
          </p:nvSpPr>
          <p:spPr>
            <a:xfrm>
              <a:off x="7106411" y="3019044"/>
              <a:ext cx="3738879" cy="2184400"/>
            </a:xfrm>
            <a:custGeom>
              <a:avLst/>
              <a:gdLst/>
              <a:ahLst/>
              <a:cxnLst/>
              <a:rect l="l" t="t" r="r" b="b"/>
              <a:pathLst>
                <a:path w="3738879" h="2184400">
                  <a:moveTo>
                    <a:pt x="0" y="2183891"/>
                  </a:moveTo>
                  <a:lnTo>
                    <a:pt x="0" y="0"/>
                  </a:lnTo>
                </a:path>
                <a:path w="3738879" h="2184400">
                  <a:moveTo>
                    <a:pt x="0" y="2183891"/>
                  </a:moveTo>
                  <a:lnTo>
                    <a:pt x="3738372" y="2183891"/>
                  </a:lnTo>
                </a:path>
              </a:pathLst>
            </a:custGeom>
            <a:ln w="12192">
              <a:solidFill>
                <a:srgbClr val="7A7A7A"/>
              </a:solidFill>
            </a:ln>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sp>
          <p:nvSpPr>
            <p:cNvPr id="16" name="object 15">
              <a:extLst>
                <a:ext uri="{FF2B5EF4-FFF2-40B4-BE49-F238E27FC236}">
                  <a16:creationId xmlns:a16="http://schemas.microsoft.com/office/drawing/2014/main" id="{8EE6B1EE-6454-4CEB-B225-53F08B3062F5}"/>
                </a:ext>
              </a:extLst>
            </p:cNvPr>
            <p:cNvSpPr/>
            <p:nvPr/>
          </p:nvSpPr>
          <p:spPr>
            <a:xfrm>
              <a:off x="7107173" y="3228594"/>
              <a:ext cx="3736975" cy="1960245"/>
            </a:xfrm>
            <a:custGeom>
              <a:avLst/>
              <a:gdLst/>
              <a:ahLst/>
              <a:cxnLst/>
              <a:rect l="l" t="t" r="r" b="b"/>
              <a:pathLst>
                <a:path w="3736975" h="1960245">
                  <a:moveTo>
                    <a:pt x="0" y="1959863"/>
                  </a:moveTo>
                  <a:lnTo>
                    <a:pt x="97535" y="1956815"/>
                  </a:lnTo>
                  <a:lnTo>
                    <a:pt x="108203" y="1953767"/>
                  </a:lnTo>
                  <a:lnTo>
                    <a:pt x="149351" y="1953767"/>
                  </a:lnTo>
                  <a:lnTo>
                    <a:pt x="156972" y="1952243"/>
                  </a:lnTo>
                  <a:lnTo>
                    <a:pt x="161544" y="1947671"/>
                  </a:lnTo>
                  <a:lnTo>
                    <a:pt x="178307" y="1944623"/>
                  </a:lnTo>
                  <a:lnTo>
                    <a:pt x="269748" y="1940051"/>
                  </a:lnTo>
                  <a:lnTo>
                    <a:pt x="301751" y="1940051"/>
                  </a:lnTo>
                  <a:lnTo>
                    <a:pt x="359664" y="1940051"/>
                  </a:lnTo>
                  <a:lnTo>
                    <a:pt x="364235" y="1940051"/>
                  </a:lnTo>
                  <a:lnTo>
                    <a:pt x="365759" y="1940051"/>
                  </a:lnTo>
                  <a:lnTo>
                    <a:pt x="429768" y="1940051"/>
                  </a:lnTo>
                  <a:lnTo>
                    <a:pt x="461772" y="1938527"/>
                  </a:lnTo>
                  <a:lnTo>
                    <a:pt x="582168" y="1933955"/>
                  </a:lnTo>
                  <a:lnTo>
                    <a:pt x="583692" y="1927859"/>
                  </a:lnTo>
                  <a:lnTo>
                    <a:pt x="585216" y="1921763"/>
                  </a:lnTo>
                  <a:lnTo>
                    <a:pt x="588264" y="1912619"/>
                  </a:lnTo>
                  <a:lnTo>
                    <a:pt x="597407" y="1903475"/>
                  </a:lnTo>
                  <a:lnTo>
                    <a:pt x="633983" y="1914143"/>
                  </a:lnTo>
                  <a:lnTo>
                    <a:pt x="702564" y="1914143"/>
                  </a:lnTo>
                  <a:lnTo>
                    <a:pt x="749807" y="1914143"/>
                  </a:lnTo>
                  <a:lnTo>
                    <a:pt x="766572" y="1914143"/>
                  </a:lnTo>
                  <a:lnTo>
                    <a:pt x="806196" y="1923287"/>
                  </a:lnTo>
                  <a:lnTo>
                    <a:pt x="815340" y="1930907"/>
                  </a:lnTo>
                  <a:lnTo>
                    <a:pt x="818387" y="1930907"/>
                  </a:lnTo>
                  <a:lnTo>
                    <a:pt x="917448" y="1930907"/>
                  </a:lnTo>
                  <a:lnTo>
                    <a:pt x="1040892" y="1930907"/>
                  </a:lnTo>
                  <a:lnTo>
                    <a:pt x="1092707" y="1924811"/>
                  </a:lnTo>
                  <a:lnTo>
                    <a:pt x="1150620" y="1924811"/>
                  </a:lnTo>
                  <a:lnTo>
                    <a:pt x="1175003" y="1920239"/>
                  </a:lnTo>
                  <a:lnTo>
                    <a:pt x="1176527" y="1917191"/>
                  </a:lnTo>
                  <a:lnTo>
                    <a:pt x="1196340" y="1909571"/>
                  </a:lnTo>
                  <a:lnTo>
                    <a:pt x="1197864" y="1909571"/>
                  </a:lnTo>
                  <a:lnTo>
                    <a:pt x="1210055" y="1909571"/>
                  </a:lnTo>
                  <a:lnTo>
                    <a:pt x="1211579" y="1909571"/>
                  </a:lnTo>
                  <a:lnTo>
                    <a:pt x="1214627" y="1909571"/>
                  </a:lnTo>
                  <a:lnTo>
                    <a:pt x="1232916" y="1903475"/>
                  </a:lnTo>
                  <a:lnTo>
                    <a:pt x="1234440" y="1903475"/>
                  </a:lnTo>
                  <a:lnTo>
                    <a:pt x="1237487" y="1903475"/>
                  </a:lnTo>
                  <a:lnTo>
                    <a:pt x="1239011" y="1903475"/>
                  </a:lnTo>
                  <a:lnTo>
                    <a:pt x="1240535" y="1900427"/>
                  </a:lnTo>
                  <a:lnTo>
                    <a:pt x="1248155" y="1897379"/>
                  </a:lnTo>
                  <a:lnTo>
                    <a:pt x="1249679" y="1889759"/>
                  </a:lnTo>
                  <a:lnTo>
                    <a:pt x="1251203" y="1882139"/>
                  </a:lnTo>
                  <a:lnTo>
                    <a:pt x="1252727" y="1866899"/>
                  </a:lnTo>
                  <a:lnTo>
                    <a:pt x="1258824" y="1851659"/>
                  </a:lnTo>
                  <a:lnTo>
                    <a:pt x="1260348" y="1833371"/>
                  </a:lnTo>
                  <a:lnTo>
                    <a:pt x="1264920" y="1819655"/>
                  </a:lnTo>
                  <a:lnTo>
                    <a:pt x="1271016" y="1812035"/>
                  </a:lnTo>
                  <a:lnTo>
                    <a:pt x="1274064" y="1812035"/>
                  </a:lnTo>
                  <a:lnTo>
                    <a:pt x="1284731" y="1787651"/>
                  </a:lnTo>
                  <a:lnTo>
                    <a:pt x="1289303" y="1760219"/>
                  </a:lnTo>
                  <a:lnTo>
                    <a:pt x="1310640" y="1726691"/>
                  </a:lnTo>
                  <a:lnTo>
                    <a:pt x="1315211" y="1690115"/>
                  </a:lnTo>
                  <a:lnTo>
                    <a:pt x="1324355" y="1647443"/>
                  </a:lnTo>
                  <a:lnTo>
                    <a:pt x="1341120" y="1647443"/>
                  </a:lnTo>
                  <a:lnTo>
                    <a:pt x="1380744" y="1647443"/>
                  </a:lnTo>
                  <a:lnTo>
                    <a:pt x="1415796" y="1598675"/>
                  </a:lnTo>
                  <a:lnTo>
                    <a:pt x="1443227" y="1584959"/>
                  </a:lnTo>
                  <a:lnTo>
                    <a:pt x="1453896" y="1530095"/>
                  </a:lnTo>
                  <a:lnTo>
                    <a:pt x="1476755" y="1463039"/>
                  </a:lnTo>
                  <a:lnTo>
                    <a:pt x="1479803" y="1386839"/>
                  </a:lnTo>
                  <a:lnTo>
                    <a:pt x="1481327" y="1298447"/>
                  </a:lnTo>
                  <a:lnTo>
                    <a:pt x="1488948" y="1298447"/>
                  </a:lnTo>
                  <a:lnTo>
                    <a:pt x="1491996" y="1196339"/>
                  </a:lnTo>
                  <a:lnTo>
                    <a:pt x="1501140" y="1080515"/>
                  </a:lnTo>
                  <a:lnTo>
                    <a:pt x="1502664" y="947927"/>
                  </a:lnTo>
                  <a:lnTo>
                    <a:pt x="1505711" y="1080515"/>
                  </a:lnTo>
                  <a:lnTo>
                    <a:pt x="1507235" y="946403"/>
                  </a:lnTo>
                  <a:lnTo>
                    <a:pt x="1514855" y="882395"/>
                  </a:lnTo>
                  <a:lnTo>
                    <a:pt x="1527048" y="1046987"/>
                  </a:lnTo>
                  <a:lnTo>
                    <a:pt x="1528572" y="1185671"/>
                  </a:lnTo>
                  <a:lnTo>
                    <a:pt x="1530096" y="1304543"/>
                  </a:lnTo>
                  <a:lnTo>
                    <a:pt x="1533144" y="1304543"/>
                  </a:lnTo>
                  <a:lnTo>
                    <a:pt x="1534668" y="1304543"/>
                  </a:lnTo>
                  <a:lnTo>
                    <a:pt x="1542287" y="1319783"/>
                  </a:lnTo>
                  <a:lnTo>
                    <a:pt x="1556003" y="1417319"/>
                  </a:lnTo>
                  <a:lnTo>
                    <a:pt x="1566672" y="1501139"/>
                  </a:lnTo>
                  <a:lnTo>
                    <a:pt x="1569720" y="1572767"/>
                  </a:lnTo>
                  <a:lnTo>
                    <a:pt x="1571244" y="1522475"/>
                  </a:lnTo>
                  <a:lnTo>
                    <a:pt x="1572768" y="1459991"/>
                  </a:lnTo>
                  <a:lnTo>
                    <a:pt x="1583435" y="1382267"/>
                  </a:lnTo>
                  <a:lnTo>
                    <a:pt x="1591055" y="1382267"/>
                  </a:lnTo>
                  <a:lnTo>
                    <a:pt x="1594103" y="1319783"/>
                  </a:lnTo>
                  <a:lnTo>
                    <a:pt x="1606296" y="1380743"/>
                  </a:lnTo>
                  <a:lnTo>
                    <a:pt x="1609344" y="1304543"/>
                  </a:lnTo>
                  <a:lnTo>
                    <a:pt x="1610868" y="1272539"/>
                  </a:lnTo>
                  <a:lnTo>
                    <a:pt x="1616964" y="1210055"/>
                  </a:lnTo>
                  <a:lnTo>
                    <a:pt x="1629155" y="1319783"/>
                  </a:lnTo>
                  <a:lnTo>
                    <a:pt x="1648968" y="1304543"/>
                  </a:lnTo>
                  <a:lnTo>
                    <a:pt x="1655064" y="1304543"/>
                  </a:lnTo>
                  <a:lnTo>
                    <a:pt x="1659635" y="1304543"/>
                  </a:lnTo>
                  <a:lnTo>
                    <a:pt x="1673352" y="1257299"/>
                  </a:lnTo>
                  <a:lnTo>
                    <a:pt x="1674876" y="1220723"/>
                  </a:lnTo>
                  <a:lnTo>
                    <a:pt x="1709927" y="1117091"/>
                  </a:lnTo>
                  <a:lnTo>
                    <a:pt x="1711452" y="1117091"/>
                  </a:lnTo>
                  <a:lnTo>
                    <a:pt x="1722120" y="1194815"/>
                  </a:lnTo>
                  <a:lnTo>
                    <a:pt x="1723644" y="1194815"/>
                  </a:lnTo>
                  <a:lnTo>
                    <a:pt x="1738883" y="1107947"/>
                  </a:lnTo>
                  <a:lnTo>
                    <a:pt x="1763268" y="978407"/>
                  </a:lnTo>
                  <a:lnTo>
                    <a:pt x="1773935" y="829055"/>
                  </a:lnTo>
                  <a:lnTo>
                    <a:pt x="1775459" y="835151"/>
                  </a:lnTo>
                  <a:lnTo>
                    <a:pt x="1776983" y="835151"/>
                  </a:lnTo>
                  <a:lnTo>
                    <a:pt x="1784603" y="664463"/>
                  </a:lnTo>
                  <a:lnTo>
                    <a:pt x="1786127" y="664463"/>
                  </a:lnTo>
                </a:path>
                <a:path w="3736975" h="1960245">
                  <a:moveTo>
                    <a:pt x="1787652" y="467867"/>
                  </a:moveTo>
                  <a:lnTo>
                    <a:pt x="1795272" y="586739"/>
                  </a:lnTo>
                  <a:lnTo>
                    <a:pt x="1798320" y="726947"/>
                  </a:lnTo>
                  <a:lnTo>
                    <a:pt x="1807464" y="757427"/>
                  </a:lnTo>
                  <a:lnTo>
                    <a:pt x="1810511" y="757427"/>
                  </a:lnTo>
                  <a:lnTo>
                    <a:pt x="1822703" y="757427"/>
                  </a:lnTo>
                  <a:lnTo>
                    <a:pt x="1865376" y="882395"/>
                  </a:lnTo>
                  <a:lnTo>
                    <a:pt x="2001011" y="882395"/>
                  </a:lnTo>
                  <a:lnTo>
                    <a:pt x="2014727" y="960119"/>
                  </a:lnTo>
                  <a:lnTo>
                    <a:pt x="2045207" y="1007363"/>
                  </a:lnTo>
                  <a:lnTo>
                    <a:pt x="2054352" y="960119"/>
                  </a:lnTo>
                  <a:lnTo>
                    <a:pt x="2068068" y="960119"/>
                  </a:lnTo>
                  <a:lnTo>
                    <a:pt x="2095500" y="960119"/>
                  </a:lnTo>
                  <a:lnTo>
                    <a:pt x="2097024" y="992123"/>
                  </a:lnTo>
                  <a:lnTo>
                    <a:pt x="2106168" y="937259"/>
                  </a:lnTo>
                  <a:lnTo>
                    <a:pt x="2119883" y="882395"/>
                  </a:lnTo>
                  <a:lnTo>
                    <a:pt x="2129028" y="819911"/>
                  </a:lnTo>
                  <a:lnTo>
                    <a:pt x="2147316" y="819911"/>
                  </a:lnTo>
                  <a:lnTo>
                    <a:pt x="2171700" y="819911"/>
                  </a:lnTo>
                  <a:lnTo>
                    <a:pt x="2182368" y="789431"/>
                  </a:lnTo>
                  <a:lnTo>
                    <a:pt x="2193035" y="804671"/>
                  </a:lnTo>
                  <a:lnTo>
                    <a:pt x="2194559" y="804671"/>
                  </a:lnTo>
                  <a:lnTo>
                    <a:pt x="2199131" y="804671"/>
                  </a:lnTo>
                  <a:lnTo>
                    <a:pt x="2208276" y="789431"/>
                  </a:lnTo>
                  <a:lnTo>
                    <a:pt x="2211324" y="757427"/>
                  </a:lnTo>
                  <a:lnTo>
                    <a:pt x="2217420" y="757427"/>
                  </a:lnTo>
                  <a:lnTo>
                    <a:pt x="2221992" y="781811"/>
                  </a:lnTo>
                  <a:lnTo>
                    <a:pt x="2243328" y="720851"/>
                  </a:lnTo>
                  <a:lnTo>
                    <a:pt x="2255520" y="720851"/>
                  </a:lnTo>
                  <a:lnTo>
                    <a:pt x="2287524" y="726947"/>
                  </a:lnTo>
                  <a:lnTo>
                    <a:pt x="2305811" y="720851"/>
                  </a:lnTo>
                  <a:lnTo>
                    <a:pt x="2308859" y="726947"/>
                  </a:lnTo>
                  <a:lnTo>
                    <a:pt x="2377440" y="726947"/>
                  </a:lnTo>
                  <a:lnTo>
                    <a:pt x="2383535" y="734567"/>
                  </a:lnTo>
                  <a:lnTo>
                    <a:pt x="2385059" y="734567"/>
                  </a:lnTo>
                  <a:lnTo>
                    <a:pt x="2488692" y="726947"/>
                  </a:lnTo>
                  <a:lnTo>
                    <a:pt x="2563368" y="726947"/>
                  </a:lnTo>
                  <a:lnTo>
                    <a:pt x="2590800" y="726947"/>
                  </a:lnTo>
                  <a:lnTo>
                    <a:pt x="2592324" y="726947"/>
                  </a:lnTo>
                  <a:lnTo>
                    <a:pt x="2679192" y="842771"/>
                  </a:lnTo>
                  <a:lnTo>
                    <a:pt x="2689859" y="726947"/>
                  </a:lnTo>
                  <a:lnTo>
                    <a:pt x="2695955" y="726947"/>
                  </a:lnTo>
                  <a:lnTo>
                    <a:pt x="2718816" y="726947"/>
                  </a:lnTo>
                  <a:lnTo>
                    <a:pt x="2723387" y="726947"/>
                  </a:lnTo>
                  <a:lnTo>
                    <a:pt x="2735579" y="726947"/>
                  </a:lnTo>
                  <a:lnTo>
                    <a:pt x="2859024" y="726947"/>
                  </a:lnTo>
                  <a:lnTo>
                    <a:pt x="2948940" y="694943"/>
                  </a:lnTo>
                  <a:lnTo>
                    <a:pt x="2951987" y="694943"/>
                  </a:lnTo>
                  <a:lnTo>
                    <a:pt x="2958083" y="694943"/>
                  </a:lnTo>
                  <a:lnTo>
                    <a:pt x="2959607" y="694943"/>
                  </a:lnTo>
                  <a:lnTo>
                    <a:pt x="2983992" y="679703"/>
                  </a:lnTo>
                  <a:lnTo>
                    <a:pt x="3000755" y="679703"/>
                  </a:lnTo>
                  <a:lnTo>
                    <a:pt x="3002279" y="725423"/>
                  </a:lnTo>
                  <a:lnTo>
                    <a:pt x="3014472" y="726947"/>
                  </a:lnTo>
                  <a:lnTo>
                    <a:pt x="3104387" y="650747"/>
                  </a:lnTo>
                  <a:lnTo>
                    <a:pt x="3139440" y="725423"/>
                  </a:lnTo>
                  <a:lnTo>
                    <a:pt x="3150107" y="757427"/>
                  </a:lnTo>
                  <a:lnTo>
                    <a:pt x="3153155" y="929639"/>
                  </a:lnTo>
                  <a:lnTo>
                    <a:pt x="3182111" y="897635"/>
                  </a:lnTo>
                  <a:lnTo>
                    <a:pt x="3188207" y="736091"/>
                  </a:lnTo>
                  <a:lnTo>
                    <a:pt x="3191255" y="726947"/>
                  </a:lnTo>
                  <a:lnTo>
                    <a:pt x="3208020" y="882395"/>
                  </a:lnTo>
                  <a:lnTo>
                    <a:pt x="3217164" y="726947"/>
                  </a:lnTo>
                  <a:lnTo>
                    <a:pt x="3218687" y="742187"/>
                  </a:lnTo>
                  <a:lnTo>
                    <a:pt x="3226307" y="726947"/>
                  </a:lnTo>
                  <a:lnTo>
                    <a:pt x="3227831" y="661415"/>
                  </a:lnTo>
                  <a:lnTo>
                    <a:pt x="3232404" y="726947"/>
                  </a:lnTo>
                  <a:lnTo>
                    <a:pt x="3233928" y="726947"/>
                  </a:lnTo>
                  <a:lnTo>
                    <a:pt x="3252216" y="726947"/>
                  </a:lnTo>
                  <a:lnTo>
                    <a:pt x="3272028" y="726947"/>
                  </a:lnTo>
                  <a:lnTo>
                    <a:pt x="3282696" y="734567"/>
                  </a:lnTo>
                  <a:lnTo>
                    <a:pt x="3291840" y="726947"/>
                  </a:lnTo>
                  <a:lnTo>
                    <a:pt x="3308604" y="726947"/>
                  </a:lnTo>
                  <a:lnTo>
                    <a:pt x="3316224" y="726947"/>
                  </a:lnTo>
                  <a:lnTo>
                    <a:pt x="3317748" y="569975"/>
                  </a:lnTo>
                </a:path>
                <a:path w="3736975" h="1960245">
                  <a:moveTo>
                    <a:pt x="3317748" y="569975"/>
                  </a:moveTo>
                  <a:lnTo>
                    <a:pt x="3329940" y="664463"/>
                  </a:lnTo>
                  <a:lnTo>
                    <a:pt x="3345179" y="632459"/>
                  </a:lnTo>
                  <a:lnTo>
                    <a:pt x="3348228" y="577595"/>
                  </a:lnTo>
                  <a:lnTo>
                    <a:pt x="3471672" y="585215"/>
                  </a:lnTo>
                  <a:lnTo>
                    <a:pt x="3474720" y="382523"/>
                  </a:lnTo>
                  <a:lnTo>
                    <a:pt x="3476244" y="445007"/>
                  </a:lnTo>
                  <a:lnTo>
                    <a:pt x="3482340" y="336803"/>
                  </a:lnTo>
                  <a:lnTo>
                    <a:pt x="3486911" y="336803"/>
                  </a:lnTo>
                  <a:lnTo>
                    <a:pt x="3502152" y="336803"/>
                  </a:lnTo>
                  <a:lnTo>
                    <a:pt x="3509772" y="336803"/>
                  </a:lnTo>
                  <a:lnTo>
                    <a:pt x="3512820" y="336803"/>
                  </a:lnTo>
                  <a:lnTo>
                    <a:pt x="3528059" y="227075"/>
                  </a:lnTo>
                  <a:lnTo>
                    <a:pt x="3534155" y="336803"/>
                  </a:lnTo>
                  <a:lnTo>
                    <a:pt x="3558540" y="336803"/>
                  </a:lnTo>
                  <a:lnTo>
                    <a:pt x="3640835" y="445007"/>
                  </a:lnTo>
                  <a:lnTo>
                    <a:pt x="3688079" y="445007"/>
                  </a:lnTo>
                  <a:lnTo>
                    <a:pt x="3706368" y="367283"/>
                  </a:lnTo>
                  <a:lnTo>
                    <a:pt x="3712464" y="445007"/>
                  </a:lnTo>
                  <a:lnTo>
                    <a:pt x="3713987" y="445007"/>
                  </a:lnTo>
                  <a:lnTo>
                    <a:pt x="3718559" y="257555"/>
                  </a:lnTo>
                  <a:lnTo>
                    <a:pt x="3736848" y="0"/>
                  </a:lnTo>
                </a:path>
              </a:pathLst>
            </a:custGeom>
            <a:ln w="38100">
              <a:solidFill>
                <a:srgbClr val="006FC0"/>
              </a:solidFill>
            </a:ln>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sp>
          <p:nvSpPr>
            <p:cNvPr id="17" name="object 16">
              <a:extLst>
                <a:ext uri="{FF2B5EF4-FFF2-40B4-BE49-F238E27FC236}">
                  <a16:creationId xmlns:a16="http://schemas.microsoft.com/office/drawing/2014/main" id="{93348210-44B9-4363-87A6-038088C5EA38}"/>
                </a:ext>
              </a:extLst>
            </p:cNvPr>
            <p:cNvSpPr/>
            <p:nvPr/>
          </p:nvSpPr>
          <p:spPr>
            <a:xfrm>
              <a:off x="8869679" y="3671316"/>
              <a:ext cx="50800" cy="50800"/>
            </a:xfrm>
            <a:custGeom>
              <a:avLst/>
              <a:gdLst/>
              <a:ahLst/>
              <a:cxnLst/>
              <a:rect l="l" t="t" r="r" b="b"/>
              <a:pathLst>
                <a:path w="50800" h="50800">
                  <a:moveTo>
                    <a:pt x="25146" y="0"/>
                  </a:moveTo>
                  <a:lnTo>
                    <a:pt x="15376" y="1982"/>
                  </a:lnTo>
                  <a:lnTo>
                    <a:pt x="7381" y="7381"/>
                  </a:lnTo>
                  <a:lnTo>
                    <a:pt x="1982" y="15376"/>
                  </a:lnTo>
                  <a:lnTo>
                    <a:pt x="0" y="25145"/>
                  </a:lnTo>
                  <a:lnTo>
                    <a:pt x="1982" y="34915"/>
                  </a:lnTo>
                  <a:lnTo>
                    <a:pt x="7381" y="42910"/>
                  </a:lnTo>
                  <a:lnTo>
                    <a:pt x="15376" y="48309"/>
                  </a:lnTo>
                  <a:lnTo>
                    <a:pt x="25146" y="50291"/>
                  </a:lnTo>
                  <a:lnTo>
                    <a:pt x="34915" y="48309"/>
                  </a:lnTo>
                  <a:lnTo>
                    <a:pt x="42910" y="42910"/>
                  </a:lnTo>
                  <a:lnTo>
                    <a:pt x="48309" y="34915"/>
                  </a:lnTo>
                  <a:lnTo>
                    <a:pt x="50292" y="25145"/>
                  </a:lnTo>
                  <a:lnTo>
                    <a:pt x="48309" y="15376"/>
                  </a:lnTo>
                  <a:lnTo>
                    <a:pt x="42910" y="7381"/>
                  </a:lnTo>
                  <a:lnTo>
                    <a:pt x="34915" y="1982"/>
                  </a:lnTo>
                  <a:lnTo>
                    <a:pt x="25146" y="0"/>
                  </a:lnTo>
                  <a:close/>
                </a:path>
              </a:pathLst>
            </a:custGeom>
            <a:solidFill>
              <a:srgbClr val="2F4876"/>
            </a:solidFill>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sp>
          <p:nvSpPr>
            <p:cNvPr id="18" name="object 17">
              <a:extLst>
                <a:ext uri="{FF2B5EF4-FFF2-40B4-BE49-F238E27FC236}">
                  <a16:creationId xmlns:a16="http://schemas.microsoft.com/office/drawing/2014/main" id="{8BE91067-1461-493A-B719-F4DB92874212}"/>
                </a:ext>
              </a:extLst>
            </p:cNvPr>
            <p:cNvSpPr/>
            <p:nvPr/>
          </p:nvSpPr>
          <p:spPr>
            <a:xfrm>
              <a:off x="8869679" y="3671316"/>
              <a:ext cx="50800" cy="50800"/>
            </a:xfrm>
            <a:custGeom>
              <a:avLst/>
              <a:gdLst/>
              <a:ahLst/>
              <a:cxnLst/>
              <a:rect l="l" t="t" r="r" b="b"/>
              <a:pathLst>
                <a:path w="50800" h="50800">
                  <a:moveTo>
                    <a:pt x="50292" y="25145"/>
                  </a:moveTo>
                  <a:lnTo>
                    <a:pt x="48309" y="34915"/>
                  </a:lnTo>
                  <a:lnTo>
                    <a:pt x="42910" y="42910"/>
                  </a:lnTo>
                  <a:lnTo>
                    <a:pt x="34915" y="48309"/>
                  </a:lnTo>
                  <a:lnTo>
                    <a:pt x="25146" y="50291"/>
                  </a:lnTo>
                  <a:lnTo>
                    <a:pt x="15376" y="48309"/>
                  </a:lnTo>
                  <a:lnTo>
                    <a:pt x="7381" y="42910"/>
                  </a:lnTo>
                  <a:lnTo>
                    <a:pt x="1982" y="34915"/>
                  </a:lnTo>
                  <a:lnTo>
                    <a:pt x="0" y="25145"/>
                  </a:lnTo>
                  <a:lnTo>
                    <a:pt x="1982" y="15376"/>
                  </a:lnTo>
                  <a:lnTo>
                    <a:pt x="7381" y="7381"/>
                  </a:lnTo>
                  <a:lnTo>
                    <a:pt x="15376" y="1982"/>
                  </a:lnTo>
                  <a:lnTo>
                    <a:pt x="25146" y="0"/>
                  </a:lnTo>
                  <a:lnTo>
                    <a:pt x="34915" y="1982"/>
                  </a:lnTo>
                  <a:lnTo>
                    <a:pt x="42910" y="7381"/>
                  </a:lnTo>
                  <a:lnTo>
                    <a:pt x="48309" y="15376"/>
                  </a:lnTo>
                  <a:lnTo>
                    <a:pt x="50292" y="25145"/>
                  </a:lnTo>
                  <a:close/>
                </a:path>
              </a:pathLst>
            </a:custGeom>
            <a:ln w="12191">
              <a:solidFill>
                <a:srgbClr val="CD6009"/>
              </a:solidFill>
            </a:ln>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sp>
          <p:nvSpPr>
            <p:cNvPr id="19" name="object 18">
              <a:extLst>
                <a:ext uri="{FF2B5EF4-FFF2-40B4-BE49-F238E27FC236}">
                  <a16:creationId xmlns:a16="http://schemas.microsoft.com/office/drawing/2014/main" id="{49E1C97A-3235-470D-A924-6660CFB16AF2}"/>
                </a:ext>
              </a:extLst>
            </p:cNvPr>
            <p:cNvSpPr/>
            <p:nvPr/>
          </p:nvSpPr>
          <p:spPr>
            <a:xfrm>
              <a:off x="10235183" y="4133088"/>
              <a:ext cx="50800" cy="50800"/>
            </a:xfrm>
            <a:custGeom>
              <a:avLst/>
              <a:gdLst/>
              <a:ahLst/>
              <a:cxnLst/>
              <a:rect l="l" t="t" r="r" b="b"/>
              <a:pathLst>
                <a:path w="50800" h="50800">
                  <a:moveTo>
                    <a:pt x="25146" y="0"/>
                  </a:moveTo>
                  <a:lnTo>
                    <a:pt x="15376" y="1982"/>
                  </a:lnTo>
                  <a:lnTo>
                    <a:pt x="7381" y="7381"/>
                  </a:lnTo>
                  <a:lnTo>
                    <a:pt x="1982" y="15376"/>
                  </a:lnTo>
                  <a:lnTo>
                    <a:pt x="0" y="25145"/>
                  </a:lnTo>
                  <a:lnTo>
                    <a:pt x="1982" y="34915"/>
                  </a:lnTo>
                  <a:lnTo>
                    <a:pt x="7381" y="42910"/>
                  </a:lnTo>
                  <a:lnTo>
                    <a:pt x="15376" y="48309"/>
                  </a:lnTo>
                  <a:lnTo>
                    <a:pt x="25146" y="50292"/>
                  </a:lnTo>
                  <a:lnTo>
                    <a:pt x="34915" y="48309"/>
                  </a:lnTo>
                  <a:lnTo>
                    <a:pt x="42910" y="42910"/>
                  </a:lnTo>
                  <a:lnTo>
                    <a:pt x="48309" y="34915"/>
                  </a:lnTo>
                  <a:lnTo>
                    <a:pt x="50292" y="25145"/>
                  </a:lnTo>
                  <a:lnTo>
                    <a:pt x="48309" y="15376"/>
                  </a:lnTo>
                  <a:lnTo>
                    <a:pt x="42910" y="7381"/>
                  </a:lnTo>
                  <a:lnTo>
                    <a:pt x="34915" y="1982"/>
                  </a:lnTo>
                  <a:lnTo>
                    <a:pt x="25146" y="0"/>
                  </a:lnTo>
                  <a:close/>
                </a:path>
              </a:pathLst>
            </a:custGeom>
            <a:solidFill>
              <a:srgbClr val="FF0000"/>
            </a:solidFill>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sp>
          <p:nvSpPr>
            <p:cNvPr id="20" name="object 19">
              <a:extLst>
                <a:ext uri="{FF2B5EF4-FFF2-40B4-BE49-F238E27FC236}">
                  <a16:creationId xmlns:a16="http://schemas.microsoft.com/office/drawing/2014/main" id="{9F7DC8FE-A1E8-45DF-9C8C-1AA89D567A94}"/>
                </a:ext>
              </a:extLst>
            </p:cNvPr>
            <p:cNvSpPr/>
            <p:nvPr/>
          </p:nvSpPr>
          <p:spPr>
            <a:xfrm>
              <a:off x="10235183" y="4133088"/>
              <a:ext cx="50800" cy="50800"/>
            </a:xfrm>
            <a:custGeom>
              <a:avLst/>
              <a:gdLst/>
              <a:ahLst/>
              <a:cxnLst/>
              <a:rect l="l" t="t" r="r" b="b"/>
              <a:pathLst>
                <a:path w="50800" h="50800">
                  <a:moveTo>
                    <a:pt x="50292" y="25145"/>
                  </a:moveTo>
                  <a:lnTo>
                    <a:pt x="48309" y="34915"/>
                  </a:lnTo>
                  <a:lnTo>
                    <a:pt x="42910" y="42910"/>
                  </a:lnTo>
                  <a:lnTo>
                    <a:pt x="34915" y="48309"/>
                  </a:lnTo>
                  <a:lnTo>
                    <a:pt x="25146" y="50292"/>
                  </a:lnTo>
                  <a:lnTo>
                    <a:pt x="15376" y="48309"/>
                  </a:lnTo>
                  <a:lnTo>
                    <a:pt x="7381" y="42910"/>
                  </a:lnTo>
                  <a:lnTo>
                    <a:pt x="1982" y="34915"/>
                  </a:lnTo>
                  <a:lnTo>
                    <a:pt x="0" y="25145"/>
                  </a:lnTo>
                  <a:lnTo>
                    <a:pt x="1982" y="15376"/>
                  </a:lnTo>
                  <a:lnTo>
                    <a:pt x="7381" y="7381"/>
                  </a:lnTo>
                  <a:lnTo>
                    <a:pt x="15376" y="1982"/>
                  </a:lnTo>
                  <a:lnTo>
                    <a:pt x="25146" y="0"/>
                  </a:lnTo>
                  <a:lnTo>
                    <a:pt x="34915" y="1982"/>
                  </a:lnTo>
                  <a:lnTo>
                    <a:pt x="42910" y="7381"/>
                  </a:lnTo>
                  <a:lnTo>
                    <a:pt x="48309" y="15376"/>
                  </a:lnTo>
                  <a:lnTo>
                    <a:pt x="50292" y="25145"/>
                  </a:lnTo>
                  <a:close/>
                </a:path>
              </a:pathLst>
            </a:custGeom>
            <a:ln w="12192">
              <a:solidFill>
                <a:srgbClr val="CD6009"/>
              </a:solidFill>
            </a:ln>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grpSp>
      <p:sp>
        <p:nvSpPr>
          <p:cNvPr id="21" name="object 20">
            <a:extLst>
              <a:ext uri="{FF2B5EF4-FFF2-40B4-BE49-F238E27FC236}">
                <a16:creationId xmlns:a16="http://schemas.microsoft.com/office/drawing/2014/main" id="{0032FE47-3469-478B-A39F-11387E8B3A2A}"/>
              </a:ext>
            </a:extLst>
          </p:cNvPr>
          <p:cNvSpPr txBox="1"/>
          <p:nvPr/>
        </p:nvSpPr>
        <p:spPr>
          <a:xfrm>
            <a:off x="8034102" y="3157724"/>
            <a:ext cx="1098638" cy="381130"/>
          </a:xfrm>
          <a:prstGeom prst="rect">
            <a:avLst/>
          </a:prstGeom>
        </p:spPr>
        <p:txBody>
          <a:bodyPr vert="horz" wrap="square" lIns="0" tIns="12700" rIns="0" bIns="0" rtlCol="0">
            <a:spAutoFit/>
          </a:bodyPr>
          <a:lstStyle/>
          <a:p>
            <a:pPr algn="ctr">
              <a:lnSpc>
                <a:spcPts val="1420"/>
              </a:lnSpc>
              <a:spcBef>
                <a:spcPts val="100"/>
              </a:spcBef>
            </a:pPr>
            <a:r>
              <a:rPr spc="-5" dirty="0">
                <a:latin typeface="Times New Roman" panose="02020603050405020304" pitchFamily="18" charset="0"/>
                <a:cs typeface="Times New Roman" panose="02020603050405020304" pitchFamily="18" charset="0"/>
              </a:rPr>
              <a:t>2011.08.04</a:t>
            </a:r>
            <a:endParaRPr dirty="0">
              <a:latin typeface="Times New Roman" panose="02020603050405020304" pitchFamily="18" charset="0"/>
              <a:cs typeface="Times New Roman" panose="02020603050405020304" pitchFamily="18" charset="0"/>
            </a:endParaRPr>
          </a:p>
          <a:p>
            <a:pPr marL="1270" algn="ctr">
              <a:lnSpc>
                <a:spcPts val="1420"/>
              </a:lnSpc>
            </a:pPr>
            <a:r>
              <a:rPr spc="-5" dirty="0">
                <a:latin typeface="Times New Roman" panose="02020603050405020304" pitchFamily="18" charset="0"/>
                <a:cs typeface="Times New Roman" panose="02020603050405020304" pitchFamily="18" charset="0"/>
              </a:rPr>
              <a:t>96,543₮</a:t>
            </a:r>
            <a:endParaRPr dirty="0">
              <a:latin typeface="Times New Roman" panose="02020603050405020304" pitchFamily="18" charset="0"/>
              <a:cs typeface="Times New Roman" panose="02020603050405020304" pitchFamily="18" charset="0"/>
            </a:endParaRPr>
          </a:p>
        </p:txBody>
      </p:sp>
      <p:sp>
        <p:nvSpPr>
          <p:cNvPr id="22" name="object 21">
            <a:extLst>
              <a:ext uri="{FF2B5EF4-FFF2-40B4-BE49-F238E27FC236}">
                <a16:creationId xmlns:a16="http://schemas.microsoft.com/office/drawing/2014/main" id="{69C47533-A96A-4030-8158-2DED06D232B7}"/>
              </a:ext>
            </a:extLst>
          </p:cNvPr>
          <p:cNvSpPr txBox="1"/>
          <p:nvPr/>
        </p:nvSpPr>
        <p:spPr>
          <a:xfrm>
            <a:off x="9519392" y="4299487"/>
            <a:ext cx="1098638" cy="381130"/>
          </a:xfrm>
          <a:prstGeom prst="rect">
            <a:avLst/>
          </a:prstGeom>
        </p:spPr>
        <p:txBody>
          <a:bodyPr vert="horz" wrap="square" lIns="0" tIns="12700" rIns="0" bIns="0" rtlCol="0">
            <a:spAutoFit/>
          </a:bodyPr>
          <a:lstStyle/>
          <a:p>
            <a:pPr algn="ctr">
              <a:lnSpc>
                <a:spcPts val="1420"/>
              </a:lnSpc>
              <a:spcBef>
                <a:spcPts val="100"/>
              </a:spcBef>
            </a:pPr>
            <a:r>
              <a:rPr spc="-5" dirty="0">
                <a:latin typeface="Times New Roman" panose="02020603050405020304" pitchFamily="18" charset="0"/>
                <a:cs typeface="Times New Roman" panose="02020603050405020304" pitchFamily="18" charset="0"/>
              </a:rPr>
              <a:t>2013.08.21</a:t>
            </a:r>
            <a:endParaRPr dirty="0">
              <a:latin typeface="Times New Roman" panose="02020603050405020304" pitchFamily="18" charset="0"/>
              <a:cs typeface="Times New Roman" panose="02020603050405020304" pitchFamily="18" charset="0"/>
            </a:endParaRPr>
          </a:p>
          <a:p>
            <a:pPr marR="24130" algn="ctr">
              <a:lnSpc>
                <a:spcPts val="1420"/>
              </a:lnSpc>
            </a:pPr>
            <a:r>
              <a:rPr spc="-5" dirty="0">
                <a:latin typeface="Times New Roman" panose="02020603050405020304" pitchFamily="18" charset="0"/>
                <a:cs typeface="Times New Roman" panose="02020603050405020304" pitchFamily="18" charset="0"/>
              </a:rPr>
              <a:t>67,000₮</a:t>
            </a:r>
            <a:endParaRPr dirty="0">
              <a:latin typeface="Times New Roman" panose="02020603050405020304" pitchFamily="18" charset="0"/>
              <a:cs typeface="Times New Roman" panose="02020603050405020304" pitchFamily="18" charset="0"/>
            </a:endParaRPr>
          </a:p>
        </p:txBody>
      </p:sp>
      <p:sp>
        <p:nvSpPr>
          <p:cNvPr id="23" name="object 22">
            <a:extLst>
              <a:ext uri="{FF2B5EF4-FFF2-40B4-BE49-F238E27FC236}">
                <a16:creationId xmlns:a16="http://schemas.microsoft.com/office/drawing/2014/main" id="{01AB90BB-4555-482D-BFDF-34EE0F33068B}"/>
              </a:ext>
            </a:extLst>
          </p:cNvPr>
          <p:cNvSpPr txBox="1"/>
          <p:nvPr/>
        </p:nvSpPr>
        <p:spPr>
          <a:xfrm>
            <a:off x="9820085" y="2712880"/>
            <a:ext cx="1098638" cy="381130"/>
          </a:xfrm>
          <a:prstGeom prst="rect">
            <a:avLst/>
          </a:prstGeom>
        </p:spPr>
        <p:txBody>
          <a:bodyPr vert="horz" wrap="square" lIns="0" tIns="12700" rIns="0" bIns="0" rtlCol="0">
            <a:spAutoFit/>
          </a:bodyPr>
          <a:lstStyle/>
          <a:p>
            <a:pPr marL="12700">
              <a:lnSpc>
                <a:spcPts val="1420"/>
              </a:lnSpc>
              <a:spcBef>
                <a:spcPts val="100"/>
              </a:spcBef>
            </a:pPr>
            <a:r>
              <a:rPr spc="-10" dirty="0">
                <a:latin typeface="Times New Roman" panose="02020603050405020304" pitchFamily="18" charset="0"/>
                <a:cs typeface="Times New Roman" panose="02020603050405020304" pitchFamily="18" charset="0"/>
              </a:rPr>
              <a:t>2014.07.07</a:t>
            </a:r>
            <a:endParaRPr dirty="0">
              <a:latin typeface="Times New Roman" panose="02020603050405020304" pitchFamily="18" charset="0"/>
              <a:cs typeface="Times New Roman" panose="02020603050405020304" pitchFamily="18" charset="0"/>
            </a:endParaRPr>
          </a:p>
          <a:p>
            <a:pPr marL="53340">
              <a:lnSpc>
                <a:spcPts val="1420"/>
              </a:lnSpc>
            </a:pPr>
            <a:r>
              <a:rPr spc="-5" dirty="0">
                <a:latin typeface="Times New Roman" panose="02020603050405020304" pitchFamily="18" charset="0"/>
                <a:cs typeface="Times New Roman" panose="02020603050405020304" pitchFamily="18" charset="0"/>
              </a:rPr>
              <a:t>126,500₮</a:t>
            </a:r>
            <a:endParaRPr dirty="0">
              <a:latin typeface="Times New Roman" panose="02020603050405020304" pitchFamily="18" charset="0"/>
              <a:cs typeface="Times New Roman" panose="02020603050405020304" pitchFamily="18" charset="0"/>
            </a:endParaRPr>
          </a:p>
        </p:txBody>
      </p:sp>
      <p:sp>
        <p:nvSpPr>
          <p:cNvPr id="24" name="object 23">
            <a:extLst>
              <a:ext uri="{FF2B5EF4-FFF2-40B4-BE49-F238E27FC236}">
                <a16:creationId xmlns:a16="http://schemas.microsoft.com/office/drawing/2014/main" id="{27A3C8A4-AAD0-4D69-95E9-D50A017605AD}"/>
              </a:ext>
            </a:extLst>
          </p:cNvPr>
          <p:cNvSpPr txBox="1"/>
          <p:nvPr/>
        </p:nvSpPr>
        <p:spPr>
          <a:xfrm>
            <a:off x="5887536" y="4793996"/>
            <a:ext cx="685961" cy="596958"/>
          </a:xfrm>
          <a:prstGeom prst="rect">
            <a:avLst/>
          </a:prstGeom>
        </p:spPr>
        <p:txBody>
          <a:bodyPr vert="horz" wrap="square" lIns="0" tIns="12065" rIns="0" bIns="0" rtlCol="0">
            <a:spAutoFit/>
          </a:bodyPr>
          <a:lstStyle/>
          <a:p>
            <a:pPr marR="6985" algn="r">
              <a:lnSpc>
                <a:spcPct val="100000"/>
              </a:lnSpc>
              <a:spcBef>
                <a:spcPts val="95"/>
              </a:spcBef>
            </a:pPr>
            <a:r>
              <a:rPr sz="1200" spc="-5" dirty="0">
                <a:latin typeface="Times New Roman" panose="02020603050405020304" pitchFamily="18" charset="0"/>
                <a:cs typeface="Times New Roman" panose="02020603050405020304" pitchFamily="18" charset="0"/>
              </a:rPr>
              <a:t>20,000₮</a:t>
            </a:r>
            <a:endParaRPr sz="1200">
              <a:latin typeface="Times New Roman" panose="02020603050405020304" pitchFamily="18" charset="0"/>
              <a:cs typeface="Times New Roman" panose="02020603050405020304" pitchFamily="18" charset="0"/>
            </a:endParaRPr>
          </a:p>
          <a:p>
            <a:pPr>
              <a:lnSpc>
                <a:spcPct val="100000"/>
              </a:lnSpc>
              <a:spcBef>
                <a:spcPts val="25"/>
              </a:spcBef>
            </a:pPr>
            <a:endParaRPr sz="1400">
              <a:latin typeface="Times New Roman" panose="02020603050405020304" pitchFamily="18" charset="0"/>
              <a:cs typeface="Times New Roman" panose="02020603050405020304" pitchFamily="18" charset="0"/>
            </a:endParaRPr>
          </a:p>
          <a:p>
            <a:pPr marR="5080" algn="r">
              <a:lnSpc>
                <a:spcPct val="100000"/>
              </a:lnSpc>
            </a:pPr>
            <a:r>
              <a:rPr sz="1200" spc="-5" dirty="0">
                <a:latin typeface="Times New Roman" panose="02020603050405020304" pitchFamily="18" charset="0"/>
                <a:cs typeface="Times New Roman" panose="02020603050405020304" pitchFamily="18" charset="0"/>
              </a:rPr>
              <a:t>-</a:t>
            </a:r>
            <a:r>
              <a:rPr sz="1200" spc="130" dirty="0">
                <a:latin typeface="Times New Roman" panose="02020603050405020304" pitchFamily="18" charset="0"/>
                <a:cs typeface="Times New Roman" panose="02020603050405020304" pitchFamily="18" charset="0"/>
              </a:rPr>
              <a:t> </a:t>
            </a:r>
            <a:r>
              <a:rPr sz="1200" spc="-5" dirty="0">
                <a:latin typeface="Times New Roman" panose="02020603050405020304" pitchFamily="18" charset="0"/>
                <a:cs typeface="Times New Roman" panose="02020603050405020304" pitchFamily="18" charset="0"/>
              </a:rPr>
              <a:t>₮</a:t>
            </a:r>
            <a:endParaRPr sz="1200">
              <a:latin typeface="Times New Roman" panose="02020603050405020304" pitchFamily="18" charset="0"/>
              <a:cs typeface="Times New Roman" panose="02020603050405020304" pitchFamily="18" charset="0"/>
            </a:endParaRPr>
          </a:p>
        </p:txBody>
      </p:sp>
      <p:sp>
        <p:nvSpPr>
          <p:cNvPr id="25" name="object 24">
            <a:extLst>
              <a:ext uri="{FF2B5EF4-FFF2-40B4-BE49-F238E27FC236}">
                <a16:creationId xmlns:a16="http://schemas.microsoft.com/office/drawing/2014/main" id="{601E573D-83E5-46D9-9BAB-59CD2286A0E8}"/>
              </a:ext>
            </a:extLst>
          </p:cNvPr>
          <p:cNvSpPr txBox="1"/>
          <p:nvPr/>
        </p:nvSpPr>
        <p:spPr>
          <a:xfrm>
            <a:off x="5887536" y="4481576"/>
            <a:ext cx="682293" cy="196849"/>
          </a:xfrm>
          <a:prstGeom prst="rect">
            <a:avLst/>
          </a:prstGeom>
        </p:spPr>
        <p:txBody>
          <a:bodyPr vert="horz" wrap="square" lIns="0" tIns="12065" rIns="0" bIns="0" rtlCol="0">
            <a:spAutoFit/>
          </a:bodyPr>
          <a:lstStyle/>
          <a:p>
            <a:pPr marL="12700">
              <a:lnSpc>
                <a:spcPct val="100000"/>
              </a:lnSpc>
              <a:spcBef>
                <a:spcPts val="95"/>
              </a:spcBef>
            </a:pPr>
            <a:r>
              <a:rPr sz="1200" spc="-5" dirty="0">
                <a:latin typeface="Times New Roman" panose="02020603050405020304" pitchFamily="18" charset="0"/>
                <a:cs typeface="Times New Roman" panose="02020603050405020304" pitchFamily="18" charset="0"/>
              </a:rPr>
              <a:t>40,000₮</a:t>
            </a:r>
            <a:endParaRPr sz="1200">
              <a:latin typeface="Times New Roman" panose="02020603050405020304" pitchFamily="18" charset="0"/>
              <a:cs typeface="Times New Roman" panose="02020603050405020304" pitchFamily="18" charset="0"/>
            </a:endParaRPr>
          </a:p>
        </p:txBody>
      </p:sp>
      <p:sp>
        <p:nvSpPr>
          <p:cNvPr id="26" name="object 25">
            <a:extLst>
              <a:ext uri="{FF2B5EF4-FFF2-40B4-BE49-F238E27FC236}">
                <a16:creationId xmlns:a16="http://schemas.microsoft.com/office/drawing/2014/main" id="{DD0C36E9-E96F-4781-98B4-E3DE817DBB63}"/>
              </a:ext>
            </a:extLst>
          </p:cNvPr>
          <p:cNvSpPr txBox="1"/>
          <p:nvPr/>
        </p:nvSpPr>
        <p:spPr>
          <a:xfrm>
            <a:off x="5887536" y="3857371"/>
            <a:ext cx="682293" cy="596958"/>
          </a:xfrm>
          <a:prstGeom prst="rect">
            <a:avLst/>
          </a:prstGeom>
        </p:spPr>
        <p:txBody>
          <a:bodyPr vert="horz" wrap="square" lIns="0" tIns="12065" rIns="0" bIns="0" rtlCol="0">
            <a:spAutoFit/>
          </a:bodyPr>
          <a:lstStyle/>
          <a:p>
            <a:pPr marL="12700">
              <a:lnSpc>
                <a:spcPct val="100000"/>
              </a:lnSpc>
              <a:spcBef>
                <a:spcPts val="95"/>
              </a:spcBef>
            </a:pPr>
            <a:r>
              <a:rPr sz="1200" spc="-5" dirty="0">
                <a:latin typeface="Times New Roman" panose="02020603050405020304" pitchFamily="18" charset="0"/>
                <a:cs typeface="Times New Roman" panose="02020603050405020304" pitchFamily="18" charset="0"/>
              </a:rPr>
              <a:t>80,000₮</a:t>
            </a:r>
            <a:endParaRPr sz="1200">
              <a:latin typeface="Times New Roman" panose="02020603050405020304" pitchFamily="18" charset="0"/>
              <a:cs typeface="Times New Roman" panose="02020603050405020304" pitchFamily="18" charset="0"/>
            </a:endParaRPr>
          </a:p>
          <a:p>
            <a:pPr>
              <a:lnSpc>
                <a:spcPct val="100000"/>
              </a:lnSpc>
              <a:spcBef>
                <a:spcPts val="25"/>
              </a:spcBef>
            </a:pPr>
            <a:endParaRPr sz="1400">
              <a:latin typeface="Times New Roman" panose="02020603050405020304" pitchFamily="18" charset="0"/>
              <a:cs typeface="Times New Roman" panose="02020603050405020304" pitchFamily="18" charset="0"/>
            </a:endParaRPr>
          </a:p>
          <a:p>
            <a:pPr marL="12700">
              <a:lnSpc>
                <a:spcPct val="100000"/>
              </a:lnSpc>
            </a:pPr>
            <a:r>
              <a:rPr sz="1200" spc="-5" dirty="0">
                <a:latin typeface="Times New Roman" panose="02020603050405020304" pitchFamily="18" charset="0"/>
                <a:cs typeface="Times New Roman" panose="02020603050405020304" pitchFamily="18" charset="0"/>
              </a:rPr>
              <a:t>60,000₮</a:t>
            </a:r>
            <a:endParaRPr sz="1200">
              <a:latin typeface="Times New Roman" panose="02020603050405020304" pitchFamily="18" charset="0"/>
              <a:cs typeface="Times New Roman" panose="02020603050405020304" pitchFamily="18" charset="0"/>
            </a:endParaRPr>
          </a:p>
        </p:txBody>
      </p:sp>
      <p:sp>
        <p:nvSpPr>
          <p:cNvPr id="27" name="object 26">
            <a:extLst>
              <a:ext uri="{FF2B5EF4-FFF2-40B4-BE49-F238E27FC236}">
                <a16:creationId xmlns:a16="http://schemas.microsoft.com/office/drawing/2014/main" id="{2AB4C1C7-6408-49A4-9943-853E95CD5107}"/>
              </a:ext>
            </a:extLst>
          </p:cNvPr>
          <p:cNvSpPr txBox="1"/>
          <p:nvPr/>
        </p:nvSpPr>
        <p:spPr>
          <a:xfrm>
            <a:off x="5817433" y="3544951"/>
            <a:ext cx="784086" cy="196849"/>
          </a:xfrm>
          <a:prstGeom prst="rect">
            <a:avLst/>
          </a:prstGeom>
        </p:spPr>
        <p:txBody>
          <a:bodyPr vert="horz" wrap="square" lIns="0" tIns="12065" rIns="0" bIns="0" rtlCol="0">
            <a:spAutoFit/>
          </a:bodyPr>
          <a:lstStyle/>
          <a:p>
            <a:pPr marL="12700">
              <a:lnSpc>
                <a:spcPct val="100000"/>
              </a:lnSpc>
              <a:spcBef>
                <a:spcPts val="95"/>
              </a:spcBef>
            </a:pPr>
            <a:r>
              <a:rPr sz="1200" spc="-5" dirty="0">
                <a:latin typeface="Times New Roman" panose="02020603050405020304" pitchFamily="18" charset="0"/>
                <a:cs typeface="Times New Roman" panose="02020603050405020304" pitchFamily="18" charset="0"/>
              </a:rPr>
              <a:t>100,000₮</a:t>
            </a:r>
            <a:endParaRPr sz="1200">
              <a:latin typeface="Times New Roman" panose="02020603050405020304" pitchFamily="18" charset="0"/>
              <a:cs typeface="Times New Roman" panose="02020603050405020304" pitchFamily="18" charset="0"/>
            </a:endParaRPr>
          </a:p>
        </p:txBody>
      </p:sp>
      <p:sp>
        <p:nvSpPr>
          <p:cNvPr id="28" name="object 27">
            <a:extLst>
              <a:ext uri="{FF2B5EF4-FFF2-40B4-BE49-F238E27FC236}">
                <a16:creationId xmlns:a16="http://schemas.microsoft.com/office/drawing/2014/main" id="{F7650E07-DF5D-41EA-BE07-74CEB567EC77}"/>
              </a:ext>
            </a:extLst>
          </p:cNvPr>
          <p:cNvSpPr txBox="1"/>
          <p:nvPr/>
        </p:nvSpPr>
        <p:spPr>
          <a:xfrm>
            <a:off x="5817433" y="3232785"/>
            <a:ext cx="784086" cy="196849"/>
          </a:xfrm>
          <a:prstGeom prst="rect">
            <a:avLst/>
          </a:prstGeom>
        </p:spPr>
        <p:txBody>
          <a:bodyPr vert="horz" wrap="square" lIns="0" tIns="12065" rIns="0" bIns="0" rtlCol="0">
            <a:spAutoFit/>
          </a:bodyPr>
          <a:lstStyle/>
          <a:p>
            <a:pPr marL="12700">
              <a:lnSpc>
                <a:spcPct val="100000"/>
              </a:lnSpc>
              <a:spcBef>
                <a:spcPts val="95"/>
              </a:spcBef>
            </a:pPr>
            <a:r>
              <a:rPr sz="1200" spc="-5" dirty="0">
                <a:latin typeface="Times New Roman" panose="02020603050405020304" pitchFamily="18" charset="0"/>
                <a:cs typeface="Times New Roman" panose="02020603050405020304" pitchFamily="18" charset="0"/>
              </a:rPr>
              <a:t>120,000₮</a:t>
            </a:r>
            <a:endParaRPr sz="1200">
              <a:latin typeface="Times New Roman" panose="02020603050405020304" pitchFamily="18" charset="0"/>
              <a:cs typeface="Times New Roman" panose="02020603050405020304" pitchFamily="18" charset="0"/>
            </a:endParaRPr>
          </a:p>
        </p:txBody>
      </p:sp>
      <p:sp>
        <p:nvSpPr>
          <p:cNvPr id="29" name="object 28">
            <a:extLst>
              <a:ext uri="{FF2B5EF4-FFF2-40B4-BE49-F238E27FC236}">
                <a16:creationId xmlns:a16="http://schemas.microsoft.com/office/drawing/2014/main" id="{F505F551-0F3C-4676-B30C-E1F236C2B7BE}"/>
              </a:ext>
            </a:extLst>
          </p:cNvPr>
          <p:cNvSpPr txBox="1"/>
          <p:nvPr/>
        </p:nvSpPr>
        <p:spPr>
          <a:xfrm>
            <a:off x="5817433" y="2920745"/>
            <a:ext cx="784086" cy="196849"/>
          </a:xfrm>
          <a:prstGeom prst="rect">
            <a:avLst/>
          </a:prstGeom>
        </p:spPr>
        <p:txBody>
          <a:bodyPr vert="horz" wrap="square" lIns="0" tIns="12065" rIns="0" bIns="0" rtlCol="0">
            <a:spAutoFit/>
          </a:bodyPr>
          <a:lstStyle/>
          <a:p>
            <a:pPr marL="12700">
              <a:lnSpc>
                <a:spcPct val="100000"/>
              </a:lnSpc>
              <a:spcBef>
                <a:spcPts val="95"/>
              </a:spcBef>
            </a:pPr>
            <a:r>
              <a:rPr sz="1200" spc="-5" dirty="0">
                <a:latin typeface="Times New Roman" panose="02020603050405020304" pitchFamily="18" charset="0"/>
                <a:cs typeface="Times New Roman" panose="02020603050405020304" pitchFamily="18" charset="0"/>
              </a:rPr>
              <a:t>140,000₮</a:t>
            </a:r>
            <a:endParaRPr sz="1200">
              <a:latin typeface="Times New Roman" panose="02020603050405020304" pitchFamily="18" charset="0"/>
              <a:cs typeface="Times New Roman" panose="02020603050405020304" pitchFamily="18" charset="0"/>
            </a:endParaRPr>
          </a:p>
        </p:txBody>
      </p:sp>
      <p:pic>
        <p:nvPicPr>
          <p:cNvPr id="30" name="object 29">
            <a:extLst>
              <a:ext uri="{FF2B5EF4-FFF2-40B4-BE49-F238E27FC236}">
                <a16:creationId xmlns:a16="http://schemas.microsoft.com/office/drawing/2014/main" id="{FDDB842C-1A1B-4F85-8C9A-94A91352DE3C}"/>
              </a:ext>
            </a:extLst>
          </p:cNvPr>
          <p:cNvPicPr/>
          <p:nvPr/>
        </p:nvPicPr>
        <p:blipFill>
          <a:blip r:embed="rId4" cstate="print"/>
          <a:stretch>
            <a:fillRect/>
          </a:stretch>
        </p:blipFill>
        <p:spPr>
          <a:xfrm>
            <a:off x="6187722" y="5322277"/>
            <a:ext cx="740251" cy="522198"/>
          </a:xfrm>
          <a:prstGeom prst="rect">
            <a:avLst/>
          </a:prstGeom>
        </p:spPr>
      </p:pic>
      <p:sp>
        <p:nvSpPr>
          <p:cNvPr id="31" name="object 30">
            <a:extLst>
              <a:ext uri="{FF2B5EF4-FFF2-40B4-BE49-F238E27FC236}">
                <a16:creationId xmlns:a16="http://schemas.microsoft.com/office/drawing/2014/main" id="{3D43896B-6615-4DBE-B9EE-0AC2C20FD9B4}"/>
              </a:ext>
            </a:extLst>
          </p:cNvPr>
          <p:cNvSpPr/>
          <p:nvPr/>
        </p:nvSpPr>
        <p:spPr>
          <a:xfrm>
            <a:off x="6853966" y="5324818"/>
            <a:ext cx="728146" cy="520065"/>
          </a:xfrm>
          <a:custGeom>
            <a:avLst/>
            <a:gdLst/>
            <a:ahLst/>
            <a:cxnLst/>
            <a:rect l="l" t="t" r="r" b="b"/>
            <a:pathLst>
              <a:path w="504190" h="520064">
                <a:moveTo>
                  <a:pt x="29695" y="458584"/>
                </a:moveTo>
                <a:lnTo>
                  <a:pt x="11810" y="458584"/>
                </a:lnTo>
                <a:lnTo>
                  <a:pt x="13715" y="458838"/>
                </a:lnTo>
                <a:lnTo>
                  <a:pt x="14731" y="459485"/>
                </a:lnTo>
                <a:lnTo>
                  <a:pt x="15875" y="460654"/>
                </a:lnTo>
                <a:lnTo>
                  <a:pt x="53339" y="498106"/>
                </a:lnTo>
                <a:lnTo>
                  <a:pt x="54736" y="499744"/>
                </a:lnTo>
                <a:lnTo>
                  <a:pt x="55244" y="500989"/>
                </a:lnTo>
                <a:lnTo>
                  <a:pt x="55879" y="502221"/>
                </a:lnTo>
                <a:lnTo>
                  <a:pt x="56006" y="503453"/>
                </a:lnTo>
                <a:lnTo>
                  <a:pt x="47370" y="516470"/>
                </a:lnTo>
                <a:lnTo>
                  <a:pt x="50545" y="519658"/>
                </a:lnTo>
                <a:lnTo>
                  <a:pt x="77334" y="492848"/>
                </a:lnTo>
                <a:lnTo>
                  <a:pt x="67436" y="492848"/>
                </a:lnTo>
                <a:lnTo>
                  <a:pt x="65404" y="492734"/>
                </a:lnTo>
                <a:lnTo>
                  <a:pt x="64388" y="492378"/>
                </a:lnTo>
                <a:lnTo>
                  <a:pt x="62356" y="491032"/>
                </a:lnTo>
                <a:lnTo>
                  <a:pt x="60959" y="489851"/>
                </a:lnTo>
                <a:lnTo>
                  <a:pt x="59219" y="488073"/>
                </a:lnTo>
                <a:lnTo>
                  <a:pt x="29695" y="458584"/>
                </a:lnTo>
                <a:close/>
              </a:path>
              <a:path w="504190" h="520064">
                <a:moveTo>
                  <a:pt x="79628" y="484187"/>
                </a:moveTo>
                <a:lnTo>
                  <a:pt x="67436" y="492848"/>
                </a:lnTo>
                <a:lnTo>
                  <a:pt x="77334" y="492848"/>
                </a:lnTo>
                <a:lnTo>
                  <a:pt x="82803" y="487375"/>
                </a:lnTo>
                <a:lnTo>
                  <a:pt x="79628" y="484187"/>
                </a:lnTo>
                <a:close/>
              </a:path>
              <a:path w="504190" h="520064">
                <a:moveTo>
                  <a:pt x="10667" y="438988"/>
                </a:moveTo>
                <a:lnTo>
                  <a:pt x="8254" y="441388"/>
                </a:lnTo>
                <a:lnTo>
                  <a:pt x="0" y="474014"/>
                </a:lnTo>
                <a:lnTo>
                  <a:pt x="5206" y="475462"/>
                </a:lnTo>
                <a:lnTo>
                  <a:pt x="6095" y="471233"/>
                </a:lnTo>
                <a:lnTo>
                  <a:pt x="6857" y="467791"/>
                </a:lnTo>
                <a:lnTo>
                  <a:pt x="8381" y="462432"/>
                </a:lnTo>
                <a:lnTo>
                  <a:pt x="9270" y="460628"/>
                </a:lnTo>
                <a:lnTo>
                  <a:pt x="10921" y="458901"/>
                </a:lnTo>
                <a:lnTo>
                  <a:pt x="11810" y="458584"/>
                </a:lnTo>
                <a:lnTo>
                  <a:pt x="29695" y="458584"/>
                </a:lnTo>
                <a:lnTo>
                  <a:pt x="17017" y="445922"/>
                </a:lnTo>
                <a:lnTo>
                  <a:pt x="13088" y="441820"/>
                </a:lnTo>
                <a:lnTo>
                  <a:pt x="10667" y="438988"/>
                </a:lnTo>
                <a:close/>
              </a:path>
              <a:path w="504190" h="520064">
                <a:moveTo>
                  <a:pt x="79212" y="409003"/>
                </a:moveTo>
                <a:lnTo>
                  <a:pt x="61340" y="409003"/>
                </a:lnTo>
                <a:lnTo>
                  <a:pt x="63245" y="409270"/>
                </a:lnTo>
                <a:lnTo>
                  <a:pt x="64388" y="409917"/>
                </a:lnTo>
                <a:lnTo>
                  <a:pt x="65531" y="411086"/>
                </a:lnTo>
                <a:lnTo>
                  <a:pt x="102996" y="448538"/>
                </a:lnTo>
                <a:lnTo>
                  <a:pt x="104266" y="450176"/>
                </a:lnTo>
                <a:lnTo>
                  <a:pt x="104775" y="451408"/>
                </a:lnTo>
                <a:lnTo>
                  <a:pt x="105409" y="452653"/>
                </a:lnTo>
                <a:lnTo>
                  <a:pt x="105536" y="453885"/>
                </a:lnTo>
                <a:lnTo>
                  <a:pt x="105282" y="455104"/>
                </a:lnTo>
                <a:lnTo>
                  <a:pt x="105155" y="456323"/>
                </a:lnTo>
                <a:lnTo>
                  <a:pt x="104393" y="457758"/>
                </a:lnTo>
                <a:lnTo>
                  <a:pt x="102107" y="461009"/>
                </a:lnTo>
                <a:lnTo>
                  <a:pt x="100075" y="463524"/>
                </a:lnTo>
                <a:lnTo>
                  <a:pt x="96900" y="466902"/>
                </a:lnTo>
                <a:lnTo>
                  <a:pt x="100075" y="470090"/>
                </a:lnTo>
                <a:lnTo>
                  <a:pt x="126970" y="443280"/>
                </a:lnTo>
                <a:lnTo>
                  <a:pt x="117093" y="443280"/>
                </a:lnTo>
                <a:lnTo>
                  <a:pt x="115061" y="443166"/>
                </a:lnTo>
                <a:lnTo>
                  <a:pt x="108749" y="438505"/>
                </a:lnTo>
                <a:lnTo>
                  <a:pt x="79212" y="409003"/>
                </a:lnTo>
                <a:close/>
              </a:path>
              <a:path w="504190" h="520064">
                <a:moveTo>
                  <a:pt x="118109" y="327177"/>
                </a:moveTo>
                <a:lnTo>
                  <a:pt x="111251" y="333959"/>
                </a:lnTo>
                <a:lnTo>
                  <a:pt x="160908" y="446849"/>
                </a:lnTo>
                <a:lnTo>
                  <a:pt x="167766" y="439991"/>
                </a:lnTo>
                <a:lnTo>
                  <a:pt x="118109" y="327177"/>
                </a:lnTo>
                <a:close/>
              </a:path>
              <a:path w="504190" h="520064">
                <a:moveTo>
                  <a:pt x="129285" y="434619"/>
                </a:moveTo>
                <a:lnTo>
                  <a:pt x="117093" y="443280"/>
                </a:lnTo>
                <a:lnTo>
                  <a:pt x="126970" y="443280"/>
                </a:lnTo>
                <a:lnTo>
                  <a:pt x="132460" y="437807"/>
                </a:lnTo>
                <a:lnTo>
                  <a:pt x="129285" y="434619"/>
                </a:lnTo>
                <a:close/>
              </a:path>
              <a:path w="504190" h="520064">
                <a:moveTo>
                  <a:pt x="60198" y="389420"/>
                </a:moveTo>
                <a:lnTo>
                  <a:pt x="57784" y="391820"/>
                </a:lnTo>
                <a:lnTo>
                  <a:pt x="49529" y="424446"/>
                </a:lnTo>
                <a:lnTo>
                  <a:pt x="54863" y="425881"/>
                </a:lnTo>
                <a:lnTo>
                  <a:pt x="55625" y="421665"/>
                </a:lnTo>
                <a:lnTo>
                  <a:pt x="56387" y="418210"/>
                </a:lnTo>
                <a:lnTo>
                  <a:pt x="61340" y="409003"/>
                </a:lnTo>
                <a:lnTo>
                  <a:pt x="79212" y="409003"/>
                </a:lnTo>
                <a:lnTo>
                  <a:pt x="66548" y="396354"/>
                </a:lnTo>
                <a:lnTo>
                  <a:pt x="62737" y="392391"/>
                </a:lnTo>
                <a:lnTo>
                  <a:pt x="60198" y="389420"/>
                </a:lnTo>
                <a:close/>
              </a:path>
              <a:path w="504190" h="520064">
                <a:moveTo>
                  <a:pt x="182075" y="302590"/>
                </a:moveTo>
                <a:lnTo>
                  <a:pt x="159892" y="302590"/>
                </a:lnTo>
                <a:lnTo>
                  <a:pt x="162178" y="302831"/>
                </a:lnTo>
                <a:lnTo>
                  <a:pt x="167004" y="304787"/>
                </a:lnTo>
                <a:lnTo>
                  <a:pt x="169290" y="306362"/>
                </a:lnTo>
                <a:lnTo>
                  <a:pt x="171450" y="308546"/>
                </a:lnTo>
                <a:lnTo>
                  <a:pt x="172846" y="309918"/>
                </a:lnTo>
                <a:lnTo>
                  <a:pt x="173989" y="311454"/>
                </a:lnTo>
                <a:lnTo>
                  <a:pt x="176021" y="314858"/>
                </a:lnTo>
                <a:lnTo>
                  <a:pt x="176910" y="316877"/>
                </a:lnTo>
                <a:lnTo>
                  <a:pt x="177545" y="319201"/>
                </a:lnTo>
                <a:lnTo>
                  <a:pt x="178307" y="321538"/>
                </a:lnTo>
                <a:lnTo>
                  <a:pt x="180975" y="352297"/>
                </a:lnTo>
                <a:lnTo>
                  <a:pt x="181736" y="359079"/>
                </a:lnTo>
                <a:lnTo>
                  <a:pt x="182879" y="364413"/>
                </a:lnTo>
                <a:lnTo>
                  <a:pt x="183895" y="369735"/>
                </a:lnTo>
                <a:lnTo>
                  <a:pt x="185419" y="374561"/>
                </a:lnTo>
                <a:lnTo>
                  <a:pt x="187198" y="378866"/>
                </a:lnTo>
                <a:lnTo>
                  <a:pt x="189229" y="380961"/>
                </a:lnTo>
                <a:lnTo>
                  <a:pt x="204774" y="365417"/>
                </a:lnTo>
                <a:lnTo>
                  <a:pt x="190880" y="365417"/>
                </a:lnTo>
                <a:lnTo>
                  <a:pt x="189670" y="359782"/>
                </a:lnTo>
                <a:lnTo>
                  <a:pt x="187325" y="326301"/>
                </a:lnTo>
                <a:lnTo>
                  <a:pt x="187198" y="323468"/>
                </a:lnTo>
                <a:lnTo>
                  <a:pt x="182499" y="303352"/>
                </a:lnTo>
                <a:lnTo>
                  <a:pt x="182075" y="302590"/>
                </a:lnTo>
                <a:close/>
              </a:path>
              <a:path w="504190" h="520064">
                <a:moveTo>
                  <a:pt x="213232" y="331520"/>
                </a:moveTo>
                <a:lnTo>
                  <a:pt x="209423" y="335229"/>
                </a:lnTo>
                <a:lnTo>
                  <a:pt x="210438" y="337070"/>
                </a:lnTo>
                <a:lnTo>
                  <a:pt x="211074" y="338467"/>
                </a:lnTo>
                <a:lnTo>
                  <a:pt x="211327" y="339432"/>
                </a:lnTo>
                <a:lnTo>
                  <a:pt x="211708" y="340385"/>
                </a:lnTo>
                <a:lnTo>
                  <a:pt x="211835" y="341337"/>
                </a:lnTo>
                <a:lnTo>
                  <a:pt x="211581" y="343192"/>
                </a:lnTo>
                <a:lnTo>
                  <a:pt x="211200" y="344182"/>
                </a:lnTo>
                <a:lnTo>
                  <a:pt x="210438" y="345236"/>
                </a:lnTo>
                <a:lnTo>
                  <a:pt x="209803" y="346278"/>
                </a:lnTo>
                <a:lnTo>
                  <a:pt x="208787" y="347522"/>
                </a:lnTo>
                <a:lnTo>
                  <a:pt x="207263" y="348945"/>
                </a:lnTo>
                <a:lnTo>
                  <a:pt x="190880" y="365417"/>
                </a:lnTo>
                <a:lnTo>
                  <a:pt x="204774" y="365417"/>
                </a:lnTo>
                <a:lnTo>
                  <a:pt x="225170" y="345020"/>
                </a:lnTo>
                <a:lnTo>
                  <a:pt x="213232" y="331520"/>
                </a:lnTo>
                <a:close/>
              </a:path>
              <a:path w="504190" h="520064">
                <a:moveTo>
                  <a:pt x="169417" y="292061"/>
                </a:moveTo>
                <a:lnTo>
                  <a:pt x="159130" y="292849"/>
                </a:lnTo>
                <a:lnTo>
                  <a:pt x="153796" y="295757"/>
                </a:lnTo>
                <a:lnTo>
                  <a:pt x="148462" y="301167"/>
                </a:lnTo>
                <a:lnTo>
                  <a:pt x="145923" y="303618"/>
                </a:lnTo>
                <a:lnTo>
                  <a:pt x="135000" y="324053"/>
                </a:lnTo>
                <a:lnTo>
                  <a:pt x="143382" y="332435"/>
                </a:lnTo>
                <a:lnTo>
                  <a:pt x="148589" y="327151"/>
                </a:lnTo>
                <a:lnTo>
                  <a:pt x="144525" y="319201"/>
                </a:lnTo>
                <a:lnTo>
                  <a:pt x="145160" y="312508"/>
                </a:lnTo>
                <a:lnTo>
                  <a:pt x="152780" y="304876"/>
                </a:lnTo>
                <a:lnTo>
                  <a:pt x="155066" y="303555"/>
                </a:lnTo>
                <a:lnTo>
                  <a:pt x="159892" y="302590"/>
                </a:lnTo>
                <a:lnTo>
                  <a:pt x="182075" y="302590"/>
                </a:lnTo>
                <a:lnTo>
                  <a:pt x="181609" y="301751"/>
                </a:lnTo>
                <a:lnTo>
                  <a:pt x="180339" y="300177"/>
                </a:lnTo>
                <a:lnTo>
                  <a:pt x="178688" y="298640"/>
                </a:lnTo>
                <a:lnTo>
                  <a:pt x="174243" y="294119"/>
                </a:lnTo>
                <a:lnTo>
                  <a:pt x="169417" y="292061"/>
                </a:lnTo>
                <a:close/>
              </a:path>
              <a:path w="504190" h="520064">
                <a:moveTo>
                  <a:pt x="225662" y="248069"/>
                </a:moveTo>
                <a:lnTo>
                  <a:pt x="217424" y="248069"/>
                </a:lnTo>
                <a:lnTo>
                  <a:pt x="218185" y="248704"/>
                </a:lnTo>
                <a:lnTo>
                  <a:pt x="244475" y="322135"/>
                </a:lnTo>
                <a:lnTo>
                  <a:pt x="246506" y="324269"/>
                </a:lnTo>
                <a:lnTo>
                  <a:pt x="252856" y="317931"/>
                </a:lnTo>
                <a:lnTo>
                  <a:pt x="225662" y="248069"/>
                </a:lnTo>
                <a:close/>
              </a:path>
              <a:path w="504190" h="520064">
                <a:moveTo>
                  <a:pt x="218439" y="232575"/>
                </a:moveTo>
                <a:lnTo>
                  <a:pt x="180975" y="270078"/>
                </a:lnTo>
                <a:lnTo>
                  <a:pt x="194182" y="285089"/>
                </a:lnTo>
                <a:lnTo>
                  <a:pt x="197992" y="281343"/>
                </a:lnTo>
                <a:lnTo>
                  <a:pt x="196468" y="278803"/>
                </a:lnTo>
                <a:lnTo>
                  <a:pt x="195579" y="277050"/>
                </a:lnTo>
                <a:lnTo>
                  <a:pt x="195325" y="276059"/>
                </a:lnTo>
                <a:lnTo>
                  <a:pt x="194944" y="275069"/>
                </a:lnTo>
                <a:lnTo>
                  <a:pt x="194944" y="272351"/>
                </a:lnTo>
                <a:lnTo>
                  <a:pt x="217424" y="248069"/>
                </a:lnTo>
                <a:lnTo>
                  <a:pt x="225662" y="248069"/>
                </a:lnTo>
                <a:lnTo>
                  <a:pt x="220471" y="234734"/>
                </a:lnTo>
                <a:lnTo>
                  <a:pt x="218439" y="232575"/>
                </a:lnTo>
                <a:close/>
              </a:path>
              <a:path w="504190" h="520064">
                <a:moveTo>
                  <a:pt x="261365" y="184149"/>
                </a:moveTo>
                <a:lnTo>
                  <a:pt x="254634" y="191769"/>
                </a:lnTo>
                <a:lnTo>
                  <a:pt x="304291" y="303529"/>
                </a:lnTo>
                <a:lnTo>
                  <a:pt x="311150" y="297179"/>
                </a:lnTo>
                <a:lnTo>
                  <a:pt x="261365" y="184149"/>
                </a:lnTo>
                <a:close/>
              </a:path>
              <a:path w="504190" h="520064">
                <a:moveTo>
                  <a:pt x="325374" y="160019"/>
                </a:moveTo>
                <a:lnTo>
                  <a:pt x="305561" y="160019"/>
                </a:lnTo>
                <a:lnTo>
                  <a:pt x="307975" y="161289"/>
                </a:lnTo>
                <a:lnTo>
                  <a:pt x="312546" y="163829"/>
                </a:lnTo>
                <a:lnTo>
                  <a:pt x="314705" y="166369"/>
                </a:lnTo>
                <a:lnTo>
                  <a:pt x="316102" y="167639"/>
                </a:lnTo>
                <a:lnTo>
                  <a:pt x="317373" y="168909"/>
                </a:lnTo>
                <a:lnTo>
                  <a:pt x="318388" y="170179"/>
                </a:lnTo>
                <a:lnTo>
                  <a:pt x="319277" y="172719"/>
                </a:lnTo>
                <a:lnTo>
                  <a:pt x="320166" y="173989"/>
                </a:lnTo>
                <a:lnTo>
                  <a:pt x="323807" y="200659"/>
                </a:lnTo>
                <a:lnTo>
                  <a:pt x="323934" y="203199"/>
                </a:lnTo>
                <a:lnTo>
                  <a:pt x="332612" y="238759"/>
                </a:lnTo>
                <a:lnTo>
                  <a:pt x="348724" y="222249"/>
                </a:lnTo>
                <a:lnTo>
                  <a:pt x="334136" y="222249"/>
                </a:lnTo>
                <a:lnTo>
                  <a:pt x="332944" y="217169"/>
                </a:lnTo>
                <a:lnTo>
                  <a:pt x="332025" y="210819"/>
                </a:lnTo>
                <a:lnTo>
                  <a:pt x="331368" y="203199"/>
                </a:lnTo>
                <a:lnTo>
                  <a:pt x="330961" y="195579"/>
                </a:lnTo>
                <a:lnTo>
                  <a:pt x="330834" y="187959"/>
                </a:lnTo>
                <a:lnTo>
                  <a:pt x="330580" y="184149"/>
                </a:lnTo>
                <a:lnTo>
                  <a:pt x="330326" y="177799"/>
                </a:lnTo>
                <a:lnTo>
                  <a:pt x="330073" y="175259"/>
                </a:lnTo>
                <a:lnTo>
                  <a:pt x="328929" y="167639"/>
                </a:lnTo>
                <a:lnTo>
                  <a:pt x="328294" y="166369"/>
                </a:lnTo>
                <a:lnTo>
                  <a:pt x="327659" y="163829"/>
                </a:lnTo>
                <a:lnTo>
                  <a:pt x="326898" y="162559"/>
                </a:lnTo>
                <a:lnTo>
                  <a:pt x="325881" y="161289"/>
                </a:lnTo>
                <a:lnTo>
                  <a:pt x="325374" y="160019"/>
                </a:lnTo>
                <a:close/>
              </a:path>
              <a:path w="504190" h="520064">
                <a:moveTo>
                  <a:pt x="356488" y="189229"/>
                </a:moveTo>
                <a:lnTo>
                  <a:pt x="352805" y="193039"/>
                </a:lnTo>
                <a:lnTo>
                  <a:pt x="353694" y="194309"/>
                </a:lnTo>
                <a:lnTo>
                  <a:pt x="354329" y="195579"/>
                </a:lnTo>
                <a:lnTo>
                  <a:pt x="355091" y="198119"/>
                </a:lnTo>
                <a:lnTo>
                  <a:pt x="354964" y="200659"/>
                </a:lnTo>
                <a:lnTo>
                  <a:pt x="353821" y="203199"/>
                </a:lnTo>
                <a:lnTo>
                  <a:pt x="353059" y="203199"/>
                </a:lnTo>
                <a:lnTo>
                  <a:pt x="352043" y="204469"/>
                </a:lnTo>
                <a:lnTo>
                  <a:pt x="350646" y="205739"/>
                </a:lnTo>
                <a:lnTo>
                  <a:pt x="334136" y="222249"/>
                </a:lnTo>
                <a:lnTo>
                  <a:pt x="348724" y="222249"/>
                </a:lnTo>
                <a:lnTo>
                  <a:pt x="368553" y="201929"/>
                </a:lnTo>
                <a:lnTo>
                  <a:pt x="356488" y="189229"/>
                </a:lnTo>
                <a:close/>
              </a:path>
              <a:path w="504190" h="520064">
                <a:moveTo>
                  <a:pt x="312674" y="149859"/>
                </a:moveTo>
                <a:lnTo>
                  <a:pt x="302386" y="149859"/>
                </a:lnTo>
                <a:lnTo>
                  <a:pt x="297179" y="153669"/>
                </a:lnTo>
                <a:lnTo>
                  <a:pt x="278256" y="181609"/>
                </a:lnTo>
                <a:lnTo>
                  <a:pt x="286638" y="189229"/>
                </a:lnTo>
                <a:lnTo>
                  <a:pt x="291973" y="184149"/>
                </a:lnTo>
                <a:lnTo>
                  <a:pt x="287781" y="176529"/>
                </a:lnTo>
                <a:lnTo>
                  <a:pt x="288416" y="170179"/>
                </a:lnTo>
                <a:lnTo>
                  <a:pt x="296036" y="162559"/>
                </a:lnTo>
                <a:lnTo>
                  <a:pt x="298323" y="161289"/>
                </a:lnTo>
                <a:lnTo>
                  <a:pt x="300735" y="160019"/>
                </a:lnTo>
                <a:lnTo>
                  <a:pt x="325374" y="160019"/>
                </a:lnTo>
                <a:lnTo>
                  <a:pt x="324865" y="158749"/>
                </a:lnTo>
                <a:lnTo>
                  <a:pt x="323595" y="157479"/>
                </a:lnTo>
                <a:lnTo>
                  <a:pt x="317500" y="151129"/>
                </a:lnTo>
                <a:lnTo>
                  <a:pt x="312674" y="149859"/>
                </a:lnTo>
                <a:close/>
              </a:path>
              <a:path w="504190" h="520064">
                <a:moveTo>
                  <a:pt x="354837" y="100329"/>
                </a:moveTo>
                <a:lnTo>
                  <a:pt x="333882" y="125729"/>
                </a:lnTo>
                <a:lnTo>
                  <a:pt x="334771" y="130809"/>
                </a:lnTo>
                <a:lnTo>
                  <a:pt x="360267" y="166369"/>
                </a:lnTo>
                <a:lnTo>
                  <a:pt x="388111" y="179069"/>
                </a:lnTo>
                <a:lnTo>
                  <a:pt x="395224" y="176529"/>
                </a:lnTo>
                <a:lnTo>
                  <a:pt x="401446" y="170179"/>
                </a:lnTo>
                <a:lnTo>
                  <a:pt x="389889" y="170179"/>
                </a:lnTo>
                <a:lnTo>
                  <a:pt x="383666" y="167639"/>
                </a:lnTo>
                <a:lnTo>
                  <a:pt x="352551" y="142239"/>
                </a:lnTo>
                <a:lnTo>
                  <a:pt x="349757" y="138429"/>
                </a:lnTo>
                <a:lnTo>
                  <a:pt x="346836" y="134619"/>
                </a:lnTo>
                <a:lnTo>
                  <a:pt x="344677" y="130809"/>
                </a:lnTo>
                <a:lnTo>
                  <a:pt x="341883" y="125729"/>
                </a:lnTo>
                <a:lnTo>
                  <a:pt x="341249" y="121919"/>
                </a:lnTo>
                <a:lnTo>
                  <a:pt x="341375" y="119379"/>
                </a:lnTo>
                <a:lnTo>
                  <a:pt x="341629" y="116839"/>
                </a:lnTo>
                <a:lnTo>
                  <a:pt x="342645" y="115569"/>
                </a:lnTo>
                <a:lnTo>
                  <a:pt x="346836" y="110489"/>
                </a:lnTo>
                <a:lnTo>
                  <a:pt x="349630" y="109219"/>
                </a:lnTo>
                <a:lnTo>
                  <a:pt x="377315" y="109219"/>
                </a:lnTo>
                <a:lnTo>
                  <a:pt x="375586" y="107949"/>
                </a:lnTo>
                <a:lnTo>
                  <a:pt x="369028" y="104139"/>
                </a:lnTo>
                <a:lnTo>
                  <a:pt x="362838" y="101599"/>
                </a:lnTo>
                <a:lnTo>
                  <a:pt x="354837" y="100329"/>
                </a:lnTo>
                <a:close/>
              </a:path>
              <a:path w="504190" h="520064">
                <a:moveTo>
                  <a:pt x="377315" y="109219"/>
                </a:moveTo>
                <a:lnTo>
                  <a:pt x="349630" y="109219"/>
                </a:lnTo>
                <a:lnTo>
                  <a:pt x="356361" y="110489"/>
                </a:lnTo>
                <a:lnTo>
                  <a:pt x="360552" y="111759"/>
                </a:lnTo>
                <a:lnTo>
                  <a:pt x="365632" y="115569"/>
                </a:lnTo>
                <a:lnTo>
                  <a:pt x="370712" y="118109"/>
                </a:lnTo>
                <a:lnTo>
                  <a:pt x="376554" y="123189"/>
                </a:lnTo>
                <a:lnTo>
                  <a:pt x="383158" y="130809"/>
                </a:lnTo>
                <a:lnTo>
                  <a:pt x="389155" y="135889"/>
                </a:lnTo>
                <a:lnTo>
                  <a:pt x="393985" y="142239"/>
                </a:lnTo>
                <a:lnTo>
                  <a:pt x="397625" y="147319"/>
                </a:lnTo>
                <a:lnTo>
                  <a:pt x="400050" y="152399"/>
                </a:lnTo>
                <a:lnTo>
                  <a:pt x="402589" y="158749"/>
                </a:lnTo>
                <a:lnTo>
                  <a:pt x="401954" y="162559"/>
                </a:lnTo>
                <a:lnTo>
                  <a:pt x="398525" y="166369"/>
                </a:lnTo>
                <a:lnTo>
                  <a:pt x="394842" y="170179"/>
                </a:lnTo>
                <a:lnTo>
                  <a:pt x="401446" y="170179"/>
                </a:lnTo>
                <a:lnTo>
                  <a:pt x="407924" y="163829"/>
                </a:lnTo>
                <a:lnTo>
                  <a:pt x="410082" y="157479"/>
                </a:lnTo>
                <a:lnTo>
                  <a:pt x="408177" y="148589"/>
                </a:lnTo>
                <a:lnTo>
                  <a:pt x="382502" y="113029"/>
                </a:lnTo>
                <a:lnTo>
                  <a:pt x="377315" y="109219"/>
                </a:lnTo>
                <a:close/>
              </a:path>
              <a:path w="504190" h="520064">
                <a:moveTo>
                  <a:pt x="404367" y="50799"/>
                </a:moveTo>
                <a:lnTo>
                  <a:pt x="383412" y="76199"/>
                </a:lnTo>
                <a:lnTo>
                  <a:pt x="384301" y="81279"/>
                </a:lnTo>
                <a:lnTo>
                  <a:pt x="409817" y="116839"/>
                </a:lnTo>
                <a:lnTo>
                  <a:pt x="437641" y="129539"/>
                </a:lnTo>
                <a:lnTo>
                  <a:pt x="444753" y="126999"/>
                </a:lnTo>
                <a:lnTo>
                  <a:pt x="451103" y="120649"/>
                </a:lnTo>
                <a:lnTo>
                  <a:pt x="439419" y="120649"/>
                </a:lnTo>
                <a:lnTo>
                  <a:pt x="433196" y="118109"/>
                </a:lnTo>
                <a:lnTo>
                  <a:pt x="402208" y="92709"/>
                </a:lnTo>
                <a:lnTo>
                  <a:pt x="392937" y="78739"/>
                </a:lnTo>
                <a:lnTo>
                  <a:pt x="391413" y="76199"/>
                </a:lnTo>
                <a:lnTo>
                  <a:pt x="390905" y="72389"/>
                </a:lnTo>
                <a:lnTo>
                  <a:pt x="391159" y="67309"/>
                </a:lnTo>
                <a:lnTo>
                  <a:pt x="392302" y="66039"/>
                </a:lnTo>
                <a:lnTo>
                  <a:pt x="394207" y="63499"/>
                </a:lnTo>
                <a:lnTo>
                  <a:pt x="396493" y="60959"/>
                </a:lnTo>
                <a:lnTo>
                  <a:pt x="399287" y="59689"/>
                </a:lnTo>
                <a:lnTo>
                  <a:pt x="426870" y="59689"/>
                </a:lnTo>
                <a:lnTo>
                  <a:pt x="425132" y="58419"/>
                </a:lnTo>
                <a:lnTo>
                  <a:pt x="418560" y="54609"/>
                </a:lnTo>
                <a:lnTo>
                  <a:pt x="412368" y="52069"/>
                </a:lnTo>
                <a:lnTo>
                  <a:pt x="404367" y="50799"/>
                </a:lnTo>
                <a:close/>
              </a:path>
              <a:path w="504190" h="520064">
                <a:moveTo>
                  <a:pt x="426870" y="59689"/>
                </a:moveTo>
                <a:lnTo>
                  <a:pt x="399287" y="59689"/>
                </a:lnTo>
                <a:lnTo>
                  <a:pt x="406018" y="60959"/>
                </a:lnTo>
                <a:lnTo>
                  <a:pt x="410209" y="62229"/>
                </a:lnTo>
                <a:lnTo>
                  <a:pt x="415162" y="66039"/>
                </a:lnTo>
                <a:lnTo>
                  <a:pt x="420242" y="68579"/>
                </a:lnTo>
                <a:lnTo>
                  <a:pt x="426084" y="73659"/>
                </a:lnTo>
                <a:lnTo>
                  <a:pt x="432815" y="81279"/>
                </a:lnTo>
                <a:lnTo>
                  <a:pt x="438792" y="86359"/>
                </a:lnTo>
                <a:lnTo>
                  <a:pt x="443579" y="92709"/>
                </a:lnTo>
                <a:lnTo>
                  <a:pt x="447174" y="97789"/>
                </a:lnTo>
                <a:lnTo>
                  <a:pt x="449579" y="102869"/>
                </a:lnTo>
                <a:lnTo>
                  <a:pt x="452119" y="107949"/>
                </a:lnTo>
                <a:lnTo>
                  <a:pt x="451611" y="113029"/>
                </a:lnTo>
                <a:lnTo>
                  <a:pt x="444373" y="120649"/>
                </a:lnTo>
                <a:lnTo>
                  <a:pt x="451103" y="120649"/>
                </a:lnTo>
                <a:lnTo>
                  <a:pt x="457453" y="114299"/>
                </a:lnTo>
                <a:lnTo>
                  <a:pt x="459739" y="106679"/>
                </a:lnTo>
                <a:lnTo>
                  <a:pt x="457707" y="99059"/>
                </a:lnTo>
                <a:lnTo>
                  <a:pt x="432085" y="63499"/>
                </a:lnTo>
                <a:lnTo>
                  <a:pt x="426870" y="59689"/>
                </a:lnTo>
                <a:close/>
              </a:path>
              <a:path w="504190" h="520064">
                <a:moveTo>
                  <a:pt x="496768" y="30479"/>
                </a:moveTo>
                <a:lnTo>
                  <a:pt x="483361" y="30479"/>
                </a:lnTo>
                <a:lnTo>
                  <a:pt x="488568" y="36829"/>
                </a:lnTo>
                <a:lnTo>
                  <a:pt x="491870" y="43179"/>
                </a:lnTo>
                <a:lnTo>
                  <a:pt x="495426" y="53339"/>
                </a:lnTo>
                <a:lnTo>
                  <a:pt x="495680" y="58419"/>
                </a:lnTo>
                <a:lnTo>
                  <a:pt x="494410" y="63499"/>
                </a:lnTo>
                <a:lnTo>
                  <a:pt x="493267" y="68579"/>
                </a:lnTo>
                <a:lnTo>
                  <a:pt x="490600" y="72389"/>
                </a:lnTo>
                <a:lnTo>
                  <a:pt x="486536" y="76199"/>
                </a:lnTo>
                <a:lnTo>
                  <a:pt x="488695" y="78739"/>
                </a:lnTo>
                <a:lnTo>
                  <a:pt x="503935" y="52069"/>
                </a:lnTo>
                <a:lnTo>
                  <a:pt x="503046" y="44449"/>
                </a:lnTo>
                <a:lnTo>
                  <a:pt x="500125" y="36829"/>
                </a:lnTo>
                <a:lnTo>
                  <a:pt x="497457" y="31749"/>
                </a:lnTo>
                <a:lnTo>
                  <a:pt x="496768" y="30479"/>
                </a:lnTo>
                <a:close/>
              </a:path>
              <a:path w="504190" h="520064">
                <a:moveTo>
                  <a:pt x="454278" y="0"/>
                </a:moveTo>
                <a:lnTo>
                  <a:pt x="447548" y="2539"/>
                </a:lnTo>
                <a:lnTo>
                  <a:pt x="438023" y="12699"/>
                </a:lnTo>
                <a:lnTo>
                  <a:pt x="435482" y="15239"/>
                </a:lnTo>
                <a:lnTo>
                  <a:pt x="432434" y="22859"/>
                </a:lnTo>
                <a:lnTo>
                  <a:pt x="431926" y="25399"/>
                </a:lnTo>
                <a:lnTo>
                  <a:pt x="431800" y="33019"/>
                </a:lnTo>
                <a:lnTo>
                  <a:pt x="432561" y="36829"/>
                </a:lnTo>
                <a:lnTo>
                  <a:pt x="451103" y="55879"/>
                </a:lnTo>
                <a:lnTo>
                  <a:pt x="454786" y="57149"/>
                </a:lnTo>
                <a:lnTo>
                  <a:pt x="458596" y="58419"/>
                </a:lnTo>
                <a:lnTo>
                  <a:pt x="462279" y="57149"/>
                </a:lnTo>
                <a:lnTo>
                  <a:pt x="466089" y="55879"/>
                </a:lnTo>
                <a:lnTo>
                  <a:pt x="469645" y="54609"/>
                </a:lnTo>
                <a:lnTo>
                  <a:pt x="472948" y="50799"/>
                </a:lnTo>
                <a:lnTo>
                  <a:pt x="475614" y="48259"/>
                </a:lnTo>
                <a:lnTo>
                  <a:pt x="464438" y="48259"/>
                </a:lnTo>
                <a:lnTo>
                  <a:pt x="456056" y="46989"/>
                </a:lnTo>
                <a:lnTo>
                  <a:pt x="451865" y="44449"/>
                </a:lnTo>
                <a:lnTo>
                  <a:pt x="447420" y="39369"/>
                </a:lnTo>
                <a:lnTo>
                  <a:pt x="445388" y="38099"/>
                </a:lnTo>
                <a:lnTo>
                  <a:pt x="443610" y="35559"/>
                </a:lnTo>
                <a:lnTo>
                  <a:pt x="442340" y="33019"/>
                </a:lnTo>
                <a:lnTo>
                  <a:pt x="440943" y="30479"/>
                </a:lnTo>
                <a:lnTo>
                  <a:pt x="440054" y="29209"/>
                </a:lnTo>
                <a:lnTo>
                  <a:pt x="439292" y="24129"/>
                </a:lnTo>
                <a:lnTo>
                  <a:pt x="439546" y="21589"/>
                </a:lnTo>
                <a:lnTo>
                  <a:pt x="440308" y="19049"/>
                </a:lnTo>
                <a:lnTo>
                  <a:pt x="441070" y="17779"/>
                </a:lnTo>
                <a:lnTo>
                  <a:pt x="442467" y="15239"/>
                </a:lnTo>
                <a:lnTo>
                  <a:pt x="444626" y="12699"/>
                </a:lnTo>
                <a:lnTo>
                  <a:pt x="447166" y="10159"/>
                </a:lnTo>
                <a:lnTo>
                  <a:pt x="449833" y="8889"/>
                </a:lnTo>
                <a:lnTo>
                  <a:pt x="478881" y="8889"/>
                </a:lnTo>
                <a:lnTo>
                  <a:pt x="473074" y="5079"/>
                </a:lnTo>
                <a:lnTo>
                  <a:pt x="467363" y="2539"/>
                </a:lnTo>
                <a:lnTo>
                  <a:pt x="461771" y="1269"/>
                </a:lnTo>
                <a:lnTo>
                  <a:pt x="454278" y="0"/>
                </a:lnTo>
                <a:close/>
              </a:path>
              <a:path w="504190" h="520064">
                <a:moveTo>
                  <a:pt x="478881" y="8889"/>
                </a:moveTo>
                <a:lnTo>
                  <a:pt x="456056" y="8889"/>
                </a:lnTo>
                <a:lnTo>
                  <a:pt x="459358" y="10159"/>
                </a:lnTo>
                <a:lnTo>
                  <a:pt x="463041" y="11429"/>
                </a:lnTo>
                <a:lnTo>
                  <a:pt x="466725" y="13969"/>
                </a:lnTo>
                <a:lnTo>
                  <a:pt x="470534" y="16509"/>
                </a:lnTo>
                <a:lnTo>
                  <a:pt x="474471" y="20319"/>
                </a:lnTo>
                <a:lnTo>
                  <a:pt x="475741" y="21589"/>
                </a:lnTo>
                <a:lnTo>
                  <a:pt x="476630" y="22859"/>
                </a:lnTo>
                <a:lnTo>
                  <a:pt x="477646" y="24129"/>
                </a:lnTo>
                <a:lnTo>
                  <a:pt x="478027" y="25399"/>
                </a:lnTo>
                <a:lnTo>
                  <a:pt x="478281" y="29209"/>
                </a:lnTo>
                <a:lnTo>
                  <a:pt x="471296" y="43179"/>
                </a:lnTo>
                <a:lnTo>
                  <a:pt x="468121" y="46989"/>
                </a:lnTo>
                <a:lnTo>
                  <a:pt x="464438" y="48259"/>
                </a:lnTo>
                <a:lnTo>
                  <a:pt x="475614" y="48259"/>
                </a:lnTo>
                <a:lnTo>
                  <a:pt x="477774" y="44449"/>
                </a:lnTo>
                <a:lnTo>
                  <a:pt x="479425" y="41909"/>
                </a:lnTo>
                <a:lnTo>
                  <a:pt x="480949" y="38099"/>
                </a:lnTo>
                <a:lnTo>
                  <a:pt x="482091" y="35559"/>
                </a:lnTo>
                <a:lnTo>
                  <a:pt x="482726" y="30479"/>
                </a:lnTo>
                <a:lnTo>
                  <a:pt x="496768" y="30479"/>
                </a:lnTo>
                <a:lnTo>
                  <a:pt x="494014" y="25399"/>
                </a:lnTo>
                <a:lnTo>
                  <a:pt x="489785" y="20319"/>
                </a:lnTo>
                <a:lnTo>
                  <a:pt x="484758" y="13969"/>
                </a:lnTo>
                <a:lnTo>
                  <a:pt x="478881" y="8889"/>
                </a:lnTo>
                <a:close/>
              </a:path>
            </a:pathLst>
          </a:custGeom>
          <a:solidFill>
            <a:srgbClr val="000000"/>
          </a:solidFill>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sp>
        <p:nvSpPr>
          <p:cNvPr id="32" name="object 31">
            <a:extLst>
              <a:ext uri="{FF2B5EF4-FFF2-40B4-BE49-F238E27FC236}">
                <a16:creationId xmlns:a16="http://schemas.microsoft.com/office/drawing/2014/main" id="{65108204-120E-410C-8982-0D1BFB304CC7}"/>
              </a:ext>
            </a:extLst>
          </p:cNvPr>
          <p:cNvSpPr/>
          <p:nvPr/>
        </p:nvSpPr>
        <p:spPr>
          <a:xfrm>
            <a:off x="7520081" y="5324818"/>
            <a:ext cx="737316" cy="520065"/>
          </a:xfrm>
          <a:custGeom>
            <a:avLst/>
            <a:gdLst/>
            <a:ahLst/>
            <a:cxnLst/>
            <a:rect l="l" t="t" r="r" b="b"/>
            <a:pathLst>
              <a:path w="510540" h="520064">
                <a:moveTo>
                  <a:pt x="29784" y="458584"/>
                </a:moveTo>
                <a:lnTo>
                  <a:pt x="11938" y="458584"/>
                </a:lnTo>
                <a:lnTo>
                  <a:pt x="13843" y="458838"/>
                </a:lnTo>
                <a:lnTo>
                  <a:pt x="14859" y="459485"/>
                </a:lnTo>
                <a:lnTo>
                  <a:pt x="16001" y="460654"/>
                </a:lnTo>
                <a:lnTo>
                  <a:pt x="53467" y="498106"/>
                </a:lnTo>
                <a:lnTo>
                  <a:pt x="54737" y="499744"/>
                </a:lnTo>
                <a:lnTo>
                  <a:pt x="55372" y="500989"/>
                </a:lnTo>
                <a:lnTo>
                  <a:pt x="55879" y="502221"/>
                </a:lnTo>
                <a:lnTo>
                  <a:pt x="56134" y="503453"/>
                </a:lnTo>
                <a:lnTo>
                  <a:pt x="55625" y="505904"/>
                </a:lnTo>
                <a:lnTo>
                  <a:pt x="54991" y="507326"/>
                </a:lnTo>
                <a:lnTo>
                  <a:pt x="52704" y="510590"/>
                </a:lnTo>
                <a:lnTo>
                  <a:pt x="50546" y="513092"/>
                </a:lnTo>
                <a:lnTo>
                  <a:pt x="47498" y="516470"/>
                </a:lnTo>
                <a:lnTo>
                  <a:pt x="50673" y="519658"/>
                </a:lnTo>
                <a:lnTo>
                  <a:pt x="77461" y="492848"/>
                </a:lnTo>
                <a:lnTo>
                  <a:pt x="67564" y="492848"/>
                </a:lnTo>
                <a:lnTo>
                  <a:pt x="65531" y="492734"/>
                </a:lnTo>
                <a:lnTo>
                  <a:pt x="64516" y="492378"/>
                </a:lnTo>
                <a:lnTo>
                  <a:pt x="63500" y="491705"/>
                </a:lnTo>
                <a:lnTo>
                  <a:pt x="62356" y="491032"/>
                </a:lnTo>
                <a:lnTo>
                  <a:pt x="59220" y="488073"/>
                </a:lnTo>
                <a:lnTo>
                  <a:pt x="29784" y="458584"/>
                </a:lnTo>
                <a:close/>
              </a:path>
              <a:path w="510540" h="520064">
                <a:moveTo>
                  <a:pt x="79755" y="484187"/>
                </a:moveTo>
                <a:lnTo>
                  <a:pt x="69850" y="491985"/>
                </a:lnTo>
                <a:lnTo>
                  <a:pt x="68706" y="492582"/>
                </a:lnTo>
                <a:lnTo>
                  <a:pt x="67564" y="492848"/>
                </a:lnTo>
                <a:lnTo>
                  <a:pt x="77461" y="492848"/>
                </a:lnTo>
                <a:lnTo>
                  <a:pt x="82930" y="487375"/>
                </a:lnTo>
                <a:lnTo>
                  <a:pt x="79755" y="484187"/>
                </a:lnTo>
                <a:close/>
              </a:path>
              <a:path w="510540" h="520064">
                <a:moveTo>
                  <a:pt x="10668" y="438988"/>
                </a:moveTo>
                <a:lnTo>
                  <a:pt x="8254" y="441388"/>
                </a:lnTo>
                <a:lnTo>
                  <a:pt x="0" y="474014"/>
                </a:lnTo>
                <a:lnTo>
                  <a:pt x="5334" y="475462"/>
                </a:lnTo>
                <a:lnTo>
                  <a:pt x="6223" y="471233"/>
                </a:lnTo>
                <a:lnTo>
                  <a:pt x="6985" y="467791"/>
                </a:lnTo>
                <a:lnTo>
                  <a:pt x="8509" y="462432"/>
                </a:lnTo>
                <a:lnTo>
                  <a:pt x="9271" y="460628"/>
                </a:lnTo>
                <a:lnTo>
                  <a:pt x="10287" y="459689"/>
                </a:lnTo>
                <a:lnTo>
                  <a:pt x="11049" y="458901"/>
                </a:lnTo>
                <a:lnTo>
                  <a:pt x="11938" y="458584"/>
                </a:lnTo>
                <a:lnTo>
                  <a:pt x="29784" y="458584"/>
                </a:lnTo>
                <a:lnTo>
                  <a:pt x="17145" y="445922"/>
                </a:lnTo>
                <a:lnTo>
                  <a:pt x="13209" y="441820"/>
                </a:lnTo>
                <a:lnTo>
                  <a:pt x="10668" y="438988"/>
                </a:lnTo>
                <a:close/>
              </a:path>
              <a:path w="510540" h="520064">
                <a:moveTo>
                  <a:pt x="79339" y="409003"/>
                </a:moveTo>
                <a:lnTo>
                  <a:pt x="61468" y="409003"/>
                </a:lnTo>
                <a:lnTo>
                  <a:pt x="63373" y="409270"/>
                </a:lnTo>
                <a:lnTo>
                  <a:pt x="64389" y="409917"/>
                </a:lnTo>
                <a:lnTo>
                  <a:pt x="65531" y="411086"/>
                </a:lnTo>
                <a:lnTo>
                  <a:pt x="102997" y="448538"/>
                </a:lnTo>
                <a:lnTo>
                  <a:pt x="104394" y="450176"/>
                </a:lnTo>
                <a:lnTo>
                  <a:pt x="104901" y="451408"/>
                </a:lnTo>
                <a:lnTo>
                  <a:pt x="105537" y="452653"/>
                </a:lnTo>
                <a:lnTo>
                  <a:pt x="105664" y="453885"/>
                </a:lnTo>
                <a:lnTo>
                  <a:pt x="97027" y="466902"/>
                </a:lnTo>
                <a:lnTo>
                  <a:pt x="100202" y="470090"/>
                </a:lnTo>
                <a:lnTo>
                  <a:pt x="126991" y="443280"/>
                </a:lnTo>
                <a:lnTo>
                  <a:pt x="117094" y="443280"/>
                </a:lnTo>
                <a:lnTo>
                  <a:pt x="115062" y="443166"/>
                </a:lnTo>
                <a:lnTo>
                  <a:pt x="114046" y="442798"/>
                </a:lnTo>
                <a:lnTo>
                  <a:pt x="112014" y="441464"/>
                </a:lnTo>
                <a:lnTo>
                  <a:pt x="110617" y="440283"/>
                </a:lnTo>
                <a:lnTo>
                  <a:pt x="108876" y="438505"/>
                </a:lnTo>
                <a:lnTo>
                  <a:pt x="79339" y="409003"/>
                </a:lnTo>
                <a:close/>
              </a:path>
              <a:path w="510540" h="520064">
                <a:moveTo>
                  <a:pt x="118110" y="327177"/>
                </a:moveTo>
                <a:lnTo>
                  <a:pt x="111378" y="333959"/>
                </a:lnTo>
                <a:lnTo>
                  <a:pt x="161036" y="446849"/>
                </a:lnTo>
                <a:lnTo>
                  <a:pt x="167894" y="439991"/>
                </a:lnTo>
                <a:lnTo>
                  <a:pt x="118110" y="327177"/>
                </a:lnTo>
                <a:close/>
              </a:path>
              <a:path w="510540" h="520064">
                <a:moveTo>
                  <a:pt x="129286" y="434619"/>
                </a:moveTo>
                <a:lnTo>
                  <a:pt x="117094" y="443280"/>
                </a:lnTo>
                <a:lnTo>
                  <a:pt x="126991" y="443280"/>
                </a:lnTo>
                <a:lnTo>
                  <a:pt x="132461" y="437807"/>
                </a:lnTo>
                <a:lnTo>
                  <a:pt x="129286" y="434619"/>
                </a:lnTo>
                <a:close/>
              </a:path>
              <a:path w="510540" h="520064">
                <a:moveTo>
                  <a:pt x="60325" y="389420"/>
                </a:moveTo>
                <a:lnTo>
                  <a:pt x="57912" y="391820"/>
                </a:lnTo>
                <a:lnTo>
                  <a:pt x="49656" y="424446"/>
                </a:lnTo>
                <a:lnTo>
                  <a:pt x="54864" y="425881"/>
                </a:lnTo>
                <a:lnTo>
                  <a:pt x="55752" y="421665"/>
                </a:lnTo>
                <a:lnTo>
                  <a:pt x="56515" y="418210"/>
                </a:lnTo>
                <a:lnTo>
                  <a:pt x="58039" y="412864"/>
                </a:lnTo>
                <a:lnTo>
                  <a:pt x="58927" y="411048"/>
                </a:lnTo>
                <a:lnTo>
                  <a:pt x="60578" y="409333"/>
                </a:lnTo>
                <a:lnTo>
                  <a:pt x="61468" y="409003"/>
                </a:lnTo>
                <a:lnTo>
                  <a:pt x="79339" y="409003"/>
                </a:lnTo>
                <a:lnTo>
                  <a:pt x="66675" y="396354"/>
                </a:lnTo>
                <a:lnTo>
                  <a:pt x="62865" y="392391"/>
                </a:lnTo>
                <a:lnTo>
                  <a:pt x="60325" y="389420"/>
                </a:lnTo>
                <a:close/>
              </a:path>
              <a:path w="510540" h="520064">
                <a:moveTo>
                  <a:pt x="182142" y="302590"/>
                </a:moveTo>
                <a:lnTo>
                  <a:pt x="159893" y="302590"/>
                </a:lnTo>
                <a:lnTo>
                  <a:pt x="162305" y="302831"/>
                </a:lnTo>
                <a:lnTo>
                  <a:pt x="164719" y="303809"/>
                </a:lnTo>
                <a:lnTo>
                  <a:pt x="179450" y="328294"/>
                </a:lnTo>
                <a:lnTo>
                  <a:pt x="179932" y="331520"/>
                </a:lnTo>
                <a:lnTo>
                  <a:pt x="180340" y="336956"/>
                </a:lnTo>
                <a:lnTo>
                  <a:pt x="181101" y="352297"/>
                </a:lnTo>
                <a:lnTo>
                  <a:pt x="181864" y="359079"/>
                </a:lnTo>
                <a:lnTo>
                  <a:pt x="189356" y="380961"/>
                </a:lnTo>
                <a:lnTo>
                  <a:pt x="204901" y="365417"/>
                </a:lnTo>
                <a:lnTo>
                  <a:pt x="190880" y="365417"/>
                </a:lnTo>
                <a:lnTo>
                  <a:pt x="189690" y="359782"/>
                </a:lnTo>
                <a:lnTo>
                  <a:pt x="188785" y="353318"/>
                </a:lnTo>
                <a:lnTo>
                  <a:pt x="188187" y="346278"/>
                </a:lnTo>
                <a:lnTo>
                  <a:pt x="187628" y="332435"/>
                </a:lnTo>
                <a:lnTo>
                  <a:pt x="187451" y="326301"/>
                </a:lnTo>
                <a:lnTo>
                  <a:pt x="187198" y="323468"/>
                </a:lnTo>
                <a:lnTo>
                  <a:pt x="183642" y="304952"/>
                </a:lnTo>
                <a:lnTo>
                  <a:pt x="182142" y="302590"/>
                </a:lnTo>
                <a:close/>
              </a:path>
              <a:path w="510540" h="520064">
                <a:moveTo>
                  <a:pt x="213233" y="331520"/>
                </a:moveTo>
                <a:lnTo>
                  <a:pt x="209550" y="335229"/>
                </a:lnTo>
                <a:lnTo>
                  <a:pt x="210439" y="337070"/>
                </a:lnTo>
                <a:lnTo>
                  <a:pt x="211074" y="338467"/>
                </a:lnTo>
                <a:lnTo>
                  <a:pt x="211836" y="340385"/>
                </a:lnTo>
                <a:lnTo>
                  <a:pt x="211963" y="341337"/>
                </a:lnTo>
                <a:lnTo>
                  <a:pt x="211709" y="343192"/>
                </a:lnTo>
                <a:lnTo>
                  <a:pt x="211327" y="344182"/>
                </a:lnTo>
                <a:lnTo>
                  <a:pt x="210566" y="345236"/>
                </a:lnTo>
                <a:lnTo>
                  <a:pt x="209930" y="346278"/>
                </a:lnTo>
                <a:lnTo>
                  <a:pt x="208788" y="347522"/>
                </a:lnTo>
                <a:lnTo>
                  <a:pt x="207391" y="348945"/>
                </a:lnTo>
                <a:lnTo>
                  <a:pt x="190880" y="365417"/>
                </a:lnTo>
                <a:lnTo>
                  <a:pt x="204901" y="365417"/>
                </a:lnTo>
                <a:lnTo>
                  <a:pt x="225298" y="345020"/>
                </a:lnTo>
                <a:lnTo>
                  <a:pt x="213233" y="331520"/>
                </a:lnTo>
                <a:close/>
              </a:path>
              <a:path w="510540" h="520064">
                <a:moveTo>
                  <a:pt x="169545" y="292061"/>
                </a:moveTo>
                <a:lnTo>
                  <a:pt x="136905" y="318871"/>
                </a:lnTo>
                <a:lnTo>
                  <a:pt x="135000" y="324053"/>
                </a:lnTo>
                <a:lnTo>
                  <a:pt x="143510" y="332435"/>
                </a:lnTo>
                <a:lnTo>
                  <a:pt x="148717" y="327151"/>
                </a:lnTo>
                <a:lnTo>
                  <a:pt x="144525" y="319201"/>
                </a:lnTo>
                <a:lnTo>
                  <a:pt x="145161" y="312508"/>
                </a:lnTo>
                <a:lnTo>
                  <a:pt x="152780" y="304876"/>
                </a:lnTo>
                <a:lnTo>
                  <a:pt x="155067" y="303555"/>
                </a:lnTo>
                <a:lnTo>
                  <a:pt x="159893" y="302590"/>
                </a:lnTo>
                <a:lnTo>
                  <a:pt x="182142" y="302590"/>
                </a:lnTo>
                <a:lnTo>
                  <a:pt x="181610" y="301751"/>
                </a:lnTo>
                <a:lnTo>
                  <a:pt x="180340" y="300177"/>
                </a:lnTo>
                <a:lnTo>
                  <a:pt x="174371" y="294119"/>
                </a:lnTo>
                <a:lnTo>
                  <a:pt x="169545" y="292061"/>
                </a:lnTo>
                <a:close/>
              </a:path>
              <a:path w="510540" h="520064">
                <a:moveTo>
                  <a:pt x="225789" y="248069"/>
                </a:moveTo>
                <a:lnTo>
                  <a:pt x="217550" y="248069"/>
                </a:lnTo>
                <a:lnTo>
                  <a:pt x="218186" y="248704"/>
                </a:lnTo>
                <a:lnTo>
                  <a:pt x="244475" y="322135"/>
                </a:lnTo>
                <a:lnTo>
                  <a:pt x="246634" y="324269"/>
                </a:lnTo>
                <a:lnTo>
                  <a:pt x="252979" y="317919"/>
                </a:lnTo>
                <a:lnTo>
                  <a:pt x="225789" y="248069"/>
                </a:lnTo>
                <a:close/>
              </a:path>
              <a:path w="510540" h="520064">
                <a:moveTo>
                  <a:pt x="218440" y="232575"/>
                </a:moveTo>
                <a:lnTo>
                  <a:pt x="180975" y="270078"/>
                </a:lnTo>
                <a:lnTo>
                  <a:pt x="194310" y="285089"/>
                </a:lnTo>
                <a:lnTo>
                  <a:pt x="197993" y="281343"/>
                </a:lnTo>
                <a:lnTo>
                  <a:pt x="196596" y="278803"/>
                </a:lnTo>
                <a:lnTo>
                  <a:pt x="195706" y="277050"/>
                </a:lnTo>
                <a:lnTo>
                  <a:pt x="195325" y="276059"/>
                </a:lnTo>
                <a:lnTo>
                  <a:pt x="195072" y="275069"/>
                </a:lnTo>
                <a:lnTo>
                  <a:pt x="195072" y="272351"/>
                </a:lnTo>
                <a:lnTo>
                  <a:pt x="195325" y="271437"/>
                </a:lnTo>
                <a:lnTo>
                  <a:pt x="196342" y="269582"/>
                </a:lnTo>
                <a:lnTo>
                  <a:pt x="197103" y="268516"/>
                </a:lnTo>
                <a:lnTo>
                  <a:pt x="198374" y="267322"/>
                </a:lnTo>
                <a:lnTo>
                  <a:pt x="217550" y="248069"/>
                </a:lnTo>
                <a:lnTo>
                  <a:pt x="225789" y="248069"/>
                </a:lnTo>
                <a:lnTo>
                  <a:pt x="220599" y="234734"/>
                </a:lnTo>
                <a:lnTo>
                  <a:pt x="218440" y="232575"/>
                </a:lnTo>
                <a:close/>
              </a:path>
              <a:path w="510540" h="520064">
                <a:moveTo>
                  <a:pt x="261493" y="184149"/>
                </a:moveTo>
                <a:lnTo>
                  <a:pt x="254635" y="191769"/>
                </a:lnTo>
                <a:lnTo>
                  <a:pt x="304292" y="303529"/>
                </a:lnTo>
                <a:lnTo>
                  <a:pt x="311150" y="297179"/>
                </a:lnTo>
                <a:lnTo>
                  <a:pt x="261493" y="184149"/>
                </a:lnTo>
                <a:close/>
              </a:path>
              <a:path w="510540" h="520064">
                <a:moveTo>
                  <a:pt x="325501" y="160019"/>
                </a:moveTo>
                <a:lnTo>
                  <a:pt x="305689" y="160019"/>
                </a:lnTo>
                <a:lnTo>
                  <a:pt x="307975" y="161289"/>
                </a:lnTo>
                <a:lnTo>
                  <a:pt x="310388" y="162559"/>
                </a:lnTo>
                <a:lnTo>
                  <a:pt x="312674" y="163829"/>
                </a:lnTo>
                <a:lnTo>
                  <a:pt x="314833" y="166369"/>
                </a:lnTo>
                <a:lnTo>
                  <a:pt x="316229" y="167639"/>
                </a:lnTo>
                <a:lnTo>
                  <a:pt x="317373" y="168909"/>
                </a:lnTo>
                <a:lnTo>
                  <a:pt x="319404" y="172719"/>
                </a:lnTo>
                <a:lnTo>
                  <a:pt x="320294" y="173989"/>
                </a:lnTo>
                <a:lnTo>
                  <a:pt x="321055" y="176529"/>
                </a:lnTo>
                <a:lnTo>
                  <a:pt x="324358" y="209549"/>
                </a:lnTo>
                <a:lnTo>
                  <a:pt x="325120" y="215899"/>
                </a:lnTo>
                <a:lnTo>
                  <a:pt x="332613" y="238759"/>
                </a:lnTo>
                <a:lnTo>
                  <a:pt x="348724" y="222249"/>
                </a:lnTo>
                <a:lnTo>
                  <a:pt x="334264" y="222249"/>
                </a:lnTo>
                <a:lnTo>
                  <a:pt x="333071" y="217169"/>
                </a:lnTo>
                <a:lnTo>
                  <a:pt x="330708" y="184149"/>
                </a:lnTo>
                <a:lnTo>
                  <a:pt x="330453" y="177799"/>
                </a:lnTo>
                <a:lnTo>
                  <a:pt x="330200" y="175259"/>
                </a:lnTo>
                <a:lnTo>
                  <a:pt x="329438" y="170179"/>
                </a:lnTo>
                <a:lnTo>
                  <a:pt x="328929" y="167639"/>
                </a:lnTo>
                <a:lnTo>
                  <a:pt x="328295" y="166369"/>
                </a:lnTo>
                <a:lnTo>
                  <a:pt x="327787" y="163829"/>
                </a:lnTo>
                <a:lnTo>
                  <a:pt x="326009" y="161289"/>
                </a:lnTo>
                <a:lnTo>
                  <a:pt x="325501" y="160019"/>
                </a:lnTo>
                <a:close/>
              </a:path>
              <a:path w="510540" h="520064">
                <a:moveTo>
                  <a:pt x="356616" y="189229"/>
                </a:moveTo>
                <a:lnTo>
                  <a:pt x="352933" y="193039"/>
                </a:lnTo>
                <a:lnTo>
                  <a:pt x="353822" y="194309"/>
                </a:lnTo>
                <a:lnTo>
                  <a:pt x="354456" y="195579"/>
                </a:lnTo>
                <a:lnTo>
                  <a:pt x="354711" y="196849"/>
                </a:lnTo>
                <a:lnTo>
                  <a:pt x="355092" y="198119"/>
                </a:lnTo>
                <a:lnTo>
                  <a:pt x="354965" y="200659"/>
                </a:lnTo>
                <a:lnTo>
                  <a:pt x="354584" y="201929"/>
                </a:lnTo>
                <a:lnTo>
                  <a:pt x="353949" y="203199"/>
                </a:lnTo>
                <a:lnTo>
                  <a:pt x="353187" y="203199"/>
                </a:lnTo>
                <a:lnTo>
                  <a:pt x="352171" y="204469"/>
                </a:lnTo>
                <a:lnTo>
                  <a:pt x="350774" y="205739"/>
                </a:lnTo>
                <a:lnTo>
                  <a:pt x="334264" y="222249"/>
                </a:lnTo>
                <a:lnTo>
                  <a:pt x="348724" y="222249"/>
                </a:lnTo>
                <a:lnTo>
                  <a:pt x="368553" y="201929"/>
                </a:lnTo>
                <a:lnTo>
                  <a:pt x="356616" y="189229"/>
                </a:lnTo>
                <a:close/>
              </a:path>
              <a:path w="510540" h="520064">
                <a:moveTo>
                  <a:pt x="312800" y="149859"/>
                </a:moveTo>
                <a:lnTo>
                  <a:pt x="302514" y="149859"/>
                </a:lnTo>
                <a:lnTo>
                  <a:pt x="297306" y="153669"/>
                </a:lnTo>
                <a:lnTo>
                  <a:pt x="289433" y="161289"/>
                </a:lnTo>
                <a:lnTo>
                  <a:pt x="287020" y="163829"/>
                </a:lnTo>
                <a:lnTo>
                  <a:pt x="284734" y="167639"/>
                </a:lnTo>
                <a:lnTo>
                  <a:pt x="282321" y="171449"/>
                </a:lnTo>
                <a:lnTo>
                  <a:pt x="280289" y="176529"/>
                </a:lnTo>
                <a:lnTo>
                  <a:pt x="278384" y="181609"/>
                </a:lnTo>
                <a:lnTo>
                  <a:pt x="286766" y="189229"/>
                </a:lnTo>
                <a:lnTo>
                  <a:pt x="292100" y="184149"/>
                </a:lnTo>
                <a:lnTo>
                  <a:pt x="287909" y="176529"/>
                </a:lnTo>
                <a:lnTo>
                  <a:pt x="288544" y="170179"/>
                </a:lnTo>
                <a:lnTo>
                  <a:pt x="296164" y="162559"/>
                </a:lnTo>
                <a:lnTo>
                  <a:pt x="298450" y="161289"/>
                </a:lnTo>
                <a:lnTo>
                  <a:pt x="300863" y="160019"/>
                </a:lnTo>
                <a:lnTo>
                  <a:pt x="325501" y="160019"/>
                </a:lnTo>
                <a:lnTo>
                  <a:pt x="324993" y="158749"/>
                </a:lnTo>
                <a:lnTo>
                  <a:pt x="323723" y="157479"/>
                </a:lnTo>
                <a:lnTo>
                  <a:pt x="317626" y="151129"/>
                </a:lnTo>
                <a:lnTo>
                  <a:pt x="312800" y="149859"/>
                </a:lnTo>
                <a:close/>
              </a:path>
              <a:path w="510540" h="520064">
                <a:moveTo>
                  <a:pt x="354838" y="100329"/>
                </a:moveTo>
                <a:lnTo>
                  <a:pt x="347599" y="102869"/>
                </a:lnTo>
                <a:lnTo>
                  <a:pt x="341249" y="109219"/>
                </a:lnTo>
                <a:lnTo>
                  <a:pt x="338454" y="111759"/>
                </a:lnTo>
                <a:lnTo>
                  <a:pt x="336423" y="115569"/>
                </a:lnTo>
                <a:lnTo>
                  <a:pt x="335279" y="118109"/>
                </a:lnTo>
                <a:lnTo>
                  <a:pt x="334137" y="121919"/>
                </a:lnTo>
                <a:lnTo>
                  <a:pt x="334010" y="125729"/>
                </a:lnTo>
                <a:lnTo>
                  <a:pt x="334772" y="130809"/>
                </a:lnTo>
                <a:lnTo>
                  <a:pt x="360340" y="166369"/>
                </a:lnTo>
                <a:lnTo>
                  <a:pt x="388112" y="179069"/>
                </a:lnTo>
                <a:lnTo>
                  <a:pt x="395350" y="176529"/>
                </a:lnTo>
                <a:lnTo>
                  <a:pt x="401574" y="170179"/>
                </a:lnTo>
                <a:lnTo>
                  <a:pt x="389890" y="170179"/>
                </a:lnTo>
                <a:lnTo>
                  <a:pt x="383667" y="167639"/>
                </a:lnTo>
                <a:lnTo>
                  <a:pt x="352678" y="142239"/>
                </a:lnTo>
                <a:lnTo>
                  <a:pt x="341375" y="121919"/>
                </a:lnTo>
                <a:lnTo>
                  <a:pt x="341629" y="116839"/>
                </a:lnTo>
                <a:lnTo>
                  <a:pt x="342773" y="115569"/>
                </a:lnTo>
                <a:lnTo>
                  <a:pt x="346964" y="110489"/>
                </a:lnTo>
                <a:lnTo>
                  <a:pt x="349758" y="109219"/>
                </a:lnTo>
                <a:lnTo>
                  <a:pt x="377430" y="109219"/>
                </a:lnTo>
                <a:lnTo>
                  <a:pt x="375697" y="107949"/>
                </a:lnTo>
                <a:lnTo>
                  <a:pt x="369101" y="104139"/>
                </a:lnTo>
                <a:lnTo>
                  <a:pt x="362839" y="101599"/>
                </a:lnTo>
                <a:lnTo>
                  <a:pt x="354838" y="100329"/>
                </a:lnTo>
                <a:close/>
              </a:path>
              <a:path w="510540" h="520064">
                <a:moveTo>
                  <a:pt x="377430" y="109219"/>
                </a:moveTo>
                <a:lnTo>
                  <a:pt x="349758" y="109219"/>
                </a:lnTo>
                <a:lnTo>
                  <a:pt x="356489" y="110489"/>
                </a:lnTo>
                <a:lnTo>
                  <a:pt x="360679" y="111759"/>
                </a:lnTo>
                <a:lnTo>
                  <a:pt x="365760" y="115569"/>
                </a:lnTo>
                <a:lnTo>
                  <a:pt x="370713" y="118109"/>
                </a:lnTo>
                <a:lnTo>
                  <a:pt x="376554" y="123189"/>
                </a:lnTo>
                <a:lnTo>
                  <a:pt x="383286" y="130809"/>
                </a:lnTo>
                <a:lnTo>
                  <a:pt x="389264" y="135889"/>
                </a:lnTo>
                <a:lnTo>
                  <a:pt x="394065" y="142239"/>
                </a:lnTo>
                <a:lnTo>
                  <a:pt x="397698" y="147319"/>
                </a:lnTo>
                <a:lnTo>
                  <a:pt x="400176" y="152399"/>
                </a:lnTo>
                <a:lnTo>
                  <a:pt x="402590" y="158749"/>
                </a:lnTo>
                <a:lnTo>
                  <a:pt x="402081" y="162559"/>
                </a:lnTo>
                <a:lnTo>
                  <a:pt x="398525" y="166369"/>
                </a:lnTo>
                <a:lnTo>
                  <a:pt x="394843" y="170179"/>
                </a:lnTo>
                <a:lnTo>
                  <a:pt x="401574" y="170179"/>
                </a:lnTo>
                <a:lnTo>
                  <a:pt x="408050" y="163829"/>
                </a:lnTo>
                <a:lnTo>
                  <a:pt x="410210" y="157479"/>
                </a:lnTo>
                <a:lnTo>
                  <a:pt x="408304" y="148589"/>
                </a:lnTo>
                <a:lnTo>
                  <a:pt x="382627" y="113029"/>
                </a:lnTo>
                <a:lnTo>
                  <a:pt x="377430" y="109219"/>
                </a:lnTo>
                <a:close/>
              </a:path>
              <a:path w="510540" h="520064">
                <a:moveTo>
                  <a:pt x="415659" y="73659"/>
                </a:moveTo>
                <a:lnTo>
                  <a:pt x="399542" y="73659"/>
                </a:lnTo>
                <a:lnTo>
                  <a:pt x="400685" y="74929"/>
                </a:lnTo>
                <a:lnTo>
                  <a:pt x="440563" y="114299"/>
                </a:lnTo>
                <a:lnTo>
                  <a:pt x="441198" y="115569"/>
                </a:lnTo>
                <a:lnTo>
                  <a:pt x="441705" y="116839"/>
                </a:lnTo>
                <a:lnTo>
                  <a:pt x="441833" y="118109"/>
                </a:lnTo>
                <a:lnTo>
                  <a:pt x="441578" y="119379"/>
                </a:lnTo>
                <a:lnTo>
                  <a:pt x="441451" y="120649"/>
                </a:lnTo>
                <a:lnTo>
                  <a:pt x="440690" y="121919"/>
                </a:lnTo>
                <a:lnTo>
                  <a:pt x="439547" y="123189"/>
                </a:lnTo>
                <a:lnTo>
                  <a:pt x="438403" y="125729"/>
                </a:lnTo>
                <a:lnTo>
                  <a:pt x="436372" y="128269"/>
                </a:lnTo>
                <a:lnTo>
                  <a:pt x="433197" y="130809"/>
                </a:lnTo>
                <a:lnTo>
                  <a:pt x="436499" y="134619"/>
                </a:lnTo>
                <a:lnTo>
                  <a:pt x="463595" y="107949"/>
                </a:lnTo>
                <a:lnTo>
                  <a:pt x="451358" y="107949"/>
                </a:lnTo>
                <a:lnTo>
                  <a:pt x="450342" y="106679"/>
                </a:lnTo>
                <a:lnTo>
                  <a:pt x="449199" y="106679"/>
                </a:lnTo>
                <a:lnTo>
                  <a:pt x="448183" y="105409"/>
                </a:lnTo>
                <a:lnTo>
                  <a:pt x="446786" y="104139"/>
                </a:lnTo>
                <a:lnTo>
                  <a:pt x="445135" y="102869"/>
                </a:lnTo>
                <a:lnTo>
                  <a:pt x="415659" y="73659"/>
                </a:lnTo>
                <a:close/>
              </a:path>
              <a:path w="510540" h="520064">
                <a:moveTo>
                  <a:pt x="465581" y="99059"/>
                </a:moveTo>
                <a:lnTo>
                  <a:pt x="463169" y="101599"/>
                </a:lnTo>
                <a:lnTo>
                  <a:pt x="461264" y="102869"/>
                </a:lnTo>
                <a:lnTo>
                  <a:pt x="458216" y="105409"/>
                </a:lnTo>
                <a:lnTo>
                  <a:pt x="456946" y="106679"/>
                </a:lnTo>
                <a:lnTo>
                  <a:pt x="455675" y="106679"/>
                </a:lnTo>
                <a:lnTo>
                  <a:pt x="454533" y="107949"/>
                </a:lnTo>
                <a:lnTo>
                  <a:pt x="463595" y="107949"/>
                </a:lnTo>
                <a:lnTo>
                  <a:pt x="468756" y="102869"/>
                </a:lnTo>
                <a:lnTo>
                  <a:pt x="465581" y="99059"/>
                </a:lnTo>
                <a:close/>
              </a:path>
              <a:path w="510540" h="520064">
                <a:moveTo>
                  <a:pt x="396494" y="53339"/>
                </a:moveTo>
                <a:lnTo>
                  <a:pt x="394080" y="55879"/>
                </a:lnTo>
                <a:lnTo>
                  <a:pt x="385825" y="88899"/>
                </a:lnTo>
                <a:lnTo>
                  <a:pt x="391160" y="90169"/>
                </a:lnTo>
                <a:lnTo>
                  <a:pt x="391922" y="86359"/>
                </a:lnTo>
                <a:lnTo>
                  <a:pt x="392811" y="82549"/>
                </a:lnTo>
                <a:lnTo>
                  <a:pt x="393573" y="80009"/>
                </a:lnTo>
                <a:lnTo>
                  <a:pt x="394208" y="77469"/>
                </a:lnTo>
                <a:lnTo>
                  <a:pt x="395097" y="74929"/>
                </a:lnTo>
                <a:lnTo>
                  <a:pt x="396875" y="73659"/>
                </a:lnTo>
                <a:lnTo>
                  <a:pt x="415659" y="73659"/>
                </a:lnTo>
                <a:lnTo>
                  <a:pt x="402844" y="60959"/>
                </a:lnTo>
                <a:lnTo>
                  <a:pt x="399161" y="57149"/>
                </a:lnTo>
                <a:lnTo>
                  <a:pt x="396494" y="53339"/>
                </a:lnTo>
                <a:close/>
              </a:path>
              <a:path w="510540" h="520064">
                <a:moveTo>
                  <a:pt x="455041" y="0"/>
                </a:moveTo>
                <a:lnTo>
                  <a:pt x="447928" y="2539"/>
                </a:lnTo>
                <a:lnTo>
                  <a:pt x="441451" y="8889"/>
                </a:lnTo>
                <a:lnTo>
                  <a:pt x="438658" y="11429"/>
                </a:lnTo>
                <a:lnTo>
                  <a:pt x="436625" y="15239"/>
                </a:lnTo>
                <a:lnTo>
                  <a:pt x="435483" y="19049"/>
                </a:lnTo>
                <a:lnTo>
                  <a:pt x="434340" y="21589"/>
                </a:lnTo>
                <a:lnTo>
                  <a:pt x="453263" y="59689"/>
                </a:lnTo>
                <a:lnTo>
                  <a:pt x="488315" y="78739"/>
                </a:lnTo>
                <a:lnTo>
                  <a:pt x="495553" y="77469"/>
                </a:lnTo>
                <a:lnTo>
                  <a:pt x="501776" y="71119"/>
                </a:lnTo>
                <a:lnTo>
                  <a:pt x="503072" y="69849"/>
                </a:lnTo>
                <a:lnTo>
                  <a:pt x="490093" y="69849"/>
                </a:lnTo>
                <a:lnTo>
                  <a:pt x="483997" y="67309"/>
                </a:lnTo>
                <a:lnTo>
                  <a:pt x="452881" y="41909"/>
                </a:lnTo>
                <a:lnTo>
                  <a:pt x="450088" y="38099"/>
                </a:lnTo>
                <a:lnTo>
                  <a:pt x="447167" y="34289"/>
                </a:lnTo>
                <a:lnTo>
                  <a:pt x="445008" y="30479"/>
                </a:lnTo>
                <a:lnTo>
                  <a:pt x="442214" y="25399"/>
                </a:lnTo>
                <a:lnTo>
                  <a:pt x="441578" y="21589"/>
                </a:lnTo>
                <a:lnTo>
                  <a:pt x="441705" y="19049"/>
                </a:lnTo>
                <a:lnTo>
                  <a:pt x="441960" y="16509"/>
                </a:lnTo>
                <a:lnTo>
                  <a:pt x="442975" y="15239"/>
                </a:lnTo>
                <a:lnTo>
                  <a:pt x="447167" y="10159"/>
                </a:lnTo>
                <a:lnTo>
                  <a:pt x="479374" y="10159"/>
                </a:lnTo>
                <a:lnTo>
                  <a:pt x="475916" y="7619"/>
                </a:lnTo>
                <a:lnTo>
                  <a:pt x="469358" y="3809"/>
                </a:lnTo>
                <a:lnTo>
                  <a:pt x="463169" y="2539"/>
                </a:lnTo>
                <a:lnTo>
                  <a:pt x="455041" y="0"/>
                </a:lnTo>
                <a:close/>
              </a:path>
              <a:path w="510540" h="520064">
                <a:moveTo>
                  <a:pt x="479374" y="10159"/>
                </a:moveTo>
                <a:lnTo>
                  <a:pt x="456692" y="10159"/>
                </a:lnTo>
                <a:lnTo>
                  <a:pt x="460883" y="11429"/>
                </a:lnTo>
                <a:lnTo>
                  <a:pt x="465963" y="15239"/>
                </a:lnTo>
                <a:lnTo>
                  <a:pt x="470916" y="17779"/>
                </a:lnTo>
                <a:lnTo>
                  <a:pt x="476758" y="22859"/>
                </a:lnTo>
                <a:lnTo>
                  <a:pt x="483489" y="30479"/>
                </a:lnTo>
                <a:lnTo>
                  <a:pt x="494268" y="41909"/>
                </a:lnTo>
                <a:lnTo>
                  <a:pt x="497901" y="46989"/>
                </a:lnTo>
                <a:lnTo>
                  <a:pt x="500379" y="52069"/>
                </a:lnTo>
                <a:lnTo>
                  <a:pt x="502793" y="58419"/>
                </a:lnTo>
                <a:lnTo>
                  <a:pt x="502285" y="62229"/>
                </a:lnTo>
                <a:lnTo>
                  <a:pt x="498855" y="66039"/>
                </a:lnTo>
                <a:lnTo>
                  <a:pt x="495046" y="69849"/>
                </a:lnTo>
                <a:lnTo>
                  <a:pt x="503072" y="69849"/>
                </a:lnTo>
                <a:lnTo>
                  <a:pt x="508253" y="64769"/>
                </a:lnTo>
                <a:lnTo>
                  <a:pt x="510413" y="57149"/>
                </a:lnTo>
                <a:lnTo>
                  <a:pt x="508508" y="48259"/>
                </a:lnTo>
                <a:lnTo>
                  <a:pt x="482832" y="12699"/>
                </a:lnTo>
                <a:lnTo>
                  <a:pt x="479374" y="10159"/>
                </a:lnTo>
                <a:close/>
              </a:path>
            </a:pathLst>
          </a:custGeom>
          <a:solidFill>
            <a:srgbClr val="000000"/>
          </a:solidFill>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sp>
        <p:nvSpPr>
          <p:cNvPr id="33" name="object 32">
            <a:extLst>
              <a:ext uri="{FF2B5EF4-FFF2-40B4-BE49-F238E27FC236}">
                <a16:creationId xmlns:a16="http://schemas.microsoft.com/office/drawing/2014/main" id="{533FD427-F9DE-48F2-94E8-65D85EACBC84}"/>
              </a:ext>
            </a:extLst>
          </p:cNvPr>
          <p:cNvSpPr/>
          <p:nvPr/>
        </p:nvSpPr>
        <p:spPr>
          <a:xfrm>
            <a:off x="8186321" y="5327396"/>
            <a:ext cx="750155" cy="517525"/>
          </a:xfrm>
          <a:custGeom>
            <a:avLst/>
            <a:gdLst/>
            <a:ahLst/>
            <a:cxnLst/>
            <a:rect l="l" t="t" r="r" b="b"/>
            <a:pathLst>
              <a:path w="519429" h="517525">
                <a:moveTo>
                  <a:pt x="29695" y="456006"/>
                </a:moveTo>
                <a:lnTo>
                  <a:pt x="11810" y="456006"/>
                </a:lnTo>
                <a:lnTo>
                  <a:pt x="13716" y="456260"/>
                </a:lnTo>
                <a:lnTo>
                  <a:pt x="14858" y="456907"/>
                </a:lnTo>
                <a:lnTo>
                  <a:pt x="16001" y="458076"/>
                </a:lnTo>
                <a:lnTo>
                  <a:pt x="53467" y="495528"/>
                </a:lnTo>
                <a:lnTo>
                  <a:pt x="54736" y="497166"/>
                </a:lnTo>
                <a:lnTo>
                  <a:pt x="55245" y="498411"/>
                </a:lnTo>
                <a:lnTo>
                  <a:pt x="55879" y="499643"/>
                </a:lnTo>
                <a:lnTo>
                  <a:pt x="56006" y="500875"/>
                </a:lnTo>
                <a:lnTo>
                  <a:pt x="55752" y="502094"/>
                </a:lnTo>
                <a:lnTo>
                  <a:pt x="55625" y="503326"/>
                </a:lnTo>
                <a:lnTo>
                  <a:pt x="54863" y="504748"/>
                </a:lnTo>
                <a:lnTo>
                  <a:pt x="52577" y="508012"/>
                </a:lnTo>
                <a:lnTo>
                  <a:pt x="50546" y="510514"/>
                </a:lnTo>
                <a:lnTo>
                  <a:pt x="47371" y="513892"/>
                </a:lnTo>
                <a:lnTo>
                  <a:pt x="50673" y="517080"/>
                </a:lnTo>
                <a:lnTo>
                  <a:pt x="77461" y="490270"/>
                </a:lnTo>
                <a:lnTo>
                  <a:pt x="67563" y="490270"/>
                </a:lnTo>
                <a:lnTo>
                  <a:pt x="65531" y="490156"/>
                </a:lnTo>
                <a:lnTo>
                  <a:pt x="59219" y="485495"/>
                </a:lnTo>
                <a:lnTo>
                  <a:pt x="29695" y="456006"/>
                </a:lnTo>
                <a:close/>
              </a:path>
              <a:path w="519429" h="517525">
                <a:moveTo>
                  <a:pt x="79755" y="481609"/>
                </a:moveTo>
                <a:lnTo>
                  <a:pt x="67563" y="490270"/>
                </a:lnTo>
                <a:lnTo>
                  <a:pt x="77461" y="490270"/>
                </a:lnTo>
                <a:lnTo>
                  <a:pt x="82930" y="484797"/>
                </a:lnTo>
                <a:lnTo>
                  <a:pt x="79755" y="481609"/>
                </a:lnTo>
                <a:close/>
              </a:path>
              <a:path w="519429" h="517525">
                <a:moveTo>
                  <a:pt x="10668" y="436410"/>
                </a:moveTo>
                <a:lnTo>
                  <a:pt x="8254" y="438810"/>
                </a:lnTo>
                <a:lnTo>
                  <a:pt x="0" y="471436"/>
                </a:lnTo>
                <a:lnTo>
                  <a:pt x="5333" y="472884"/>
                </a:lnTo>
                <a:lnTo>
                  <a:pt x="6096" y="468655"/>
                </a:lnTo>
                <a:lnTo>
                  <a:pt x="6984" y="465213"/>
                </a:lnTo>
                <a:lnTo>
                  <a:pt x="11810" y="456006"/>
                </a:lnTo>
                <a:lnTo>
                  <a:pt x="29695" y="456006"/>
                </a:lnTo>
                <a:lnTo>
                  <a:pt x="17018" y="443344"/>
                </a:lnTo>
                <a:lnTo>
                  <a:pt x="13088" y="439242"/>
                </a:lnTo>
                <a:lnTo>
                  <a:pt x="10668" y="436410"/>
                </a:lnTo>
                <a:close/>
              </a:path>
              <a:path w="519429" h="517525">
                <a:moveTo>
                  <a:pt x="79318" y="406425"/>
                </a:moveTo>
                <a:lnTo>
                  <a:pt x="61468" y="406425"/>
                </a:lnTo>
                <a:lnTo>
                  <a:pt x="62356" y="406565"/>
                </a:lnTo>
                <a:lnTo>
                  <a:pt x="63373" y="406692"/>
                </a:lnTo>
                <a:lnTo>
                  <a:pt x="64388" y="407339"/>
                </a:lnTo>
                <a:lnTo>
                  <a:pt x="65531" y="408508"/>
                </a:lnTo>
                <a:lnTo>
                  <a:pt x="102997" y="445960"/>
                </a:lnTo>
                <a:lnTo>
                  <a:pt x="104267" y="447598"/>
                </a:lnTo>
                <a:lnTo>
                  <a:pt x="104901" y="448830"/>
                </a:lnTo>
                <a:lnTo>
                  <a:pt x="105409" y="450075"/>
                </a:lnTo>
                <a:lnTo>
                  <a:pt x="105663" y="451307"/>
                </a:lnTo>
                <a:lnTo>
                  <a:pt x="105155" y="453745"/>
                </a:lnTo>
                <a:lnTo>
                  <a:pt x="104521" y="455180"/>
                </a:lnTo>
                <a:lnTo>
                  <a:pt x="102234" y="458431"/>
                </a:lnTo>
                <a:lnTo>
                  <a:pt x="100075" y="460946"/>
                </a:lnTo>
                <a:lnTo>
                  <a:pt x="97027" y="464324"/>
                </a:lnTo>
                <a:lnTo>
                  <a:pt x="100202" y="467512"/>
                </a:lnTo>
                <a:lnTo>
                  <a:pt x="126991" y="440702"/>
                </a:lnTo>
                <a:lnTo>
                  <a:pt x="117094" y="440702"/>
                </a:lnTo>
                <a:lnTo>
                  <a:pt x="115061" y="440588"/>
                </a:lnTo>
                <a:lnTo>
                  <a:pt x="114046" y="440220"/>
                </a:lnTo>
                <a:lnTo>
                  <a:pt x="113029" y="439559"/>
                </a:lnTo>
                <a:lnTo>
                  <a:pt x="111886" y="438886"/>
                </a:lnTo>
                <a:lnTo>
                  <a:pt x="108750" y="435927"/>
                </a:lnTo>
                <a:lnTo>
                  <a:pt x="79318" y="406425"/>
                </a:lnTo>
                <a:close/>
              </a:path>
              <a:path w="519429" h="517525">
                <a:moveTo>
                  <a:pt x="118109" y="324599"/>
                </a:moveTo>
                <a:lnTo>
                  <a:pt x="111378" y="331381"/>
                </a:lnTo>
                <a:lnTo>
                  <a:pt x="161035" y="444271"/>
                </a:lnTo>
                <a:lnTo>
                  <a:pt x="167894" y="437413"/>
                </a:lnTo>
                <a:lnTo>
                  <a:pt x="118109" y="324599"/>
                </a:lnTo>
                <a:close/>
              </a:path>
              <a:path w="519429" h="517525">
                <a:moveTo>
                  <a:pt x="129285" y="432041"/>
                </a:moveTo>
                <a:lnTo>
                  <a:pt x="119379" y="439839"/>
                </a:lnTo>
                <a:lnTo>
                  <a:pt x="118236" y="440435"/>
                </a:lnTo>
                <a:lnTo>
                  <a:pt x="117094" y="440702"/>
                </a:lnTo>
                <a:lnTo>
                  <a:pt x="126991" y="440702"/>
                </a:lnTo>
                <a:lnTo>
                  <a:pt x="132460" y="435228"/>
                </a:lnTo>
                <a:lnTo>
                  <a:pt x="129285" y="432041"/>
                </a:lnTo>
                <a:close/>
              </a:path>
              <a:path w="519429" h="517525">
                <a:moveTo>
                  <a:pt x="60198" y="386841"/>
                </a:moveTo>
                <a:lnTo>
                  <a:pt x="57784" y="389242"/>
                </a:lnTo>
                <a:lnTo>
                  <a:pt x="49529" y="421868"/>
                </a:lnTo>
                <a:lnTo>
                  <a:pt x="54863" y="423303"/>
                </a:lnTo>
                <a:lnTo>
                  <a:pt x="55752" y="419087"/>
                </a:lnTo>
                <a:lnTo>
                  <a:pt x="56514" y="415632"/>
                </a:lnTo>
                <a:lnTo>
                  <a:pt x="58038" y="410286"/>
                </a:lnTo>
                <a:lnTo>
                  <a:pt x="58800" y="408470"/>
                </a:lnTo>
                <a:lnTo>
                  <a:pt x="59817" y="407542"/>
                </a:lnTo>
                <a:lnTo>
                  <a:pt x="60578" y="406755"/>
                </a:lnTo>
                <a:lnTo>
                  <a:pt x="61468" y="406425"/>
                </a:lnTo>
                <a:lnTo>
                  <a:pt x="79318" y="406425"/>
                </a:lnTo>
                <a:lnTo>
                  <a:pt x="66675" y="393776"/>
                </a:lnTo>
                <a:lnTo>
                  <a:pt x="62864" y="389813"/>
                </a:lnTo>
                <a:lnTo>
                  <a:pt x="60198" y="386841"/>
                </a:lnTo>
                <a:close/>
              </a:path>
              <a:path w="519429" h="517525">
                <a:moveTo>
                  <a:pt x="182142" y="300012"/>
                </a:moveTo>
                <a:lnTo>
                  <a:pt x="159893" y="300012"/>
                </a:lnTo>
                <a:lnTo>
                  <a:pt x="162305" y="300253"/>
                </a:lnTo>
                <a:lnTo>
                  <a:pt x="164592" y="301231"/>
                </a:lnTo>
                <a:lnTo>
                  <a:pt x="167004" y="302209"/>
                </a:lnTo>
                <a:lnTo>
                  <a:pt x="169291" y="303783"/>
                </a:lnTo>
                <a:lnTo>
                  <a:pt x="171540" y="306057"/>
                </a:lnTo>
                <a:lnTo>
                  <a:pt x="172847" y="307339"/>
                </a:lnTo>
                <a:lnTo>
                  <a:pt x="181101" y="349719"/>
                </a:lnTo>
                <a:lnTo>
                  <a:pt x="181863" y="356501"/>
                </a:lnTo>
                <a:lnTo>
                  <a:pt x="189356" y="378383"/>
                </a:lnTo>
                <a:lnTo>
                  <a:pt x="204901" y="362838"/>
                </a:lnTo>
                <a:lnTo>
                  <a:pt x="190880" y="362838"/>
                </a:lnTo>
                <a:lnTo>
                  <a:pt x="189688" y="357204"/>
                </a:lnTo>
                <a:lnTo>
                  <a:pt x="187578" y="328536"/>
                </a:lnTo>
                <a:lnTo>
                  <a:pt x="187071" y="318046"/>
                </a:lnTo>
                <a:lnTo>
                  <a:pt x="182625" y="300774"/>
                </a:lnTo>
                <a:lnTo>
                  <a:pt x="182142" y="300012"/>
                </a:lnTo>
                <a:close/>
              </a:path>
              <a:path w="519429" h="517525">
                <a:moveTo>
                  <a:pt x="213232" y="328942"/>
                </a:moveTo>
                <a:lnTo>
                  <a:pt x="209550" y="332651"/>
                </a:lnTo>
                <a:lnTo>
                  <a:pt x="210438" y="334492"/>
                </a:lnTo>
                <a:lnTo>
                  <a:pt x="211074" y="335889"/>
                </a:lnTo>
                <a:lnTo>
                  <a:pt x="211454" y="336854"/>
                </a:lnTo>
                <a:lnTo>
                  <a:pt x="211708" y="337807"/>
                </a:lnTo>
                <a:lnTo>
                  <a:pt x="211835" y="338759"/>
                </a:lnTo>
                <a:lnTo>
                  <a:pt x="211581" y="340613"/>
                </a:lnTo>
                <a:lnTo>
                  <a:pt x="190880" y="362838"/>
                </a:lnTo>
                <a:lnTo>
                  <a:pt x="204901" y="362838"/>
                </a:lnTo>
                <a:lnTo>
                  <a:pt x="225298" y="342442"/>
                </a:lnTo>
                <a:lnTo>
                  <a:pt x="213232" y="328942"/>
                </a:lnTo>
                <a:close/>
              </a:path>
              <a:path w="519429" h="517525">
                <a:moveTo>
                  <a:pt x="169418" y="289483"/>
                </a:moveTo>
                <a:lnTo>
                  <a:pt x="141350" y="307974"/>
                </a:lnTo>
                <a:lnTo>
                  <a:pt x="138937" y="311797"/>
                </a:lnTo>
                <a:lnTo>
                  <a:pt x="136905" y="316293"/>
                </a:lnTo>
                <a:lnTo>
                  <a:pt x="135000" y="321475"/>
                </a:lnTo>
                <a:lnTo>
                  <a:pt x="143382" y="329857"/>
                </a:lnTo>
                <a:lnTo>
                  <a:pt x="148717" y="324573"/>
                </a:lnTo>
                <a:lnTo>
                  <a:pt x="144525" y="316623"/>
                </a:lnTo>
                <a:lnTo>
                  <a:pt x="145160" y="309930"/>
                </a:lnTo>
                <a:lnTo>
                  <a:pt x="152780" y="302298"/>
                </a:lnTo>
                <a:lnTo>
                  <a:pt x="155067" y="300977"/>
                </a:lnTo>
                <a:lnTo>
                  <a:pt x="159893" y="300012"/>
                </a:lnTo>
                <a:lnTo>
                  <a:pt x="182142" y="300012"/>
                </a:lnTo>
                <a:lnTo>
                  <a:pt x="181609" y="299173"/>
                </a:lnTo>
                <a:lnTo>
                  <a:pt x="180339" y="297599"/>
                </a:lnTo>
                <a:lnTo>
                  <a:pt x="178816" y="296062"/>
                </a:lnTo>
                <a:lnTo>
                  <a:pt x="174244" y="291541"/>
                </a:lnTo>
                <a:lnTo>
                  <a:pt x="169418" y="289483"/>
                </a:lnTo>
                <a:close/>
              </a:path>
              <a:path w="519429" h="517525">
                <a:moveTo>
                  <a:pt x="225683" y="245490"/>
                </a:moveTo>
                <a:lnTo>
                  <a:pt x="217550" y="245490"/>
                </a:lnTo>
                <a:lnTo>
                  <a:pt x="218185" y="246125"/>
                </a:lnTo>
                <a:lnTo>
                  <a:pt x="244475" y="319557"/>
                </a:lnTo>
                <a:lnTo>
                  <a:pt x="246633" y="321690"/>
                </a:lnTo>
                <a:lnTo>
                  <a:pt x="252979" y="315340"/>
                </a:lnTo>
                <a:lnTo>
                  <a:pt x="225683" y="245490"/>
                </a:lnTo>
                <a:close/>
              </a:path>
              <a:path w="519429" h="517525">
                <a:moveTo>
                  <a:pt x="218439" y="229996"/>
                </a:moveTo>
                <a:lnTo>
                  <a:pt x="180975" y="267500"/>
                </a:lnTo>
                <a:lnTo>
                  <a:pt x="194182" y="282511"/>
                </a:lnTo>
                <a:lnTo>
                  <a:pt x="197993" y="278764"/>
                </a:lnTo>
                <a:lnTo>
                  <a:pt x="196596" y="276224"/>
                </a:lnTo>
                <a:lnTo>
                  <a:pt x="195706" y="274472"/>
                </a:lnTo>
                <a:lnTo>
                  <a:pt x="194945" y="272491"/>
                </a:lnTo>
                <a:lnTo>
                  <a:pt x="194945" y="269773"/>
                </a:lnTo>
                <a:lnTo>
                  <a:pt x="195325" y="268858"/>
                </a:lnTo>
                <a:lnTo>
                  <a:pt x="195833" y="267931"/>
                </a:lnTo>
                <a:lnTo>
                  <a:pt x="196214" y="267004"/>
                </a:lnTo>
                <a:lnTo>
                  <a:pt x="197103" y="265937"/>
                </a:lnTo>
                <a:lnTo>
                  <a:pt x="198247" y="264744"/>
                </a:lnTo>
                <a:lnTo>
                  <a:pt x="217550" y="245490"/>
                </a:lnTo>
                <a:lnTo>
                  <a:pt x="225683" y="245490"/>
                </a:lnTo>
                <a:lnTo>
                  <a:pt x="220472" y="232155"/>
                </a:lnTo>
                <a:lnTo>
                  <a:pt x="218439" y="229996"/>
                </a:lnTo>
                <a:close/>
              </a:path>
              <a:path w="519429" h="517525">
                <a:moveTo>
                  <a:pt x="261366" y="181228"/>
                </a:moveTo>
                <a:lnTo>
                  <a:pt x="254634" y="188086"/>
                </a:lnTo>
                <a:lnTo>
                  <a:pt x="304292" y="300951"/>
                </a:lnTo>
                <a:lnTo>
                  <a:pt x="311150" y="294093"/>
                </a:lnTo>
                <a:lnTo>
                  <a:pt x="261366" y="181228"/>
                </a:lnTo>
                <a:close/>
              </a:path>
              <a:path w="519429" h="517525">
                <a:moveTo>
                  <a:pt x="325413" y="156717"/>
                </a:moveTo>
                <a:lnTo>
                  <a:pt x="303275" y="156717"/>
                </a:lnTo>
                <a:lnTo>
                  <a:pt x="305561" y="156971"/>
                </a:lnTo>
                <a:lnTo>
                  <a:pt x="307975" y="157860"/>
                </a:lnTo>
                <a:lnTo>
                  <a:pt x="310387" y="158876"/>
                </a:lnTo>
                <a:lnTo>
                  <a:pt x="312674" y="160400"/>
                </a:lnTo>
                <a:lnTo>
                  <a:pt x="314832" y="162686"/>
                </a:lnTo>
                <a:lnTo>
                  <a:pt x="316229" y="163956"/>
                </a:lnTo>
                <a:lnTo>
                  <a:pt x="317373" y="165607"/>
                </a:lnTo>
                <a:lnTo>
                  <a:pt x="319404" y="168909"/>
                </a:lnTo>
                <a:lnTo>
                  <a:pt x="320294" y="170941"/>
                </a:lnTo>
                <a:lnTo>
                  <a:pt x="320928" y="173354"/>
                </a:lnTo>
                <a:lnTo>
                  <a:pt x="321691" y="175640"/>
                </a:lnTo>
                <a:lnTo>
                  <a:pt x="322325" y="178688"/>
                </a:lnTo>
                <a:lnTo>
                  <a:pt x="322706" y="182371"/>
                </a:lnTo>
                <a:lnTo>
                  <a:pt x="323196" y="185673"/>
                </a:lnTo>
                <a:lnTo>
                  <a:pt x="323596" y="191007"/>
                </a:lnTo>
                <a:lnTo>
                  <a:pt x="323976" y="198119"/>
                </a:lnTo>
                <a:lnTo>
                  <a:pt x="324357" y="206374"/>
                </a:lnTo>
                <a:lnTo>
                  <a:pt x="325120" y="213232"/>
                </a:lnTo>
                <a:lnTo>
                  <a:pt x="326262" y="218566"/>
                </a:lnTo>
                <a:lnTo>
                  <a:pt x="327278" y="223773"/>
                </a:lnTo>
                <a:lnTo>
                  <a:pt x="328675" y="228599"/>
                </a:lnTo>
                <a:lnTo>
                  <a:pt x="330580" y="232917"/>
                </a:lnTo>
                <a:lnTo>
                  <a:pt x="332612" y="235076"/>
                </a:lnTo>
                <a:lnTo>
                  <a:pt x="348233" y="219455"/>
                </a:lnTo>
                <a:lnTo>
                  <a:pt x="334263" y="219455"/>
                </a:lnTo>
                <a:lnTo>
                  <a:pt x="333053" y="213866"/>
                </a:lnTo>
                <a:lnTo>
                  <a:pt x="330707" y="180339"/>
                </a:lnTo>
                <a:lnTo>
                  <a:pt x="330453" y="177545"/>
                </a:lnTo>
                <a:lnTo>
                  <a:pt x="330326" y="174751"/>
                </a:lnTo>
                <a:lnTo>
                  <a:pt x="330050" y="171926"/>
                </a:lnTo>
                <a:lnTo>
                  <a:pt x="329692" y="169417"/>
                </a:lnTo>
                <a:lnTo>
                  <a:pt x="329488" y="167385"/>
                </a:lnTo>
                <a:lnTo>
                  <a:pt x="325881" y="157479"/>
                </a:lnTo>
                <a:lnTo>
                  <a:pt x="325413" y="156717"/>
                </a:lnTo>
                <a:close/>
              </a:path>
              <a:path w="519429" h="517525">
                <a:moveTo>
                  <a:pt x="356616" y="185673"/>
                </a:moveTo>
                <a:lnTo>
                  <a:pt x="352805" y="189356"/>
                </a:lnTo>
                <a:lnTo>
                  <a:pt x="353695" y="191134"/>
                </a:lnTo>
                <a:lnTo>
                  <a:pt x="354329" y="192531"/>
                </a:lnTo>
                <a:lnTo>
                  <a:pt x="354710" y="193547"/>
                </a:lnTo>
                <a:lnTo>
                  <a:pt x="355092" y="194436"/>
                </a:lnTo>
                <a:lnTo>
                  <a:pt x="355219" y="195452"/>
                </a:lnTo>
                <a:lnTo>
                  <a:pt x="354964" y="197357"/>
                </a:lnTo>
                <a:lnTo>
                  <a:pt x="354583" y="198246"/>
                </a:lnTo>
                <a:lnTo>
                  <a:pt x="353822" y="199389"/>
                </a:lnTo>
                <a:lnTo>
                  <a:pt x="353186" y="200405"/>
                </a:lnTo>
                <a:lnTo>
                  <a:pt x="352044" y="201675"/>
                </a:lnTo>
                <a:lnTo>
                  <a:pt x="334263" y="219455"/>
                </a:lnTo>
                <a:lnTo>
                  <a:pt x="348233" y="219455"/>
                </a:lnTo>
                <a:lnTo>
                  <a:pt x="368553" y="199135"/>
                </a:lnTo>
                <a:lnTo>
                  <a:pt x="356616" y="185673"/>
                </a:lnTo>
                <a:close/>
              </a:path>
              <a:path w="519429" h="517525">
                <a:moveTo>
                  <a:pt x="312800" y="146176"/>
                </a:moveTo>
                <a:lnTo>
                  <a:pt x="302513" y="146938"/>
                </a:lnTo>
                <a:lnTo>
                  <a:pt x="297179" y="149859"/>
                </a:lnTo>
                <a:lnTo>
                  <a:pt x="291846" y="155320"/>
                </a:lnTo>
                <a:lnTo>
                  <a:pt x="289305" y="157733"/>
                </a:lnTo>
                <a:lnTo>
                  <a:pt x="278383" y="178180"/>
                </a:lnTo>
                <a:lnTo>
                  <a:pt x="286766" y="186562"/>
                </a:lnTo>
                <a:lnTo>
                  <a:pt x="291973" y="181228"/>
                </a:lnTo>
                <a:lnTo>
                  <a:pt x="287908" y="173354"/>
                </a:lnTo>
                <a:lnTo>
                  <a:pt x="288544" y="166623"/>
                </a:lnTo>
                <a:lnTo>
                  <a:pt x="293877" y="161162"/>
                </a:lnTo>
                <a:lnTo>
                  <a:pt x="296163" y="159003"/>
                </a:lnTo>
                <a:lnTo>
                  <a:pt x="298450" y="157606"/>
                </a:lnTo>
                <a:lnTo>
                  <a:pt x="300862" y="157225"/>
                </a:lnTo>
                <a:lnTo>
                  <a:pt x="303275" y="156717"/>
                </a:lnTo>
                <a:lnTo>
                  <a:pt x="325413" y="156717"/>
                </a:lnTo>
                <a:lnTo>
                  <a:pt x="324866" y="155828"/>
                </a:lnTo>
                <a:lnTo>
                  <a:pt x="323596" y="154304"/>
                </a:lnTo>
                <a:lnTo>
                  <a:pt x="322072" y="152780"/>
                </a:lnTo>
                <a:lnTo>
                  <a:pt x="317626" y="148208"/>
                </a:lnTo>
                <a:lnTo>
                  <a:pt x="312800" y="146176"/>
                </a:lnTo>
                <a:close/>
              </a:path>
              <a:path w="519429" h="517525">
                <a:moveTo>
                  <a:pt x="354837" y="97154"/>
                </a:moveTo>
                <a:lnTo>
                  <a:pt x="333882" y="123062"/>
                </a:lnTo>
                <a:lnTo>
                  <a:pt x="335660" y="131571"/>
                </a:lnTo>
                <a:lnTo>
                  <a:pt x="360287" y="162972"/>
                </a:lnTo>
                <a:lnTo>
                  <a:pt x="388111" y="176021"/>
                </a:lnTo>
                <a:lnTo>
                  <a:pt x="395224" y="173862"/>
                </a:lnTo>
                <a:lnTo>
                  <a:pt x="401700" y="167385"/>
                </a:lnTo>
                <a:lnTo>
                  <a:pt x="389889" y="167385"/>
                </a:lnTo>
                <a:lnTo>
                  <a:pt x="383667" y="164591"/>
                </a:lnTo>
                <a:lnTo>
                  <a:pt x="352678" y="138556"/>
                </a:lnTo>
                <a:lnTo>
                  <a:pt x="343407" y="124967"/>
                </a:lnTo>
                <a:lnTo>
                  <a:pt x="341883" y="121919"/>
                </a:lnTo>
                <a:lnTo>
                  <a:pt x="341375" y="119125"/>
                </a:lnTo>
                <a:lnTo>
                  <a:pt x="341629" y="114045"/>
                </a:lnTo>
                <a:lnTo>
                  <a:pt x="342773" y="111759"/>
                </a:lnTo>
                <a:lnTo>
                  <a:pt x="344677" y="109727"/>
                </a:lnTo>
                <a:lnTo>
                  <a:pt x="346963" y="107568"/>
                </a:lnTo>
                <a:lnTo>
                  <a:pt x="349757" y="106552"/>
                </a:lnTo>
                <a:lnTo>
                  <a:pt x="378021" y="106552"/>
                </a:lnTo>
                <a:lnTo>
                  <a:pt x="375602" y="104759"/>
                </a:lnTo>
                <a:lnTo>
                  <a:pt x="369030" y="101101"/>
                </a:lnTo>
                <a:lnTo>
                  <a:pt x="362838" y="98932"/>
                </a:lnTo>
                <a:lnTo>
                  <a:pt x="354837" y="97154"/>
                </a:lnTo>
                <a:close/>
              </a:path>
              <a:path w="519429" h="517525">
                <a:moveTo>
                  <a:pt x="378021" y="106552"/>
                </a:moveTo>
                <a:lnTo>
                  <a:pt x="349757" y="106552"/>
                </a:lnTo>
                <a:lnTo>
                  <a:pt x="356488" y="107060"/>
                </a:lnTo>
                <a:lnTo>
                  <a:pt x="360679" y="108838"/>
                </a:lnTo>
                <a:lnTo>
                  <a:pt x="365632" y="112140"/>
                </a:lnTo>
                <a:lnTo>
                  <a:pt x="370712" y="115315"/>
                </a:lnTo>
                <a:lnTo>
                  <a:pt x="376554" y="120395"/>
                </a:lnTo>
                <a:lnTo>
                  <a:pt x="402589" y="154939"/>
                </a:lnTo>
                <a:lnTo>
                  <a:pt x="402081" y="159638"/>
                </a:lnTo>
                <a:lnTo>
                  <a:pt x="398525" y="163067"/>
                </a:lnTo>
                <a:lnTo>
                  <a:pt x="394843" y="166877"/>
                </a:lnTo>
                <a:lnTo>
                  <a:pt x="389889" y="167385"/>
                </a:lnTo>
                <a:lnTo>
                  <a:pt x="401700" y="167385"/>
                </a:lnTo>
                <a:lnTo>
                  <a:pt x="407924" y="161162"/>
                </a:lnTo>
                <a:lnTo>
                  <a:pt x="410209" y="153669"/>
                </a:lnTo>
                <a:lnTo>
                  <a:pt x="408177" y="145033"/>
                </a:lnTo>
                <a:lnTo>
                  <a:pt x="382555" y="109916"/>
                </a:lnTo>
                <a:lnTo>
                  <a:pt x="378021" y="106552"/>
                </a:lnTo>
                <a:close/>
              </a:path>
              <a:path w="519429" h="517525">
                <a:moveTo>
                  <a:pt x="415544" y="70230"/>
                </a:moveTo>
                <a:lnTo>
                  <a:pt x="397636" y="70230"/>
                </a:lnTo>
                <a:lnTo>
                  <a:pt x="399542" y="70484"/>
                </a:lnTo>
                <a:lnTo>
                  <a:pt x="400557" y="71119"/>
                </a:lnTo>
                <a:lnTo>
                  <a:pt x="401827" y="72262"/>
                </a:lnTo>
                <a:lnTo>
                  <a:pt x="439166" y="109727"/>
                </a:lnTo>
                <a:lnTo>
                  <a:pt x="440562" y="111378"/>
                </a:lnTo>
                <a:lnTo>
                  <a:pt x="441071" y="112648"/>
                </a:lnTo>
                <a:lnTo>
                  <a:pt x="441705" y="113791"/>
                </a:lnTo>
                <a:lnTo>
                  <a:pt x="441756" y="115442"/>
                </a:lnTo>
                <a:lnTo>
                  <a:pt x="441325" y="117474"/>
                </a:lnTo>
                <a:lnTo>
                  <a:pt x="440689" y="118998"/>
                </a:lnTo>
                <a:lnTo>
                  <a:pt x="439547" y="120522"/>
                </a:lnTo>
                <a:lnTo>
                  <a:pt x="438403" y="122173"/>
                </a:lnTo>
                <a:lnTo>
                  <a:pt x="436245" y="124713"/>
                </a:lnTo>
                <a:lnTo>
                  <a:pt x="433197" y="128142"/>
                </a:lnTo>
                <a:lnTo>
                  <a:pt x="436372" y="131317"/>
                </a:lnTo>
                <a:lnTo>
                  <a:pt x="463169" y="104520"/>
                </a:lnTo>
                <a:lnTo>
                  <a:pt x="453262" y="104520"/>
                </a:lnTo>
                <a:lnTo>
                  <a:pt x="452247" y="104393"/>
                </a:lnTo>
                <a:lnTo>
                  <a:pt x="451230" y="104393"/>
                </a:lnTo>
                <a:lnTo>
                  <a:pt x="450214" y="104012"/>
                </a:lnTo>
                <a:lnTo>
                  <a:pt x="449199" y="103377"/>
                </a:lnTo>
                <a:lnTo>
                  <a:pt x="448182" y="102615"/>
                </a:lnTo>
                <a:lnTo>
                  <a:pt x="446785" y="101472"/>
                </a:lnTo>
                <a:lnTo>
                  <a:pt x="415544" y="70230"/>
                </a:lnTo>
                <a:close/>
              </a:path>
              <a:path w="519429" h="517525">
                <a:moveTo>
                  <a:pt x="465454" y="95884"/>
                </a:moveTo>
                <a:lnTo>
                  <a:pt x="453262" y="104520"/>
                </a:lnTo>
                <a:lnTo>
                  <a:pt x="463169" y="104520"/>
                </a:lnTo>
                <a:lnTo>
                  <a:pt x="468629" y="99059"/>
                </a:lnTo>
                <a:lnTo>
                  <a:pt x="465454" y="95884"/>
                </a:lnTo>
                <a:close/>
              </a:path>
              <a:path w="519429" h="517525">
                <a:moveTo>
                  <a:pt x="396494" y="50672"/>
                </a:moveTo>
                <a:lnTo>
                  <a:pt x="394080" y="53085"/>
                </a:lnTo>
                <a:lnTo>
                  <a:pt x="385825" y="85597"/>
                </a:lnTo>
                <a:lnTo>
                  <a:pt x="391032" y="87121"/>
                </a:lnTo>
                <a:lnTo>
                  <a:pt x="391922" y="82803"/>
                </a:lnTo>
                <a:lnTo>
                  <a:pt x="392683" y="79374"/>
                </a:lnTo>
                <a:lnTo>
                  <a:pt x="394207" y="74040"/>
                </a:lnTo>
                <a:lnTo>
                  <a:pt x="395097" y="72262"/>
                </a:lnTo>
                <a:lnTo>
                  <a:pt x="395985" y="71373"/>
                </a:lnTo>
                <a:lnTo>
                  <a:pt x="396748" y="70484"/>
                </a:lnTo>
                <a:lnTo>
                  <a:pt x="397636" y="70230"/>
                </a:lnTo>
                <a:lnTo>
                  <a:pt x="415544" y="70230"/>
                </a:lnTo>
                <a:lnTo>
                  <a:pt x="402844" y="57530"/>
                </a:lnTo>
                <a:lnTo>
                  <a:pt x="399033" y="53593"/>
                </a:lnTo>
                <a:lnTo>
                  <a:pt x="396494" y="50672"/>
                </a:lnTo>
                <a:close/>
              </a:path>
              <a:path w="519429" h="517525">
                <a:moveTo>
                  <a:pt x="466178" y="19557"/>
                </a:moveTo>
                <a:lnTo>
                  <a:pt x="448309" y="19557"/>
                </a:lnTo>
                <a:lnTo>
                  <a:pt x="450214" y="19811"/>
                </a:lnTo>
                <a:lnTo>
                  <a:pt x="451230" y="20446"/>
                </a:lnTo>
                <a:lnTo>
                  <a:pt x="489838" y="59054"/>
                </a:lnTo>
                <a:lnTo>
                  <a:pt x="491235" y="60705"/>
                </a:lnTo>
                <a:lnTo>
                  <a:pt x="492251" y="63245"/>
                </a:lnTo>
                <a:lnTo>
                  <a:pt x="492505" y="64388"/>
                </a:lnTo>
                <a:lnTo>
                  <a:pt x="491998" y="66928"/>
                </a:lnTo>
                <a:lnTo>
                  <a:pt x="491362" y="68325"/>
                </a:lnTo>
                <a:lnTo>
                  <a:pt x="489076" y="71627"/>
                </a:lnTo>
                <a:lnTo>
                  <a:pt x="483870" y="77469"/>
                </a:lnTo>
                <a:lnTo>
                  <a:pt x="487045" y="80644"/>
                </a:lnTo>
                <a:lnTo>
                  <a:pt x="513842" y="53847"/>
                </a:lnTo>
                <a:lnTo>
                  <a:pt x="503935" y="53847"/>
                </a:lnTo>
                <a:lnTo>
                  <a:pt x="502920" y="53720"/>
                </a:lnTo>
                <a:lnTo>
                  <a:pt x="501903" y="53720"/>
                </a:lnTo>
                <a:lnTo>
                  <a:pt x="500887" y="53339"/>
                </a:lnTo>
                <a:lnTo>
                  <a:pt x="498855" y="52069"/>
                </a:lnTo>
                <a:lnTo>
                  <a:pt x="495554" y="49021"/>
                </a:lnTo>
                <a:lnTo>
                  <a:pt x="466178" y="19557"/>
                </a:lnTo>
                <a:close/>
              </a:path>
              <a:path w="519429" h="517525">
                <a:moveTo>
                  <a:pt x="516127" y="45211"/>
                </a:moveTo>
                <a:lnTo>
                  <a:pt x="503935" y="53847"/>
                </a:lnTo>
                <a:lnTo>
                  <a:pt x="513842" y="53847"/>
                </a:lnTo>
                <a:lnTo>
                  <a:pt x="519302" y="48386"/>
                </a:lnTo>
                <a:lnTo>
                  <a:pt x="516127" y="45211"/>
                </a:lnTo>
                <a:close/>
              </a:path>
              <a:path w="519429" h="517525">
                <a:moveTo>
                  <a:pt x="447039" y="0"/>
                </a:moveTo>
                <a:lnTo>
                  <a:pt x="444626" y="2412"/>
                </a:lnTo>
                <a:lnTo>
                  <a:pt x="436372" y="35051"/>
                </a:lnTo>
                <a:lnTo>
                  <a:pt x="441705" y="36448"/>
                </a:lnTo>
                <a:lnTo>
                  <a:pt x="442595" y="32257"/>
                </a:lnTo>
                <a:lnTo>
                  <a:pt x="443356" y="28828"/>
                </a:lnTo>
                <a:lnTo>
                  <a:pt x="448309" y="19557"/>
                </a:lnTo>
                <a:lnTo>
                  <a:pt x="466178" y="19557"/>
                </a:lnTo>
                <a:lnTo>
                  <a:pt x="453517" y="6857"/>
                </a:lnTo>
                <a:lnTo>
                  <a:pt x="449706" y="2920"/>
                </a:lnTo>
                <a:lnTo>
                  <a:pt x="447039" y="0"/>
                </a:lnTo>
                <a:close/>
              </a:path>
            </a:pathLst>
          </a:custGeom>
          <a:solidFill>
            <a:srgbClr val="000000"/>
          </a:solidFill>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sp>
        <p:nvSpPr>
          <p:cNvPr id="34" name="object 33">
            <a:extLst>
              <a:ext uri="{FF2B5EF4-FFF2-40B4-BE49-F238E27FC236}">
                <a16:creationId xmlns:a16="http://schemas.microsoft.com/office/drawing/2014/main" id="{26521DE5-5958-4BB5-854B-567D2FD1DC07}"/>
              </a:ext>
            </a:extLst>
          </p:cNvPr>
          <p:cNvSpPr/>
          <p:nvPr/>
        </p:nvSpPr>
        <p:spPr>
          <a:xfrm>
            <a:off x="8854343" y="5324818"/>
            <a:ext cx="749238" cy="520065"/>
          </a:xfrm>
          <a:custGeom>
            <a:avLst/>
            <a:gdLst/>
            <a:ahLst/>
            <a:cxnLst/>
            <a:rect l="l" t="t" r="r" b="b"/>
            <a:pathLst>
              <a:path w="518795" h="520064">
                <a:moveTo>
                  <a:pt x="29695" y="458584"/>
                </a:moveTo>
                <a:lnTo>
                  <a:pt x="11810" y="458584"/>
                </a:lnTo>
                <a:lnTo>
                  <a:pt x="13715" y="458838"/>
                </a:lnTo>
                <a:lnTo>
                  <a:pt x="14858" y="459485"/>
                </a:lnTo>
                <a:lnTo>
                  <a:pt x="16001" y="460654"/>
                </a:lnTo>
                <a:lnTo>
                  <a:pt x="53466" y="498106"/>
                </a:lnTo>
                <a:lnTo>
                  <a:pt x="54736" y="499744"/>
                </a:lnTo>
                <a:lnTo>
                  <a:pt x="55372" y="500989"/>
                </a:lnTo>
                <a:lnTo>
                  <a:pt x="55879" y="502221"/>
                </a:lnTo>
                <a:lnTo>
                  <a:pt x="56006" y="503453"/>
                </a:lnTo>
                <a:lnTo>
                  <a:pt x="55752" y="504672"/>
                </a:lnTo>
                <a:lnTo>
                  <a:pt x="55625" y="505904"/>
                </a:lnTo>
                <a:lnTo>
                  <a:pt x="54863" y="507326"/>
                </a:lnTo>
                <a:lnTo>
                  <a:pt x="52577" y="510590"/>
                </a:lnTo>
                <a:lnTo>
                  <a:pt x="50546" y="513092"/>
                </a:lnTo>
                <a:lnTo>
                  <a:pt x="47371" y="516470"/>
                </a:lnTo>
                <a:lnTo>
                  <a:pt x="50673" y="519658"/>
                </a:lnTo>
                <a:lnTo>
                  <a:pt x="77461" y="492848"/>
                </a:lnTo>
                <a:lnTo>
                  <a:pt x="67563" y="492848"/>
                </a:lnTo>
                <a:lnTo>
                  <a:pt x="65531" y="492734"/>
                </a:lnTo>
                <a:lnTo>
                  <a:pt x="59219" y="488073"/>
                </a:lnTo>
                <a:lnTo>
                  <a:pt x="29695" y="458584"/>
                </a:lnTo>
                <a:close/>
              </a:path>
              <a:path w="518795" h="520064">
                <a:moveTo>
                  <a:pt x="79755" y="484187"/>
                </a:moveTo>
                <a:lnTo>
                  <a:pt x="75325" y="488162"/>
                </a:lnTo>
                <a:lnTo>
                  <a:pt x="72389" y="490486"/>
                </a:lnTo>
                <a:lnTo>
                  <a:pt x="71119" y="491388"/>
                </a:lnTo>
                <a:lnTo>
                  <a:pt x="69850" y="491985"/>
                </a:lnTo>
                <a:lnTo>
                  <a:pt x="68706" y="492582"/>
                </a:lnTo>
                <a:lnTo>
                  <a:pt x="67563" y="492848"/>
                </a:lnTo>
                <a:lnTo>
                  <a:pt x="77461" y="492848"/>
                </a:lnTo>
                <a:lnTo>
                  <a:pt x="82930" y="487375"/>
                </a:lnTo>
                <a:lnTo>
                  <a:pt x="79755" y="484187"/>
                </a:lnTo>
                <a:close/>
              </a:path>
              <a:path w="518795" h="520064">
                <a:moveTo>
                  <a:pt x="10667" y="438988"/>
                </a:moveTo>
                <a:lnTo>
                  <a:pt x="8254" y="441388"/>
                </a:lnTo>
                <a:lnTo>
                  <a:pt x="0" y="474014"/>
                </a:lnTo>
                <a:lnTo>
                  <a:pt x="5333" y="475462"/>
                </a:lnTo>
                <a:lnTo>
                  <a:pt x="6096" y="471233"/>
                </a:lnTo>
                <a:lnTo>
                  <a:pt x="6984" y="467791"/>
                </a:lnTo>
                <a:lnTo>
                  <a:pt x="7747" y="465112"/>
                </a:lnTo>
                <a:lnTo>
                  <a:pt x="8381" y="462432"/>
                </a:lnTo>
                <a:lnTo>
                  <a:pt x="9271" y="460628"/>
                </a:lnTo>
                <a:lnTo>
                  <a:pt x="10159" y="459689"/>
                </a:lnTo>
                <a:lnTo>
                  <a:pt x="11049" y="458901"/>
                </a:lnTo>
                <a:lnTo>
                  <a:pt x="11810" y="458584"/>
                </a:lnTo>
                <a:lnTo>
                  <a:pt x="29695" y="458584"/>
                </a:lnTo>
                <a:lnTo>
                  <a:pt x="17017" y="445922"/>
                </a:lnTo>
                <a:lnTo>
                  <a:pt x="12822" y="441388"/>
                </a:lnTo>
                <a:lnTo>
                  <a:pt x="10667" y="438988"/>
                </a:lnTo>
                <a:close/>
              </a:path>
              <a:path w="518795" h="520064">
                <a:moveTo>
                  <a:pt x="79318" y="409003"/>
                </a:moveTo>
                <a:lnTo>
                  <a:pt x="61467" y="409003"/>
                </a:lnTo>
                <a:lnTo>
                  <a:pt x="62356" y="409143"/>
                </a:lnTo>
                <a:lnTo>
                  <a:pt x="63373" y="409270"/>
                </a:lnTo>
                <a:lnTo>
                  <a:pt x="64388" y="409917"/>
                </a:lnTo>
                <a:lnTo>
                  <a:pt x="65531" y="411086"/>
                </a:lnTo>
                <a:lnTo>
                  <a:pt x="102997" y="448538"/>
                </a:lnTo>
                <a:lnTo>
                  <a:pt x="104266" y="450176"/>
                </a:lnTo>
                <a:lnTo>
                  <a:pt x="104901" y="451408"/>
                </a:lnTo>
                <a:lnTo>
                  <a:pt x="105409" y="452653"/>
                </a:lnTo>
                <a:lnTo>
                  <a:pt x="105663" y="453885"/>
                </a:lnTo>
                <a:lnTo>
                  <a:pt x="105155" y="456323"/>
                </a:lnTo>
                <a:lnTo>
                  <a:pt x="104521" y="457758"/>
                </a:lnTo>
                <a:lnTo>
                  <a:pt x="102234" y="461009"/>
                </a:lnTo>
                <a:lnTo>
                  <a:pt x="100075" y="463524"/>
                </a:lnTo>
                <a:lnTo>
                  <a:pt x="97027" y="466902"/>
                </a:lnTo>
                <a:lnTo>
                  <a:pt x="100202" y="470090"/>
                </a:lnTo>
                <a:lnTo>
                  <a:pt x="126991" y="443280"/>
                </a:lnTo>
                <a:lnTo>
                  <a:pt x="117093" y="443280"/>
                </a:lnTo>
                <a:lnTo>
                  <a:pt x="115061" y="443166"/>
                </a:lnTo>
                <a:lnTo>
                  <a:pt x="114046" y="442798"/>
                </a:lnTo>
                <a:lnTo>
                  <a:pt x="113029" y="442137"/>
                </a:lnTo>
                <a:lnTo>
                  <a:pt x="111886" y="441464"/>
                </a:lnTo>
                <a:lnTo>
                  <a:pt x="108750" y="438505"/>
                </a:lnTo>
                <a:lnTo>
                  <a:pt x="79318" y="409003"/>
                </a:lnTo>
                <a:close/>
              </a:path>
              <a:path w="518795" h="520064">
                <a:moveTo>
                  <a:pt x="118109" y="327177"/>
                </a:moveTo>
                <a:lnTo>
                  <a:pt x="111378" y="333959"/>
                </a:lnTo>
                <a:lnTo>
                  <a:pt x="161035" y="446849"/>
                </a:lnTo>
                <a:lnTo>
                  <a:pt x="167893" y="439991"/>
                </a:lnTo>
                <a:lnTo>
                  <a:pt x="118109" y="327177"/>
                </a:lnTo>
                <a:close/>
              </a:path>
              <a:path w="518795" h="520064">
                <a:moveTo>
                  <a:pt x="129285" y="434619"/>
                </a:moveTo>
                <a:lnTo>
                  <a:pt x="119379" y="442417"/>
                </a:lnTo>
                <a:lnTo>
                  <a:pt x="118236" y="443014"/>
                </a:lnTo>
                <a:lnTo>
                  <a:pt x="117093" y="443280"/>
                </a:lnTo>
                <a:lnTo>
                  <a:pt x="126991" y="443280"/>
                </a:lnTo>
                <a:lnTo>
                  <a:pt x="132460" y="437807"/>
                </a:lnTo>
                <a:lnTo>
                  <a:pt x="129285" y="434619"/>
                </a:lnTo>
                <a:close/>
              </a:path>
              <a:path w="518795" h="520064">
                <a:moveTo>
                  <a:pt x="60198" y="389420"/>
                </a:moveTo>
                <a:lnTo>
                  <a:pt x="57784" y="391820"/>
                </a:lnTo>
                <a:lnTo>
                  <a:pt x="49529" y="424446"/>
                </a:lnTo>
                <a:lnTo>
                  <a:pt x="54863" y="425881"/>
                </a:lnTo>
                <a:lnTo>
                  <a:pt x="55752" y="421665"/>
                </a:lnTo>
                <a:lnTo>
                  <a:pt x="56514" y="418210"/>
                </a:lnTo>
                <a:lnTo>
                  <a:pt x="58038" y="412864"/>
                </a:lnTo>
                <a:lnTo>
                  <a:pt x="58800" y="411048"/>
                </a:lnTo>
                <a:lnTo>
                  <a:pt x="59816" y="410121"/>
                </a:lnTo>
                <a:lnTo>
                  <a:pt x="60578" y="409333"/>
                </a:lnTo>
                <a:lnTo>
                  <a:pt x="61467" y="409003"/>
                </a:lnTo>
                <a:lnTo>
                  <a:pt x="79318" y="409003"/>
                </a:lnTo>
                <a:lnTo>
                  <a:pt x="66675" y="396354"/>
                </a:lnTo>
                <a:lnTo>
                  <a:pt x="62864" y="392391"/>
                </a:lnTo>
                <a:lnTo>
                  <a:pt x="60198" y="389420"/>
                </a:lnTo>
                <a:close/>
              </a:path>
              <a:path w="518795" h="520064">
                <a:moveTo>
                  <a:pt x="182142" y="302590"/>
                </a:moveTo>
                <a:lnTo>
                  <a:pt x="159892" y="302590"/>
                </a:lnTo>
                <a:lnTo>
                  <a:pt x="162305" y="302831"/>
                </a:lnTo>
                <a:lnTo>
                  <a:pt x="164718" y="303809"/>
                </a:lnTo>
                <a:lnTo>
                  <a:pt x="167004" y="304787"/>
                </a:lnTo>
                <a:lnTo>
                  <a:pt x="169290" y="306362"/>
                </a:lnTo>
                <a:lnTo>
                  <a:pt x="171540" y="308635"/>
                </a:lnTo>
                <a:lnTo>
                  <a:pt x="172847" y="309918"/>
                </a:lnTo>
                <a:lnTo>
                  <a:pt x="181101" y="352297"/>
                </a:lnTo>
                <a:lnTo>
                  <a:pt x="181863" y="359079"/>
                </a:lnTo>
                <a:lnTo>
                  <a:pt x="189356" y="380961"/>
                </a:lnTo>
                <a:lnTo>
                  <a:pt x="204901" y="365417"/>
                </a:lnTo>
                <a:lnTo>
                  <a:pt x="190880" y="365417"/>
                </a:lnTo>
                <a:lnTo>
                  <a:pt x="189688" y="359782"/>
                </a:lnTo>
                <a:lnTo>
                  <a:pt x="187578" y="331114"/>
                </a:lnTo>
                <a:lnTo>
                  <a:pt x="187071" y="320624"/>
                </a:lnTo>
                <a:lnTo>
                  <a:pt x="182625" y="303352"/>
                </a:lnTo>
                <a:lnTo>
                  <a:pt x="182142" y="302590"/>
                </a:lnTo>
                <a:close/>
              </a:path>
              <a:path w="518795" h="520064">
                <a:moveTo>
                  <a:pt x="213232" y="331520"/>
                </a:moveTo>
                <a:lnTo>
                  <a:pt x="209550" y="335229"/>
                </a:lnTo>
                <a:lnTo>
                  <a:pt x="210438" y="337070"/>
                </a:lnTo>
                <a:lnTo>
                  <a:pt x="211074" y="338467"/>
                </a:lnTo>
                <a:lnTo>
                  <a:pt x="211454" y="339432"/>
                </a:lnTo>
                <a:lnTo>
                  <a:pt x="211708" y="340385"/>
                </a:lnTo>
                <a:lnTo>
                  <a:pt x="211835" y="341337"/>
                </a:lnTo>
                <a:lnTo>
                  <a:pt x="211581" y="343192"/>
                </a:lnTo>
                <a:lnTo>
                  <a:pt x="190880" y="365417"/>
                </a:lnTo>
                <a:lnTo>
                  <a:pt x="204901" y="365417"/>
                </a:lnTo>
                <a:lnTo>
                  <a:pt x="225298" y="345020"/>
                </a:lnTo>
                <a:lnTo>
                  <a:pt x="213232" y="331520"/>
                </a:lnTo>
                <a:close/>
              </a:path>
              <a:path w="518795" h="520064">
                <a:moveTo>
                  <a:pt x="169417" y="292061"/>
                </a:moveTo>
                <a:lnTo>
                  <a:pt x="141350" y="310553"/>
                </a:lnTo>
                <a:lnTo>
                  <a:pt x="138937" y="314375"/>
                </a:lnTo>
                <a:lnTo>
                  <a:pt x="136905" y="318871"/>
                </a:lnTo>
                <a:lnTo>
                  <a:pt x="135000" y="324053"/>
                </a:lnTo>
                <a:lnTo>
                  <a:pt x="143382" y="332435"/>
                </a:lnTo>
                <a:lnTo>
                  <a:pt x="148716" y="327151"/>
                </a:lnTo>
                <a:lnTo>
                  <a:pt x="144525" y="319201"/>
                </a:lnTo>
                <a:lnTo>
                  <a:pt x="145160" y="312508"/>
                </a:lnTo>
                <a:lnTo>
                  <a:pt x="152780" y="304876"/>
                </a:lnTo>
                <a:lnTo>
                  <a:pt x="155066" y="303555"/>
                </a:lnTo>
                <a:lnTo>
                  <a:pt x="159892" y="302590"/>
                </a:lnTo>
                <a:lnTo>
                  <a:pt x="182142" y="302590"/>
                </a:lnTo>
                <a:lnTo>
                  <a:pt x="181609" y="301751"/>
                </a:lnTo>
                <a:lnTo>
                  <a:pt x="180339" y="300177"/>
                </a:lnTo>
                <a:lnTo>
                  <a:pt x="178815" y="298640"/>
                </a:lnTo>
                <a:lnTo>
                  <a:pt x="174243" y="294119"/>
                </a:lnTo>
                <a:lnTo>
                  <a:pt x="169417" y="292061"/>
                </a:lnTo>
                <a:close/>
              </a:path>
              <a:path w="518795" h="520064">
                <a:moveTo>
                  <a:pt x="225789" y="248069"/>
                </a:moveTo>
                <a:lnTo>
                  <a:pt x="217550" y="248069"/>
                </a:lnTo>
                <a:lnTo>
                  <a:pt x="218185" y="248704"/>
                </a:lnTo>
                <a:lnTo>
                  <a:pt x="244475" y="322135"/>
                </a:lnTo>
                <a:lnTo>
                  <a:pt x="246633" y="324269"/>
                </a:lnTo>
                <a:lnTo>
                  <a:pt x="252979" y="317919"/>
                </a:lnTo>
                <a:lnTo>
                  <a:pt x="225789" y="248069"/>
                </a:lnTo>
                <a:close/>
              </a:path>
              <a:path w="518795" h="520064">
                <a:moveTo>
                  <a:pt x="218439" y="232575"/>
                </a:moveTo>
                <a:lnTo>
                  <a:pt x="180975" y="270078"/>
                </a:lnTo>
                <a:lnTo>
                  <a:pt x="194309" y="285089"/>
                </a:lnTo>
                <a:lnTo>
                  <a:pt x="197992" y="281343"/>
                </a:lnTo>
                <a:lnTo>
                  <a:pt x="196596" y="278803"/>
                </a:lnTo>
                <a:lnTo>
                  <a:pt x="195706" y="277050"/>
                </a:lnTo>
                <a:lnTo>
                  <a:pt x="194944" y="275069"/>
                </a:lnTo>
                <a:lnTo>
                  <a:pt x="194944" y="272351"/>
                </a:lnTo>
                <a:lnTo>
                  <a:pt x="195325" y="271437"/>
                </a:lnTo>
                <a:lnTo>
                  <a:pt x="195833" y="270509"/>
                </a:lnTo>
                <a:lnTo>
                  <a:pt x="196214" y="269582"/>
                </a:lnTo>
                <a:lnTo>
                  <a:pt x="197103" y="268516"/>
                </a:lnTo>
                <a:lnTo>
                  <a:pt x="198247" y="267322"/>
                </a:lnTo>
                <a:lnTo>
                  <a:pt x="217550" y="248069"/>
                </a:lnTo>
                <a:lnTo>
                  <a:pt x="225789" y="248069"/>
                </a:lnTo>
                <a:lnTo>
                  <a:pt x="220599" y="234734"/>
                </a:lnTo>
                <a:lnTo>
                  <a:pt x="218439" y="232575"/>
                </a:lnTo>
                <a:close/>
              </a:path>
              <a:path w="518795" h="520064">
                <a:moveTo>
                  <a:pt x="261365" y="184149"/>
                </a:moveTo>
                <a:lnTo>
                  <a:pt x="254634" y="191769"/>
                </a:lnTo>
                <a:lnTo>
                  <a:pt x="304291" y="303529"/>
                </a:lnTo>
                <a:lnTo>
                  <a:pt x="311150" y="297179"/>
                </a:lnTo>
                <a:lnTo>
                  <a:pt x="261365" y="184149"/>
                </a:lnTo>
                <a:close/>
              </a:path>
              <a:path w="518795" h="520064">
                <a:moveTo>
                  <a:pt x="325374" y="160019"/>
                </a:moveTo>
                <a:lnTo>
                  <a:pt x="305561" y="160019"/>
                </a:lnTo>
                <a:lnTo>
                  <a:pt x="310387" y="162559"/>
                </a:lnTo>
                <a:lnTo>
                  <a:pt x="312674" y="163829"/>
                </a:lnTo>
                <a:lnTo>
                  <a:pt x="314832" y="166369"/>
                </a:lnTo>
                <a:lnTo>
                  <a:pt x="316229" y="167639"/>
                </a:lnTo>
                <a:lnTo>
                  <a:pt x="317373" y="168909"/>
                </a:lnTo>
                <a:lnTo>
                  <a:pt x="319404" y="172719"/>
                </a:lnTo>
                <a:lnTo>
                  <a:pt x="320293" y="173989"/>
                </a:lnTo>
                <a:lnTo>
                  <a:pt x="320928" y="176529"/>
                </a:lnTo>
                <a:lnTo>
                  <a:pt x="321690" y="179069"/>
                </a:lnTo>
                <a:lnTo>
                  <a:pt x="322325" y="181609"/>
                </a:lnTo>
                <a:lnTo>
                  <a:pt x="322706" y="185419"/>
                </a:lnTo>
                <a:lnTo>
                  <a:pt x="323214" y="189229"/>
                </a:lnTo>
                <a:lnTo>
                  <a:pt x="323596" y="194309"/>
                </a:lnTo>
                <a:lnTo>
                  <a:pt x="324357" y="209549"/>
                </a:lnTo>
                <a:lnTo>
                  <a:pt x="325119" y="215899"/>
                </a:lnTo>
                <a:lnTo>
                  <a:pt x="332612" y="238759"/>
                </a:lnTo>
                <a:lnTo>
                  <a:pt x="348724" y="222249"/>
                </a:lnTo>
                <a:lnTo>
                  <a:pt x="334263" y="222249"/>
                </a:lnTo>
                <a:lnTo>
                  <a:pt x="333053" y="217169"/>
                </a:lnTo>
                <a:lnTo>
                  <a:pt x="332104" y="210819"/>
                </a:lnTo>
                <a:lnTo>
                  <a:pt x="331442" y="203199"/>
                </a:lnTo>
                <a:lnTo>
                  <a:pt x="331088" y="195579"/>
                </a:lnTo>
                <a:lnTo>
                  <a:pt x="330707" y="184149"/>
                </a:lnTo>
                <a:lnTo>
                  <a:pt x="330453" y="180339"/>
                </a:lnTo>
                <a:lnTo>
                  <a:pt x="330326" y="177799"/>
                </a:lnTo>
                <a:lnTo>
                  <a:pt x="330073" y="175259"/>
                </a:lnTo>
                <a:lnTo>
                  <a:pt x="329691" y="172719"/>
                </a:lnTo>
                <a:lnTo>
                  <a:pt x="329437" y="170179"/>
                </a:lnTo>
                <a:lnTo>
                  <a:pt x="328929" y="167639"/>
                </a:lnTo>
                <a:lnTo>
                  <a:pt x="328294" y="166369"/>
                </a:lnTo>
                <a:lnTo>
                  <a:pt x="327659" y="163829"/>
                </a:lnTo>
                <a:lnTo>
                  <a:pt x="326898" y="162559"/>
                </a:lnTo>
                <a:lnTo>
                  <a:pt x="325881" y="161289"/>
                </a:lnTo>
                <a:lnTo>
                  <a:pt x="325374" y="160019"/>
                </a:lnTo>
                <a:close/>
              </a:path>
              <a:path w="518795" h="520064">
                <a:moveTo>
                  <a:pt x="356615" y="189229"/>
                </a:moveTo>
                <a:lnTo>
                  <a:pt x="352805" y="193039"/>
                </a:lnTo>
                <a:lnTo>
                  <a:pt x="353822" y="194309"/>
                </a:lnTo>
                <a:lnTo>
                  <a:pt x="354710" y="196849"/>
                </a:lnTo>
                <a:lnTo>
                  <a:pt x="355091" y="198119"/>
                </a:lnTo>
                <a:lnTo>
                  <a:pt x="354964" y="200659"/>
                </a:lnTo>
                <a:lnTo>
                  <a:pt x="354583" y="201929"/>
                </a:lnTo>
                <a:lnTo>
                  <a:pt x="353822" y="203199"/>
                </a:lnTo>
                <a:lnTo>
                  <a:pt x="353186" y="203199"/>
                </a:lnTo>
                <a:lnTo>
                  <a:pt x="352043" y="204469"/>
                </a:lnTo>
                <a:lnTo>
                  <a:pt x="350647" y="205739"/>
                </a:lnTo>
                <a:lnTo>
                  <a:pt x="334263" y="222249"/>
                </a:lnTo>
                <a:lnTo>
                  <a:pt x="348724" y="222249"/>
                </a:lnTo>
                <a:lnTo>
                  <a:pt x="368553" y="201929"/>
                </a:lnTo>
                <a:lnTo>
                  <a:pt x="356615" y="189229"/>
                </a:lnTo>
                <a:close/>
              </a:path>
              <a:path w="518795" h="520064">
                <a:moveTo>
                  <a:pt x="312800" y="149859"/>
                </a:moveTo>
                <a:lnTo>
                  <a:pt x="302513" y="149859"/>
                </a:lnTo>
                <a:lnTo>
                  <a:pt x="297179" y="153669"/>
                </a:lnTo>
                <a:lnTo>
                  <a:pt x="278383" y="181609"/>
                </a:lnTo>
                <a:lnTo>
                  <a:pt x="286765" y="189229"/>
                </a:lnTo>
                <a:lnTo>
                  <a:pt x="291973" y="184149"/>
                </a:lnTo>
                <a:lnTo>
                  <a:pt x="287908" y="176529"/>
                </a:lnTo>
                <a:lnTo>
                  <a:pt x="288543" y="170179"/>
                </a:lnTo>
                <a:lnTo>
                  <a:pt x="293877" y="163829"/>
                </a:lnTo>
                <a:lnTo>
                  <a:pt x="298450" y="161289"/>
                </a:lnTo>
                <a:lnTo>
                  <a:pt x="300862" y="160019"/>
                </a:lnTo>
                <a:lnTo>
                  <a:pt x="325374" y="160019"/>
                </a:lnTo>
                <a:lnTo>
                  <a:pt x="324865" y="158749"/>
                </a:lnTo>
                <a:lnTo>
                  <a:pt x="323596" y="157479"/>
                </a:lnTo>
                <a:lnTo>
                  <a:pt x="322072" y="156209"/>
                </a:lnTo>
                <a:lnTo>
                  <a:pt x="317626" y="151129"/>
                </a:lnTo>
                <a:lnTo>
                  <a:pt x="312800" y="149859"/>
                </a:lnTo>
                <a:close/>
              </a:path>
              <a:path w="518795" h="520064">
                <a:moveTo>
                  <a:pt x="354837" y="100329"/>
                </a:moveTo>
                <a:lnTo>
                  <a:pt x="347599" y="102869"/>
                </a:lnTo>
                <a:lnTo>
                  <a:pt x="341249" y="109219"/>
                </a:lnTo>
                <a:lnTo>
                  <a:pt x="338454" y="111759"/>
                </a:lnTo>
                <a:lnTo>
                  <a:pt x="336423" y="115569"/>
                </a:lnTo>
                <a:lnTo>
                  <a:pt x="335279" y="118109"/>
                </a:lnTo>
                <a:lnTo>
                  <a:pt x="334136" y="121919"/>
                </a:lnTo>
                <a:lnTo>
                  <a:pt x="333882" y="125729"/>
                </a:lnTo>
                <a:lnTo>
                  <a:pt x="334772" y="130809"/>
                </a:lnTo>
                <a:lnTo>
                  <a:pt x="360287" y="166369"/>
                </a:lnTo>
                <a:lnTo>
                  <a:pt x="388111" y="179069"/>
                </a:lnTo>
                <a:lnTo>
                  <a:pt x="395224" y="176529"/>
                </a:lnTo>
                <a:lnTo>
                  <a:pt x="401574" y="170179"/>
                </a:lnTo>
                <a:lnTo>
                  <a:pt x="389889" y="170179"/>
                </a:lnTo>
                <a:lnTo>
                  <a:pt x="383666" y="167639"/>
                </a:lnTo>
                <a:lnTo>
                  <a:pt x="352678" y="142239"/>
                </a:lnTo>
                <a:lnTo>
                  <a:pt x="343407" y="128269"/>
                </a:lnTo>
                <a:lnTo>
                  <a:pt x="341883" y="125729"/>
                </a:lnTo>
                <a:lnTo>
                  <a:pt x="341375" y="121919"/>
                </a:lnTo>
                <a:lnTo>
                  <a:pt x="341629" y="116839"/>
                </a:lnTo>
                <a:lnTo>
                  <a:pt x="342773" y="115569"/>
                </a:lnTo>
                <a:lnTo>
                  <a:pt x="344677" y="113029"/>
                </a:lnTo>
                <a:lnTo>
                  <a:pt x="346963" y="110489"/>
                </a:lnTo>
                <a:lnTo>
                  <a:pt x="349757" y="109219"/>
                </a:lnTo>
                <a:lnTo>
                  <a:pt x="377340" y="109219"/>
                </a:lnTo>
                <a:lnTo>
                  <a:pt x="375602" y="107949"/>
                </a:lnTo>
                <a:lnTo>
                  <a:pt x="369030" y="104139"/>
                </a:lnTo>
                <a:lnTo>
                  <a:pt x="362838" y="101599"/>
                </a:lnTo>
                <a:lnTo>
                  <a:pt x="354837" y="100329"/>
                </a:lnTo>
                <a:close/>
              </a:path>
              <a:path w="518795" h="520064">
                <a:moveTo>
                  <a:pt x="377340" y="109219"/>
                </a:moveTo>
                <a:lnTo>
                  <a:pt x="349757" y="109219"/>
                </a:lnTo>
                <a:lnTo>
                  <a:pt x="356488" y="110489"/>
                </a:lnTo>
                <a:lnTo>
                  <a:pt x="360679" y="111759"/>
                </a:lnTo>
                <a:lnTo>
                  <a:pt x="365632" y="115569"/>
                </a:lnTo>
                <a:lnTo>
                  <a:pt x="370712" y="118109"/>
                </a:lnTo>
                <a:lnTo>
                  <a:pt x="376554" y="123189"/>
                </a:lnTo>
                <a:lnTo>
                  <a:pt x="383285" y="130809"/>
                </a:lnTo>
                <a:lnTo>
                  <a:pt x="389262" y="135889"/>
                </a:lnTo>
                <a:lnTo>
                  <a:pt x="394049" y="142239"/>
                </a:lnTo>
                <a:lnTo>
                  <a:pt x="397644" y="147319"/>
                </a:lnTo>
                <a:lnTo>
                  <a:pt x="400050" y="152399"/>
                </a:lnTo>
                <a:lnTo>
                  <a:pt x="402589" y="158749"/>
                </a:lnTo>
                <a:lnTo>
                  <a:pt x="402081" y="162559"/>
                </a:lnTo>
                <a:lnTo>
                  <a:pt x="398525" y="166369"/>
                </a:lnTo>
                <a:lnTo>
                  <a:pt x="394842" y="170179"/>
                </a:lnTo>
                <a:lnTo>
                  <a:pt x="401574" y="170179"/>
                </a:lnTo>
                <a:lnTo>
                  <a:pt x="407924" y="163829"/>
                </a:lnTo>
                <a:lnTo>
                  <a:pt x="410209" y="157479"/>
                </a:lnTo>
                <a:lnTo>
                  <a:pt x="408177" y="148589"/>
                </a:lnTo>
                <a:lnTo>
                  <a:pt x="382555" y="113029"/>
                </a:lnTo>
                <a:lnTo>
                  <a:pt x="377340" y="109219"/>
                </a:lnTo>
                <a:close/>
              </a:path>
              <a:path w="518795" h="520064">
                <a:moveTo>
                  <a:pt x="415659" y="73659"/>
                </a:moveTo>
                <a:lnTo>
                  <a:pt x="399541" y="73659"/>
                </a:lnTo>
                <a:lnTo>
                  <a:pt x="400557" y="74929"/>
                </a:lnTo>
                <a:lnTo>
                  <a:pt x="401827" y="74929"/>
                </a:lnTo>
                <a:lnTo>
                  <a:pt x="437133" y="110489"/>
                </a:lnTo>
                <a:lnTo>
                  <a:pt x="439292" y="113029"/>
                </a:lnTo>
                <a:lnTo>
                  <a:pt x="440562" y="114299"/>
                </a:lnTo>
                <a:lnTo>
                  <a:pt x="441071" y="115569"/>
                </a:lnTo>
                <a:lnTo>
                  <a:pt x="441705" y="116839"/>
                </a:lnTo>
                <a:lnTo>
                  <a:pt x="441832" y="118109"/>
                </a:lnTo>
                <a:lnTo>
                  <a:pt x="441325" y="120649"/>
                </a:lnTo>
                <a:lnTo>
                  <a:pt x="440689" y="121919"/>
                </a:lnTo>
                <a:lnTo>
                  <a:pt x="439547" y="123189"/>
                </a:lnTo>
                <a:lnTo>
                  <a:pt x="438403" y="125729"/>
                </a:lnTo>
                <a:lnTo>
                  <a:pt x="436244" y="128269"/>
                </a:lnTo>
                <a:lnTo>
                  <a:pt x="433197" y="130809"/>
                </a:lnTo>
                <a:lnTo>
                  <a:pt x="436372" y="134619"/>
                </a:lnTo>
                <a:lnTo>
                  <a:pt x="463468" y="107949"/>
                </a:lnTo>
                <a:lnTo>
                  <a:pt x="451230" y="107949"/>
                </a:lnTo>
                <a:lnTo>
                  <a:pt x="450214" y="106679"/>
                </a:lnTo>
                <a:lnTo>
                  <a:pt x="449199" y="106679"/>
                </a:lnTo>
                <a:lnTo>
                  <a:pt x="448182" y="105409"/>
                </a:lnTo>
                <a:lnTo>
                  <a:pt x="446785" y="104139"/>
                </a:lnTo>
                <a:lnTo>
                  <a:pt x="445134" y="102869"/>
                </a:lnTo>
                <a:lnTo>
                  <a:pt x="415659" y="73659"/>
                </a:lnTo>
                <a:close/>
              </a:path>
              <a:path w="518795" h="520064">
                <a:moveTo>
                  <a:pt x="465454" y="99059"/>
                </a:moveTo>
                <a:lnTo>
                  <a:pt x="463168" y="101599"/>
                </a:lnTo>
                <a:lnTo>
                  <a:pt x="461263" y="102869"/>
                </a:lnTo>
                <a:lnTo>
                  <a:pt x="458215" y="105409"/>
                </a:lnTo>
                <a:lnTo>
                  <a:pt x="456818" y="106679"/>
                </a:lnTo>
                <a:lnTo>
                  <a:pt x="455675" y="106679"/>
                </a:lnTo>
                <a:lnTo>
                  <a:pt x="454405" y="107949"/>
                </a:lnTo>
                <a:lnTo>
                  <a:pt x="463468" y="107949"/>
                </a:lnTo>
                <a:lnTo>
                  <a:pt x="468629" y="102869"/>
                </a:lnTo>
                <a:lnTo>
                  <a:pt x="465454" y="99059"/>
                </a:lnTo>
                <a:close/>
              </a:path>
              <a:path w="518795" h="520064">
                <a:moveTo>
                  <a:pt x="396493" y="53339"/>
                </a:moveTo>
                <a:lnTo>
                  <a:pt x="394080" y="55879"/>
                </a:lnTo>
                <a:lnTo>
                  <a:pt x="385825" y="88899"/>
                </a:lnTo>
                <a:lnTo>
                  <a:pt x="391032" y="90169"/>
                </a:lnTo>
                <a:lnTo>
                  <a:pt x="391922" y="86359"/>
                </a:lnTo>
                <a:lnTo>
                  <a:pt x="392683" y="82549"/>
                </a:lnTo>
                <a:lnTo>
                  <a:pt x="394207" y="77469"/>
                </a:lnTo>
                <a:lnTo>
                  <a:pt x="395097" y="74929"/>
                </a:lnTo>
                <a:lnTo>
                  <a:pt x="395985" y="74929"/>
                </a:lnTo>
                <a:lnTo>
                  <a:pt x="396748" y="73659"/>
                </a:lnTo>
                <a:lnTo>
                  <a:pt x="415659" y="73659"/>
                </a:lnTo>
                <a:lnTo>
                  <a:pt x="399033" y="57149"/>
                </a:lnTo>
                <a:lnTo>
                  <a:pt x="396493" y="53339"/>
                </a:lnTo>
                <a:close/>
              </a:path>
              <a:path w="518795" h="520064">
                <a:moveTo>
                  <a:pt x="475233" y="10159"/>
                </a:moveTo>
                <a:lnTo>
                  <a:pt x="455422" y="10159"/>
                </a:lnTo>
                <a:lnTo>
                  <a:pt x="457834" y="11429"/>
                </a:lnTo>
                <a:lnTo>
                  <a:pt x="462406" y="13969"/>
                </a:lnTo>
                <a:lnTo>
                  <a:pt x="465962" y="17779"/>
                </a:lnTo>
                <a:lnTo>
                  <a:pt x="467105" y="19049"/>
                </a:lnTo>
                <a:lnTo>
                  <a:pt x="468122" y="20319"/>
                </a:lnTo>
                <a:lnTo>
                  <a:pt x="469137" y="22859"/>
                </a:lnTo>
                <a:lnTo>
                  <a:pt x="470026" y="24129"/>
                </a:lnTo>
                <a:lnTo>
                  <a:pt x="473709" y="52069"/>
                </a:lnTo>
                <a:lnTo>
                  <a:pt x="474217" y="59689"/>
                </a:lnTo>
                <a:lnTo>
                  <a:pt x="482473" y="88899"/>
                </a:lnTo>
                <a:lnTo>
                  <a:pt x="498584" y="72389"/>
                </a:lnTo>
                <a:lnTo>
                  <a:pt x="483997" y="72389"/>
                </a:lnTo>
                <a:lnTo>
                  <a:pt x="482804" y="67309"/>
                </a:lnTo>
                <a:lnTo>
                  <a:pt x="480694" y="38099"/>
                </a:lnTo>
                <a:lnTo>
                  <a:pt x="480440" y="34289"/>
                </a:lnTo>
                <a:lnTo>
                  <a:pt x="478154" y="16509"/>
                </a:lnTo>
                <a:lnTo>
                  <a:pt x="477519" y="13969"/>
                </a:lnTo>
                <a:lnTo>
                  <a:pt x="475741" y="11429"/>
                </a:lnTo>
                <a:lnTo>
                  <a:pt x="475233" y="10159"/>
                </a:lnTo>
                <a:close/>
              </a:path>
              <a:path w="518795" h="520064">
                <a:moveTo>
                  <a:pt x="506349" y="39369"/>
                </a:moveTo>
                <a:lnTo>
                  <a:pt x="502665" y="43179"/>
                </a:lnTo>
                <a:lnTo>
                  <a:pt x="504189" y="45719"/>
                </a:lnTo>
                <a:lnTo>
                  <a:pt x="504571" y="46989"/>
                </a:lnTo>
                <a:lnTo>
                  <a:pt x="504825" y="48259"/>
                </a:lnTo>
                <a:lnTo>
                  <a:pt x="504698" y="50799"/>
                </a:lnTo>
                <a:lnTo>
                  <a:pt x="504316" y="52069"/>
                </a:lnTo>
                <a:lnTo>
                  <a:pt x="503681" y="53339"/>
                </a:lnTo>
                <a:lnTo>
                  <a:pt x="502919" y="53339"/>
                </a:lnTo>
                <a:lnTo>
                  <a:pt x="501903" y="54609"/>
                </a:lnTo>
                <a:lnTo>
                  <a:pt x="500506" y="55879"/>
                </a:lnTo>
                <a:lnTo>
                  <a:pt x="483997" y="72389"/>
                </a:lnTo>
                <a:lnTo>
                  <a:pt x="498584" y="72389"/>
                </a:lnTo>
                <a:lnTo>
                  <a:pt x="518413" y="52069"/>
                </a:lnTo>
                <a:lnTo>
                  <a:pt x="506349" y="39369"/>
                </a:lnTo>
                <a:close/>
              </a:path>
              <a:path w="518795" h="520064">
                <a:moveTo>
                  <a:pt x="462533" y="0"/>
                </a:moveTo>
                <a:lnTo>
                  <a:pt x="452247" y="0"/>
                </a:lnTo>
                <a:lnTo>
                  <a:pt x="447039" y="3809"/>
                </a:lnTo>
                <a:lnTo>
                  <a:pt x="439165" y="11429"/>
                </a:lnTo>
                <a:lnTo>
                  <a:pt x="436752" y="13969"/>
                </a:lnTo>
                <a:lnTo>
                  <a:pt x="434466" y="17779"/>
                </a:lnTo>
                <a:lnTo>
                  <a:pt x="432053" y="21589"/>
                </a:lnTo>
                <a:lnTo>
                  <a:pt x="430022" y="26669"/>
                </a:lnTo>
                <a:lnTo>
                  <a:pt x="428116" y="31749"/>
                </a:lnTo>
                <a:lnTo>
                  <a:pt x="436499" y="39369"/>
                </a:lnTo>
                <a:lnTo>
                  <a:pt x="441832" y="34289"/>
                </a:lnTo>
                <a:lnTo>
                  <a:pt x="437641" y="26669"/>
                </a:lnTo>
                <a:lnTo>
                  <a:pt x="438276" y="20319"/>
                </a:lnTo>
                <a:lnTo>
                  <a:pt x="443737" y="15239"/>
                </a:lnTo>
                <a:lnTo>
                  <a:pt x="445897" y="12699"/>
                </a:lnTo>
                <a:lnTo>
                  <a:pt x="448182" y="11429"/>
                </a:lnTo>
                <a:lnTo>
                  <a:pt x="453008" y="10159"/>
                </a:lnTo>
                <a:lnTo>
                  <a:pt x="475233" y="10159"/>
                </a:lnTo>
                <a:lnTo>
                  <a:pt x="474725" y="8889"/>
                </a:lnTo>
                <a:lnTo>
                  <a:pt x="473455" y="7619"/>
                </a:lnTo>
                <a:lnTo>
                  <a:pt x="471931" y="6349"/>
                </a:lnTo>
                <a:lnTo>
                  <a:pt x="467359" y="1269"/>
                </a:lnTo>
                <a:lnTo>
                  <a:pt x="462533" y="0"/>
                </a:lnTo>
                <a:close/>
              </a:path>
            </a:pathLst>
          </a:custGeom>
          <a:solidFill>
            <a:srgbClr val="000000"/>
          </a:solidFill>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sp>
        <p:nvSpPr>
          <p:cNvPr id="35" name="object 34">
            <a:extLst>
              <a:ext uri="{FF2B5EF4-FFF2-40B4-BE49-F238E27FC236}">
                <a16:creationId xmlns:a16="http://schemas.microsoft.com/office/drawing/2014/main" id="{79AC8E99-D30A-4CAF-AD0D-D3487ED8661D}"/>
              </a:ext>
            </a:extLst>
          </p:cNvPr>
          <p:cNvSpPr/>
          <p:nvPr/>
        </p:nvSpPr>
        <p:spPr>
          <a:xfrm>
            <a:off x="9520584" y="5324818"/>
            <a:ext cx="737316" cy="520065"/>
          </a:xfrm>
          <a:custGeom>
            <a:avLst/>
            <a:gdLst/>
            <a:ahLst/>
            <a:cxnLst/>
            <a:rect l="l" t="t" r="r" b="b"/>
            <a:pathLst>
              <a:path w="510540" h="520064">
                <a:moveTo>
                  <a:pt x="29695" y="458584"/>
                </a:moveTo>
                <a:lnTo>
                  <a:pt x="11811" y="458584"/>
                </a:lnTo>
                <a:lnTo>
                  <a:pt x="13716" y="458838"/>
                </a:lnTo>
                <a:lnTo>
                  <a:pt x="14732" y="459485"/>
                </a:lnTo>
                <a:lnTo>
                  <a:pt x="16001" y="460654"/>
                </a:lnTo>
                <a:lnTo>
                  <a:pt x="53340" y="498106"/>
                </a:lnTo>
                <a:lnTo>
                  <a:pt x="54737" y="499744"/>
                </a:lnTo>
                <a:lnTo>
                  <a:pt x="55245" y="500989"/>
                </a:lnTo>
                <a:lnTo>
                  <a:pt x="55880" y="502221"/>
                </a:lnTo>
                <a:lnTo>
                  <a:pt x="47371" y="516470"/>
                </a:lnTo>
                <a:lnTo>
                  <a:pt x="50546" y="519658"/>
                </a:lnTo>
                <a:lnTo>
                  <a:pt x="77334" y="492848"/>
                </a:lnTo>
                <a:lnTo>
                  <a:pt x="67437" y="492848"/>
                </a:lnTo>
                <a:lnTo>
                  <a:pt x="65405" y="492734"/>
                </a:lnTo>
                <a:lnTo>
                  <a:pt x="64389" y="492378"/>
                </a:lnTo>
                <a:lnTo>
                  <a:pt x="62357" y="491032"/>
                </a:lnTo>
                <a:lnTo>
                  <a:pt x="60960" y="489851"/>
                </a:lnTo>
                <a:lnTo>
                  <a:pt x="59219" y="488073"/>
                </a:lnTo>
                <a:lnTo>
                  <a:pt x="29695" y="458584"/>
                </a:lnTo>
                <a:close/>
              </a:path>
              <a:path w="510540" h="520064">
                <a:moveTo>
                  <a:pt x="79629" y="484187"/>
                </a:moveTo>
                <a:lnTo>
                  <a:pt x="67437" y="492848"/>
                </a:lnTo>
                <a:lnTo>
                  <a:pt x="77334" y="492848"/>
                </a:lnTo>
                <a:lnTo>
                  <a:pt x="82804" y="487375"/>
                </a:lnTo>
                <a:lnTo>
                  <a:pt x="79629" y="484187"/>
                </a:lnTo>
                <a:close/>
              </a:path>
              <a:path w="510540" h="520064">
                <a:moveTo>
                  <a:pt x="10668" y="438988"/>
                </a:moveTo>
                <a:lnTo>
                  <a:pt x="8255" y="441388"/>
                </a:lnTo>
                <a:lnTo>
                  <a:pt x="0" y="474014"/>
                </a:lnTo>
                <a:lnTo>
                  <a:pt x="5207" y="475462"/>
                </a:lnTo>
                <a:lnTo>
                  <a:pt x="6096" y="471233"/>
                </a:lnTo>
                <a:lnTo>
                  <a:pt x="6858" y="467791"/>
                </a:lnTo>
                <a:lnTo>
                  <a:pt x="8382" y="462432"/>
                </a:lnTo>
                <a:lnTo>
                  <a:pt x="9271" y="460628"/>
                </a:lnTo>
                <a:lnTo>
                  <a:pt x="10922" y="458901"/>
                </a:lnTo>
                <a:lnTo>
                  <a:pt x="11811" y="458584"/>
                </a:lnTo>
                <a:lnTo>
                  <a:pt x="29695" y="458584"/>
                </a:lnTo>
                <a:lnTo>
                  <a:pt x="17018" y="445922"/>
                </a:lnTo>
                <a:lnTo>
                  <a:pt x="13088" y="441820"/>
                </a:lnTo>
                <a:lnTo>
                  <a:pt x="10668" y="438988"/>
                </a:lnTo>
                <a:close/>
              </a:path>
              <a:path w="510540" h="520064">
                <a:moveTo>
                  <a:pt x="79212" y="409003"/>
                </a:moveTo>
                <a:lnTo>
                  <a:pt x="61341" y="409003"/>
                </a:lnTo>
                <a:lnTo>
                  <a:pt x="63246" y="409270"/>
                </a:lnTo>
                <a:lnTo>
                  <a:pt x="64389" y="409917"/>
                </a:lnTo>
                <a:lnTo>
                  <a:pt x="65532" y="411086"/>
                </a:lnTo>
                <a:lnTo>
                  <a:pt x="102997" y="448538"/>
                </a:lnTo>
                <a:lnTo>
                  <a:pt x="104267" y="450176"/>
                </a:lnTo>
                <a:lnTo>
                  <a:pt x="104775" y="451408"/>
                </a:lnTo>
                <a:lnTo>
                  <a:pt x="105410" y="452653"/>
                </a:lnTo>
                <a:lnTo>
                  <a:pt x="105537" y="453885"/>
                </a:lnTo>
                <a:lnTo>
                  <a:pt x="105283" y="455104"/>
                </a:lnTo>
                <a:lnTo>
                  <a:pt x="105156" y="456323"/>
                </a:lnTo>
                <a:lnTo>
                  <a:pt x="104394" y="457758"/>
                </a:lnTo>
                <a:lnTo>
                  <a:pt x="102108" y="461009"/>
                </a:lnTo>
                <a:lnTo>
                  <a:pt x="100075" y="463524"/>
                </a:lnTo>
                <a:lnTo>
                  <a:pt x="96900" y="466902"/>
                </a:lnTo>
                <a:lnTo>
                  <a:pt x="100202" y="470090"/>
                </a:lnTo>
                <a:lnTo>
                  <a:pt x="126991" y="443280"/>
                </a:lnTo>
                <a:lnTo>
                  <a:pt x="117094" y="443280"/>
                </a:lnTo>
                <a:lnTo>
                  <a:pt x="115062" y="443166"/>
                </a:lnTo>
                <a:lnTo>
                  <a:pt x="108749" y="438505"/>
                </a:lnTo>
                <a:lnTo>
                  <a:pt x="79212" y="409003"/>
                </a:lnTo>
                <a:close/>
              </a:path>
              <a:path w="510540" h="520064">
                <a:moveTo>
                  <a:pt x="118110" y="327177"/>
                </a:moveTo>
                <a:lnTo>
                  <a:pt x="111251" y="333959"/>
                </a:lnTo>
                <a:lnTo>
                  <a:pt x="160909" y="446849"/>
                </a:lnTo>
                <a:lnTo>
                  <a:pt x="167767" y="439991"/>
                </a:lnTo>
                <a:lnTo>
                  <a:pt x="118110" y="327177"/>
                </a:lnTo>
                <a:close/>
              </a:path>
              <a:path w="510540" h="520064">
                <a:moveTo>
                  <a:pt x="129286" y="434619"/>
                </a:moveTo>
                <a:lnTo>
                  <a:pt x="117094" y="443280"/>
                </a:lnTo>
                <a:lnTo>
                  <a:pt x="126991" y="443280"/>
                </a:lnTo>
                <a:lnTo>
                  <a:pt x="132461" y="437807"/>
                </a:lnTo>
                <a:lnTo>
                  <a:pt x="129286" y="434619"/>
                </a:lnTo>
                <a:close/>
              </a:path>
              <a:path w="510540" h="520064">
                <a:moveTo>
                  <a:pt x="60198" y="389420"/>
                </a:moveTo>
                <a:lnTo>
                  <a:pt x="57785" y="391820"/>
                </a:lnTo>
                <a:lnTo>
                  <a:pt x="49530" y="424446"/>
                </a:lnTo>
                <a:lnTo>
                  <a:pt x="54864" y="425881"/>
                </a:lnTo>
                <a:lnTo>
                  <a:pt x="55625" y="421665"/>
                </a:lnTo>
                <a:lnTo>
                  <a:pt x="56515" y="418210"/>
                </a:lnTo>
                <a:lnTo>
                  <a:pt x="61341" y="409003"/>
                </a:lnTo>
                <a:lnTo>
                  <a:pt x="79212" y="409003"/>
                </a:lnTo>
                <a:lnTo>
                  <a:pt x="66548" y="396354"/>
                </a:lnTo>
                <a:lnTo>
                  <a:pt x="62865" y="392391"/>
                </a:lnTo>
                <a:lnTo>
                  <a:pt x="60198" y="389420"/>
                </a:lnTo>
                <a:close/>
              </a:path>
              <a:path w="510540" h="520064">
                <a:moveTo>
                  <a:pt x="182075" y="302590"/>
                </a:moveTo>
                <a:lnTo>
                  <a:pt x="159893" y="302590"/>
                </a:lnTo>
                <a:lnTo>
                  <a:pt x="162179" y="302831"/>
                </a:lnTo>
                <a:lnTo>
                  <a:pt x="167005" y="304787"/>
                </a:lnTo>
                <a:lnTo>
                  <a:pt x="169291" y="306362"/>
                </a:lnTo>
                <a:lnTo>
                  <a:pt x="171450" y="308546"/>
                </a:lnTo>
                <a:lnTo>
                  <a:pt x="172847" y="309918"/>
                </a:lnTo>
                <a:lnTo>
                  <a:pt x="173990" y="311454"/>
                </a:lnTo>
                <a:lnTo>
                  <a:pt x="176022" y="314858"/>
                </a:lnTo>
                <a:lnTo>
                  <a:pt x="176911" y="316877"/>
                </a:lnTo>
                <a:lnTo>
                  <a:pt x="177546" y="319201"/>
                </a:lnTo>
                <a:lnTo>
                  <a:pt x="178308" y="321538"/>
                </a:lnTo>
                <a:lnTo>
                  <a:pt x="180975" y="352297"/>
                </a:lnTo>
                <a:lnTo>
                  <a:pt x="181737" y="359079"/>
                </a:lnTo>
                <a:lnTo>
                  <a:pt x="182880" y="364413"/>
                </a:lnTo>
                <a:lnTo>
                  <a:pt x="183896" y="369735"/>
                </a:lnTo>
                <a:lnTo>
                  <a:pt x="185420" y="374561"/>
                </a:lnTo>
                <a:lnTo>
                  <a:pt x="187198" y="378866"/>
                </a:lnTo>
                <a:lnTo>
                  <a:pt x="189230" y="380961"/>
                </a:lnTo>
                <a:lnTo>
                  <a:pt x="204774" y="365417"/>
                </a:lnTo>
                <a:lnTo>
                  <a:pt x="190881" y="365417"/>
                </a:lnTo>
                <a:lnTo>
                  <a:pt x="189670" y="359782"/>
                </a:lnTo>
                <a:lnTo>
                  <a:pt x="187325" y="326301"/>
                </a:lnTo>
                <a:lnTo>
                  <a:pt x="187198" y="323468"/>
                </a:lnTo>
                <a:lnTo>
                  <a:pt x="182499" y="303352"/>
                </a:lnTo>
                <a:lnTo>
                  <a:pt x="182075" y="302590"/>
                </a:lnTo>
                <a:close/>
              </a:path>
              <a:path w="510540" h="520064">
                <a:moveTo>
                  <a:pt x="213233" y="331520"/>
                </a:moveTo>
                <a:lnTo>
                  <a:pt x="209550" y="335229"/>
                </a:lnTo>
                <a:lnTo>
                  <a:pt x="210439" y="337070"/>
                </a:lnTo>
                <a:lnTo>
                  <a:pt x="211074" y="338467"/>
                </a:lnTo>
                <a:lnTo>
                  <a:pt x="211327" y="339432"/>
                </a:lnTo>
                <a:lnTo>
                  <a:pt x="211709" y="340385"/>
                </a:lnTo>
                <a:lnTo>
                  <a:pt x="211836" y="341337"/>
                </a:lnTo>
                <a:lnTo>
                  <a:pt x="211582" y="343192"/>
                </a:lnTo>
                <a:lnTo>
                  <a:pt x="211200" y="344182"/>
                </a:lnTo>
                <a:lnTo>
                  <a:pt x="210439" y="345236"/>
                </a:lnTo>
                <a:lnTo>
                  <a:pt x="209804" y="346278"/>
                </a:lnTo>
                <a:lnTo>
                  <a:pt x="208788" y="347522"/>
                </a:lnTo>
                <a:lnTo>
                  <a:pt x="207264" y="348945"/>
                </a:lnTo>
                <a:lnTo>
                  <a:pt x="190881" y="365417"/>
                </a:lnTo>
                <a:lnTo>
                  <a:pt x="204774" y="365417"/>
                </a:lnTo>
                <a:lnTo>
                  <a:pt x="225171" y="345020"/>
                </a:lnTo>
                <a:lnTo>
                  <a:pt x="213233" y="331520"/>
                </a:lnTo>
                <a:close/>
              </a:path>
              <a:path w="510540" h="520064">
                <a:moveTo>
                  <a:pt x="169418" y="292061"/>
                </a:moveTo>
                <a:lnTo>
                  <a:pt x="136906" y="318871"/>
                </a:lnTo>
                <a:lnTo>
                  <a:pt x="135000" y="324053"/>
                </a:lnTo>
                <a:lnTo>
                  <a:pt x="143383" y="332435"/>
                </a:lnTo>
                <a:lnTo>
                  <a:pt x="148590" y="327151"/>
                </a:lnTo>
                <a:lnTo>
                  <a:pt x="144525" y="319201"/>
                </a:lnTo>
                <a:lnTo>
                  <a:pt x="145161" y="312508"/>
                </a:lnTo>
                <a:lnTo>
                  <a:pt x="152781" y="304876"/>
                </a:lnTo>
                <a:lnTo>
                  <a:pt x="155067" y="303555"/>
                </a:lnTo>
                <a:lnTo>
                  <a:pt x="159893" y="302590"/>
                </a:lnTo>
                <a:lnTo>
                  <a:pt x="182075" y="302590"/>
                </a:lnTo>
                <a:lnTo>
                  <a:pt x="181610" y="301751"/>
                </a:lnTo>
                <a:lnTo>
                  <a:pt x="180340" y="300177"/>
                </a:lnTo>
                <a:lnTo>
                  <a:pt x="178689" y="298640"/>
                </a:lnTo>
                <a:lnTo>
                  <a:pt x="174244" y="294119"/>
                </a:lnTo>
                <a:lnTo>
                  <a:pt x="169418" y="292061"/>
                </a:lnTo>
                <a:close/>
              </a:path>
              <a:path w="510540" h="520064">
                <a:moveTo>
                  <a:pt x="225662" y="248069"/>
                </a:moveTo>
                <a:lnTo>
                  <a:pt x="217424" y="248069"/>
                </a:lnTo>
                <a:lnTo>
                  <a:pt x="218186" y="248704"/>
                </a:lnTo>
                <a:lnTo>
                  <a:pt x="244475" y="322135"/>
                </a:lnTo>
                <a:lnTo>
                  <a:pt x="246507" y="324269"/>
                </a:lnTo>
                <a:lnTo>
                  <a:pt x="252857" y="317931"/>
                </a:lnTo>
                <a:lnTo>
                  <a:pt x="225662" y="248069"/>
                </a:lnTo>
                <a:close/>
              </a:path>
              <a:path w="510540" h="520064">
                <a:moveTo>
                  <a:pt x="218440" y="232575"/>
                </a:moveTo>
                <a:lnTo>
                  <a:pt x="180975" y="270078"/>
                </a:lnTo>
                <a:lnTo>
                  <a:pt x="194183" y="285089"/>
                </a:lnTo>
                <a:lnTo>
                  <a:pt x="197993" y="281343"/>
                </a:lnTo>
                <a:lnTo>
                  <a:pt x="196596" y="278803"/>
                </a:lnTo>
                <a:lnTo>
                  <a:pt x="195707" y="277050"/>
                </a:lnTo>
                <a:lnTo>
                  <a:pt x="194945" y="275069"/>
                </a:lnTo>
                <a:lnTo>
                  <a:pt x="194945" y="272351"/>
                </a:lnTo>
                <a:lnTo>
                  <a:pt x="217424" y="248069"/>
                </a:lnTo>
                <a:lnTo>
                  <a:pt x="225662" y="248069"/>
                </a:lnTo>
                <a:lnTo>
                  <a:pt x="220472" y="234734"/>
                </a:lnTo>
                <a:lnTo>
                  <a:pt x="218440" y="232575"/>
                </a:lnTo>
                <a:close/>
              </a:path>
              <a:path w="510540" h="520064">
                <a:moveTo>
                  <a:pt x="261366" y="184149"/>
                </a:moveTo>
                <a:lnTo>
                  <a:pt x="254635" y="191769"/>
                </a:lnTo>
                <a:lnTo>
                  <a:pt x="304292" y="303529"/>
                </a:lnTo>
                <a:lnTo>
                  <a:pt x="311150" y="297179"/>
                </a:lnTo>
                <a:lnTo>
                  <a:pt x="261366" y="184149"/>
                </a:lnTo>
                <a:close/>
              </a:path>
              <a:path w="510540" h="520064">
                <a:moveTo>
                  <a:pt x="325374" y="160019"/>
                </a:moveTo>
                <a:lnTo>
                  <a:pt x="305562" y="160019"/>
                </a:lnTo>
                <a:lnTo>
                  <a:pt x="307975" y="161289"/>
                </a:lnTo>
                <a:lnTo>
                  <a:pt x="312547" y="163829"/>
                </a:lnTo>
                <a:lnTo>
                  <a:pt x="316102" y="167639"/>
                </a:lnTo>
                <a:lnTo>
                  <a:pt x="317373" y="168909"/>
                </a:lnTo>
                <a:lnTo>
                  <a:pt x="318389" y="170179"/>
                </a:lnTo>
                <a:lnTo>
                  <a:pt x="319277" y="172719"/>
                </a:lnTo>
                <a:lnTo>
                  <a:pt x="320167" y="173989"/>
                </a:lnTo>
                <a:lnTo>
                  <a:pt x="321691" y="179069"/>
                </a:lnTo>
                <a:lnTo>
                  <a:pt x="322199" y="181609"/>
                </a:lnTo>
                <a:lnTo>
                  <a:pt x="323215" y="189229"/>
                </a:lnTo>
                <a:lnTo>
                  <a:pt x="323596" y="194309"/>
                </a:lnTo>
                <a:lnTo>
                  <a:pt x="323807" y="200659"/>
                </a:lnTo>
                <a:lnTo>
                  <a:pt x="323934" y="203199"/>
                </a:lnTo>
                <a:lnTo>
                  <a:pt x="332613" y="238759"/>
                </a:lnTo>
                <a:lnTo>
                  <a:pt x="348724" y="222249"/>
                </a:lnTo>
                <a:lnTo>
                  <a:pt x="334137" y="222249"/>
                </a:lnTo>
                <a:lnTo>
                  <a:pt x="332944" y="217169"/>
                </a:lnTo>
                <a:lnTo>
                  <a:pt x="332025" y="210819"/>
                </a:lnTo>
                <a:lnTo>
                  <a:pt x="331368" y="203199"/>
                </a:lnTo>
                <a:lnTo>
                  <a:pt x="330962" y="195579"/>
                </a:lnTo>
                <a:lnTo>
                  <a:pt x="330835" y="187959"/>
                </a:lnTo>
                <a:lnTo>
                  <a:pt x="330581" y="184149"/>
                </a:lnTo>
                <a:lnTo>
                  <a:pt x="330326" y="177799"/>
                </a:lnTo>
                <a:lnTo>
                  <a:pt x="330073" y="175259"/>
                </a:lnTo>
                <a:lnTo>
                  <a:pt x="328930" y="167639"/>
                </a:lnTo>
                <a:lnTo>
                  <a:pt x="328295" y="166369"/>
                </a:lnTo>
                <a:lnTo>
                  <a:pt x="327660" y="163829"/>
                </a:lnTo>
                <a:lnTo>
                  <a:pt x="326898" y="162559"/>
                </a:lnTo>
                <a:lnTo>
                  <a:pt x="325882" y="161289"/>
                </a:lnTo>
                <a:lnTo>
                  <a:pt x="325374" y="160019"/>
                </a:lnTo>
                <a:close/>
              </a:path>
              <a:path w="510540" h="520064">
                <a:moveTo>
                  <a:pt x="356489" y="189229"/>
                </a:moveTo>
                <a:lnTo>
                  <a:pt x="352806" y="193039"/>
                </a:lnTo>
                <a:lnTo>
                  <a:pt x="353695" y="194309"/>
                </a:lnTo>
                <a:lnTo>
                  <a:pt x="354330" y="195579"/>
                </a:lnTo>
                <a:lnTo>
                  <a:pt x="355092" y="198119"/>
                </a:lnTo>
                <a:lnTo>
                  <a:pt x="354965" y="200659"/>
                </a:lnTo>
                <a:lnTo>
                  <a:pt x="353822" y="203199"/>
                </a:lnTo>
                <a:lnTo>
                  <a:pt x="353060" y="203199"/>
                </a:lnTo>
                <a:lnTo>
                  <a:pt x="352044" y="204469"/>
                </a:lnTo>
                <a:lnTo>
                  <a:pt x="350647" y="205739"/>
                </a:lnTo>
                <a:lnTo>
                  <a:pt x="334137" y="222249"/>
                </a:lnTo>
                <a:lnTo>
                  <a:pt x="348724" y="222249"/>
                </a:lnTo>
                <a:lnTo>
                  <a:pt x="368554" y="201929"/>
                </a:lnTo>
                <a:lnTo>
                  <a:pt x="356489" y="189229"/>
                </a:lnTo>
                <a:close/>
              </a:path>
              <a:path w="510540" h="520064">
                <a:moveTo>
                  <a:pt x="312674" y="149859"/>
                </a:moveTo>
                <a:lnTo>
                  <a:pt x="302387" y="149859"/>
                </a:lnTo>
                <a:lnTo>
                  <a:pt x="297180" y="153669"/>
                </a:lnTo>
                <a:lnTo>
                  <a:pt x="278257" y="181609"/>
                </a:lnTo>
                <a:lnTo>
                  <a:pt x="286639" y="189229"/>
                </a:lnTo>
                <a:lnTo>
                  <a:pt x="291973" y="184149"/>
                </a:lnTo>
                <a:lnTo>
                  <a:pt x="287782" y="176529"/>
                </a:lnTo>
                <a:lnTo>
                  <a:pt x="288417" y="170179"/>
                </a:lnTo>
                <a:lnTo>
                  <a:pt x="296037" y="162559"/>
                </a:lnTo>
                <a:lnTo>
                  <a:pt x="298323" y="161289"/>
                </a:lnTo>
                <a:lnTo>
                  <a:pt x="300736" y="160019"/>
                </a:lnTo>
                <a:lnTo>
                  <a:pt x="325374" y="160019"/>
                </a:lnTo>
                <a:lnTo>
                  <a:pt x="324866" y="158749"/>
                </a:lnTo>
                <a:lnTo>
                  <a:pt x="323596" y="157479"/>
                </a:lnTo>
                <a:lnTo>
                  <a:pt x="317500" y="151129"/>
                </a:lnTo>
                <a:lnTo>
                  <a:pt x="312674" y="149859"/>
                </a:lnTo>
                <a:close/>
              </a:path>
              <a:path w="510540" h="520064">
                <a:moveTo>
                  <a:pt x="354838" y="100329"/>
                </a:moveTo>
                <a:lnTo>
                  <a:pt x="333883" y="125729"/>
                </a:lnTo>
                <a:lnTo>
                  <a:pt x="334772" y="130809"/>
                </a:lnTo>
                <a:lnTo>
                  <a:pt x="360267" y="166369"/>
                </a:lnTo>
                <a:lnTo>
                  <a:pt x="388112" y="179069"/>
                </a:lnTo>
                <a:lnTo>
                  <a:pt x="395224" y="176529"/>
                </a:lnTo>
                <a:lnTo>
                  <a:pt x="401574" y="170179"/>
                </a:lnTo>
                <a:lnTo>
                  <a:pt x="389890" y="170179"/>
                </a:lnTo>
                <a:lnTo>
                  <a:pt x="383667" y="167639"/>
                </a:lnTo>
                <a:lnTo>
                  <a:pt x="352551" y="142239"/>
                </a:lnTo>
                <a:lnTo>
                  <a:pt x="349758" y="138429"/>
                </a:lnTo>
                <a:lnTo>
                  <a:pt x="346837" y="134619"/>
                </a:lnTo>
                <a:lnTo>
                  <a:pt x="344677" y="130809"/>
                </a:lnTo>
                <a:lnTo>
                  <a:pt x="341884" y="125729"/>
                </a:lnTo>
                <a:lnTo>
                  <a:pt x="341249" y="121919"/>
                </a:lnTo>
                <a:lnTo>
                  <a:pt x="341375" y="119379"/>
                </a:lnTo>
                <a:lnTo>
                  <a:pt x="341630" y="116839"/>
                </a:lnTo>
                <a:lnTo>
                  <a:pt x="344677" y="113029"/>
                </a:lnTo>
                <a:lnTo>
                  <a:pt x="346964" y="110489"/>
                </a:lnTo>
                <a:lnTo>
                  <a:pt x="349631" y="109219"/>
                </a:lnTo>
                <a:lnTo>
                  <a:pt x="377315" y="109219"/>
                </a:lnTo>
                <a:lnTo>
                  <a:pt x="375586" y="107949"/>
                </a:lnTo>
                <a:lnTo>
                  <a:pt x="369028" y="104139"/>
                </a:lnTo>
                <a:lnTo>
                  <a:pt x="362839" y="101599"/>
                </a:lnTo>
                <a:lnTo>
                  <a:pt x="354838" y="100329"/>
                </a:lnTo>
                <a:close/>
              </a:path>
              <a:path w="510540" h="520064">
                <a:moveTo>
                  <a:pt x="377315" y="109219"/>
                </a:moveTo>
                <a:lnTo>
                  <a:pt x="349631" y="109219"/>
                </a:lnTo>
                <a:lnTo>
                  <a:pt x="356362" y="110489"/>
                </a:lnTo>
                <a:lnTo>
                  <a:pt x="360552" y="111759"/>
                </a:lnTo>
                <a:lnTo>
                  <a:pt x="365633" y="115569"/>
                </a:lnTo>
                <a:lnTo>
                  <a:pt x="370713" y="118109"/>
                </a:lnTo>
                <a:lnTo>
                  <a:pt x="376555" y="123189"/>
                </a:lnTo>
                <a:lnTo>
                  <a:pt x="383159" y="130809"/>
                </a:lnTo>
                <a:lnTo>
                  <a:pt x="389155" y="135889"/>
                </a:lnTo>
                <a:lnTo>
                  <a:pt x="393985" y="142239"/>
                </a:lnTo>
                <a:lnTo>
                  <a:pt x="397625" y="147319"/>
                </a:lnTo>
                <a:lnTo>
                  <a:pt x="400050" y="152399"/>
                </a:lnTo>
                <a:lnTo>
                  <a:pt x="402590" y="158749"/>
                </a:lnTo>
                <a:lnTo>
                  <a:pt x="402082" y="162559"/>
                </a:lnTo>
                <a:lnTo>
                  <a:pt x="398525" y="166369"/>
                </a:lnTo>
                <a:lnTo>
                  <a:pt x="394843" y="170179"/>
                </a:lnTo>
                <a:lnTo>
                  <a:pt x="401574" y="170179"/>
                </a:lnTo>
                <a:lnTo>
                  <a:pt x="407924" y="163829"/>
                </a:lnTo>
                <a:lnTo>
                  <a:pt x="410083" y="157479"/>
                </a:lnTo>
                <a:lnTo>
                  <a:pt x="408177" y="148589"/>
                </a:lnTo>
                <a:lnTo>
                  <a:pt x="382502" y="113029"/>
                </a:lnTo>
                <a:lnTo>
                  <a:pt x="377315" y="109219"/>
                </a:lnTo>
                <a:close/>
              </a:path>
              <a:path w="510540" h="520064">
                <a:moveTo>
                  <a:pt x="415620" y="73659"/>
                </a:moveTo>
                <a:lnTo>
                  <a:pt x="399542" y="73659"/>
                </a:lnTo>
                <a:lnTo>
                  <a:pt x="400558" y="74929"/>
                </a:lnTo>
                <a:lnTo>
                  <a:pt x="440436" y="114299"/>
                </a:lnTo>
                <a:lnTo>
                  <a:pt x="441071" y="115569"/>
                </a:lnTo>
                <a:lnTo>
                  <a:pt x="441579" y="116839"/>
                </a:lnTo>
                <a:lnTo>
                  <a:pt x="441833" y="118109"/>
                </a:lnTo>
                <a:lnTo>
                  <a:pt x="441325" y="120649"/>
                </a:lnTo>
                <a:lnTo>
                  <a:pt x="440690" y="121919"/>
                </a:lnTo>
                <a:lnTo>
                  <a:pt x="439547" y="123189"/>
                </a:lnTo>
                <a:lnTo>
                  <a:pt x="438404" y="125729"/>
                </a:lnTo>
                <a:lnTo>
                  <a:pt x="436245" y="128269"/>
                </a:lnTo>
                <a:lnTo>
                  <a:pt x="433197" y="130809"/>
                </a:lnTo>
                <a:lnTo>
                  <a:pt x="436372" y="134619"/>
                </a:lnTo>
                <a:lnTo>
                  <a:pt x="463468" y="107949"/>
                </a:lnTo>
                <a:lnTo>
                  <a:pt x="451231" y="107949"/>
                </a:lnTo>
                <a:lnTo>
                  <a:pt x="450215" y="106679"/>
                </a:lnTo>
                <a:lnTo>
                  <a:pt x="449199" y="106679"/>
                </a:lnTo>
                <a:lnTo>
                  <a:pt x="448056" y="105409"/>
                </a:lnTo>
                <a:lnTo>
                  <a:pt x="446786" y="104139"/>
                </a:lnTo>
                <a:lnTo>
                  <a:pt x="445008" y="102869"/>
                </a:lnTo>
                <a:lnTo>
                  <a:pt x="415620" y="73659"/>
                </a:lnTo>
                <a:close/>
              </a:path>
              <a:path w="510540" h="520064">
                <a:moveTo>
                  <a:pt x="465455" y="99059"/>
                </a:moveTo>
                <a:lnTo>
                  <a:pt x="463169" y="101599"/>
                </a:lnTo>
                <a:lnTo>
                  <a:pt x="461264" y="102869"/>
                </a:lnTo>
                <a:lnTo>
                  <a:pt x="458216" y="105409"/>
                </a:lnTo>
                <a:lnTo>
                  <a:pt x="456819" y="106679"/>
                </a:lnTo>
                <a:lnTo>
                  <a:pt x="455549" y="106679"/>
                </a:lnTo>
                <a:lnTo>
                  <a:pt x="454406" y="107949"/>
                </a:lnTo>
                <a:lnTo>
                  <a:pt x="463468" y="107949"/>
                </a:lnTo>
                <a:lnTo>
                  <a:pt x="468630" y="102869"/>
                </a:lnTo>
                <a:lnTo>
                  <a:pt x="465455" y="99059"/>
                </a:lnTo>
                <a:close/>
              </a:path>
              <a:path w="510540" h="520064">
                <a:moveTo>
                  <a:pt x="396367" y="53339"/>
                </a:moveTo>
                <a:lnTo>
                  <a:pt x="393954" y="55879"/>
                </a:lnTo>
                <a:lnTo>
                  <a:pt x="385699" y="88899"/>
                </a:lnTo>
                <a:lnTo>
                  <a:pt x="391033" y="90169"/>
                </a:lnTo>
                <a:lnTo>
                  <a:pt x="391922" y="86359"/>
                </a:lnTo>
                <a:lnTo>
                  <a:pt x="392684" y="82549"/>
                </a:lnTo>
                <a:lnTo>
                  <a:pt x="394208" y="77469"/>
                </a:lnTo>
                <a:lnTo>
                  <a:pt x="395097" y="74929"/>
                </a:lnTo>
                <a:lnTo>
                  <a:pt x="395986" y="74929"/>
                </a:lnTo>
                <a:lnTo>
                  <a:pt x="396748" y="73659"/>
                </a:lnTo>
                <a:lnTo>
                  <a:pt x="415620" y="73659"/>
                </a:lnTo>
                <a:lnTo>
                  <a:pt x="399034" y="57149"/>
                </a:lnTo>
                <a:lnTo>
                  <a:pt x="396367" y="53339"/>
                </a:lnTo>
                <a:close/>
              </a:path>
              <a:path w="510540" h="520064">
                <a:moveTo>
                  <a:pt x="476631" y="71119"/>
                </a:moveTo>
                <a:lnTo>
                  <a:pt x="471424" y="76199"/>
                </a:lnTo>
                <a:lnTo>
                  <a:pt x="480695" y="85089"/>
                </a:lnTo>
                <a:lnTo>
                  <a:pt x="483997" y="83819"/>
                </a:lnTo>
                <a:lnTo>
                  <a:pt x="487425" y="82549"/>
                </a:lnTo>
                <a:lnTo>
                  <a:pt x="494284" y="77469"/>
                </a:lnTo>
                <a:lnTo>
                  <a:pt x="497332" y="74929"/>
                </a:lnTo>
                <a:lnTo>
                  <a:pt x="498703" y="73659"/>
                </a:lnTo>
                <a:lnTo>
                  <a:pt x="484250" y="73659"/>
                </a:lnTo>
                <a:lnTo>
                  <a:pt x="480695" y="72389"/>
                </a:lnTo>
                <a:lnTo>
                  <a:pt x="476631" y="71119"/>
                </a:lnTo>
                <a:close/>
              </a:path>
              <a:path w="510540" h="520064">
                <a:moveTo>
                  <a:pt x="506475" y="39369"/>
                </a:moveTo>
                <a:lnTo>
                  <a:pt x="486537" y="39369"/>
                </a:lnTo>
                <a:lnTo>
                  <a:pt x="491109" y="40639"/>
                </a:lnTo>
                <a:lnTo>
                  <a:pt x="495300" y="44449"/>
                </a:lnTo>
                <a:lnTo>
                  <a:pt x="499364" y="49529"/>
                </a:lnTo>
                <a:lnTo>
                  <a:pt x="501523" y="53339"/>
                </a:lnTo>
                <a:lnTo>
                  <a:pt x="501776" y="60959"/>
                </a:lnTo>
                <a:lnTo>
                  <a:pt x="499872" y="64769"/>
                </a:lnTo>
                <a:lnTo>
                  <a:pt x="496189" y="68579"/>
                </a:lnTo>
                <a:lnTo>
                  <a:pt x="490347" y="73659"/>
                </a:lnTo>
                <a:lnTo>
                  <a:pt x="498703" y="73659"/>
                </a:lnTo>
                <a:lnTo>
                  <a:pt x="510286" y="50799"/>
                </a:lnTo>
                <a:lnTo>
                  <a:pt x="509143" y="45719"/>
                </a:lnTo>
                <a:lnTo>
                  <a:pt x="508000" y="41909"/>
                </a:lnTo>
                <a:lnTo>
                  <a:pt x="506475" y="39369"/>
                </a:lnTo>
                <a:close/>
              </a:path>
              <a:path w="510540" h="520064">
                <a:moveTo>
                  <a:pt x="474599" y="10159"/>
                </a:moveTo>
                <a:lnTo>
                  <a:pt x="456692" y="10159"/>
                </a:lnTo>
                <a:lnTo>
                  <a:pt x="460121" y="11429"/>
                </a:lnTo>
                <a:lnTo>
                  <a:pt x="465836" y="17779"/>
                </a:lnTo>
                <a:lnTo>
                  <a:pt x="467360" y="20319"/>
                </a:lnTo>
                <a:lnTo>
                  <a:pt x="468122" y="24129"/>
                </a:lnTo>
                <a:lnTo>
                  <a:pt x="468757" y="26669"/>
                </a:lnTo>
                <a:lnTo>
                  <a:pt x="468502" y="30479"/>
                </a:lnTo>
                <a:lnTo>
                  <a:pt x="466979" y="34289"/>
                </a:lnTo>
                <a:lnTo>
                  <a:pt x="465582" y="39369"/>
                </a:lnTo>
                <a:lnTo>
                  <a:pt x="463042" y="43179"/>
                </a:lnTo>
                <a:lnTo>
                  <a:pt x="459359" y="46989"/>
                </a:lnTo>
                <a:lnTo>
                  <a:pt x="463169" y="50799"/>
                </a:lnTo>
                <a:lnTo>
                  <a:pt x="472059" y="41909"/>
                </a:lnTo>
                <a:lnTo>
                  <a:pt x="477012" y="39369"/>
                </a:lnTo>
                <a:lnTo>
                  <a:pt x="506475" y="39369"/>
                </a:lnTo>
                <a:lnTo>
                  <a:pt x="505714" y="38099"/>
                </a:lnTo>
                <a:lnTo>
                  <a:pt x="501523" y="34289"/>
                </a:lnTo>
                <a:lnTo>
                  <a:pt x="473710" y="34289"/>
                </a:lnTo>
                <a:lnTo>
                  <a:pt x="473329" y="33019"/>
                </a:lnTo>
                <a:lnTo>
                  <a:pt x="474852" y="29209"/>
                </a:lnTo>
                <a:lnTo>
                  <a:pt x="475869" y="25399"/>
                </a:lnTo>
                <a:lnTo>
                  <a:pt x="476631" y="19049"/>
                </a:lnTo>
                <a:lnTo>
                  <a:pt x="476376" y="16509"/>
                </a:lnTo>
                <a:lnTo>
                  <a:pt x="475488" y="13969"/>
                </a:lnTo>
                <a:lnTo>
                  <a:pt x="474599" y="10159"/>
                </a:lnTo>
                <a:close/>
              </a:path>
              <a:path w="510540" h="520064">
                <a:moveTo>
                  <a:pt x="461645" y="0"/>
                </a:moveTo>
                <a:lnTo>
                  <a:pt x="455041" y="0"/>
                </a:lnTo>
                <a:lnTo>
                  <a:pt x="451612" y="1269"/>
                </a:lnTo>
                <a:lnTo>
                  <a:pt x="448056" y="3809"/>
                </a:lnTo>
                <a:lnTo>
                  <a:pt x="444626" y="5079"/>
                </a:lnTo>
                <a:lnTo>
                  <a:pt x="441325" y="8889"/>
                </a:lnTo>
                <a:lnTo>
                  <a:pt x="438658" y="11429"/>
                </a:lnTo>
                <a:lnTo>
                  <a:pt x="436245" y="15239"/>
                </a:lnTo>
                <a:lnTo>
                  <a:pt x="431926" y="22859"/>
                </a:lnTo>
                <a:lnTo>
                  <a:pt x="429895" y="26669"/>
                </a:lnTo>
                <a:lnTo>
                  <a:pt x="428117" y="31749"/>
                </a:lnTo>
                <a:lnTo>
                  <a:pt x="436499" y="39369"/>
                </a:lnTo>
                <a:lnTo>
                  <a:pt x="441706" y="34289"/>
                </a:lnTo>
                <a:lnTo>
                  <a:pt x="439420" y="30479"/>
                </a:lnTo>
                <a:lnTo>
                  <a:pt x="438404" y="26669"/>
                </a:lnTo>
                <a:lnTo>
                  <a:pt x="438912" y="20319"/>
                </a:lnTo>
                <a:lnTo>
                  <a:pt x="440436" y="17779"/>
                </a:lnTo>
                <a:lnTo>
                  <a:pt x="443102" y="15239"/>
                </a:lnTo>
                <a:lnTo>
                  <a:pt x="446405" y="11429"/>
                </a:lnTo>
                <a:lnTo>
                  <a:pt x="449834" y="10159"/>
                </a:lnTo>
                <a:lnTo>
                  <a:pt x="474599" y="10159"/>
                </a:lnTo>
                <a:lnTo>
                  <a:pt x="472948" y="7619"/>
                </a:lnTo>
                <a:lnTo>
                  <a:pt x="470408" y="5079"/>
                </a:lnTo>
                <a:lnTo>
                  <a:pt x="467741" y="2539"/>
                </a:lnTo>
                <a:lnTo>
                  <a:pt x="464820" y="1269"/>
                </a:lnTo>
                <a:lnTo>
                  <a:pt x="461645" y="0"/>
                </a:lnTo>
                <a:close/>
              </a:path>
              <a:path w="510540" h="520064">
                <a:moveTo>
                  <a:pt x="492887" y="29209"/>
                </a:moveTo>
                <a:lnTo>
                  <a:pt x="482981" y="29209"/>
                </a:lnTo>
                <a:lnTo>
                  <a:pt x="480568" y="30479"/>
                </a:lnTo>
                <a:lnTo>
                  <a:pt x="478027" y="31749"/>
                </a:lnTo>
                <a:lnTo>
                  <a:pt x="473710" y="34289"/>
                </a:lnTo>
                <a:lnTo>
                  <a:pt x="501523" y="34289"/>
                </a:lnTo>
                <a:lnTo>
                  <a:pt x="500125" y="33019"/>
                </a:lnTo>
                <a:lnTo>
                  <a:pt x="497840" y="31749"/>
                </a:lnTo>
                <a:lnTo>
                  <a:pt x="495300" y="30479"/>
                </a:lnTo>
                <a:lnTo>
                  <a:pt x="492887" y="29209"/>
                </a:lnTo>
                <a:close/>
              </a:path>
            </a:pathLst>
          </a:custGeom>
          <a:solidFill>
            <a:srgbClr val="000000"/>
          </a:solidFill>
        </p:spPr>
        <p:txBody>
          <a:bodyPr wrap="square" lIns="0" tIns="0" rIns="0" bIns="0" rtlCol="0"/>
          <a:lstStyle/>
          <a:p>
            <a:endParaRPr sz="2800">
              <a:latin typeface="Times New Roman" panose="02020603050405020304" pitchFamily="18" charset="0"/>
              <a:cs typeface="Times New Roman" panose="02020603050405020304" pitchFamily="18" charset="0"/>
            </a:endParaRPr>
          </a:p>
        </p:txBody>
      </p:sp>
      <p:sp>
        <p:nvSpPr>
          <p:cNvPr id="36" name="object 12">
            <a:extLst>
              <a:ext uri="{FF2B5EF4-FFF2-40B4-BE49-F238E27FC236}">
                <a16:creationId xmlns:a16="http://schemas.microsoft.com/office/drawing/2014/main" id="{0488E9B7-90E3-4CAB-8052-D6BC33AC95E0}"/>
              </a:ext>
            </a:extLst>
          </p:cNvPr>
          <p:cNvSpPr txBox="1">
            <a:spLocks/>
          </p:cNvSpPr>
          <p:nvPr/>
        </p:nvSpPr>
        <p:spPr>
          <a:xfrm>
            <a:off x="6714785" y="2311403"/>
            <a:ext cx="4279115" cy="352019"/>
          </a:xfrm>
          <a:prstGeom prst="rect">
            <a:avLst/>
          </a:prstGeom>
        </p:spPr>
        <p:txBody>
          <a:bodyPr vert="horz" wrap="square" lIns="0" tIns="13335"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080" indent="0" algn="ctr">
              <a:lnSpc>
                <a:spcPct val="100000"/>
              </a:lnSpc>
              <a:spcBef>
                <a:spcPts val="105"/>
              </a:spcBef>
              <a:buNone/>
            </a:pPr>
            <a:r>
              <a:rPr lang="mn-MN" sz="2200" i="1" spc="-10" dirty="0">
                <a:solidFill>
                  <a:srgbClr val="001F5F"/>
                </a:solidFill>
                <a:latin typeface="Times New Roman" panose="02020603050405020304" pitchFamily="18" charset="0"/>
                <a:cs typeface="Times New Roman" panose="02020603050405020304" pitchFamily="18" charset="0"/>
              </a:rPr>
              <a:t>Хувьцааны</a:t>
            </a:r>
            <a:r>
              <a:rPr lang="mn-MN" sz="2200" i="1" spc="40" dirty="0">
                <a:solidFill>
                  <a:srgbClr val="001F5F"/>
                </a:solidFill>
                <a:latin typeface="Times New Roman" panose="02020603050405020304" pitchFamily="18" charset="0"/>
                <a:cs typeface="Times New Roman" panose="02020603050405020304" pitchFamily="18" charset="0"/>
              </a:rPr>
              <a:t> </a:t>
            </a:r>
            <a:r>
              <a:rPr lang="mn-MN" sz="2200" i="1" spc="-10" dirty="0">
                <a:solidFill>
                  <a:srgbClr val="001F5F"/>
                </a:solidFill>
                <a:latin typeface="Times New Roman" panose="02020603050405020304" pitchFamily="18" charset="0"/>
                <a:cs typeface="Times New Roman" panose="02020603050405020304" pitchFamily="18" charset="0"/>
              </a:rPr>
              <a:t>ханшийн</a:t>
            </a:r>
            <a:r>
              <a:rPr lang="mn-MN" sz="2200" i="1" spc="55" dirty="0">
                <a:solidFill>
                  <a:srgbClr val="001F5F"/>
                </a:solidFill>
                <a:latin typeface="Times New Roman" panose="02020603050405020304" pitchFamily="18" charset="0"/>
                <a:cs typeface="Times New Roman" panose="02020603050405020304" pitchFamily="18" charset="0"/>
              </a:rPr>
              <a:t> </a:t>
            </a:r>
            <a:r>
              <a:rPr lang="mn-MN" sz="2200" i="1" spc="-5" dirty="0">
                <a:solidFill>
                  <a:srgbClr val="001F5F"/>
                </a:solidFill>
                <a:latin typeface="Times New Roman" panose="02020603050405020304" pitchFamily="18" charset="0"/>
                <a:cs typeface="Times New Roman" panose="02020603050405020304" pitchFamily="18" charset="0"/>
              </a:rPr>
              <a:t>хэлбэлзэл</a:t>
            </a:r>
            <a:endParaRPr lang="mn-MN" sz="2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936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66473"/>
            <a:ext cx="11484244" cy="418652"/>
          </a:xfrm>
        </p:spPr>
        <p:txBody>
          <a:bodyPr>
            <a:noAutofit/>
          </a:bodyPr>
          <a:lstStyle/>
          <a:p>
            <a:r>
              <a:rPr lang="mn-MN" sz="24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400" b="1" dirty="0">
                <a:solidFill>
                  <a:srgbClr val="002060"/>
                </a:solidFill>
                <a:latin typeface="Times New Roman" panose="02020603050405020304" pitchFamily="18" charset="0"/>
                <a:cs typeface="Times New Roman" panose="02020603050405020304" pitchFamily="18" charset="0"/>
              </a:rPr>
              <a:t>:</a:t>
            </a:r>
            <a:r>
              <a:rPr lang="mn-MN" sz="24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Бондын хөрөнгө оруулалт</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94470" y="600116"/>
            <a:ext cx="8860746" cy="2339027"/>
          </a:xfrm>
        </p:spPr>
        <p:txBody>
          <a:bodyPr>
            <a:noAutofit/>
          </a:bodyPr>
          <a:lstStyle/>
          <a:p>
            <a:pPr marL="84455" marR="132080" indent="0" algn="just">
              <a:lnSpc>
                <a:spcPct val="115000"/>
              </a:lnSpc>
              <a:spcBef>
                <a:spcPts val="1175"/>
              </a:spcBef>
              <a:spcAft>
                <a:spcPts val="0"/>
              </a:spcAft>
              <a:buNone/>
            </a:pPr>
            <a:r>
              <a:rPr lang="kk-KZ" sz="1800" b="1" dirty="0">
                <a:solidFill>
                  <a:srgbClr val="0000FF"/>
                </a:solidFill>
                <a:effectLst/>
                <a:latin typeface="Times New Roman" panose="02020603050405020304" pitchFamily="18" charset="0"/>
                <a:ea typeface="Times New Roman" panose="02020603050405020304" pitchFamily="18" charset="0"/>
              </a:rPr>
              <a:t>Бонд нь </a:t>
            </a:r>
            <a:r>
              <a:rPr lang="kk-KZ" sz="1800" dirty="0">
                <a:solidFill>
                  <a:srgbClr val="231F20"/>
                </a:solidFill>
                <a:effectLst/>
                <a:latin typeface="Times New Roman" panose="02020603050405020304" pitchFamily="18" charset="0"/>
                <a:ea typeface="Times New Roman" panose="02020603050405020304" pitchFamily="18" charset="0"/>
              </a:rPr>
              <a:t>үнэт цаас гаргагч хөрөнгө оруулагчид өртэй гэдгийг батлах, тодорхой хугацаатай, тодорхой хугацаанд тодорхой хэмжээний төлбөрийг эргүүлэн төлөхийг баталсан өрийн үнэт цаас юм. Бонд нь анх гарахдаа тодорхой тогтоосон</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үнийн</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дүн,</a:t>
            </a:r>
            <a:r>
              <a:rPr lang="mn-MN" sz="18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нэрлэсэн</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үнэ,</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дуусах</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хугацаатай</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байх</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ба</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нэрлэсэн хүүтэй эсвэл нэрлэсэн хүүгүй байж болно. Бондын хугацаа, нэрлэсэн үнэ, дуусах</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хугацаа,</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купон,</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хязгаарлах</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нөхцөлүүд,</a:t>
            </a:r>
            <a:r>
              <a:rPr lang="kk-KZ" sz="1800" spc="2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бонд эзэмшигчийн эрх болон бонд гаргагчийн үүрэг хариуцлагыг бондын гэрээнд заа</a:t>
            </a:r>
            <a:r>
              <a:rPr lang="mn-MN" sz="1800" dirty="0">
                <a:solidFill>
                  <a:srgbClr val="231F20"/>
                </a:solidFill>
                <a:effectLst/>
                <a:latin typeface="Times New Roman" panose="02020603050405020304" pitchFamily="18" charset="0"/>
                <a:ea typeface="Times New Roman" panose="02020603050405020304" pitchFamily="18" charset="0"/>
              </a:rPr>
              <a:t>на.</a:t>
            </a:r>
            <a:r>
              <a:rPr lang="kk-KZ" sz="1800" dirty="0">
                <a:solidFill>
                  <a:srgbClr val="231F20"/>
                </a:solidFill>
                <a:effectLst/>
                <a:latin typeface="Times New Roman" panose="02020603050405020304" pitchFamily="18" charset="0"/>
                <a:ea typeface="Times New Roman" panose="02020603050405020304" pitchFamily="18" charset="0"/>
              </a:rPr>
              <a:t> Бондыг Засгийн газар болон компаниуд гаргаж </a:t>
            </a:r>
            <a:r>
              <a:rPr lang="kk-KZ" sz="1800" spc="-10" dirty="0">
                <a:solidFill>
                  <a:srgbClr val="231F20"/>
                </a:solidFill>
                <a:effectLst/>
                <a:latin typeface="Times New Roman" panose="02020603050405020304" pitchFamily="18" charset="0"/>
                <a:ea typeface="Times New Roman" panose="02020603050405020304" pitchFamily="18" charset="0"/>
              </a:rPr>
              <a:t>худалддаг.</a:t>
            </a:r>
            <a:endParaRPr lang="en-US" sz="1800" dirty="0">
              <a:effectLst/>
              <a:latin typeface="Times New Roman" panose="02020603050405020304" pitchFamily="18" charset="0"/>
              <a:ea typeface="Times New Roman" panose="02020603050405020304" pitchFamily="18" charset="0"/>
            </a:endParaRPr>
          </a:p>
        </p:txBody>
      </p:sp>
      <p:sp>
        <p:nvSpPr>
          <p:cNvPr id="6" name="Content Placeholder 2">
            <a:extLst>
              <a:ext uri="{FF2B5EF4-FFF2-40B4-BE49-F238E27FC236}">
                <a16:creationId xmlns:a16="http://schemas.microsoft.com/office/drawing/2014/main" id="{FE3AEBFE-8CFA-41E6-BC8C-B705CBDBCCEB}"/>
              </a:ext>
            </a:extLst>
          </p:cNvPr>
          <p:cNvSpPr txBox="1">
            <a:spLocks/>
          </p:cNvSpPr>
          <p:nvPr/>
        </p:nvSpPr>
        <p:spPr>
          <a:xfrm>
            <a:off x="294468" y="2765716"/>
            <a:ext cx="8860746" cy="32724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156845" algn="just">
              <a:spcBef>
                <a:spcPts val="0"/>
              </a:spcBef>
              <a:spcAft>
                <a:spcPts val="0"/>
              </a:spcAft>
              <a:buFont typeface="Wingdings" panose="05000000000000000000" pitchFamily="2" charset="2"/>
              <a:buChar char="Ø"/>
            </a:pPr>
            <a:r>
              <a:rPr lang="kk-KZ" sz="1800" dirty="0">
                <a:solidFill>
                  <a:srgbClr val="231F20"/>
                </a:solidFill>
                <a:effectLst/>
                <a:latin typeface="Times New Roman" panose="02020603050405020304" pitchFamily="18" charset="0"/>
                <a:ea typeface="Times New Roman" panose="02020603050405020304" pitchFamily="18" charset="0"/>
              </a:rPr>
              <a:t>Засгийн газар зээлсэн мөнгөө бүрэн </a:t>
            </a:r>
            <a:r>
              <a:rPr lang="kk-KZ" sz="1800" b="1" dirty="0">
                <a:solidFill>
                  <a:srgbClr val="231F20"/>
                </a:solidFill>
                <a:effectLst/>
                <a:latin typeface="Times New Roman" panose="02020603050405020304" pitchFamily="18" charset="0"/>
                <a:ea typeface="Times New Roman" panose="02020603050405020304" pitchFamily="18" charset="0"/>
              </a:rPr>
              <a:t>эргүүлж төлөх найдвартай </a:t>
            </a:r>
            <a:r>
              <a:rPr lang="kk-KZ" sz="1800" dirty="0">
                <a:solidFill>
                  <a:srgbClr val="231F20"/>
                </a:solidFill>
                <a:effectLst/>
                <a:latin typeface="Times New Roman" panose="02020603050405020304" pitchFamily="18" charset="0"/>
                <a:ea typeface="Times New Roman" panose="02020603050405020304" pitchFamily="18" charset="0"/>
              </a:rPr>
              <a:t>бөгөөд бондын гэрээний үүргээ үл биелүүлэх</a:t>
            </a:r>
            <a:r>
              <a:rPr lang="kk-KZ" sz="1800" spc="400" dirty="0">
                <a:solidFill>
                  <a:srgbClr val="231F20"/>
                </a:solidFill>
                <a:effectLst/>
                <a:latin typeface="Times New Roman" panose="02020603050405020304" pitchFamily="18" charset="0"/>
                <a:ea typeface="Times New Roman" panose="02020603050405020304" pitchFamily="18" charset="0"/>
              </a:rPr>
              <a:t> </a:t>
            </a:r>
            <a:r>
              <a:rPr lang="kk-KZ" sz="1800" dirty="0">
                <a:solidFill>
                  <a:srgbClr val="231F20"/>
                </a:solidFill>
                <a:effectLst/>
                <a:latin typeface="Times New Roman" panose="02020603050405020304" pitchFamily="18" charset="0"/>
                <a:ea typeface="Times New Roman" panose="02020603050405020304" pitchFamily="18" charset="0"/>
              </a:rPr>
              <a:t>эрсдэл байдаггүй. Гэхдээ Засгийн газрын үнэт цаасууд нь </a:t>
            </a:r>
            <a:r>
              <a:rPr lang="kk-KZ" sz="1800" b="1" dirty="0">
                <a:solidFill>
                  <a:srgbClr val="231F20"/>
                </a:solidFill>
                <a:effectLst/>
                <a:latin typeface="Times New Roman" panose="02020603050405020304" pitchFamily="18" charset="0"/>
                <a:ea typeface="Times New Roman" panose="02020603050405020304" pitchFamily="18" charset="0"/>
              </a:rPr>
              <a:t>компанийн үнэт цаастай харьцуулахад бага хүүтэй </a:t>
            </a:r>
            <a:r>
              <a:rPr lang="kk-KZ" sz="1800" dirty="0">
                <a:solidFill>
                  <a:srgbClr val="231F20"/>
                </a:solidFill>
                <a:effectLst/>
                <a:latin typeface="Times New Roman" panose="02020603050405020304" pitchFamily="18" charset="0"/>
                <a:ea typeface="Times New Roman" panose="02020603050405020304" pitchFamily="18" charset="0"/>
              </a:rPr>
              <a:t>байдаг.</a:t>
            </a:r>
            <a:endParaRPr lang="mn-MN" sz="1800" dirty="0">
              <a:solidFill>
                <a:srgbClr val="231F20"/>
              </a:solidFill>
              <a:effectLst/>
              <a:latin typeface="Times New Roman" panose="02020603050405020304" pitchFamily="18" charset="0"/>
              <a:ea typeface="Times New Roman" panose="02020603050405020304" pitchFamily="18" charset="0"/>
            </a:endParaRPr>
          </a:p>
          <a:p>
            <a:pPr marR="156845" algn="just">
              <a:spcBef>
                <a:spcPts val="0"/>
              </a:spcBef>
              <a:spcAft>
                <a:spcPts val="0"/>
              </a:spcAft>
              <a:buFont typeface="Wingdings" panose="05000000000000000000" pitchFamily="2" charset="2"/>
              <a:buChar char="Ø"/>
            </a:pPr>
            <a:r>
              <a:rPr lang="kk-KZ" sz="1800" b="1" dirty="0">
                <a:effectLst/>
                <a:latin typeface="Times New Roman" panose="02020603050405020304" pitchFamily="18" charset="0"/>
                <a:ea typeface="Times New Roman" panose="02020603050405020304" pitchFamily="18" charset="0"/>
              </a:rPr>
              <a:t>Бондын эргэн төлөгдөх хугацаа </a:t>
            </a:r>
            <a:r>
              <a:rPr lang="kk-KZ" sz="1800" dirty="0">
                <a:effectLst/>
                <a:latin typeface="Times New Roman" panose="02020603050405020304" pitchFamily="18" charset="0"/>
                <a:ea typeface="Times New Roman" panose="02020603050405020304" pitchFamily="18" charset="0"/>
              </a:rPr>
              <a:t>болоход компани бонд эзэмшигчид бондын нэрлэсэн үнэтэй тэнцэх хэмжээний мөнгийг эргүүлэн төлдөг. Бондын хугацаа ихэвчлэн 1-30 жил байна.</a:t>
            </a:r>
            <a:endParaRPr lang="en-US" sz="1800" dirty="0">
              <a:effectLst/>
              <a:latin typeface="Times New Roman" panose="02020603050405020304" pitchFamily="18" charset="0"/>
              <a:ea typeface="Times New Roman" panose="02020603050405020304" pitchFamily="18" charset="0"/>
            </a:endParaRPr>
          </a:p>
          <a:p>
            <a:pPr marR="156845" algn="just">
              <a:spcBef>
                <a:spcPts val="0"/>
              </a:spcBef>
              <a:buFont typeface="Wingdings" panose="05000000000000000000" pitchFamily="2" charset="2"/>
              <a:buChar char="Ø"/>
            </a:pPr>
            <a:r>
              <a:rPr lang="kk-KZ" sz="1800" b="1" dirty="0">
                <a:solidFill>
                  <a:srgbClr val="000000"/>
                </a:solidFill>
                <a:effectLst/>
                <a:latin typeface="Times New Roman" panose="02020603050405020304" pitchFamily="18" charset="0"/>
                <a:ea typeface="Times New Roman" panose="02020603050405020304" pitchFamily="18" charset="0"/>
              </a:rPr>
              <a:t>Эргэн дуудагдах бонд: </a:t>
            </a:r>
            <a:r>
              <a:rPr lang="kk-KZ" sz="1800" dirty="0">
                <a:solidFill>
                  <a:srgbClr val="000000"/>
                </a:solidFill>
                <a:effectLst/>
                <a:latin typeface="Times New Roman" panose="02020603050405020304" pitchFamily="18" charset="0"/>
                <a:ea typeface="Times New Roman" panose="02020603050405020304" pitchFamily="18" charset="0"/>
              </a:rPr>
              <a:t>Бонд гаргагч бондын төлөгдөх хугацаанаас өмнө эргүүлэн татах нөхцөлтэйгээр гаргасан бонд.</a:t>
            </a:r>
            <a:endParaRPr lang="en-US" sz="1800" dirty="0">
              <a:solidFill>
                <a:srgbClr val="000000"/>
              </a:solidFill>
              <a:effectLst/>
              <a:latin typeface="Times New Roman" panose="02020603050405020304" pitchFamily="18" charset="0"/>
              <a:ea typeface="Times New Roman" panose="02020603050405020304" pitchFamily="18" charset="0"/>
            </a:endParaRPr>
          </a:p>
          <a:p>
            <a:pPr marR="156845" lvl="1" algn="just">
              <a:spcBef>
                <a:spcPts val="0"/>
              </a:spcBef>
              <a:buFont typeface="Wingdings" panose="05000000000000000000" pitchFamily="2" charset="2"/>
              <a:buChar char="Ø"/>
            </a:pPr>
            <a:r>
              <a:rPr lang="kk-KZ" sz="1800" dirty="0">
                <a:effectLst/>
                <a:latin typeface="Times New Roman" panose="02020603050405020304" pitchFamily="18" charset="0"/>
                <a:ea typeface="Times New Roman" panose="02020603050405020304" pitchFamily="18" charset="0"/>
              </a:rPr>
              <a:t>Ийм бонд гаргах зорилго нь зах зээл дээр хүүний түвшин унасан үед өндөр хүүтэй бондоо татан авч, бага хүүтэй бонд гаргах явдал байна.</a:t>
            </a:r>
            <a:r>
              <a:rPr lang="en-US" sz="1800" dirty="0">
                <a:solidFill>
                  <a:srgbClr val="000000"/>
                </a:solidFill>
                <a:latin typeface="Times New Roman" panose="02020603050405020304" pitchFamily="18" charset="0"/>
                <a:ea typeface="Times New Roman" panose="02020603050405020304" pitchFamily="18" charset="0"/>
              </a:rPr>
              <a:t> </a:t>
            </a:r>
            <a:r>
              <a:rPr lang="kk-KZ" sz="1800" dirty="0">
                <a:effectLst/>
                <a:latin typeface="Times New Roman" panose="02020603050405020304" pitchFamily="18" charset="0"/>
                <a:ea typeface="Times New Roman" panose="02020603050405020304" pitchFamily="18" charset="0"/>
              </a:rPr>
              <a:t>Ийм бондыг ихэвчлэн нэрлэсэн үнээс нь илүү үнээр эргүүлэн худалдан авах бөгөөд эргүүлэн худалдан авах нөхцөлийг гэрээнд тусгасан байдаг.</a:t>
            </a:r>
            <a:endParaRPr lang="en-US" sz="1800" dirty="0">
              <a:effectLst/>
              <a:latin typeface="Times New Roman" panose="02020603050405020304" pitchFamily="18" charset="0"/>
              <a:ea typeface="Times New Roman" panose="02020603050405020304" pitchFamily="18" charset="0"/>
            </a:endParaRPr>
          </a:p>
        </p:txBody>
      </p:sp>
      <p:sp>
        <p:nvSpPr>
          <p:cNvPr id="11" name="Content Placeholder 2">
            <a:extLst>
              <a:ext uri="{FF2B5EF4-FFF2-40B4-BE49-F238E27FC236}">
                <a16:creationId xmlns:a16="http://schemas.microsoft.com/office/drawing/2014/main" id="{7374FD9F-E3F7-4A49-A3E5-D14EB03C6BFA}"/>
              </a:ext>
            </a:extLst>
          </p:cNvPr>
          <p:cNvSpPr txBox="1">
            <a:spLocks/>
          </p:cNvSpPr>
          <p:nvPr/>
        </p:nvSpPr>
        <p:spPr>
          <a:xfrm>
            <a:off x="9033641" y="72653"/>
            <a:ext cx="3095295" cy="1528222"/>
          </a:xfrm>
          <a:prstGeom prst="rect">
            <a:avLst/>
          </a:prstGeom>
          <a:ln>
            <a:solidFill>
              <a:srgbClr val="FF000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None/>
            </a:pPr>
            <a:r>
              <a:rPr lang="mn-MN" sz="2000" b="1" dirty="0">
                <a:latin typeface="Times New Roman" panose="02020603050405020304" pitchFamily="18" charset="0"/>
                <a:cs typeface="Times New Roman" panose="02020603050405020304" pitchFamily="18" charset="0"/>
              </a:rPr>
              <a:t>Шууд хөрөнгө оруулалт: </a:t>
            </a:r>
            <a:r>
              <a:rPr lang="mn-MN" sz="2000" i="1" dirty="0">
                <a:solidFill>
                  <a:srgbClr val="0070C0"/>
                </a:solidFill>
                <a:latin typeface="Times New Roman" panose="02020603050405020304" pitchFamily="18" charset="0"/>
                <a:cs typeface="Times New Roman" panose="02020603050405020304" pitchFamily="18" charset="0"/>
              </a:rPr>
              <a:t>Хөрөнгө оруулагчийн хууль ёсоор эзэмших үл хөдлөх хөрөнгө худалдан авах замаар хийх ХО.</a:t>
            </a:r>
          </a:p>
        </p:txBody>
      </p:sp>
      <p:sp>
        <p:nvSpPr>
          <p:cNvPr id="10" name="Content Placeholder 2">
            <a:extLst>
              <a:ext uri="{FF2B5EF4-FFF2-40B4-BE49-F238E27FC236}">
                <a16:creationId xmlns:a16="http://schemas.microsoft.com/office/drawing/2014/main" id="{D179A482-B4A3-48E0-8D99-D93DF9EADC3D}"/>
              </a:ext>
            </a:extLst>
          </p:cNvPr>
          <p:cNvSpPr txBox="1">
            <a:spLocks/>
          </p:cNvSpPr>
          <p:nvPr/>
        </p:nvSpPr>
        <p:spPr>
          <a:xfrm>
            <a:off x="9033641" y="1694696"/>
            <a:ext cx="3095295" cy="2409290"/>
          </a:xfrm>
          <a:prstGeom prst="rect">
            <a:avLst/>
          </a:prstGeom>
          <a:ln>
            <a:solidFill>
              <a:srgbClr val="FF000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None/>
            </a:pPr>
            <a:r>
              <a:rPr lang="mn-MN" sz="2000" b="1" dirty="0">
                <a:latin typeface="Times New Roman" panose="02020603050405020304" pitchFamily="18" charset="0"/>
                <a:cs typeface="Times New Roman" panose="02020603050405020304" pitchFamily="18" charset="0"/>
              </a:rPr>
              <a:t>Шууд бус хөрөнгө оруулалт:</a:t>
            </a:r>
            <a:r>
              <a:rPr lang="mn-MN" sz="2000" i="1" dirty="0">
                <a:solidFill>
                  <a:srgbClr val="0070C0"/>
                </a:solidFill>
                <a:latin typeface="Times New Roman" panose="02020603050405020304" pitchFamily="18" charset="0"/>
                <a:cs typeface="Times New Roman" panose="02020603050405020304" pitchFamily="18" charset="0"/>
              </a:rPr>
              <a:t> Хөрөнгө оруулагчийн нэрийн өмнөөс үл хөдлөх хөрөнгө хууль ёсоор эзэмшдэг байгууллагад хийх хөрөнгө оруулалт.</a:t>
            </a:r>
          </a:p>
        </p:txBody>
      </p:sp>
      <p:sp>
        <p:nvSpPr>
          <p:cNvPr id="12" name="Content Placeholder 2">
            <a:extLst>
              <a:ext uri="{FF2B5EF4-FFF2-40B4-BE49-F238E27FC236}">
                <a16:creationId xmlns:a16="http://schemas.microsoft.com/office/drawing/2014/main" id="{5AE417E3-8186-4871-B624-5057C8103550}"/>
              </a:ext>
            </a:extLst>
          </p:cNvPr>
          <p:cNvSpPr txBox="1">
            <a:spLocks/>
          </p:cNvSpPr>
          <p:nvPr/>
        </p:nvSpPr>
        <p:spPr>
          <a:xfrm>
            <a:off x="9033641" y="4450895"/>
            <a:ext cx="3095295" cy="2240631"/>
          </a:xfrm>
          <a:prstGeom prst="rect">
            <a:avLst/>
          </a:prstGeom>
          <a:ln>
            <a:solidFill>
              <a:srgbClr val="FF000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None/>
            </a:pPr>
            <a:r>
              <a:rPr lang="mn-MN" sz="2000" b="1" dirty="0">
                <a:latin typeface="Times New Roman" panose="02020603050405020304" pitchFamily="18" charset="0"/>
                <a:cs typeface="Times New Roman" panose="02020603050405020304" pitchFamily="18" charset="0"/>
              </a:rPr>
              <a:t>Синдикат: </a:t>
            </a:r>
            <a:r>
              <a:rPr lang="mn-MN" sz="2000" i="1" dirty="0">
                <a:solidFill>
                  <a:srgbClr val="0070C0"/>
                </a:solidFill>
                <a:latin typeface="Times New Roman" panose="02020603050405020304" pitchFamily="18" charset="0"/>
                <a:cs typeface="Times New Roman" panose="02020603050405020304" pitchFamily="18" charset="0"/>
              </a:rPr>
              <a:t>Их хэмжээний хөрөнгө шаардлагатай тодорхой ажлыг гүйцэтгэх зорилгоор зохион байгуулсан компани эсвэл хувь хүмүүсийн түр зуурын нэгдэл.</a:t>
            </a:r>
          </a:p>
        </p:txBody>
      </p:sp>
    </p:spTree>
    <p:extLst>
      <p:ext uri="{BB962C8B-B14F-4D97-AF65-F5344CB8AC3E}">
        <p14:creationId xmlns:p14="http://schemas.microsoft.com/office/powerpoint/2010/main" val="4004551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66473"/>
            <a:ext cx="11484244" cy="418652"/>
          </a:xfrm>
        </p:spPr>
        <p:txBody>
          <a:bodyPr>
            <a:noAutofit/>
          </a:bodyPr>
          <a:lstStyle/>
          <a:p>
            <a:r>
              <a:rPr lang="mn-MN" sz="24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400" b="1" dirty="0">
                <a:solidFill>
                  <a:srgbClr val="002060"/>
                </a:solidFill>
                <a:latin typeface="Times New Roman" panose="02020603050405020304" pitchFamily="18" charset="0"/>
                <a:cs typeface="Times New Roman" panose="02020603050405020304" pitchFamily="18" charset="0"/>
              </a:rPr>
              <a:t>:</a:t>
            </a:r>
            <a:r>
              <a:rPr lang="mn-MN" sz="2400" b="1" dirty="0">
                <a:solidFill>
                  <a:srgbClr val="002060"/>
                </a:solidFill>
                <a:latin typeface="Times New Roman" panose="02020603050405020304" pitchFamily="18" charset="0"/>
                <a:cs typeface="Times New Roman" panose="02020603050405020304" pitchFamily="18" charset="0"/>
              </a:rPr>
              <a:t> </a:t>
            </a:r>
            <a:r>
              <a:rPr lang="mn-MN" sz="2400" b="1" dirty="0">
                <a:solidFill>
                  <a:srgbClr val="0000FF"/>
                </a:solidFill>
                <a:latin typeface="Times New Roman" panose="02020603050405020304" pitchFamily="18" charset="0"/>
                <a:cs typeface="Times New Roman" panose="02020603050405020304" pitchFamily="18" charset="0"/>
              </a:rPr>
              <a:t>Бондын хөрөнгө оруулалт</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FE3AEBFE-8CFA-41E6-BC8C-B705CBDBCCEB}"/>
              </a:ext>
            </a:extLst>
          </p:cNvPr>
          <p:cNvSpPr txBox="1">
            <a:spLocks/>
          </p:cNvSpPr>
          <p:nvPr/>
        </p:nvSpPr>
        <p:spPr>
          <a:xfrm>
            <a:off x="172894" y="633137"/>
            <a:ext cx="11730071" cy="30450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156845" indent="0" algn="just">
              <a:lnSpc>
                <a:spcPct val="115000"/>
              </a:lnSpc>
              <a:spcBef>
                <a:spcPts val="10"/>
              </a:spcBef>
              <a:spcAft>
                <a:spcPts val="0"/>
              </a:spcAft>
              <a:buNone/>
            </a:pPr>
            <a:r>
              <a:rPr lang="kk-KZ" sz="1800" dirty="0">
                <a:effectLst/>
                <a:latin typeface="Times New Roman" panose="02020603050405020304" pitchFamily="18" charset="0"/>
                <a:ea typeface="Times New Roman" panose="02020603050405020304" pitchFamily="18" charset="0"/>
              </a:rPr>
              <a:t>Засгийн газрын бонд худалдан авсан хөрөнгө оруулагч нь дараах давуу боломжийг олж авдаг. Үүнд:</a:t>
            </a:r>
            <a:endParaRPr lang="mn-MN" sz="1800" dirty="0">
              <a:latin typeface="Times New Roman" panose="02020603050405020304" pitchFamily="18" charset="0"/>
              <a:ea typeface="Times New Roman" panose="02020603050405020304" pitchFamily="18" charset="0"/>
            </a:endParaRPr>
          </a:p>
          <a:p>
            <a:pPr marL="342900" marR="156845" indent="-342900" algn="just">
              <a:lnSpc>
                <a:spcPct val="115000"/>
              </a:lnSpc>
              <a:spcBef>
                <a:spcPts val="10"/>
              </a:spcBef>
              <a:spcAft>
                <a:spcPts val="0"/>
              </a:spcAft>
              <a:buFont typeface="+mj-lt"/>
              <a:buAutoNum type="arabicPeriod"/>
            </a:pPr>
            <a:r>
              <a:rPr lang="kk-KZ" sz="1800" spc="0" dirty="0">
                <a:effectLst/>
                <a:latin typeface="Times New Roman" panose="02020603050405020304" pitchFamily="18" charset="0"/>
                <a:ea typeface="Times New Roman" panose="02020603050405020304" pitchFamily="18" charset="0"/>
              </a:rPr>
              <a:t>Эрсдэлгүй</a:t>
            </a:r>
            <a:r>
              <a:rPr lang="kk-KZ" sz="1800" spc="5"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хөрөнгө</a:t>
            </a:r>
            <a:r>
              <a:rPr lang="kk-KZ" sz="1800" spc="10"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оруулалт</a:t>
            </a:r>
            <a:r>
              <a:rPr lang="kk-KZ" sz="1800" spc="5"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хийх</a:t>
            </a:r>
            <a:r>
              <a:rPr lang="kk-KZ" sz="1800" spc="20" dirty="0">
                <a:effectLst/>
                <a:latin typeface="Times New Roman" panose="02020603050405020304" pitchFamily="18" charset="0"/>
                <a:ea typeface="Times New Roman" panose="02020603050405020304" pitchFamily="18" charset="0"/>
              </a:rPr>
              <a:t> </a:t>
            </a:r>
            <a:r>
              <a:rPr lang="kk-KZ" sz="1800" spc="-10" dirty="0">
                <a:effectLst/>
                <a:latin typeface="Times New Roman" panose="02020603050405020304" pitchFamily="18" charset="0"/>
                <a:ea typeface="Times New Roman" panose="02020603050405020304" pitchFamily="18" charset="0"/>
              </a:rPr>
              <a:t>боломжтой.</a:t>
            </a:r>
            <a:endParaRPr lang="mn-MN" sz="1800" dirty="0">
              <a:latin typeface="Times New Roman" panose="02020603050405020304" pitchFamily="18" charset="0"/>
              <a:ea typeface="Times New Roman" panose="02020603050405020304" pitchFamily="18" charset="0"/>
            </a:endParaRPr>
          </a:p>
          <a:p>
            <a:pPr marL="342900" marR="156845" indent="-342900" algn="just">
              <a:lnSpc>
                <a:spcPct val="115000"/>
              </a:lnSpc>
              <a:spcBef>
                <a:spcPts val="10"/>
              </a:spcBef>
              <a:spcAft>
                <a:spcPts val="0"/>
              </a:spcAft>
              <a:buFont typeface="+mj-lt"/>
              <a:buAutoNum type="arabicPeriod"/>
            </a:pPr>
            <a:r>
              <a:rPr lang="kk-KZ" sz="1800" spc="0" dirty="0">
                <a:effectLst/>
                <a:latin typeface="Times New Roman" panose="02020603050405020304" pitchFamily="18" charset="0"/>
                <a:ea typeface="Times New Roman" panose="02020603050405020304" pitchFamily="18" charset="0"/>
              </a:rPr>
              <a:t>“Хүн амын орлогын албан татварын тухай” хуулийн 16.1.16, “Аж ахуйн нэгжийн</a:t>
            </a:r>
            <a:r>
              <a:rPr lang="kk-KZ" sz="1800" spc="200"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орлогын</a:t>
            </a:r>
            <a:r>
              <a:rPr lang="kk-KZ" sz="1800" spc="200"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албан</a:t>
            </a:r>
            <a:r>
              <a:rPr lang="kk-KZ" sz="1800" spc="200"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татварын</a:t>
            </a:r>
            <a:r>
              <a:rPr lang="kk-KZ" sz="1800" spc="200"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тухай”</a:t>
            </a:r>
            <a:r>
              <a:rPr lang="kk-KZ" sz="1800" spc="200"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хуулийн</a:t>
            </a:r>
            <a:r>
              <a:rPr lang="kk-KZ" sz="1800" spc="200"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18.1.1-д</a:t>
            </a:r>
            <a:r>
              <a:rPr lang="kk-KZ" sz="1800" spc="200"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тус</a:t>
            </a:r>
            <a:r>
              <a:rPr lang="kk-KZ" sz="1800" spc="200" dirty="0">
                <a:effectLst/>
                <a:latin typeface="Times New Roman" panose="02020603050405020304" pitchFamily="18" charset="0"/>
                <a:ea typeface="Times New Roman" panose="02020603050405020304" pitchFamily="18" charset="0"/>
              </a:rPr>
              <a:t> </a:t>
            </a:r>
            <a:r>
              <a:rPr lang="kk-KZ" sz="1800" spc="0" dirty="0">
                <a:effectLst/>
                <a:latin typeface="Times New Roman" panose="02020603050405020304" pitchFamily="18" charset="0"/>
                <a:ea typeface="Times New Roman" panose="02020603050405020304" pitchFamily="18" charset="0"/>
              </a:rPr>
              <a:t>тус зааснаар иргэн, байгууллагын худалдан авсан ЗГҮЦ-ны төлбөр, хүү нь татвараас чөлөөлөгдөнө.</a:t>
            </a:r>
            <a:endParaRPr lang="mn-MN" sz="1800" dirty="0">
              <a:latin typeface="Times New Roman" panose="02020603050405020304" pitchFamily="18" charset="0"/>
              <a:ea typeface="Times New Roman" panose="02020603050405020304" pitchFamily="18" charset="0"/>
            </a:endParaRPr>
          </a:p>
          <a:p>
            <a:pPr marL="342900" marR="156845" indent="-342900" algn="just">
              <a:lnSpc>
                <a:spcPct val="115000"/>
              </a:lnSpc>
              <a:spcBef>
                <a:spcPts val="10"/>
              </a:spcBef>
              <a:spcAft>
                <a:spcPts val="0"/>
              </a:spcAft>
              <a:buFont typeface="+mj-lt"/>
              <a:buAutoNum type="arabicPeriod"/>
            </a:pPr>
            <a:r>
              <a:rPr lang="kk-KZ" sz="1800" spc="0" dirty="0">
                <a:effectLst/>
                <a:latin typeface="Times New Roman" panose="02020603050405020304" pitchFamily="18" charset="0"/>
                <a:ea typeface="Times New Roman" panose="02020603050405020304" pitchFamily="18" charset="0"/>
              </a:rPr>
              <a:t>ЗГҮЦ-ны хүү зах зээлийн зарчмаар тооцогддог тул зах зээлийн дундаж хүүнээс багагүй өгөөж хүртэх боломжтой.</a:t>
            </a:r>
            <a:endParaRPr lang="mn-MN" sz="1800" dirty="0">
              <a:latin typeface="Times New Roman" panose="02020603050405020304" pitchFamily="18" charset="0"/>
              <a:ea typeface="Times New Roman" panose="02020603050405020304" pitchFamily="18" charset="0"/>
            </a:endParaRPr>
          </a:p>
          <a:p>
            <a:pPr marL="342900" marR="156845" indent="-342900" algn="just">
              <a:lnSpc>
                <a:spcPct val="115000"/>
              </a:lnSpc>
              <a:spcBef>
                <a:spcPts val="10"/>
              </a:spcBef>
              <a:spcAft>
                <a:spcPts val="0"/>
              </a:spcAft>
              <a:buFont typeface="+mj-lt"/>
              <a:buAutoNum type="arabicPeriod"/>
            </a:pPr>
            <a:r>
              <a:rPr lang="kk-KZ" sz="1800" dirty="0">
                <a:effectLst/>
                <a:latin typeface="Times New Roman" panose="02020603050405020304" pitchFamily="18" charset="0"/>
                <a:ea typeface="Times New Roman" panose="02020603050405020304" pitchFamily="18" charset="0"/>
              </a:rPr>
              <a:t>ЗГҮЦ нь хөрвөх чадвар өндөртэй тул худалдан авсан үнэт цаасаа хугацаанаас нь өмнө аливаа торгуульгүйгээр бусдад худалдах, бэлэглэх, барьцаалах бүрэн боломжтой.</a:t>
            </a:r>
            <a:endParaRPr lang="en-US" sz="1800" dirty="0">
              <a:effectLst/>
              <a:latin typeface="Times New Roman" panose="02020603050405020304" pitchFamily="18" charset="0"/>
              <a:ea typeface="Times New Roman" panose="02020603050405020304" pitchFamily="18" charset="0"/>
            </a:endParaRPr>
          </a:p>
          <a:p>
            <a:pPr marR="156845" algn="just">
              <a:spcBef>
                <a:spcPts val="0"/>
              </a:spcBef>
              <a:spcAft>
                <a:spcPts val="0"/>
              </a:spcAft>
              <a:buFont typeface="Wingdings" panose="05000000000000000000" pitchFamily="2" charset="2"/>
              <a:buChar char="Ø"/>
            </a:pP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02293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66473"/>
            <a:ext cx="11484244" cy="418652"/>
          </a:xfrm>
        </p:spPr>
        <p:txBody>
          <a:bodyPr>
            <a:noAutofit/>
          </a:bodyPr>
          <a:lstStyle/>
          <a:p>
            <a:r>
              <a:rPr lang="mn-MN" sz="20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000" b="1" dirty="0">
                <a:solidFill>
                  <a:srgbClr val="002060"/>
                </a:solidFill>
                <a:latin typeface="Times New Roman" panose="02020603050405020304" pitchFamily="18" charset="0"/>
                <a:cs typeface="Times New Roman" panose="02020603050405020304" pitchFamily="18" charset="0"/>
              </a:rPr>
              <a:t>:</a:t>
            </a:r>
            <a:r>
              <a:rPr lang="mn-MN" sz="2000" b="1" dirty="0">
                <a:solidFill>
                  <a:srgbClr val="002060"/>
                </a:solidFill>
                <a:latin typeface="Times New Roman" panose="02020603050405020304" pitchFamily="18" charset="0"/>
                <a:cs typeface="Times New Roman" panose="02020603050405020304" pitchFamily="18" charset="0"/>
              </a:rPr>
              <a:t> </a:t>
            </a:r>
            <a:r>
              <a:rPr lang="mn-MN" sz="2000" b="1" dirty="0">
                <a:solidFill>
                  <a:srgbClr val="0000FF"/>
                </a:solidFill>
                <a:latin typeface="Times New Roman" panose="02020603050405020304" pitchFamily="18" charset="0"/>
                <a:cs typeface="Times New Roman" panose="02020603050405020304" pitchFamily="18" charset="0"/>
              </a:rPr>
              <a:t>Үл хөдлөх хөрөнгийн хөрөнгө оруулалт</a:t>
            </a:r>
            <a:endParaRPr lang="en-US" sz="20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94470" y="600116"/>
            <a:ext cx="8860746" cy="2584518"/>
          </a:xfrm>
        </p:spPr>
        <p:txBody>
          <a:bodyPr>
            <a:noAutofit/>
          </a:bodyPr>
          <a:lstStyle/>
          <a:p>
            <a:pPr marL="84455" marR="132080" indent="0" algn="just">
              <a:spcBef>
                <a:spcPts val="0"/>
              </a:spcBef>
              <a:spcAft>
                <a:spcPts val="0"/>
              </a:spcAft>
              <a:buNone/>
            </a:pPr>
            <a:r>
              <a:rPr lang="kk-KZ" sz="2400" dirty="0">
                <a:solidFill>
                  <a:srgbClr val="231F20"/>
                </a:solidFill>
                <a:effectLst/>
                <a:latin typeface="Times New Roman" panose="02020603050405020304" pitchFamily="18" charset="0"/>
                <a:ea typeface="Times New Roman" panose="02020603050405020304" pitchFamily="18" charset="0"/>
              </a:rPr>
              <a:t>Үл хөдлөх хөрөнгөд </a:t>
            </a:r>
            <a:r>
              <a:rPr lang="mn-MN" sz="2400" dirty="0">
                <a:solidFill>
                  <a:srgbClr val="231F20"/>
                </a:solidFill>
                <a:effectLst/>
                <a:latin typeface="Times New Roman" panose="02020603050405020304" pitchFamily="18" charset="0"/>
                <a:ea typeface="Times New Roman" panose="02020603050405020304" pitchFamily="18" charset="0"/>
              </a:rPr>
              <a:t>ХО</a:t>
            </a:r>
            <a:r>
              <a:rPr lang="kk-KZ" sz="2400" dirty="0">
                <a:solidFill>
                  <a:srgbClr val="231F20"/>
                </a:solidFill>
                <a:effectLst/>
                <a:latin typeface="Times New Roman" panose="02020603050405020304" pitchFamily="18" charset="0"/>
                <a:ea typeface="Times New Roman" panose="02020603050405020304" pitchFamily="18" charset="0"/>
              </a:rPr>
              <a:t> хийх нь инфляцийн эсрэг сайн хамгаалалт болдог</a:t>
            </a:r>
            <a:r>
              <a:rPr lang="en-US" sz="2400" dirty="0">
                <a:solidFill>
                  <a:srgbClr val="231F20"/>
                </a:solidFill>
                <a:effectLst/>
                <a:latin typeface="Times New Roman" panose="02020603050405020304" pitchFamily="18" charset="0"/>
                <a:ea typeface="Times New Roman" panose="02020603050405020304" pitchFamily="18" charset="0"/>
              </a:rPr>
              <a:t> </a:t>
            </a:r>
            <a:r>
              <a:rPr lang="mn-MN" sz="2400" dirty="0">
                <a:solidFill>
                  <a:srgbClr val="231F20"/>
                </a:solidFill>
                <a:effectLst/>
                <a:latin typeface="Times New Roman" panose="02020603050405020304" pitchFamily="18" charset="0"/>
                <a:ea typeface="Times New Roman" panose="02020603050405020304" pitchFamily="18" charset="0"/>
              </a:rPr>
              <a:t>ба </a:t>
            </a:r>
            <a:r>
              <a:rPr lang="kk-KZ" sz="2400" dirty="0">
                <a:solidFill>
                  <a:srgbClr val="231F20"/>
                </a:solidFill>
                <a:effectLst/>
                <a:latin typeface="Times New Roman" panose="02020603050405020304" pitchFamily="18" charset="0"/>
                <a:ea typeface="Times New Roman" panose="02020603050405020304" pitchFamily="18" charset="0"/>
              </a:rPr>
              <a:t>шууд ба шууд бус гэж </a:t>
            </a:r>
            <a:r>
              <a:rPr lang="kk-KZ" sz="2400" spc="-10" dirty="0">
                <a:solidFill>
                  <a:srgbClr val="231F20"/>
                </a:solidFill>
                <a:effectLst/>
                <a:latin typeface="Times New Roman" panose="02020603050405020304" pitchFamily="18" charset="0"/>
                <a:ea typeface="Times New Roman" panose="02020603050405020304" pitchFamily="18" charset="0"/>
              </a:rPr>
              <a:t>ангилдаг.</a:t>
            </a:r>
            <a:endParaRPr lang="mn-MN" sz="2400" spc="-10" dirty="0">
              <a:solidFill>
                <a:srgbClr val="231F20"/>
              </a:solidFill>
              <a:effectLst/>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r>
              <a:rPr lang="kk-KZ" sz="2400" dirty="0">
                <a:solidFill>
                  <a:srgbClr val="231F20"/>
                </a:solidFill>
                <a:effectLst/>
                <a:latin typeface="Times New Roman" panose="02020603050405020304" pitchFamily="18" charset="0"/>
                <a:ea typeface="Times New Roman" panose="02020603050405020304" pitchFamily="18" charset="0"/>
              </a:rPr>
              <a:t>Шууд </a:t>
            </a:r>
            <a:r>
              <a:rPr lang="mn-MN" sz="2400" dirty="0">
                <a:solidFill>
                  <a:srgbClr val="231F20"/>
                </a:solidFill>
                <a:effectLst/>
                <a:latin typeface="Times New Roman" panose="02020603050405020304" pitchFamily="18" charset="0"/>
                <a:ea typeface="Times New Roman" panose="02020603050405020304" pitchFamily="18" charset="0"/>
              </a:rPr>
              <a:t>ХО-</a:t>
            </a:r>
            <a:r>
              <a:rPr lang="kk-KZ" sz="2400" dirty="0">
                <a:solidFill>
                  <a:srgbClr val="231F20"/>
                </a:solidFill>
                <a:effectLst/>
                <a:latin typeface="Times New Roman" panose="02020603050405020304" pitchFamily="18" charset="0"/>
                <a:ea typeface="Times New Roman" panose="02020603050405020304" pitchFamily="18" charset="0"/>
              </a:rPr>
              <a:t>лалт нь орон сууц, газар, зуслан зэрэг үл хөдлөх хөрөнгийг ашиг олох зорилгоор худалдан авах замаар хийж буй хөрөнгө оруулалт юм.</a:t>
            </a:r>
            <a:endParaRPr lang="mn-MN" sz="2400" dirty="0">
              <a:solidFill>
                <a:srgbClr val="231F20"/>
              </a:solidFill>
              <a:effectLst/>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r>
              <a:rPr lang="kk-KZ" sz="2400" dirty="0">
                <a:solidFill>
                  <a:srgbClr val="231F20"/>
                </a:solidFill>
                <a:effectLst/>
                <a:latin typeface="Times New Roman" panose="02020603050405020304" pitchFamily="18" charset="0"/>
                <a:ea typeface="Times New Roman" panose="02020603050405020304" pitchFamily="18" charset="0"/>
              </a:rPr>
              <a:t>Арилжааны ашиг олох зорилготой</a:t>
            </a:r>
            <a:r>
              <a:rPr lang="mn-MN" sz="2400" dirty="0">
                <a:solidFill>
                  <a:srgbClr val="231F20"/>
                </a:solidFill>
                <a:effectLst/>
                <a:latin typeface="Times New Roman" panose="02020603050405020304" pitchFamily="18" charset="0"/>
                <a:ea typeface="Times New Roman" panose="02020603050405020304" pitchFamily="18" charset="0"/>
              </a:rPr>
              <a:t>: </a:t>
            </a:r>
            <a:r>
              <a:rPr lang="kk-KZ" sz="2400" dirty="0">
                <a:solidFill>
                  <a:srgbClr val="231F20"/>
                </a:solidFill>
                <a:effectLst/>
                <a:latin typeface="Times New Roman" panose="02020603050405020304" pitchFamily="18" charset="0"/>
                <a:ea typeface="Times New Roman" panose="02020603050405020304" pitchFamily="18" charset="0"/>
              </a:rPr>
              <a:t>түрээсэлж ашиг олох зорилготой газар, барилга, байгууламж</a:t>
            </a:r>
            <a:r>
              <a:rPr lang="mn-MN" sz="2400" dirty="0">
                <a:solidFill>
                  <a:srgbClr val="231F20"/>
                </a:solidFill>
                <a:effectLst/>
                <a:latin typeface="Times New Roman" panose="02020603050405020304" pitchFamily="18" charset="0"/>
                <a:ea typeface="Times New Roman" panose="02020603050405020304" pitchFamily="18" charset="0"/>
              </a:rPr>
              <a:t>: о</a:t>
            </a:r>
            <a:r>
              <a:rPr lang="kk-KZ" sz="2400" dirty="0">
                <a:solidFill>
                  <a:srgbClr val="231F20"/>
                </a:solidFill>
                <a:effectLst/>
                <a:latin typeface="Times New Roman" panose="02020603050405020304" pitchFamily="18" charset="0"/>
                <a:ea typeface="Times New Roman" panose="02020603050405020304" pitchFamily="18" charset="0"/>
              </a:rPr>
              <a:t>рон сууц, зочид буудал, албан</a:t>
            </a:r>
            <a:r>
              <a:rPr lang="kk-KZ" sz="2400" spc="400" dirty="0">
                <a:solidFill>
                  <a:srgbClr val="231F20"/>
                </a:solidFill>
                <a:effectLst/>
                <a:latin typeface="Times New Roman" panose="02020603050405020304" pitchFamily="18" charset="0"/>
                <a:ea typeface="Times New Roman" panose="02020603050405020304" pitchFamily="18" charset="0"/>
              </a:rPr>
              <a:t> </a:t>
            </a:r>
            <a:r>
              <a:rPr lang="kk-KZ" sz="2400" dirty="0">
                <a:solidFill>
                  <a:srgbClr val="231F20"/>
                </a:solidFill>
                <a:effectLst/>
                <a:latin typeface="Times New Roman" panose="02020603050405020304" pitchFamily="18" charset="0"/>
                <a:ea typeface="Times New Roman" panose="02020603050405020304" pitchFamily="18" charset="0"/>
              </a:rPr>
              <a:t>тасалгаа, дэлгүүр болон бүх төрлийн арилжааны зориулалттай байгууламж орно.</a:t>
            </a:r>
            <a:endParaRPr lang="mn-MN" sz="2400" dirty="0">
              <a:solidFill>
                <a:srgbClr val="231F20"/>
              </a:solidFill>
              <a:effectLst/>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r>
              <a:rPr lang="kk-KZ" sz="2400" dirty="0">
                <a:solidFill>
                  <a:srgbClr val="231F20"/>
                </a:solidFill>
                <a:effectLst/>
                <a:latin typeface="Times New Roman" panose="02020603050405020304" pitchFamily="18" charset="0"/>
                <a:ea typeface="Times New Roman" panose="02020603050405020304" pitchFamily="18" charset="0"/>
              </a:rPr>
              <a:t>Газрын хөрөнгө оруулалтын тухайд үргэлж мөнгөний урсгал бий болгохгүй</a:t>
            </a:r>
            <a:r>
              <a:rPr lang="mn-MN" sz="2400" dirty="0">
                <a:solidFill>
                  <a:srgbClr val="231F20"/>
                </a:solidFill>
                <a:effectLst/>
                <a:latin typeface="Times New Roman" panose="02020603050405020304" pitchFamily="18" charset="0"/>
                <a:ea typeface="Times New Roman" panose="02020603050405020304" pitchFamily="18" charset="0"/>
              </a:rPr>
              <a:t>, и</a:t>
            </a:r>
            <a:r>
              <a:rPr lang="kk-KZ" sz="2400" dirty="0">
                <a:solidFill>
                  <a:srgbClr val="231F20"/>
                </a:solidFill>
                <a:effectLst/>
                <a:latin typeface="Times New Roman" panose="02020603050405020304" pitchFamily="18" charset="0"/>
                <a:ea typeface="Times New Roman" panose="02020603050405020304" pitchFamily="18" charset="0"/>
              </a:rPr>
              <a:t>хэнх </a:t>
            </a:r>
            <a:r>
              <a:rPr lang="mn-MN" sz="2400" dirty="0">
                <a:solidFill>
                  <a:srgbClr val="231F20"/>
                </a:solidFill>
                <a:effectLst/>
                <a:latin typeface="Times New Roman" panose="02020603050405020304" pitchFamily="18" charset="0"/>
                <a:ea typeface="Times New Roman" panose="02020603050405020304" pitchFamily="18" charset="0"/>
              </a:rPr>
              <a:t>ХО-</a:t>
            </a:r>
            <a:r>
              <a:rPr lang="kk-KZ" sz="2400" dirty="0">
                <a:solidFill>
                  <a:srgbClr val="231F20"/>
                </a:solidFill>
                <a:effectLst/>
                <a:latin typeface="Times New Roman" panose="02020603050405020304" pitchFamily="18" charset="0"/>
                <a:ea typeface="Times New Roman" panose="02020603050405020304" pitchFamily="18" charset="0"/>
              </a:rPr>
              <a:t>чид газрыг хувааж, ашиглах зорилгоор худалдан авдаг. </a:t>
            </a:r>
            <a:endParaRPr lang="mn-MN" sz="2400" dirty="0">
              <a:solidFill>
                <a:srgbClr val="231F20"/>
              </a:solidFill>
              <a:effectLst/>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r>
              <a:rPr lang="kk-KZ" sz="2400" dirty="0">
                <a:solidFill>
                  <a:srgbClr val="231F20"/>
                </a:solidFill>
                <a:effectLst/>
                <a:latin typeface="Times New Roman" panose="02020603050405020304" pitchFamily="18" charset="0"/>
                <a:ea typeface="Times New Roman" panose="02020603050405020304" pitchFamily="18" charset="0"/>
              </a:rPr>
              <a:t>Шууд бус </a:t>
            </a:r>
            <a:r>
              <a:rPr lang="mn-MN" sz="2400" dirty="0">
                <a:solidFill>
                  <a:srgbClr val="231F20"/>
                </a:solidFill>
                <a:effectLst/>
                <a:latin typeface="Times New Roman" panose="02020603050405020304" pitchFamily="18" charset="0"/>
                <a:ea typeface="Times New Roman" panose="02020603050405020304" pitchFamily="18" charset="0"/>
              </a:rPr>
              <a:t>ХО</a:t>
            </a:r>
            <a:r>
              <a:rPr lang="kk-KZ" sz="2400" dirty="0">
                <a:solidFill>
                  <a:srgbClr val="231F20"/>
                </a:solidFill>
                <a:effectLst/>
                <a:latin typeface="Times New Roman" panose="02020603050405020304" pitchFamily="18" charset="0"/>
                <a:ea typeface="Times New Roman" panose="02020603050405020304" pitchFamily="18" charset="0"/>
              </a:rPr>
              <a:t> нь үл хөдлөх хөрөнгийн синдикат, үл</a:t>
            </a:r>
            <a:r>
              <a:rPr lang="kk-KZ" sz="2400" spc="200" dirty="0">
                <a:solidFill>
                  <a:srgbClr val="231F20"/>
                </a:solidFill>
                <a:effectLst/>
                <a:latin typeface="Times New Roman" panose="02020603050405020304" pitchFamily="18" charset="0"/>
                <a:ea typeface="Times New Roman" panose="02020603050405020304" pitchFamily="18" charset="0"/>
              </a:rPr>
              <a:t> </a:t>
            </a:r>
            <a:r>
              <a:rPr lang="kk-KZ" sz="2400" dirty="0">
                <a:solidFill>
                  <a:srgbClr val="231F20"/>
                </a:solidFill>
                <a:effectLst/>
                <a:latin typeface="Times New Roman" panose="02020603050405020304" pitchFamily="18" charset="0"/>
                <a:ea typeface="Times New Roman" panose="02020603050405020304" pitchFamily="18" charset="0"/>
              </a:rPr>
              <a:t>хөдлөх хөрөнгө оруулалтын </a:t>
            </a:r>
            <a:r>
              <a:rPr lang="kk-KZ" sz="2400" spc="-10" dirty="0">
                <a:solidFill>
                  <a:srgbClr val="231F20"/>
                </a:solidFill>
                <a:effectLst/>
                <a:latin typeface="Times New Roman" panose="02020603050405020304" pitchFamily="18" charset="0"/>
                <a:ea typeface="Times New Roman" panose="02020603050405020304" pitchFamily="18" charset="0"/>
              </a:rPr>
              <a:t>итгэлцлийн</a:t>
            </a:r>
            <a:r>
              <a:rPr lang="kk-KZ" sz="2400" dirty="0">
                <a:solidFill>
                  <a:srgbClr val="231F20"/>
                </a:solidFill>
                <a:effectLst/>
                <a:latin typeface="Times New Roman" panose="02020603050405020304" pitchFamily="18" charset="0"/>
                <a:ea typeface="Times New Roman" panose="02020603050405020304" pitchFamily="18" charset="0"/>
              </a:rPr>
              <a:t>	</a:t>
            </a:r>
            <a:r>
              <a:rPr lang="kk-KZ" sz="2400" spc="-20" dirty="0">
                <a:solidFill>
                  <a:srgbClr val="231F20"/>
                </a:solidFill>
                <a:effectLst/>
                <a:latin typeface="Times New Roman" panose="02020603050405020304" pitchFamily="18" charset="0"/>
                <a:ea typeface="Times New Roman" panose="02020603050405020304" pitchFamily="18" charset="0"/>
              </a:rPr>
              <a:t>сан,</a:t>
            </a:r>
            <a:r>
              <a:rPr lang="mn-MN" sz="2400" spc="-20" dirty="0">
                <a:solidFill>
                  <a:srgbClr val="231F20"/>
                </a:solidFill>
                <a:effectLst/>
                <a:latin typeface="Times New Roman" panose="02020603050405020304" pitchFamily="18" charset="0"/>
                <a:ea typeface="Times New Roman" panose="02020603050405020304" pitchFamily="18" charset="0"/>
              </a:rPr>
              <a:t> </a:t>
            </a:r>
            <a:r>
              <a:rPr lang="kk-KZ" sz="2400" spc="-10" dirty="0">
                <a:solidFill>
                  <a:srgbClr val="231F20"/>
                </a:solidFill>
                <a:effectLst/>
                <a:latin typeface="Times New Roman" panose="02020603050405020304" pitchFamily="18" charset="0"/>
                <a:ea typeface="Times New Roman" panose="02020603050405020304" pitchFamily="18" charset="0"/>
              </a:rPr>
              <a:t>моргейж, </a:t>
            </a:r>
            <a:r>
              <a:rPr lang="kk-KZ" sz="2400" dirty="0">
                <a:solidFill>
                  <a:srgbClr val="231F20"/>
                </a:solidFill>
                <a:effectLst/>
                <a:latin typeface="Times New Roman" panose="02020603050405020304" pitchFamily="18" charset="0"/>
                <a:ea typeface="Times New Roman" panose="02020603050405020304" pitchFamily="18" charset="0"/>
              </a:rPr>
              <a:t>моргейжийн сан зэрэгт оруулах хөрөнгө оруулалт байдаг.</a:t>
            </a:r>
            <a:endParaRPr lang="mn-MN" sz="2400" dirty="0">
              <a:solidFill>
                <a:srgbClr val="231F20"/>
              </a:solidFill>
              <a:effectLst/>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r>
              <a:rPr lang="kk-KZ" sz="2400" dirty="0">
                <a:solidFill>
                  <a:srgbClr val="231F20"/>
                </a:solidFill>
                <a:effectLst/>
                <a:latin typeface="Times New Roman" panose="02020603050405020304" pitchFamily="18" charset="0"/>
                <a:ea typeface="Times New Roman" panose="02020603050405020304" pitchFamily="18" charset="0"/>
              </a:rPr>
              <a:t>Синдикат нь ихэнхидээ их хэмжээний хөрөнгө, нөөц шаарддаг үйл</a:t>
            </a:r>
            <a:r>
              <a:rPr lang="kk-KZ" sz="2400" spc="200" dirty="0">
                <a:solidFill>
                  <a:srgbClr val="231F20"/>
                </a:solidFill>
                <a:effectLst/>
                <a:latin typeface="Times New Roman" panose="02020603050405020304" pitchFamily="18" charset="0"/>
                <a:ea typeface="Times New Roman" panose="02020603050405020304" pitchFamily="18" charset="0"/>
              </a:rPr>
              <a:t> </a:t>
            </a:r>
            <a:r>
              <a:rPr lang="kk-KZ" sz="2400" dirty="0">
                <a:solidFill>
                  <a:srgbClr val="231F20"/>
                </a:solidFill>
                <a:effectLst/>
                <a:latin typeface="Times New Roman" panose="02020603050405020304" pitchFamily="18" charset="0"/>
                <a:ea typeface="Times New Roman" panose="02020603050405020304" pitchFamily="18" charset="0"/>
              </a:rPr>
              <a:t>ажиллагаа</a:t>
            </a:r>
            <a:r>
              <a:rPr lang="kk-KZ" sz="2400" spc="225" dirty="0">
                <a:solidFill>
                  <a:srgbClr val="231F20"/>
                </a:solidFill>
                <a:effectLst/>
                <a:latin typeface="Times New Roman" panose="02020603050405020304" pitchFamily="18" charset="0"/>
                <a:ea typeface="Times New Roman" panose="02020603050405020304" pitchFamily="18" charset="0"/>
              </a:rPr>
              <a:t> </a:t>
            </a:r>
            <a:r>
              <a:rPr lang="kk-KZ" sz="2400" dirty="0">
                <a:solidFill>
                  <a:srgbClr val="231F20"/>
                </a:solidFill>
                <a:effectLst/>
                <a:latin typeface="Times New Roman" panose="02020603050405020304" pitchFamily="18" charset="0"/>
                <a:ea typeface="Times New Roman" panose="02020603050405020304" pitchFamily="18" charset="0"/>
              </a:rPr>
              <a:t>явуулах</a:t>
            </a:r>
            <a:r>
              <a:rPr lang="kk-KZ" sz="2400" spc="230" dirty="0">
                <a:solidFill>
                  <a:srgbClr val="231F20"/>
                </a:solidFill>
                <a:effectLst/>
                <a:latin typeface="Times New Roman" panose="02020603050405020304" pitchFamily="18" charset="0"/>
                <a:ea typeface="Times New Roman" panose="02020603050405020304" pitchFamily="18" charset="0"/>
              </a:rPr>
              <a:t> </a:t>
            </a:r>
            <a:r>
              <a:rPr lang="kk-KZ" sz="2400" dirty="0">
                <a:solidFill>
                  <a:srgbClr val="231F20"/>
                </a:solidFill>
                <a:effectLst/>
                <a:latin typeface="Times New Roman" panose="02020603050405020304" pitchFamily="18" charset="0"/>
                <a:ea typeface="Times New Roman" panose="02020603050405020304" pitchFamily="18" charset="0"/>
              </a:rPr>
              <a:t>зорилгоор</a:t>
            </a:r>
            <a:r>
              <a:rPr lang="kk-KZ" sz="2400" spc="230" dirty="0">
                <a:solidFill>
                  <a:srgbClr val="231F20"/>
                </a:solidFill>
                <a:effectLst/>
                <a:latin typeface="Times New Roman" panose="02020603050405020304" pitchFamily="18" charset="0"/>
                <a:ea typeface="Times New Roman" panose="02020603050405020304" pitchFamily="18" charset="0"/>
              </a:rPr>
              <a:t> </a:t>
            </a:r>
            <a:r>
              <a:rPr lang="kk-KZ" sz="2400" spc="-10" dirty="0">
                <a:solidFill>
                  <a:srgbClr val="231F20"/>
                </a:solidFill>
                <a:effectLst/>
                <a:latin typeface="Times New Roman" panose="02020603050405020304" pitchFamily="18" charset="0"/>
                <a:ea typeface="Times New Roman" panose="02020603050405020304" pitchFamily="18" charset="0"/>
              </a:rPr>
              <a:t>зохион</a:t>
            </a:r>
            <a:r>
              <a:rPr lang="mn-MN" sz="2400" spc="-10" dirty="0">
                <a:solidFill>
                  <a:srgbClr val="231F20"/>
                </a:solidFill>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байгуулсан компани, итгэлцлийн сан болон бүрэн бус хариуцлагатай нөхөрлөл байдаг.</a:t>
            </a:r>
            <a:endParaRPr lang="mn-MN" sz="2400" dirty="0">
              <a:effectLst/>
              <a:latin typeface="Times New Roman" panose="02020603050405020304" pitchFamily="18" charset="0"/>
              <a:ea typeface="Times New Roman" panose="02020603050405020304" pitchFamily="18" charset="0"/>
            </a:endParaRPr>
          </a:p>
        </p:txBody>
      </p:sp>
      <p:sp>
        <p:nvSpPr>
          <p:cNvPr id="11" name="Content Placeholder 2">
            <a:extLst>
              <a:ext uri="{FF2B5EF4-FFF2-40B4-BE49-F238E27FC236}">
                <a16:creationId xmlns:a16="http://schemas.microsoft.com/office/drawing/2014/main" id="{7374FD9F-E3F7-4A49-A3E5-D14EB03C6BFA}"/>
              </a:ext>
            </a:extLst>
          </p:cNvPr>
          <p:cNvSpPr txBox="1">
            <a:spLocks/>
          </p:cNvSpPr>
          <p:nvPr/>
        </p:nvSpPr>
        <p:spPr>
          <a:xfrm>
            <a:off x="9155216" y="72653"/>
            <a:ext cx="2973720" cy="2339028"/>
          </a:xfrm>
          <a:prstGeom prst="rect">
            <a:avLst/>
          </a:prstGeom>
          <a:ln>
            <a:solidFill>
              <a:srgbClr val="FF000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None/>
            </a:pPr>
            <a:r>
              <a:rPr lang="mn-MN" sz="2000" b="1" dirty="0">
                <a:latin typeface="Times New Roman" panose="02020603050405020304" pitchFamily="18" charset="0"/>
                <a:cs typeface="Times New Roman" panose="02020603050405020304" pitchFamily="18" charset="0"/>
              </a:rPr>
              <a:t>Өрийн бичиг: </a:t>
            </a:r>
            <a:r>
              <a:rPr lang="mn-MN" sz="2000" i="1" dirty="0">
                <a:solidFill>
                  <a:srgbClr val="0070C0"/>
                </a:solidFill>
                <a:latin typeface="Times New Roman" panose="02020603050405020304" pitchFamily="18" charset="0"/>
                <a:cs typeface="Times New Roman" panose="02020603050405020304" pitchFamily="18" charset="0"/>
              </a:rPr>
              <a:t>Тодорхой хугацааны дараа үндсэн төлбөр болон хүүг мөнгөн, эсвэл тодорхой эд хөрөнгө, эд хөрөнгийн эрхийн хэлбэрээр эргүүлэн төлөх үүргийг гэрчилсэн үнэт цаас.</a:t>
            </a:r>
          </a:p>
        </p:txBody>
      </p:sp>
      <p:sp>
        <p:nvSpPr>
          <p:cNvPr id="10" name="Content Placeholder 2">
            <a:extLst>
              <a:ext uri="{FF2B5EF4-FFF2-40B4-BE49-F238E27FC236}">
                <a16:creationId xmlns:a16="http://schemas.microsoft.com/office/drawing/2014/main" id="{D179A482-B4A3-48E0-8D99-D93DF9EADC3D}"/>
              </a:ext>
            </a:extLst>
          </p:cNvPr>
          <p:cNvSpPr txBox="1">
            <a:spLocks/>
          </p:cNvSpPr>
          <p:nvPr/>
        </p:nvSpPr>
        <p:spPr>
          <a:xfrm>
            <a:off x="9155216" y="2543268"/>
            <a:ext cx="2973720" cy="1729187"/>
          </a:xfrm>
          <a:prstGeom prst="rect">
            <a:avLst/>
          </a:prstGeom>
          <a:ln>
            <a:solidFill>
              <a:srgbClr val="FF000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None/>
            </a:pPr>
            <a:r>
              <a:rPr lang="mn-MN" sz="2000" b="1" dirty="0">
                <a:latin typeface="Times New Roman" panose="02020603050405020304" pitchFamily="18" charset="0"/>
                <a:cs typeface="Times New Roman" panose="02020603050405020304" pitchFamily="18" charset="0"/>
              </a:rPr>
              <a:t>Компанийн бонд: </a:t>
            </a:r>
          </a:p>
          <a:p>
            <a:pPr marL="0" indent="0">
              <a:lnSpc>
                <a:spcPct val="95000"/>
              </a:lnSpc>
              <a:spcBef>
                <a:spcPts val="0"/>
              </a:spcBef>
              <a:buNone/>
            </a:pPr>
            <a:r>
              <a:rPr lang="mn-MN" sz="2000" i="1" dirty="0">
                <a:solidFill>
                  <a:srgbClr val="0070C0"/>
                </a:solidFill>
                <a:latin typeface="Times New Roman" panose="02020603050405020304" pitchFamily="18" charset="0"/>
                <a:cs typeface="Times New Roman" panose="02020603050405020304" pitchFamily="18" charset="0"/>
              </a:rPr>
              <a:t>Тодорхой хэмжээний мөнгийг хүүтэйгээр зээлснийг гэрчлэх, компаниас гаргасан санхүүгийн хэрэгсэл.</a:t>
            </a:r>
          </a:p>
        </p:txBody>
      </p:sp>
      <p:sp>
        <p:nvSpPr>
          <p:cNvPr id="12" name="Content Placeholder 2">
            <a:extLst>
              <a:ext uri="{FF2B5EF4-FFF2-40B4-BE49-F238E27FC236}">
                <a16:creationId xmlns:a16="http://schemas.microsoft.com/office/drawing/2014/main" id="{5AE417E3-8186-4871-B624-5057C8103550}"/>
              </a:ext>
            </a:extLst>
          </p:cNvPr>
          <p:cNvSpPr txBox="1">
            <a:spLocks/>
          </p:cNvSpPr>
          <p:nvPr/>
        </p:nvSpPr>
        <p:spPr>
          <a:xfrm>
            <a:off x="9155216" y="4450896"/>
            <a:ext cx="2973720" cy="1533296"/>
          </a:xfrm>
          <a:prstGeom prst="rect">
            <a:avLst/>
          </a:prstGeom>
          <a:ln>
            <a:solidFill>
              <a:srgbClr val="FF000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None/>
            </a:pPr>
            <a:r>
              <a:rPr lang="mn-MN" sz="2000" b="1" dirty="0">
                <a:latin typeface="Times New Roman" panose="02020603050405020304" pitchFamily="18" charset="0"/>
                <a:cs typeface="Times New Roman" panose="02020603050405020304" pitchFamily="18" charset="0"/>
              </a:rPr>
              <a:t>Бондын эргэн төлөгдөх хугацаа:</a:t>
            </a:r>
            <a:r>
              <a:rPr lang="mn-MN" sz="2000" i="1" dirty="0">
                <a:solidFill>
                  <a:srgbClr val="0070C0"/>
                </a:solidFill>
                <a:latin typeface="Times New Roman" panose="02020603050405020304" pitchFamily="18" charset="0"/>
                <a:cs typeface="Times New Roman" panose="02020603050405020304" pitchFamily="18" charset="0"/>
              </a:rPr>
              <a:t> Компани зээлсэн мөнгөө эргүүлэн төлөхөөр гэрээнд заасан өдөр.</a:t>
            </a:r>
          </a:p>
        </p:txBody>
      </p:sp>
    </p:spTree>
    <p:extLst>
      <p:ext uri="{BB962C8B-B14F-4D97-AF65-F5344CB8AC3E}">
        <p14:creationId xmlns:p14="http://schemas.microsoft.com/office/powerpoint/2010/main" val="5804601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66473"/>
            <a:ext cx="11484244" cy="418652"/>
          </a:xfrm>
        </p:spPr>
        <p:txBody>
          <a:bodyPr>
            <a:noAutofit/>
          </a:bodyPr>
          <a:lstStyle/>
          <a:p>
            <a:r>
              <a:rPr lang="mn-MN" sz="2000" b="1" dirty="0">
                <a:solidFill>
                  <a:srgbClr val="002060"/>
                </a:solidFill>
                <a:latin typeface="Times New Roman" panose="02020603050405020304" pitchFamily="18" charset="0"/>
                <a:cs typeface="Times New Roman" panose="02020603050405020304" pitchFamily="18" charset="0"/>
              </a:rPr>
              <a:t>Хөрөнгө оруулалтын хэрэгсэл</a:t>
            </a:r>
            <a:r>
              <a:rPr lang="en-US" sz="2000" b="1" dirty="0">
                <a:solidFill>
                  <a:srgbClr val="002060"/>
                </a:solidFill>
                <a:latin typeface="Times New Roman" panose="02020603050405020304" pitchFamily="18" charset="0"/>
                <a:cs typeface="Times New Roman" panose="02020603050405020304" pitchFamily="18" charset="0"/>
              </a:rPr>
              <a:t>:</a:t>
            </a:r>
            <a:r>
              <a:rPr lang="mn-MN" sz="2000" b="1" dirty="0">
                <a:solidFill>
                  <a:srgbClr val="002060"/>
                </a:solidFill>
                <a:latin typeface="Times New Roman" panose="02020603050405020304" pitchFamily="18" charset="0"/>
                <a:cs typeface="Times New Roman" panose="02020603050405020304" pitchFamily="18" charset="0"/>
              </a:rPr>
              <a:t> </a:t>
            </a:r>
            <a:r>
              <a:rPr lang="mn-MN" sz="2000" b="1" dirty="0">
                <a:solidFill>
                  <a:srgbClr val="0000FF"/>
                </a:solidFill>
                <a:latin typeface="Times New Roman" panose="02020603050405020304" pitchFamily="18" charset="0"/>
                <a:cs typeface="Times New Roman" panose="02020603050405020304" pitchFamily="18" charset="0"/>
              </a:rPr>
              <a:t>Үл хөдлөх хөрөнгийн хөрөнгө оруулалт</a:t>
            </a:r>
            <a:endParaRPr lang="en-US" sz="20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94469" y="600116"/>
            <a:ext cx="11640027" cy="1449401"/>
          </a:xfrm>
        </p:spPr>
        <p:txBody>
          <a:bodyPr>
            <a:noAutofit/>
          </a:bodyPr>
          <a:lstStyle/>
          <a:p>
            <a:pPr marL="84455" marR="132080" indent="0" algn="just">
              <a:lnSpc>
                <a:spcPct val="115000"/>
              </a:lnSpc>
              <a:spcBef>
                <a:spcPts val="1175"/>
              </a:spcBef>
              <a:spcAft>
                <a:spcPts val="0"/>
              </a:spcAft>
              <a:buNone/>
            </a:pPr>
            <a:r>
              <a:rPr lang="kk-KZ" sz="1800" dirty="0">
                <a:effectLst/>
                <a:latin typeface="Times New Roman" panose="02020603050405020304" pitchFamily="18" charset="0"/>
                <a:ea typeface="Times New Roman" panose="02020603050405020304" pitchFamily="18" charset="0"/>
              </a:rPr>
              <a:t>Үл хөдлөх хөрөнгийн </a:t>
            </a:r>
            <a:r>
              <a:rPr lang="mn-MN" sz="1800" dirty="0">
                <a:effectLst/>
                <a:latin typeface="Times New Roman" panose="02020603050405020304" pitchFamily="18" charset="0"/>
                <a:ea typeface="Times New Roman" panose="02020603050405020304" pitchFamily="18" charset="0"/>
              </a:rPr>
              <a:t>ХО-</a:t>
            </a:r>
            <a:r>
              <a:rPr lang="kk-KZ" sz="1800" dirty="0">
                <a:effectLst/>
                <a:latin typeface="Times New Roman" panose="02020603050405020304" pitchFamily="18" charset="0"/>
                <a:ea typeface="Times New Roman" panose="02020603050405020304" pitchFamily="18" charset="0"/>
              </a:rPr>
              <a:t>лалтын итгэлцлийн сан нь хамтын сан, хөрөнгө оруулалтын компанитай адилаар бирж болон биржээс гадуур үйл ажиллагаа явуулдаг. Эдгээр сангууд зээлийн сангийн хамт орон сууцны (моргейжийн) зээл эсвэл үл хөдлөх хөрөнгөд хөрөнгө оруулна. Ерөнхийдөө, илүү чадвартай хөрөнгө оруулагчид л моргейж болон бусад өрийн гэрээг худалдан авдаг. Эдгээр хөрөнгө оруулалт өндөр өгөөжтэйн хэрээр эрсдэл</a:t>
            </a:r>
            <a:r>
              <a:rPr lang="kk-KZ" sz="1800" spc="400" dirty="0">
                <a:effectLst/>
                <a:latin typeface="Times New Roman" panose="02020603050405020304" pitchFamily="18" charset="0"/>
                <a:ea typeface="Times New Roman" panose="02020603050405020304" pitchFamily="18" charset="0"/>
              </a:rPr>
              <a:t> </a:t>
            </a:r>
            <a:r>
              <a:rPr lang="kk-KZ" sz="1800" spc="-10" dirty="0">
                <a:effectLst/>
                <a:latin typeface="Times New Roman" panose="02020603050405020304" pitchFamily="18" charset="0"/>
                <a:ea typeface="Times New Roman" panose="02020603050405020304" pitchFamily="18" charset="0"/>
              </a:rPr>
              <a:t>ихтэй.</a:t>
            </a:r>
            <a:endParaRPr lang="mn-MN" sz="1800" spc="-10" dirty="0">
              <a:solidFill>
                <a:srgbClr val="231F20"/>
              </a:solidFill>
              <a:latin typeface="Times New Roman" panose="02020603050405020304" pitchFamily="18" charset="0"/>
              <a:ea typeface="Times New Roman" panose="02020603050405020304" pitchFamily="18" charset="0"/>
            </a:endParaRPr>
          </a:p>
          <a:p>
            <a:pPr marL="84455" marR="132080" indent="0" algn="just">
              <a:lnSpc>
                <a:spcPct val="115000"/>
              </a:lnSpc>
              <a:spcBef>
                <a:spcPts val="1175"/>
              </a:spcBef>
              <a:spcAft>
                <a:spcPts val="0"/>
              </a:spcAft>
              <a:buNone/>
            </a:pPr>
            <a:endParaRPr lang="en-US" sz="1800" dirty="0">
              <a:effectLst/>
              <a:latin typeface="Times New Roman" panose="02020603050405020304" pitchFamily="18" charset="0"/>
              <a:ea typeface="Times New Roman" panose="02020603050405020304" pitchFamily="18" charset="0"/>
            </a:endParaRPr>
          </a:p>
        </p:txBody>
      </p:sp>
      <p:pic>
        <p:nvPicPr>
          <p:cNvPr id="9" name="Image 67">
            <a:extLst>
              <a:ext uri="{FF2B5EF4-FFF2-40B4-BE49-F238E27FC236}">
                <a16:creationId xmlns:a16="http://schemas.microsoft.com/office/drawing/2014/main" id="{BF17963F-57C2-42C4-9EFC-363AAA0C707D}"/>
              </a:ext>
            </a:extLst>
          </p:cNvPr>
          <p:cNvPicPr/>
          <p:nvPr/>
        </p:nvPicPr>
        <p:blipFill>
          <a:blip r:embed="rId3" cstate="print"/>
          <a:stretch>
            <a:fillRect/>
          </a:stretch>
        </p:blipFill>
        <p:spPr>
          <a:xfrm>
            <a:off x="294469" y="2064508"/>
            <a:ext cx="11640026" cy="4193376"/>
          </a:xfrm>
          <a:prstGeom prst="rect">
            <a:avLst/>
          </a:prstGeom>
        </p:spPr>
      </p:pic>
    </p:spTree>
    <p:extLst>
      <p:ext uri="{BB962C8B-B14F-4D97-AF65-F5344CB8AC3E}">
        <p14:creationId xmlns:p14="http://schemas.microsoft.com/office/powerpoint/2010/main" val="1559518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134911" y="130629"/>
            <a:ext cx="11578117" cy="740228"/>
          </a:xfrm>
        </p:spPr>
        <p:txBody>
          <a:bodyPr>
            <a:noAutofit/>
          </a:bodyPr>
          <a:lstStyle/>
          <a:p>
            <a:pPr algn="just"/>
            <a:r>
              <a:rPr lang="mn-MN" sz="2800" b="1" dirty="0">
                <a:solidFill>
                  <a:srgbClr val="002060"/>
                </a:solidFill>
                <a:latin typeface="Times New Roman" panose="02020603050405020304" pitchFamily="18" charset="0"/>
                <a:cs typeface="Times New Roman" panose="02020603050405020304" pitchFamily="18" charset="0"/>
              </a:rPr>
              <a:t>Зарим сурах бичигт: </a:t>
            </a:r>
            <a:r>
              <a:rPr lang="mn-MN" sz="2800" dirty="0">
                <a:solidFill>
                  <a:srgbClr val="0000FF"/>
                </a:solidFill>
                <a:latin typeface="Times New Roman" panose="02020603050405020304" pitchFamily="18" charset="0"/>
                <a:cs typeface="Times New Roman" panose="02020603050405020304" pitchFamily="18" charset="0"/>
              </a:rPr>
              <a:t>Үнэт цааснуудыг арилжаалж буй зах зээлээсс хамааруулан ангилах нь</a:t>
            </a:r>
            <a:r>
              <a:rPr lang="mn-MN" sz="2800" dirty="0">
                <a:solidFill>
                  <a:srgbClr val="002060"/>
                </a:solidFill>
                <a:latin typeface="Times New Roman" panose="02020603050405020304" pitchFamily="18" charset="0"/>
                <a:cs typeface="Times New Roman" panose="02020603050405020304" pitchFamily="18" charset="0"/>
              </a:rPr>
              <a:t>.</a:t>
            </a:r>
            <a:endParaRPr lang="en-US" sz="2800"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279B141-2064-4374-85FE-79AA443F7522}"/>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p:blipFill>
        <p:spPr>
          <a:xfrm>
            <a:off x="134912" y="1132114"/>
            <a:ext cx="11922175" cy="5457372"/>
          </a:xfrm>
          <a:prstGeom prst="rect">
            <a:avLst/>
          </a:prstGeom>
        </p:spPr>
      </p:pic>
    </p:spTree>
    <p:extLst>
      <p:ext uri="{BB962C8B-B14F-4D97-AF65-F5344CB8AC3E}">
        <p14:creationId xmlns:p14="http://schemas.microsoft.com/office/powerpoint/2010/main" val="2442974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119182" y="93903"/>
            <a:ext cx="11955588" cy="346559"/>
          </a:xfrm>
        </p:spPr>
        <p:txBody>
          <a:bodyPr>
            <a:noAutofit/>
          </a:bodyPr>
          <a:lstStyle/>
          <a:p>
            <a:r>
              <a:rPr lang="mn-MN" sz="2000" b="1" dirty="0">
                <a:solidFill>
                  <a:srgbClr val="002060"/>
                </a:solidFill>
                <a:latin typeface="Times New Roman" panose="02020603050405020304" pitchFamily="18" charset="0"/>
                <a:cs typeface="Times New Roman" panose="02020603050405020304" pitchFamily="18" charset="0"/>
              </a:rPr>
              <a:t>Зарим сурах бичигт: </a:t>
            </a:r>
            <a:r>
              <a:rPr lang="mn-MN" sz="2400" dirty="0">
                <a:solidFill>
                  <a:srgbClr val="0000FF"/>
                </a:solidFill>
                <a:latin typeface="Times New Roman" panose="02020603050405020304" pitchFamily="18" charset="0"/>
                <a:cs typeface="Times New Roman" panose="02020603050405020304" pitchFamily="18" charset="0"/>
              </a:rPr>
              <a:t>Үнэт цааснуудыг арилжаалж буй зах зээлээсс хамааруулан ангилах нь</a:t>
            </a:r>
            <a:r>
              <a:rPr lang="mn-MN" sz="2400" dirty="0">
                <a:solidFill>
                  <a:srgbClr val="002060"/>
                </a:solidFill>
                <a:latin typeface="Times New Roman" panose="02020603050405020304" pitchFamily="18" charset="0"/>
                <a:cs typeface="Times New Roman" panose="02020603050405020304" pitchFamily="18" charset="0"/>
              </a:rPr>
              <a:t>. </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36413" y="440462"/>
            <a:ext cx="11679815" cy="6091411"/>
          </a:xfrm>
        </p:spPr>
        <p:txBody>
          <a:bodyPr>
            <a:noAutofit/>
          </a:bodyPr>
          <a:lstStyle/>
          <a:p>
            <a:pPr marL="0" marR="129540" indent="0" algn="just">
              <a:spcBef>
                <a:spcPts val="0"/>
              </a:spcBef>
              <a:spcAft>
                <a:spcPts val="0"/>
              </a:spcAft>
              <a:buNone/>
            </a:pPr>
            <a:r>
              <a:rPr lang="ru-RU" sz="1900" b="1" dirty="0">
                <a:solidFill>
                  <a:srgbClr val="0000FF"/>
                </a:solidFill>
                <a:effectLst/>
                <a:latin typeface="Times New Roman" panose="02020603050405020304" pitchFamily="18" charset="0"/>
                <a:ea typeface="Times New Roman" panose="02020603050405020304" pitchFamily="18" charset="0"/>
              </a:rPr>
              <a:t>М</a:t>
            </a:r>
            <a:r>
              <a:rPr lang="mn-MN" sz="1900" b="1" dirty="0">
                <a:solidFill>
                  <a:srgbClr val="0000FF"/>
                </a:solidFill>
                <a:effectLst/>
                <a:latin typeface="Times New Roman" panose="02020603050405020304" pitchFamily="18" charset="0"/>
                <a:ea typeface="Times New Roman" panose="02020603050405020304" pitchFamily="18" charset="0"/>
              </a:rPr>
              <a:t>ө</a:t>
            </a:r>
            <a:r>
              <a:rPr lang="ru-RU" sz="1900" b="1" dirty="0">
                <a:solidFill>
                  <a:srgbClr val="0000FF"/>
                </a:solidFill>
                <a:effectLst/>
                <a:latin typeface="Times New Roman" panose="02020603050405020304" pitchFamily="18" charset="0"/>
                <a:ea typeface="Times New Roman" panose="02020603050405020304" pitchFamily="18" charset="0"/>
              </a:rPr>
              <a:t>нг</a:t>
            </a:r>
            <a:r>
              <a:rPr lang="mn-MN" sz="1900" b="1" dirty="0">
                <a:solidFill>
                  <a:srgbClr val="0000FF"/>
                </a:solidFill>
                <a:effectLst/>
                <a:latin typeface="Times New Roman" panose="02020603050405020304" pitchFamily="18" charset="0"/>
                <a:ea typeface="Times New Roman" panose="02020603050405020304" pitchFamily="18" charset="0"/>
              </a:rPr>
              <a:t>ө</a:t>
            </a:r>
            <a:r>
              <a:rPr lang="ru-RU" sz="1900" b="1" dirty="0">
                <a:solidFill>
                  <a:srgbClr val="0000FF"/>
                </a:solidFill>
                <a:effectLst/>
                <a:latin typeface="Times New Roman" panose="02020603050405020304" pitchFamily="18" charset="0"/>
                <a:ea typeface="Times New Roman" panose="02020603050405020304" pitchFamily="18" charset="0"/>
              </a:rPr>
              <a:t>ний зах зээлийн үнэт цааснууд</a:t>
            </a:r>
            <a:r>
              <a:rPr lang="mn-MN" sz="1900" b="1" dirty="0">
                <a:solidFill>
                  <a:srgbClr val="0000FF"/>
                </a:solidFill>
                <a:effectLst/>
                <a:latin typeface="Times New Roman" panose="02020603050405020304" pitchFamily="18" charset="0"/>
                <a:ea typeface="Times New Roman" panose="02020603050405020304" pitchFamily="18" charset="0"/>
              </a:rPr>
              <a:t>: </a:t>
            </a:r>
            <a:r>
              <a:rPr lang="ru-RU" sz="1900" b="1" dirty="0">
                <a:solidFill>
                  <a:srgbClr val="0000FF"/>
                </a:solidFill>
                <a:effectLst/>
                <a:latin typeface="Times New Roman" panose="02020603050405020304" pitchFamily="18" charset="0"/>
                <a:ea typeface="Times New Roman" panose="02020603050405020304" pitchFamily="18" charset="0"/>
              </a:rPr>
              <a:t> </a:t>
            </a:r>
            <a:r>
              <a:rPr lang="kk-KZ" sz="1900" dirty="0">
                <a:solidFill>
                  <a:srgbClr val="231F20"/>
                </a:solidFill>
                <a:effectLst/>
                <a:latin typeface="Times New Roman" panose="02020603050405020304" pitchFamily="18" charset="0"/>
                <a:ea typeface="Times New Roman" panose="02020603050405020304" pitchFamily="18" charset="0"/>
              </a:rPr>
              <a:t>Мөнгөний зах зээлийн үнэт цаас нь богино хугацаатай, хөрвөх чадвар өндөртэй, эрсдэл багатай байдаг. Дуусах хугацаа нь нэг жил эсвэл түүнээс бага хугацаатай байна. Мөнгөний зах зээлийн үнэт цааснууд нь бодит хөрөнгийн барьцаа шаарддаггүй, гаргагчаас эргэн төлөх баталгааг тодорхойлсон байдаг. </a:t>
            </a:r>
            <a:r>
              <a:rPr lang="mn-MN" sz="1900" dirty="0">
                <a:solidFill>
                  <a:srgbClr val="231F20"/>
                </a:solidFill>
                <a:effectLst/>
                <a:latin typeface="Times New Roman" panose="02020603050405020304" pitchFamily="18" charset="0"/>
                <a:ea typeface="Times New Roman" panose="02020603050405020304" pitchFamily="18" charset="0"/>
              </a:rPr>
              <a:t>Дотор 4 төрөл байна.</a:t>
            </a:r>
          </a:p>
          <a:p>
            <a:pPr marL="579438" marR="129540" indent="-342900" algn="just">
              <a:spcBef>
                <a:spcPts val="0"/>
              </a:spcBef>
              <a:spcAft>
                <a:spcPts val="0"/>
              </a:spcAft>
              <a:buFont typeface="+mj-lt"/>
              <a:buAutoNum type="arabicPeriod"/>
            </a:pPr>
            <a:r>
              <a:rPr lang="mn-MN" sz="1900" b="1" dirty="0">
                <a:solidFill>
                  <a:srgbClr val="0000FF"/>
                </a:solidFill>
                <a:latin typeface="Times New Roman" panose="02020603050405020304" pitchFamily="18" charset="0"/>
                <a:cs typeface="Times New Roman" panose="02020603050405020304" pitchFamily="18" charset="0"/>
              </a:rPr>
              <a:t>Засгийн газрын богино хугацаат үнэт цаас:</a:t>
            </a:r>
            <a:r>
              <a:rPr lang="mn-MN" sz="1900" dirty="0">
                <a:latin typeface="Times New Roman" panose="02020603050405020304" pitchFamily="18" charset="0"/>
                <a:cs typeface="Times New Roman" panose="02020603050405020304" pitchFamily="18" charset="0"/>
              </a:rPr>
              <a:t> Засгийн газраас төсвийн алдагдлыг нөхөх, богино хугацаат хөрөнгө оруулалт хийх болон тесвийн санхүүжилтэд ашиглах зорилгоор гаргадаг үнэт цаас юм. Энэ нь санхүүгийн зээлд чөлөөтэй арилжаалагдах бөгөөд бага хүүтэй, хамгийн бага эрсдэлтэй үнэт цаас болно.</a:t>
            </a:r>
          </a:p>
          <a:p>
            <a:pPr marL="579438" marR="129540" indent="-342900" algn="just">
              <a:spcBef>
                <a:spcPts val="0"/>
              </a:spcBef>
              <a:spcAft>
                <a:spcPts val="0"/>
              </a:spcAft>
              <a:buFont typeface="+mj-lt"/>
              <a:buAutoNum type="arabicPeriod"/>
            </a:pPr>
            <a:r>
              <a:rPr lang="mn-MN" sz="1900" b="1" dirty="0">
                <a:solidFill>
                  <a:srgbClr val="0000FF"/>
                </a:solidFill>
                <a:latin typeface="Times New Roman" panose="02020603050405020304" pitchFamily="18" charset="0"/>
                <a:cs typeface="Times New Roman" panose="02020603050405020304" pitchFamily="18" charset="0"/>
              </a:rPr>
              <a:t>Хадгаламжийн сертификат: </a:t>
            </a:r>
            <a:r>
              <a:rPr lang="mn-MN" sz="1900" dirty="0">
                <a:latin typeface="Times New Roman" panose="02020603050405020304" pitchFamily="18" charset="0"/>
                <a:cs typeface="Times New Roman" panose="02020603050405020304" pitchFamily="18" charset="0"/>
              </a:rPr>
              <a:t>Энэ нь хадгаламж эзэмшигчдэд эргүүлж төлөхийг банкнаас амлаж бичсэн үнэт цаасны нэг төрөл юм. Хадгаламжийн сертификат нь энгийн хугацаатай хадгаламжтай төсөөтэй болов бага зэрэг ялгаатай. Энгийн хугацаатай хадгаламжид тодорхой нэрлэсэн үнийг зааж өгдөггүй, зөвхөн дансны үлдэгдлийн доод хэмжээг зааж өгдөг байхад хадгаламжийн сертификатад тодорхой нэрлэсэн үнийг зааж өгдөг. Хадгаламжийн сертификат нь тодорхой нэрлэсэн үнэ болон хүүтэй, заасан хугацаатай байх бөгөөд нэрлэсэн үнээрээ эсвэл хөнгөлөлттэй үнээр мөнгөний зах зээлд арилжаалагдана. </a:t>
            </a:r>
          </a:p>
          <a:p>
            <a:pPr marL="579438" marR="129540" indent="-342900" algn="just">
              <a:spcBef>
                <a:spcPts val="0"/>
              </a:spcBef>
              <a:spcAft>
                <a:spcPts val="0"/>
              </a:spcAft>
              <a:buFont typeface="+mj-lt"/>
              <a:buAutoNum type="arabicPeriod"/>
            </a:pPr>
            <a:r>
              <a:rPr lang="mn-MN" sz="1900" b="1" dirty="0">
                <a:solidFill>
                  <a:srgbClr val="0000FF"/>
                </a:solidFill>
                <a:latin typeface="Times New Roman" panose="02020603050405020304" pitchFamily="18" charset="0"/>
                <a:cs typeface="Times New Roman" panose="02020603050405020304" pitchFamily="18" charset="0"/>
              </a:rPr>
              <a:t>Арилжааны бичиг: </a:t>
            </a:r>
            <a:r>
              <a:rPr lang="mn-MN" sz="1900" dirty="0">
                <a:latin typeface="Times New Roman" panose="02020603050405020304" pitchFamily="18" charset="0"/>
                <a:cs typeface="Times New Roman" panose="02020603050405020304" pitchFamily="18" charset="0"/>
              </a:rPr>
              <a:t>Энэ нь томоохон компани, корпорациас гаргадаг, худалдан авагчдад буцаан төлөхийг гаргагчаас амласан амлалтын бичиг буюу үнэт цаас юм. Арилжааны бичиг нь 1-270 хоногийн хугацаатай байна. Зах зээлд нэрлэсэн үнээрээ эсвэл хөнгөлөлттэй үнээр худалдагдана. Нэрлэсэн үнээрээ зарагдах тохиолдолд нэрлэсэн хүүтэй байна. Харин хөнгөлөлттэй үнээр зарагдах тохиолдолд хүүгүй байх бөгөөд хөрөнгө оруулагч нэрлэсэн үнэ болон хөнгөлөлттэй үнийн зөрүүгээс ашиг олох боломжтой байдаг. </a:t>
            </a:r>
          </a:p>
          <a:p>
            <a:pPr marL="579438" marR="129540" indent="-342900" algn="just">
              <a:spcBef>
                <a:spcPts val="0"/>
              </a:spcBef>
              <a:spcAft>
                <a:spcPts val="0"/>
              </a:spcAft>
              <a:buFont typeface="+mj-lt"/>
              <a:buAutoNum type="arabicPeriod"/>
            </a:pPr>
            <a:r>
              <a:rPr lang="mn-MN" sz="1900" b="1" dirty="0">
                <a:solidFill>
                  <a:srgbClr val="0000FF"/>
                </a:solidFill>
                <a:latin typeface="Times New Roman" panose="02020603050405020304" pitchFamily="18" charset="0"/>
                <a:cs typeface="Times New Roman" panose="02020603050405020304" pitchFamily="18" charset="0"/>
              </a:rPr>
              <a:t>Банкны акцепт: </a:t>
            </a:r>
            <a:r>
              <a:rPr lang="mn-MN" sz="1900" dirty="0">
                <a:latin typeface="Times New Roman" panose="02020603050405020304" pitchFamily="18" charset="0"/>
                <a:cs typeface="Times New Roman" panose="02020603050405020304" pitchFamily="18" charset="0"/>
              </a:rPr>
              <a:t>Энэ нь банкны богино хугацаатай зээллэгийн нэг төрөл бөгөөд ихэвчлэн экспортлогч болон импортлогчдод тодорхой ажил гүйлгээг санхүүжүүлэхэд банкнаас олгогддо Банкны акцепт нь гол төлөв 6 сараас бага хугацаатай байх бөгөөд нэрлэсэн үнээс хөнгөлөлттэй үнээр худалдагдаж, дуусах хугацааны эцэст нэрлэсэн үнэ нь эргэж төлөгддөг.</a:t>
            </a:r>
          </a:p>
        </p:txBody>
      </p:sp>
    </p:spTree>
    <p:extLst>
      <p:ext uri="{BB962C8B-B14F-4D97-AF65-F5344CB8AC3E}">
        <p14:creationId xmlns:p14="http://schemas.microsoft.com/office/powerpoint/2010/main" val="1264899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36412" y="93903"/>
            <a:ext cx="11679817" cy="418652"/>
          </a:xfrm>
        </p:spPr>
        <p:txBody>
          <a:bodyPr>
            <a:noAutofit/>
          </a:bodyPr>
          <a:lstStyle/>
          <a:p>
            <a:r>
              <a:rPr lang="mn-MN" sz="2400" b="1" dirty="0">
                <a:solidFill>
                  <a:srgbClr val="002060"/>
                </a:solidFill>
                <a:latin typeface="Times New Roman" panose="02020603050405020304" pitchFamily="18" charset="0"/>
                <a:cs typeface="Times New Roman" panose="02020603050405020304" pitchFamily="18" charset="0"/>
              </a:rPr>
              <a:t>Зарим сурах бичигт: Хөрөнгө оруулалтын хэрэгсэл</a:t>
            </a:r>
            <a:r>
              <a:rPr lang="en-US" sz="2400" b="1" dirty="0">
                <a:solidFill>
                  <a:srgbClr val="002060"/>
                </a:solidFill>
                <a:latin typeface="Times New Roman" panose="02020603050405020304" pitchFamily="18" charset="0"/>
                <a:cs typeface="Times New Roman" panose="02020603050405020304" pitchFamily="18" charset="0"/>
              </a:rPr>
              <a:t>:</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36413" y="440462"/>
            <a:ext cx="11679815" cy="6091411"/>
          </a:xfrm>
        </p:spPr>
        <p:txBody>
          <a:bodyPr>
            <a:noAutofit/>
          </a:bodyPr>
          <a:lstStyle/>
          <a:p>
            <a:pPr marL="0" marR="129540" indent="0" algn="just">
              <a:spcBef>
                <a:spcPts val="0"/>
              </a:spcBef>
              <a:spcAft>
                <a:spcPts val="0"/>
              </a:spcAft>
              <a:buNone/>
            </a:pPr>
            <a:r>
              <a:rPr lang="ru-RU" sz="2400" b="1" dirty="0">
                <a:solidFill>
                  <a:srgbClr val="0000FF"/>
                </a:solidFill>
                <a:effectLst/>
                <a:latin typeface="Times New Roman" panose="02020603050405020304" pitchFamily="18" charset="0"/>
                <a:ea typeface="Times New Roman" panose="02020603050405020304" pitchFamily="18" charset="0"/>
              </a:rPr>
              <a:t>Х</a:t>
            </a:r>
            <a:r>
              <a:rPr lang="mn-MN" sz="2400" b="1" dirty="0">
                <a:solidFill>
                  <a:srgbClr val="0000FF"/>
                </a:solidFill>
                <a:latin typeface="Times New Roman" panose="02020603050405020304" pitchFamily="18" charset="0"/>
                <a:ea typeface="Times New Roman" panose="02020603050405020304" pitchFamily="18" charset="0"/>
              </a:rPr>
              <a:t>ө</a:t>
            </a:r>
            <a:r>
              <a:rPr lang="ru-RU" sz="2400" b="1" dirty="0">
                <a:solidFill>
                  <a:srgbClr val="0000FF"/>
                </a:solidFill>
                <a:effectLst/>
                <a:latin typeface="Times New Roman" panose="02020603050405020304" pitchFamily="18" charset="0"/>
                <a:ea typeface="Times New Roman" panose="02020603050405020304" pitchFamily="18" charset="0"/>
              </a:rPr>
              <a:t>р</a:t>
            </a:r>
            <a:r>
              <a:rPr lang="mn-MN" sz="2400" b="1" dirty="0">
                <a:solidFill>
                  <a:srgbClr val="0000FF"/>
                </a:solidFill>
                <a:effectLst/>
                <a:latin typeface="Times New Roman" panose="02020603050405020304" pitchFamily="18" charset="0"/>
                <a:ea typeface="Times New Roman" panose="02020603050405020304" pitchFamily="18" charset="0"/>
              </a:rPr>
              <a:t>ө</a:t>
            </a:r>
            <a:r>
              <a:rPr lang="ru-RU" sz="2400" b="1" dirty="0">
                <a:solidFill>
                  <a:srgbClr val="0000FF"/>
                </a:solidFill>
                <a:effectLst/>
                <a:latin typeface="Times New Roman" panose="02020603050405020304" pitchFamily="18" charset="0"/>
                <a:ea typeface="Times New Roman" panose="02020603050405020304" pitchFamily="18" charset="0"/>
              </a:rPr>
              <a:t>нгийн зах зээлийн унэт цааснууд </a:t>
            </a:r>
            <a:r>
              <a:rPr lang="mn-MN" sz="2400" b="1" dirty="0">
                <a:solidFill>
                  <a:srgbClr val="0000FF"/>
                </a:solidFill>
                <a:effectLst/>
                <a:latin typeface="Times New Roman" panose="02020603050405020304" pitchFamily="18" charset="0"/>
                <a:ea typeface="Times New Roman" panose="02020603050405020304" pitchFamily="18" charset="0"/>
              </a:rPr>
              <a:t>: </a:t>
            </a:r>
            <a:r>
              <a:rPr lang="ru-RU" sz="2400" b="1" dirty="0">
                <a:solidFill>
                  <a:srgbClr val="0000FF"/>
                </a:solidFill>
                <a:effectLst/>
                <a:latin typeface="Times New Roman" panose="02020603050405020304" pitchFamily="18" charset="0"/>
                <a:ea typeface="Times New Roman" panose="02020603050405020304" pitchFamily="18" charset="0"/>
              </a:rPr>
              <a:t> </a:t>
            </a:r>
            <a:r>
              <a:rPr lang="kk-KZ" sz="2400" dirty="0">
                <a:solidFill>
                  <a:srgbClr val="231F20"/>
                </a:solidFill>
                <a:effectLst/>
                <a:latin typeface="Times New Roman" panose="02020603050405020304" pitchFamily="18" charset="0"/>
                <a:ea typeface="Times New Roman" panose="02020603050405020304" pitchFamily="18" charset="0"/>
              </a:rPr>
              <a:t>Хөрөнгийн зах зээл нь төрөл бүрийн үнэт цааснуудыг гаргаж арилжаалах замаар эдийн засаг дахь сул чөлөөтөй мөнгөн хөрөнгийг санхүүжилт, хөрөнгө оруултын эх үүсвэр болгон ашиглах боломжийг бүрдүүлж байдаг.</a:t>
            </a:r>
            <a:r>
              <a:rPr lang="mn-MN" sz="2400" dirty="0">
                <a:solidFill>
                  <a:srgbClr val="231F20"/>
                </a:solidFill>
                <a:effectLst/>
                <a:latin typeface="Times New Roman" panose="02020603050405020304" pitchFamily="18" charset="0"/>
                <a:ea typeface="Times New Roman" panose="02020603050405020304" pitchFamily="18" charset="0"/>
              </a:rPr>
              <a:t>.</a:t>
            </a:r>
          </a:p>
          <a:p>
            <a:pPr marL="579438" marR="129540" indent="-342900" algn="just">
              <a:spcBef>
                <a:spcPts val="0"/>
              </a:spcBef>
              <a:spcAft>
                <a:spcPts val="0"/>
              </a:spcAft>
              <a:buFont typeface="+mj-lt"/>
              <a:buAutoNum type="arabicPeriod"/>
            </a:pPr>
            <a:r>
              <a:rPr lang="mn-MN" sz="2400" b="1" dirty="0">
                <a:solidFill>
                  <a:srgbClr val="0000FF"/>
                </a:solidFill>
                <a:latin typeface="Times New Roman" panose="02020603050405020304" pitchFamily="18" charset="0"/>
                <a:cs typeface="Times New Roman" panose="02020603050405020304" pitchFamily="18" charset="0"/>
              </a:rPr>
              <a:t>Корпорацийн бонд</a:t>
            </a:r>
            <a:r>
              <a:rPr lang="en-US" sz="2400" b="1" dirty="0">
                <a:solidFill>
                  <a:srgbClr val="0000FF"/>
                </a:solidFill>
                <a:latin typeface="Times New Roman" panose="02020603050405020304" pitchFamily="18" charset="0"/>
                <a:cs typeface="Times New Roman" panose="02020603050405020304" pitchFamily="18" charset="0"/>
              </a:rPr>
              <a:t>:</a:t>
            </a:r>
            <a:r>
              <a:rPr lang="mn-MN" sz="2400" b="1" dirty="0">
                <a:solidFill>
                  <a:srgbClr val="0000FF"/>
                </a:solidFill>
                <a:latin typeface="Times New Roman" panose="02020603050405020304" pitchFamily="18" charset="0"/>
                <a:cs typeface="Times New Roman" panose="02020603050405020304" pitchFamily="18" charset="0"/>
              </a:rPr>
              <a:t> </a:t>
            </a:r>
          </a:p>
          <a:p>
            <a:pPr marL="579438" marR="129540" indent="-342900" algn="just">
              <a:spcBef>
                <a:spcPts val="0"/>
              </a:spcBef>
              <a:spcAft>
                <a:spcPts val="0"/>
              </a:spcAft>
              <a:buFont typeface="+mj-lt"/>
              <a:buAutoNum type="arabicPeriod"/>
            </a:pPr>
            <a:r>
              <a:rPr lang="mn-MN" sz="2400" b="1" dirty="0">
                <a:solidFill>
                  <a:srgbClr val="0000FF"/>
                </a:solidFill>
                <a:latin typeface="Times New Roman" panose="02020603050405020304" pitchFamily="18" charset="0"/>
                <a:cs typeface="Times New Roman" panose="02020603050405020304" pitchFamily="18" charset="0"/>
              </a:rPr>
              <a:t>Энгийн хувьцаа</a:t>
            </a:r>
            <a:r>
              <a:rPr lang="en-US" sz="2400" b="1" dirty="0">
                <a:solidFill>
                  <a:srgbClr val="0000FF"/>
                </a:solidFill>
                <a:latin typeface="Times New Roman" panose="02020603050405020304" pitchFamily="18" charset="0"/>
                <a:cs typeface="Times New Roman" panose="02020603050405020304" pitchFamily="18" charset="0"/>
              </a:rPr>
              <a:t>: </a:t>
            </a:r>
          </a:p>
          <a:p>
            <a:pPr marL="579438" marR="129540" indent="-342900" algn="just">
              <a:spcBef>
                <a:spcPts val="0"/>
              </a:spcBef>
              <a:spcAft>
                <a:spcPts val="0"/>
              </a:spcAft>
              <a:buFont typeface="+mj-lt"/>
              <a:buAutoNum type="arabicPeriod"/>
            </a:pPr>
            <a:r>
              <a:rPr lang="mn-MN" sz="2400" b="1" dirty="0">
                <a:solidFill>
                  <a:srgbClr val="0000FF"/>
                </a:solidFill>
                <a:latin typeface="Times New Roman" panose="02020603050405020304" pitchFamily="18" charset="0"/>
                <a:cs typeface="Times New Roman" panose="02020603050405020304" pitchFamily="18" charset="0"/>
              </a:rPr>
              <a:t>Давуу эрхтэй хувьцаа :</a:t>
            </a:r>
            <a:endParaRPr lang="en-US" sz="2400" b="1" dirty="0">
              <a:solidFill>
                <a:srgbClr val="0000FF"/>
              </a:solidFill>
              <a:latin typeface="Times New Roman" panose="02020603050405020304" pitchFamily="18" charset="0"/>
              <a:cs typeface="Times New Roman" panose="02020603050405020304" pitchFamily="18" charset="0"/>
            </a:endParaRPr>
          </a:p>
          <a:p>
            <a:pPr marL="236538" marR="129540" indent="0" algn="just">
              <a:spcBef>
                <a:spcPts val="0"/>
              </a:spcBef>
              <a:spcAft>
                <a:spcPts val="0"/>
              </a:spcAft>
              <a:buNone/>
            </a:pPr>
            <a:r>
              <a:rPr lang="mn-MN" sz="2400" dirty="0">
                <a:latin typeface="Times New Roman" panose="02020603050405020304" pitchFamily="18" charset="0"/>
                <a:cs typeface="Times New Roman" panose="02020603050405020304" pitchFamily="18" charset="0"/>
              </a:rPr>
              <a:t>Эдгээрийг 18-30 слайд үзүүлсэн үзүүлсэн.</a:t>
            </a:r>
            <a:endParaRPr lang="mn-M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44345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36412" y="93903"/>
            <a:ext cx="11679817" cy="418652"/>
          </a:xfrm>
        </p:spPr>
        <p:txBody>
          <a:bodyPr>
            <a:noAutofit/>
          </a:bodyPr>
          <a:lstStyle/>
          <a:p>
            <a:r>
              <a:rPr lang="mn-MN" sz="2400" b="1" dirty="0">
                <a:solidFill>
                  <a:srgbClr val="002060"/>
                </a:solidFill>
                <a:latin typeface="Times New Roman" panose="02020603050405020304" pitchFamily="18" charset="0"/>
                <a:cs typeface="Times New Roman" panose="02020603050405020304" pitchFamily="18" charset="0"/>
              </a:rPr>
              <a:t>Зарим сурах бичигт: Хөрөнгө оруулалтын хэрэгсэл</a:t>
            </a:r>
            <a:r>
              <a:rPr lang="en-US" sz="2400" b="1" dirty="0">
                <a:solidFill>
                  <a:srgbClr val="002060"/>
                </a:solidFill>
                <a:latin typeface="Times New Roman" panose="02020603050405020304" pitchFamily="18" charset="0"/>
                <a:cs typeface="Times New Roman" panose="02020603050405020304" pitchFamily="18" charset="0"/>
              </a:rPr>
              <a:t>:</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36413" y="440462"/>
            <a:ext cx="11679815" cy="6091411"/>
          </a:xfrm>
        </p:spPr>
        <p:txBody>
          <a:bodyPr>
            <a:noAutofit/>
          </a:bodyPr>
          <a:lstStyle/>
          <a:p>
            <a:pPr marL="0" marR="129540" indent="0" algn="just">
              <a:spcBef>
                <a:spcPts val="0"/>
              </a:spcBef>
              <a:spcAft>
                <a:spcPts val="0"/>
              </a:spcAft>
              <a:buNone/>
            </a:pPr>
            <a:r>
              <a:rPr lang="ru-RU" sz="2300" b="1" dirty="0">
                <a:solidFill>
                  <a:srgbClr val="0000FF"/>
                </a:solidFill>
                <a:effectLst/>
                <a:latin typeface="Times New Roman" panose="02020603050405020304" pitchFamily="18" charset="0"/>
                <a:ea typeface="Times New Roman" panose="02020603050405020304" pitchFamily="18" charset="0"/>
              </a:rPr>
              <a:t>Үүсмэл үнэт цааснууд</a:t>
            </a:r>
            <a:r>
              <a:rPr lang="mn-MN" sz="2300" b="1" dirty="0">
                <a:solidFill>
                  <a:srgbClr val="0000FF"/>
                </a:solidFill>
                <a:effectLst/>
                <a:latin typeface="Times New Roman" panose="02020603050405020304" pitchFamily="18" charset="0"/>
                <a:ea typeface="Times New Roman" panose="02020603050405020304" pitchFamily="18" charset="0"/>
              </a:rPr>
              <a:t>: </a:t>
            </a:r>
            <a:r>
              <a:rPr lang="ru-RU" sz="2300" b="1" dirty="0">
                <a:solidFill>
                  <a:srgbClr val="0000FF"/>
                </a:solidFill>
                <a:effectLst/>
                <a:latin typeface="Times New Roman" panose="02020603050405020304" pitchFamily="18" charset="0"/>
                <a:ea typeface="Times New Roman" panose="02020603050405020304" pitchFamily="18" charset="0"/>
              </a:rPr>
              <a:t> </a:t>
            </a:r>
            <a:r>
              <a:rPr lang="kk-KZ" sz="2300" dirty="0">
                <a:solidFill>
                  <a:srgbClr val="231F20"/>
                </a:solidFill>
                <a:effectLst/>
                <a:latin typeface="Times New Roman" panose="02020603050405020304" pitchFamily="18" charset="0"/>
                <a:ea typeface="Times New Roman" panose="02020603050405020304" pitchFamily="18" charset="0"/>
              </a:rPr>
              <a:t>Үүсмэл үнэт цаас нь бусад хөрөнгүүдэд үндэслэгдсэн санхүүгийн хэрэгсэл юм. Хэдийгээр энэ нь үнэт цаас хэлбэртэй хөрөнгө хэдий ч уг үнэт цаасыг анх гаргагч нь эргэж хариуцлага хүлээдэггүйгээрээ онцлог юм. Үүсмэл үнэт цааснууд нь хөрөнгө оруулагчдыг ирээдүйн тодорхой эрсдэлээс хамгаалахад тусалдаг. Тухайлбал дараах тохиолдолд эрсдэлээс хамгаалж болно. </a:t>
            </a:r>
          </a:p>
          <a:p>
            <a:pPr marL="457200" marR="129540" indent="-282575" algn="just">
              <a:spcBef>
                <a:spcPts val="0"/>
              </a:spcBef>
              <a:spcAft>
                <a:spcPts val="0"/>
              </a:spcAft>
              <a:buFont typeface="+mj-lt"/>
              <a:buAutoNum type="arabicPeriod"/>
            </a:pPr>
            <a:r>
              <a:rPr lang="kk-KZ" sz="2300" dirty="0">
                <a:solidFill>
                  <a:srgbClr val="231F20"/>
                </a:solidFill>
                <a:effectLst/>
                <a:latin typeface="Times New Roman" panose="02020603050405020304" pitchFamily="18" charset="0"/>
                <a:ea typeface="Times New Roman" panose="02020603050405020304" pitchFamily="18" charset="0"/>
              </a:rPr>
              <a:t>Эцсийн бүтээгдэхүүн үйлдвэрлэхэд ашиглагддаг орцын үнийн өсөлтөөс хамгаалдаг. Тодорхой эрсдэлээс болж орцын үнэ өсөх тохиолдол гарахад үйлдвэрлэлийн зардлаа өсгөхгүй байж болно гэсэн үг. </a:t>
            </a:r>
          </a:p>
          <a:p>
            <a:pPr marL="457200" marR="129540" indent="-282575" algn="just">
              <a:spcBef>
                <a:spcPts val="0"/>
              </a:spcBef>
              <a:spcAft>
                <a:spcPts val="0"/>
              </a:spcAft>
              <a:buFont typeface="+mj-lt"/>
              <a:buAutoNum type="arabicPeriod"/>
            </a:pPr>
            <a:r>
              <a:rPr lang="kk-KZ" sz="2300" dirty="0">
                <a:solidFill>
                  <a:srgbClr val="231F20"/>
                </a:solidFill>
                <a:effectLst/>
                <a:latin typeface="Times New Roman" panose="02020603050405020304" pitchFamily="18" charset="0"/>
                <a:ea typeface="Times New Roman" panose="02020603050405020304" pitchFamily="18" charset="0"/>
              </a:rPr>
              <a:t>Хувьцааны үнийн бууралтаас хөрөнгө оруулагчдыг хамгаалдаг. </a:t>
            </a:r>
          </a:p>
          <a:p>
            <a:pPr marL="457200" marR="129540" indent="-282575" algn="just">
              <a:spcBef>
                <a:spcPts val="0"/>
              </a:spcBef>
              <a:spcAft>
                <a:spcPts val="0"/>
              </a:spcAft>
              <a:buFont typeface="+mj-lt"/>
              <a:buAutoNum type="arabicPeriod"/>
            </a:pPr>
            <a:r>
              <a:rPr lang="kk-KZ" sz="2300" dirty="0">
                <a:solidFill>
                  <a:srgbClr val="231F20"/>
                </a:solidFill>
                <a:effectLst/>
                <a:latin typeface="Times New Roman" panose="02020603050405020304" pitchFamily="18" charset="0"/>
                <a:ea typeface="Times New Roman" panose="02020603050405020304" pitchFamily="18" charset="0"/>
              </a:rPr>
              <a:t>Арилжааны банк бусад санхүүгийн байгууллагуудтай өрсөлдөхийн тулд урт хугацаатай, тогтмол хүүтэй зээлийг санал болгох шаардлагатай болно. Хэрвэ хүүгийн түвшин өсвөл банкинд ашигтай ч алдсан хүүгийн орлогын дүнгэр алдагдсан боломжийн зардал бий болно. </a:t>
            </a:r>
            <a:endParaRPr lang="mn-MN" sz="2300" dirty="0">
              <a:solidFill>
                <a:srgbClr val="231F20"/>
              </a:solidFill>
              <a:effectLst/>
              <a:latin typeface="Times New Roman" panose="02020603050405020304" pitchFamily="18" charset="0"/>
              <a:ea typeface="Times New Roman" panose="02020603050405020304" pitchFamily="18" charset="0"/>
            </a:endParaRPr>
          </a:p>
          <a:p>
            <a:pPr marL="174625" marR="129540" indent="0" algn="just">
              <a:spcBef>
                <a:spcPts val="0"/>
              </a:spcBef>
              <a:spcAft>
                <a:spcPts val="0"/>
              </a:spcAft>
              <a:buNone/>
            </a:pPr>
            <a:r>
              <a:rPr lang="kk-KZ" sz="2300" dirty="0">
                <a:solidFill>
                  <a:srgbClr val="231F20"/>
                </a:solidFill>
                <a:effectLst/>
                <a:latin typeface="Times New Roman" panose="02020603050405020304" pitchFamily="18" charset="0"/>
                <a:ea typeface="Times New Roman" panose="02020603050405020304" pitchFamily="18" charset="0"/>
              </a:rPr>
              <a:t>Эдгээр санхүүгийн бүхий л эрсдэлүүдийг үүсмэл үнэт цааснуудыг ашиглах замаар бууруулах боломжтой. Үүсмэл үнэт цаасны дараах үндсэн төрлүүд байна</a:t>
            </a:r>
          </a:p>
          <a:p>
            <a:pPr marL="0" marR="129540" indent="0" algn="just">
              <a:spcBef>
                <a:spcPts val="0"/>
              </a:spcBef>
              <a:spcAft>
                <a:spcPts val="0"/>
              </a:spcAft>
              <a:buNone/>
            </a:pPr>
            <a:r>
              <a:rPr lang="mn-MN" sz="2300" b="1" dirty="0">
                <a:solidFill>
                  <a:srgbClr val="231F20"/>
                </a:solidFill>
                <a:effectLst/>
                <a:latin typeface="Times New Roman" panose="02020603050405020304" pitchFamily="18" charset="0"/>
                <a:ea typeface="Times New Roman" panose="02020603050405020304" pitchFamily="18" charset="0"/>
              </a:rPr>
              <a:t>Дотор 3 төрөл байна.</a:t>
            </a:r>
          </a:p>
        </p:txBody>
      </p:sp>
    </p:spTree>
    <p:extLst>
      <p:ext uri="{BB962C8B-B14F-4D97-AF65-F5344CB8AC3E}">
        <p14:creationId xmlns:p14="http://schemas.microsoft.com/office/powerpoint/2010/main" val="871757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36412" y="93903"/>
            <a:ext cx="11679817" cy="418652"/>
          </a:xfrm>
        </p:spPr>
        <p:txBody>
          <a:bodyPr>
            <a:noAutofit/>
          </a:bodyPr>
          <a:lstStyle/>
          <a:p>
            <a:r>
              <a:rPr lang="mn-MN" sz="2400" b="1" dirty="0">
                <a:solidFill>
                  <a:srgbClr val="002060"/>
                </a:solidFill>
                <a:latin typeface="Times New Roman" panose="02020603050405020304" pitchFamily="18" charset="0"/>
                <a:cs typeface="Times New Roman" panose="02020603050405020304" pitchFamily="18" charset="0"/>
              </a:rPr>
              <a:t>Зарим сурах бичигт: Хөрөнгө оруулалтын хэрэгсэл</a:t>
            </a:r>
            <a:r>
              <a:rPr lang="en-US" sz="2400" b="1" dirty="0">
                <a:solidFill>
                  <a:srgbClr val="002060"/>
                </a:solidFill>
                <a:latin typeface="Times New Roman" panose="02020603050405020304" pitchFamily="18" charset="0"/>
                <a:cs typeface="Times New Roman" panose="02020603050405020304" pitchFamily="18" charset="0"/>
              </a:rPr>
              <a:t>:</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36413" y="440462"/>
            <a:ext cx="11679815" cy="6091411"/>
          </a:xfrm>
        </p:spPr>
        <p:txBody>
          <a:bodyPr>
            <a:noAutofit/>
          </a:bodyPr>
          <a:lstStyle/>
          <a:p>
            <a:pPr marL="0" marR="129540" indent="0" algn="just">
              <a:spcBef>
                <a:spcPts val="0"/>
              </a:spcBef>
              <a:spcAft>
                <a:spcPts val="0"/>
              </a:spcAft>
              <a:buNone/>
            </a:pPr>
            <a:r>
              <a:rPr lang="ru-RU" sz="2200" b="1" dirty="0">
                <a:solidFill>
                  <a:srgbClr val="0000FF"/>
                </a:solidFill>
                <a:effectLst/>
                <a:latin typeface="Times New Roman" panose="02020603050405020304" pitchFamily="18" charset="0"/>
                <a:ea typeface="Times New Roman" panose="02020603050405020304" pitchFamily="18" charset="0"/>
              </a:rPr>
              <a:t>Үүсмэл үнэт цааснууд</a:t>
            </a:r>
            <a:r>
              <a:rPr lang="mn-MN" sz="2200" b="1" dirty="0">
                <a:solidFill>
                  <a:srgbClr val="0000FF"/>
                </a:solidFill>
                <a:effectLst/>
                <a:latin typeface="Times New Roman" panose="02020603050405020304" pitchFamily="18" charset="0"/>
                <a:ea typeface="Times New Roman" panose="02020603050405020304" pitchFamily="18" charset="0"/>
              </a:rPr>
              <a:t>: </a:t>
            </a:r>
            <a:r>
              <a:rPr lang="mn-MN" sz="2200" dirty="0">
                <a:solidFill>
                  <a:srgbClr val="231F20"/>
                </a:solidFill>
                <a:effectLst/>
                <a:latin typeface="Times New Roman" panose="02020603050405020304" pitchFamily="18" charset="0"/>
                <a:ea typeface="Times New Roman" panose="02020603050405020304" pitchFamily="18" charset="0"/>
              </a:rPr>
              <a:t>Дотор 3 төрөл байна.</a:t>
            </a:r>
          </a:p>
          <a:p>
            <a:pPr marL="406400" marR="129540" indent="-406400" algn="just">
              <a:spcBef>
                <a:spcPts val="0"/>
              </a:spcBef>
              <a:spcAft>
                <a:spcPts val="0"/>
              </a:spcAft>
              <a:buFont typeface="+mj-lt"/>
              <a:buAutoNum type="arabicPeriod"/>
            </a:pPr>
            <a:r>
              <a:rPr lang="mn-MN" sz="2200" b="1" dirty="0">
                <a:solidFill>
                  <a:srgbClr val="0000FF"/>
                </a:solidFill>
                <a:latin typeface="Times New Roman" panose="02020603050405020304" pitchFamily="18" charset="0"/>
                <a:cs typeface="Times New Roman" panose="02020603050405020304" pitchFamily="18" charset="0"/>
              </a:rPr>
              <a:t>Фьючерс: </a:t>
            </a:r>
            <a:r>
              <a:rPr lang="mn-MN" sz="2200" dirty="0">
                <a:latin typeface="Times New Roman" panose="02020603050405020304" pitchFamily="18" charset="0"/>
                <a:cs typeface="Times New Roman" panose="02020603050405020304" pitchFamily="18" charset="0"/>
              </a:rPr>
              <a:t>Фьючерс гэрээ гэдэг нь бараа бүтээгдэхүүн эсвэл санхүүгийн хэрэгслийг ирээдүйд солилцох гэрээ юм. Тодорхой нэг хөрөнгийг тогтсон тоо хэмжээгээр ирээдүйн тодорхой нэг хугацаанд урьдчилан тохиролцсон үнээр солилцох гэрээг фьючерс гэрээ гэж нэрлэдэг. Фьючерс гэрээнд хөрөнгө худалдахыг худалдагч тал нь, мөн худалдан авахыг худалдан авагч тал нь зэрэг хүлээн зөвшөөрдөг. Фьючерс гэрээнүүд нь зохион байгуулалттай арилжаагаар худалдаалагддаг. Өөрөөр хэлбэл биржийн арилжаагаар худалдаалагдана гэсэн үг.</a:t>
            </a:r>
          </a:p>
          <a:p>
            <a:pPr marL="342900" marR="129540" indent="-342900" algn="just">
              <a:spcBef>
                <a:spcPts val="0"/>
              </a:spcBef>
              <a:spcAft>
                <a:spcPts val="0"/>
              </a:spcAft>
              <a:buFont typeface="+mj-lt"/>
              <a:buAutoNum type="arabicPeriod"/>
            </a:pPr>
            <a:r>
              <a:rPr lang="mn-MN" sz="2200" b="1" dirty="0">
                <a:solidFill>
                  <a:srgbClr val="0000FF"/>
                </a:solidFill>
                <a:latin typeface="Times New Roman" panose="02020603050405020304" pitchFamily="18" charset="0"/>
                <a:cs typeface="Times New Roman" panose="02020603050405020304" pitchFamily="18" charset="0"/>
              </a:rPr>
              <a:t>Опцион гэрээ: </a:t>
            </a:r>
            <a:r>
              <a:rPr lang="mn-MN" sz="2200" dirty="0">
                <a:latin typeface="Times New Roman" panose="02020603050405020304" pitchFamily="18" charset="0"/>
                <a:cs typeface="Times New Roman" panose="02020603050405020304" pitchFamily="18" charset="0"/>
              </a:rPr>
              <a:t>Опцион гэрээ гэдэг нь тодорхой нэг хөрөнгийг өнөөдрийн үнээр ирээдүйн өдөрт худалдан авах эсвэл худалдах эрхтэйг тохиролцсон арилжааны гэрээний нэг төрөл юм. Фьючерсийг худалдан авагчаас опцион худалдан авагчдын хувьд ялгаатай тал нь ямар нэгэн үйл явдал болоход эсвэл дуусах хугацаанаас өмнө хүлээх үүрэггүй байна. Хэрвээ худалдан авах эрхийг тохиролцсон байвал колл опцион /</a:t>
            </a:r>
            <a:r>
              <a:rPr lang="en-US" sz="2200" dirty="0">
                <a:latin typeface="Times New Roman" panose="02020603050405020304" pitchFamily="18" charset="0"/>
                <a:cs typeface="Times New Roman" panose="02020603050405020304" pitchFamily="18" charset="0"/>
              </a:rPr>
              <a:t>Call option/ </a:t>
            </a:r>
            <a:r>
              <a:rPr lang="mn-MN" sz="2200" dirty="0">
                <a:latin typeface="Times New Roman" panose="02020603050405020304" pitchFamily="18" charset="0"/>
                <a:cs typeface="Times New Roman" panose="02020603050405020304" pitchFamily="18" charset="0"/>
              </a:rPr>
              <a:t>гэж нэрлэдэг. Харин худалдах эрхийг тохиролцохыг пут опцион /</a:t>
            </a:r>
            <a:r>
              <a:rPr lang="en-US" sz="2200" dirty="0">
                <a:latin typeface="Times New Roman" panose="02020603050405020304" pitchFamily="18" charset="0"/>
                <a:cs typeface="Times New Roman" panose="02020603050405020304" pitchFamily="18" charset="0"/>
              </a:rPr>
              <a:t>Put option/ </a:t>
            </a:r>
            <a:r>
              <a:rPr lang="mn-MN" sz="2200" dirty="0">
                <a:latin typeface="Times New Roman" panose="02020603050405020304" pitchFamily="18" charset="0"/>
                <a:cs typeface="Times New Roman" panose="02020603050405020304" pitchFamily="18" charset="0"/>
              </a:rPr>
              <a:t>гэж нэрлэдэг. Үнэ хурдан өөрчлөгдөх тохиолдолд худалдагч эсвэл худалдан авагчийн аль нэг нь эрсдэл хүлээдэг. Опцион худалдан авагч нь худалдан авах эсвэл төлбөрийг төлснөөр худалдах эрхийг олж авдаг. Зах зээлд оролцогчид опцион зах зээлд ялгаатай 4 үүрэгтэйгээр оролцдог. </a:t>
            </a:r>
          </a:p>
          <a:p>
            <a:pPr marL="739775" marR="129540" indent="0" algn="just">
              <a:spcBef>
                <a:spcPts val="0"/>
              </a:spcBef>
              <a:spcAft>
                <a:spcPts val="0"/>
              </a:spcAft>
              <a:buNone/>
            </a:pPr>
            <a:r>
              <a:rPr lang="mn-MN" sz="2200" dirty="0">
                <a:latin typeface="Times New Roman" panose="02020603050405020304" pitchFamily="18" charset="0"/>
                <a:cs typeface="Times New Roman" panose="02020603050405020304" pitchFamily="18" charset="0"/>
              </a:rPr>
              <a:t>1. Худалдах саналыг хүлээн авч хөрөнгө худалдан авах эрхийг олж авах </a:t>
            </a:r>
          </a:p>
          <a:p>
            <a:pPr marL="739775" marR="129540" indent="0" algn="just">
              <a:spcBef>
                <a:spcPts val="0"/>
              </a:spcBef>
              <a:spcAft>
                <a:spcPts val="0"/>
              </a:spcAft>
              <a:buNone/>
            </a:pPr>
            <a:r>
              <a:rPr lang="mn-MN" sz="2200" dirty="0">
                <a:latin typeface="Times New Roman" panose="02020603050405020304" pitchFamily="18" charset="0"/>
                <a:cs typeface="Times New Roman" panose="02020603050405020304" pitchFamily="18" charset="0"/>
              </a:rPr>
              <a:t>2. Худалдах саналыг бичиж хөрөнгө худалдах үүрэг амлалтыг гаргах </a:t>
            </a:r>
          </a:p>
          <a:p>
            <a:pPr marL="739775" marR="129540" indent="0" algn="just">
              <a:spcBef>
                <a:spcPts val="0"/>
              </a:spcBef>
              <a:spcAft>
                <a:spcPts val="0"/>
              </a:spcAft>
              <a:buNone/>
            </a:pPr>
            <a:r>
              <a:rPr lang="mn-MN" sz="2200" dirty="0">
                <a:latin typeface="Times New Roman" panose="02020603050405020304" pitchFamily="18" charset="0"/>
                <a:cs typeface="Times New Roman" panose="02020603050405020304" pitchFamily="18" charset="0"/>
              </a:rPr>
              <a:t>3. Худалдан авч, хөрөнгийг худалдах эрхийг олж авах </a:t>
            </a:r>
          </a:p>
          <a:p>
            <a:pPr marL="739775" marR="129540" indent="0" algn="just">
              <a:spcBef>
                <a:spcPts val="0"/>
              </a:spcBef>
              <a:spcAft>
                <a:spcPts val="0"/>
              </a:spcAft>
              <a:buNone/>
            </a:pPr>
            <a:r>
              <a:rPr lang="mn-MN" sz="2200" dirty="0">
                <a:latin typeface="Times New Roman" panose="02020603050405020304" pitchFamily="18" charset="0"/>
                <a:cs typeface="Times New Roman" panose="02020603050405020304" pitchFamily="18" charset="0"/>
              </a:rPr>
              <a:t>4. Худалдан авахыг бичиж хөрөнгө худалдан авах үүрэг, амлалтыг гаргах болно. </a:t>
            </a:r>
          </a:p>
        </p:txBody>
      </p:sp>
    </p:spTree>
    <p:extLst>
      <p:ext uri="{BB962C8B-B14F-4D97-AF65-F5344CB8AC3E}">
        <p14:creationId xmlns:p14="http://schemas.microsoft.com/office/powerpoint/2010/main" val="3051066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36412" y="93903"/>
            <a:ext cx="11679817" cy="418652"/>
          </a:xfrm>
        </p:spPr>
        <p:txBody>
          <a:bodyPr>
            <a:noAutofit/>
          </a:bodyPr>
          <a:lstStyle/>
          <a:p>
            <a:r>
              <a:rPr lang="mn-MN" sz="2400" b="1" dirty="0">
                <a:solidFill>
                  <a:srgbClr val="002060"/>
                </a:solidFill>
                <a:latin typeface="Times New Roman" panose="02020603050405020304" pitchFamily="18" charset="0"/>
                <a:cs typeface="Times New Roman" panose="02020603050405020304" pitchFamily="18" charset="0"/>
              </a:rPr>
              <a:t>Зарим сурах бичигт: Хөрөнгө оруулалтын хэрэгсэл</a:t>
            </a:r>
            <a:r>
              <a:rPr lang="en-US" sz="2400" b="1" dirty="0">
                <a:solidFill>
                  <a:srgbClr val="002060"/>
                </a:solidFill>
                <a:latin typeface="Times New Roman" panose="02020603050405020304" pitchFamily="18" charset="0"/>
                <a:cs typeface="Times New Roman" panose="02020603050405020304" pitchFamily="18" charset="0"/>
              </a:rPr>
              <a:t>:</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36413" y="440462"/>
            <a:ext cx="11679815" cy="6091411"/>
          </a:xfrm>
        </p:spPr>
        <p:txBody>
          <a:bodyPr>
            <a:noAutofit/>
          </a:bodyPr>
          <a:lstStyle/>
          <a:p>
            <a:pPr marL="0" marR="129540" indent="0" algn="just">
              <a:spcBef>
                <a:spcPts val="0"/>
              </a:spcBef>
              <a:spcAft>
                <a:spcPts val="0"/>
              </a:spcAft>
              <a:buNone/>
            </a:pPr>
            <a:r>
              <a:rPr lang="ru-RU" sz="2200" b="1" dirty="0">
                <a:solidFill>
                  <a:srgbClr val="0000FF"/>
                </a:solidFill>
                <a:effectLst/>
                <a:latin typeface="Times New Roman" panose="02020603050405020304" pitchFamily="18" charset="0"/>
                <a:ea typeface="Times New Roman" panose="02020603050405020304" pitchFamily="18" charset="0"/>
              </a:rPr>
              <a:t>Үүсмэл үнэт цааснууд</a:t>
            </a:r>
            <a:r>
              <a:rPr lang="mn-MN" sz="2200" b="1" dirty="0">
                <a:solidFill>
                  <a:srgbClr val="0000FF"/>
                </a:solidFill>
                <a:effectLst/>
                <a:latin typeface="Times New Roman" panose="02020603050405020304" pitchFamily="18" charset="0"/>
                <a:ea typeface="Times New Roman" panose="02020603050405020304" pitchFamily="18" charset="0"/>
              </a:rPr>
              <a:t>: </a:t>
            </a:r>
            <a:r>
              <a:rPr lang="mn-MN" sz="2200" dirty="0">
                <a:solidFill>
                  <a:srgbClr val="231F20"/>
                </a:solidFill>
                <a:effectLst/>
                <a:latin typeface="Times New Roman" panose="02020603050405020304" pitchFamily="18" charset="0"/>
                <a:ea typeface="Times New Roman" panose="02020603050405020304" pitchFamily="18" charset="0"/>
              </a:rPr>
              <a:t>Дотор 3 төрөл байна.</a:t>
            </a:r>
          </a:p>
          <a:p>
            <a:pPr marL="457200" marR="129540" indent="-457200" algn="just">
              <a:spcBef>
                <a:spcPts val="0"/>
              </a:spcBef>
              <a:spcAft>
                <a:spcPts val="0"/>
              </a:spcAft>
              <a:buFont typeface="+mj-lt"/>
              <a:buAutoNum type="arabicPeriod" startAt="3"/>
            </a:pPr>
            <a:r>
              <a:rPr lang="mn-MN" sz="2200" b="1" dirty="0">
                <a:solidFill>
                  <a:srgbClr val="0000FF"/>
                </a:solidFill>
                <a:latin typeface="Times New Roman" panose="02020603050405020304" pitchFamily="18" charset="0"/>
                <a:cs typeface="Times New Roman" panose="02020603050405020304" pitchFamily="18" charset="0"/>
              </a:rPr>
              <a:t>Своп гэрээ: </a:t>
            </a:r>
            <a:r>
              <a:rPr lang="mn-MN" sz="2200" dirty="0">
                <a:latin typeface="Times New Roman" panose="02020603050405020304" pitchFamily="18" charset="0"/>
                <a:cs typeface="Times New Roman" panose="02020603050405020304" pitchFamily="18" charset="0"/>
              </a:rPr>
              <a:t>Своп гэрээ нь гадаад валютын эрсдэл болон хүүгийн түвшний эрсдэлийг удирдахад ашиглагддаг. Арилжааны банкны урт хугацаатай, тогтмол хүүтэй зээлүүд нь хүүгийн нормын своп гэрээгээр дамжуулан зах зээлийн нөхцөл байдлыг дагаж өөрчлөгдөх мөнгөн урсгалууд, эдгээр зах зээлүүдээс олох хүүний орлогыг өөрчилж болдог. </a:t>
            </a:r>
          </a:p>
          <a:p>
            <a:pPr marL="0" marR="129540" indent="0" algn="just">
              <a:spcBef>
                <a:spcPts val="0"/>
              </a:spcBef>
              <a:spcAft>
                <a:spcPts val="0"/>
              </a:spcAft>
              <a:buNone/>
            </a:pPr>
            <a:endParaRPr lang="mn-MN" sz="2200" b="1" dirty="0">
              <a:solidFill>
                <a:srgbClr val="0000FF"/>
              </a:solidFill>
              <a:latin typeface="Times New Roman" panose="02020603050405020304" pitchFamily="18" charset="0"/>
              <a:cs typeface="Times New Roman" panose="02020603050405020304" pitchFamily="18" charset="0"/>
            </a:endParaRPr>
          </a:p>
          <a:p>
            <a:pPr marL="0" marR="129540" indent="0" algn="just">
              <a:spcBef>
                <a:spcPts val="0"/>
              </a:spcBef>
              <a:spcAft>
                <a:spcPts val="0"/>
              </a:spcAft>
              <a:buNone/>
            </a:pPr>
            <a:r>
              <a:rPr lang="mn-MN" sz="2200" b="1" dirty="0">
                <a:solidFill>
                  <a:srgbClr val="0000FF"/>
                </a:solidFill>
                <a:latin typeface="Times New Roman" panose="02020603050405020304" pitchFamily="18" charset="0"/>
                <a:cs typeface="Times New Roman" panose="02020603050405020304" pitchFamily="18" charset="0"/>
              </a:rPr>
              <a:t>Үнэт цаасны зах зээлийн ангилал </a:t>
            </a:r>
          </a:p>
          <a:p>
            <a:pPr marL="0" marR="129540" indent="0" algn="just">
              <a:spcBef>
                <a:spcPts val="0"/>
              </a:spcBef>
              <a:spcAft>
                <a:spcPts val="0"/>
              </a:spcAft>
              <a:buNone/>
            </a:pPr>
            <a:r>
              <a:rPr lang="mn-MN" sz="2200" dirty="0">
                <a:latin typeface="Times New Roman" panose="02020603050405020304" pitchFamily="18" charset="0"/>
                <a:cs typeface="Times New Roman" panose="02020603050405020304" pitchFamily="18" charset="0"/>
              </a:rPr>
              <a:t>Үнэт цаасны зах зээлийг </a:t>
            </a:r>
            <a:r>
              <a:rPr lang="mn-MN" sz="2200" b="1" dirty="0">
                <a:latin typeface="Times New Roman" panose="02020603050405020304" pitchFamily="18" charset="0"/>
                <a:cs typeface="Times New Roman" panose="02020603050405020304" pitchFamily="18" charset="0"/>
              </a:rPr>
              <a:t>анхдагч болон хоёрдогч зах зээл </a:t>
            </a:r>
            <a:r>
              <a:rPr lang="mn-MN" sz="2200" dirty="0">
                <a:latin typeface="Times New Roman" panose="02020603050405020304" pitchFamily="18" charset="0"/>
                <a:cs typeface="Times New Roman" panose="02020603050405020304" pitchFamily="18" charset="0"/>
              </a:rPr>
              <a:t>гэж ангилж авч үздэг. </a:t>
            </a:r>
          </a:p>
          <a:p>
            <a:pPr marL="0" marR="129540" indent="0" algn="just">
              <a:spcBef>
                <a:spcPts val="0"/>
              </a:spcBef>
              <a:spcAft>
                <a:spcPts val="0"/>
              </a:spcAft>
              <a:buNone/>
            </a:pPr>
            <a:r>
              <a:rPr lang="mn-MN" sz="2200" b="1" dirty="0">
                <a:solidFill>
                  <a:srgbClr val="0000FF"/>
                </a:solidFill>
                <a:latin typeface="Times New Roman" panose="02020603050405020304" pitchFamily="18" charset="0"/>
                <a:cs typeface="Times New Roman" panose="02020603050405020304" pitchFamily="18" charset="0"/>
              </a:rPr>
              <a:t>Анхдагч зах зээл: </a:t>
            </a:r>
            <a:r>
              <a:rPr lang="mn-MN" sz="2200" dirty="0">
                <a:latin typeface="Times New Roman" panose="02020603050405020304" pitchFamily="18" charset="0"/>
                <a:cs typeface="Times New Roman" panose="02020603050405020304" pitchFamily="18" charset="0"/>
              </a:rPr>
              <a:t>гэдэг нь анх удаа шинэ үнэт цаасыг гаргаж арилжаалж байгаа зах зээл юм. Өөрөөр хэлбэл шинэ үнэт цаасыг гаргаж арилжаалан хөрөнгийн шинэ эх үүсвэр дайчлах зах зээл юм. </a:t>
            </a:r>
            <a:r>
              <a:rPr lang="mn-MN" sz="2200" b="1" dirty="0">
                <a:latin typeface="Times New Roman" panose="02020603050405020304" pitchFamily="18" charset="0"/>
                <a:cs typeface="Times New Roman" panose="02020603050405020304" pitchFamily="18" charset="0"/>
              </a:rPr>
              <a:t>Анхдагч зах зээл дээр хөрөнгө босгох буюу үнэт цаасыг худалдах 3 арга байдаг. </a:t>
            </a:r>
          </a:p>
          <a:p>
            <a:pPr marL="0" marR="129540" indent="0" algn="just">
              <a:spcBef>
                <a:spcPts val="0"/>
              </a:spcBef>
              <a:spcAft>
                <a:spcPts val="0"/>
              </a:spcAft>
              <a:buNone/>
            </a:pPr>
            <a:endParaRPr lang="mn-M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16718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36412" y="93902"/>
            <a:ext cx="11679817" cy="750160"/>
          </a:xfrm>
        </p:spPr>
        <p:txBody>
          <a:bodyPr>
            <a:noAutofit/>
          </a:bodyPr>
          <a:lstStyle/>
          <a:p>
            <a:r>
              <a:rPr lang="mn-MN" sz="2400" b="1" dirty="0">
                <a:solidFill>
                  <a:srgbClr val="002060"/>
                </a:solidFill>
                <a:latin typeface="Times New Roman" panose="02020603050405020304" pitchFamily="18" charset="0"/>
                <a:cs typeface="Times New Roman" panose="02020603050405020304" pitchFamily="18" charset="0"/>
              </a:rPr>
              <a:t>Зарим сурах бичигт: Анхдагч зах зээл дээр хөрөнгө босгох, үнэт цаасыг худалдах арга</a:t>
            </a:r>
            <a:endParaRPr lang="en-US" sz="2400" b="1" dirty="0">
              <a:solidFill>
                <a:srgbClr val="0000FF"/>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67F00AF-45C8-47B3-9BF3-B4CF15189E80}"/>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p:blipFill>
        <p:spPr>
          <a:xfrm>
            <a:off x="236412" y="1037771"/>
            <a:ext cx="6120845" cy="5726326"/>
          </a:xfrm>
          <a:prstGeom prst="rect">
            <a:avLst/>
          </a:prstGeom>
        </p:spPr>
      </p:pic>
      <p:sp>
        <p:nvSpPr>
          <p:cNvPr id="8" name="Title 1">
            <a:extLst>
              <a:ext uri="{FF2B5EF4-FFF2-40B4-BE49-F238E27FC236}">
                <a16:creationId xmlns:a16="http://schemas.microsoft.com/office/drawing/2014/main" id="{5EAC8C2D-19E7-4472-B38E-951A2F425B89}"/>
              </a:ext>
            </a:extLst>
          </p:cNvPr>
          <p:cNvSpPr txBox="1">
            <a:spLocks/>
          </p:cNvSpPr>
          <p:nvPr/>
        </p:nvSpPr>
        <p:spPr>
          <a:xfrm>
            <a:off x="6633029" y="659960"/>
            <a:ext cx="5322560" cy="57263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mn-MN" sz="1800" b="1" dirty="0">
                <a:solidFill>
                  <a:srgbClr val="0000FF"/>
                </a:solidFill>
                <a:latin typeface="Times New Roman" panose="02020603050405020304" pitchFamily="18" charset="0"/>
                <a:cs typeface="Times New Roman" panose="02020603050405020304" pitchFamily="18" charset="0"/>
              </a:rPr>
              <a:t>Нэгдүгээр арга нь </a:t>
            </a:r>
            <a:r>
              <a:rPr lang="mn-MN" sz="1800" dirty="0">
                <a:latin typeface="Times New Roman" panose="02020603050405020304" pitchFamily="18" charset="0"/>
                <a:cs typeface="Times New Roman" panose="02020603050405020304" pitchFamily="18" charset="0"/>
              </a:rPr>
              <a:t>компаниас үнэт цаасыг гаргаж шууд хөрөнгө оруулагчдад худалдан борлуулж мөнгөн хөрөнгө дайчлах арга юм. </a:t>
            </a:r>
            <a:r>
              <a:rPr lang="mn-MN" sz="1800" b="1" dirty="0">
                <a:solidFill>
                  <a:srgbClr val="0000FF"/>
                </a:solidFill>
                <a:latin typeface="Times New Roman" panose="02020603050405020304" pitchFamily="18" charset="0"/>
                <a:cs typeface="Times New Roman" panose="02020603050405020304" pitchFamily="18" charset="0"/>
              </a:rPr>
              <a:t>Хоёрдугаар арга нь</a:t>
            </a:r>
            <a:r>
              <a:rPr lang="mn-MN" sz="1800" dirty="0">
                <a:latin typeface="Times New Roman" panose="02020603050405020304" pitchFamily="18" charset="0"/>
                <a:cs typeface="Times New Roman" panose="02020603050405020304" pitchFamily="18" charset="0"/>
              </a:rPr>
              <a:t> хөрөнгө оруулагчдаас хөрөнгө татан төвлөрүүлсэн санхүүгийн байгууллагуудаар дамжуулан хөрөнгийн үүсвэр олж авах арга болно. Өөрөөр хэлбэл санхүүгийн байгууллагуудаас зээл авах /өрийн бичиг гаргах/ хэлбэр юм. </a:t>
            </a:r>
          </a:p>
          <a:p>
            <a:pPr algn="just"/>
            <a:r>
              <a:rPr lang="mn-MN" sz="1800" b="1" dirty="0">
                <a:solidFill>
                  <a:srgbClr val="0000FF"/>
                </a:solidFill>
                <a:latin typeface="Times New Roman" panose="02020603050405020304" pitchFamily="18" charset="0"/>
                <a:cs typeface="Times New Roman" panose="02020603050405020304" pitchFamily="18" charset="0"/>
              </a:rPr>
              <a:t>Гуравдугаар арга нь </a:t>
            </a:r>
            <a:r>
              <a:rPr lang="mn-MN" sz="1800" dirty="0">
                <a:latin typeface="Times New Roman" panose="02020603050405020304" pitchFamily="18" charset="0"/>
                <a:cs typeface="Times New Roman" panose="02020603050405020304" pitchFamily="18" charset="0"/>
              </a:rPr>
              <a:t>хөрөнгө оруулалтын банкаар дамжуулан үнэт цаас гаргаж хөрөнгийн эх үүсвэр олж авах арга юм. Хөрөнгө оруулалтын банк нь корпорациас гаргасан үнэт цааснуудыг худалдан авч, хөрөнгө оруулагчдад илүү өндөр үнээр худалддаг. Үнэт цаас гаргагчаас нэрлэсэн үнээс нь доогуур буюу хөнгөлөлттэй үнээр бөөнөөр худалдан аваад хөрөнгө оруулагчдад нэрлэсэн үнээр нь буцаан худалдана. Ийнхүү гаргагчаас үнэт цаас худалдан аваад хөрөнгө оруулагчдад дахин худалдах явдлыг </a:t>
            </a:r>
            <a:r>
              <a:rPr lang="mn-MN" sz="1800" b="1" dirty="0">
                <a:solidFill>
                  <a:srgbClr val="0000FF"/>
                </a:solidFill>
                <a:latin typeface="Times New Roman" panose="02020603050405020304" pitchFamily="18" charset="0"/>
                <a:cs typeface="Times New Roman" panose="02020603050405020304" pitchFamily="18" charset="0"/>
              </a:rPr>
              <a:t>андеррайтингийн ажиллагаа гэж </a:t>
            </a:r>
            <a:r>
              <a:rPr lang="mn-MN" sz="1800" dirty="0">
                <a:latin typeface="Times New Roman" panose="02020603050405020304" pitchFamily="18" charset="0"/>
                <a:cs typeface="Times New Roman" panose="02020603050405020304" pitchFamily="18" charset="0"/>
              </a:rPr>
              <a:t>нэрлэдэг. Иймд хөрөнгө оруулалтын банкны гол үйл ажиллагаа андеррайтингийн үйл ажиллагаа байдаг. </a:t>
            </a:r>
          </a:p>
        </p:txBody>
      </p:sp>
    </p:spTree>
    <p:extLst>
      <p:ext uri="{BB962C8B-B14F-4D97-AF65-F5344CB8AC3E}">
        <p14:creationId xmlns:p14="http://schemas.microsoft.com/office/powerpoint/2010/main" val="42445753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11810" y="512555"/>
            <a:ext cx="11743777" cy="1867788"/>
          </a:xfrm>
        </p:spPr>
        <p:txBody>
          <a:bodyPr>
            <a:noAutofit/>
          </a:bodyPr>
          <a:lstStyle/>
          <a:p>
            <a:r>
              <a:rPr lang="mn-MN" sz="2000" b="1" dirty="0">
                <a:solidFill>
                  <a:srgbClr val="0000FF"/>
                </a:solidFill>
                <a:latin typeface="Times New Roman" panose="02020603050405020304" pitchFamily="18" charset="0"/>
                <a:cs typeface="Times New Roman" panose="02020603050405020304" pitchFamily="18" charset="0"/>
              </a:rPr>
              <a:t>Хоёрдогч зах зээл: </a:t>
            </a:r>
            <a:r>
              <a:rPr lang="mn-MN" sz="2000" dirty="0">
                <a:solidFill>
                  <a:srgbClr val="002060"/>
                </a:solidFill>
                <a:latin typeface="Times New Roman" panose="02020603050405020304" pitchFamily="18" charset="0"/>
                <a:cs typeface="Times New Roman" panose="02020603050405020304" pitchFamily="18" charset="0"/>
              </a:rPr>
              <a:t>Хоёрдогч зах зээл гэдэг нь анхдагч зах зээл дээр гаргасан үнэт цааснуудыг арилжаалж дууссаны дараа хөрөнгө оруулагчид өөр хоорондоо дахин худалдаалж байдаг зах зээл юм. Энэ зах зээл нь шинэ хөрөнгийг өсгөхгүй бөгөөд үнэт цаасыг гаргагч нь борлуулалтаас шууд ашиг олдоггүй. Хоёрдогч зах зээл нь хамгийн идэвхтэй арилжаа хийгддэг зах зээл бөгөөд арилжааны ихэнх хувийг эзэлдэг том зах зээл юм. Үнэт цаасны зах зээлийг зохион байгуулалтын хэлбэрийн хувьд 2 ангилж авч үздэг.</a:t>
            </a:r>
            <a:br>
              <a:rPr lang="mn-MN" sz="2000" dirty="0">
                <a:solidFill>
                  <a:srgbClr val="002060"/>
                </a:solidFill>
                <a:latin typeface="Times New Roman" panose="02020603050405020304" pitchFamily="18" charset="0"/>
                <a:cs typeface="Times New Roman" panose="02020603050405020304" pitchFamily="18" charset="0"/>
              </a:rPr>
            </a:br>
            <a:r>
              <a:rPr lang="mn-MN" sz="2000" dirty="0">
                <a:solidFill>
                  <a:srgbClr val="002060"/>
                </a:solidFill>
                <a:latin typeface="Times New Roman" panose="02020603050405020304" pitchFamily="18" charset="0"/>
                <a:cs typeface="Times New Roman" panose="02020603050405020304" pitchFamily="18" charset="0"/>
              </a:rPr>
              <a:t>     </a:t>
            </a:r>
            <a:r>
              <a:rPr lang="mn-MN" sz="2000" b="1" dirty="0">
                <a:solidFill>
                  <a:srgbClr val="0000FF"/>
                </a:solidFill>
                <a:latin typeface="Times New Roman" panose="02020603050405020304" pitchFamily="18" charset="0"/>
                <a:cs typeface="Times New Roman" panose="02020603050405020304" pitchFamily="18" charset="0"/>
              </a:rPr>
              <a:t>1.</a:t>
            </a:r>
            <a:r>
              <a:rPr lang="mn-MN" sz="2000" dirty="0">
                <a:solidFill>
                  <a:srgbClr val="002060"/>
                </a:solidFill>
                <a:latin typeface="Times New Roman" panose="02020603050405020304" pitchFamily="18" charset="0"/>
                <a:cs typeface="Times New Roman" panose="02020603050405020304" pitchFamily="18" charset="0"/>
              </a:rPr>
              <a:t>  Биржийн зах зээл</a:t>
            </a:r>
            <a:br>
              <a:rPr lang="mn-MN" sz="2000" dirty="0">
                <a:solidFill>
                  <a:srgbClr val="002060"/>
                </a:solidFill>
                <a:latin typeface="Times New Roman" panose="02020603050405020304" pitchFamily="18" charset="0"/>
                <a:cs typeface="Times New Roman" panose="02020603050405020304" pitchFamily="18" charset="0"/>
              </a:rPr>
            </a:br>
            <a:r>
              <a:rPr lang="mn-MN" sz="2000" b="1" dirty="0">
                <a:solidFill>
                  <a:srgbClr val="0000FF"/>
                </a:solidFill>
                <a:latin typeface="Times New Roman" panose="02020603050405020304" pitchFamily="18" charset="0"/>
                <a:cs typeface="Times New Roman" panose="02020603050405020304" pitchFamily="18" charset="0"/>
              </a:rPr>
              <a:t>     2.  </a:t>
            </a:r>
            <a:r>
              <a:rPr lang="mn-MN" sz="2000" dirty="0">
                <a:solidFill>
                  <a:srgbClr val="002060"/>
                </a:solidFill>
                <a:latin typeface="Times New Roman" panose="02020603050405020304" pitchFamily="18" charset="0"/>
                <a:cs typeface="Times New Roman" panose="02020603050405020304" pitchFamily="18" charset="0"/>
              </a:rPr>
              <a:t>Биржийн бус зах зээл </a:t>
            </a:r>
          </a:p>
        </p:txBody>
      </p:sp>
      <p:pic>
        <p:nvPicPr>
          <p:cNvPr id="9" name="Picture 8">
            <a:extLst>
              <a:ext uri="{FF2B5EF4-FFF2-40B4-BE49-F238E27FC236}">
                <a16:creationId xmlns:a16="http://schemas.microsoft.com/office/drawing/2014/main" id="{180074FC-24ED-43BC-B2EB-7C2ADF64C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2428" y="1855123"/>
            <a:ext cx="4307762" cy="3587733"/>
          </a:xfrm>
          <a:prstGeom prst="rect">
            <a:avLst/>
          </a:prstGeom>
        </p:spPr>
      </p:pic>
      <p:sp>
        <p:nvSpPr>
          <p:cNvPr id="5" name="Title 1">
            <a:extLst>
              <a:ext uri="{FF2B5EF4-FFF2-40B4-BE49-F238E27FC236}">
                <a16:creationId xmlns:a16="http://schemas.microsoft.com/office/drawing/2014/main" id="{673DC895-4071-4E6A-8758-F6992296D5F1}"/>
              </a:ext>
            </a:extLst>
          </p:cNvPr>
          <p:cNvSpPr txBox="1">
            <a:spLocks/>
          </p:cNvSpPr>
          <p:nvPr/>
        </p:nvSpPr>
        <p:spPr>
          <a:xfrm>
            <a:off x="236412" y="93903"/>
            <a:ext cx="11679817" cy="418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2400" b="1" dirty="0">
                <a:solidFill>
                  <a:srgbClr val="002060"/>
                </a:solidFill>
                <a:latin typeface="Times New Roman" panose="02020603050405020304" pitchFamily="18" charset="0"/>
                <a:cs typeface="Times New Roman" panose="02020603050405020304" pitchFamily="18" charset="0"/>
              </a:rPr>
              <a:t>Зарим сурах бичигт: Үнэт цаасны тухай:</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DEBD1D07-C11B-4E98-973D-32CA05620795}"/>
              </a:ext>
            </a:extLst>
          </p:cNvPr>
          <p:cNvSpPr txBox="1">
            <a:spLocks/>
          </p:cNvSpPr>
          <p:nvPr/>
        </p:nvSpPr>
        <p:spPr>
          <a:xfrm>
            <a:off x="211810" y="2380343"/>
            <a:ext cx="7654933" cy="422365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mn-MN" sz="1900" b="1" dirty="0">
                <a:solidFill>
                  <a:srgbClr val="0000FF"/>
                </a:solidFill>
                <a:latin typeface="Times New Roman" panose="02020603050405020304" pitchFamily="18" charset="0"/>
                <a:cs typeface="Times New Roman" panose="02020603050405020304" pitchFamily="18" charset="0"/>
              </a:rPr>
              <a:t>Биржийн зах зээл гэдэг нь </a:t>
            </a:r>
            <a:r>
              <a:rPr lang="mn-MN" sz="1900" dirty="0">
                <a:solidFill>
                  <a:srgbClr val="002060"/>
                </a:solidFill>
                <a:latin typeface="Times New Roman" panose="02020603050405020304" pitchFamily="18" charset="0"/>
                <a:cs typeface="Times New Roman" panose="02020603050405020304" pitchFamily="18" charset="0"/>
              </a:rPr>
              <a:t>хөрөнгийн биржүүдээр дамжин үнэт цаасны арилжаа худалдаа явагддаг зах зээлийг хэлнэ. Хөрөнгийн бирж бол төрөл бүрийн үнэт цааснуудыг худалдах, худалдан авах үйл ажиллагааг зохион байгуулах ба биржийн гишүүдээрээ дамжуулан үнэт цаасыг зохион байгуулалттай арилждаг зах зээл юм. Монгол Улсын Засгийн газар 1991 оны 1 дүгээр сарын 18-нд Монголын хөрөнгийн биржийг байгуулж ажиллуулахаар шийдвэр гаргаснаар үйл ажиллагаагаа эхлүүлсэн. Монголын хөрөнгийн бирж "Тор-20" индекс тооцож нийтэд мэдээлдэг. Биржийн индекс нь үнэт цаасны зах зээлийг удирдан жолоодох гол хэмжүүр, үзүүлэлт болохын дээр макро эдийн засгийн үзүүлэлтүүдэд нөлөөлж байдаг. </a:t>
            </a:r>
          </a:p>
          <a:p>
            <a:pPr algn="just"/>
            <a:r>
              <a:rPr lang="mn-MN" sz="1900" b="1" dirty="0">
                <a:solidFill>
                  <a:srgbClr val="0000FF"/>
                </a:solidFill>
                <a:latin typeface="Times New Roman" panose="02020603050405020304" pitchFamily="18" charset="0"/>
                <a:cs typeface="Times New Roman" panose="02020603050405020304" pitchFamily="18" charset="0"/>
              </a:rPr>
              <a:t>Биржийн бус зах зээл гэдэг нь </a:t>
            </a:r>
            <a:r>
              <a:rPr lang="mn-MN" sz="1900" dirty="0">
                <a:solidFill>
                  <a:srgbClr val="002060"/>
                </a:solidFill>
                <a:latin typeface="Times New Roman" panose="02020603050405020304" pitchFamily="18" charset="0"/>
                <a:cs typeface="Times New Roman" panose="02020603050405020304" pitchFamily="18" charset="0"/>
              </a:rPr>
              <a:t>дилерүүдийн үүсгэж байгаа зах зээлийг хэлнэ. Үүнийг төлөөлөх томоохон зах зээл нь </a:t>
            </a:r>
            <a:r>
              <a:rPr lang="en-US" sz="1900" dirty="0">
                <a:solidFill>
                  <a:srgbClr val="002060"/>
                </a:solidFill>
                <a:latin typeface="Times New Roman" panose="02020603050405020304" pitchFamily="18" charset="0"/>
                <a:cs typeface="Times New Roman" panose="02020603050405020304" pitchFamily="18" charset="0"/>
              </a:rPr>
              <a:t>NASDAQ </a:t>
            </a:r>
            <a:r>
              <a:rPr lang="mn-MN" sz="1900" dirty="0">
                <a:solidFill>
                  <a:srgbClr val="002060"/>
                </a:solidFill>
                <a:latin typeface="Times New Roman" panose="02020603050405020304" pitchFamily="18" charset="0"/>
                <a:cs typeface="Times New Roman" panose="02020603050405020304" pitchFamily="18" charset="0"/>
              </a:rPr>
              <a:t>буюу үнэт цаасны дилерүүдийн үндэсний холбооны автоматчилагдсан систем юм. 1971 оноос энэ зах зээл үүссэн бөгөөд энэ зах зээлд 4000 гаруй үнэт цаас бүртгэлтэй байдаг. </a:t>
            </a:r>
          </a:p>
        </p:txBody>
      </p:sp>
    </p:spTree>
    <p:extLst>
      <p:ext uri="{BB962C8B-B14F-4D97-AF65-F5344CB8AC3E}">
        <p14:creationId xmlns:p14="http://schemas.microsoft.com/office/powerpoint/2010/main" val="32379242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94469" y="166473"/>
            <a:ext cx="11484244" cy="418652"/>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Бонд ба хувьцааны үнэлгээ</a:t>
            </a:r>
            <a:r>
              <a:rPr lang="en-US" sz="2400" b="1" dirty="0">
                <a:solidFill>
                  <a:srgbClr val="0000FF"/>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294470" y="600116"/>
                <a:ext cx="11699056" cy="2993689"/>
              </a:xfrm>
            </p:spPr>
            <p:txBody>
              <a:bodyPr>
                <a:noAutofit/>
              </a:bodyPr>
              <a:lstStyle/>
              <a:p>
                <a:pPr marL="84455" marR="132080" indent="0" algn="just">
                  <a:spcBef>
                    <a:spcPts val="0"/>
                  </a:spcBef>
                  <a:spcAft>
                    <a:spcPts val="0"/>
                  </a:spcAft>
                  <a:buNone/>
                </a:pPr>
                <a:r>
                  <a:rPr lang="kk-KZ" sz="2400" dirty="0">
                    <a:solidFill>
                      <a:srgbClr val="231F20"/>
                    </a:solidFill>
                    <a:effectLst/>
                    <a:latin typeface="Times New Roman" panose="02020603050405020304" pitchFamily="18" charset="0"/>
                    <a:ea typeface="Times New Roman" panose="02020603050405020304" pitchFamily="18" charset="0"/>
                  </a:rPr>
                  <a:t>Үнэлгээ гэдэг нь тодорхой нэг хөрөнгө эсвэл үнэт цаасны үнэ цэнийг тодорхойлж гаргах </a:t>
                </a:r>
                <a:r>
                  <a:rPr lang="mn-MN" sz="2400" dirty="0">
                    <a:solidFill>
                      <a:srgbClr val="231F20"/>
                    </a:solidFill>
                    <a:latin typeface="Times New Roman" panose="02020603050405020304" pitchFamily="18" charset="0"/>
                    <a:ea typeface="Times New Roman" panose="02020603050405020304" pitchFamily="18" charset="0"/>
                  </a:rPr>
                  <a:t>ү</a:t>
                </a:r>
                <a:r>
                  <a:rPr lang="kk-KZ" sz="2400" dirty="0">
                    <a:solidFill>
                      <a:srgbClr val="231F20"/>
                    </a:solidFill>
                    <a:effectLst/>
                    <a:latin typeface="Times New Roman" panose="02020603050405020304" pitchFamily="18" charset="0"/>
                    <a:ea typeface="Times New Roman" panose="02020603050405020304" pitchFamily="18" charset="0"/>
                  </a:rPr>
                  <a:t>йл явц байдаг. Практикт бүх төрлийн хөрөнгө болон үнэт цаасыг янз бүрийн аргаар үнэлж, зах зээлийн үнэ цэнийг нь тогтоодог</a:t>
                </a:r>
                <a:r>
                  <a:rPr lang="mn-MN" sz="2400" dirty="0">
                    <a:solidFill>
                      <a:srgbClr val="231F20"/>
                    </a:solidFill>
                    <a:effectLst/>
                    <a:latin typeface="Times New Roman" panose="02020603050405020304" pitchFamily="18" charset="0"/>
                    <a:ea typeface="Times New Roman" panose="02020603050405020304" pitchFamily="18" charset="0"/>
                  </a:rPr>
                  <a:t>.</a:t>
                </a:r>
              </a:p>
              <a:p>
                <a:pPr marL="84455" marR="132080" indent="0" algn="just">
                  <a:spcBef>
                    <a:spcPts val="0"/>
                  </a:spcBef>
                  <a:spcAft>
                    <a:spcPts val="0"/>
                  </a:spcAft>
                  <a:buNone/>
                </a:pPr>
                <a:r>
                  <a:rPr lang="mn-MN" sz="2400" b="1" dirty="0">
                    <a:solidFill>
                      <a:srgbClr val="231F20"/>
                    </a:solidFill>
                    <a:effectLst/>
                    <a:latin typeface="Times New Roman" panose="02020603050405020304" pitchFamily="18" charset="0"/>
                    <a:ea typeface="Times New Roman" panose="02020603050405020304" pitchFamily="18" charset="0"/>
                  </a:rPr>
                  <a:t>Үнэлгээний ерөнхий загвар: </a:t>
                </a:r>
                <a:r>
                  <a:rPr lang="mn-MN" sz="2400" dirty="0">
                    <a:solidFill>
                      <a:srgbClr val="231F20"/>
                    </a:solidFill>
                    <a:effectLst/>
                    <a:latin typeface="Times New Roman" panose="02020603050405020304" pitchFamily="18" charset="0"/>
                    <a:ea typeface="Times New Roman" panose="02020603050405020304" pitchFamily="18" charset="0"/>
                  </a:rPr>
                  <a:t>Энэхүү загвар нь ирээдүйн мөнгөн урсгалуудын өнөөгийн үнэ цэнэд үндэслэгдсэн загвар юм. Үнэлгээний ерөнхий загвараар ямар ч үнэт цаасыг үнэлэх боломжтой. </a:t>
                </a:r>
              </a:p>
              <a:p>
                <a:pPr marL="84455" marR="132080" indent="0" algn="just">
                  <a:spcBef>
                    <a:spcPts val="0"/>
                  </a:spcBef>
                  <a:spcAft>
                    <a:spcPts val="0"/>
                  </a:spcAft>
                  <a:buNone/>
                </a:pPr>
                <a14:m>
                  <m:oMathPara xmlns:m="http://schemas.openxmlformats.org/officeDocument/2006/math">
                    <m:oMathParaPr>
                      <m:jc m:val="left"/>
                    </m:oMathParaPr>
                    <m:oMath xmlns:m="http://schemas.openxmlformats.org/officeDocument/2006/math">
                      <m:r>
                        <a:rPr lang="en-US" sz="3200" b="0" i="1" smtClean="0">
                          <a:solidFill>
                            <a:srgbClr val="0000FF"/>
                          </a:solidFill>
                          <a:effectLst/>
                          <a:latin typeface="Cambria Math" panose="02040503050406030204" pitchFamily="18" charset="0"/>
                          <a:ea typeface="Times New Roman" panose="02020603050405020304" pitchFamily="18" charset="0"/>
                        </a:rPr>
                        <m:t>𝑉</m:t>
                      </m:r>
                      <m:r>
                        <a:rPr lang="en-US" sz="3200" b="0" i="1" smtClean="0">
                          <a:solidFill>
                            <a:srgbClr val="0000FF"/>
                          </a:solidFill>
                          <a:effectLst/>
                          <a:latin typeface="Cambria Math" panose="02040503050406030204" pitchFamily="18" charset="0"/>
                          <a:ea typeface="Times New Roman" panose="02020603050405020304" pitchFamily="18" charset="0"/>
                        </a:rPr>
                        <m:t>=</m:t>
                      </m:r>
                      <m:nary>
                        <m:naryPr>
                          <m:chr m:val="∑"/>
                          <m:ctrlPr>
                            <a:rPr lang="en-US" sz="3200" b="0" i="1" smtClean="0">
                              <a:solidFill>
                                <a:srgbClr val="0000FF"/>
                              </a:solidFill>
                              <a:effectLst/>
                              <a:latin typeface="Cambria Math" panose="02040503050406030204" pitchFamily="18" charset="0"/>
                            </a:rPr>
                          </m:ctrlPr>
                        </m:naryPr>
                        <m:sub>
                          <m:r>
                            <m:rPr>
                              <m:brk m:alnAt="23"/>
                            </m:rPr>
                            <a:rPr lang="en-US" sz="3200" b="0" i="1" smtClean="0">
                              <a:solidFill>
                                <a:srgbClr val="0000FF"/>
                              </a:solidFill>
                              <a:effectLst/>
                              <a:latin typeface="Cambria Math" panose="02040503050406030204" pitchFamily="18" charset="0"/>
                            </a:rPr>
                            <m:t>𝑡</m:t>
                          </m:r>
                          <m:r>
                            <a:rPr lang="en-US" sz="3200" b="0" i="1" smtClean="0">
                              <a:solidFill>
                                <a:srgbClr val="0000FF"/>
                              </a:solidFill>
                              <a:effectLst/>
                              <a:latin typeface="Cambria Math" panose="02040503050406030204" pitchFamily="18" charset="0"/>
                            </a:rPr>
                            <m:t>=1</m:t>
                          </m:r>
                        </m:sub>
                        <m:sup>
                          <m:r>
                            <a:rPr lang="en-US" sz="3200" b="0" i="1" smtClean="0">
                              <a:solidFill>
                                <a:srgbClr val="0000FF"/>
                              </a:solidFill>
                              <a:effectLst/>
                              <a:latin typeface="Cambria Math" panose="02040503050406030204" pitchFamily="18" charset="0"/>
                            </a:rPr>
                            <m:t>𝑛</m:t>
                          </m:r>
                        </m:sup>
                        <m:e>
                          <m:f>
                            <m:fPr>
                              <m:ctrlPr>
                                <a:rPr lang="en-US" sz="3200" b="0" i="1" smtClean="0">
                                  <a:solidFill>
                                    <a:srgbClr val="0000FF"/>
                                  </a:solidFill>
                                  <a:effectLst/>
                                  <a:latin typeface="Cambria Math" panose="02040503050406030204" pitchFamily="18" charset="0"/>
                                </a:rPr>
                              </m:ctrlPr>
                            </m:fPr>
                            <m:num>
                              <m:r>
                                <a:rPr lang="en-US" sz="3200" b="0" i="1" smtClean="0">
                                  <a:solidFill>
                                    <a:srgbClr val="0000FF"/>
                                  </a:solidFill>
                                  <a:effectLst/>
                                  <a:latin typeface="Cambria Math" panose="02040503050406030204" pitchFamily="18" charset="0"/>
                                </a:rPr>
                                <m:t>𝐶𝐹</m:t>
                              </m:r>
                            </m:num>
                            <m:den>
                              <m:sSup>
                                <m:sSupPr>
                                  <m:ctrlPr>
                                    <a:rPr lang="en-US" sz="3200" b="0" i="1" smtClean="0">
                                      <a:solidFill>
                                        <a:srgbClr val="0000FF"/>
                                      </a:solidFill>
                                      <a:effectLst/>
                                      <a:latin typeface="Cambria Math" panose="02040503050406030204" pitchFamily="18" charset="0"/>
                                    </a:rPr>
                                  </m:ctrlPr>
                                </m:sSupPr>
                                <m:e>
                                  <m:d>
                                    <m:dPr>
                                      <m:ctrlPr>
                                        <a:rPr lang="en-US" sz="3200" i="1">
                                          <a:solidFill>
                                            <a:srgbClr val="0000FF"/>
                                          </a:solidFill>
                                          <a:latin typeface="Cambria Math" panose="02040503050406030204" pitchFamily="18" charset="0"/>
                                        </a:rPr>
                                      </m:ctrlPr>
                                    </m:dPr>
                                    <m:e>
                                      <m:r>
                                        <a:rPr lang="en-US" sz="3200" i="1">
                                          <a:solidFill>
                                            <a:srgbClr val="0000FF"/>
                                          </a:solidFill>
                                          <a:latin typeface="Cambria Math" panose="02040503050406030204" pitchFamily="18" charset="0"/>
                                        </a:rPr>
                                        <m:t>1+</m:t>
                                      </m:r>
                                      <m:r>
                                        <a:rPr lang="en-US" sz="3200" i="1">
                                          <a:solidFill>
                                            <a:srgbClr val="0000FF"/>
                                          </a:solidFill>
                                          <a:latin typeface="Cambria Math" panose="02040503050406030204" pitchFamily="18" charset="0"/>
                                        </a:rPr>
                                        <m:t>𝑟</m:t>
                                      </m:r>
                                    </m:e>
                                  </m:d>
                                </m:e>
                                <m:sup>
                                  <m:r>
                                    <a:rPr lang="en-US" sz="3200" b="0" i="1" smtClean="0">
                                      <a:solidFill>
                                        <a:srgbClr val="0000FF"/>
                                      </a:solidFill>
                                      <a:effectLst/>
                                      <a:latin typeface="Cambria Math" panose="02040503050406030204" pitchFamily="18" charset="0"/>
                                    </a:rPr>
                                    <m:t>𝑡</m:t>
                                  </m:r>
                                </m:sup>
                              </m:sSup>
                            </m:den>
                          </m:f>
                          <m:r>
                            <a:rPr lang="en-US" sz="3200" b="0" i="1" smtClean="0">
                              <a:solidFill>
                                <a:srgbClr val="0000FF"/>
                              </a:solidFill>
                              <a:effectLst/>
                              <a:latin typeface="Cambria Math" panose="02040503050406030204" pitchFamily="18" charset="0"/>
                            </a:rPr>
                            <m:t>=</m:t>
                          </m:r>
                          <m:f>
                            <m:fPr>
                              <m:ctrlPr>
                                <a:rPr lang="en-US" sz="3200" i="1">
                                  <a:solidFill>
                                    <a:srgbClr val="0000FF"/>
                                  </a:solidFill>
                                  <a:latin typeface="Cambria Math" panose="02040503050406030204" pitchFamily="18" charset="0"/>
                                </a:rPr>
                              </m:ctrlPr>
                            </m:fPr>
                            <m:num>
                              <m:sSub>
                                <m:sSubPr>
                                  <m:ctrlPr>
                                    <a:rPr lang="en-US" sz="3200" i="1" smtClean="0">
                                      <a:solidFill>
                                        <a:srgbClr val="0000FF"/>
                                      </a:solidFill>
                                      <a:latin typeface="Cambria Math" panose="02040503050406030204" pitchFamily="18" charset="0"/>
                                    </a:rPr>
                                  </m:ctrlPr>
                                </m:sSubPr>
                                <m:e>
                                  <m:r>
                                    <a:rPr lang="en-US" sz="3200" i="1">
                                      <a:solidFill>
                                        <a:srgbClr val="0000FF"/>
                                      </a:solidFill>
                                      <a:latin typeface="Cambria Math" panose="02040503050406030204" pitchFamily="18" charset="0"/>
                                    </a:rPr>
                                    <m:t>𝐶𝐹</m:t>
                                  </m:r>
                                </m:e>
                                <m:sub>
                                  <m:r>
                                    <a:rPr lang="en-US" sz="3200" b="0" i="1" smtClean="0">
                                      <a:solidFill>
                                        <a:srgbClr val="0000FF"/>
                                      </a:solidFill>
                                      <a:latin typeface="Cambria Math" panose="02040503050406030204" pitchFamily="18" charset="0"/>
                                    </a:rPr>
                                    <m:t>1</m:t>
                                  </m:r>
                                </m:sub>
                              </m:sSub>
                            </m:num>
                            <m:den>
                              <m:sSup>
                                <m:sSupPr>
                                  <m:ctrlPr>
                                    <a:rPr lang="en-US" sz="3200" i="1">
                                      <a:solidFill>
                                        <a:srgbClr val="0000FF"/>
                                      </a:solidFill>
                                      <a:latin typeface="Cambria Math" panose="02040503050406030204" pitchFamily="18" charset="0"/>
                                    </a:rPr>
                                  </m:ctrlPr>
                                </m:sSupPr>
                                <m:e>
                                  <m:d>
                                    <m:dPr>
                                      <m:ctrlPr>
                                        <a:rPr lang="en-US" sz="3200" i="1">
                                          <a:solidFill>
                                            <a:srgbClr val="0000FF"/>
                                          </a:solidFill>
                                          <a:latin typeface="Cambria Math" panose="02040503050406030204" pitchFamily="18" charset="0"/>
                                        </a:rPr>
                                      </m:ctrlPr>
                                    </m:dPr>
                                    <m:e>
                                      <m:r>
                                        <a:rPr lang="en-US" sz="3200" i="1">
                                          <a:solidFill>
                                            <a:srgbClr val="0000FF"/>
                                          </a:solidFill>
                                          <a:latin typeface="Cambria Math" panose="02040503050406030204" pitchFamily="18" charset="0"/>
                                        </a:rPr>
                                        <m:t>1+</m:t>
                                      </m:r>
                                      <m:r>
                                        <a:rPr lang="en-US" sz="3200" i="1">
                                          <a:solidFill>
                                            <a:srgbClr val="0000FF"/>
                                          </a:solidFill>
                                          <a:latin typeface="Cambria Math" panose="02040503050406030204" pitchFamily="18" charset="0"/>
                                        </a:rPr>
                                        <m:t>𝑟</m:t>
                                      </m:r>
                                    </m:e>
                                  </m:d>
                                </m:e>
                                <m:sup>
                                  <m:r>
                                    <a:rPr lang="en-US" sz="3200" b="0" i="1" smtClean="0">
                                      <a:solidFill>
                                        <a:srgbClr val="0000FF"/>
                                      </a:solidFill>
                                      <a:latin typeface="Cambria Math" panose="02040503050406030204" pitchFamily="18" charset="0"/>
                                    </a:rPr>
                                    <m:t>1</m:t>
                                  </m:r>
                                </m:sup>
                              </m:sSup>
                            </m:den>
                          </m:f>
                          <m:r>
                            <a:rPr lang="en-US" sz="3200" b="0" i="1" smtClean="0">
                              <a:solidFill>
                                <a:srgbClr val="0000FF"/>
                              </a:solidFill>
                              <a:latin typeface="Cambria Math" panose="02040503050406030204" pitchFamily="18" charset="0"/>
                            </a:rPr>
                            <m:t>+</m:t>
                          </m:r>
                          <m:f>
                            <m:fPr>
                              <m:ctrlPr>
                                <a:rPr lang="en-US" sz="3200" i="1">
                                  <a:solidFill>
                                    <a:srgbClr val="0000FF"/>
                                  </a:solidFill>
                                  <a:latin typeface="Cambria Math" panose="02040503050406030204" pitchFamily="18" charset="0"/>
                                </a:rPr>
                              </m:ctrlPr>
                            </m:fPr>
                            <m:num>
                              <m:sSub>
                                <m:sSubPr>
                                  <m:ctrlPr>
                                    <a:rPr lang="en-US" sz="3200" i="1">
                                      <a:solidFill>
                                        <a:srgbClr val="0000FF"/>
                                      </a:solidFill>
                                      <a:latin typeface="Cambria Math" panose="02040503050406030204" pitchFamily="18" charset="0"/>
                                    </a:rPr>
                                  </m:ctrlPr>
                                </m:sSubPr>
                                <m:e>
                                  <m:r>
                                    <a:rPr lang="en-US" sz="3200" i="1">
                                      <a:solidFill>
                                        <a:srgbClr val="0000FF"/>
                                      </a:solidFill>
                                      <a:latin typeface="Cambria Math" panose="02040503050406030204" pitchFamily="18" charset="0"/>
                                    </a:rPr>
                                    <m:t>𝐶𝐹</m:t>
                                  </m:r>
                                </m:e>
                                <m:sub>
                                  <m:r>
                                    <a:rPr lang="en-US" sz="3200" b="0" i="1" smtClean="0">
                                      <a:solidFill>
                                        <a:srgbClr val="0000FF"/>
                                      </a:solidFill>
                                      <a:latin typeface="Cambria Math" panose="02040503050406030204" pitchFamily="18" charset="0"/>
                                    </a:rPr>
                                    <m:t>2</m:t>
                                  </m:r>
                                </m:sub>
                              </m:sSub>
                            </m:num>
                            <m:den>
                              <m:sSup>
                                <m:sSupPr>
                                  <m:ctrlPr>
                                    <a:rPr lang="en-US" sz="3200" i="1">
                                      <a:solidFill>
                                        <a:srgbClr val="0000FF"/>
                                      </a:solidFill>
                                      <a:latin typeface="Cambria Math" panose="02040503050406030204" pitchFamily="18" charset="0"/>
                                    </a:rPr>
                                  </m:ctrlPr>
                                </m:sSupPr>
                                <m:e>
                                  <m:d>
                                    <m:dPr>
                                      <m:ctrlPr>
                                        <a:rPr lang="en-US" sz="3200" i="1">
                                          <a:solidFill>
                                            <a:srgbClr val="0000FF"/>
                                          </a:solidFill>
                                          <a:latin typeface="Cambria Math" panose="02040503050406030204" pitchFamily="18" charset="0"/>
                                        </a:rPr>
                                      </m:ctrlPr>
                                    </m:dPr>
                                    <m:e>
                                      <m:r>
                                        <a:rPr lang="en-US" sz="3200" i="1">
                                          <a:solidFill>
                                            <a:srgbClr val="0000FF"/>
                                          </a:solidFill>
                                          <a:latin typeface="Cambria Math" panose="02040503050406030204" pitchFamily="18" charset="0"/>
                                        </a:rPr>
                                        <m:t>1+</m:t>
                                      </m:r>
                                      <m:r>
                                        <a:rPr lang="en-US" sz="3200" i="1">
                                          <a:solidFill>
                                            <a:srgbClr val="0000FF"/>
                                          </a:solidFill>
                                          <a:latin typeface="Cambria Math" panose="02040503050406030204" pitchFamily="18" charset="0"/>
                                        </a:rPr>
                                        <m:t>𝑟</m:t>
                                      </m:r>
                                    </m:e>
                                  </m:d>
                                </m:e>
                                <m:sup>
                                  <m:r>
                                    <a:rPr lang="en-US" sz="3200" i="1">
                                      <a:solidFill>
                                        <a:srgbClr val="0000FF"/>
                                      </a:solidFill>
                                      <a:latin typeface="Cambria Math" panose="02040503050406030204" pitchFamily="18" charset="0"/>
                                    </a:rPr>
                                    <m:t>𝑡</m:t>
                                  </m:r>
                                </m:sup>
                              </m:sSup>
                            </m:den>
                          </m:f>
                          <m:r>
                            <a:rPr lang="en-US" sz="3200" b="0" i="1" smtClean="0">
                              <a:solidFill>
                                <a:srgbClr val="0000FF"/>
                              </a:solidFill>
                              <a:latin typeface="Cambria Math" panose="02040503050406030204" pitchFamily="18" charset="0"/>
                            </a:rPr>
                            <m:t>+. . .</m:t>
                          </m:r>
                          <m:f>
                            <m:fPr>
                              <m:ctrlPr>
                                <a:rPr lang="en-US" sz="3200" i="1">
                                  <a:solidFill>
                                    <a:srgbClr val="0000FF"/>
                                  </a:solidFill>
                                  <a:latin typeface="Cambria Math" panose="02040503050406030204" pitchFamily="18" charset="0"/>
                                </a:rPr>
                              </m:ctrlPr>
                            </m:fPr>
                            <m:num>
                              <m:sSub>
                                <m:sSubPr>
                                  <m:ctrlPr>
                                    <a:rPr lang="en-US" sz="3200" i="1">
                                      <a:solidFill>
                                        <a:srgbClr val="0000FF"/>
                                      </a:solidFill>
                                      <a:latin typeface="Cambria Math" panose="02040503050406030204" pitchFamily="18" charset="0"/>
                                    </a:rPr>
                                  </m:ctrlPr>
                                </m:sSubPr>
                                <m:e>
                                  <m:r>
                                    <a:rPr lang="en-US" sz="3200" i="1">
                                      <a:solidFill>
                                        <a:srgbClr val="0000FF"/>
                                      </a:solidFill>
                                      <a:latin typeface="Cambria Math" panose="02040503050406030204" pitchFamily="18" charset="0"/>
                                    </a:rPr>
                                    <m:t>𝐶𝐹</m:t>
                                  </m:r>
                                </m:e>
                                <m:sub>
                                  <m:r>
                                    <a:rPr lang="en-US" sz="3200" b="0" i="1" smtClean="0">
                                      <a:solidFill>
                                        <a:srgbClr val="0000FF"/>
                                      </a:solidFill>
                                      <a:latin typeface="Cambria Math" panose="02040503050406030204" pitchFamily="18" charset="0"/>
                                    </a:rPr>
                                    <m:t>𝑛</m:t>
                                  </m:r>
                                </m:sub>
                              </m:sSub>
                            </m:num>
                            <m:den>
                              <m:sSup>
                                <m:sSupPr>
                                  <m:ctrlPr>
                                    <a:rPr lang="en-US" sz="3200" i="1">
                                      <a:solidFill>
                                        <a:srgbClr val="0000FF"/>
                                      </a:solidFill>
                                      <a:latin typeface="Cambria Math" panose="02040503050406030204" pitchFamily="18" charset="0"/>
                                    </a:rPr>
                                  </m:ctrlPr>
                                </m:sSupPr>
                                <m:e>
                                  <m:d>
                                    <m:dPr>
                                      <m:ctrlPr>
                                        <a:rPr lang="en-US" sz="3200" i="1">
                                          <a:solidFill>
                                            <a:srgbClr val="0000FF"/>
                                          </a:solidFill>
                                          <a:latin typeface="Cambria Math" panose="02040503050406030204" pitchFamily="18" charset="0"/>
                                        </a:rPr>
                                      </m:ctrlPr>
                                    </m:dPr>
                                    <m:e>
                                      <m:r>
                                        <a:rPr lang="en-US" sz="3200" i="1">
                                          <a:solidFill>
                                            <a:srgbClr val="0000FF"/>
                                          </a:solidFill>
                                          <a:latin typeface="Cambria Math" panose="02040503050406030204" pitchFamily="18" charset="0"/>
                                        </a:rPr>
                                        <m:t>1+</m:t>
                                      </m:r>
                                      <m:r>
                                        <a:rPr lang="en-US" sz="3200" i="1">
                                          <a:solidFill>
                                            <a:srgbClr val="0000FF"/>
                                          </a:solidFill>
                                          <a:latin typeface="Cambria Math" panose="02040503050406030204" pitchFamily="18" charset="0"/>
                                        </a:rPr>
                                        <m:t>𝑟</m:t>
                                      </m:r>
                                    </m:e>
                                  </m:d>
                                </m:e>
                                <m:sup>
                                  <m:r>
                                    <a:rPr lang="en-US" sz="3200" b="0" i="1" smtClean="0">
                                      <a:solidFill>
                                        <a:srgbClr val="0000FF"/>
                                      </a:solidFill>
                                      <a:latin typeface="Cambria Math" panose="02040503050406030204" pitchFamily="18" charset="0"/>
                                    </a:rPr>
                                    <m:t>𝑛</m:t>
                                  </m:r>
                                </m:sup>
                              </m:sSup>
                            </m:den>
                          </m:f>
                        </m:e>
                      </m:nary>
                    </m:oMath>
                  </m:oMathPara>
                </a14:m>
                <a:endParaRPr lang="mn-MN" sz="2400" dirty="0">
                  <a:solidFill>
                    <a:srgbClr val="231F20"/>
                  </a:solidFill>
                  <a:effectLst/>
                  <a:latin typeface="Times New Roman" panose="02020603050405020304" pitchFamily="18" charset="0"/>
                  <a:ea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7C39B0E0-D359-15E0-1B32-AD41AA948884}"/>
                  </a:ext>
                </a:extLst>
              </p:cNvPr>
              <p:cNvSpPr>
                <a:spLocks noGrp="1" noRot="1" noChangeAspect="1" noMove="1" noResize="1" noEditPoints="1" noAdjustHandles="1" noChangeArrowheads="1" noChangeShapeType="1" noTextEdit="1"/>
              </p:cNvSpPr>
              <p:nvPr>
                <p:ph idx="1"/>
              </p:nvPr>
            </p:nvSpPr>
            <p:spPr>
              <a:xfrm>
                <a:off x="294470" y="600116"/>
                <a:ext cx="11699056" cy="2993689"/>
              </a:xfrm>
              <a:blipFill>
                <a:blip r:embed="rId3"/>
                <a:stretch>
                  <a:fillRect l="-52" t="-2846" b="-8943"/>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764EE799-F66F-4FA5-A0B7-4A7B3743F835}"/>
              </a:ext>
            </a:extLst>
          </p:cNvPr>
          <p:cNvSpPr txBox="1">
            <a:spLocks/>
          </p:cNvSpPr>
          <p:nvPr/>
        </p:nvSpPr>
        <p:spPr>
          <a:xfrm>
            <a:off x="858674" y="4016595"/>
            <a:ext cx="8860746" cy="24814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V</a:t>
            </a:r>
            <a:r>
              <a:rPr lang="en-US" sz="3200" dirty="0">
                <a:solidFill>
                  <a:srgbClr val="231F20"/>
                </a:solidFill>
                <a:latin typeface="Times New Roman" panose="02020603050405020304" pitchFamily="18" charset="0"/>
                <a:ea typeface="Times New Roman" panose="02020603050405020304" pitchFamily="18" charset="0"/>
              </a:rPr>
              <a:t>- valuation </a:t>
            </a:r>
            <a:r>
              <a:rPr lang="kk-KZ" sz="3200" dirty="0">
                <a:solidFill>
                  <a:srgbClr val="231F20"/>
                </a:solidFill>
                <a:latin typeface="Times New Roman" panose="02020603050405020304" pitchFamily="18" charset="0"/>
                <a:ea typeface="Times New Roman" panose="02020603050405020304" pitchFamily="18" charset="0"/>
              </a:rPr>
              <a:t>буюу үнэлгээ </a:t>
            </a:r>
          </a:p>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CF</a:t>
            </a:r>
            <a:r>
              <a:rPr lang="en-US" sz="3200" i="1"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 cash flows - </a:t>
            </a:r>
            <a:r>
              <a:rPr lang="kk-KZ" sz="3200" dirty="0">
                <a:solidFill>
                  <a:srgbClr val="231F20"/>
                </a:solidFill>
                <a:latin typeface="Times New Roman" panose="02020603050405020304" pitchFamily="18" charset="0"/>
                <a:ea typeface="Times New Roman" panose="02020603050405020304" pitchFamily="18" charset="0"/>
              </a:rPr>
              <a:t>мөнгөн урсгал </a:t>
            </a:r>
          </a:p>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r</a:t>
            </a:r>
            <a:r>
              <a:rPr lang="en-US" sz="3200" i="1"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 discount rate - </a:t>
            </a:r>
            <a:r>
              <a:rPr lang="kk-KZ" sz="3200" dirty="0">
                <a:solidFill>
                  <a:srgbClr val="231F20"/>
                </a:solidFill>
                <a:latin typeface="Times New Roman" panose="02020603050405020304" pitchFamily="18" charset="0"/>
                <a:ea typeface="Times New Roman" panose="02020603050405020304" pitchFamily="18" charset="0"/>
              </a:rPr>
              <a:t>хорогдуулалтын хүү </a:t>
            </a:r>
          </a:p>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n</a:t>
            </a:r>
            <a:r>
              <a:rPr lang="en-US" sz="3200" i="1"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 number of periods - </a:t>
            </a:r>
            <a:r>
              <a:rPr lang="kk-KZ" sz="3200" dirty="0">
                <a:solidFill>
                  <a:srgbClr val="231F20"/>
                </a:solidFill>
                <a:latin typeface="Times New Roman" panose="02020603050405020304" pitchFamily="18" charset="0"/>
                <a:ea typeface="Times New Roman" panose="02020603050405020304" pitchFamily="18" charset="0"/>
              </a:rPr>
              <a:t>үеийн тоо /нийт хугацаа/ </a:t>
            </a:r>
          </a:p>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t</a:t>
            </a:r>
            <a:r>
              <a:rPr lang="en-US" sz="3200" i="1"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 a period of time - </a:t>
            </a:r>
            <a:r>
              <a:rPr lang="kk-KZ" sz="3200" dirty="0">
                <a:solidFill>
                  <a:srgbClr val="231F20"/>
                </a:solidFill>
                <a:latin typeface="Times New Roman" panose="02020603050405020304" pitchFamily="18" charset="0"/>
                <a:ea typeface="Times New Roman" panose="02020603050405020304" pitchFamily="18" charset="0"/>
              </a:rPr>
              <a:t>хугацааны нэг үе. </a:t>
            </a:r>
          </a:p>
        </p:txBody>
      </p:sp>
    </p:spTree>
    <p:extLst>
      <p:ext uri="{BB962C8B-B14F-4D97-AF65-F5344CB8AC3E}">
        <p14:creationId xmlns:p14="http://schemas.microsoft.com/office/powerpoint/2010/main" val="1219218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00236" y="16161"/>
            <a:ext cx="11578477" cy="418652"/>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Бонд ба хувьцааны үнэлгээ</a:t>
            </a:r>
            <a:r>
              <a:rPr lang="en-US" sz="2400" b="1" dirty="0">
                <a:solidFill>
                  <a:srgbClr val="0000FF"/>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198474" y="337071"/>
                <a:ext cx="11795052" cy="2516714"/>
              </a:xfrm>
            </p:spPr>
            <p:txBody>
              <a:bodyPr>
                <a:noAutofit/>
              </a:bodyPr>
              <a:lstStyle/>
              <a:p>
                <a:pPr marL="84455" marR="132080" indent="0" algn="just">
                  <a:spcBef>
                    <a:spcPts val="0"/>
                  </a:spcBef>
                  <a:spcAft>
                    <a:spcPts val="0"/>
                  </a:spcAft>
                  <a:buNone/>
                </a:pPr>
                <a:r>
                  <a:rPr lang="mn-MN" sz="2200" b="1" dirty="0">
                    <a:solidFill>
                      <a:srgbClr val="231F20"/>
                    </a:solidFill>
                    <a:effectLst/>
                    <a:latin typeface="Times New Roman" panose="02020603050405020304" pitchFamily="18" charset="0"/>
                    <a:ea typeface="Times New Roman" panose="02020603050405020304" pitchFamily="18" charset="0"/>
                  </a:rPr>
                  <a:t>Ж</a:t>
                </a:r>
                <a:r>
                  <a:rPr lang="kk-KZ" sz="2200" b="1" dirty="0">
                    <a:solidFill>
                      <a:srgbClr val="231F20"/>
                    </a:solidFill>
                    <a:effectLst/>
                    <a:latin typeface="Times New Roman" panose="02020603050405020304" pitchFamily="18" charset="0"/>
                    <a:ea typeface="Times New Roman" panose="02020603050405020304" pitchFamily="18" charset="0"/>
                  </a:rPr>
                  <a:t>ишээ</a:t>
                </a:r>
                <a:r>
                  <a:rPr lang="mn-MN" sz="2200" b="1" dirty="0">
                    <a:solidFill>
                      <a:srgbClr val="231F20"/>
                    </a:solidFill>
                    <a:effectLst/>
                    <a:latin typeface="Times New Roman" panose="02020603050405020304" pitchFamily="18" charset="0"/>
                    <a:ea typeface="Times New Roman" panose="02020603050405020304" pitchFamily="18" charset="0"/>
                  </a:rPr>
                  <a:t>:</a:t>
                </a:r>
                <a:r>
                  <a:rPr lang="mn-MN" sz="2200" dirty="0">
                    <a:solidFill>
                      <a:srgbClr val="231F20"/>
                    </a:solidFill>
                    <a:effectLst/>
                    <a:latin typeface="Times New Roman" panose="02020603050405020304" pitchFamily="18" charset="0"/>
                    <a:ea typeface="Times New Roman" panose="02020603050405020304" pitchFamily="18" charset="0"/>
                  </a:rPr>
                  <a:t> </a:t>
                </a:r>
                <a:r>
                  <a:rPr lang="kk-KZ" sz="2200" dirty="0">
                    <a:solidFill>
                      <a:srgbClr val="231F20"/>
                    </a:solidFill>
                    <a:effectLst/>
                    <a:latin typeface="Times New Roman" panose="02020603050405020304" pitchFamily="18" charset="0"/>
                    <a:ea typeface="Times New Roman" panose="02020603050405020304" pitchFamily="18" charset="0"/>
                  </a:rPr>
                  <a:t>2 жил дараалан орлого олох үнэт цаас байсан. Эхний жилд 500</a:t>
                </a:r>
                <a:r>
                  <a:rPr lang="en-US" sz="2200" dirty="0">
                    <a:solidFill>
                      <a:srgbClr val="231F20"/>
                    </a:solidFill>
                    <a:effectLst/>
                    <a:latin typeface="Times New Roman" panose="02020603050405020304" pitchFamily="18" charset="0"/>
                    <a:ea typeface="Times New Roman" panose="02020603050405020304" pitchFamily="18" charset="0"/>
                  </a:rPr>
                  <a:t>’</a:t>
                </a:r>
                <a:r>
                  <a:rPr lang="kk-KZ" sz="2200" dirty="0">
                    <a:solidFill>
                      <a:srgbClr val="231F20"/>
                    </a:solidFill>
                    <a:effectLst/>
                    <a:latin typeface="Times New Roman" panose="02020603050405020304" pitchFamily="18" charset="0"/>
                    <a:ea typeface="Times New Roman" panose="02020603050405020304" pitchFamily="18" charset="0"/>
                  </a:rPr>
                  <a:t>000 </a:t>
                </a:r>
                <a:r>
                  <a:rPr lang="mn-MN" sz="2200" dirty="0">
                    <a:solidFill>
                      <a:srgbClr val="231F20"/>
                    </a:solidFill>
                    <a:effectLst/>
                    <a:latin typeface="Times New Roman" panose="02020603050405020304" pitchFamily="18" charset="0"/>
                    <a:ea typeface="Times New Roman" panose="02020603050405020304" pitchFamily="18" charset="0"/>
                  </a:rPr>
                  <a:t>төгрөг</a:t>
                </a:r>
                <a:r>
                  <a:rPr lang="kk-KZ" sz="2200" dirty="0">
                    <a:solidFill>
                      <a:srgbClr val="231F20"/>
                    </a:solidFill>
                    <a:effectLst/>
                    <a:latin typeface="Times New Roman" panose="02020603050405020304" pitchFamily="18" charset="0"/>
                    <a:ea typeface="Times New Roman" panose="02020603050405020304" pitchFamily="18" charset="0"/>
                  </a:rPr>
                  <a:t>. 2 дахь жил 600</a:t>
                </a:r>
                <a:r>
                  <a:rPr lang="en-US" sz="2200" dirty="0">
                    <a:solidFill>
                      <a:srgbClr val="231F20"/>
                    </a:solidFill>
                    <a:effectLst/>
                    <a:latin typeface="Times New Roman" panose="02020603050405020304" pitchFamily="18" charset="0"/>
                    <a:ea typeface="Times New Roman" panose="02020603050405020304" pitchFamily="18" charset="0"/>
                  </a:rPr>
                  <a:t>’</a:t>
                </a:r>
                <a:r>
                  <a:rPr lang="kk-KZ" sz="2200" dirty="0">
                    <a:solidFill>
                      <a:srgbClr val="231F20"/>
                    </a:solidFill>
                    <a:effectLst/>
                    <a:latin typeface="Times New Roman" panose="02020603050405020304" pitchFamily="18" charset="0"/>
                    <a:ea typeface="Times New Roman" panose="02020603050405020304" pitchFamily="18" charset="0"/>
                  </a:rPr>
                  <a:t>000 төгрөгийн орлого олох үнэт цаасанд хөрөнгө оруулалт хийсэн. Хорогдуулалтын хувь 5% бол уг үнэт цаасны үнэ цэнийг ол</a:t>
                </a:r>
                <a:r>
                  <a:rPr lang="mn-MN" sz="2200" dirty="0">
                    <a:solidFill>
                      <a:srgbClr val="231F20"/>
                    </a:solidFill>
                    <a:latin typeface="Times New Roman" panose="02020603050405020304" pitchFamily="18" charset="0"/>
                    <a:ea typeface="Times New Roman" panose="02020603050405020304" pitchFamily="18" charset="0"/>
                  </a:rPr>
                  <a:t>но уу</a:t>
                </a:r>
                <a:r>
                  <a:rPr lang="kk-KZ" sz="2200" dirty="0">
                    <a:solidFill>
                      <a:srgbClr val="231F20"/>
                    </a:solidFill>
                    <a:effectLst/>
                    <a:latin typeface="Times New Roman" panose="02020603050405020304" pitchFamily="18" charset="0"/>
                    <a:ea typeface="Times New Roman" panose="02020603050405020304" pitchFamily="18" charset="0"/>
                  </a:rPr>
                  <a:t>. </a:t>
                </a:r>
              </a:p>
              <a:p>
                <a:pPr marL="84455" marR="132080" indent="0" algn="just">
                  <a:spcBef>
                    <a:spcPts val="0"/>
                  </a:spcBef>
                  <a:spcAft>
                    <a:spcPts val="0"/>
                  </a:spcAft>
                  <a:buNone/>
                </a:pPr>
                <a14:m>
                  <m:oMathPara xmlns:m="http://schemas.openxmlformats.org/officeDocument/2006/math">
                    <m:oMathParaPr>
                      <m:jc m:val="left"/>
                    </m:oMathParaPr>
                    <m:oMath xmlns:m="http://schemas.openxmlformats.org/officeDocument/2006/math">
                      <m:r>
                        <a:rPr lang="en-US" sz="2400" b="0" i="1" smtClean="0">
                          <a:solidFill>
                            <a:srgbClr val="231F20"/>
                          </a:solidFill>
                          <a:effectLst/>
                          <a:latin typeface="Cambria Math" panose="02040503050406030204" pitchFamily="18" charset="0"/>
                          <a:ea typeface="Times New Roman" panose="02020603050405020304" pitchFamily="18" charset="0"/>
                        </a:rPr>
                        <m:t>𝑉</m:t>
                      </m:r>
                      <m:r>
                        <a:rPr lang="en-US" sz="2400" b="0" i="1" smtClean="0">
                          <a:solidFill>
                            <a:srgbClr val="231F20"/>
                          </a:solidFill>
                          <a:effectLst/>
                          <a:latin typeface="Cambria Math" panose="02040503050406030204" pitchFamily="18" charset="0"/>
                          <a:ea typeface="Times New Roman" panose="02020603050405020304" pitchFamily="18" charset="0"/>
                        </a:rPr>
                        <m:t>=</m:t>
                      </m:r>
                      <m:nary>
                        <m:naryPr>
                          <m:chr m:val="∑"/>
                          <m:ctrlPr>
                            <a:rPr lang="en-US" sz="2400" b="0" i="1" smtClean="0">
                              <a:solidFill>
                                <a:srgbClr val="231F20"/>
                              </a:solidFill>
                              <a:effectLst/>
                              <a:latin typeface="Cambria Math" panose="02040503050406030204" pitchFamily="18" charset="0"/>
                            </a:rPr>
                          </m:ctrlPr>
                        </m:naryPr>
                        <m:sub>
                          <m:r>
                            <m:rPr>
                              <m:brk m:alnAt="23"/>
                            </m:rPr>
                            <a:rPr lang="en-US" sz="2400" b="0" i="1" smtClean="0">
                              <a:solidFill>
                                <a:srgbClr val="231F20"/>
                              </a:solidFill>
                              <a:effectLst/>
                              <a:latin typeface="Cambria Math" panose="02040503050406030204" pitchFamily="18" charset="0"/>
                            </a:rPr>
                            <m:t>𝑡</m:t>
                          </m:r>
                          <m:r>
                            <a:rPr lang="en-US" sz="2400" b="0" i="1" smtClean="0">
                              <a:solidFill>
                                <a:srgbClr val="231F20"/>
                              </a:solidFill>
                              <a:effectLst/>
                              <a:latin typeface="Cambria Math" panose="02040503050406030204" pitchFamily="18" charset="0"/>
                            </a:rPr>
                            <m:t>=1</m:t>
                          </m:r>
                        </m:sub>
                        <m:sup>
                          <m:r>
                            <a:rPr lang="en-US" sz="2400" b="0" i="1" smtClean="0">
                              <a:solidFill>
                                <a:srgbClr val="231F20"/>
                              </a:solidFill>
                              <a:effectLst/>
                              <a:latin typeface="Cambria Math" panose="02040503050406030204" pitchFamily="18" charset="0"/>
                            </a:rPr>
                            <m:t>𝑛</m:t>
                          </m:r>
                        </m:sup>
                        <m:e>
                          <m:f>
                            <m:fPr>
                              <m:ctrlPr>
                                <a:rPr lang="en-US" sz="2400" b="0" i="1" smtClean="0">
                                  <a:solidFill>
                                    <a:srgbClr val="231F20"/>
                                  </a:solidFill>
                                  <a:effectLst/>
                                  <a:latin typeface="Cambria Math" panose="02040503050406030204" pitchFamily="18" charset="0"/>
                                </a:rPr>
                              </m:ctrlPr>
                            </m:fPr>
                            <m:num>
                              <m:r>
                                <a:rPr lang="en-US" sz="2400" b="0" i="1" smtClean="0">
                                  <a:solidFill>
                                    <a:srgbClr val="231F20"/>
                                  </a:solidFill>
                                  <a:effectLst/>
                                  <a:latin typeface="Cambria Math" panose="02040503050406030204" pitchFamily="18" charset="0"/>
                                </a:rPr>
                                <m:t>𝐶𝐹</m:t>
                              </m:r>
                            </m:num>
                            <m:den>
                              <m:sSup>
                                <m:sSupPr>
                                  <m:ctrlPr>
                                    <a:rPr lang="en-US" sz="2400" b="0" i="1" smtClean="0">
                                      <a:solidFill>
                                        <a:srgbClr val="231F20"/>
                                      </a:solidFill>
                                      <a:effectLst/>
                                      <a:latin typeface="Cambria Math" panose="02040503050406030204" pitchFamily="18" charset="0"/>
                                    </a:rPr>
                                  </m:ctrlPr>
                                </m:sSupPr>
                                <m:e>
                                  <m:d>
                                    <m:dPr>
                                      <m:ctrlPr>
                                        <a:rPr lang="en-US" sz="2400" i="1">
                                          <a:solidFill>
                                            <a:srgbClr val="231F20"/>
                                          </a:solidFill>
                                          <a:latin typeface="Cambria Math" panose="02040503050406030204" pitchFamily="18" charset="0"/>
                                        </a:rPr>
                                      </m:ctrlPr>
                                    </m:dPr>
                                    <m:e>
                                      <m:r>
                                        <a:rPr lang="en-US" sz="2400" i="1">
                                          <a:solidFill>
                                            <a:srgbClr val="231F20"/>
                                          </a:solidFill>
                                          <a:latin typeface="Cambria Math" panose="02040503050406030204" pitchFamily="18" charset="0"/>
                                        </a:rPr>
                                        <m:t>1+</m:t>
                                      </m:r>
                                      <m:r>
                                        <a:rPr lang="en-US" sz="2400" i="1">
                                          <a:solidFill>
                                            <a:srgbClr val="231F20"/>
                                          </a:solidFill>
                                          <a:latin typeface="Cambria Math" panose="02040503050406030204" pitchFamily="18" charset="0"/>
                                        </a:rPr>
                                        <m:t>𝑟</m:t>
                                      </m:r>
                                    </m:e>
                                  </m:d>
                                </m:e>
                                <m:sup>
                                  <m:r>
                                    <a:rPr lang="en-US" sz="2400" b="0" i="1" smtClean="0">
                                      <a:solidFill>
                                        <a:srgbClr val="231F20"/>
                                      </a:solidFill>
                                      <a:effectLst/>
                                      <a:latin typeface="Cambria Math" panose="02040503050406030204" pitchFamily="18" charset="0"/>
                                    </a:rPr>
                                    <m:t>𝑡</m:t>
                                  </m:r>
                                </m:sup>
                              </m:sSup>
                            </m:den>
                          </m:f>
                          <m:r>
                            <a:rPr lang="en-US" sz="2400" b="0" i="1" smtClean="0">
                              <a:solidFill>
                                <a:srgbClr val="231F20"/>
                              </a:solidFill>
                              <a:effectLst/>
                              <a:latin typeface="Cambria Math" panose="02040503050406030204" pitchFamily="18" charset="0"/>
                            </a:rPr>
                            <m:t>=</m:t>
                          </m:r>
                          <m:f>
                            <m:fPr>
                              <m:ctrlPr>
                                <a:rPr lang="en-US" sz="2400" i="1">
                                  <a:solidFill>
                                    <a:srgbClr val="231F20"/>
                                  </a:solidFill>
                                  <a:latin typeface="Cambria Math" panose="02040503050406030204" pitchFamily="18" charset="0"/>
                                </a:rPr>
                              </m:ctrlPr>
                            </m:fPr>
                            <m:num>
                              <m:sSup>
                                <m:sSupPr>
                                  <m:ctrlPr>
                                    <a:rPr lang="en-US" sz="2400" b="0" i="1" smtClean="0">
                                      <a:solidFill>
                                        <a:srgbClr val="231F20"/>
                                      </a:solidFill>
                                      <a:latin typeface="Cambria Math" panose="02040503050406030204" pitchFamily="18" charset="0"/>
                                    </a:rPr>
                                  </m:ctrlPr>
                                </m:sSupPr>
                                <m:e>
                                  <m:r>
                                    <a:rPr lang="mn-MN" sz="2400" i="1" smtClean="0">
                                      <a:solidFill>
                                        <a:srgbClr val="231F20"/>
                                      </a:solidFill>
                                      <a:latin typeface="Cambria Math" panose="02040503050406030204" pitchFamily="18" charset="0"/>
                                    </a:rPr>
                                    <m:t>5</m:t>
                                  </m:r>
                                  <m:r>
                                    <a:rPr lang="mn-MN" sz="2400" b="0" i="1" smtClean="0">
                                      <a:solidFill>
                                        <a:srgbClr val="231F20"/>
                                      </a:solidFill>
                                      <a:latin typeface="Cambria Math" panose="02040503050406030204" pitchFamily="18" charset="0"/>
                                    </a:rPr>
                                    <m:t>00</m:t>
                                  </m:r>
                                </m:e>
                                <m:sup>
                                  <m:r>
                                    <a:rPr lang="en-US" sz="2400" b="0" i="1" smtClean="0">
                                      <a:solidFill>
                                        <a:srgbClr val="231F20"/>
                                      </a:solidFill>
                                      <a:latin typeface="Cambria Math" panose="02040503050406030204" pitchFamily="18" charset="0"/>
                                    </a:rPr>
                                    <m:t>′</m:t>
                                  </m:r>
                                </m:sup>
                              </m:sSup>
                              <m:r>
                                <a:rPr lang="en-US" sz="2400" b="0" i="1" smtClean="0">
                                  <a:solidFill>
                                    <a:srgbClr val="231F20"/>
                                  </a:solidFill>
                                  <a:latin typeface="Cambria Math" panose="02040503050406030204" pitchFamily="18" charset="0"/>
                                </a:rPr>
                                <m:t>000</m:t>
                              </m:r>
                            </m:num>
                            <m:den>
                              <m:sSup>
                                <m:sSupPr>
                                  <m:ctrlPr>
                                    <a:rPr lang="en-US" sz="2400" i="1">
                                      <a:solidFill>
                                        <a:srgbClr val="231F20"/>
                                      </a:solidFill>
                                      <a:latin typeface="Cambria Math" panose="02040503050406030204" pitchFamily="18" charset="0"/>
                                    </a:rPr>
                                  </m:ctrlPr>
                                </m:sSupPr>
                                <m:e>
                                  <m:d>
                                    <m:dPr>
                                      <m:ctrlPr>
                                        <a:rPr lang="en-US" sz="2400" i="1">
                                          <a:solidFill>
                                            <a:srgbClr val="231F20"/>
                                          </a:solidFill>
                                          <a:latin typeface="Cambria Math" panose="02040503050406030204" pitchFamily="18" charset="0"/>
                                        </a:rPr>
                                      </m:ctrlPr>
                                    </m:dPr>
                                    <m:e>
                                      <m:r>
                                        <a:rPr lang="en-US" sz="2400" i="1">
                                          <a:solidFill>
                                            <a:srgbClr val="231F20"/>
                                          </a:solidFill>
                                          <a:latin typeface="Cambria Math" panose="02040503050406030204" pitchFamily="18" charset="0"/>
                                        </a:rPr>
                                        <m:t>1+</m:t>
                                      </m:r>
                                      <m:r>
                                        <a:rPr lang="en-US" sz="2400" b="0" i="1" smtClean="0">
                                          <a:solidFill>
                                            <a:srgbClr val="231F20"/>
                                          </a:solidFill>
                                          <a:latin typeface="Cambria Math" panose="02040503050406030204" pitchFamily="18" charset="0"/>
                                        </a:rPr>
                                        <m:t>0.05</m:t>
                                      </m:r>
                                    </m:e>
                                  </m:d>
                                </m:e>
                                <m:sup>
                                  <m:r>
                                    <a:rPr lang="en-US" sz="2400" b="0" i="1" smtClean="0">
                                      <a:solidFill>
                                        <a:srgbClr val="231F20"/>
                                      </a:solidFill>
                                      <a:latin typeface="Cambria Math" panose="02040503050406030204" pitchFamily="18" charset="0"/>
                                    </a:rPr>
                                    <m:t>1</m:t>
                                  </m:r>
                                </m:sup>
                              </m:sSup>
                            </m:den>
                          </m:f>
                          <m:r>
                            <a:rPr lang="en-US" sz="2400" b="0" i="1" smtClean="0">
                              <a:solidFill>
                                <a:srgbClr val="231F20"/>
                              </a:solidFill>
                              <a:latin typeface="Cambria Math" panose="02040503050406030204" pitchFamily="18" charset="0"/>
                            </a:rPr>
                            <m:t>+</m:t>
                          </m:r>
                          <m:f>
                            <m:fPr>
                              <m:ctrlPr>
                                <a:rPr lang="en-US" sz="2400" i="1">
                                  <a:solidFill>
                                    <a:srgbClr val="231F20"/>
                                  </a:solidFill>
                                  <a:latin typeface="Cambria Math" panose="02040503050406030204" pitchFamily="18" charset="0"/>
                                </a:rPr>
                              </m:ctrlPr>
                            </m:fPr>
                            <m:num>
                              <m:sSup>
                                <m:sSupPr>
                                  <m:ctrlPr>
                                    <a:rPr lang="en-US" sz="2400" i="1">
                                      <a:solidFill>
                                        <a:srgbClr val="231F20"/>
                                      </a:solidFill>
                                      <a:latin typeface="Cambria Math" panose="02040503050406030204" pitchFamily="18" charset="0"/>
                                    </a:rPr>
                                  </m:ctrlPr>
                                </m:sSupPr>
                                <m:e>
                                  <m:r>
                                    <a:rPr lang="en-US" sz="2400" b="0" i="1" smtClean="0">
                                      <a:solidFill>
                                        <a:srgbClr val="231F20"/>
                                      </a:solidFill>
                                      <a:latin typeface="Cambria Math" panose="02040503050406030204" pitchFamily="18" charset="0"/>
                                    </a:rPr>
                                    <m:t>6</m:t>
                                  </m:r>
                                  <m:r>
                                    <a:rPr lang="mn-MN" sz="2400" i="1">
                                      <a:solidFill>
                                        <a:srgbClr val="231F20"/>
                                      </a:solidFill>
                                      <a:latin typeface="Cambria Math" panose="02040503050406030204" pitchFamily="18" charset="0"/>
                                    </a:rPr>
                                    <m:t>00</m:t>
                                  </m:r>
                                </m:e>
                                <m:sup>
                                  <m:r>
                                    <a:rPr lang="en-US" sz="2400" i="1">
                                      <a:solidFill>
                                        <a:srgbClr val="231F20"/>
                                      </a:solidFill>
                                      <a:latin typeface="Cambria Math" panose="02040503050406030204" pitchFamily="18" charset="0"/>
                                    </a:rPr>
                                    <m:t>′</m:t>
                                  </m:r>
                                </m:sup>
                              </m:sSup>
                              <m:r>
                                <a:rPr lang="en-US" sz="2400" i="1">
                                  <a:solidFill>
                                    <a:srgbClr val="231F20"/>
                                  </a:solidFill>
                                  <a:latin typeface="Cambria Math" panose="02040503050406030204" pitchFamily="18" charset="0"/>
                                </a:rPr>
                                <m:t>000</m:t>
                              </m:r>
                            </m:num>
                            <m:den>
                              <m:sSup>
                                <m:sSupPr>
                                  <m:ctrlPr>
                                    <a:rPr lang="en-US" sz="2400" i="1">
                                      <a:solidFill>
                                        <a:srgbClr val="231F20"/>
                                      </a:solidFill>
                                      <a:latin typeface="Cambria Math" panose="02040503050406030204" pitchFamily="18" charset="0"/>
                                    </a:rPr>
                                  </m:ctrlPr>
                                </m:sSupPr>
                                <m:e>
                                  <m:d>
                                    <m:dPr>
                                      <m:ctrlPr>
                                        <a:rPr lang="en-US" sz="2400" i="1">
                                          <a:solidFill>
                                            <a:srgbClr val="231F20"/>
                                          </a:solidFill>
                                          <a:latin typeface="Cambria Math" panose="02040503050406030204" pitchFamily="18" charset="0"/>
                                        </a:rPr>
                                      </m:ctrlPr>
                                    </m:dPr>
                                    <m:e>
                                      <m:r>
                                        <a:rPr lang="en-US" sz="2400" i="1">
                                          <a:solidFill>
                                            <a:srgbClr val="231F20"/>
                                          </a:solidFill>
                                          <a:latin typeface="Cambria Math" panose="02040503050406030204" pitchFamily="18" charset="0"/>
                                        </a:rPr>
                                        <m:t>1+0.05</m:t>
                                      </m:r>
                                    </m:e>
                                  </m:d>
                                </m:e>
                                <m:sup>
                                  <m:r>
                                    <a:rPr lang="en-US" sz="2400" b="0" i="1" smtClean="0">
                                      <a:solidFill>
                                        <a:srgbClr val="231F20"/>
                                      </a:solidFill>
                                      <a:latin typeface="Cambria Math" panose="02040503050406030204" pitchFamily="18" charset="0"/>
                                    </a:rPr>
                                    <m:t>2</m:t>
                                  </m:r>
                                </m:sup>
                              </m:sSup>
                            </m:den>
                          </m:f>
                        </m:e>
                      </m:nary>
                    </m:oMath>
                  </m:oMathPara>
                </a14:m>
                <a:endParaRPr lang="en-US" sz="2400" dirty="0">
                  <a:solidFill>
                    <a:srgbClr val="231F20"/>
                  </a:solidFill>
                  <a:effectLst/>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mn-MN" sz="1600" b="0" i="1" dirty="0">
                  <a:solidFill>
                    <a:srgbClr val="231F20"/>
                  </a:solidFill>
                  <a:effectLst/>
                  <a:latin typeface="Cambria Math" panose="02040503050406030204" pitchFamily="18" charset="0"/>
                  <a:ea typeface="Times New Roman" panose="02020603050405020304" pitchFamily="18" charset="0"/>
                </a:endParaRPr>
              </a:p>
              <a:p>
                <a:pPr marL="84455" marR="132080" indent="0" algn="just">
                  <a:spcBef>
                    <a:spcPts val="0"/>
                  </a:spcBef>
                  <a:spcAft>
                    <a:spcPts val="0"/>
                  </a:spcAft>
                  <a:buNone/>
                </a:pPr>
                <a14:m>
                  <m:oMath xmlns:m="http://schemas.openxmlformats.org/officeDocument/2006/math">
                    <m:r>
                      <a:rPr lang="en-US" sz="2400" b="0" i="1" smtClean="0">
                        <a:solidFill>
                          <a:srgbClr val="231F20"/>
                        </a:solidFill>
                        <a:effectLst/>
                        <a:latin typeface="Cambria Math" panose="02040503050406030204" pitchFamily="18" charset="0"/>
                        <a:ea typeface="Times New Roman" panose="02020603050405020304" pitchFamily="18" charset="0"/>
                      </a:rPr>
                      <m:t>𝑉</m:t>
                    </m:r>
                    <m:r>
                      <a:rPr lang="en-US" sz="2400" b="0" i="1" smtClean="0">
                        <a:solidFill>
                          <a:srgbClr val="231F20"/>
                        </a:solidFill>
                        <a:effectLst/>
                        <a:latin typeface="Cambria Math" panose="02040503050406030204" pitchFamily="18" charset="0"/>
                        <a:ea typeface="Times New Roman" panose="02020603050405020304" pitchFamily="18" charset="0"/>
                      </a:rPr>
                      <m:t>=</m:t>
                    </m:r>
                    <m:sSup>
                      <m:sSupPr>
                        <m:ctrlPr>
                          <a:rPr lang="en-US" sz="2400" i="1">
                            <a:solidFill>
                              <a:srgbClr val="231F20"/>
                            </a:solidFill>
                            <a:latin typeface="Cambria Math" panose="02040503050406030204" pitchFamily="18" charset="0"/>
                          </a:rPr>
                        </m:ctrlPr>
                      </m:sSupPr>
                      <m:e>
                        <m:r>
                          <a:rPr lang="en-US" sz="2400" i="1">
                            <a:solidFill>
                              <a:srgbClr val="231F20"/>
                            </a:solidFill>
                            <a:latin typeface="Cambria Math" panose="02040503050406030204" pitchFamily="18" charset="0"/>
                          </a:rPr>
                          <m:t>476</m:t>
                        </m:r>
                      </m:e>
                      <m:sup>
                        <m:r>
                          <a:rPr lang="en-US" sz="2400" i="1">
                            <a:solidFill>
                              <a:srgbClr val="231F20"/>
                            </a:solidFill>
                            <a:latin typeface="Cambria Math" panose="02040503050406030204" pitchFamily="18" charset="0"/>
                          </a:rPr>
                          <m:t>′</m:t>
                        </m:r>
                      </m:sup>
                    </m:sSup>
                    <m:r>
                      <a:rPr lang="en-US" sz="2400" i="1">
                        <a:solidFill>
                          <a:srgbClr val="231F20"/>
                        </a:solidFill>
                        <a:latin typeface="Cambria Math" panose="02040503050406030204" pitchFamily="18" charset="0"/>
                      </a:rPr>
                      <m:t>200+</m:t>
                    </m:r>
                    <m:sSup>
                      <m:sSupPr>
                        <m:ctrlPr>
                          <a:rPr lang="en-US" sz="2400" i="1">
                            <a:solidFill>
                              <a:srgbClr val="231F20"/>
                            </a:solidFill>
                            <a:latin typeface="Cambria Math" panose="02040503050406030204" pitchFamily="18" charset="0"/>
                          </a:rPr>
                        </m:ctrlPr>
                      </m:sSupPr>
                      <m:e>
                        <m:r>
                          <a:rPr lang="en-US" sz="2400" i="1">
                            <a:solidFill>
                              <a:srgbClr val="231F20"/>
                            </a:solidFill>
                            <a:latin typeface="Cambria Math" panose="02040503050406030204" pitchFamily="18" charset="0"/>
                          </a:rPr>
                          <m:t>544</m:t>
                        </m:r>
                      </m:e>
                      <m:sup>
                        <m:r>
                          <a:rPr lang="en-US" sz="2400" i="1">
                            <a:solidFill>
                              <a:srgbClr val="231F20"/>
                            </a:solidFill>
                            <a:latin typeface="Cambria Math" panose="02040503050406030204" pitchFamily="18" charset="0"/>
                          </a:rPr>
                          <m:t>′</m:t>
                        </m:r>
                      </m:sup>
                    </m:sSup>
                    <m:r>
                      <a:rPr lang="en-US" sz="2400" i="1">
                        <a:solidFill>
                          <a:srgbClr val="231F20"/>
                        </a:solidFill>
                        <a:latin typeface="Cambria Math" panose="02040503050406030204" pitchFamily="18" charset="0"/>
                      </a:rPr>
                      <m:t>200=</m:t>
                    </m:r>
                    <m:sSup>
                      <m:sSupPr>
                        <m:ctrlPr>
                          <a:rPr lang="en-US" sz="2400" i="1">
                            <a:solidFill>
                              <a:srgbClr val="231F20"/>
                            </a:solidFill>
                            <a:latin typeface="Cambria Math" panose="02040503050406030204" pitchFamily="18" charset="0"/>
                          </a:rPr>
                        </m:ctrlPr>
                      </m:sSupPr>
                      <m:e>
                        <m:r>
                          <a:rPr lang="en-US" sz="2400" i="1">
                            <a:solidFill>
                              <a:srgbClr val="231F20"/>
                            </a:solidFill>
                            <a:latin typeface="Cambria Math" panose="02040503050406030204" pitchFamily="18" charset="0"/>
                          </a:rPr>
                          <m:t>1</m:t>
                        </m:r>
                      </m:e>
                      <m:sup>
                        <m:r>
                          <a:rPr lang="en-US" sz="2400" i="1">
                            <a:solidFill>
                              <a:srgbClr val="231F20"/>
                            </a:solidFill>
                            <a:latin typeface="Cambria Math" panose="02040503050406030204" pitchFamily="18" charset="0"/>
                          </a:rPr>
                          <m:t>′</m:t>
                        </m:r>
                      </m:sup>
                    </m:sSup>
                    <m:sSup>
                      <m:sSupPr>
                        <m:ctrlPr>
                          <a:rPr lang="en-US" sz="2400" b="0" i="1" smtClean="0">
                            <a:solidFill>
                              <a:srgbClr val="231F20"/>
                            </a:solidFill>
                            <a:latin typeface="Cambria Math" panose="02040503050406030204" pitchFamily="18" charset="0"/>
                          </a:rPr>
                        </m:ctrlPr>
                      </m:sSupPr>
                      <m:e>
                        <m:r>
                          <a:rPr lang="en-US" sz="2400" b="0" i="1" smtClean="0">
                            <a:solidFill>
                              <a:srgbClr val="231F20"/>
                            </a:solidFill>
                            <a:latin typeface="Cambria Math" panose="02040503050406030204" pitchFamily="18" charset="0"/>
                          </a:rPr>
                          <m:t>020</m:t>
                        </m:r>
                      </m:e>
                      <m:sup>
                        <m:r>
                          <a:rPr lang="en-US" sz="2400" b="0" i="1" smtClean="0">
                            <a:solidFill>
                              <a:srgbClr val="231F20"/>
                            </a:solidFill>
                            <a:latin typeface="Cambria Math" panose="02040503050406030204" pitchFamily="18" charset="0"/>
                          </a:rPr>
                          <m:t>′</m:t>
                        </m:r>
                      </m:sup>
                    </m:sSup>
                    <m:r>
                      <a:rPr lang="en-US" sz="2400" b="0" i="1" smtClean="0">
                        <a:solidFill>
                          <a:srgbClr val="231F20"/>
                        </a:solidFill>
                        <a:latin typeface="Cambria Math" panose="02040503050406030204" pitchFamily="18" charset="0"/>
                      </a:rPr>
                      <m:t>40</m:t>
                    </m:r>
                  </m:oMath>
                </a14:m>
                <a:r>
                  <a:rPr lang="en-US" sz="2400" dirty="0">
                    <a:solidFill>
                      <a:srgbClr val="231F20"/>
                    </a:solidFill>
                    <a:effectLst/>
                    <a:latin typeface="Times New Roman" panose="02020603050405020304" pitchFamily="18" charset="0"/>
                    <a:ea typeface="Times New Roman" panose="02020603050405020304" pitchFamily="18" charset="0"/>
                  </a:rPr>
                  <a:t> </a:t>
                </a:r>
                <a:r>
                  <a:rPr lang="mn-MN" sz="2400" dirty="0">
                    <a:solidFill>
                      <a:srgbClr val="231F20"/>
                    </a:solidFill>
                    <a:effectLst/>
                    <a:latin typeface="Times New Roman" panose="02020603050405020304" pitchFamily="18" charset="0"/>
                    <a:ea typeface="Times New Roman" panose="02020603050405020304" pitchFamily="18" charset="0"/>
                  </a:rPr>
                  <a:t>төгрөг болно.</a:t>
                </a:r>
              </a:p>
            </p:txBody>
          </p:sp>
        </mc:Choice>
        <mc:Fallback xmlns="">
          <p:sp>
            <p:nvSpPr>
              <p:cNvPr id="3" name="Content Placeholder 2">
                <a:extLst>
                  <a:ext uri="{FF2B5EF4-FFF2-40B4-BE49-F238E27FC236}">
                    <a16:creationId xmlns:a16="http://schemas.microsoft.com/office/drawing/2014/main" id="{7C39B0E0-D359-15E0-1B32-AD41AA948884}"/>
                  </a:ext>
                </a:extLst>
              </p:cNvPr>
              <p:cNvSpPr>
                <a:spLocks noGrp="1" noRot="1" noChangeAspect="1" noMove="1" noResize="1" noEditPoints="1" noAdjustHandles="1" noChangeArrowheads="1" noChangeShapeType="1" noTextEdit="1"/>
              </p:cNvSpPr>
              <p:nvPr>
                <p:ph idx="1"/>
              </p:nvPr>
            </p:nvSpPr>
            <p:spPr>
              <a:xfrm>
                <a:off x="198474" y="337071"/>
                <a:ext cx="11795052" cy="2516714"/>
              </a:xfrm>
              <a:blipFill>
                <a:blip r:embed="rId3"/>
                <a:stretch>
                  <a:fillRect t="-2663" b="-2663"/>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764EE799-F66F-4FA5-A0B7-4A7B3743F835}"/>
              </a:ext>
            </a:extLst>
          </p:cNvPr>
          <p:cNvSpPr txBox="1">
            <a:spLocks/>
          </p:cNvSpPr>
          <p:nvPr/>
        </p:nvSpPr>
        <p:spPr>
          <a:xfrm>
            <a:off x="7002049" y="958858"/>
            <a:ext cx="4991477" cy="1699319"/>
          </a:xfrm>
          <a:prstGeom prst="rect">
            <a:avLst/>
          </a:prstGeom>
          <a:ln>
            <a:solidFill>
              <a:srgbClr val="00B0F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en-US" sz="2000" b="1" i="1" dirty="0">
                <a:solidFill>
                  <a:srgbClr val="231F20"/>
                </a:solidFill>
                <a:latin typeface="Times New Roman" panose="02020603050405020304" pitchFamily="18" charset="0"/>
                <a:ea typeface="Times New Roman" panose="02020603050405020304" pitchFamily="18" charset="0"/>
              </a:rPr>
              <a:t>V</a:t>
            </a:r>
            <a:r>
              <a:rPr lang="en-US" sz="2000" dirty="0">
                <a:solidFill>
                  <a:srgbClr val="231F20"/>
                </a:solidFill>
                <a:latin typeface="Times New Roman" panose="02020603050405020304" pitchFamily="18" charset="0"/>
                <a:ea typeface="Times New Roman" panose="02020603050405020304" pitchFamily="18" charset="0"/>
              </a:rPr>
              <a:t>- valuation </a:t>
            </a:r>
            <a:r>
              <a:rPr lang="kk-KZ" sz="2000" dirty="0">
                <a:solidFill>
                  <a:srgbClr val="231F20"/>
                </a:solidFill>
                <a:latin typeface="Times New Roman" panose="02020603050405020304" pitchFamily="18" charset="0"/>
                <a:ea typeface="Times New Roman" panose="02020603050405020304" pitchFamily="18" charset="0"/>
              </a:rPr>
              <a:t>буюу үнэлгээ </a:t>
            </a:r>
          </a:p>
          <a:p>
            <a:pPr marL="84455" marR="132080" indent="0" algn="just">
              <a:spcBef>
                <a:spcPts val="0"/>
              </a:spcBef>
              <a:buFont typeface="Arial" panose="020B0604020202020204" pitchFamily="34" charset="0"/>
              <a:buNone/>
            </a:pPr>
            <a:r>
              <a:rPr lang="en-US" sz="2000" b="1" i="1" dirty="0">
                <a:solidFill>
                  <a:srgbClr val="231F20"/>
                </a:solidFill>
                <a:latin typeface="Times New Roman" panose="02020603050405020304" pitchFamily="18" charset="0"/>
                <a:ea typeface="Times New Roman" panose="02020603050405020304" pitchFamily="18" charset="0"/>
              </a:rPr>
              <a:t>CF</a:t>
            </a:r>
            <a:r>
              <a:rPr lang="en-US" sz="2000" i="1" dirty="0">
                <a:solidFill>
                  <a:srgbClr val="231F20"/>
                </a:solidFill>
                <a:latin typeface="Times New Roman" panose="02020603050405020304" pitchFamily="18" charset="0"/>
                <a:ea typeface="Times New Roman" panose="02020603050405020304" pitchFamily="18" charset="0"/>
              </a:rPr>
              <a:t> </a:t>
            </a:r>
            <a:r>
              <a:rPr lang="en-US" sz="2000" dirty="0">
                <a:solidFill>
                  <a:srgbClr val="231F20"/>
                </a:solidFill>
                <a:latin typeface="Times New Roman" panose="02020603050405020304" pitchFamily="18" charset="0"/>
                <a:ea typeface="Times New Roman" panose="02020603050405020304" pitchFamily="18" charset="0"/>
              </a:rPr>
              <a:t>- cash flows - </a:t>
            </a:r>
            <a:r>
              <a:rPr lang="kk-KZ" sz="2000" dirty="0">
                <a:solidFill>
                  <a:srgbClr val="231F20"/>
                </a:solidFill>
                <a:latin typeface="Times New Roman" panose="02020603050405020304" pitchFamily="18" charset="0"/>
                <a:ea typeface="Times New Roman" panose="02020603050405020304" pitchFamily="18" charset="0"/>
              </a:rPr>
              <a:t>мөнгөн урсгал </a:t>
            </a:r>
          </a:p>
          <a:p>
            <a:pPr marL="84455" marR="132080" indent="0" algn="just">
              <a:spcBef>
                <a:spcPts val="0"/>
              </a:spcBef>
              <a:buFont typeface="Arial" panose="020B0604020202020204" pitchFamily="34" charset="0"/>
              <a:buNone/>
            </a:pPr>
            <a:r>
              <a:rPr lang="en-US" sz="2000" b="1" i="1" dirty="0">
                <a:solidFill>
                  <a:srgbClr val="231F20"/>
                </a:solidFill>
                <a:latin typeface="Times New Roman" panose="02020603050405020304" pitchFamily="18" charset="0"/>
                <a:ea typeface="Times New Roman" panose="02020603050405020304" pitchFamily="18" charset="0"/>
              </a:rPr>
              <a:t>r </a:t>
            </a:r>
            <a:r>
              <a:rPr lang="en-US" sz="2000" dirty="0">
                <a:solidFill>
                  <a:srgbClr val="231F20"/>
                </a:solidFill>
                <a:latin typeface="Times New Roman" panose="02020603050405020304" pitchFamily="18" charset="0"/>
                <a:ea typeface="Times New Roman" panose="02020603050405020304" pitchFamily="18" charset="0"/>
              </a:rPr>
              <a:t>- discount rate - </a:t>
            </a:r>
            <a:r>
              <a:rPr lang="kk-KZ" sz="2000" dirty="0">
                <a:solidFill>
                  <a:srgbClr val="231F20"/>
                </a:solidFill>
                <a:latin typeface="Times New Roman" panose="02020603050405020304" pitchFamily="18" charset="0"/>
                <a:ea typeface="Times New Roman" panose="02020603050405020304" pitchFamily="18" charset="0"/>
              </a:rPr>
              <a:t>хорогдуулалтын хүү </a:t>
            </a:r>
          </a:p>
          <a:p>
            <a:pPr marL="84455" marR="132080" indent="0" algn="just">
              <a:spcBef>
                <a:spcPts val="0"/>
              </a:spcBef>
              <a:buFont typeface="Arial" panose="020B0604020202020204" pitchFamily="34" charset="0"/>
              <a:buNone/>
            </a:pPr>
            <a:r>
              <a:rPr lang="en-US" sz="2000" b="1" i="1" dirty="0">
                <a:solidFill>
                  <a:srgbClr val="231F20"/>
                </a:solidFill>
                <a:latin typeface="Times New Roman" panose="02020603050405020304" pitchFamily="18" charset="0"/>
                <a:ea typeface="Times New Roman" panose="02020603050405020304" pitchFamily="18" charset="0"/>
              </a:rPr>
              <a:t>n</a:t>
            </a:r>
            <a:r>
              <a:rPr lang="en-US" sz="2000" i="1" dirty="0">
                <a:solidFill>
                  <a:srgbClr val="231F20"/>
                </a:solidFill>
                <a:latin typeface="Times New Roman" panose="02020603050405020304" pitchFamily="18" charset="0"/>
                <a:ea typeface="Times New Roman" panose="02020603050405020304" pitchFamily="18" charset="0"/>
              </a:rPr>
              <a:t> </a:t>
            </a:r>
            <a:r>
              <a:rPr lang="en-US" sz="2000" dirty="0">
                <a:solidFill>
                  <a:srgbClr val="231F20"/>
                </a:solidFill>
                <a:latin typeface="Times New Roman" panose="02020603050405020304" pitchFamily="18" charset="0"/>
                <a:ea typeface="Times New Roman" panose="02020603050405020304" pitchFamily="18" charset="0"/>
              </a:rPr>
              <a:t>- number of periods - </a:t>
            </a:r>
            <a:r>
              <a:rPr lang="kk-KZ" sz="2000" dirty="0">
                <a:solidFill>
                  <a:srgbClr val="231F20"/>
                </a:solidFill>
                <a:latin typeface="Times New Roman" panose="02020603050405020304" pitchFamily="18" charset="0"/>
                <a:ea typeface="Times New Roman" panose="02020603050405020304" pitchFamily="18" charset="0"/>
              </a:rPr>
              <a:t>үеийн тоо/нийт хугацаа/ </a:t>
            </a:r>
          </a:p>
          <a:p>
            <a:pPr marL="84455" marR="132080" indent="0" algn="just">
              <a:spcBef>
                <a:spcPts val="0"/>
              </a:spcBef>
              <a:buFont typeface="Arial" panose="020B0604020202020204" pitchFamily="34" charset="0"/>
              <a:buNone/>
            </a:pPr>
            <a:r>
              <a:rPr lang="en-US" sz="2000" b="1" i="1" dirty="0">
                <a:solidFill>
                  <a:srgbClr val="231F20"/>
                </a:solidFill>
                <a:latin typeface="Times New Roman" panose="02020603050405020304" pitchFamily="18" charset="0"/>
                <a:ea typeface="Times New Roman" panose="02020603050405020304" pitchFamily="18" charset="0"/>
              </a:rPr>
              <a:t>t </a:t>
            </a:r>
            <a:r>
              <a:rPr lang="en-US" sz="2000" dirty="0">
                <a:solidFill>
                  <a:srgbClr val="231F20"/>
                </a:solidFill>
                <a:latin typeface="Times New Roman" panose="02020603050405020304" pitchFamily="18" charset="0"/>
                <a:ea typeface="Times New Roman" panose="02020603050405020304" pitchFamily="18" charset="0"/>
              </a:rPr>
              <a:t>- a period of time - </a:t>
            </a:r>
            <a:r>
              <a:rPr lang="kk-KZ" sz="2000" dirty="0">
                <a:solidFill>
                  <a:srgbClr val="231F20"/>
                </a:solidFill>
                <a:latin typeface="Times New Roman" panose="02020603050405020304" pitchFamily="18" charset="0"/>
                <a:ea typeface="Times New Roman" panose="02020603050405020304" pitchFamily="18" charset="0"/>
              </a:rPr>
              <a:t>хугацааны нэг үе. </a:t>
            </a:r>
          </a:p>
        </p:txBody>
      </p:sp>
      <p:sp>
        <p:nvSpPr>
          <p:cNvPr id="5" name="Content Placeholder 2">
            <a:extLst>
              <a:ext uri="{FF2B5EF4-FFF2-40B4-BE49-F238E27FC236}">
                <a16:creationId xmlns:a16="http://schemas.microsoft.com/office/drawing/2014/main" id="{A304DAB0-6629-478F-B0A5-FEE19C0CA2F7}"/>
              </a:ext>
            </a:extLst>
          </p:cNvPr>
          <p:cNvSpPr txBox="1">
            <a:spLocks/>
          </p:cNvSpPr>
          <p:nvPr/>
        </p:nvSpPr>
        <p:spPr>
          <a:xfrm>
            <a:off x="198474" y="2633125"/>
            <a:ext cx="11795052" cy="25167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mn-MN" sz="2000" dirty="0">
                <a:solidFill>
                  <a:srgbClr val="231F20"/>
                </a:solidFill>
                <a:latin typeface="Times New Roman" panose="02020603050405020304" pitchFamily="18" charset="0"/>
                <a:ea typeface="Times New Roman" panose="02020603050405020304" pitchFamily="18" charset="0"/>
              </a:rPr>
              <a:t>Энэхүү үнэт цасны өнөөдрийн үнэлгээ 1020400 тегрег байна гэж үзнэ. Хорогдуулалтын хүү 5% байхад дараах дүгнэлтийг хийж болох юм. </a:t>
            </a:r>
          </a:p>
          <a:p>
            <a:pPr marL="541338" marR="132080" indent="-254000" algn="just">
              <a:spcBef>
                <a:spcPts val="0"/>
              </a:spcBef>
              <a:buFont typeface="+mj-lt"/>
              <a:buAutoNum type="arabicParenR"/>
            </a:pPr>
            <a:r>
              <a:rPr lang="mn-MN" sz="2000" dirty="0">
                <a:solidFill>
                  <a:srgbClr val="231F20"/>
                </a:solidFill>
                <a:latin typeface="Times New Roman" panose="02020603050405020304" pitchFamily="18" charset="0"/>
                <a:ea typeface="Times New Roman" panose="02020603050405020304" pitchFamily="18" charset="0"/>
              </a:rPr>
              <a:t> Хэрвээ 1020400 төгрөгөөс илүү мөнгөөр уг үнэт цаасыг худалдан авах буюу хөрөнгө оруулалт хийвэл 5%-аас бага өгөөж олно гэсэн үг.  </a:t>
            </a:r>
          </a:p>
          <a:p>
            <a:pPr marL="541338" marR="132080" indent="-254000" algn="just">
              <a:spcBef>
                <a:spcPts val="0"/>
              </a:spcBef>
              <a:buFont typeface="+mj-lt"/>
              <a:buAutoNum type="arabicParenR"/>
            </a:pPr>
            <a:r>
              <a:rPr lang="mn-MN" sz="2000" dirty="0">
                <a:solidFill>
                  <a:srgbClr val="231F20"/>
                </a:solidFill>
                <a:latin typeface="Times New Roman" panose="02020603050405020304" pitchFamily="18" charset="0"/>
                <a:ea typeface="Times New Roman" panose="02020603050405020304" pitchFamily="18" charset="0"/>
              </a:rPr>
              <a:t>Хэрвээ 1020400 төгрөгөөс бага мөнгөөр уг үнэт цаасыг худалдан авах буюу хөрөнгө оруулалт хийвэл 5%-аас илүү өгөөж олно гэсэн үг. </a:t>
            </a:r>
          </a:p>
          <a:p>
            <a:pPr marL="541338" marR="132080" indent="-254000" algn="just">
              <a:spcBef>
                <a:spcPts val="0"/>
              </a:spcBef>
              <a:buFont typeface="+mj-lt"/>
              <a:buAutoNum type="arabicParenR"/>
            </a:pPr>
            <a:r>
              <a:rPr lang="mn-MN" sz="2000" dirty="0">
                <a:solidFill>
                  <a:srgbClr val="231F20"/>
                </a:solidFill>
                <a:latin typeface="Times New Roman" panose="02020603050405020304" pitchFamily="18" charset="0"/>
                <a:ea typeface="Times New Roman" panose="02020603050405020304" pitchFamily="18" charset="0"/>
              </a:rPr>
              <a:t>Хэрвээ 1020400 төгрөгөөр уг үнэт цаасыг худалдан авах буюу хөрөнгө оруулалт хийвэл 5%-ийн өгөөж олохыг харуулж байна. </a:t>
            </a:r>
          </a:p>
          <a:p>
            <a:pPr marL="84455" marR="132080" indent="0" algn="just">
              <a:spcBef>
                <a:spcPts val="0"/>
              </a:spcBef>
              <a:buFont typeface="Arial" panose="020B0604020202020204" pitchFamily="34" charset="0"/>
              <a:buNone/>
            </a:pPr>
            <a:r>
              <a:rPr lang="mn-MN" sz="2000" dirty="0">
                <a:solidFill>
                  <a:srgbClr val="231F20"/>
                </a:solidFill>
                <a:latin typeface="Times New Roman" panose="02020603050405020304" pitchFamily="18" charset="0"/>
                <a:ea typeface="Times New Roman" panose="02020603050405020304" pitchFamily="18" charset="0"/>
              </a:rPr>
              <a:t>Эндээс үнэт цаасны хөрөнгө оруулалтын үнэ цэнэ нь юунаас, хэрхэн хамаарч байгааг гаргаж болно. Энэ нь дараах 2 үндсэн хүчин зүйлээс хамаарна. </a:t>
            </a:r>
          </a:p>
          <a:p>
            <a:pPr marL="627063" marR="132080" indent="-401638" algn="just">
              <a:spcBef>
                <a:spcPts val="0"/>
              </a:spcBef>
              <a:buFont typeface="+mj-lt"/>
              <a:buAutoNum type="arabicPeriod"/>
            </a:pPr>
            <a:r>
              <a:rPr lang="mn-MN" sz="2000" dirty="0">
                <a:solidFill>
                  <a:srgbClr val="231F20"/>
                </a:solidFill>
                <a:latin typeface="Times New Roman" panose="02020603050405020304" pitchFamily="18" charset="0"/>
                <a:ea typeface="Times New Roman" panose="02020603050405020304" pitchFamily="18" charset="0"/>
              </a:rPr>
              <a:t>Ирээдүйн мөнгөн урсгалын хэмжээ ба хугацаа </a:t>
            </a:r>
          </a:p>
          <a:p>
            <a:pPr marL="627063" marR="132080" indent="-401638" algn="just">
              <a:spcBef>
                <a:spcPts val="0"/>
              </a:spcBef>
              <a:buFont typeface="+mj-lt"/>
              <a:buAutoNum type="arabicPeriod"/>
            </a:pPr>
            <a:r>
              <a:rPr lang="mn-MN" sz="2000" dirty="0">
                <a:solidFill>
                  <a:srgbClr val="231F20"/>
                </a:solidFill>
                <a:latin typeface="Times New Roman" panose="02020603050405020304" pitchFamily="18" charset="0"/>
                <a:ea typeface="Times New Roman" panose="02020603050405020304" pitchFamily="18" charset="0"/>
              </a:rPr>
              <a:t>Ирээдүйн мөнгөн урсгалыг өнөөгийн үнэ цэнэд шилжүүлэхэд ашиглагдаж байгаа хорогдуулгын хүү болно. </a:t>
            </a:r>
          </a:p>
          <a:p>
            <a:pPr marL="84455" marR="132080" indent="0" algn="just">
              <a:spcBef>
                <a:spcPts val="0"/>
              </a:spcBef>
              <a:buFont typeface="Arial" panose="020B0604020202020204" pitchFamily="34" charset="0"/>
              <a:buNone/>
            </a:pPr>
            <a:r>
              <a:rPr lang="mn-MN" sz="2000" dirty="0">
                <a:solidFill>
                  <a:srgbClr val="231F20"/>
                </a:solidFill>
                <a:latin typeface="Times New Roman" panose="02020603050405020304" pitchFamily="18" charset="0"/>
                <a:ea typeface="Times New Roman" panose="02020603050405020304" pitchFamily="18" charset="0"/>
              </a:rPr>
              <a:t>Бид тодорхой нэг хөрөнгө оруулалтыг үнэлэхэд түүнээс хүлээгдэж буй ирээдүйн мөнгөн урсгалуудыг мэдэж байх шаардлагатай.</a:t>
            </a:r>
          </a:p>
        </p:txBody>
      </p:sp>
    </p:spTree>
    <p:extLst>
      <p:ext uri="{BB962C8B-B14F-4D97-AF65-F5344CB8AC3E}">
        <p14:creationId xmlns:p14="http://schemas.microsoft.com/office/powerpoint/2010/main" val="3052680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00236" y="16161"/>
            <a:ext cx="11578477" cy="418652"/>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Бондын үнэлгээ</a:t>
            </a:r>
            <a:r>
              <a:rPr lang="en-US" sz="2400" b="1" dirty="0">
                <a:solidFill>
                  <a:srgbClr val="0000FF"/>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198474" y="337070"/>
            <a:ext cx="11795052" cy="6013625"/>
          </a:xfrm>
        </p:spPr>
        <p:txBody>
          <a:bodyPr>
            <a:noAutofit/>
          </a:bodyPr>
          <a:lstStyle/>
          <a:p>
            <a:pPr marL="84455" marR="132080" indent="0" algn="just">
              <a:spcBef>
                <a:spcPts val="0"/>
              </a:spcBef>
              <a:spcAft>
                <a:spcPts val="0"/>
              </a:spcAft>
              <a:buNone/>
            </a:pPr>
            <a:r>
              <a:rPr lang="mn-MN" sz="2400" dirty="0">
                <a:solidFill>
                  <a:srgbClr val="231F20"/>
                </a:solidFill>
                <a:effectLst/>
                <a:latin typeface="Times New Roman" panose="02020603050405020304" pitchFamily="18" charset="0"/>
                <a:ea typeface="Times New Roman" panose="02020603050405020304" pitchFamily="18" charset="0"/>
              </a:rPr>
              <a:t>Бонд бол өрийн бичиг бөгөөд өрийн баталгаа болдог. Тодруулж хэлбэл бонд гаргагч нь заасан хугацааны дараа бонд худалдан авагчийн мөнгийг хүүгийн хамт буцаан төлөхийг амласан өрийн баталгаа бичиг юм. Бонд нь нэрлэсэн үнэтэй байх бөгөөд түүний хүү нь нэрлэсэн үнээс тооцогдож төлөгддөг. Бондын хүүг улирал /</a:t>
            </a:r>
            <a:r>
              <a:rPr lang="en-US" sz="2400" dirty="0">
                <a:solidFill>
                  <a:srgbClr val="231F20"/>
                </a:solidFill>
                <a:effectLst/>
                <a:latin typeface="Times New Roman" panose="02020603050405020304" pitchFamily="18" charset="0"/>
                <a:ea typeface="Times New Roman" panose="02020603050405020304" pitchFamily="18" charset="0"/>
              </a:rPr>
              <a:t>quarterly/, </a:t>
            </a:r>
            <a:r>
              <a:rPr lang="mn-MN" sz="2400" dirty="0">
                <a:solidFill>
                  <a:srgbClr val="231F20"/>
                </a:solidFill>
                <a:effectLst/>
                <a:latin typeface="Times New Roman" panose="02020603050405020304" pitchFamily="18" charset="0"/>
                <a:ea typeface="Times New Roman" panose="02020603050405020304" pitchFamily="18" charset="0"/>
              </a:rPr>
              <a:t>хагас жил /</a:t>
            </a:r>
            <a:r>
              <a:rPr lang="en-US" sz="2400" dirty="0">
                <a:solidFill>
                  <a:srgbClr val="231F20"/>
                </a:solidFill>
                <a:effectLst/>
                <a:latin typeface="Times New Roman" panose="02020603050405020304" pitchFamily="18" charset="0"/>
                <a:ea typeface="Times New Roman" panose="02020603050405020304" pitchFamily="18" charset="0"/>
              </a:rPr>
              <a:t>semiannually/, </a:t>
            </a:r>
            <a:r>
              <a:rPr lang="mn-MN" sz="2400" dirty="0">
                <a:solidFill>
                  <a:srgbClr val="231F20"/>
                </a:solidFill>
                <a:effectLst/>
                <a:latin typeface="Times New Roman" panose="02020603050405020304" pitchFamily="18" charset="0"/>
                <a:ea typeface="Times New Roman" panose="02020603050405020304" pitchFamily="18" charset="0"/>
              </a:rPr>
              <a:t>жилээр /</a:t>
            </a:r>
            <a:r>
              <a:rPr lang="en-US" sz="2400" dirty="0">
                <a:solidFill>
                  <a:srgbClr val="231F20"/>
                </a:solidFill>
                <a:effectLst/>
                <a:latin typeface="Times New Roman" panose="02020603050405020304" pitchFamily="18" charset="0"/>
                <a:ea typeface="Times New Roman" panose="02020603050405020304" pitchFamily="18" charset="0"/>
              </a:rPr>
              <a:t>annually/ </a:t>
            </a:r>
            <a:r>
              <a:rPr lang="mn-MN" sz="2400" dirty="0">
                <a:solidFill>
                  <a:srgbClr val="231F20"/>
                </a:solidFill>
                <a:effectLst/>
                <a:latin typeface="Times New Roman" panose="02020603050405020304" pitchFamily="18" charset="0"/>
                <a:ea typeface="Times New Roman" panose="02020603050405020304" pitchFamily="18" charset="0"/>
              </a:rPr>
              <a:t>тооцож төлдөг. Корпорациуд бондын хүүг ихэнх тохиолдолд хагас жил тутам төлдөг. Харин нэрлэсэн үнийг хугацааны эцэст төлнө. </a:t>
            </a:r>
            <a:r>
              <a:rPr lang="mn-MN" sz="2400" b="1" dirty="0">
                <a:solidFill>
                  <a:srgbClr val="0000FF"/>
                </a:solidFill>
                <a:effectLst/>
                <a:latin typeface="Times New Roman" panose="02020603050405020304" pitchFamily="18" charset="0"/>
                <a:ea typeface="Times New Roman" panose="02020603050405020304" pitchFamily="18" charset="0"/>
              </a:rPr>
              <a:t>Бондыг үнэлэхийн тулд 2 үндсэн хугацааг авч үздэг. </a:t>
            </a:r>
          </a:p>
          <a:p>
            <a:pPr marL="463550" marR="132080" indent="-288925" algn="just">
              <a:spcBef>
                <a:spcPts val="0"/>
              </a:spcBef>
              <a:spcAft>
                <a:spcPts val="0"/>
              </a:spcAft>
              <a:buFont typeface="+mj-lt"/>
              <a:buAutoNum type="arabicParenR"/>
            </a:pPr>
            <a:r>
              <a:rPr lang="mn-MN" sz="2400" b="1" dirty="0">
                <a:solidFill>
                  <a:srgbClr val="0000FF"/>
                </a:solidFill>
                <a:effectLst/>
                <a:latin typeface="Times New Roman" panose="02020603050405020304" pitchFamily="18" charset="0"/>
                <a:ea typeface="Times New Roman" panose="02020603050405020304" pitchFamily="18" charset="0"/>
              </a:rPr>
              <a:t>Бонд гаргасан өдөр - </a:t>
            </a:r>
            <a:r>
              <a:rPr lang="en-US" sz="2400" b="1" dirty="0">
                <a:solidFill>
                  <a:srgbClr val="0000FF"/>
                </a:solidFill>
                <a:effectLst/>
                <a:latin typeface="Times New Roman" panose="02020603050405020304" pitchFamily="18" charset="0"/>
                <a:ea typeface="Times New Roman" panose="02020603050405020304" pitchFamily="18" charset="0"/>
              </a:rPr>
              <a:t>Dated date </a:t>
            </a:r>
          </a:p>
          <a:p>
            <a:pPr marL="463550" marR="132080" indent="-288925" algn="just">
              <a:spcBef>
                <a:spcPts val="0"/>
              </a:spcBef>
              <a:spcAft>
                <a:spcPts val="0"/>
              </a:spcAft>
              <a:buFont typeface="+mj-lt"/>
              <a:buAutoNum type="arabicParenR"/>
            </a:pPr>
            <a:r>
              <a:rPr lang="mn-MN" sz="2400" b="1" dirty="0">
                <a:solidFill>
                  <a:srgbClr val="0000FF"/>
                </a:solidFill>
                <a:effectLst/>
                <a:latin typeface="Times New Roman" panose="02020603050405020304" pitchFamily="18" charset="0"/>
                <a:ea typeface="Times New Roman" panose="02020603050405020304" pitchFamily="18" charset="0"/>
              </a:rPr>
              <a:t>Бондын хугацаа дуусах өдөр - </a:t>
            </a:r>
            <a:r>
              <a:rPr lang="en-US" sz="2400" b="1" dirty="0">
                <a:solidFill>
                  <a:srgbClr val="0000FF"/>
                </a:solidFill>
                <a:effectLst/>
                <a:latin typeface="Times New Roman" panose="02020603050405020304" pitchFamily="18" charset="0"/>
                <a:ea typeface="Times New Roman" panose="02020603050405020304" pitchFamily="18" charset="0"/>
              </a:rPr>
              <a:t>Maturity date </a:t>
            </a:r>
          </a:p>
          <a:p>
            <a:pPr marL="84455" marR="132080" indent="0" algn="just">
              <a:spcBef>
                <a:spcPts val="0"/>
              </a:spcBef>
              <a:spcAft>
                <a:spcPts val="0"/>
              </a:spcAft>
              <a:buNone/>
            </a:pPr>
            <a:r>
              <a:rPr lang="kk-KZ" sz="2400" dirty="0">
                <a:solidFill>
                  <a:srgbClr val="231F20"/>
                </a:solidFill>
                <a:effectLst/>
                <a:latin typeface="Times New Roman" panose="02020603050405020304" pitchFamily="18" charset="0"/>
                <a:ea typeface="Times New Roman" panose="02020603050405020304" pitchFamily="18" charset="0"/>
              </a:rPr>
              <a:t>Бонд гаргасан өдрийг хөрөнгө оруулагчийн бонд худалдан авсан өдрөөр тооцдог. Бондыг</a:t>
            </a:r>
            <a:r>
              <a:rPr lang="mn-MN" sz="2400" dirty="0">
                <a:solidFill>
                  <a:srgbClr val="231F20"/>
                </a:solidFill>
                <a:effectLst/>
                <a:latin typeface="Times New Roman" panose="02020603050405020304" pitchFamily="18" charset="0"/>
                <a:ea typeface="Times New Roman" panose="02020603050405020304" pitchFamily="18" charset="0"/>
              </a:rPr>
              <a:t> </a:t>
            </a:r>
            <a:r>
              <a:rPr lang="kk-KZ" sz="2400" dirty="0">
                <a:solidFill>
                  <a:srgbClr val="231F20"/>
                </a:solidFill>
                <a:effectLst/>
                <a:latin typeface="Times New Roman" panose="02020603050405020304" pitchFamily="18" charset="0"/>
                <a:ea typeface="Times New Roman" panose="02020603050405020304" pitchFamily="18" charset="0"/>
              </a:rPr>
              <a:t>худалдаалсан өдрүүд ялгаатай байх тул гаргасан өдрийг хөрөнгө оруулагч худалдаж авсан </a:t>
            </a:r>
            <a:r>
              <a:rPr lang="mn-MN" sz="2400" dirty="0">
                <a:solidFill>
                  <a:srgbClr val="231F20"/>
                </a:solidFill>
                <a:effectLst/>
                <a:latin typeface="Times New Roman" panose="02020603050405020304" pitchFamily="18" charset="0"/>
                <a:ea typeface="Times New Roman" panose="02020603050405020304" pitchFamily="18" charset="0"/>
              </a:rPr>
              <a:t>ө</a:t>
            </a:r>
            <a:r>
              <a:rPr lang="kk-KZ" sz="2400" dirty="0">
                <a:solidFill>
                  <a:srgbClr val="231F20"/>
                </a:solidFill>
                <a:effectLst/>
                <a:latin typeface="Times New Roman" panose="02020603050405020304" pitchFamily="18" charset="0"/>
                <a:ea typeface="Times New Roman" panose="02020603050405020304" pitchFamily="18" charset="0"/>
              </a:rPr>
              <a:t>дрөөр тооцож үнэлгээнд ашигладаг. Бондын хугацаа дуусах өдөр гэдэг нь хөрөнг</a:t>
            </a:r>
            <a:r>
              <a:rPr lang="mn-MN" sz="2400" dirty="0">
                <a:solidFill>
                  <a:srgbClr val="231F20"/>
                </a:solidFill>
                <a:effectLst/>
                <a:latin typeface="Times New Roman" panose="02020603050405020304" pitchFamily="18" charset="0"/>
                <a:ea typeface="Times New Roman" panose="02020603050405020304" pitchFamily="18" charset="0"/>
              </a:rPr>
              <a:t>ө</a:t>
            </a:r>
            <a:r>
              <a:rPr lang="kk-KZ" sz="2400" dirty="0">
                <a:solidFill>
                  <a:srgbClr val="231F20"/>
                </a:solidFill>
                <a:effectLst/>
                <a:latin typeface="Times New Roman" panose="02020603050405020304" pitchFamily="18" charset="0"/>
                <a:ea typeface="Times New Roman" panose="02020603050405020304" pitchFamily="18" charset="0"/>
              </a:rPr>
              <a:t> </a:t>
            </a:r>
            <a:r>
              <a:rPr lang="mn-MN" sz="2400" dirty="0">
                <a:solidFill>
                  <a:srgbClr val="231F20"/>
                </a:solidFill>
                <a:effectLst/>
                <a:latin typeface="Times New Roman" panose="02020603050405020304" pitchFamily="18" charset="0"/>
                <a:ea typeface="Times New Roman" panose="02020603050405020304" pitchFamily="18" charset="0"/>
              </a:rPr>
              <a:t>о</a:t>
            </a:r>
            <a:r>
              <a:rPr lang="kk-KZ" sz="2400" dirty="0">
                <a:solidFill>
                  <a:srgbClr val="231F20"/>
                </a:solidFill>
                <a:effectLst/>
                <a:latin typeface="Times New Roman" panose="02020603050405020304" pitchFamily="18" charset="0"/>
                <a:ea typeface="Times New Roman" panose="02020603050405020304" pitchFamily="18" charset="0"/>
              </a:rPr>
              <a:t>руулагчийн бонд худалдан авсан өдрөөс хойш тооцоолсон бондын нэрлэсэн үнэ төлөгдөх ёстой өдрийг хэлнэ. </a:t>
            </a:r>
          </a:p>
        </p:txBody>
      </p:sp>
    </p:spTree>
    <p:extLst>
      <p:ext uri="{BB962C8B-B14F-4D97-AF65-F5344CB8AC3E}">
        <p14:creationId xmlns:p14="http://schemas.microsoft.com/office/powerpoint/2010/main" val="25753872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00236" y="16161"/>
            <a:ext cx="11578477" cy="418652"/>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Бондын үнэлгээ</a:t>
            </a:r>
            <a:r>
              <a:rPr lang="en-US" sz="2400" b="1" dirty="0">
                <a:solidFill>
                  <a:srgbClr val="0000FF"/>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198474" y="337071"/>
            <a:ext cx="11795052" cy="706447"/>
          </a:xfrm>
        </p:spPr>
        <p:txBody>
          <a:bodyPr>
            <a:noAutofit/>
          </a:bodyPr>
          <a:lstStyle/>
          <a:p>
            <a:pPr marL="84455" marR="132080" indent="0" algn="just">
              <a:spcBef>
                <a:spcPts val="0"/>
              </a:spcBef>
              <a:spcAft>
                <a:spcPts val="0"/>
              </a:spcAft>
              <a:buNone/>
            </a:pPr>
            <a:r>
              <a:rPr lang="mn-MN" sz="2200" dirty="0">
                <a:solidFill>
                  <a:srgbClr val="231F20"/>
                </a:solidFill>
                <a:effectLst/>
                <a:latin typeface="Times New Roman" panose="02020603050405020304" pitchFamily="18" charset="0"/>
                <a:ea typeface="Times New Roman" panose="02020603050405020304" pitchFamily="18" charset="0"/>
              </a:rPr>
              <a:t>Бондоос бий болох мөнгөн урсгалд тулгуурласан загвар байдаг. Үүнийг бондын үнэлгээний үндсэн загвар гэж нэрлэдэг. </a:t>
            </a:r>
            <a:r>
              <a:rPr lang="kk-KZ" sz="2200" dirty="0">
                <a:solidFill>
                  <a:srgbClr val="231F20"/>
                </a:solidFill>
                <a:effectLst/>
                <a:latin typeface="Times New Roman" panose="02020603050405020304" pitchFamily="18" charset="0"/>
                <a:ea typeface="Times New Roman" panose="02020603050405020304" pitchFamily="18" charset="0"/>
              </a:rPr>
              <a:t> </a:t>
            </a:r>
            <a:endParaRPr lang="mn-MN" sz="2200" dirty="0">
              <a:solidFill>
                <a:srgbClr val="231F20"/>
              </a:solidFill>
              <a:effectLst/>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mn-MN"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mn-MN"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mn-MN"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en-US"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kk-KZ" sz="2200" dirty="0">
              <a:solidFill>
                <a:srgbClr val="231F20"/>
              </a:solidFill>
              <a:effectLst/>
              <a:latin typeface="Times New Roman" panose="02020603050405020304" pitchFamily="18" charset="0"/>
              <a:ea typeface="Times New Roman" panose="02020603050405020304" pitchFamily="18" charset="0"/>
            </a:endParaRPr>
          </a:p>
        </p:txBody>
      </p:sp>
      <p:sp>
        <p:nvSpPr>
          <p:cNvPr id="7" name="Content Placeholder 2">
            <a:extLst>
              <a:ext uri="{FF2B5EF4-FFF2-40B4-BE49-F238E27FC236}">
                <a16:creationId xmlns:a16="http://schemas.microsoft.com/office/drawing/2014/main" id="{764EE799-F66F-4FA5-A0B7-4A7B3743F835}"/>
              </a:ext>
            </a:extLst>
          </p:cNvPr>
          <p:cNvSpPr txBox="1">
            <a:spLocks/>
          </p:cNvSpPr>
          <p:nvPr/>
        </p:nvSpPr>
        <p:spPr>
          <a:xfrm>
            <a:off x="1982451" y="4146055"/>
            <a:ext cx="9796262" cy="2142202"/>
          </a:xfrm>
          <a:prstGeom prst="rect">
            <a:avLst/>
          </a:prstGeom>
          <a:ln>
            <a:solidFill>
              <a:srgbClr val="00B0F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V</a:t>
            </a:r>
            <a:r>
              <a:rPr lang="en-US" sz="3200" i="1"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 </a:t>
            </a:r>
            <a:r>
              <a:rPr lang="mn-MN" sz="3200" dirty="0">
                <a:solidFill>
                  <a:srgbClr val="231F20"/>
                </a:solidFill>
                <a:latin typeface="Times New Roman" panose="02020603050405020304" pitchFamily="18" charset="0"/>
                <a:ea typeface="Times New Roman" panose="02020603050405020304" pitchFamily="18" charset="0"/>
              </a:rPr>
              <a:t>Бондын өнөөгийн үнэ цэнэ</a:t>
            </a:r>
            <a:endParaRPr lang="kk-KZ" sz="3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C</a:t>
            </a:r>
            <a:r>
              <a:rPr lang="en-US" sz="3200" i="1"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 </a:t>
            </a:r>
            <a:r>
              <a:rPr lang="mn-MN" sz="3200" dirty="0">
                <a:solidFill>
                  <a:srgbClr val="231F20"/>
                </a:solidFill>
                <a:latin typeface="Times New Roman" panose="02020603050405020304" pitchFamily="18" charset="0"/>
                <a:ea typeface="Times New Roman" panose="02020603050405020304" pitchFamily="18" charset="0"/>
              </a:rPr>
              <a:t>Хүүгийн төлбөр /тогтмол үед төлөгдөнө./</a:t>
            </a:r>
            <a:endParaRPr lang="en-US" sz="3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M</a:t>
            </a:r>
            <a:r>
              <a:rPr lang="en-US" sz="3200" i="1"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 </a:t>
            </a:r>
            <a:r>
              <a:rPr lang="mn-MN" sz="3200" dirty="0">
                <a:solidFill>
                  <a:srgbClr val="231F20"/>
                </a:solidFill>
                <a:latin typeface="Times New Roman" panose="02020603050405020304" pitchFamily="18" charset="0"/>
                <a:ea typeface="Times New Roman" panose="02020603050405020304" pitchFamily="18" charset="0"/>
              </a:rPr>
              <a:t>Бондын нэрлэсэн үнэ </a:t>
            </a:r>
            <a:r>
              <a:rPr lang="kk-KZ" sz="3200" dirty="0">
                <a:solidFill>
                  <a:srgbClr val="231F20"/>
                </a:solidFill>
                <a:latin typeface="Times New Roman" panose="02020603050405020304" pitchFamily="18" charset="0"/>
                <a:ea typeface="Times New Roman" panose="02020603050405020304" pitchFamily="18" charset="0"/>
              </a:rPr>
              <a:t> </a:t>
            </a:r>
          </a:p>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n</a:t>
            </a:r>
            <a:r>
              <a:rPr lang="en-US" sz="3200" i="1"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 </a:t>
            </a:r>
            <a:r>
              <a:rPr lang="mn-MN" sz="3200" dirty="0">
                <a:solidFill>
                  <a:srgbClr val="231F20"/>
                </a:solidFill>
                <a:latin typeface="Times New Roman" panose="02020603050405020304" pitchFamily="18" charset="0"/>
                <a:ea typeface="Times New Roman" panose="02020603050405020304" pitchFamily="18" charset="0"/>
              </a:rPr>
              <a:t>Хугацааны тодорхой нэг үе </a:t>
            </a:r>
            <a:endParaRPr lang="kk-KZ" sz="3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t</a:t>
            </a:r>
            <a:r>
              <a:rPr lang="en-US" sz="3200" i="1"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 </a:t>
            </a:r>
            <a:r>
              <a:rPr lang="mn-MN" sz="3200" dirty="0">
                <a:solidFill>
                  <a:srgbClr val="231F20"/>
                </a:solidFill>
                <a:latin typeface="Times New Roman" panose="02020603050405020304" pitchFamily="18" charset="0"/>
                <a:ea typeface="Times New Roman" panose="02020603050405020304" pitchFamily="18" charset="0"/>
              </a:rPr>
              <a:t>Дуусах хугацаа хүртэлх хүү төлөгдөх үеийн тоо</a:t>
            </a:r>
            <a:endParaRPr lang="kk-KZ" sz="3200" dirty="0">
              <a:solidFill>
                <a:srgbClr val="231F20"/>
              </a:solidFill>
              <a:latin typeface="Times New Roman" panose="02020603050405020304" pitchFamily="18" charset="0"/>
              <a:ea typeface="Times New Roman" panose="02020603050405020304" pitchFamily="18" charset="0"/>
            </a:endParaRPr>
          </a:p>
        </p:txBody>
      </p:sp>
      <p:graphicFrame>
        <p:nvGraphicFramePr>
          <p:cNvPr id="9" name="Table 9">
            <a:extLst>
              <a:ext uri="{FF2B5EF4-FFF2-40B4-BE49-F238E27FC236}">
                <a16:creationId xmlns:a16="http://schemas.microsoft.com/office/drawing/2014/main" id="{ADB98D3F-B328-46A3-8452-8DBDDA585E81}"/>
              </a:ext>
            </a:extLst>
          </p:cNvPr>
          <p:cNvGraphicFramePr>
            <a:graphicFrameLocks noGrp="1"/>
          </p:cNvGraphicFramePr>
          <p:nvPr>
            <p:extLst>
              <p:ext uri="{D42A27DB-BD31-4B8C-83A1-F6EECF244321}">
                <p14:modId xmlns:p14="http://schemas.microsoft.com/office/powerpoint/2010/main" val="2166666793"/>
              </p:ext>
            </p:extLst>
          </p:nvPr>
        </p:nvGraphicFramePr>
        <p:xfrm>
          <a:off x="553670" y="1207740"/>
          <a:ext cx="11225044" cy="944880"/>
        </p:xfrm>
        <a:graphic>
          <a:graphicData uri="http://schemas.openxmlformats.org/drawingml/2006/table">
            <a:tbl>
              <a:tblPr firstRow="1" bandRow="1">
                <a:tableStyleId>{2D5ABB26-0587-4C30-8999-92F81FD0307C}</a:tableStyleId>
              </a:tblPr>
              <a:tblGrid>
                <a:gridCol w="1415807">
                  <a:extLst>
                    <a:ext uri="{9D8B030D-6E8A-4147-A177-3AD203B41FA5}">
                      <a16:colId xmlns:a16="http://schemas.microsoft.com/office/drawing/2014/main" val="157289614"/>
                    </a:ext>
                  </a:extLst>
                </a:gridCol>
                <a:gridCol w="580292">
                  <a:extLst>
                    <a:ext uri="{9D8B030D-6E8A-4147-A177-3AD203B41FA5}">
                      <a16:colId xmlns:a16="http://schemas.microsoft.com/office/drawing/2014/main" val="2762051445"/>
                    </a:ext>
                  </a:extLst>
                </a:gridCol>
                <a:gridCol w="4870939">
                  <a:extLst>
                    <a:ext uri="{9D8B030D-6E8A-4147-A177-3AD203B41FA5}">
                      <a16:colId xmlns:a16="http://schemas.microsoft.com/office/drawing/2014/main" val="1067379840"/>
                    </a:ext>
                  </a:extLst>
                </a:gridCol>
                <a:gridCol w="369277">
                  <a:extLst>
                    <a:ext uri="{9D8B030D-6E8A-4147-A177-3AD203B41FA5}">
                      <a16:colId xmlns:a16="http://schemas.microsoft.com/office/drawing/2014/main" val="3485409012"/>
                    </a:ext>
                  </a:extLst>
                </a:gridCol>
                <a:gridCol w="3988729">
                  <a:extLst>
                    <a:ext uri="{9D8B030D-6E8A-4147-A177-3AD203B41FA5}">
                      <a16:colId xmlns:a16="http://schemas.microsoft.com/office/drawing/2014/main" val="340524423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err="1">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Бондын</a:t>
                      </a:r>
                      <a:r>
                        <a:rPr lang="en-US" sz="28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mn-MN" sz="280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үнэлгээ</a:t>
                      </a:r>
                      <a:endParaRPr lang="en-US" sz="2800" dirty="0">
                        <a:solidFill>
                          <a:srgbClr val="0000FF"/>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solidFill>
                            <a:srgbClr val="0000FF"/>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mn-MN" sz="2800" dirty="0">
                          <a:solidFill>
                            <a:srgbClr val="0000FF"/>
                          </a:solidFill>
                          <a:latin typeface="Times New Roman" panose="02020603050405020304" pitchFamily="18" charset="0"/>
                          <a:cs typeface="Times New Roman" panose="02020603050405020304" pitchFamily="18" charset="0"/>
                        </a:rPr>
                        <a:t>Ирээдүйн хүүгийн төлбөрийн </a:t>
                      </a:r>
                      <a:r>
                        <a:rPr lang="en-US" sz="2800" kern="1200" dirty="0" err="1">
                          <a:solidFill>
                            <a:srgbClr val="0000FF"/>
                          </a:solidFill>
                          <a:effectLst/>
                          <a:latin typeface="Times New Roman" panose="02020603050405020304" pitchFamily="18" charset="0"/>
                          <a:ea typeface="+mn-ea"/>
                          <a:cs typeface="Times New Roman" panose="02020603050405020304" pitchFamily="18" charset="0"/>
                        </a:rPr>
                        <a:t>өнөөгийн</a:t>
                      </a:r>
                      <a:r>
                        <a:rPr lang="en-US" sz="2800" kern="1200" dirty="0">
                          <a:solidFill>
                            <a:srgbClr val="0000FF"/>
                          </a:solidFill>
                          <a:effectLst/>
                          <a:latin typeface="Times New Roman" panose="02020603050405020304" pitchFamily="18" charset="0"/>
                          <a:ea typeface="+mn-ea"/>
                          <a:cs typeface="Times New Roman" panose="02020603050405020304" pitchFamily="18" charset="0"/>
                        </a:rPr>
                        <a:t> </a:t>
                      </a:r>
                      <a:r>
                        <a:rPr lang="en-US" sz="2800" kern="1200" dirty="0" err="1">
                          <a:solidFill>
                            <a:srgbClr val="0000FF"/>
                          </a:solidFill>
                          <a:effectLst/>
                          <a:latin typeface="Times New Roman" panose="02020603050405020304" pitchFamily="18" charset="0"/>
                          <a:ea typeface="+mn-ea"/>
                          <a:cs typeface="Times New Roman" panose="02020603050405020304" pitchFamily="18" charset="0"/>
                        </a:rPr>
                        <a:t>үнэ</a:t>
                      </a:r>
                      <a:r>
                        <a:rPr lang="en-US" sz="2800" kern="1200" dirty="0">
                          <a:solidFill>
                            <a:srgbClr val="0000FF"/>
                          </a:solidFill>
                          <a:effectLst/>
                          <a:latin typeface="Times New Roman" panose="02020603050405020304" pitchFamily="18" charset="0"/>
                          <a:ea typeface="+mn-ea"/>
                          <a:cs typeface="Times New Roman" panose="02020603050405020304" pitchFamily="18" charset="0"/>
                        </a:rPr>
                        <a:t> </a:t>
                      </a:r>
                      <a:r>
                        <a:rPr lang="en-US" sz="2800" kern="1200" dirty="0" err="1">
                          <a:solidFill>
                            <a:srgbClr val="0000FF"/>
                          </a:solidFill>
                          <a:effectLst/>
                          <a:latin typeface="Times New Roman" panose="02020603050405020304" pitchFamily="18" charset="0"/>
                          <a:ea typeface="+mn-ea"/>
                          <a:cs typeface="Times New Roman" panose="02020603050405020304" pitchFamily="18" charset="0"/>
                        </a:rPr>
                        <a:t>цэнэ</a:t>
                      </a:r>
                      <a:endParaRPr lang="en-US" sz="2800" dirty="0">
                        <a:solidFill>
                          <a:srgbClr val="0000FF"/>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mn-MN" sz="2800" b="1" dirty="0">
                          <a:solidFill>
                            <a:srgbClr val="0000FF"/>
                          </a:solidFill>
                          <a:latin typeface="Times New Roman" panose="02020603050405020304" pitchFamily="18" charset="0"/>
                          <a:cs typeface="Times New Roman" panose="02020603050405020304" pitchFamily="18" charset="0"/>
                        </a:rPr>
                        <a:t>+</a:t>
                      </a:r>
                      <a:endParaRPr lang="en-US" sz="2800" b="1" dirty="0">
                        <a:solidFill>
                          <a:srgbClr val="0000FF"/>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mn-MN" sz="2800" dirty="0">
                          <a:solidFill>
                            <a:srgbClr val="0000FF"/>
                          </a:solidFill>
                          <a:latin typeface="Times New Roman" panose="02020603050405020304" pitchFamily="18" charset="0"/>
                          <a:cs typeface="Times New Roman" panose="02020603050405020304" pitchFamily="18" charset="0"/>
                        </a:rPr>
                        <a:t>Дуусах хугацааны </a:t>
                      </a:r>
                      <a:r>
                        <a:rPr lang="en-US" sz="2800" kern="1200" dirty="0" err="1">
                          <a:solidFill>
                            <a:srgbClr val="0000FF"/>
                          </a:solidFill>
                          <a:effectLst/>
                          <a:latin typeface="Times New Roman" panose="02020603050405020304" pitchFamily="18" charset="0"/>
                          <a:ea typeface="+mn-ea"/>
                          <a:cs typeface="Times New Roman" panose="02020603050405020304" pitchFamily="18" charset="0"/>
                        </a:rPr>
                        <a:t>үнийн</a:t>
                      </a:r>
                      <a:r>
                        <a:rPr lang="en-US" sz="2800" kern="1200" dirty="0">
                          <a:solidFill>
                            <a:srgbClr val="0000FF"/>
                          </a:solidFill>
                          <a:effectLst/>
                          <a:latin typeface="Times New Roman" panose="02020603050405020304" pitchFamily="18" charset="0"/>
                          <a:ea typeface="+mn-ea"/>
                          <a:cs typeface="Times New Roman" panose="02020603050405020304" pitchFamily="18" charset="0"/>
                        </a:rPr>
                        <a:t> </a:t>
                      </a:r>
                      <a:r>
                        <a:rPr lang="en-US" sz="2800" kern="1200" dirty="0" err="1">
                          <a:solidFill>
                            <a:srgbClr val="0000FF"/>
                          </a:solidFill>
                          <a:effectLst/>
                          <a:latin typeface="Times New Roman" panose="02020603050405020304" pitchFamily="18" charset="0"/>
                          <a:ea typeface="+mn-ea"/>
                          <a:cs typeface="Times New Roman" panose="02020603050405020304" pitchFamily="18" charset="0"/>
                        </a:rPr>
                        <a:t>өнөөгийн</a:t>
                      </a:r>
                      <a:r>
                        <a:rPr lang="en-US" sz="2800" kern="1200" dirty="0">
                          <a:solidFill>
                            <a:srgbClr val="0000FF"/>
                          </a:solidFill>
                          <a:effectLst/>
                          <a:latin typeface="Times New Roman" panose="02020603050405020304" pitchFamily="18" charset="0"/>
                          <a:ea typeface="+mn-ea"/>
                          <a:cs typeface="Times New Roman" panose="02020603050405020304" pitchFamily="18" charset="0"/>
                        </a:rPr>
                        <a:t> </a:t>
                      </a:r>
                      <a:r>
                        <a:rPr lang="en-US" sz="2800" kern="1200" dirty="0" err="1">
                          <a:solidFill>
                            <a:srgbClr val="0000FF"/>
                          </a:solidFill>
                          <a:effectLst/>
                          <a:latin typeface="Times New Roman" panose="02020603050405020304" pitchFamily="18" charset="0"/>
                          <a:ea typeface="+mn-ea"/>
                          <a:cs typeface="Times New Roman" panose="02020603050405020304" pitchFamily="18" charset="0"/>
                        </a:rPr>
                        <a:t>үнэ</a:t>
                      </a:r>
                      <a:r>
                        <a:rPr lang="en-US" sz="2800" kern="1200" dirty="0">
                          <a:solidFill>
                            <a:srgbClr val="0000FF"/>
                          </a:solidFill>
                          <a:effectLst/>
                          <a:latin typeface="Times New Roman" panose="02020603050405020304" pitchFamily="18" charset="0"/>
                          <a:ea typeface="+mn-ea"/>
                          <a:cs typeface="Times New Roman" panose="02020603050405020304" pitchFamily="18" charset="0"/>
                        </a:rPr>
                        <a:t> </a:t>
                      </a:r>
                      <a:r>
                        <a:rPr lang="en-US" sz="2800" kern="1200" dirty="0" err="1">
                          <a:solidFill>
                            <a:srgbClr val="0000FF"/>
                          </a:solidFill>
                          <a:effectLst/>
                          <a:latin typeface="Times New Roman" panose="02020603050405020304" pitchFamily="18" charset="0"/>
                          <a:ea typeface="+mn-ea"/>
                          <a:cs typeface="Times New Roman" panose="02020603050405020304" pitchFamily="18" charset="0"/>
                        </a:rPr>
                        <a:t>цэнэ</a:t>
                      </a:r>
                      <a:endParaRPr lang="en-US" sz="2800" dirty="0">
                        <a:solidFill>
                          <a:srgbClr val="0000FF"/>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6190782"/>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A80968E-4CB7-4940-A8D4-005349DFA916}"/>
                  </a:ext>
                </a:extLst>
              </p:cNvPr>
              <p:cNvSpPr txBox="1"/>
              <p:nvPr/>
            </p:nvSpPr>
            <p:spPr>
              <a:xfrm>
                <a:off x="747346" y="2373454"/>
                <a:ext cx="10155115" cy="17726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0" i="1" smtClean="0">
                          <a:solidFill>
                            <a:srgbClr val="0000FF"/>
                          </a:solidFill>
                          <a:effectLst/>
                          <a:latin typeface="Cambria Math" panose="02040503050406030204" pitchFamily="18" charset="0"/>
                          <a:ea typeface="Times New Roman" panose="02020603050405020304" pitchFamily="18" charset="0"/>
                        </a:rPr>
                        <m:t>𝑉</m:t>
                      </m:r>
                      <m:r>
                        <a:rPr lang="en-US" sz="4000" b="0" i="1" smtClean="0">
                          <a:solidFill>
                            <a:srgbClr val="0000FF"/>
                          </a:solidFill>
                          <a:effectLst/>
                          <a:latin typeface="Cambria Math" panose="02040503050406030204" pitchFamily="18" charset="0"/>
                          <a:ea typeface="Times New Roman" panose="02020603050405020304" pitchFamily="18" charset="0"/>
                        </a:rPr>
                        <m:t>=</m:t>
                      </m:r>
                      <m:nary>
                        <m:naryPr>
                          <m:chr m:val="∑"/>
                          <m:ctrlPr>
                            <a:rPr lang="en-US" sz="4000" b="0" i="1" smtClean="0">
                              <a:solidFill>
                                <a:srgbClr val="0000FF"/>
                              </a:solidFill>
                              <a:effectLst/>
                              <a:latin typeface="Cambria Math" panose="02040503050406030204" pitchFamily="18" charset="0"/>
                            </a:rPr>
                          </m:ctrlPr>
                        </m:naryPr>
                        <m:sub>
                          <m:r>
                            <m:rPr>
                              <m:brk m:alnAt="23"/>
                            </m:rPr>
                            <a:rPr lang="en-US" sz="4000" b="0" i="1" smtClean="0">
                              <a:solidFill>
                                <a:srgbClr val="0000FF"/>
                              </a:solidFill>
                              <a:effectLst/>
                              <a:latin typeface="Cambria Math" panose="02040503050406030204" pitchFamily="18" charset="0"/>
                            </a:rPr>
                            <m:t>𝑡</m:t>
                          </m:r>
                          <m:r>
                            <a:rPr lang="en-US" sz="4000" b="0" i="1" smtClean="0">
                              <a:solidFill>
                                <a:srgbClr val="0000FF"/>
                              </a:solidFill>
                              <a:effectLst/>
                              <a:latin typeface="Cambria Math" panose="02040503050406030204" pitchFamily="18" charset="0"/>
                            </a:rPr>
                            <m:t>=1</m:t>
                          </m:r>
                        </m:sub>
                        <m:sup>
                          <m:r>
                            <a:rPr lang="en-US" sz="4000" b="0" i="1" smtClean="0">
                              <a:solidFill>
                                <a:srgbClr val="0000FF"/>
                              </a:solidFill>
                              <a:effectLst/>
                              <a:latin typeface="Cambria Math" panose="02040503050406030204" pitchFamily="18" charset="0"/>
                            </a:rPr>
                            <m:t>𝑛</m:t>
                          </m:r>
                        </m:sup>
                        <m:e>
                          <m:f>
                            <m:fPr>
                              <m:ctrlPr>
                                <a:rPr lang="en-US" sz="4000" b="0" i="1" smtClean="0">
                                  <a:solidFill>
                                    <a:srgbClr val="0000FF"/>
                                  </a:solidFill>
                                  <a:effectLst/>
                                  <a:latin typeface="Cambria Math" panose="02040503050406030204" pitchFamily="18" charset="0"/>
                                </a:rPr>
                              </m:ctrlPr>
                            </m:fPr>
                            <m:num>
                              <m:r>
                                <a:rPr lang="en-US" sz="4000" b="0" i="1" smtClean="0">
                                  <a:solidFill>
                                    <a:srgbClr val="0000FF"/>
                                  </a:solidFill>
                                  <a:effectLst/>
                                  <a:latin typeface="Cambria Math" panose="02040503050406030204" pitchFamily="18" charset="0"/>
                                </a:rPr>
                                <m:t>𝐶</m:t>
                              </m:r>
                            </m:num>
                            <m:den>
                              <m:sSup>
                                <m:sSupPr>
                                  <m:ctrlPr>
                                    <a:rPr lang="en-US" sz="4000" b="0" i="1" smtClean="0">
                                      <a:solidFill>
                                        <a:srgbClr val="0000FF"/>
                                      </a:solidFill>
                                      <a:effectLst/>
                                      <a:latin typeface="Cambria Math" panose="02040503050406030204" pitchFamily="18" charset="0"/>
                                    </a:rPr>
                                  </m:ctrlPr>
                                </m:sSupPr>
                                <m:e>
                                  <m:d>
                                    <m:dPr>
                                      <m:ctrlPr>
                                        <a:rPr lang="en-US" sz="4000" i="1">
                                          <a:solidFill>
                                            <a:srgbClr val="0000FF"/>
                                          </a:solidFill>
                                          <a:latin typeface="Cambria Math" panose="02040503050406030204" pitchFamily="18" charset="0"/>
                                        </a:rPr>
                                      </m:ctrlPr>
                                    </m:dPr>
                                    <m:e>
                                      <m:r>
                                        <a:rPr lang="en-US" sz="4000" i="1">
                                          <a:solidFill>
                                            <a:srgbClr val="0000FF"/>
                                          </a:solidFill>
                                          <a:latin typeface="Cambria Math" panose="02040503050406030204" pitchFamily="18" charset="0"/>
                                        </a:rPr>
                                        <m:t>1+</m:t>
                                      </m:r>
                                      <m:sSub>
                                        <m:sSubPr>
                                          <m:ctrlPr>
                                            <a:rPr lang="en-US" sz="4000" i="1" smtClean="0">
                                              <a:solidFill>
                                                <a:srgbClr val="0000FF"/>
                                              </a:solidFill>
                                              <a:latin typeface="Cambria Math" panose="02040503050406030204" pitchFamily="18" charset="0"/>
                                            </a:rPr>
                                          </m:ctrlPr>
                                        </m:sSubPr>
                                        <m:e>
                                          <m:r>
                                            <a:rPr lang="en-US" sz="4000" b="0" i="1" smtClean="0">
                                              <a:solidFill>
                                                <a:srgbClr val="0000FF"/>
                                              </a:solidFill>
                                              <a:latin typeface="Cambria Math" panose="02040503050406030204" pitchFamily="18" charset="0"/>
                                            </a:rPr>
                                            <m:t>𝑅</m:t>
                                          </m:r>
                                        </m:e>
                                        <m:sub>
                                          <m:r>
                                            <a:rPr lang="en-US" sz="4000" b="0" i="1" smtClean="0">
                                              <a:solidFill>
                                                <a:srgbClr val="0000FF"/>
                                              </a:solidFill>
                                              <a:latin typeface="Cambria Math" panose="02040503050406030204" pitchFamily="18" charset="0"/>
                                            </a:rPr>
                                            <m:t>𝑑</m:t>
                                          </m:r>
                                        </m:sub>
                                      </m:sSub>
                                    </m:e>
                                  </m:d>
                                </m:e>
                                <m:sup>
                                  <m:r>
                                    <a:rPr lang="en-US" sz="4000" b="0" i="1" smtClean="0">
                                      <a:solidFill>
                                        <a:srgbClr val="0000FF"/>
                                      </a:solidFill>
                                      <a:effectLst/>
                                      <a:latin typeface="Cambria Math" panose="02040503050406030204" pitchFamily="18" charset="0"/>
                                    </a:rPr>
                                    <m:t>𝑡</m:t>
                                  </m:r>
                                </m:sup>
                              </m:sSup>
                            </m:den>
                          </m:f>
                          <m:r>
                            <a:rPr lang="en-US" sz="4000" b="0" i="1" smtClean="0">
                              <a:solidFill>
                                <a:srgbClr val="0000FF"/>
                              </a:solidFill>
                              <a:effectLst/>
                              <a:latin typeface="Cambria Math" panose="02040503050406030204" pitchFamily="18" charset="0"/>
                            </a:rPr>
                            <m:t>+</m:t>
                          </m:r>
                          <m:f>
                            <m:fPr>
                              <m:ctrlPr>
                                <a:rPr lang="en-US" sz="4000" i="1">
                                  <a:solidFill>
                                    <a:srgbClr val="0000FF"/>
                                  </a:solidFill>
                                  <a:latin typeface="Cambria Math" panose="02040503050406030204" pitchFamily="18" charset="0"/>
                                </a:rPr>
                              </m:ctrlPr>
                            </m:fPr>
                            <m:num>
                              <m:r>
                                <a:rPr lang="en-US" sz="4000" i="1" smtClean="0">
                                  <a:solidFill>
                                    <a:srgbClr val="0000FF"/>
                                  </a:solidFill>
                                  <a:latin typeface="Cambria Math" panose="02040503050406030204" pitchFamily="18" charset="0"/>
                                </a:rPr>
                                <m:t>𝑀</m:t>
                              </m:r>
                            </m:num>
                            <m:den>
                              <m:sSup>
                                <m:sSupPr>
                                  <m:ctrlPr>
                                    <a:rPr lang="en-US" sz="4000" i="1">
                                      <a:solidFill>
                                        <a:srgbClr val="0000FF"/>
                                      </a:solidFill>
                                      <a:latin typeface="Cambria Math" panose="02040503050406030204" pitchFamily="18" charset="0"/>
                                    </a:rPr>
                                  </m:ctrlPr>
                                </m:sSupPr>
                                <m:e>
                                  <m:d>
                                    <m:dPr>
                                      <m:ctrlPr>
                                        <a:rPr lang="en-US" sz="4000" i="1">
                                          <a:solidFill>
                                            <a:srgbClr val="0000FF"/>
                                          </a:solidFill>
                                          <a:latin typeface="Cambria Math" panose="02040503050406030204" pitchFamily="18" charset="0"/>
                                        </a:rPr>
                                      </m:ctrlPr>
                                    </m:dPr>
                                    <m:e>
                                      <m:r>
                                        <a:rPr lang="en-US" sz="4000" i="1">
                                          <a:solidFill>
                                            <a:srgbClr val="0000FF"/>
                                          </a:solidFill>
                                          <a:latin typeface="Cambria Math" panose="02040503050406030204" pitchFamily="18" charset="0"/>
                                        </a:rPr>
                                        <m:t>1+</m:t>
                                      </m:r>
                                      <m:sSub>
                                        <m:sSubPr>
                                          <m:ctrlPr>
                                            <a:rPr lang="en-US" sz="4000" i="1">
                                              <a:solidFill>
                                                <a:srgbClr val="0000FF"/>
                                              </a:solidFill>
                                              <a:latin typeface="Cambria Math" panose="02040503050406030204" pitchFamily="18" charset="0"/>
                                            </a:rPr>
                                          </m:ctrlPr>
                                        </m:sSubPr>
                                        <m:e>
                                          <m:r>
                                            <a:rPr lang="en-US" sz="4000" i="1">
                                              <a:solidFill>
                                                <a:srgbClr val="0000FF"/>
                                              </a:solidFill>
                                              <a:latin typeface="Cambria Math" panose="02040503050406030204" pitchFamily="18" charset="0"/>
                                            </a:rPr>
                                            <m:t>𝑅</m:t>
                                          </m:r>
                                        </m:e>
                                        <m:sub>
                                          <m:r>
                                            <a:rPr lang="en-US" sz="4000" i="1">
                                              <a:solidFill>
                                                <a:srgbClr val="0000FF"/>
                                              </a:solidFill>
                                              <a:latin typeface="Cambria Math" panose="02040503050406030204" pitchFamily="18" charset="0"/>
                                            </a:rPr>
                                            <m:t>𝑑</m:t>
                                          </m:r>
                                        </m:sub>
                                      </m:sSub>
                                    </m:e>
                                  </m:d>
                                </m:e>
                                <m:sup>
                                  <m:r>
                                    <a:rPr lang="en-US" sz="4000" b="0" i="1" smtClean="0">
                                      <a:solidFill>
                                        <a:srgbClr val="0000FF"/>
                                      </a:solidFill>
                                      <a:latin typeface="Cambria Math" panose="02040503050406030204" pitchFamily="18" charset="0"/>
                                    </a:rPr>
                                    <m:t>𝑇</m:t>
                                  </m:r>
                                </m:sup>
                              </m:sSup>
                            </m:den>
                          </m:f>
                        </m:e>
                      </m:nary>
                    </m:oMath>
                  </m:oMathPara>
                </a14:m>
                <a:endParaRPr lang="en-US" dirty="0"/>
              </a:p>
            </p:txBody>
          </p:sp>
        </mc:Choice>
        <mc:Fallback xmlns="">
          <p:sp>
            <p:nvSpPr>
              <p:cNvPr id="11" name="TextBox 10">
                <a:extLst>
                  <a:ext uri="{FF2B5EF4-FFF2-40B4-BE49-F238E27FC236}">
                    <a16:creationId xmlns:a16="http://schemas.microsoft.com/office/drawing/2014/main" id="{7A80968E-4CB7-4940-A8D4-005349DFA916}"/>
                  </a:ext>
                </a:extLst>
              </p:cNvPr>
              <p:cNvSpPr txBox="1">
                <a:spLocks noRot="1" noChangeAspect="1" noMove="1" noResize="1" noEditPoints="1" noAdjustHandles="1" noChangeArrowheads="1" noChangeShapeType="1" noTextEdit="1"/>
              </p:cNvSpPr>
              <p:nvPr/>
            </p:nvSpPr>
            <p:spPr>
              <a:xfrm>
                <a:off x="747346" y="2373454"/>
                <a:ext cx="10155115" cy="177260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13576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00236" y="16161"/>
            <a:ext cx="11578477" cy="418652"/>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Бондын үнэлгээ</a:t>
            </a:r>
            <a:r>
              <a:rPr lang="en-US" sz="2400" b="1" dirty="0">
                <a:solidFill>
                  <a:srgbClr val="0000FF"/>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198474" y="337071"/>
            <a:ext cx="11795052" cy="1026576"/>
          </a:xfrm>
        </p:spPr>
        <p:txBody>
          <a:bodyPr>
            <a:noAutofit/>
          </a:bodyPr>
          <a:lstStyle/>
          <a:p>
            <a:pPr marL="84455" marR="132080" indent="0" algn="just">
              <a:spcBef>
                <a:spcPts val="0"/>
              </a:spcBef>
              <a:spcAft>
                <a:spcPts val="0"/>
              </a:spcAft>
              <a:buNone/>
            </a:pPr>
            <a:r>
              <a:rPr lang="mn-MN" sz="2200" b="1" dirty="0">
                <a:solidFill>
                  <a:srgbClr val="231F20"/>
                </a:solidFill>
                <a:effectLst/>
                <a:latin typeface="Times New Roman" panose="02020603050405020304" pitchFamily="18" charset="0"/>
                <a:ea typeface="Times New Roman" panose="02020603050405020304" pitchFamily="18" charset="0"/>
              </a:rPr>
              <a:t>Жишээ:</a:t>
            </a:r>
            <a:r>
              <a:rPr lang="mn-MN" sz="2200" dirty="0">
                <a:solidFill>
                  <a:srgbClr val="231F20"/>
                </a:solidFill>
                <a:effectLst/>
                <a:latin typeface="Times New Roman" panose="02020603050405020304" pitchFamily="18" charset="0"/>
                <a:ea typeface="Times New Roman" panose="02020603050405020304" pitchFamily="18" charset="0"/>
              </a:rPr>
              <a:t> АЕ компани 10</a:t>
            </a:r>
            <a:r>
              <a:rPr lang="en-US" sz="2200" dirty="0">
                <a:solidFill>
                  <a:srgbClr val="231F20"/>
                </a:solidFill>
                <a:effectLst/>
                <a:latin typeface="Times New Roman" panose="02020603050405020304" pitchFamily="18" charset="0"/>
                <a:ea typeface="Times New Roman" panose="02020603050405020304" pitchFamily="18" charset="0"/>
              </a:rPr>
              <a:t>’</a:t>
            </a:r>
            <a:r>
              <a:rPr lang="mn-MN" sz="2200" dirty="0">
                <a:solidFill>
                  <a:srgbClr val="231F20"/>
                </a:solidFill>
                <a:effectLst/>
                <a:latin typeface="Times New Roman" panose="02020603050405020304" pitchFamily="18" charset="0"/>
                <a:ea typeface="Times New Roman" panose="02020603050405020304" pitchFamily="18" charset="0"/>
              </a:rPr>
              <a:t>000 төгрөгийн нэрлэсэн үнэтэй</a:t>
            </a:r>
            <a:r>
              <a:rPr lang="en-US" sz="2200" dirty="0">
                <a:solidFill>
                  <a:srgbClr val="231F20"/>
                </a:solidFill>
                <a:latin typeface="Times New Roman" panose="02020603050405020304" pitchFamily="18" charset="0"/>
                <a:ea typeface="Times New Roman" panose="02020603050405020304" pitchFamily="18" charset="0"/>
              </a:rPr>
              <a:t>,</a:t>
            </a:r>
            <a:r>
              <a:rPr lang="mn-MN" sz="2200" dirty="0">
                <a:solidFill>
                  <a:srgbClr val="231F20"/>
                </a:solidFill>
                <a:effectLst/>
                <a:latin typeface="Times New Roman" panose="02020603050405020304" pitchFamily="18" charset="0"/>
                <a:ea typeface="Times New Roman" panose="02020603050405020304" pitchFamily="18" charset="0"/>
              </a:rPr>
              <a:t> 12 жилийн хугацаатай 10%-ийн хүүтэй бонд гаргасан бөгөөд хүүг жилд нэг удаа төлөхөөр зарласан. Нэг жилийн шардлагатай өгөөж 5% бол уг бондын үнийг ол</a:t>
            </a:r>
            <a:r>
              <a:rPr lang="mn-MN" sz="2200" dirty="0">
                <a:solidFill>
                  <a:srgbClr val="231F20"/>
                </a:solidFill>
                <a:latin typeface="Times New Roman" panose="02020603050405020304" pitchFamily="18" charset="0"/>
                <a:ea typeface="Times New Roman" panose="02020603050405020304" pitchFamily="18" charset="0"/>
              </a:rPr>
              <a:t>но уу.</a:t>
            </a:r>
            <a:endParaRPr lang="mn-MN" sz="2200" dirty="0">
              <a:solidFill>
                <a:srgbClr val="231F20"/>
              </a:solidFill>
              <a:effectLst/>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mn-MN"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mn-MN"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mn-MN"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en-US"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kk-KZ" sz="2200" dirty="0">
              <a:solidFill>
                <a:srgbClr val="231F20"/>
              </a:solidFill>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A304DAB0-6629-478F-B0A5-FEE19C0CA2F7}"/>
                  </a:ext>
                </a:extLst>
              </p:cNvPr>
              <p:cNvSpPr txBox="1">
                <a:spLocks/>
              </p:cNvSpPr>
              <p:nvPr/>
            </p:nvSpPr>
            <p:spPr>
              <a:xfrm>
                <a:off x="128281" y="2778548"/>
                <a:ext cx="11795052" cy="37423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mn-MN" sz="2200" dirty="0">
                    <a:solidFill>
                      <a:srgbClr val="231F20"/>
                    </a:solidFill>
                    <a:latin typeface="Times New Roman" panose="02020603050405020304" pitchFamily="18" charset="0"/>
                    <a:ea typeface="Times New Roman" panose="02020603050405020304" pitchFamily="18" charset="0"/>
                  </a:rPr>
                  <a:t>Энэхүү бондын үнэлгээ нь нэрлэсэн үнээсээ өнөөгийн өртөг нь илүү байна. Үүнийг урамшуулалттай бонд /</a:t>
                </a:r>
                <a:r>
                  <a:rPr lang="en-US" sz="2200" dirty="0">
                    <a:solidFill>
                      <a:srgbClr val="231F20"/>
                    </a:solidFill>
                    <a:latin typeface="Times New Roman" panose="02020603050405020304" pitchFamily="18" charset="0"/>
                    <a:ea typeface="Times New Roman" panose="02020603050405020304" pitchFamily="18" charset="0"/>
                  </a:rPr>
                  <a:t>premium bond/ </a:t>
                </a:r>
                <a:r>
                  <a:rPr lang="mn-MN" sz="2200" dirty="0">
                    <a:solidFill>
                      <a:srgbClr val="231F20"/>
                    </a:solidFill>
                    <a:latin typeface="Times New Roman" panose="02020603050405020304" pitchFamily="18" charset="0"/>
                    <a:ea typeface="Times New Roman" panose="02020603050405020304" pitchFamily="18" charset="0"/>
                  </a:rPr>
                  <a:t>гэж нэрлэдэг. Урамшуулалттай бондыг хүүгийн түвшинтэй нь харьцуулж тодорхойлох юм бол нэрлэсэн хүү нь зах зээлийн хүүнээсээ /шаардлагатай өгөөж/ өндөр байна гэсэн үг. Харин бондын нэрлэсэн хүү нь зах зээлийн хүүтэйгээ /шаардлагатай өгөөж/ тэнцүү тохиолдолд бондын дуусах хугацааны өртөг нь бондын өнөөгийн өртөгтэйгөө тэнцүү байна. </a:t>
                </a:r>
              </a:p>
              <a:p>
                <a:pPr marL="84455" marR="132080" indent="0" algn="just">
                  <a:spcBef>
                    <a:spcPts val="0"/>
                  </a:spcBef>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rgbClr val="231F20"/>
                          </a:solidFill>
                          <a:effectLst/>
                          <a:latin typeface="Cambria Math" panose="02040503050406030204" pitchFamily="18" charset="0"/>
                          <a:ea typeface="Times New Roman" panose="02020603050405020304" pitchFamily="18" charset="0"/>
                        </a:rPr>
                        <m:t>𝑉</m:t>
                      </m:r>
                      <m:r>
                        <a:rPr lang="en-US" b="0" i="1" smtClean="0">
                          <a:solidFill>
                            <a:srgbClr val="231F20"/>
                          </a:solidFill>
                          <a:effectLst/>
                          <a:latin typeface="Cambria Math" panose="02040503050406030204" pitchFamily="18" charset="0"/>
                          <a:ea typeface="Times New Roman" panose="02020603050405020304" pitchFamily="18" charset="0"/>
                        </a:rPr>
                        <m:t>=</m:t>
                      </m:r>
                      <m:nary>
                        <m:naryPr>
                          <m:chr m:val="∑"/>
                          <m:ctrlPr>
                            <a:rPr lang="en-US" b="0" i="1" smtClean="0">
                              <a:solidFill>
                                <a:srgbClr val="231F20"/>
                              </a:solidFill>
                              <a:effectLst/>
                              <a:latin typeface="Cambria Math" panose="02040503050406030204" pitchFamily="18" charset="0"/>
                            </a:rPr>
                          </m:ctrlPr>
                        </m:naryPr>
                        <m:sub>
                          <m:r>
                            <m:rPr>
                              <m:brk m:alnAt="23"/>
                            </m:rPr>
                            <a:rPr lang="en-US" b="0" i="1" smtClean="0">
                              <a:solidFill>
                                <a:srgbClr val="231F20"/>
                              </a:solidFill>
                              <a:effectLst/>
                              <a:latin typeface="Cambria Math" panose="02040503050406030204" pitchFamily="18" charset="0"/>
                            </a:rPr>
                            <m:t>𝑡</m:t>
                          </m:r>
                          <m:r>
                            <a:rPr lang="en-US" b="0" i="1" smtClean="0">
                              <a:solidFill>
                                <a:srgbClr val="231F20"/>
                              </a:solidFill>
                              <a:effectLst/>
                              <a:latin typeface="Cambria Math" panose="02040503050406030204" pitchFamily="18" charset="0"/>
                            </a:rPr>
                            <m:t>=1</m:t>
                          </m:r>
                        </m:sub>
                        <m:sup>
                          <m:r>
                            <a:rPr lang="mn-MN" b="0" i="1" smtClean="0">
                              <a:solidFill>
                                <a:srgbClr val="231F20"/>
                              </a:solidFill>
                              <a:effectLst/>
                              <a:latin typeface="Cambria Math" panose="02040503050406030204" pitchFamily="18" charset="0"/>
                            </a:rPr>
                            <m:t>12</m:t>
                          </m:r>
                        </m:sup>
                        <m:e>
                          <m:f>
                            <m:fPr>
                              <m:ctrlPr>
                                <a:rPr lang="en-US" b="0" i="1" smtClean="0">
                                  <a:solidFill>
                                    <a:srgbClr val="231F20"/>
                                  </a:solidFill>
                                  <a:effectLst/>
                                  <a:latin typeface="Cambria Math" panose="02040503050406030204" pitchFamily="18" charset="0"/>
                                </a:rPr>
                              </m:ctrlPr>
                            </m:fPr>
                            <m:num>
                              <m:r>
                                <a:rPr lang="mn-MN" b="0" i="1" smtClean="0">
                                  <a:solidFill>
                                    <a:srgbClr val="231F20"/>
                                  </a:solidFill>
                                  <a:effectLst/>
                                  <a:latin typeface="Cambria Math" panose="02040503050406030204" pitchFamily="18" charset="0"/>
                                </a:rPr>
                                <m:t>500</m:t>
                              </m:r>
                            </m:num>
                            <m:den>
                              <m:sSup>
                                <m:sSupPr>
                                  <m:ctrlPr>
                                    <a:rPr lang="en-US" b="0" i="1" smtClean="0">
                                      <a:solidFill>
                                        <a:srgbClr val="231F20"/>
                                      </a:solidFill>
                                      <a:effectLst/>
                                      <a:latin typeface="Cambria Math" panose="02040503050406030204" pitchFamily="18" charset="0"/>
                                    </a:rPr>
                                  </m:ctrlPr>
                                </m:sSupPr>
                                <m:e>
                                  <m:d>
                                    <m:dPr>
                                      <m:ctrlPr>
                                        <a:rPr lang="en-US" i="1">
                                          <a:solidFill>
                                            <a:srgbClr val="231F20"/>
                                          </a:solidFill>
                                          <a:latin typeface="Cambria Math" panose="02040503050406030204" pitchFamily="18" charset="0"/>
                                        </a:rPr>
                                      </m:ctrlPr>
                                    </m:dPr>
                                    <m:e>
                                      <m:r>
                                        <a:rPr lang="en-US" i="1">
                                          <a:solidFill>
                                            <a:srgbClr val="231F20"/>
                                          </a:solidFill>
                                          <a:latin typeface="Cambria Math" panose="02040503050406030204" pitchFamily="18" charset="0"/>
                                        </a:rPr>
                                        <m:t>1+</m:t>
                                      </m:r>
                                      <m:r>
                                        <a:rPr lang="mn-MN" b="0" i="1" smtClean="0">
                                          <a:solidFill>
                                            <a:srgbClr val="231F20"/>
                                          </a:solidFill>
                                          <a:latin typeface="Cambria Math" panose="02040503050406030204" pitchFamily="18" charset="0"/>
                                        </a:rPr>
                                        <m:t>0.05</m:t>
                                      </m:r>
                                    </m:e>
                                  </m:d>
                                </m:e>
                                <m:sup>
                                  <m:r>
                                    <a:rPr lang="en-US" b="0" i="1" smtClean="0">
                                      <a:solidFill>
                                        <a:srgbClr val="231F20"/>
                                      </a:solidFill>
                                      <a:effectLst/>
                                      <a:latin typeface="Cambria Math" panose="02040503050406030204" pitchFamily="18" charset="0"/>
                                    </a:rPr>
                                    <m:t>𝑡</m:t>
                                  </m:r>
                                </m:sup>
                              </m:sSup>
                            </m:den>
                          </m:f>
                          <m:r>
                            <a:rPr lang="en-US" b="0" i="1" smtClean="0">
                              <a:solidFill>
                                <a:srgbClr val="231F20"/>
                              </a:solidFill>
                              <a:effectLst/>
                              <a:latin typeface="Cambria Math" panose="02040503050406030204" pitchFamily="18" charset="0"/>
                            </a:rPr>
                            <m:t>+</m:t>
                          </m:r>
                          <m:f>
                            <m:fPr>
                              <m:ctrlPr>
                                <a:rPr lang="en-US" i="1">
                                  <a:solidFill>
                                    <a:srgbClr val="231F20"/>
                                  </a:solidFill>
                                  <a:latin typeface="Cambria Math" panose="02040503050406030204" pitchFamily="18" charset="0"/>
                                </a:rPr>
                              </m:ctrlPr>
                            </m:fPr>
                            <m:num>
                              <m:r>
                                <a:rPr lang="mn-MN" i="1">
                                  <a:solidFill>
                                    <a:srgbClr val="231F20"/>
                                  </a:solidFill>
                                  <a:latin typeface="Cambria Math" panose="02040503050406030204" pitchFamily="18" charset="0"/>
                                </a:rPr>
                                <m:t>1</m:t>
                              </m:r>
                              <m:r>
                                <a:rPr lang="en-US" b="0" i="1" smtClean="0">
                                  <a:solidFill>
                                    <a:srgbClr val="231F20"/>
                                  </a:solidFill>
                                  <a:latin typeface="Cambria Math" panose="02040503050406030204" pitchFamily="18" charset="0"/>
                                </a:rPr>
                                <m:t>0</m:t>
                              </m:r>
                              <m:r>
                                <a:rPr lang="en-US" i="1">
                                  <a:solidFill>
                                    <a:srgbClr val="231F20"/>
                                  </a:solidFill>
                                  <a:latin typeface="Cambria Math" panose="02040503050406030204" pitchFamily="18" charset="0"/>
                                </a:rPr>
                                <m:t>′</m:t>
                              </m:r>
                              <m:r>
                                <a:rPr lang="mn-MN" i="1">
                                  <a:solidFill>
                                    <a:srgbClr val="231F20"/>
                                  </a:solidFill>
                                  <a:latin typeface="Cambria Math" panose="02040503050406030204" pitchFamily="18" charset="0"/>
                                </a:rPr>
                                <m:t>000</m:t>
                              </m:r>
                            </m:num>
                            <m:den>
                              <m:sSup>
                                <m:sSupPr>
                                  <m:ctrlPr>
                                    <a:rPr lang="en-US" i="1">
                                      <a:solidFill>
                                        <a:srgbClr val="231F20"/>
                                      </a:solidFill>
                                      <a:latin typeface="Cambria Math" panose="02040503050406030204" pitchFamily="18" charset="0"/>
                                    </a:rPr>
                                  </m:ctrlPr>
                                </m:sSupPr>
                                <m:e>
                                  <m:d>
                                    <m:dPr>
                                      <m:ctrlPr>
                                        <a:rPr lang="en-US" i="1">
                                          <a:solidFill>
                                            <a:srgbClr val="231F20"/>
                                          </a:solidFill>
                                          <a:latin typeface="Cambria Math" panose="02040503050406030204" pitchFamily="18" charset="0"/>
                                        </a:rPr>
                                      </m:ctrlPr>
                                    </m:dPr>
                                    <m:e>
                                      <m:r>
                                        <a:rPr lang="en-US" i="1">
                                          <a:solidFill>
                                            <a:srgbClr val="231F20"/>
                                          </a:solidFill>
                                          <a:latin typeface="Cambria Math" panose="02040503050406030204" pitchFamily="18" charset="0"/>
                                        </a:rPr>
                                        <m:t>1+</m:t>
                                      </m:r>
                                      <m:r>
                                        <a:rPr lang="en-US" b="0" i="1" smtClean="0">
                                          <a:solidFill>
                                            <a:srgbClr val="231F20"/>
                                          </a:solidFill>
                                          <a:latin typeface="Cambria Math" panose="02040503050406030204" pitchFamily="18" charset="0"/>
                                        </a:rPr>
                                        <m:t>0.05</m:t>
                                      </m:r>
                                    </m:e>
                                  </m:d>
                                </m:e>
                                <m:sup>
                                  <m:r>
                                    <a:rPr lang="en-US" b="0" i="1" smtClean="0">
                                      <a:solidFill>
                                        <a:srgbClr val="231F20"/>
                                      </a:solidFill>
                                      <a:latin typeface="Cambria Math" panose="02040503050406030204" pitchFamily="18" charset="0"/>
                                    </a:rPr>
                                    <m:t>12</m:t>
                                  </m:r>
                                </m:sup>
                              </m:sSup>
                            </m:den>
                          </m:f>
                        </m:e>
                      </m:nary>
                      <m:r>
                        <a:rPr lang="en-US" b="0" i="1" smtClean="0">
                          <a:solidFill>
                            <a:srgbClr val="231F20"/>
                          </a:solidFill>
                          <a:latin typeface="Cambria Math" panose="02040503050406030204" pitchFamily="18" charset="0"/>
                        </a:rPr>
                        <m:t>=</m:t>
                      </m:r>
                      <m:r>
                        <a:rPr lang="mn-MN" b="0" i="1" smtClean="0">
                          <a:solidFill>
                            <a:srgbClr val="231F20"/>
                          </a:solidFill>
                          <a:latin typeface="Cambria Math" panose="02040503050406030204" pitchFamily="18" charset="0"/>
                        </a:rPr>
                        <m:t>4431</m:t>
                      </m:r>
                      <m:r>
                        <a:rPr lang="en-US" b="0" i="1" smtClean="0">
                          <a:solidFill>
                            <a:srgbClr val="231F20"/>
                          </a:solidFill>
                          <a:latin typeface="Cambria Math" panose="02040503050406030204" pitchFamily="18" charset="0"/>
                        </a:rPr>
                        <m:t>.</m:t>
                      </m:r>
                      <m:r>
                        <a:rPr lang="mn-MN" b="0" i="1" smtClean="0">
                          <a:solidFill>
                            <a:srgbClr val="231F20"/>
                          </a:solidFill>
                          <a:latin typeface="Cambria Math" panose="02040503050406030204" pitchFamily="18" charset="0"/>
                        </a:rPr>
                        <m:t>6</m:t>
                      </m:r>
                      <m:r>
                        <a:rPr lang="en-US" b="0" i="1" smtClean="0">
                          <a:solidFill>
                            <a:srgbClr val="231F20"/>
                          </a:solidFill>
                          <a:latin typeface="Cambria Math" panose="02040503050406030204" pitchFamily="18" charset="0"/>
                        </a:rPr>
                        <m:t>+5568.4=</m:t>
                      </m:r>
                      <m:sSup>
                        <m:sSupPr>
                          <m:ctrlPr>
                            <a:rPr lang="en-US" b="0" i="1" smtClean="0">
                              <a:solidFill>
                                <a:srgbClr val="231F20"/>
                              </a:solidFill>
                              <a:latin typeface="Cambria Math" panose="02040503050406030204" pitchFamily="18" charset="0"/>
                            </a:rPr>
                          </m:ctrlPr>
                        </m:sSupPr>
                        <m:e>
                          <m:r>
                            <a:rPr lang="en-US" b="0" i="1" smtClean="0">
                              <a:solidFill>
                                <a:srgbClr val="231F20"/>
                              </a:solidFill>
                              <a:latin typeface="Cambria Math" panose="02040503050406030204" pitchFamily="18" charset="0"/>
                            </a:rPr>
                            <m:t>1</m:t>
                          </m:r>
                          <m:r>
                            <a:rPr lang="mn-MN" b="0" i="1" smtClean="0">
                              <a:solidFill>
                                <a:srgbClr val="231F20"/>
                              </a:solidFill>
                              <a:latin typeface="Cambria Math" panose="02040503050406030204" pitchFamily="18" charset="0"/>
                            </a:rPr>
                            <m:t>0</m:t>
                          </m:r>
                        </m:e>
                        <m:sup>
                          <m:r>
                            <a:rPr lang="en-US" b="0" i="1" smtClean="0">
                              <a:solidFill>
                                <a:srgbClr val="231F20"/>
                              </a:solidFill>
                              <a:latin typeface="Cambria Math" panose="02040503050406030204" pitchFamily="18" charset="0"/>
                            </a:rPr>
                            <m:t>′</m:t>
                          </m:r>
                        </m:sup>
                      </m:sSup>
                      <m:r>
                        <a:rPr lang="mn-MN" b="0" i="1" smtClean="0">
                          <a:solidFill>
                            <a:srgbClr val="231F20"/>
                          </a:solidFill>
                          <a:latin typeface="Cambria Math" panose="02040503050406030204" pitchFamily="18" charset="0"/>
                        </a:rPr>
                        <m:t>000</m:t>
                      </m:r>
                      <m:r>
                        <a:rPr lang="en-US" b="0" i="1" smtClean="0">
                          <a:solidFill>
                            <a:srgbClr val="231F20"/>
                          </a:solidFill>
                          <a:latin typeface="Cambria Math" panose="02040503050406030204" pitchFamily="18" charset="0"/>
                        </a:rPr>
                        <m:t>.</m:t>
                      </m:r>
                      <m:r>
                        <a:rPr lang="mn-MN" b="0" i="1" smtClean="0">
                          <a:solidFill>
                            <a:srgbClr val="231F20"/>
                          </a:solidFill>
                          <a:latin typeface="Cambria Math" panose="02040503050406030204" pitchFamily="18" charset="0"/>
                        </a:rPr>
                        <m:t>0</m:t>
                      </m:r>
                    </m:oMath>
                  </m:oMathPara>
                </a14:m>
                <a:endParaRPr lang="en-US" sz="1800" dirty="0"/>
              </a:p>
              <a:p>
                <a:pPr marL="84455" marR="132080" indent="0" algn="just">
                  <a:spcBef>
                    <a:spcPts val="0"/>
                  </a:spcBef>
                  <a:buFont typeface="Arial" panose="020B0604020202020204" pitchFamily="34" charset="0"/>
                  <a:buNone/>
                </a:pPr>
                <a:r>
                  <a:rPr lang="mn-MN" sz="2200" dirty="0">
                    <a:solidFill>
                      <a:srgbClr val="231F20"/>
                    </a:solidFill>
                    <a:latin typeface="Times New Roman" panose="02020603050405020304" pitchFamily="18" charset="0"/>
                    <a:ea typeface="Times New Roman" panose="02020603050405020304" pitchFamily="18" charset="0"/>
                  </a:rPr>
                  <a:t>төгрөг байна. Өөрөөр хэлбэл хэрвээ та 5%-ийн купонтой нэгж бондыг 10</a:t>
                </a:r>
                <a:r>
                  <a:rPr lang="en-US" sz="2200" dirty="0">
                    <a:solidFill>
                      <a:srgbClr val="231F20"/>
                    </a:solidFill>
                    <a:latin typeface="Times New Roman" panose="02020603050405020304" pitchFamily="18" charset="0"/>
                    <a:ea typeface="Times New Roman" panose="02020603050405020304" pitchFamily="18" charset="0"/>
                  </a:rPr>
                  <a:t>’</a:t>
                </a:r>
                <a:r>
                  <a:rPr lang="mn-MN" sz="2200" dirty="0">
                    <a:solidFill>
                      <a:srgbClr val="231F20"/>
                    </a:solidFill>
                    <a:latin typeface="Times New Roman" panose="02020603050405020304" pitchFamily="18" charset="0"/>
                    <a:ea typeface="Times New Roman" panose="02020603050405020304" pitchFamily="18" charset="0"/>
                  </a:rPr>
                  <a:t>000 төгрөгөөр худалдан аваад дуусах хугацаа хүртэл нь эзэмшиж чадах юм бол өөрийн хөрөнгө оруулалтаас 5%-ийн өгөөж олох болно.</a:t>
                </a:r>
              </a:p>
            </p:txBody>
          </p:sp>
        </mc:Choice>
        <mc:Fallback xmlns="">
          <p:sp>
            <p:nvSpPr>
              <p:cNvPr id="5" name="Content Placeholder 2">
                <a:extLst>
                  <a:ext uri="{FF2B5EF4-FFF2-40B4-BE49-F238E27FC236}">
                    <a16:creationId xmlns:a16="http://schemas.microsoft.com/office/drawing/2014/main" id="{A304DAB0-6629-478F-B0A5-FEE19C0CA2F7}"/>
                  </a:ext>
                </a:extLst>
              </p:cNvPr>
              <p:cNvSpPr txBox="1">
                <a:spLocks noRot="1" noChangeAspect="1" noMove="1" noResize="1" noEditPoints="1" noAdjustHandles="1" noChangeArrowheads="1" noChangeShapeType="1" noTextEdit="1"/>
              </p:cNvSpPr>
              <p:nvPr/>
            </p:nvSpPr>
            <p:spPr>
              <a:xfrm>
                <a:off x="128281" y="2778548"/>
                <a:ext cx="11795052" cy="3742381"/>
              </a:xfrm>
              <a:prstGeom prst="rect">
                <a:avLst/>
              </a:prstGeom>
              <a:blipFill>
                <a:blip r:embed="rId3"/>
                <a:stretch>
                  <a:fillRect t="-1954" b="-71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A80968E-4CB7-4940-A8D4-005349DFA916}"/>
                  </a:ext>
                </a:extLst>
              </p:cNvPr>
              <p:cNvSpPr txBox="1"/>
              <p:nvPr/>
            </p:nvSpPr>
            <p:spPr>
              <a:xfrm>
                <a:off x="268667" y="1301797"/>
                <a:ext cx="11724860" cy="14767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231F20"/>
                          </a:solidFill>
                          <a:effectLst/>
                          <a:latin typeface="Cambria Math" panose="02040503050406030204" pitchFamily="18" charset="0"/>
                          <a:ea typeface="Times New Roman" panose="02020603050405020304" pitchFamily="18" charset="0"/>
                        </a:rPr>
                        <m:t>𝑉</m:t>
                      </m:r>
                      <m:r>
                        <a:rPr lang="en-US" sz="3200" b="0" i="1" smtClean="0">
                          <a:solidFill>
                            <a:srgbClr val="231F20"/>
                          </a:solidFill>
                          <a:effectLst/>
                          <a:latin typeface="Cambria Math" panose="02040503050406030204" pitchFamily="18" charset="0"/>
                          <a:ea typeface="Times New Roman" panose="02020603050405020304" pitchFamily="18" charset="0"/>
                        </a:rPr>
                        <m:t>=</m:t>
                      </m:r>
                      <m:nary>
                        <m:naryPr>
                          <m:chr m:val="∑"/>
                          <m:ctrlPr>
                            <a:rPr lang="en-US" sz="3200" b="0" i="1" smtClean="0">
                              <a:solidFill>
                                <a:srgbClr val="231F20"/>
                              </a:solidFill>
                              <a:effectLst/>
                              <a:latin typeface="Cambria Math" panose="02040503050406030204" pitchFamily="18" charset="0"/>
                            </a:rPr>
                          </m:ctrlPr>
                        </m:naryPr>
                        <m:sub>
                          <m:r>
                            <m:rPr>
                              <m:brk m:alnAt="23"/>
                            </m:rPr>
                            <a:rPr lang="en-US" sz="3200" b="0" i="1" smtClean="0">
                              <a:solidFill>
                                <a:srgbClr val="231F20"/>
                              </a:solidFill>
                              <a:effectLst/>
                              <a:latin typeface="Cambria Math" panose="02040503050406030204" pitchFamily="18" charset="0"/>
                            </a:rPr>
                            <m:t>𝑡</m:t>
                          </m:r>
                          <m:r>
                            <a:rPr lang="en-US" sz="3200" b="0" i="1" smtClean="0">
                              <a:solidFill>
                                <a:srgbClr val="231F20"/>
                              </a:solidFill>
                              <a:effectLst/>
                              <a:latin typeface="Cambria Math" panose="02040503050406030204" pitchFamily="18" charset="0"/>
                            </a:rPr>
                            <m:t>=1</m:t>
                          </m:r>
                        </m:sub>
                        <m:sup>
                          <m:r>
                            <a:rPr lang="mn-MN" sz="3200" b="0" i="1" smtClean="0">
                              <a:solidFill>
                                <a:srgbClr val="231F20"/>
                              </a:solidFill>
                              <a:effectLst/>
                              <a:latin typeface="Cambria Math" panose="02040503050406030204" pitchFamily="18" charset="0"/>
                            </a:rPr>
                            <m:t>12</m:t>
                          </m:r>
                        </m:sup>
                        <m:e>
                          <m:f>
                            <m:fPr>
                              <m:ctrlPr>
                                <a:rPr lang="en-US" sz="3200" b="0" i="1" smtClean="0">
                                  <a:solidFill>
                                    <a:srgbClr val="231F20"/>
                                  </a:solidFill>
                                  <a:effectLst/>
                                  <a:latin typeface="Cambria Math" panose="02040503050406030204" pitchFamily="18" charset="0"/>
                                </a:rPr>
                              </m:ctrlPr>
                            </m:fPr>
                            <m:num>
                              <m:r>
                                <a:rPr lang="mn-MN" sz="3200" b="0" i="1" smtClean="0">
                                  <a:solidFill>
                                    <a:srgbClr val="231F20"/>
                                  </a:solidFill>
                                  <a:effectLst/>
                                  <a:latin typeface="Cambria Math" panose="02040503050406030204" pitchFamily="18" charset="0"/>
                                </a:rPr>
                                <m:t>1</m:t>
                              </m:r>
                              <m:r>
                                <a:rPr lang="en-US" sz="3200" b="0" i="1" smtClean="0">
                                  <a:solidFill>
                                    <a:srgbClr val="231F20"/>
                                  </a:solidFill>
                                  <a:effectLst/>
                                  <a:latin typeface="Cambria Math" panose="02040503050406030204" pitchFamily="18" charset="0"/>
                                </a:rPr>
                                <m:t>′</m:t>
                              </m:r>
                              <m:r>
                                <a:rPr lang="mn-MN" sz="3200" b="0" i="1" smtClean="0">
                                  <a:solidFill>
                                    <a:srgbClr val="231F20"/>
                                  </a:solidFill>
                                  <a:effectLst/>
                                  <a:latin typeface="Cambria Math" panose="02040503050406030204" pitchFamily="18" charset="0"/>
                                </a:rPr>
                                <m:t>000</m:t>
                              </m:r>
                            </m:num>
                            <m:den>
                              <m:sSup>
                                <m:sSupPr>
                                  <m:ctrlPr>
                                    <a:rPr lang="en-US" sz="3200" b="0" i="1" smtClean="0">
                                      <a:solidFill>
                                        <a:srgbClr val="231F20"/>
                                      </a:solidFill>
                                      <a:effectLst/>
                                      <a:latin typeface="Cambria Math" panose="02040503050406030204" pitchFamily="18" charset="0"/>
                                    </a:rPr>
                                  </m:ctrlPr>
                                </m:sSupPr>
                                <m:e>
                                  <m:d>
                                    <m:dPr>
                                      <m:ctrlPr>
                                        <a:rPr lang="en-US" sz="3200" i="1">
                                          <a:solidFill>
                                            <a:srgbClr val="231F20"/>
                                          </a:solidFill>
                                          <a:latin typeface="Cambria Math" panose="02040503050406030204" pitchFamily="18" charset="0"/>
                                        </a:rPr>
                                      </m:ctrlPr>
                                    </m:dPr>
                                    <m:e>
                                      <m:r>
                                        <a:rPr lang="en-US" sz="3200" i="1">
                                          <a:solidFill>
                                            <a:srgbClr val="231F20"/>
                                          </a:solidFill>
                                          <a:latin typeface="Cambria Math" panose="02040503050406030204" pitchFamily="18" charset="0"/>
                                        </a:rPr>
                                        <m:t>1+</m:t>
                                      </m:r>
                                      <m:r>
                                        <a:rPr lang="mn-MN" sz="3200" b="0" i="1" smtClean="0">
                                          <a:solidFill>
                                            <a:srgbClr val="231F20"/>
                                          </a:solidFill>
                                          <a:latin typeface="Cambria Math" panose="02040503050406030204" pitchFamily="18" charset="0"/>
                                        </a:rPr>
                                        <m:t>0.05</m:t>
                                      </m:r>
                                    </m:e>
                                  </m:d>
                                </m:e>
                                <m:sup>
                                  <m:r>
                                    <a:rPr lang="en-US" sz="3200" b="0" i="1" smtClean="0">
                                      <a:solidFill>
                                        <a:srgbClr val="231F20"/>
                                      </a:solidFill>
                                      <a:effectLst/>
                                      <a:latin typeface="Cambria Math" panose="02040503050406030204" pitchFamily="18" charset="0"/>
                                    </a:rPr>
                                    <m:t>𝑡</m:t>
                                  </m:r>
                                </m:sup>
                              </m:sSup>
                            </m:den>
                          </m:f>
                          <m:r>
                            <a:rPr lang="en-US" sz="3200" b="0" i="1" smtClean="0">
                              <a:solidFill>
                                <a:srgbClr val="231F20"/>
                              </a:solidFill>
                              <a:effectLst/>
                              <a:latin typeface="Cambria Math" panose="02040503050406030204" pitchFamily="18" charset="0"/>
                            </a:rPr>
                            <m:t>+</m:t>
                          </m:r>
                          <m:f>
                            <m:fPr>
                              <m:ctrlPr>
                                <a:rPr lang="en-US" sz="3200" i="1">
                                  <a:solidFill>
                                    <a:srgbClr val="231F20"/>
                                  </a:solidFill>
                                  <a:latin typeface="Cambria Math" panose="02040503050406030204" pitchFamily="18" charset="0"/>
                                </a:rPr>
                              </m:ctrlPr>
                            </m:fPr>
                            <m:num>
                              <m:r>
                                <a:rPr lang="mn-MN" sz="3200" i="1">
                                  <a:solidFill>
                                    <a:srgbClr val="231F20"/>
                                  </a:solidFill>
                                  <a:latin typeface="Cambria Math" panose="02040503050406030204" pitchFamily="18" charset="0"/>
                                </a:rPr>
                                <m:t>1</m:t>
                              </m:r>
                              <m:r>
                                <a:rPr lang="en-US" sz="3200" b="0" i="1" smtClean="0">
                                  <a:solidFill>
                                    <a:srgbClr val="231F20"/>
                                  </a:solidFill>
                                  <a:latin typeface="Cambria Math" panose="02040503050406030204" pitchFamily="18" charset="0"/>
                                </a:rPr>
                                <m:t>0</m:t>
                              </m:r>
                              <m:r>
                                <a:rPr lang="en-US" sz="3200" i="1">
                                  <a:solidFill>
                                    <a:srgbClr val="231F20"/>
                                  </a:solidFill>
                                  <a:latin typeface="Cambria Math" panose="02040503050406030204" pitchFamily="18" charset="0"/>
                                </a:rPr>
                                <m:t>′</m:t>
                              </m:r>
                              <m:r>
                                <a:rPr lang="mn-MN" sz="3200" i="1">
                                  <a:solidFill>
                                    <a:srgbClr val="231F20"/>
                                  </a:solidFill>
                                  <a:latin typeface="Cambria Math" panose="02040503050406030204" pitchFamily="18" charset="0"/>
                                </a:rPr>
                                <m:t>000</m:t>
                              </m:r>
                            </m:num>
                            <m:den>
                              <m:sSup>
                                <m:sSupPr>
                                  <m:ctrlPr>
                                    <a:rPr lang="en-US" sz="3200" i="1">
                                      <a:solidFill>
                                        <a:srgbClr val="231F20"/>
                                      </a:solidFill>
                                      <a:latin typeface="Cambria Math" panose="02040503050406030204" pitchFamily="18" charset="0"/>
                                    </a:rPr>
                                  </m:ctrlPr>
                                </m:sSupPr>
                                <m:e>
                                  <m:d>
                                    <m:dPr>
                                      <m:ctrlPr>
                                        <a:rPr lang="en-US" sz="3200" i="1">
                                          <a:solidFill>
                                            <a:srgbClr val="231F20"/>
                                          </a:solidFill>
                                          <a:latin typeface="Cambria Math" panose="02040503050406030204" pitchFamily="18" charset="0"/>
                                        </a:rPr>
                                      </m:ctrlPr>
                                    </m:dPr>
                                    <m:e>
                                      <m:r>
                                        <a:rPr lang="en-US" sz="3200" i="1">
                                          <a:solidFill>
                                            <a:srgbClr val="231F20"/>
                                          </a:solidFill>
                                          <a:latin typeface="Cambria Math" panose="02040503050406030204" pitchFamily="18" charset="0"/>
                                        </a:rPr>
                                        <m:t>1+</m:t>
                                      </m:r>
                                      <m:r>
                                        <a:rPr lang="en-US" sz="3200" b="0" i="1" smtClean="0">
                                          <a:solidFill>
                                            <a:srgbClr val="231F20"/>
                                          </a:solidFill>
                                          <a:latin typeface="Cambria Math" panose="02040503050406030204" pitchFamily="18" charset="0"/>
                                        </a:rPr>
                                        <m:t>0.05</m:t>
                                      </m:r>
                                    </m:e>
                                  </m:d>
                                </m:e>
                                <m:sup>
                                  <m:r>
                                    <a:rPr lang="en-US" sz="3200" b="0" i="1" smtClean="0">
                                      <a:solidFill>
                                        <a:srgbClr val="231F20"/>
                                      </a:solidFill>
                                      <a:latin typeface="Cambria Math" panose="02040503050406030204" pitchFamily="18" charset="0"/>
                                    </a:rPr>
                                    <m:t>12</m:t>
                                  </m:r>
                                </m:sup>
                              </m:sSup>
                            </m:den>
                          </m:f>
                        </m:e>
                      </m:nary>
                      <m:r>
                        <a:rPr lang="en-US" sz="3200" b="0" i="1" smtClean="0">
                          <a:solidFill>
                            <a:srgbClr val="231F20"/>
                          </a:solidFill>
                          <a:latin typeface="Cambria Math" panose="02040503050406030204" pitchFamily="18" charset="0"/>
                        </a:rPr>
                        <m:t>=8863.2+5568.4=14′431.6</m:t>
                      </m:r>
                    </m:oMath>
                  </m:oMathPara>
                </a14:m>
                <a:endParaRPr lang="en-US" dirty="0"/>
              </a:p>
            </p:txBody>
          </p:sp>
        </mc:Choice>
        <mc:Fallback xmlns="">
          <p:sp>
            <p:nvSpPr>
              <p:cNvPr id="11" name="TextBox 10">
                <a:extLst>
                  <a:ext uri="{FF2B5EF4-FFF2-40B4-BE49-F238E27FC236}">
                    <a16:creationId xmlns:a16="http://schemas.microsoft.com/office/drawing/2014/main" id="{7A80968E-4CB7-4940-A8D4-005349DFA916}"/>
                  </a:ext>
                </a:extLst>
              </p:cNvPr>
              <p:cNvSpPr txBox="1">
                <a:spLocks noRot="1" noChangeAspect="1" noMove="1" noResize="1" noEditPoints="1" noAdjustHandles="1" noChangeArrowheads="1" noChangeShapeType="1" noTextEdit="1"/>
              </p:cNvSpPr>
              <p:nvPr/>
            </p:nvSpPr>
            <p:spPr>
              <a:xfrm>
                <a:off x="268667" y="1301797"/>
                <a:ext cx="11724860" cy="147675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670039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00236" y="16161"/>
            <a:ext cx="11578477" cy="418652"/>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Бондын үнэлгээ</a:t>
            </a:r>
            <a:r>
              <a:rPr lang="en-US" sz="2400" b="1" dirty="0">
                <a:solidFill>
                  <a:srgbClr val="0000FF"/>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198474" y="337071"/>
            <a:ext cx="11795052" cy="1026576"/>
          </a:xfrm>
        </p:spPr>
        <p:txBody>
          <a:bodyPr>
            <a:noAutofit/>
          </a:bodyPr>
          <a:lstStyle/>
          <a:p>
            <a:pPr marL="84455" marR="132080" indent="0" algn="just">
              <a:spcBef>
                <a:spcPts val="0"/>
              </a:spcBef>
              <a:spcAft>
                <a:spcPts val="0"/>
              </a:spcAft>
              <a:buNone/>
            </a:pPr>
            <a:r>
              <a:rPr lang="mn-MN" sz="2200" dirty="0">
                <a:solidFill>
                  <a:srgbClr val="231F20"/>
                </a:solidFill>
                <a:effectLst/>
                <a:latin typeface="Times New Roman" panose="02020603050405020304" pitchFamily="18" charset="0"/>
                <a:ea typeface="Times New Roman" panose="02020603050405020304" pitchFamily="18" charset="0"/>
              </a:rPr>
              <a:t>Хэрвээ бондын хүү 2% болж буурсан бол бондын зах зээлийн үнэлгээ буурна гэсэн үг. Хүү 200 төгрөгийг жилд нэг удаа тооцож төлнө. Үеийн тоо буюу жилийн тоо 12% дуусах хугацааны өртөг 10000 төгрөг, шаардлагатай өгөөж нэг жилд 5% байх бол үнэлгээ нь: </a:t>
            </a:r>
          </a:p>
          <a:p>
            <a:pPr marL="84455" marR="132080" indent="0" algn="just">
              <a:spcBef>
                <a:spcPts val="0"/>
              </a:spcBef>
              <a:spcAft>
                <a:spcPts val="0"/>
              </a:spcAft>
              <a:buNone/>
            </a:pPr>
            <a:r>
              <a:rPr lang="mn-MN" sz="2200" dirty="0">
                <a:solidFill>
                  <a:srgbClr val="231F20"/>
                </a:solidFill>
                <a:latin typeface="Times New Roman" panose="02020603050405020304" pitchFamily="18" charset="0"/>
                <a:ea typeface="Times New Roman" panose="02020603050405020304" pitchFamily="18" charset="0"/>
              </a:rPr>
              <a:t>.</a:t>
            </a:r>
            <a:endParaRPr lang="mn-MN" sz="2200" dirty="0">
              <a:solidFill>
                <a:srgbClr val="231F20"/>
              </a:solidFill>
              <a:effectLst/>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mn-MN"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mn-MN"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mn-MN"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en-US"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kk-KZ" sz="2200" dirty="0">
              <a:solidFill>
                <a:srgbClr val="231F20"/>
              </a:solidFill>
              <a:effectLst/>
              <a:latin typeface="Times New Roman" panose="02020603050405020304" pitchFamily="18" charset="0"/>
              <a:ea typeface="Times New Roman" panose="02020603050405020304" pitchFamily="18" charset="0"/>
            </a:endParaRPr>
          </a:p>
        </p:txBody>
      </p:sp>
      <p:sp>
        <p:nvSpPr>
          <p:cNvPr id="5" name="Content Placeholder 2">
            <a:extLst>
              <a:ext uri="{FF2B5EF4-FFF2-40B4-BE49-F238E27FC236}">
                <a16:creationId xmlns:a16="http://schemas.microsoft.com/office/drawing/2014/main" id="{A304DAB0-6629-478F-B0A5-FEE19C0CA2F7}"/>
              </a:ext>
            </a:extLst>
          </p:cNvPr>
          <p:cNvSpPr txBox="1">
            <a:spLocks/>
          </p:cNvSpPr>
          <p:nvPr/>
        </p:nvSpPr>
        <p:spPr>
          <a:xfrm>
            <a:off x="91948" y="2617183"/>
            <a:ext cx="11795052" cy="37423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mn-MN" sz="2100" dirty="0">
                <a:solidFill>
                  <a:srgbClr val="231F20"/>
                </a:solidFill>
                <a:latin typeface="Times New Roman" panose="02020603050405020304" pitchFamily="18" charset="0"/>
                <a:ea typeface="Times New Roman" panose="02020603050405020304" pitchFamily="18" charset="0"/>
              </a:rPr>
              <a:t>Энэ тохиолдолд бондын зах зээлийн үнэлгээ нь нэрлэсэн үнээсээ бага гарч байна. Яагаад гэвэл нэрлэсэн үнээс нь бага үнээр буюу хөнгөлөлттэй үнээр зарахгүй бол бонд зарагдахгүй. Иймд бонд гаргагч нь хөрөнгө оруулагчдыг татахын тулд хөнгөлөлттэй үнийг санал болгодог. Энэ бондын хөнгөлөлттэй бонд /</a:t>
            </a:r>
            <a:r>
              <a:rPr lang="en-US" sz="2100" dirty="0">
                <a:solidFill>
                  <a:srgbClr val="231F20"/>
                </a:solidFill>
                <a:latin typeface="Times New Roman" panose="02020603050405020304" pitchFamily="18" charset="0"/>
                <a:ea typeface="Times New Roman" panose="02020603050405020304" pitchFamily="18" charset="0"/>
              </a:rPr>
              <a:t>discount</a:t>
            </a:r>
            <a:r>
              <a:rPr lang="mn-MN" sz="2100" dirty="0">
                <a:solidFill>
                  <a:srgbClr val="231F20"/>
                </a:solidFill>
                <a:latin typeface="Times New Roman" panose="02020603050405020304" pitchFamily="18" charset="0"/>
                <a:ea typeface="Times New Roman" panose="02020603050405020304" pitchFamily="18" charset="0"/>
              </a:rPr>
              <a:t> </a:t>
            </a:r>
            <a:r>
              <a:rPr lang="en-US" sz="2100" dirty="0">
                <a:solidFill>
                  <a:srgbClr val="231F20"/>
                </a:solidFill>
                <a:latin typeface="Times New Roman" panose="02020603050405020304" pitchFamily="18" charset="0"/>
                <a:ea typeface="Times New Roman" panose="02020603050405020304" pitchFamily="18" charset="0"/>
              </a:rPr>
              <a:t>bond/ </a:t>
            </a:r>
            <a:r>
              <a:rPr lang="mn-MN" sz="2100" dirty="0">
                <a:solidFill>
                  <a:srgbClr val="231F20"/>
                </a:solidFill>
                <a:latin typeface="Times New Roman" panose="02020603050405020304" pitchFamily="18" charset="0"/>
                <a:ea typeface="Times New Roman" panose="02020603050405020304" pitchFamily="18" charset="0"/>
              </a:rPr>
              <a:t>гэж нэрлэдэг. Нэрлэсэн хүү нь зах зээлийн хүүнээс /шаардлагатай өгөөж/ бага байна гэсэн үг. </a:t>
            </a:r>
          </a:p>
          <a:p>
            <a:pPr marL="84455" marR="132080" indent="0" algn="just">
              <a:spcBef>
                <a:spcPts val="0"/>
              </a:spcBef>
              <a:buFont typeface="Arial" panose="020B0604020202020204" pitchFamily="34" charset="0"/>
              <a:buNone/>
            </a:pPr>
            <a:r>
              <a:rPr lang="mn-MN" sz="2100" dirty="0">
                <a:solidFill>
                  <a:srgbClr val="231F20"/>
                </a:solidFill>
                <a:latin typeface="Times New Roman" panose="02020603050405020304" pitchFamily="18" charset="0"/>
                <a:ea typeface="Times New Roman" panose="02020603050405020304" pitchFamily="18" charset="0"/>
              </a:rPr>
              <a:t>Бондын нэрлэсэн үнэ, бондын хүү, зах зээлийн өгөөжийн хоорондын дараах хамаарал байна. </a:t>
            </a:r>
          </a:p>
          <a:p>
            <a:pPr marL="457200" marR="132080" indent="-277813" algn="just">
              <a:spcBef>
                <a:spcPts val="0"/>
              </a:spcBef>
              <a:buFont typeface="+mj-lt"/>
              <a:buAutoNum type="arabicPeriod"/>
            </a:pPr>
            <a:r>
              <a:rPr lang="mn-MN" sz="2100" dirty="0">
                <a:solidFill>
                  <a:srgbClr val="231F20"/>
                </a:solidFill>
                <a:latin typeface="Times New Roman" panose="02020603050405020304" pitchFamily="18" charset="0"/>
                <a:ea typeface="Times New Roman" panose="02020603050405020304" pitchFamily="18" charset="0"/>
              </a:rPr>
              <a:t>Хэрвээ бондын хүү нь зах зээлийн өгөөжөөс их бол бонд нь нэрлэсэн үнээсээ илүү үнэтэй байна. Энэ нь зах зээлд урамшуулалтайгаар зарагдана. </a:t>
            </a:r>
          </a:p>
          <a:p>
            <a:pPr marL="457200" marR="132080" indent="-277813" algn="just">
              <a:spcBef>
                <a:spcPts val="0"/>
              </a:spcBef>
              <a:buFont typeface="+mj-lt"/>
              <a:buAutoNum type="arabicPeriod"/>
            </a:pPr>
            <a:r>
              <a:rPr lang="mn-MN" sz="2100" dirty="0">
                <a:solidFill>
                  <a:srgbClr val="231F20"/>
                </a:solidFill>
                <a:latin typeface="Times New Roman" panose="02020603050405020304" pitchFamily="18" charset="0"/>
                <a:ea typeface="Times New Roman" panose="02020603050405020304" pitchFamily="18" charset="0"/>
              </a:rPr>
              <a:t>Хэрвээ бондын хүү нь зах зээлийн өгөөжөөс бага бол бонд нь нэрлэсэн үнээсээ бага үнэ цэнэтэй байна. Энэ бонд зах зээлд хөнгөлөлттэй үнээр зарагдана гэсэн үг. </a:t>
            </a:r>
          </a:p>
          <a:p>
            <a:pPr marL="457200" marR="132080" indent="-277813" algn="just">
              <a:spcBef>
                <a:spcPts val="0"/>
              </a:spcBef>
              <a:buFont typeface="+mj-lt"/>
              <a:buAutoNum type="arabicPeriod"/>
            </a:pPr>
            <a:r>
              <a:rPr lang="mn-MN" sz="2100" dirty="0">
                <a:solidFill>
                  <a:srgbClr val="231F20"/>
                </a:solidFill>
                <a:latin typeface="Times New Roman" panose="02020603050405020304" pitchFamily="18" charset="0"/>
                <a:ea typeface="Times New Roman" panose="02020603050405020304" pitchFamily="18" charset="0"/>
              </a:rPr>
              <a:t>Хэрвээ бондын хүү нь зах зээлийн өгөөжтэй тэнцүү бол бондын өнөөгийн үнэ цэнэ нь нэрлэсэн үнэтэй тэнцүү байна. Энэ бонд зах зээлд нэрлэсэн үнээрээ зарагдана. Гаргагчаас бондын хүүг ихэвчлэн нэг жилээр тогтоож өгдөг ч зах зээлд янз бүрийн үечлэлээр тооцож төлж болно. Энэ нь хөрөнгө оруулагчдыг татах өрсөлдөөнтэй холбоотой юм.</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A80968E-4CB7-4940-A8D4-005349DFA916}"/>
                  </a:ext>
                </a:extLst>
              </p:cNvPr>
              <p:cNvSpPr txBox="1"/>
              <p:nvPr/>
            </p:nvSpPr>
            <p:spPr>
              <a:xfrm>
                <a:off x="268667" y="1301797"/>
                <a:ext cx="11724860" cy="14767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0000FF"/>
                          </a:solidFill>
                          <a:effectLst/>
                          <a:latin typeface="Cambria Math" panose="02040503050406030204" pitchFamily="18" charset="0"/>
                          <a:ea typeface="Times New Roman" panose="02020603050405020304" pitchFamily="18" charset="0"/>
                        </a:rPr>
                        <m:t>𝑉</m:t>
                      </m:r>
                      <m:r>
                        <a:rPr lang="en-US" sz="3200" b="0" i="1" smtClean="0">
                          <a:solidFill>
                            <a:srgbClr val="0000FF"/>
                          </a:solidFill>
                          <a:effectLst/>
                          <a:latin typeface="Cambria Math" panose="02040503050406030204" pitchFamily="18" charset="0"/>
                          <a:ea typeface="Times New Roman" panose="02020603050405020304" pitchFamily="18" charset="0"/>
                        </a:rPr>
                        <m:t>=</m:t>
                      </m:r>
                      <m:nary>
                        <m:naryPr>
                          <m:chr m:val="∑"/>
                          <m:ctrlPr>
                            <a:rPr lang="en-US" sz="3200" b="0" i="1" smtClean="0">
                              <a:solidFill>
                                <a:srgbClr val="0000FF"/>
                              </a:solidFill>
                              <a:effectLst/>
                              <a:latin typeface="Cambria Math" panose="02040503050406030204" pitchFamily="18" charset="0"/>
                            </a:rPr>
                          </m:ctrlPr>
                        </m:naryPr>
                        <m:sub>
                          <m:r>
                            <m:rPr>
                              <m:brk m:alnAt="23"/>
                            </m:rPr>
                            <a:rPr lang="en-US" sz="3200" b="0" i="1" smtClean="0">
                              <a:solidFill>
                                <a:srgbClr val="0000FF"/>
                              </a:solidFill>
                              <a:effectLst/>
                              <a:latin typeface="Cambria Math" panose="02040503050406030204" pitchFamily="18" charset="0"/>
                            </a:rPr>
                            <m:t>𝑡</m:t>
                          </m:r>
                          <m:r>
                            <a:rPr lang="en-US" sz="3200" b="0" i="1" smtClean="0">
                              <a:solidFill>
                                <a:srgbClr val="0000FF"/>
                              </a:solidFill>
                              <a:effectLst/>
                              <a:latin typeface="Cambria Math" panose="02040503050406030204" pitchFamily="18" charset="0"/>
                            </a:rPr>
                            <m:t>=1</m:t>
                          </m:r>
                        </m:sub>
                        <m:sup>
                          <m:r>
                            <a:rPr lang="mn-MN" sz="3200" b="0" i="1" smtClean="0">
                              <a:solidFill>
                                <a:srgbClr val="0000FF"/>
                              </a:solidFill>
                              <a:effectLst/>
                              <a:latin typeface="Cambria Math" panose="02040503050406030204" pitchFamily="18" charset="0"/>
                            </a:rPr>
                            <m:t>12</m:t>
                          </m:r>
                        </m:sup>
                        <m:e>
                          <m:f>
                            <m:fPr>
                              <m:ctrlPr>
                                <a:rPr lang="en-US" sz="3200" b="0" i="1" smtClean="0">
                                  <a:solidFill>
                                    <a:srgbClr val="0000FF"/>
                                  </a:solidFill>
                                  <a:effectLst/>
                                  <a:latin typeface="Cambria Math" panose="02040503050406030204" pitchFamily="18" charset="0"/>
                                </a:rPr>
                              </m:ctrlPr>
                            </m:fPr>
                            <m:num>
                              <m:r>
                                <a:rPr lang="mn-MN" sz="3200" b="0" i="1" smtClean="0">
                                  <a:solidFill>
                                    <a:srgbClr val="0000FF"/>
                                  </a:solidFill>
                                  <a:effectLst/>
                                  <a:latin typeface="Cambria Math" panose="02040503050406030204" pitchFamily="18" charset="0"/>
                                </a:rPr>
                                <m:t>200</m:t>
                              </m:r>
                            </m:num>
                            <m:den>
                              <m:sSup>
                                <m:sSupPr>
                                  <m:ctrlPr>
                                    <a:rPr lang="en-US" sz="3200" b="0" i="1" smtClean="0">
                                      <a:solidFill>
                                        <a:srgbClr val="0000FF"/>
                                      </a:solidFill>
                                      <a:effectLst/>
                                      <a:latin typeface="Cambria Math" panose="02040503050406030204" pitchFamily="18" charset="0"/>
                                    </a:rPr>
                                  </m:ctrlPr>
                                </m:sSupPr>
                                <m:e>
                                  <m:d>
                                    <m:dPr>
                                      <m:ctrlPr>
                                        <a:rPr lang="en-US" sz="3200" i="1">
                                          <a:solidFill>
                                            <a:srgbClr val="0000FF"/>
                                          </a:solidFill>
                                          <a:latin typeface="Cambria Math" panose="02040503050406030204" pitchFamily="18" charset="0"/>
                                        </a:rPr>
                                      </m:ctrlPr>
                                    </m:dPr>
                                    <m:e>
                                      <m:r>
                                        <a:rPr lang="en-US" sz="3200" i="1">
                                          <a:solidFill>
                                            <a:srgbClr val="0000FF"/>
                                          </a:solidFill>
                                          <a:latin typeface="Cambria Math" panose="02040503050406030204" pitchFamily="18" charset="0"/>
                                        </a:rPr>
                                        <m:t>1+</m:t>
                                      </m:r>
                                      <m:r>
                                        <a:rPr lang="mn-MN" sz="3200" b="0" i="1" smtClean="0">
                                          <a:solidFill>
                                            <a:srgbClr val="0000FF"/>
                                          </a:solidFill>
                                          <a:latin typeface="Cambria Math" panose="02040503050406030204" pitchFamily="18" charset="0"/>
                                        </a:rPr>
                                        <m:t>0.05</m:t>
                                      </m:r>
                                    </m:e>
                                  </m:d>
                                </m:e>
                                <m:sup>
                                  <m:r>
                                    <a:rPr lang="en-US" sz="3200" b="0" i="1" smtClean="0">
                                      <a:solidFill>
                                        <a:srgbClr val="0000FF"/>
                                      </a:solidFill>
                                      <a:effectLst/>
                                      <a:latin typeface="Cambria Math" panose="02040503050406030204" pitchFamily="18" charset="0"/>
                                    </a:rPr>
                                    <m:t>𝑡</m:t>
                                  </m:r>
                                </m:sup>
                              </m:sSup>
                            </m:den>
                          </m:f>
                          <m:r>
                            <a:rPr lang="en-US" sz="3200" b="0" i="1" smtClean="0">
                              <a:solidFill>
                                <a:srgbClr val="0000FF"/>
                              </a:solidFill>
                              <a:effectLst/>
                              <a:latin typeface="Cambria Math" panose="02040503050406030204" pitchFamily="18" charset="0"/>
                            </a:rPr>
                            <m:t>+</m:t>
                          </m:r>
                          <m:f>
                            <m:fPr>
                              <m:ctrlPr>
                                <a:rPr lang="en-US" sz="3200" i="1">
                                  <a:solidFill>
                                    <a:srgbClr val="0000FF"/>
                                  </a:solidFill>
                                  <a:latin typeface="Cambria Math" panose="02040503050406030204" pitchFamily="18" charset="0"/>
                                </a:rPr>
                              </m:ctrlPr>
                            </m:fPr>
                            <m:num>
                              <m:r>
                                <a:rPr lang="mn-MN" sz="3200" i="1">
                                  <a:solidFill>
                                    <a:srgbClr val="0000FF"/>
                                  </a:solidFill>
                                  <a:latin typeface="Cambria Math" panose="02040503050406030204" pitchFamily="18" charset="0"/>
                                </a:rPr>
                                <m:t>1</m:t>
                              </m:r>
                              <m:r>
                                <a:rPr lang="en-US" sz="3200" b="0" i="1" smtClean="0">
                                  <a:solidFill>
                                    <a:srgbClr val="0000FF"/>
                                  </a:solidFill>
                                  <a:latin typeface="Cambria Math" panose="02040503050406030204" pitchFamily="18" charset="0"/>
                                </a:rPr>
                                <m:t>0</m:t>
                              </m:r>
                              <m:r>
                                <a:rPr lang="en-US" sz="3200" i="1">
                                  <a:solidFill>
                                    <a:srgbClr val="0000FF"/>
                                  </a:solidFill>
                                  <a:latin typeface="Cambria Math" panose="02040503050406030204" pitchFamily="18" charset="0"/>
                                </a:rPr>
                                <m:t>′</m:t>
                              </m:r>
                              <m:r>
                                <a:rPr lang="mn-MN" sz="3200" i="1">
                                  <a:solidFill>
                                    <a:srgbClr val="0000FF"/>
                                  </a:solidFill>
                                  <a:latin typeface="Cambria Math" panose="02040503050406030204" pitchFamily="18" charset="0"/>
                                </a:rPr>
                                <m:t>000</m:t>
                              </m:r>
                            </m:num>
                            <m:den>
                              <m:sSup>
                                <m:sSupPr>
                                  <m:ctrlPr>
                                    <a:rPr lang="en-US" sz="3200" i="1">
                                      <a:solidFill>
                                        <a:srgbClr val="0000FF"/>
                                      </a:solidFill>
                                      <a:latin typeface="Cambria Math" panose="02040503050406030204" pitchFamily="18" charset="0"/>
                                    </a:rPr>
                                  </m:ctrlPr>
                                </m:sSupPr>
                                <m:e>
                                  <m:d>
                                    <m:dPr>
                                      <m:ctrlPr>
                                        <a:rPr lang="en-US" sz="3200" i="1">
                                          <a:solidFill>
                                            <a:srgbClr val="0000FF"/>
                                          </a:solidFill>
                                          <a:latin typeface="Cambria Math" panose="02040503050406030204" pitchFamily="18" charset="0"/>
                                        </a:rPr>
                                      </m:ctrlPr>
                                    </m:dPr>
                                    <m:e>
                                      <m:r>
                                        <a:rPr lang="en-US" sz="3200" i="1">
                                          <a:solidFill>
                                            <a:srgbClr val="0000FF"/>
                                          </a:solidFill>
                                          <a:latin typeface="Cambria Math" panose="02040503050406030204" pitchFamily="18" charset="0"/>
                                        </a:rPr>
                                        <m:t>1+</m:t>
                                      </m:r>
                                      <m:r>
                                        <a:rPr lang="en-US" sz="3200" b="0" i="1" smtClean="0">
                                          <a:solidFill>
                                            <a:srgbClr val="0000FF"/>
                                          </a:solidFill>
                                          <a:latin typeface="Cambria Math" panose="02040503050406030204" pitchFamily="18" charset="0"/>
                                        </a:rPr>
                                        <m:t>0.05</m:t>
                                      </m:r>
                                    </m:e>
                                  </m:d>
                                </m:e>
                                <m:sup>
                                  <m:r>
                                    <a:rPr lang="en-US" sz="3200" b="0" i="1" smtClean="0">
                                      <a:solidFill>
                                        <a:srgbClr val="0000FF"/>
                                      </a:solidFill>
                                      <a:latin typeface="Cambria Math" panose="02040503050406030204" pitchFamily="18" charset="0"/>
                                    </a:rPr>
                                    <m:t>12</m:t>
                                  </m:r>
                                </m:sup>
                              </m:sSup>
                            </m:den>
                          </m:f>
                        </m:e>
                      </m:nary>
                      <m:r>
                        <a:rPr lang="en-US" sz="3200" b="0" i="1" smtClean="0">
                          <a:solidFill>
                            <a:srgbClr val="0000FF"/>
                          </a:solidFill>
                          <a:latin typeface="Cambria Math" panose="02040503050406030204" pitchFamily="18" charset="0"/>
                        </a:rPr>
                        <m:t>=</m:t>
                      </m:r>
                      <m:r>
                        <a:rPr lang="mn-MN" sz="3200" b="0" i="1" smtClean="0">
                          <a:solidFill>
                            <a:srgbClr val="0000FF"/>
                          </a:solidFill>
                          <a:latin typeface="Cambria Math" panose="02040503050406030204" pitchFamily="18" charset="0"/>
                        </a:rPr>
                        <m:t>1772</m:t>
                      </m:r>
                      <m:r>
                        <a:rPr lang="en-US" sz="3200" b="0" i="1" smtClean="0">
                          <a:solidFill>
                            <a:srgbClr val="0000FF"/>
                          </a:solidFill>
                          <a:latin typeface="Cambria Math" panose="02040503050406030204" pitchFamily="18" charset="0"/>
                        </a:rPr>
                        <m:t>.</m:t>
                      </m:r>
                      <m:r>
                        <a:rPr lang="mn-MN" sz="3200" b="0" i="1" smtClean="0">
                          <a:solidFill>
                            <a:srgbClr val="0000FF"/>
                          </a:solidFill>
                          <a:latin typeface="Cambria Math" panose="02040503050406030204" pitchFamily="18" charset="0"/>
                        </a:rPr>
                        <m:t>6</m:t>
                      </m:r>
                      <m:r>
                        <a:rPr lang="en-US" sz="3200" b="0" i="1" smtClean="0">
                          <a:solidFill>
                            <a:srgbClr val="0000FF"/>
                          </a:solidFill>
                          <a:latin typeface="Cambria Math" panose="02040503050406030204" pitchFamily="18" charset="0"/>
                        </a:rPr>
                        <m:t>+5568.4=</m:t>
                      </m:r>
                      <m:sSup>
                        <m:sSupPr>
                          <m:ctrlPr>
                            <a:rPr lang="en-US" sz="3200" b="0" i="1" smtClean="0">
                              <a:solidFill>
                                <a:srgbClr val="0000FF"/>
                              </a:solidFill>
                              <a:latin typeface="Cambria Math" panose="02040503050406030204" pitchFamily="18" charset="0"/>
                            </a:rPr>
                          </m:ctrlPr>
                        </m:sSupPr>
                        <m:e>
                          <m:r>
                            <a:rPr lang="mn-MN" sz="3200" b="0" i="1" smtClean="0">
                              <a:solidFill>
                                <a:srgbClr val="0000FF"/>
                              </a:solidFill>
                              <a:latin typeface="Cambria Math" panose="02040503050406030204" pitchFamily="18" charset="0"/>
                            </a:rPr>
                            <m:t>7</m:t>
                          </m:r>
                        </m:e>
                        <m:sup>
                          <m:r>
                            <a:rPr lang="en-US" sz="3200" b="0" i="1" smtClean="0">
                              <a:solidFill>
                                <a:srgbClr val="0000FF"/>
                              </a:solidFill>
                              <a:latin typeface="Cambria Math" panose="02040503050406030204" pitchFamily="18" charset="0"/>
                            </a:rPr>
                            <m:t>′</m:t>
                          </m:r>
                        </m:sup>
                      </m:sSup>
                      <m:r>
                        <a:rPr lang="mn-MN" sz="3200" b="0" i="1" smtClean="0">
                          <a:solidFill>
                            <a:srgbClr val="0000FF"/>
                          </a:solidFill>
                          <a:latin typeface="Cambria Math" panose="02040503050406030204" pitchFamily="18" charset="0"/>
                        </a:rPr>
                        <m:t>341.0</m:t>
                      </m:r>
                    </m:oMath>
                  </m:oMathPara>
                </a14:m>
                <a:endParaRPr lang="en-US" dirty="0">
                  <a:solidFill>
                    <a:srgbClr val="0000FF"/>
                  </a:solidFill>
                </a:endParaRPr>
              </a:p>
            </p:txBody>
          </p:sp>
        </mc:Choice>
        <mc:Fallback xmlns="">
          <p:sp>
            <p:nvSpPr>
              <p:cNvPr id="11" name="TextBox 10">
                <a:extLst>
                  <a:ext uri="{FF2B5EF4-FFF2-40B4-BE49-F238E27FC236}">
                    <a16:creationId xmlns:a16="http://schemas.microsoft.com/office/drawing/2014/main" id="{7A80968E-4CB7-4940-A8D4-005349DFA916}"/>
                  </a:ext>
                </a:extLst>
              </p:cNvPr>
              <p:cNvSpPr txBox="1">
                <a:spLocks noRot="1" noChangeAspect="1" noMove="1" noResize="1" noEditPoints="1" noAdjustHandles="1" noChangeArrowheads="1" noChangeShapeType="1" noTextEdit="1"/>
              </p:cNvSpPr>
              <p:nvPr/>
            </p:nvSpPr>
            <p:spPr>
              <a:xfrm>
                <a:off x="268667" y="1301797"/>
                <a:ext cx="11724860" cy="147675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316540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00236" y="16161"/>
            <a:ext cx="11578477" cy="418652"/>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Бондын огоөжийг тооцох</a:t>
            </a:r>
            <a:r>
              <a:rPr lang="en-US" sz="2400" b="1" dirty="0">
                <a:solidFill>
                  <a:srgbClr val="0000FF"/>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198474" y="337071"/>
            <a:ext cx="11795052" cy="1617235"/>
          </a:xfrm>
        </p:spPr>
        <p:txBody>
          <a:bodyPr>
            <a:noAutofit/>
          </a:bodyPr>
          <a:lstStyle/>
          <a:p>
            <a:pPr marL="84455" marR="132080" indent="0" algn="just">
              <a:spcBef>
                <a:spcPts val="0"/>
              </a:spcBef>
              <a:spcAft>
                <a:spcPts val="0"/>
              </a:spcAft>
              <a:buNone/>
            </a:pPr>
            <a:r>
              <a:rPr lang="mn-MN" sz="2400" dirty="0">
                <a:solidFill>
                  <a:srgbClr val="231F20"/>
                </a:solidFill>
                <a:effectLst/>
                <a:latin typeface="Times New Roman" panose="02020603050405020304" pitchFamily="18" charset="0"/>
                <a:ea typeface="Times New Roman" panose="02020603050405020304" pitchFamily="18" charset="0"/>
              </a:rPr>
              <a:t>Бондыг үнэлэхдээ өмнөх загвараар зах зээлийн үнийг олохоос гадна орлогын нормоор нь үнэлдэг. </a:t>
            </a:r>
            <a:r>
              <a:rPr lang="mn-MN" sz="2400" b="1" dirty="0">
                <a:solidFill>
                  <a:srgbClr val="0000FF"/>
                </a:solidFill>
                <a:effectLst/>
                <a:latin typeface="Times New Roman" panose="02020603050405020304" pitchFamily="18" charset="0"/>
                <a:ea typeface="Times New Roman" panose="02020603050405020304" pitchFamily="18" charset="0"/>
              </a:rPr>
              <a:t>Үүнийг 2 үндсэн аргачлалаар тооцно.  </a:t>
            </a:r>
          </a:p>
          <a:p>
            <a:pPr marL="681038" marR="132080" indent="-287338" algn="just">
              <a:spcBef>
                <a:spcPts val="0"/>
              </a:spcBef>
              <a:spcAft>
                <a:spcPts val="0"/>
              </a:spcAft>
              <a:buFont typeface="+mj-lt"/>
              <a:buAutoNum type="arabicParenR"/>
            </a:pPr>
            <a:r>
              <a:rPr lang="mn-MN" sz="2400" b="1" dirty="0">
                <a:solidFill>
                  <a:srgbClr val="0000FF"/>
                </a:solidFill>
                <a:effectLst/>
                <a:latin typeface="Times New Roman" panose="02020603050405020304" pitchFamily="18" charset="0"/>
                <a:ea typeface="Times New Roman" panose="02020603050405020304" pitchFamily="18" charset="0"/>
              </a:rPr>
              <a:t>Өнөөгийн бодит орлогоор үнэлэх </a:t>
            </a:r>
          </a:p>
          <a:p>
            <a:pPr marL="681038" marR="132080" indent="-287338" algn="just">
              <a:spcBef>
                <a:spcPts val="0"/>
              </a:spcBef>
              <a:spcAft>
                <a:spcPts val="0"/>
              </a:spcAft>
              <a:buFont typeface="+mj-lt"/>
              <a:buAutoNum type="arabicParenR"/>
            </a:pPr>
            <a:r>
              <a:rPr lang="mn-MN" sz="2400" b="1" dirty="0">
                <a:solidFill>
                  <a:srgbClr val="0000FF"/>
                </a:solidFill>
                <a:effectLst/>
                <a:latin typeface="Times New Roman" panose="02020603050405020304" pitchFamily="18" charset="0"/>
                <a:ea typeface="Times New Roman" panose="02020603050405020304" pitchFamily="18" charset="0"/>
              </a:rPr>
              <a:t>Дуусах хугацааны орлогоор үнэлэх /</a:t>
            </a:r>
            <a:r>
              <a:rPr lang="en-US" sz="2400" b="1" dirty="0">
                <a:solidFill>
                  <a:srgbClr val="0000FF"/>
                </a:solidFill>
                <a:effectLst/>
                <a:latin typeface="Times New Roman" panose="02020603050405020304" pitchFamily="18" charset="0"/>
                <a:ea typeface="Times New Roman" panose="02020603050405020304" pitchFamily="18" charset="0"/>
              </a:rPr>
              <a:t>Yield to maturity/ </a:t>
            </a:r>
            <a:r>
              <a:rPr lang="mn-MN" sz="2400" dirty="0">
                <a:solidFill>
                  <a:srgbClr val="231F20"/>
                </a:solidFill>
                <a:effectLst/>
                <a:latin typeface="Times New Roman" panose="02020603050405020304" pitchFamily="18" charset="0"/>
                <a:ea typeface="Times New Roman" panose="02020603050405020304" pitchFamily="18" charset="0"/>
              </a:rPr>
              <a:t>зэрэг болно. </a:t>
            </a:r>
          </a:p>
          <a:p>
            <a:pPr marL="84455" marR="132080" indent="0" algn="just">
              <a:spcBef>
                <a:spcPts val="0"/>
              </a:spcBef>
              <a:spcAft>
                <a:spcPts val="0"/>
              </a:spcAft>
              <a:buNone/>
            </a:pPr>
            <a:r>
              <a:rPr lang="mn-MN" sz="2400" dirty="0">
                <a:solidFill>
                  <a:srgbClr val="231F20"/>
                </a:solidFill>
                <a:effectLst/>
                <a:latin typeface="Times New Roman" panose="02020603050405020304" pitchFamily="18" charset="0"/>
                <a:ea typeface="Times New Roman" panose="02020603050405020304" pitchFamily="18" charset="0"/>
              </a:rPr>
              <a:t>Өнөөгийн бодит орлогоор бондын орлогын нормыг гаргахад дараах томьёог ашиглана.</a:t>
            </a:r>
            <a:endParaRPr lang="mn-MN" sz="24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en-US" sz="2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spcAft>
                <a:spcPts val="0"/>
              </a:spcAft>
              <a:buNone/>
            </a:pPr>
            <a:endParaRPr lang="kk-KZ" sz="2200" dirty="0">
              <a:solidFill>
                <a:srgbClr val="231F20"/>
              </a:solidFill>
              <a:effectLst/>
              <a:latin typeface="Times New Roman" panose="02020603050405020304" pitchFamily="18" charset="0"/>
              <a:ea typeface="Times New Roman" panose="02020603050405020304" pitchFamily="18" charset="0"/>
            </a:endParaRPr>
          </a:p>
        </p:txBody>
      </p:sp>
      <p:sp>
        <p:nvSpPr>
          <p:cNvPr id="5" name="Content Placeholder 2">
            <a:extLst>
              <a:ext uri="{FF2B5EF4-FFF2-40B4-BE49-F238E27FC236}">
                <a16:creationId xmlns:a16="http://schemas.microsoft.com/office/drawing/2014/main" id="{A304DAB0-6629-478F-B0A5-FEE19C0CA2F7}"/>
              </a:ext>
            </a:extLst>
          </p:cNvPr>
          <p:cNvSpPr txBox="1">
            <a:spLocks/>
          </p:cNvSpPr>
          <p:nvPr/>
        </p:nvSpPr>
        <p:spPr>
          <a:xfrm>
            <a:off x="198473" y="3400962"/>
            <a:ext cx="11795052" cy="988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mn-MN" sz="2400" b="1" dirty="0">
                <a:solidFill>
                  <a:srgbClr val="231F20"/>
                </a:solidFill>
                <a:latin typeface="Times New Roman" panose="02020603050405020304" pitchFamily="18" charset="0"/>
                <a:ea typeface="Times New Roman" panose="02020603050405020304" pitchFamily="18" charset="0"/>
              </a:rPr>
              <a:t>Жишээ нь: </a:t>
            </a:r>
            <a:r>
              <a:rPr lang="mn-MN" sz="2400" dirty="0">
                <a:solidFill>
                  <a:srgbClr val="231F20"/>
                </a:solidFill>
                <a:latin typeface="Times New Roman" panose="02020603050405020304" pitchFamily="18" charset="0"/>
                <a:ea typeface="Times New Roman" panose="02020603050405020304" pitchFamily="18" charset="0"/>
              </a:rPr>
              <a:t>1000 төгрөгийн нэрлэсэн үнэтэй бондыг зах зээл дээрээс 1090 төгрөгөөр худалдаж авсан. Уг бондын жилийн хүү 12% байсан. Өнөөгийн орлогын бодит нормыг тооцно уу. Юуны өмнө бондын хүүгийн төлбөрийг тооцно.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A80968E-4CB7-4940-A8D4-005349DFA916}"/>
                  </a:ext>
                </a:extLst>
              </p:cNvPr>
              <p:cNvSpPr txBox="1"/>
              <p:nvPr/>
            </p:nvSpPr>
            <p:spPr>
              <a:xfrm>
                <a:off x="628504" y="2156133"/>
                <a:ext cx="1899542" cy="12448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4000" i="1" smtClean="0">
                          <a:solidFill>
                            <a:srgbClr val="0000FF"/>
                          </a:solidFill>
                          <a:latin typeface="Cambria Math" panose="02040503050406030204" pitchFamily="18" charset="0"/>
                          <a:ea typeface="Times New Roman" panose="02020603050405020304" pitchFamily="18" charset="0"/>
                        </a:rPr>
                        <m:t>R</m:t>
                      </m:r>
                      <m:r>
                        <a:rPr lang="en-US" sz="4000" b="0" i="1" smtClean="0">
                          <a:solidFill>
                            <a:srgbClr val="0000FF"/>
                          </a:solidFill>
                          <a:effectLst/>
                          <a:latin typeface="Cambria Math" panose="02040503050406030204" pitchFamily="18" charset="0"/>
                          <a:ea typeface="Times New Roman" panose="02020603050405020304" pitchFamily="18" charset="0"/>
                        </a:rPr>
                        <m:t>=</m:t>
                      </m:r>
                      <m:f>
                        <m:fPr>
                          <m:ctrlPr>
                            <a:rPr lang="en-US" sz="4000" i="1">
                              <a:solidFill>
                                <a:srgbClr val="0000FF"/>
                              </a:solidFill>
                              <a:latin typeface="Cambria Math" panose="02040503050406030204" pitchFamily="18" charset="0"/>
                            </a:rPr>
                          </m:ctrlPr>
                        </m:fPr>
                        <m:num>
                          <m:r>
                            <a:rPr lang="en-US" sz="4000" b="0" i="1" smtClean="0">
                              <a:solidFill>
                                <a:srgbClr val="0000FF"/>
                              </a:solidFill>
                              <a:latin typeface="Cambria Math" panose="02040503050406030204" pitchFamily="18" charset="0"/>
                            </a:rPr>
                            <m:t>𝐼</m:t>
                          </m:r>
                        </m:num>
                        <m:den>
                          <m:r>
                            <a:rPr lang="en-US" sz="4000" b="0" i="1" smtClean="0">
                              <a:solidFill>
                                <a:srgbClr val="0000FF"/>
                              </a:solidFill>
                              <a:latin typeface="Cambria Math" panose="02040503050406030204" pitchFamily="18" charset="0"/>
                            </a:rPr>
                            <m:t>𝑉</m:t>
                          </m:r>
                        </m:den>
                      </m:f>
                    </m:oMath>
                  </m:oMathPara>
                </a14:m>
                <a:endParaRPr lang="en-US" sz="2400" dirty="0">
                  <a:solidFill>
                    <a:srgbClr val="0000FF"/>
                  </a:solidFill>
                </a:endParaRPr>
              </a:p>
            </p:txBody>
          </p:sp>
        </mc:Choice>
        <mc:Fallback xmlns="">
          <p:sp>
            <p:nvSpPr>
              <p:cNvPr id="11" name="TextBox 10">
                <a:extLst>
                  <a:ext uri="{FF2B5EF4-FFF2-40B4-BE49-F238E27FC236}">
                    <a16:creationId xmlns:a16="http://schemas.microsoft.com/office/drawing/2014/main" id="{7A80968E-4CB7-4940-A8D4-005349DFA916}"/>
                  </a:ext>
                </a:extLst>
              </p:cNvPr>
              <p:cNvSpPr txBox="1">
                <a:spLocks noRot="1" noChangeAspect="1" noMove="1" noResize="1" noEditPoints="1" noAdjustHandles="1" noChangeArrowheads="1" noChangeShapeType="1" noTextEdit="1"/>
              </p:cNvSpPr>
              <p:nvPr/>
            </p:nvSpPr>
            <p:spPr>
              <a:xfrm>
                <a:off x="628504" y="2156133"/>
                <a:ext cx="1899542" cy="1244828"/>
              </a:xfrm>
              <a:prstGeom prst="rect">
                <a:avLst/>
              </a:prstGeom>
              <a:blipFill>
                <a:blip r:embed="rId3"/>
                <a:stretch>
                  <a:fillRect/>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EEA09007-41BA-4422-BB9B-FAD590A59E80}"/>
              </a:ext>
            </a:extLst>
          </p:cNvPr>
          <p:cNvSpPr txBox="1">
            <a:spLocks/>
          </p:cNvSpPr>
          <p:nvPr/>
        </p:nvSpPr>
        <p:spPr>
          <a:xfrm>
            <a:off x="3600261" y="2258005"/>
            <a:ext cx="4991477" cy="988135"/>
          </a:xfrm>
          <a:prstGeom prst="rect">
            <a:avLst/>
          </a:prstGeom>
          <a:ln>
            <a:solidFill>
              <a:srgbClr val="00B0F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en-US" sz="2400" b="1" i="1" dirty="0">
                <a:solidFill>
                  <a:srgbClr val="231F20"/>
                </a:solidFill>
                <a:latin typeface="Times New Roman" panose="02020603050405020304" pitchFamily="18" charset="0"/>
                <a:ea typeface="Times New Roman" panose="02020603050405020304" pitchFamily="18" charset="0"/>
              </a:rPr>
              <a:t>R</a:t>
            </a:r>
            <a:r>
              <a:rPr lang="en-US" sz="2400" i="1" dirty="0">
                <a:solidFill>
                  <a:srgbClr val="231F20"/>
                </a:solidFill>
                <a:latin typeface="Times New Roman" panose="02020603050405020304" pitchFamily="18" charset="0"/>
                <a:ea typeface="Times New Roman" panose="02020603050405020304" pitchFamily="18" charset="0"/>
              </a:rPr>
              <a:t> - </a:t>
            </a:r>
            <a:r>
              <a:rPr lang="mn-MN" sz="2400" dirty="0">
                <a:solidFill>
                  <a:srgbClr val="231F20"/>
                </a:solidFill>
                <a:latin typeface="Times New Roman" panose="02020603050405020304" pitchFamily="18" charset="0"/>
                <a:ea typeface="Times New Roman" panose="02020603050405020304" pitchFamily="18" charset="0"/>
              </a:rPr>
              <a:t>Бондын орлогын норм </a:t>
            </a:r>
          </a:p>
          <a:p>
            <a:pPr marL="84455" marR="132080" indent="0" algn="just">
              <a:spcBef>
                <a:spcPts val="0"/>
              </a:spcBef>
              <a:buFont typeface="Arial" panose="020B0604020202020204" pitchFamily="34" charset="0"/>
              <a:buNone/>
            </a:pPr>
            <a:r>
              <a:rPr lang="en-US" sz="2400" b="1" i="1" dirty="0">
                <a:solidFill>
                  <a:srgbClr val="231F20"/>
                </a:solidFill>
                <a:latin typeface="Times New Roman" panose="02020603050405020304" pitchFamily="18" charset="0"/>
                <a:ea typeface="Times New Roman" panose="02020603050405020304" pitchFamily="18" charset="0"/>
              </a:rPr>
              <a:t>I</a:t>
            </a:r>
            <a:r>
              <a:rPr lang="en-US" sz="2400" i="1" dirty="0">
                <a:solidFill>
                  <a:srgbClr val="231F20"/>
                </a:solidFill>
                <a:latin typeface="Times New Roman" panose="02020603050405020304" pitchFamily="18" charset="0"/>
                <a:ea typeface="Times New Roman" panose="02020603050405020304" pitchFamily="18" charset="0"/>
              </a:rPr>
              <a:t> </a:t>
            </a:r>
            <a:r>
              <a:rPr lang="mn-MN" sz="2400" i="1" dirty="0">
                <a:solidFill>
                  <a:srgbClr val="231F20"/>
                </a:solidFill>
                <a:latin typeface="Times New Roman" panose="02020603050405020304" pitchFamily="18" charset="0"/>
                <a:ea typeface="Times New Roman" panose="02020603050405020304" pitchFamily="18" charset="0"/>
              </a:rPr>
              <a:t>- </a:t>
            </a:r>
            <a:r>
              <a:rPr lang="mn-MN" sz="2400" dirty="0">
                <a:solidFill>
                  <a:srgbClr val="231F20"/>
                </a:solidFill>
                <a:latin typeface="Times New Roman" panose="02020603050405020304" pitchFamily="18" charset="0"/>
                <a:ea typeface="Times New Roman" panose="02020603050405020304" pitchFamily="18" charset="0"/>
              </a:rPr>
              <a:t>Купоны хүүгийн төлбөр</a:t>
            </a:r>
            <a:r>
              <a:rPr lang="mn-MN" sz="2400" i="1" dirty="0">
                <a:solidFill>
                  <a:srgbClr val="231F20"/>
                </a:solidFill>
                <a:latin typeface="Times New Roman" panose="02020603050405020304" pitchFamily="18" charset="0"/>
                <a:ea typeface="Times New Roman" panose="02020603050405020304" pitchFamily="18" charset="0"/>
              </a:rPr>
              <a:t> </a:t>
            </a:r>
          </a:p>
          <a:p>
            <a:pPr marL="84455" marR="132080" indent="0" algn="just">
              <a:spcBef>
                <a:spcPts val="0"/>
              </a:spcBef>
              <a:buFont typeface="Arial" panose="020B0604020202020204" pitchFamily="34" charset="0"/>
              <a:buNone/>
            </a:pPr>
            <a:r>
              <a:rPr lang="en-US" sz="2400" b="1" i="1" dirty="0">
                <a:solidFill>
                  <a:srgbClr val="231F20"/>
                </a:solidFill>
                <a:latin typeface="Times New Roman" panose="02020603050405020304" pitchFamily="18" charset="0"/>
                <a:ea typeface="Times New Roman" panose="02020603050405020304" pitchFamily="18" charset="0"/>
              </a:rPr>
              <a:t>V </a:t>
            </a:r>
            <a:r>
              <a:rPr lang="en-US" sz="2400" i="1" dirty="0">
                <a:solidFill>
                  <a:srgbClr val="231F20"/>
                </a:solidFill>
                <a:latin typeface="Times New Roman" panose="02020603050405020304" pitchFamily="18" charset="0"/>
                <a:ea typeface="Times New Roman" panose="02020603050405020304" pitchFamily="18" charset="0"/>
              </a:rPr>
              <a:t>- </a:t>
            </a:r>
            <a:r>
              <a:rPr lang="mn-MN" sz="2400" dirty="0">
                <a:solidFill>
                  <a:srgbClr val="231F20"/>
                </a:solidFill>
                <a:latin typeface="Times New Roman" panose="02020603050405020304" pitchFamily="18" charset="0"/>
                <a:ea typeface="Times New Roman" panose="02020603050405020304" pitchFamily="18" charset="0"/>
              </a:rPr>
              <a:t>Бондын зах зээлийн үнэ </a:t>
            </a:r>
            <a:endParaRPr lang="kk-KZ" sz="2400" dirty="0">
              <a:solidFill>
                <a:srgbClr val="231F20"/>
              </a:solidFill>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5DC9A20-7648-4464-80B6-7FC8CD4FE761}"/>
                  </a:ext>
                </a:extLst>
              </p:cNvPr>
              <p:cNvSpPr txBox="1"/>
              <p:nvPr/>
            </p:nvSpPr>
            <p:spPr>
              <a:xfrm>
                <a:off x="198473" y="4543919"/>
                <a:ext cx="6062627" cy="55399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3000" i="1" smtClean="0">
                          <a:solidFill>
                            <a:schemeClr val="tx1"/>
                          </a:solidFill>
                          <a:latin typeface="Cambria Math" panose="02040503050406030204" pitchFamily="18" charset="0"/>
                          <a:ea typeface="Times New Roman" panose="02020603050405020304" pitchFamily="18" charset="0"/>
                        </a:rPr>
                        <m:t>I</m:t>
                      </m:r>
                      <m:r>
                        <a:rPr lang="en-US" sz="3000" b="0" i="1" smtClean="0">
                          <a:solidFill>
                            <a:schemeClr val="tx1"/>
                          </a:solidFill>
                          <a:latin typeface="Cambria Math" panose="02040503050406030204" pitchFamily="18" charset="0"/>
                          <a:ea typeface="Times New Roman" panose="02020603050405020304" pitchFamily="18" charset="0"/>
                        </a:rPr>
                        <m:t>=100</m:t>
                      </m:r>
                      <m:r>
                        <a:rPr lang="en-US" sz="3000" b="0" i="1" smtClean="0">
                          <a:solidFill>
                            <a:schemeClr val="tx1"/>
                          </a:solidFill>
                          <a:latin typeface="Cambria Math" panose="02040503050406030204" pitchFamily="18" charset="0"/>
                          <a:ea typeface="Cambria Math" panose="02040503050406030204" pitchFamily="18" charset="0"/>
                        </a:rPr>
                        <m:t>∙12%=120 </m:t>
                      </m:r>
                      <m:r>
                        <a:rPr lang="mn-MN" sz="3000" b="0" i="1" smtClean="0">
                          <a:solidFill>
                            <a:schemeClr val="tx1"/>
                          </a:solidFill>
                          <a:latin typeface="Cambria Math" panose="02040503050406030204" pitchFamily="18" charset="0"/>
                          <a:ea typeface="Cambria Math" panose="02040503050406030204" pitchFamily="18" charset="0"/>
                        </a:rPr>
                        <m:t>төгрөг гарна.</m:t>
                      </m:r>
                      <m:r>
                        <a:rPr lang="en-US" sz="3000" b="0" i="1" smtClean="0">
                          <a:solidFill>
                            <a:schemeClr val="tx1"/>
                          </a:solidFill>
                          <a:latin typeface="Cambria Math" panose="02040503050406030204" pitchFamily="18" charset="0"/>
                          <a:ea typeface="Times New Roman" panose="02020603050405020304" pitchFamily="18" charset="0"/>
                        </a:rPr>
                        <m:t> </m:t>
                      </m:r>
                    </m:oMath>
                  </m:oMathPara>
                </a14:m>
                <a:endParaRPr lang="en-US" sz="3000" dirty="0">
                  <a:solidFill>
                    <a:schemeClr val="tx1"/>
                  </a:solidFill>
                </a:endParaRPr>
              </a:p>
            </p:txBody>
          </p:sp>
        </mc:Choice>
        <mc:Fallback xmlns="">
          <p:sp>
            <p:nvSpPr>
              <p:cNvPr id="7" name="TextBox 6">
                <a:extLst>
                  <a:ext uri="{FF2B5EF4-FFF2-40B4-BE49-F238E27FC236}">
                    <a16:creationId xmlns:a16="http://schemas.microsoft.com/office/drawing/2014/main" id="{85DC9A20-7648-4464-80B6-7FC8CD4FE761}"/>
                  </a:ext>
                </a:extLst>
              </p:cNvPr>
              <p:cNvSpPr txBox="1">
                <a:spLocks noRot="1" noChangeAspect="1" noMove="1" noResize="1" noEditPoints="1" noAdjustHandles="1" noChangeArrowheads="1" noChangeShapeType="1" noTextEdit="1"/>
              </p:cNvSpPr>
              <p:nvPr/>
            </p:nvSpPr>
            <p:spPr>
              <a:xfrm>
                <a:off x="198473" y="4543919"/>
                <a:ext cx="6062627" cy="55399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ADE0516-C3A0-4211-8FAD-5E21B337E9BB}"/>
                  </a:ext>
                </a:extLst>
              </p:cNvPr>
              <p:cNvSpPr txBox="1"/>
              <p:nvPr/>
            </p:nvSpPr>
            <p:spPr>
              <a:xfrm>
                <a:off x="6095999" y="4389097"/>
                <a:ext cx="4453625"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1" smtClean="0">
                          <a:solidFill>
                            <a:schemeClr val="tx1"/>
                          </a:solidFill>
                          <a:latin typeface="Cambria Math" panose="02040503050406030204" pitchFamily="18" charset="0"/>
                          <a:ea typeface="Times New Roman" panose="02020603050405020304" pitchFamily="18" charset="0"/>
                        </a:rPr>
                        <m:t>R</m:t>
                      </m:r>
                      <m:r>
                        <a:rPr lang="en-US" sz="2800" b="0" i="1" smtClean="0">
                          <a:solidFill>
                            <a:schemeClr val="tx1"/>
                          </a:solidFill>
                          <a:effectLst/>
                          <a:latin typeface="Cambria Math" panose="02040503050406030204" pitchFamily="18" charset="0"/>
                          <a:ea typeface="Times New Roman" panose="02020603050405020304" pitchFamily="18" charset="0"/>
                        </a:rPr>
                        <m:t>=</m:t>
                      </m:r>
                      <m:f>
                        <m:fPr>
                          <m:ctrlPr>
                            <a:rPr lang="en-US" sz="2800" i="1">
                              <a:solidFill>
                                <a:schemeClr val="tx1"/>
                              </a:solidFill>
                              <a:latin typeface="Cambria Math" panose="02040503050406030204" pitchFamily="18" charset="0"/>
                            </a:rPr>
                          </m:ctrlPr>
                        </m:fPr>
                        <m:num>
                          <m:r>
                            <a:rPr lang="mn-MN" sz="2800" b="0" i="1" smtClean="0">
                              <a:solidFill>
                                <a:schemeClr val="tx1"/>
                              </a:solidFill>
                              <a:latin typeface="Cambria Math" panose="02040503050406030204" pitchFamily="18" charset="0"/>
                            </a:rPr>
                            <m:t>120</m:t>
                          </m:r>
                        </m:num>
                        <m:den>
                          <m:r>
                            <a:rPr lang="mn-MN" sz="2800" b="0" i="1" smtClean="0">
                              <a:solidFill>
                                <a:schemeClr val="tx1"/>
                              </a:solidFill>
                              <a:latin typeface="Cambria Math" panose="02040503050406030204" pitchFamily="18" charset="0"/>
                            </a:rPr>
                            <m:t>1090</m:t>
                          </m:r>
                        </m:den>
                      </m:f>
                      <m:r>
                        <a:rPr lang="en-US" sz="2800" b="0" i="1" smtClean="0">
                          <a:solidFill>
                            <a:schemeClr val="tx1"/>
                          </a:solidFill>
                          <a:latin typeface="Cambria Math" panose="02040503050406030204" pitchFamily="18" charset="0"/>
                        </a:rPr>
                        <m:t>=0.11=11</m:t>
                      </m:r>
                      <m:r>
                        <a:rPr lang="en-US" sz="2800" b="0" i="1" smtClean="0">
                          <a:solidFill>
                            <a:schemeClr val="tx1"/>
                          </a:solidFill>
                          <a:latin typeface="Cambria Math" panose="02040503050406030204" pitchFamily="18" charset="0"/>
                          <a:ea typeface="Cambria Math" panose="02040503050406030204" pitchFamily="18" charset="0"/>
                        </a:rPr>
                        <m:t>%</m:t>
                      </m:r>
                    </m:oMath>
                  </m:oMathPara>
                </a14:m>
                <a:endParaRPr lang="en-US" sz="1600" dirty="0">
                  <a:solidFill>
                    <a:schemeClr val="tx1"/>
                  </a:solidFill>
                </a:endParaRPr>
              </a:p>
            </p:txBody>
          </p:sp>
        </mc:Choice>
        <mc:Fallback xmlns="">
          <p:sp>
            <p:nvSpPr>
              <p:cNvPr id="8" name="TextBox 7">
                <a:extLst>
                  <a:ext uri="{FF2B5EF4-FFF2-40B4-BE49-F238E27FC236}">
                    <a16:creationId xmlns:a16="http://schemas.microsoft.com/office/drawing/2014/main" id="{3ADE0516-C3A0-4211-8FAD-5E21B337E9BB}"/>
                  </a:ext>
                </a:extLst>
              </p:cNvPr>
              <p:cNvSpPr txBox="1">
                <a:spLocks noRot="1" noChangeAspect="1" noMove="1" noResize="1" noEditPoints="1" noAdjustHandles="1" noChangeArrowheads="1" noChangeShapeType="1" noTextEdit="1"/>
              </p:cNvSpPr>
              <p:nvPr/>
            </p:nvSpPr>
            <p:spPr>
              <a:xfrm>
                <a:off x="6095999" y="4389097"/>
                <a:ext cx="4453625" cy="901785"/>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24840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00236" y="16161"/>
            <a:ext cx="11578477" cy="418652"/>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Бондын огоөжийг тооцох</a:t>
            </a:r>
            <a:r>
              <a:rPr lang="en-US" sz="2400" b="1" dirty="0">
                <a:solidFill>
                  <a:srgbClr val="0000FF"/>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198474" y="337071"/>
            <a:ext cx="11795052" cy="729729"/>
          </a:xfrm>
        </p:spPr>
        <p:txBody>
          <a:bodyPr>
            <a:noAutofit/>
          </a:bodyPr>
          <a:lstStyle/>
          <a:p>
            <a:pPr marL="84455" marR="132080" indent="0" algn="just">
              <a:spcBef>
                <a:spcPts val="0"/>
              </a:spcBef>
              <a:spcAft>
                <a:spcPts val="0"/>
              </a:spcAft>
              <a:buNone/>
            </a:pPr>
            <a:r>
              <a:rPr lang="mn-MN" sz="2400" dirty="0">
                <a:solidFill>
                  <a:srgbClr val="231F20"/>
                </a:solidFill>
                <a:effectLst/>
                <a:latin typeface="Times New Roman" panose="02020603050405020304" pitchFamily="18" charset="0"/>
                <a:ea typeface="Times New Roman" panose="02020603050405020304" pitchFamily="18" charset="0"/>
              </a:rPr>
              <a:t>Харин эргэн төлөгдөх буюу дуусах хугацааны орлогоор нь үнэлэхэд орлогын нормыг дараах томьёо ашиглан ойролцоо байдлаар тооцно. </a:t>
            </a:r>
            <a:endParaRPr lang="kk-KZ" sz="2200" dirty="0">
              <a:solidFill>
                <a:srgbClr val="231F20"/>
              </a:solidFill>
              <a:effectLst/>
              <a:latin typeface="Times New Roman" panose="02020603050405020304" pitchFamily="18" charset="0"/>
              <a:ea typeface="Times New Roman" panose="02020603050405020304" pitchFamily="18" charset="0"/>
            </a:endParaRPr>
          </a:p>
        </p:txBody>
      </p:sp>
      <p:sp>
        <p:nvSpPr>
          <p:cNvPr id="5" name="Content Placeholder 2">
            <a:extLst>
              <a:ext uri="{FF2B5EF4-FFF2-40B4-BE49-F238E27FC236}">
                <a16:creationId xmlns:a16="http://schemas.microsoft.com/office/drawing/2014/main" id="{A304DAB0-6629-478F-B0A5-FEE19C0CA2F7}"/>
              </a:ext>
            </a:extLst>
          </p:cNvPr>
          <p:cNvSpPr txBox="1">
            <a:spLocks/>
          </p:cNvSpPr>
          <p:nvPr/>
        </p:nvSpPr>
        <p:spPr>
          <a:xfrm>
            <a:off x="170925" y="3904284"/>
            <a:ext cx="11157475" cy="4186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mn-MN" sz="2400" dirty="0">
                <a:solidFill>
                  <a:srgbClr val="231F20"/>
                </a:solidFill>
                <a:latin typeface="Times New Roman" panose="02020603050405020304" pitchFamily="18" charset="0"/>
                <a:ea typeface="Times New Roman" panose="02020603050405020304" pitchFamily="18" charset="0"/>
              </a:rPr>
              <a:t>Өмнө авч байсан жишээгээ авч орлогын нормоор нь үнэлж үзье.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A80968E-4CB7-4940-A8D4-005349DFA916}"/>
                  </a:ext>
                </a:extLst>
              </p:cNvPr>
              <p:cNvSpPr txBox="1"/>
              <p:nvPr/>
            </p:nvSpPr>
            <p:spPr>
              <a:xfrm>
                <a:off x="514204" y="1066800"/>
                <a:ext cx="5200796" cy="15566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mn-MN" sz="2800" b="0" i="1" smtClean="0">
                          <a:solidFill>
                            <a:srgbClr val="0000FF"/>
                          </a:solidFill>
                          <a:latin typeface="Cambria Math" panose="02040503050406030204" pitchFamily="18" charset="0"/>
                          <a:ea typeface="Times New Roman" panose="02020603050405020304" pitchFamily="18" charset="0"/>
                        </a:rPr>
                        <m:t>ҮТМ</m:t>
                      </m:r>
                      <m:r>
                        <a:rPr lang="en-US" sz="2800" b="0" i="1" smtClean="0">
                          <a:solidFill>
                            <a:srgbClr val="0000FF"/>
                          </a:solidFill>
                          <a:effectLst/>
                          <a:latin typeface="Cambria Math" panose="02040503050406030204" pitchFamily="18" charset="0"/>
                          <a:ea typeface="Times New Roman" panose="02020603050405020304" pitchFamily="18" charset="0"/>
                        </a:rPr>
                        <m:t>=</m:t>
                      </m:r>
                      <m:f>
                        <m:fPr>
                          <m:ctrlPr>
                            <a:rPr lang="en-US" sz="2800" i="1">
                              <a:solidFill>
                                <a:srgbClr val="0000FF"/>
                              </a:solidFill>
                              <a:latin typeface="Cambria Math" panose="02040503050406030204" pitchFamily="18" charset="0"/>
                            </a:rPr>
                          </m:ctrlPr>
                        </m:fPr>
                        <m:num>
                          <m:r>
                            <a:rPr lang="en-US" sz="2800" b="0" i="1" smtClean="0">
                              <a:solidFill>
                                <a:srgbClr val="0000FF"/>
                              </a:solidFill>
                              <a:latin typeface="Cambria Math" panose="02040503050406030204" pitchFamily="18" charset="0"/>
                            </a:rPr>
                            <m:t>𝐼</m:t>
                          </m:r>
                          <m:r>
                            <a:rPr lang="mn-MN" sz="2800" b="0" i="1" smtClean="0">
                              <a:solidFill>
                                <a:srgbClr val="0000FF"/>
                              </a:solidFill>
                              <a:latin typeface="Cambria Math" panose="02040503050406030204" pitchFamily="18" charset="0"/>
                            </a:rPr>
                            <m:t>+</m:t>
                          </m:r>
                          <m:f>
                            <m:fPr>
                              <m:ctrlPr>
                                <a:rPr lang="mn-MN" sz="2800" b="0" i="1" smtClean="0">
                                  <a:solidFill>
                                    <a:srgbClr val="0000FF"/>
                                  </a:solidFill>
                                  <a:latin typeface="Cambria Math" panose="02040503050406030204" pitchFamily="18" charset="0"/>
                                </a:rPr>
                              </m:ctrlPr>
                            </m:fPr>
                            <m:num>
                              <m:r>
                                <a:rPr lang="en-US" sz="2800" b="0" i="1" smtClean="0">
                                  <a:solidFill>
                                    <a:srgbClr val="0000FF"/>
                                  </a:solidFill>
                                  <a:latin typeface="Cambria Math" panose="02040503050406030204" pitchFamily="18" charset="0"/>
                                </a:rPr>
                                <m:t>𝑀</m:t>
                              </m:r>
                              <m:r>
                                <a:rPr lang="mn-MN" sz="2800" b="0" i="1" smtClean="0">
                                  <a:solidFill>
                                    <a:srgbClr val="0000FF"/>
                                  </a:solidFill>
                                  <a:latin typeface="Cambria Math" panose="02040503050406030204" pitchFamily="18" charset="0"/>
                                </a:rPr>
                                <m:t>−</m:t>
                              </m:r>
                              <m:r>
                                <a:rPr lang="en-US" sz="2800" b="0" i="1" smtClean="0">
                                  <a:solidFill>
                                    <a:srgbClr val="0000FF"/>
                                  </a:solidFill>
                                  <a:latin typeface="Cambria Math" panose="02040503050406030204" pitchFamily="18" charset="0"/>
                                </a:rPr>
                                <m:t>𝑉</m:t>
                              </m:r>
                            </m:num>
                            <m:den>
                              <m:r>
                                <a:rPr lang="en-US" sz="2800" b="0" i="1" smtClean="0">
                                  <a:solidFill>
                                    <a:srgbClr val="0000FF"/>
                                  </a:solidFill>
                                  <a:latin typeface="Cambria Math" panose="02040503050406030204" pitchFamily="18" charset="0"/>
                                </a:rPr>
                                <m:t>𝑛</m:t>
                              </m:r>
                            </m:den>
                          </m:f>
                        </m:num>
                        <m:den>
                          <m:f>
                            <m:fPr>
                              <m:ctrlPr>
                                <a:rPr lang="mn-MN" sz="2800" i="1">
                                  <a:solidFill>
                                    <a:srgbClr val="0000FF"/>
                                  </a:solidFill>
                                  <a:latin typeface="Cambria Math" panose="02040503050406030204" pitchFamily="18" charset="0"/>
                                </a:rPr>
                              </m:ctrlPr>
                            </m:fPr>
                            <m:num>
                              <m:r>
                                <a:rPr lang="en-US" sz="2800" i="1">
                                  <a:solidFill>
                                    <a:srgbClr val="0000FF"/>
                                  </a:solidFill>
                                  <a:latin typeface="Cambria Math" panose="02040503050406030204" pitchFamily="18" charset="0"/>
                                </a:rPr>
                                <m:t>𝑀</m:t>
                              </m:r>
                              <m:r>
                                <a:rPr lang="en-US" sz="2800" b="0" i="1" smtClean="0">
                                  <a:solidFill>
                                    <a:srgbClr val="0000FF"/>
                                  </a:solidFill>
                                  <a:latin typeface="Cambria Math" panose="02040503050406030204" pitchFamily="18" charset="0"/>
                                </a:rPr>
                                <m:t>+2</m:t>
                              </m:r>
                              <m:r>
                                <a:rPr lang="en-US" sz="2800" b="0" i="1" smtClean="0">
                                  <a:solidFill>
                                    <a:srgbClr val="0000FF"/>
                                  </a:solidFill>
                                  <a:latin typeface="Cambria Math" panose="02040503050406030204" pitchFamily="18" charset="0"/>
                                  <a:ea typeface="Cambria Math" panose="02040503050406030204" pitchFamily="18" charset="0"/>
                                </a:rPr>
                                <m:t>∙</m:t>
                              </m:r>
                              <m:r>
                                <a:rPr lang="en-US" sz="2800" i="1">
                                  <a:solidFill>
                                    <a:srgbClr val="0000FF"/>
                                  </a:solidFill>
                                  <a:latin typeface="Cambria Math" panose="02040503050406030204" pitchFamily="18" charset="0"/>
                                </a:rPr>
                                <m:t>𝑉</m:t>
                              </m:r>
                            </m:num>
                            <m:den>
                              <m:r>
                                <a:rPr lang="en-US" sz="2800" b="0" i="1" smtClean="0">
                                  <a:solidFill>
                                    <a:srgbClr val="0000FF"/>
                                  </a:solidFill>
                                  <a:latin typeface="Cambria Math" panose="02040503050406030204" pitchFamily="18" charset="0"/>
                                </a:rPr>
                                <m:t>3</m:t>
                              </m:r>
                            </m:den>
                          </m:f>
                        </m:den>
                      </m:f>
                    </m:oMath>
                  </m:oMathPara>
                </a14:m>
                <a:endParaRPr lang="en-US" sz="1600" dirty="0">
                  <a:solidFill>
                    <a:srgbClr val="0000FF"/>
                  </a:solidFill>
                </a:endParaRPr>
              </a:p>
            </p:txBody>
          </p:sp>
        </mc:Choice>
        <mc:Fallback xmlns="">
          <p:sp>
            <p:nvSpPr>
              <p:cNvPr id="11" name="TextBox 10">
                <a:extLst>
                  <a:ext uri="{FF2B5EF4-FFF2-40B4-BE49-F238E27FC236}">
                    <a16:creationId xmlns:a16="http://schemas.microsoft.com/office/drawing/2014/main" id="{7A80968E-4CB7-4940-A8D4-005349DFA916}"/>
                  </a:ext>
                </a:extLst>
              </p:cNvPr>
              <p:cNvSpPr txBox="1">
                <a:spLocks noRot="1" noChangeAspect="1" noMove="1" noResize="1" noEditPoints="1" noAdjustHandles="1" noChangeArrowheads="1" noChangeShapeType="1" noTextEdit="1"/>
              </p:cNvSpPr>
              <p:nvPr/>
            </p:nvSpPr>
            <p:spPr>
              <a:xfrm>
                <a:off x="514204" y="1066800"/>
                <a:ext cx="5200796" cy="1556645"/>
              </a:xfrm>
              <a:prstGeom prst="rect">
                <a:avLst/>
              </a:prstGeom>
              <a:blipFill>
                <a:blip r:embed="rId3"/>
                <a:stretch>
                  <a:fillRect/>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EEA09007-41BA-4422-BB9B-FAD590A59E80}"/>
              </a:ext>
            </a:extLst>
          </p:cNvPr>
          <p:cNvSpPr txBox="1">
            <a:spLocks/>
          </p:cNvSpPr>
          <p:nvPr/>
        </p:nvSpPr>
        <p:spPr>
          <a:xfrm>
            <a:off x="5524500" y="1273648"/>
            <a:ext cx="5803900" cy="1680800"/>
          </a:xfrm>
          <a:prstGeom prst="rect">
            <a:avLst/>
          </a:prstGeom>
          <a:ln>
            <a:solidFill>
              <a:srgbClr val="00B0F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I</a:t>
            </a:r>
            <a:r>
              <a:rPr lang="en-US" sz="3200" i="1" dirty="0">
                <a:solidFill>
                  <a:srgbClr val="231F20"/>
                </a:solidFill>
                <a:latin typeface="Times New Roman" panose="02020603050405020304" pitchFamily="18" charset="0"/>
                <a:ea typeface="Times New Roman" panose="02020603050405020304" pitchFamily="18" charset="0"/>
              </a:rPr>
              <a:t> </a:t>
            </a:r>
            <a:r>
              <a:rPr lang="mn-MN" sz="3200" i="1" dirty="0">
                <a:solidFill>
                  <a:srgbClr val="231F20"/>
                </a:solidFill>
                <a:latin typeface="Times New Roman" panose="02020603050405020304" pitchFamily="18" charset="0"/>
                <a:ea typeface="Times New Roman" panose="02020603050405020304" pitchFamily="18" charset="0"/>
              </a:rPr>
              <a:t>- </a:t>
            </a:r>
            <a:r>
              <a:rPr lang="mn-MN" sz="3200" dirty="0">
                <a:solidFill>
                  <a:srgbClr val="231F20"/>
                </a:solidFill>
                <a:latin typeface="Times New Roman" panose="02020603050405020304" pitchFamily="18" charset="0"/>
                <a:ea typeface="Times New Roman" panose="02020603050405020304" pitchFamily="18" charset="0"/>
              </a:rPr>
              <a:t>Бондын купоны хүү</a:t>
            </a:r>
            <a:r>
              <a:rPr lang="mn-MN" sz="3200" i="1" dirty="0">
                <a:solidFill>
                  <a:srgbClr val="231F20"/>
                </a:solidFill>
                <a:latin typeface="Times New Roman" panose="02020603050405020304" pitchFamily="18" charset="0"/>
                <a:ea typeface="Times New Roman" panose="02020603050405020304" pitchFamily="18" charset="0"/>
              </a:rPr>
              <a:t> </a:t>
            </a:r>
          </a:p>
          <a:p>
            <a:pPr marL="84455" marR="132080" indent="0" algn="just">
              <a:spcBef>
                <a:spcPts val="0"/>
              </a:spcBef>
              <a:buNone/>
            </a:pPr>
            <a:r>
              <a:rPr lang="en-US" sz="3200" b="1" i="1" dirty="0">
                <a:solidFill>
                  <a:srgbClr val="231F20"/>
                </a:solidFill>
                <a:latin typeface="Times New Roman" panose="02020603050405020304" pitchFamily="18" charset="0"/>
                <a:ea typeface="Times New Roman" panose="02020603050405020304" pitchFamily="18" charset="0"/>
              </a:rPr>
              <a:t>M</a:t>
            </a:r>
            <a:r>
              <a:rPr lang="en-US" sz="3200" i="1" dirty="0">
                <a:solidFill>
                  <a:srgbClr val="231F20"/>
                </a:solidFill>
                <a:latin typeface="Times New Roman" panose="02020603050405020304" pitchFamily="18" charset="0"/>
                <a:ea typeface="Times New Roman" panose="02020603050405020304" pitchFamily="18" charset="0"/>
              </a:rPr>
              <a:t> - </a:t>
            </a:r>
            <a:r>
              <a:rPr lang="mn-MN" sz="3200" dirty="0">
                <a:solidFill>
                  <a:srgbClr val="231F20"/>
                </a:solidFill>
                <a:latin typeface="Times New Roman" panose="02020603050405020304" pitchFamily="18" charset="0"/>
                <a:ea typeface="Times New Roman" panose="02020603050405020304" pitchFamily="18" charset="0"/>
              </a:rPr>
              <a:t>Бондын нэрлэсэн үнэ</a:t>
            </a:r>
          </a:p>
          <a:p>
            <a:pPr marL="84455" marR="132080" indent="0" algn="just">
              <a:spcBef>
                <a:spcPts val="0"/>
              </a:spcBef>
              <a:buFont typeface="Arial" panose="020B0604020202020204" pitchFamily="34" charset="0"/>
              <a:buNone/>
            </a:pPr>
            <a:r>
              <a:rPr lang="en-US" sz="3200" b="1" i="1" dirty="0">
                <a:solidFill>
                  <a:srgbClr val="231F20"/>
                </a:solidFill>
                <a:latin typeface="Times New Roman" panose="02020603050405020304" pitchFamily="18" charset="0"/>
                <a:ea typeface="Times New Roman" panose="02020603050405020304" pitchFamily="18" charset="0"/>
              </a:rPr>
              <a:t>V</a:t>
            </a:r>
            <a:r>
              <a:rPr lang="en-US" sz="3200" i="1" dirty="0">
                <a:solidFill>
                  <a:srgbClr val="231F20"/>
                </a:solidFill>
                <a:latin typeface="Times New Roman" panose="02020603050405020304" pitchFamily="18" charset="0"/>
                <a:ea typeface="Times New Roman" panose="02020603050405020304" pitchFamily="18" charset="0"/>
              </a:rPr>
              <a:t> - </a:t>
            </a:r>
            <a:r>
              <a:rPr lang="mn-MN" sz="3200" dirty="0">
                <a:solidFill>
                  <a:srgbClr val="231F20"/>
                </a:solidFill>
                <a:latin typeface="Times New Roman" panose="02020603050405020304" pitchFamily="18" charset="0"/>
                <a:ea typeface="Times New Roman" panose="02020603050405020304" pitchFamily="18" charset="0"/>
              </a:rPr>
              <a:t>Бондын зах зээлийн үнэ</a:t>
            </a:r>
          </a:p>
          <a:p>
            <a:pPr marL="84455" marR="132080" indent="0" algn="just">
              <a:spcBef>
                <a:spcPts val="0"/>
              </a:spcBef>
              <a:buNone/>
            </a:pPr>
            <a:r>
              <a:rPr lang="en-US" sz="3200" b="1" i="1" dirty="0">
                <a:solidFill>
                  <a:srgbClr val="231F20"/>
                </a:solidFill>
                <a:latin typeface="Times New Roman" panose="02020603050405020304" pitchFamily="18" charset="0"/>
                <a:ea typeface="Times New Roman" panose="02020603050405020304" pitchFamily="18" charset="0"/>
              </a:rPr>
              <a:t>N </a:t>
            </a:r>
            <a:r>
              <a:rPr lang="mn-MN" sz="3200" i="1" dirty="0">
                <a:solidFill>
                  <a:srgbClr val="231F20"/>
                </a:solidFill>
                <a:latin typeface="Times New Roman" panose="02020603050405020304" pitchFamily="18" charset="0"/>
                <a:ea typeface="Times New Roman" panose="02020603050405020304" pitchFamily="18" charset="0"/>
              </a:rPr>
              <a:t>-</a:t>
            </a:r>
            <a:r>
              <a:rPr lang="en-US" sz="3200" i="1" dirty="0">
                <a:solidFill>
                  <a:srgbClr val="231F20"/>
                </a:solidFill>
                <a:latin typeface="Times New Roman" panose="02020603050405020304" pitchFamily="18" charset="0"/>
                <a:ea typeface="Times New Roman" panose="02020603050405020304" pitchFamily="18" charset="0"/>
              </a:rPr>
              <a:t> </a:t>
            </a:r>
            <a:r>
              <a:rPr lang="mn-MN" sz="3200" dirty="0">
                <a:solidFill>
                  <a:srgbClr val="231F20"/>
                </a:solidFill>
                <a:latin typeface="Times New Roman" panose="02020603050405020304" pitchFamily="18" charset="0"/>
                <a:ea typeface="Times New Roman" panose="02020603050405020304" pitchFamily="18" charset="0"/>
              </a:rPr>
              <a:t>Хүү тооцох үеийн тоо</a:t>
            </a:r>
            <a:endParaRPr lang="kk-KZ" sz="32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Font typeface="Arial" panose="020B0604020202020204" pitchFamily="34" charset="0"/>
              <a:buNone/>
            </a:pPr>
            <a:r>
              <a:rPr lang="mn-MN" sz="3200" dirty="0">
                <a:solidFill>
                  <a:srgbClr val="231F20"/>
                </a:solidFill>
                <a:latin typeface="Times New Roman" panose="02020603050405020304" pitchFamily="18" charset="0"/>
                <a:ea typeface="Times New Roman" panose="02020603050405020304" pitchFamily="18" charset="0"/>
              </a:rPr>
              <a:t> </a:t>
            </a:r>
            <a:endParaRPr lang="kk-KZ" sz="3200" dirty="0">
              <a:solidFill>
                <a:srgbClr val="231F20"/>
              </a:solidFill>
              <a:latin typeface="Times New Roman" panose="02020603050405020304" pitchFamily="18" charset="0"/>
              <a:ea typeface="Times New Roman" panose="02020603050405020304" pitchFamily="18" charset="0"/>
            </a:endParaRPr>
          </a:p>
        </p:txBody>
      </p:sp>
      <p:sp>
        <p:nvSpPr>
          <p:cNvPr id="9" name="Content Placeholder 2">
            <a:extLst>
              <a:ext uri="{FF2B5EF4-FFF2-40B4-BE49-F238E27FC236}">
                <a16:creationId xmlns:a16="http://schemas.microsoft.com/office/drawing/2014/main" id="{F761E000-F5BD-4FBA-BDBB-7B91A8FCE254}"/>
              </a:ext>
            </a:extLst>
          </p:cNvPr>
          <p:cNvSpPr txBox="1">
            <a:spLocks/>
          </p:cNvSpPr>
          <p:nvPr/>
        </p:nvSpPr>
        <p:spPr>
          <a:xfrm>
            <a:off x="198473" y="2535795"/>
            <a:ext cx="1338227" cy="4186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mn-MN" sz="2400" dirty="0">
                <a:solidFill>
                  <a:srgbClr val="231F20"/>
                </a:solidFill>
                <a:latin typeface="Times New Roman" panose="02020603050405020304" pitchFamily="18" charset="0"/>
                <a:ea typeface="Times New Roman" panose="02020603050405020304" pitchFamily="18" charset="0"/>
              </a:rPr>
              <a:t>Эсвэл:</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2359664-D4E1-482D-A60E-6C06E9F5106D}"/>
                  </a:ext>
                </a:extLst>
              </p:cNvPr>
              <p:cNvSpPr txBox="1"/>
              <p:nvPr/>
            </p:nvSpPr>
            <p:spPr>
              <a:xfrm>
                <a:off x="514204" y="2530340"/>
                <a:ext cx="5200796" cy="15566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mn-MN" sz="2800" b="0" i="1" smtClean="0">
                          <a:solidFill>
                            <a:srgbClr val="0000FF"/>
                          </a:solidFill>
                          <a:latin typeface="Cambria Math" panose="02040503050406030204" pitchFamily="18" charset="0"/>
                          <a:ea typeface="Times New Roman" panose="02020603050405020304" pitchFamily="18" charset="0"/>
                        </a:rPr>
                        <m:t>ҮТМ</m:t>
                      </m:r>
                      <m:r>
                        <a:rPr lang="en-US" sz="2800" b="0" i="1" smtClean="0">
                          <a:solidFill>
                            <a:srgbClr val="0000FF"/>
                          </a:solidFill>
                          <a:effectLst/>
                          <a:latin typeface="Cambria Math" panose="02040503050406030204" pitchFamily="18" charset="0"/>
                          <a:ea typeface="Times New Roman" panose="02020603050405020304" pitchFamily="18" charset="0"/>
                        </a:rPr>
                        <m:t>=</m:t>
                      </m:r>
                      <m:f>
                        <m:fPr>
                          <m:ctrlPr>
                            <a:rPr lang="en-US" sz="2800" i="1">
                              <a:solidFill>
                                <a:srgbClr val="0000FF"/>
                              </a:solidFill>
                              <a:latin typeface="Cambria Math" panose="02040503050406030204" pitchFamily="18" charset="0"/>
                            </a:rPr>
                          </m:ctrlPr>
                        </m:fPr>
                        <m:num>
                          <m:r>
                            <a:rPr lang="en-US" sz="2800" b="0" i="1" smtClean="0">
                              <a:solidFill>
                                <a:srgbClr val="0000FF"/>
                              </a:solidFill>
                              <a:latin typeface="Cambria Math" panose="02040503050406030204" pitchFamily="18" charset="0"/>
                            </a:rPr>
                            <m:t>𝐼</m:t>
                          </m:r>
                          <m:r>
                            <a:rPr lang="mn-MN" sz="2800" b="0" i="1" smtClean="0">
                              <a:solidFill>
                                <a:srgbClr val="0000FF"/>
                              </a:solidFill>
                              <a:latin typeface="Cambria Math" panose="02040503050406030204" pitchFamily="18" charset="0"/>
                            </a:rPr>
                            <m:t>+</m:t>
                          </m:r>
                          <m:f>
                            <m:fPr>
                              <m:ctrlPr>
                                <a:rPr lang="mn-MN" sz="2800" b="0" i="1" smtClean="0">
                                  <a:solidFill>
                                    <a:srgbClr val="0000FF"/>
                                  </a:solidFill>
                                  <a:latin typeface="Cambria Math" panose="02040503050406030204" pitchFamily="18" charset="0"/>
                                </a:rPr>
                              </m:ctrlPr>
                            </m:fPr>
                            <m:num>
                              <m:r>
                                <a:rPr lang="en-US" sz="2800" b="0" i="1" smtClean="0">
                                  <a:solidFill>
                                    <a:srgbClr val="0000FF"/>
                                  </a:solidFill>
                                  <a:latin typeface="Cambria Math" panose="02040503050406030204" pitchFamily="18" charset="0"/>
                                </a:rPr>
                                <m:t>𝑀</m:t>
                              </m:r>
                              <m:r>
                                <a:rPr lang="mn-MN" sz="2800" b="0" i="1" smtClean="0">
                                  <a:solidFill>
                                    <a:srgbClr val="0000FF"/>
                                  </a:solidFill>
                                  <a:latin typeface="Cambria Math" panose="02040503050406030204" pitchFamily="18" charset="0"/>
                                </a:rPr>
                                <m:t>−</m:t>
                              </m:r>
                              <m:r>
                                <a:rPr lang="en-US" sz="2800" b="0" i="1" smtClean="0">
                                  <a:solidFill>
                                    <a:srgbClr val="0000FF"/>
                                  </a:solidFill>
                                  <a:latin typeface="Cambria Math" panose="02040503050406030204" pitchFamily="18" charset="0"/>
                                </a:rPr>
                                <m:t>𝑉</m:t>
                              </m:r>
                            </m:num>
                            <m:den>
                              <m:r>
                                <a:rPr lang="en-US" sz="2800" b="0" i="1" smtClean="0">
                                  <a:solidFill>
                                    <a:srgbClr val="0000FF"/>
                                  </a:solidFill>
                                  <a:latin typeface="Cambria Math" panose="02040503050406030204" pitchFamily="18" charset="0"/>
                                </a:rPr>
                                <m:t>𝑛</m:t>
                              </m:r>
                            </m:den>
                          </m:f>
                        </m:num>
                        <m:den>
                          <m:f>
                            <m:fPr>
                              <m:ctrlPr>
                                <a:rPr lang="mn-MN" sz="2800" i="1">
                                  <a:solidFill>
                                    <a:srgbClr val="0000FF"/>
                                  </a:solidFill>
                                  <a:latin typeface="Cambria Math" panose="02040503050406030204" pitchFamily="18" charset="0"/>
                                </a:rPr>
                              </m:ctrlPr>
                            </m:fPr>
                            <m:num>
                              <m:r>
                                <a:rPr lang="en-US" sz="2800" i="1">
                                  <a:solidFill>
                                    <a:srgbClr val="0000FF"/>
                                  </a:solidFill>
                                  <a:latin typeface="Cambria Math" panose="02040503050406030204" pitchFamily="18" charset="0"/>
                                </a:rPr>
                                <m:t>𝑀</m:t>
                              </m:r>
                              <m:r>
                                <a:rPr lang="en-US" sz="2800" b="0" i="1" smtClean="0">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𝑉</m:t>
                              </m:r>
                            </m:num>
                            <m:den>
                              <m:r>
                                <a:rPr lang="mn-MN" sz="2800" b="0" i="1" smtClean="0">
                                  <a:solidFill>
                                    <a:srgbClr val="0000FF"/>
                                  </a:solidFill>
                                  <a:latin typeface="Cambria Math" panose="02040503050406030204" pitchFamily="18" charset="0"/>
                                </a:rPr>
                                <m:t>2</m:t>
                              </m:r>
                            </m:den>
                          </m:f>
                        </m:den>
                      </m:f>
                    </m:oMath>
                  </m:oMathPara>
                </a14:m>
                <a:endParaRPr lang="en-US" sz="1600" dirty="0">
                  <a:solidFill>
                    <a:srgbClr val="0000FF"/>
                  </a:solidFill>
                </a:endParaRPr>
              </a:p>
            </p:txBody>
          </p:sp>
        </mc:Choice>
        <mc:Fallback xmlns="">
          <p:sp>
            <p:nvSpPr>
              <p:cNvPr id="10" name="TextBox 9">
                <a:extLst>
                  <a:ext uri="{FF2B5EF4-FFF2-40B4-BE49-F238E27FC236}">
                    <a16:creationId xmlns:a16="http://schemas.microsoft.com/office/drawing/2014/main" id="{02359664-D4E1-482D-A60E-6C06E9F5106D}"/>
                  </a:ext>
                </a:extLst>
              </p:cNvPr>
              <p:cNvSpPr txBox="1">
                <a:spLocks noRot="1" noChangeAspect="1" noMove="1" noResize="1" noEditPoints="1" noAdjustHandles="1" noChangeArrowheads="1" noChangeShapeType="1" noTextEdit="1"/>
              </p:cNvSpPr>
              <p:nvPr/>
            </p:nvSpPr>
            <p:spPr>
              <a:xfrm>
                <a:off x="514204" y="2530340"/>
                <a:ext cx="5200796" cy="155664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CF91A5D-E7CB-47B2-9F69-5B41374F714C}"/>
                  </a:ext>
                </a:extLst>
              </p:cNvPr>
              <p:cNvSpPr txBox="1"/>
              <p:nvPr/>
            </p:nvSpPr>
            <p:spPr>
              <a:xfrm>
                <a:off x="514204" y="4917115"/>
                <a:ext cx="6877196" cy="15595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mn-MN" sz="2800" b="0" i="1" smtClean="0">
                          <a:solidFill>
                            <a:schemeClr val="tx1"/>
                          </a:solidFill>
                          <a:latin typeface="Cambria Math" panose="02040503050406030204" pitchFamily="18" charset="0"/>
                          <a:ea typeface="Times New Roman" panose="02020603050405020304" pitchFamily="18" charset="0"/>
                        </a:rPr>
                        <m:t>ҮТМ</m:t>
                      </m:r>
                      <m:r>
                        <a:rPr lang="en-US" sz="2800" b="0" i="1" smtClean="0">
                          <a:solidFill>
                            <a:schemeClr val="tx1"/>
                          </a:solidFill>
                          <a:effectLst/>
                          <a:latin typeface="Cambria Math" panose="02040503050406030204" pitchFamily="18" charset="0"/>
                          <a:ea typeface="Times New Roman" panose="02020603050405020304" pitchFamily="18" charset="0"/>
                        </a:rPr>
                        <m:t>=</m:t>
                      </m:r>
                      <m:f>
                        <m:fPr>
                          <m:ctrlPr>
                            <a:rPr lang="en-US" sz="2800" i="1">
                              <a:solidFill>
                                <a:schemeClr val="tx1"/>
                              </a:solidFill>
                              <a:latin typeface="Cambria Math" panose="02040503050406030204" pitchFamily="18" charset="0"/>
                            </a:rPr>
                          </m:ctrlPr>
                        </m:fPr>
                        <m:num>
                          <m:r>
                            <a:rPr lang="mn-MN" sz="2800" b="0" i="1" smtClean="0">
                              <a:solidFill>
                                <a:schemeClr val="tx1"/>
                              </a:solidFill>
                              <a:latin typeface="Cambria Math" panose="02040503050406030204" pitchFamily="18" charset="0"/>
                            </a:rPr>
                            <m:t>1000+</m:t>
                          </m:r>
                          <m:f>
                            <m:fPr>
                              <m:ctrlPr>
                                <a:rPr lang="mn-MN" sz="2800" b="0" i="1" smtClean="0">
                                  <a:solidFill>
                                    <a:schemeClr val="tx1"/>
                                  </a:solidFill>
                                  <a:latin typeface="Cambria Math" panose="02040503050406030204" pitchFamily="18" charset="0"/>
                                </a:rPr>
                              </m:ctrlPr>
                            </m:fPr>
                            <m:num>
                              <m:r>
                                <a:rPr lang="mn-MN" sz="2800" b="0" i="1" smtClean="0">
                                  <a:solidFill>
                                    <a:schemeClr val="tx1"/>
                                  </a:solidFill>
                                  <a:latin typeface="Cambria Math" panose="02040503050406030204" pitchFamily="18" charset="0"/>
                                </a:rPr>
                                <m:t>10000−14431.6</m:t>
                              </m:r>
                            </m:num>
                            <m:den>
                              <m:r>
                                <a:rPr lang="mn-MN" sz="2800" b="0" i="1" smtClean="0">
                                  <a:solidFill>
                                    <a:schemeClr val="tx1"/>
                                  </a:solidFill>
                                  <a:latin typeface="Cambria Math" panose="02040503050406030204" pitchFamily="18" charset="0"/>
                                </a:rPr>
                                <m:t>12</m:t>
                              </m:r>
                            </m:den>
                          </m:f>
                        </m:num>
                        <m:den>
                          <m:f>
                            <m:fPr>
                              <m:ctrlPr>
                                <a:rPr lang="mn-MN" sz="2800" i="1">
                                  <a:solidFill>
                                    <a:schemeClr val="tx1"/>
                                  </a:solidFill>
                                  <a:latin typeface="Cambria Math" panose="02040503050406030204" pitchFamily="18" charset="0"/>
                                </a:rPr>
                              </m:ctrlPr>
                            </m:fPr>
                            <m:num>
                              <m:r>
                                <a:rPr lang="mn-MN" sz="2800" b="0" i="1" smtClean="0">
                                  <a:solidFill>
                                    <a:schemeClr val="tx1"/>
                                  </a:solidFill>
                                  <a:latin typeface="Cambria Math" panose="02040503050406030204" pitchFamily="18" charset="0"/>
                                </a:rPr>
                                <m:t>10000</m:t>
                              </m:r>
                              <m:r>
                                <a:rPr lang="en-US" sz="2800" b="0" i="1" smtClean="0">
                                  <a:solidFill>
                                    <a:schemeClr val="tx1"/>
                                  </a:solidFill>
                                  <a:latin typeface="Cambria Math" panose="02040503050406030204" pitchFamily="18" charset="0"/>
                                </a:rPr>
                                <m:t>+2</m:t>
                              </m:r>
                              <m:r>
                                <a:rPr lang="en-US" sz="2800" b="0" i="1" smtClean="0">
                                  <a:solidFill>
                                    <a:schemeClr val="tx1"/>
                                  </a:solidFill>
                                  <a:latin typeface="Cambria Math" panose="02040503050406030204" pitchFamily="18" charset="0"/>
                                  <a:ea typeface="Cambria Math" panose="02040503050406030204" pitchFamily="18" charset="0"/>
                                </a:rPr>
                                <m:t>∙</m:t>
                              </m:r>
                              <m:r>
                                <a:rPr lang="mn-MN" sz="2800" b="0" i="1" smtClean="0">
                                  <a:solidFill>
                                    <a:schemeClr val="tx1"/>
                                  </a:solidFill>
                                  <a:latin typeface="Cambria Math" panose="02040503050406030204" pitchFamily="18" charset="0"/>
                                  <a:ea typeface="Cambria Math" panose="02040503050406030204" pitchFamily="18" charset="0"/>
                                </a:rPr>
                                <m:t>14431.6</m:t>
                              </m:r>
                            </m:num>
                            <m:den>
                              <m:r>
                                <a:rPr lang="en-US" sz="2800" b="0" i="1" smtClean="0">
                                  <a:solidFill>
                                    <a:schemeClr val="tx1"/>
                                  </a:solidFill>
                                  <a:latin typeface="Cambria Math" panose="02040503050406030204" pitchFamily="18" charset="0"/>
                                </a:rPr>
                                <m:t>3</m:t>
                              </m:r>
                            </m:den>
                          </m:f>
                        </m:den>
                      </m:f>
                      <m:r>
                        <a:rPr lang="en-US" sz="2800" b="0" i="1" smtClean="0">
                          <a:solidFill>
                            <a:schemeClr val="tx1"/>
                          </a:solidFill>
                          <a:latin typeface="Cambria Math" panose="02040503050406030204" pitchFamily="18" charset="0"/>
                        </a:rPr>
                        <m:t>=4.87</m:t>
                      </m:r>
                      <m:r>
                        <a:rPr lang="en-US" sz="2800" b="0" i="1" smtClean="0">
                          <a:solidFill>
                            <a:schemeClr val="tx1"/>
                          </a:solidFill>
                          <a:latin typeface="Cambria Math" panose="02040503050406030204" pitchFamily="18" charset="0"/>
                          <a:ea typeface="Cambria Math" panose="02040503050406030204" pitchFamily="18" charset="0"/>
                        </a:rPr>
                        <m:t>%</m:t>
                      </m:r>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2CF91A5D-E7CB-47B2-9F69-5B41374F714C}"/>
                  </a:ext>
                </a:extLst>
              </p:cNvPr>
              <p:cNvSpPr txBox="1">
                <a:spLocks noRot="1" noChangeAspect="1" noMove="1" noResize="1" noEditPoints="1" noAdjustHandles="1" noChangeArrowheads="1" noChangeShapeType="1" noTextEdit="1"/>
              </p:cNvSpPr>
              <p:nvPr/>
            </p:nvSpPr>
            <p:spPr>
              <a:xfrm>
                <a:off x="514204" y="4917115"/>
                <a:ext cx="6877196" cy="155952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3E43F8C-376D-4EF7-9EC3-F7F831A15B82}"/>
                  </a:ext>
                </a:extLst>
              </p:cNvPr>
              <p:cNvSpPr txBox="1"/>
              <p:nvPr/>
            </p:nvSpPr>
            <p:spPr>
              <a:xfrm>
                <a:off x="412605" y="4299907"/>
                <a:ext cx="9074295" cy="55399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3000" i="1" smtClean="0">
                          <a:solidFill>
                            <a:schemeClr val="tx1"/>
                          </a:solidFill>
                          <a:latin typeface="Cambria Math" panose="02040503050406030204" pitchFamily="18" charset="0"/>
                          <a:ea typeface="Times New Roman" panose="02020603050405020304" pitchFamily="18" charset="0"/>
                        </a:rPr>
                        <m:t>I</m:t>
                      </m:r>
                      <m:r>
                        <a:rPr lang="en-US" sz="3000" b="0" i="1" smtClean="0">
                          <a:solidFill>
                            <a:schemeClr val="tx1"/>
                          </a:solidFill>
                          <a:latin typeface="Cambria Math" panose="02040503050406030204" pitchFamily="18" charset="0"/>
                          <a:ea typeface="Times New Roman" panose="02020603050405020304" pitchFamily="18" charset="0"/>
                        </a:rPr>
                        <m:t>=10000</m:t>
                      </m:r>
                      <m:r>
                        <a:rPr lang="en-US" sz="3000" b="0" i="1" smtClean="0">
                          <a:solidFill>
                            <a:schemeClr val="tx1"/>
                          </a:solidFill>
                          <a:latin typeface="Cambria Math" panose="02040503050406030204" pitchFamily="18" charset="0"/>
                          <a:ea typeface="Cambria Math" panose="02040503050406030204" pitchFamily="18" charset="0"/>
                        </a:rPr>
                        <m:t>∙10%=1000</m:t>
                      </m:r>
                      <m:r>
                        <a:rPr lang="en-US" sz="3000" b="0" i="1" smtClean="0">
                          <a:solidFill>
                            <a:schemeClr val="tx1"/>
                          </a:solidFill>
                          <a:latin typeface="Cambria Math" panose="02040503050406030204" pitchFamily="18" charset="0"/>
                          <a:ea typeface="Times New Roman" panose="02020603050405020304" pitchFamily="18" charset="0"/>
                        </a:rPr>
                        <m:t> </m:t>
                      </m:r>
                    </m:oMath>
                  </m:oMathPara>
                </a14:m>
                <a:endParaRPr lang="en-US" sz="3000" dirty="0">
                  <a:solidFill>
                    <a:schemeClr val="tx1"/>
                  </a:solidFill>
                </a:endParaRPr>
              </a:p>
            </p:txBody>
          </p:sp>
        </mc:Choice>
        <mc:Fallback xmlns="">
          <p:sp>
            <p:nvSpPr>
              <p:cNvPr id="14" name="TextBox 13">
                <a:extLst>
                  <a:ext uri="{FF2B5EF4-FFF2-40B4-BE49-F238E27FC236}">
                    <a16:creationId xmlns:a16="http://schemas.microsoft.com/office/drawing/2014/main" id="{13E43F8C-376D-4EF7-9EC3-F7F831A15B82}"/>
                  </a:ext>
                </a:extLst>
              </p:cNvPr>
              <p:cNvSpPr txBox="1">
                <a:spLocks noRot="1" noChangeAspect="1" noMove="1" noResize="1" noEditPoints="1" noAdjustHandles="1" noChangeArrowheads="1" noChangeShapeType="1" noTextEdit="1"/>
              </p:cNvSpPr>
              <p:nvPr/>
            </p:nvSpPr>
            <p:spPr>
              <a:xfrm>
                <a:off x="412605" y="4299907"/>
                <a:ext cx="9074295" cy="553998"/>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164427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200236" y="16161"/>
            <a:ext cx="11578477" cy="418652"/>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Давуу эрхтэй хувьцаа, түүний үнэлгээ</a:t>
            </a:r>
            <a:r>
              <a:rPr lang="en-US" sz="2400" b="1" dirty="0">
                <a:solidFill>
                  <a:srgbClr val="0000FF"/>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C39B0E0-D359-15E0-1B32-AD41AA948884}"/>
              </a:ext>
            </a:extLst>
          </p:cNvPr>
          <p:cNvSpPr>
            <a:spLocks noGrp="1"/>
          </p:cNvSpPr>
          <p:nvPr>
            <p:ph idx="1"/>
          </p:nvPr>
        </p:nvSpPr>
        <p:spPr>
          <a:xfrm>
            <a:off x="302449" y="367082"/>
            <a:ext cx="11795052" cy="3595319"/>
          </a:xfrm>
        </p:spPr>
        <p:txBody>
          <a:bodyPr>
            <a:noAutofit/>
          </a:bodyPr>
          <a:lstStyle/>
          <a:p>
            <a:pPr marL="84455" marR="132080" indent="0" algn="just">
              <a:spcBef>
                <a:spcPts val="0"/>
              </a:spcBef>
              <a:spcAft>
                <a:spcPts val="0"/>
              </a:spcAft>
              <a:buNone/>
            </a:pPr>
            <a:r>
              <a:rPr lang="mn-MN" sz="2200" dirty="0">
                <a:solidFill>
                  <a:srgbClr val="231F20"/>
                </a:solidFill>
                <a:effectLst/>
                <a:latin typeface="Times New Roman" panose="02020603050405020304" pitchFamily="18" charset="0"/>
                <a:ea typeface="Times New Roman" panose="02020603050405020304" pitchFamily="18" charset="0"/>
              </a:rPr>
              <a:t>Давуу эрхтэй хувьцааг холимог шинж чанартай үнэт цаас гэж үздэг. Яагаад гэвэл нэг талаас корпорацийн бондын шинж чанарыг, нөгөө талаас энгийн хувьцааны шинж чанарыг давхар агуулж байдаг. Бондтой адил тогтмол орлоготой байхад энгийн хувьцаатай ижил дуусах хугацаа байдаггүй онцлогтой. Дуусах хугацааг зааж өгөөгүй тул ногдол ашгийн үнэлгээний загварт /</a:t>
            </a:r>
            <a:r>
              <a:rPr lang="en-US" sz="2200" dirty="0">
                <a:solidFill>
                  <a:srgbClr val="231F20"/>
                </a:solidFill>
                <a:effectLst/>
                <a:latin typeface="Times New Roman" panose="02020603050405020304" pitchFamily="18" charset="0"/>
                <a:ea typeface="Times New Roman" panose="02020603050405020304" pitchFamily="18" charset="0"/>
              </a:rPr>
              <a:t>dividend valuation model/ </a:t>
            </a:r>
            <a:r>
              <a:rPr lang="mn-MN" sz="2200" dirty="0">
                <a:solidFill>
                  <a:srgbClr val="231F20"/>
                </a:solidFill>
                <a:effectLst/>
                <a:latin typeface="Times New Roman" panose="02020603050405020304" pitchFamily="18" charset="0"/>
                <a:ea typeface="Times New Roman" panose="02020603050405020304" pitchFamily="18" charset="0"/>
              </a:rPr>
              <a:t>үндэслэн үнэлгээг гаргадаг. Давуу эрхтэй хувьцаа нь дараах шинж чанаруудтай. </a:t>
            </a:r>
          </a:p>
          <a:p>
            <a:pPr marL="804863" marR="132080" indent="-292100" algn="just">
              <a:spcBef>
                <a:spcPts val="0"/>
              </a:spcBef>
              <a:spcAft>
                <a:spcPts val="0"/>
              </a:spcAft>
              <a:buFont typeface="+mj-lt"/>
              <a:buAutoNum type="arabicPeriod"/>
            </a:pPr>
            <a:r>
              <a:rPr lang="mn-MN" sz="2200" dirty="0">
                <a:solidFill>
                  <a:srgbClr val="231F20"/>
                </a:solidFill>
                <a:effectLst/>
                <a:latin typeface="Times New Roman" panose="02020603050405020304" pitchFamily="18" charset="0"/>
                <a:ea typeface="Times New Roman" panose="02020603050405020304" pitchFamily="18" charset="0"/>
              </a:rPr>
              <a:t>Ногдол ашиг тогтмол байна. </a:t>
            </a:r>
          </a:p>
          <a:p>
            <a:pPr marL="804863" marR="132080" indent="-292100" algn="just">
              <a:spcBef>
                <a:spcPts val="0"/>
              </a:spcBef>
              <a:spcAft>
                <a:spcPts val="0"/>
              </a:spcAft>
              <a:buFont typeface="+mj-lt"/>
              <a:buAutoNum type="arabicPeriod"/>
            </a:pPr>
            <a:r>
              <a:rPr lang="mn-MN" sz="2200" dirty="0">
                <a:solidFill>
                  <a:srgbClr val="231F20"/>
                </a:solidFill>
                <a:effectLst/>
                <a:latin typeface="Times New Roman" panose="02020603050405020304" pitchFamily="18" charset="0"/>
                <a:ea typeface="Times New Roman" panose="02020603050405020304" pitchFamily="18" charset="0"/>
              </a:rPr>
              <a:t>Энгийн хувьцаанд ногдол ашиг төлөхөөс өмнө ногдол ашиг авна. </a:t>
            </a:r>
          </a:p>
          <a:p>
            <a:pPr marL="804863" marR="132080" indent="-292100" algn="just">
              <a:spcBef>
                <a:spcPts val="0"/>
              </a:spcBef>
              <a:spcAft>
                <a:spcPts val="0"/>
              </a:spcAft>
              <a:buFont typeface="+mj-lt"/>
              <a:buAutoNum type="arabicPeriod"/>
            </a:pPr>
            <a:r>
              <a:rPr lang="mn-MN" sz="2200" dirty="0">
                <a:solidFill>
                  <a:srgbClr val="231F20"/>
                </a:solidFill>
                <a:effectLst/>
                <a:latin typeface="Times New Roman" panose="02020603050405020304" pitchFamily="18" charset="0"/>
                <a:ea typeface="Times New Roman" panose="02020603050405020304" pitchFamily="18" charset="0"/>
              </a:rPr>
              <a:t>Шинэ хувьцаа гаргахад эхэлж худалдаж авах давуу эрхтэй. </a:t>
            </a:r>
          </a:p>
          <a:p>
            <a:pPr marL="804863" marR="132080" indent="-292100" algn="just">
              <a:spcBef>
                <a:spcPts val="0"/>
              </a:spcBef>
              <a:spcAft>
                <a:spcPts val="0"/>
              </a:spcAft>
              <a:buFont typeface="+mj-lt"/>
              <a:buAutoNum type="arabicPeriod"/>
            </a:pPr>
            <a:r>
              <a:rPr lang="mn-MN" sz="2200" dirty="0">
                <a:solidFill>
                  <a:srgbClr val="231F20"/>
                </a:solidFill>
                <a:effectLst/>
                <a:latin typeface="Times New Roman" panose="02020603050405020304" pitchFamily="18" charset="0"/>
                <a:ea typeface="Times New Roman" panose="02020603050405020304" pitchFamily="18" charset="0"/>
              </a:rPr>
              <a:t>Компанийн удирдлагад оролцохгүй, саналын эрхгүй байна </a:t>
            </a:r>
          </a:p>
          <a:p>
            <a:pPr marL="804863" marR="132080" indent="-292100" algn="just">
              <a:spcBef>
                <a:spcPts val="0"/>
              </a:spcBef>
              <a:spcAft>
                <a:spcPts val="0"/>
              </a:spcAft>
              <a:buFont typeface="+mj-lt"/>
              <a:buAutoNum type="arabicPeriod"/>
            </a:pPr>
            <a:r>
              <a:rPr lang="mn-MN" sz="2200" dirty="0">
                <a:solidFill>
                  <a:srgbClr val="231F20"/>
                </a:solidFill>
                <a:effectLst/>
                <a:latin typeface="Times New Roman" panose="02020603050405020304" pitchFamily="18" charset="0"/>
                <a:ea typeface="Times New Roman" panose="02020603050405020304" pitchFamily="18" charset="0"/>
              </a:rPr>
              <a:t>Тогтоосон хугацаагүй үнэт цаас. </a:t>
            </a:r>
          </a:p>
          <a:p>
            <a:pPr marL="84455" marR="132080" indent="0" algn="just">
              <a:spcBef>
                <a:spcPts val="0"/>
              </a:spcBef>
              <a:spcAft>
                <a:spcPts val="0"/>
              </a:spcAft>
              <a:buNone/>
            </a:pPr>
            <a:r>
              <a:rPr lang="mn-MN" sz="2200" dirty="0">
                <a:solidFill>
                  <a:srgbClr val="231F20"/>
                </a:solidFill>
                <a:effectLst/>
                <a:latin typeface="Times New Roman" panose="02020603050405020304" pitchFamily="18" charset="0"/>
                <a:ea typeface="Times New Roman" panose="02020603050405020304" pitchFamily="18" charset="0"/>
              </a:rPr>
              <a:t>Давуу эрхтэй хувьцааны үнэлгээг дараах загварын тусламжтайгаар тооцно.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5E033C4-9652-4471-A31F-9598DA646701}"/>
                  </a:ext>
                </a:extLst>
              </p:cNvPr>
              <p:cNvSpPr txBox="1"/>
              <p:nvPr/>
            </p:nvSpPr>
            <p:spPr>
              <a:xfrm>
                <a:off x="309312" y="3979334"/>
                <a:ext cx="2856480" cy="10980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0000FF"/>
                              </a:solidFill>
                              <a:latin typeface="Cambria Math" panose="02040503050406030204" pitchFamily="18" charset="0"/>
                            </a:rPr>
                          </m:ctrlPr>
                        </m:sSubPr>
                        <m:e>
                          <m:r>
                            <a:rPr lang="en-US" sz="3200" b="0" i="1" smtClean="0">
                              <a:solidFill>
                                <a:srgbClr val="0000FF"/>
                              </a:solidFill>
                              <a:latin typeface="Cambria Math" panose="02040503050406030204" pitchFamily="18" charset="0"/>
                            </a:rPr>
                            <m:t>𝑉</m:t>
                          </m:r>
                        </m:e>
                        <m:sub>
                          <m:r>
                            <a:rPr lang="en-US" sz="3200" b="0" i="1" smtClean="0">
                              <a:solidFill>
                                <a:srgbClr val="0000FF"/>
                              </a:solidFill>
                              <a:latin typeface="Cambria Math" panose="02040503050406030204" pitchFamily="18" charset="0"/>
                            </a:rPr>
                            <m:t>𝑃𝑆</m:t>
                          </m:r>
                        </m:sub>
                      </m:sSub>
                      <m:r>
                        <a:rPr lang="en-US" sz="3200" b="0" i="1" smtClean="0">
                          <a:solidFill>
                            <a:srgbClr val="0000FF"/>
                          </a:solidFill>
                          <a:effectLst/>
                          <a:latin typeface="Cambria Math" panose="02040503050406030204" pitchFamily="18" charset="0"/>
                          <a:ea typeface="Times New Roman" panose="02020603050405020304" pitchFamily="18" charset="0"/>
                        </a:rPr>
                        <m:t>=</m:t>
                      </m:r>
                      <m:f>
                        <m:fPr>
                          <m:ctrlPr>
                            <a:rPr lang="en-US" sz="3200" i="1">
                              <a:solidFill>
                                <a:srgbClr val="0000FF"/>
                              </a:solidFill>
                              <a:latin typeface="Cambria Math" panose="02040503050406030204" pitchFamily="18" charset="0"/>
                            </a:rPr>
                          </m:ctrlPr>
                        </m:fPr>
                        <m:num>
                          <m:sSub>
                            <m:sSubPr>
                              <m:ctrlPr>
                                <a:rPr lang="en-US" sz="3200" i="1">
                                  <a:solidFill>
                                    <a:srgbClr val="0000FF"/>
                                  </a:solidFill>
                                  <a:latin typeface="Cambria Math" panose="02040503050406030204" pitchFamily="18" charset="0"/>
                                </a:rPr>
                              </m:ctrlPr>
                            </m:sSubPr>
                            <m:e>
                              <m:r>
                                <a:rPr lang="en-US" sz="3200" b="0" i="1" smtClean="0">
                                  <a:solidFill>
                                    <a:srgbClr val="0000FF"/>
                                  </a:solidFill>
                                  <a:latin typeface="Cambria Math" panose="02040503050406030204" pitchFamily="18" charset="0"/>
                                </a:rPr>
                                <m:t>𝐷</m:t>
                              </m:r>
                            </m:e>
                            <m:sub>
                              <m:r>
                                <a:rPr lang="en-US" sz="3200" i="1">
                                  <a:solidFill>
                                    <a:srgbClr val="0000FF"/>
                                  </a:solidFill>
                                  <a:latin typeface="Cambria Math" panose="02040503050406030204" pitchFamily="18" charset="0"/>
                                </a:rPr>
                                <m:t>𝑃𝑆</m:t>
                              </m:r>
                            </m:sub>
                          </m:sSub>
                        </m:num>
                        <m:den>
                          <m:sSub>
                            <m:sSubPr>
                              <m:ctrlPr>
                                <a:rPr lang="en-US" sz="3200" i="1">
                                  <a:solidFill>
                                    <a:srgbClr val="0000FF"/>
                                  </a:solidFill>
                                  <a:latin typeface="Cambria Math" panose="02040503050406030204" pitchFamily="18" charset="0"/>
                                </a:rPr>
                              </m:ctrlPr>
                            </m:sSubPr>
                            <m:e>
                              <m:r>
                                <a:rPr lang="en-US" sz="3200" b="0" i="1" smtClean="0">
                                  <a:solidFill>
                                    <a:srgbClr val="0000FF"/>
                                  </a:solidFill>
                                  <a:latin typeface="Cambria Math" panose="02040503050406030204" pitchFamily="18" charset="0"/>
                                </a:rPr>
                                <m:t>𝐾</m:t>
                              </m:r>
                            </m:e>
                            <m:sub>
                              <m:r>
                                <a:rPr lang="en-US" sz="3200" i="1">
                                  <a:solidFill>
                                    <a:srgbClr val="0000FF"/>
                                  </a:solidFill>
                                  <a:latin typeface="Cambria Math" panose="02040503050406030204" pitchFamily="18" charset="0"/>
                                </a:rPr>
                                <m:t>𝑃𝑆</m:t>
                              </m:r>
                            </m:sub>
                          </m:sSub>
                        </m:den>
                      </m:f>
                    </m:oMath>
                  </m:oMathPara>
                </a14:m>
                <a:endParaRPr lang="en-US" sz="2400" dirty="0">
                  <a:solidFill>
                    <a:srgbClr val="0000FF"/>
                  </a:solidFill>
                </a:endParaRPr>
              </a:p>
            </p:txBody>
          </p:sp>
        </mc:Choice>
        <mc:Fallback xmlns="">
          <p:sp>
            <p:nvSpPr>
              <p:cNvPr id="13" name="TextBox 12">
                <a:extLst>
                  <a:ext uri="{FF2B5EF4-FFF2-40B4-BE49-F238E27FC236}">
                    <a16:creationId xmlns:a16="http://schemas.microsoft.com/office/drawing/2014/main" id="{85E033C4-9652-4471-A31F-9598DA646701}"/>
                  </a:ext>
                </a:extLst>
              </p:cNvPr>
              <p:cNvSpPr txBox="1">
                <a:spLocks noRot="1" noChangeAspect="1" noMove="1" noResize="1" noEditPoints="1" noAdjustHandles="1" noChangeArrowheads="1" noChangeShapeType="1" noTextEdit="1"/>
              </p:cNvSpPr>
              <p:nvPr/>
            </p:nvSpPr>
            <p:spPr>
              <a:xfrm>
                <a:off x="309312" y="3979334"/>
                <a:ext cx="2856480" cy="109805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B364E6AB-7567-4826-AF4F-0F780540196C}"/>
                  </a:ext>
                </a:extLst>
              </p:cNvPr>
              <p:cNvSpPr txBox="1">
                <a:spLocks/>
              </p:cNvSpPr>
              <p:nvPr/>
            </p:nvSpPr>
            <p:spPr>
              <a:xfrm>
                <a:off x="3269767" y="4064006"/>
                <a:ext cx="8619784" cy="1007724"/>
              </a:xfrm>
              <a:prstGeom prst="rect">
                <a:avLst/>
              </a:prstGeom>
              <a:ln>
                <a:solidFill>
                  <a:srgbClr val="00B0F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14:m>
                  <m:oMath xmlns:m="http://schemas.openxmlformats.org/officeDocument/2006/math">
                    <m:sSub>
                      <m:sSubPr>
                        <m:ctrlPr>
                          <a:rPr lang="en-US" sz="2400" b="1" i="1" smtClean="0">
                            <a:solidFill>
                              <a:srgbClr val="0000FF"/>
                            </a:solidFill>
                            <a:latin typeface="Cambria Math" panose="02040503050406030204" pitchFamily="18" charset="0"/>
                          </a:rPr>
                        </m:ctrlPr>
                      </m:sSubPr>
                      <m:e>
                        <m:r>
                          <a:rPr lang="en-US" sz="2400" b="1" i="1" smtClean="0">
                            <a:solidFill>
                              <a:srgbClr val="0000FF"/>
                            </a:solidFill>
                            <a:latin typeface="Cambria Math" panose="02040503050406030204" pitchFamily="18" charset="0"/>
                          </a:rPr>
                          <m:t>𝑽</m:t>
                        </m:r>
                      </m:e>
                      <m:sub>
                        <m:r>
                          <a:rPr lang="en-US" sz="2400" b="1" i="1" smtClean="0">
                            <a:solidFill>
                              <a:srgbClr val="0000FF"/>
                            </a:solidFill>
                            <a:latin typeface="Cambria Math" panose="02040503050406030204" pitchFamily="18" charset="0"/>
                          </a:rPr>
                          <m:t>𝑷𝑺</m:t>
                        </m:r>
                      </m:sub>
                    </m:sSub>
                    <m:r>
                      <a:rPr lang="en-US" sz="2400" b="0" i="1" smtClean="0">
                        <a:solidFill>
                          <a:srgbClr val="0000FF"/>
                        </a:solidFill>
                        <a:latin typeface="Cambria Math" panose="02040503050406030204" pitchFamily="18" charset="0"/>
                      </a:rPr>
                      <m:t> </m:t>
                    </m:r>
                  </m:oMath>
                </a14:m>
                <a:r>
                  <a:rPr lang="en-US" sz="2300" b="1" i="1" dirty="0">
                    <a:solidFill>
                      <a:srgbClr val="231F20"/>
                    </a:solidFill>
                    <a:latin typeface="Times New Roman" panose="02020603050405020304" pitchFamily="18" charset="0"/>
                    <a:ea typeface="Times New Roman" panose="02020603050405020304" pitchFamily="18" charset="0"/>
                  </a:rPr>
                  <a:t> </a:t>
                </a:r>
                <a:r>
                  <a:rPr lang="en-US" sz="2300" i="1" dirty="0">
                    <a:solidFill>
                      <a:srgbClr val="231F20"/>
                    </a:solidFill>
                    <a:latin typeface="Times New Roman" panose="02020603050405020304" pitchFamily="18" charset="0"/>
                    <a:ea typeface="Times New Roman" panose="02020603050405020304" pitchFamily="18" charset="0"/>
                  </a:rPr>
                  <a:t>- </a:t>
                </a:r>
                <a:r>
                  <a:rPr lang="mn-MN" sz="2300" dirty="0">
                    <a:solidFill>
                      <a:srgbClr val="231F20"/>
                    </a:solidFill>
                    <a:latin typeface="Times New Roman" panose="02020603050405020304" pitchFamily="18" charset="0"/>
                    <a:ea typeface="Times New Roman" panose="02020603050405020304" pitchFamily="18" charset="0"/>
                  </a:rPr>
                  <a:t>Давуу эрхтэй хувьцааны өнөөгийн үнэлгээ  </a:t>
                </a:r>
              </a:p>
              <a:p>
                <a:pPr marL="84455" marR="132080" indent="0" algn="just">
                  <a:spcBef>
                    <a:spcPts val="0"/>
                  </a:spcBef>
                  <a:buFont typeface="Arial" panose="020B0604020202020204" pitchFamily="34" charset="0"/>
                  <a:buNone/>
                </a:pPr>
                <a14:m>
                  <m:oMath xmlns:m="http://schemas.openxmlformats.org/officeDocument/2006/math">
                    <m:sSub>
                      <m:sSubPr>
                        <m:ctrlPr>
                          <a:rPr lang="en-US" sz="2400" b="1" i="1" smtClean="0">
                            <a:solidFill>
                              <a:srgbClr val="0000FF"/>
                            </a:solidFill>
                            <a:latin typeface="Cambria Math" panose="02040503050406030204" pitchFamily="18" charset="0"/>
                          </a:rPr>
                        </m:ctrlPr>
                      </m:sSubPr>
                      <m:e>
                        <m:r>
                          <a:rPr lang="en-US" sz="2400" b="1" i="1" smtClean="0">
                            <a:solidFill>
                              <a:srgbClr val="0000FF"/>
                            </a:solidFill>
                            <a:latin typeface="Cambria Math" panose="02040503050406030204" pitchFamily="18" charset="0"/>
                          </a:rPr>
                          <m:t>𝑫</m:t>
                        </m:r>
                      </m:e>
                      <m:sub>
                        <m:r>
                          <a:rPr lang="en-US" sz="2400" b="1" i="1">
                            <a:solidFill>
                              <a:srgbClr val="0000FF"/>
                            </a:solidFill>
                            <a:latin typeface="Cambria Math" panose="02040503050406030204" pitchFamily="18" charset="0"/>
                          </a:rPr>
                          <m:t>𝑷𝑺</m:t>
                        </m:r>
                      </m:sub>
                    </m:sSub>
                    <m:r>
                      <a:rPr lang="en-US" sz="2400" i="1">
                        <a:solidFill>
                          <a:srgbClr val="0000FF"/>
                        </a:solidFill>
                        <a:latin typeface="Cambria Math" panose="02040503050406030204" pitchFamily="18" charset="0"/>
                      </a:rPr>
                      <m:t> </m:t>
                    </m:r>
                  </m:oMath>
                </a14:m>
                <a:r>
                  <a:rPr lang="en-US" sz="2300" i="1" dirty="0">
                    <a:solidFill>
                      <a:srgbClr val="231F20"/>
                    </a:solidFill>
                    <a:latin typeface="Times New Roman" panose="02020603050405020304" pitchFamily="18" charset="0"/>
                    <a:ea typeface="Times New Roman" panose="02020603050405020304" pitchFamily="18" charset="0"/>
                  </a:rPr>
                  <a:t> </a:t>
                </a:r>
                <a:r>
                  <a:rPr lang="mn-MN" sz="2300" i="1" dirty="0">
                    <a:solidFill>
                      <a:srgbClr val="231F20"/>
                    </a:solidFill>
                    <a:latin typeface="Times New Roman" panose="02020603050405020304" pitchFamily="18" charset="0"/>
                    <a:ea typeface="Times New Roman" panose="02020603050405020304" pitchFamily="18" charset="0"/>
                  </a:rPr>
                  <a:t>- </a:t>
                </a:r>
                <a:r>
                  <a:rPr lang="mn-MN" sz="2300" dirty="0">
                    <a:solidFill>
                      <a:srgbClr val="231F20"/>
                    </a:solidFill>
                    <a:latin typeface="Times New Roman" panose="02020603050405020304" pitchFamily="18" charset="0"/>
                    <a:ea typeface="Times New Roman" panose="02020603050405020304" pitchFamily="18" charset="0"/>
                  </a:rPr>
                  <a:t>Давуу эрхтэй нэгж хувьцаанд жил бүр олгох ногдол ашиг</a:t>
                </a:r>
                <a:r>
                  <a:rPr lang="mn-MN" sz="2300" i="1" dirty="0">
                    <a:solidFill>
                      <a:srgbClr val="231F20"/>
                    </a:solidFill>
                    <a:latin typeface="Times New Roman" panose="02020603050405020304" pitchFamily="18" charset="0"/>
                    <a:ea typeface="Times New Roman" panose="02020603050405020304" pitchFamily="18" charset="0"/>
                  </a:rPr>
                  <a:t> </a:t>
                </a:r>
              </a:p>
              <a:p>
                <a:pPr marL="84455" marR="132080" indent="0" algn="just">
                  <a:spcBef>
                    <a:spcPts val="0"/>
                  </a:spcBef>
                  <a:buFont typeface="Arial" panose="020B0604020202020204" pitchFamily="34" charset="0"/>
                  <a:buNone/>
                </a:pPr>
                <a14:m>
                  <m:oMath xmlns:m="http://schemas.openxmlformats.org/officeDocument/2006/math">
                    <m:sSub>
                      <m:sSubPr>
                        <m:ctrlPr>
                          <a:rPr lang="en-US" sz="2400" b="1" i="1" smtClean="0">
                            <a:solidFill>
                              <a:srgbClr val="0000FF"/>
                            </a:solidFill>
                            <a:latin typeface="Cambria Math" panose="02040503050406030204" pitchFamily="18" charset="0"/>
                          </a:rPr>
                        </m:ctrlPr>
                      </m:sSubPr>
                      <m:e>
                        <m:r>
                          <a:rPr lang="en-US" sz="2400" b="1" i="1" smtClean="0">
                            <a:solidFill>
                              <a:srgbClr val="0000FF"/>
                            </a:solidFill>
                            <a:latin typeface="Cambria Math" panose="02040503050406030204" pitchFamily="18" charset="0"/>
                          </a:rPr>
                          <m:t>𝑲</m:t>
                        </m:r>
                      </m:e>
                      <m:sub>
                        <m:r>
                          <a:rPr lang="en-US" sz="2400" b="1" i="1">
                            <a:solidFill>
                              <a:srgbClr val="0000FF"/>
                            </a:solidFill>
                            <a:latin typeface="Cambria Math" panose="02040503050406030204" pitchFamily="18" charset="0"/>
                          </a:rPr>
                          <m:t>𝑷𝑺</m:t>
                        </m:r>
                      </m:sub>
                    </m:sSub>
                  </m:oMath>
                </a14:m>
                <a:r>
                  <a:rPr lang="en-US" sz="2300" i="1" dirty="0">
                    <a:solidFill>
                      <a:srgbClr val="231F20"/>
                    </a:solidFill>
                    <a:latin typeface="Times New Roman" panose="02020603050405020304" pitchFamily="18" charset="0"/>
                    <a:ea typeface="Times New Roman" panose="02020603050405020304" pitchFamily="18" charset="0"/>
                  </a:rPr>
                  <a:t> - </a:t>
                </a:r>
                <a:r>
                  <a:rPr lang="mn-MN" sz="2300" dirty="0">
                    <a:solidFill>
                      <a:srgbClr val="231F20"/>
                    </a:solidFill>
                    <a:latin typeface="Times New Roman" panose="02020603050405020304" pitchFamily="18" charset="0"/>
                    <a:ea typeface="Times New Roman" panose="02020603050405020304" pitchFamily="18" charset="0"/>
                  </a:rPr>
                  <a:t>Шаардлагатай өгөөжийн хэмжээ. </a:t>
                </a:r>
                <a:endParaRPr lang="kk-KZ" sz="2300" dirty="0">
                  <a:solidFill>
                    <a:srgbClr val="231F20"/>
                  </a:solidFill>
                  <a:latin typeface="Times New Roman" panose="02020603050405020304" pitchFamily="18" charset="0"/>
                  <a:ea typeface="Times New Roman" panose="02020603050405020304" pitchFamily="18" charset="0"/>
                </a:endParaRPr>
              </a:p>
            </p:txBody>
          </p:sp>
        </mc:Choice>
        <mc:Fallback xmlns="">
          <p:sp>
            <p:nvSpPr>
              <p:cNvPr id="15" name="Content Placeholder 2">
                <a:extLst>
                  <a:ext uri="{FF2B5EF4-FFF2-40B4-BE49-F238E27FC236}">
                    <a16:creationId xmlns:a16="http://schemas.microsoft.com/office/drawing/2014/main" id="{B364E6AB-7567-4826-AF4F-0F780540196C}"/>
                  </a:ext>
                </a:extLst>
              </p:cNvPr>
              <p:cNvSpPr txBox="1">
                <a:spLocks noRot="1" noChangeAspect="1" noMove="1" noResize="1" noEditPoints="1" noAdjustHandles="1" noChangeArrowheads="1" noChangeShapeType="1" noTextEdit="1"/>
              </p:cNvSpPr>
              <p:nvPr/>
            </p:nvSpPr>
            <p:spPr>
              <a:xfrm>
                <a:off x="3269767" y="4064006"/>
                <a:ext cx="8619784" cy="1007724"/>
              </a:xfrm>
              <a:prstGeom prst="rect">
                <a:avLst/>
              </a:prstGeom>
              <a:blipFill>
                <a:blip r:embed="rId4"/>
                <a:stretch>
                  <a:fillRect t="-7186" b="-17365"/>
                </a:stretch>
              </a:blipFill>
              <a:ln>
                <a:solidFill>
                  <a:srgbClr val="00B0F0"/>
                </a:solidFill>
                <a:prstDash val="lgDash"/>
              </a:ln>
            </p:spPr>
            <p:txBody>
              <a:bodyPr/>
              <a:lstStyle/>
              <a:p>
                <a:r>
                  <a:rPr lang="en-US">
                    <a:noFill/>
                  </a:rPr>
                  <a:t> </a:t>
                </a:r>
              </a:p>
            </p:txBody>
          </p:sp>
        </mc:Fallback>
      </mc:AlternateContent>
      <p:sp>
        <p:nvSpPr>
          <p:cNvPr id="16" name="Content Placeholder 2">
            <a:extLst>
              <a:ext uri="{FF2B5EF4-FFF2-40B4-BE49-F238E27FC236}">
                <a16:creationId xmlns:a16="http://schemas.microsoft.com/office/drawing/2014/main" id="{46415D0B-D08C-4AB4-9AE6-965881B8FBC0}"/>
              </a:ext>
            </a:extLst>
          </p:cNvPr>
          <p:cNvSpPr txBox="1">
            <a:spLocks/>
          </p:cNvSpPr>
          <p:nvPr/>
        </p:nvSpPr>
        <p:spPr>
          <a:xfrm>
            <a:off x="200236" y="5071730"/>
            <a:ext cx="11795052" cy="7466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mn-MN" sz="2300" b="1" dirty="0">
                <a:solidFill>
                  <a:srgbClr val="231F20"/>
                </a:solidFill>
                <a:latin typeface="Times New Roman" panose="02020603050405020304" pitchFamily="18" charset="0"/>
                <a:ea typeface="Times New Roman" panose="02020603050405020304" pitchFamily="18" charset="0"/>
              </a:rPr>
              <a:t>Жишээ:</a:t>
            </a:r>
            <a:r>
              <a:rPr lang="mn-MN" sz="2300" dirty="0">
                <a:solidFill>
                  <a:srgbClr val="231F20"/>
                </a:solidFill>
                <a:latin typeface="Times New Roman" panose="02020603050405020304" pitchFamily="18" charset="0"/>
                <a:ea typeface="Times New Roman" panose="02020603050405020304" pitchFamily="18" charset="0"/>
              </a:rPr>
              <a:t> Компани давуу эрхтэй хувьцааны нэгж тутамд жил бүр 9.5 төгрөгийн ногдол ашиг төлдөг. Шаардлагатай өгөөжийн хэмжээ 12.5% бол уг хувьцааны үнийг олно уу.</a:t>
            </a:r>
            <a:endParaRPr lang="en-US" sz="23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Font typeface="Arial" panose="020B0604020202020204" pitchFamily="34" charset="0"/>
              <a:buNone/>
            </a:pPr>
            <a:endParaRPr lang="kk-KZ" sz="2300" dirty="0">
              <a:solidFill>
                <a:srgbClr val="231F20"/>
              </a:solidFill>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CBCE8A9-07BF-4150-86B8-DDCB1A0B973A}"/>
                  </a:ext>
                </a:extLst>
              </p:cNvPr>
              <p:cNvSpPr txBox="1"/>
              <p:nvPr/>
            </p:nvSpPr>
            <p:spPr>
              <a:xfrm>
                <a:off x="1011272" y="5646363"/>
                <a:ext cx="8183528" cy="11112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0000FF"/>
                              </a:solidFill>
                              <a:latin typeface="Cambria Math" panose="02040503050406030204" pitchFamily="18" charset="0"/>
                            </a:rPr>
                          </m:ctrlPr>
                        </m:sSubPr>
                        <m:e>
                          <m:r>
                            <a:rPr lang="en-US" sz="3200" b="0" i="1" smtClean="0">
                              <a:solidFill>
                                <a:srgbClr val="0000FF"/>
                              </a:solidFill>
                              <a:latin typeface="Cambria Math" panose="02040503050406030204" pitchFamily="18" charset="0"/>
                            </a:rPr>
                            <m:t>𝑉</m:t>
                          </m:r>
                        </m:e>
                        <m:sub>
                          <m:r>
                            <a:rPr lang="en-US" sz="3200" b="0" i="1" smtClean="0">
                              <a:solidFill>
                                <a:srgbClr val="0000FF"/>
                              </a:solidFill>
                              <a:latin typeface="Cambria Math" panose="02040503050406030204" pitchFamily="18" charset="0"/>
                            </a:rPr>
                            <m:t>𝑃𝑆</m:t>
                          </m:r>
                        </m:sub>
                      </m:sSub>
                      <m:r>
                        <a:rPr lang="en-US" sz="3200" b="0" i="1" smtClean="0">
                          <a:solidFill>
                            <a:srgbClr val="0000FF"/>
                          </a:solidFill>
                          <a:effectLst/>
                          <a:latin typeface="Cambria Math" panose="02040503050406030204" pitchFamily="18" charset="0"/>
                          <a:ea typeface="Times New Roman" panose="02020603050405020304" pitchFamily="18" charset="0"/>
                        </a:rPr>
                        <m:t>=</m:t>
                      </m:r>
                      <m:f>
                        <m:fPr>
                          <m:ctrlPr>
                            <a:rPr lang="en-US" sz="3200" i="1">
                              <a:solidFill>
                                <a:srgbClr val="0000FF"/>
                              </a:solidFill>
                              <a:latin typeface="Cambria Math" panose="02040503050406030204" pitchFamily="18" charset="0"/>
                            </a:rPr>
                          </m:ctrlPr>
                        </m:fPr>
                        <m:num>
                          <m:sSub>
                            <m:sSubPr>
                              <m:ctrlPr>
                                <a:rPr lang="en-US" sz="3200" i="1">
                                  <a:solidFill>
                                    <a:srgbClr val="0000FF"/>
                                  </a:solidFill>
                                  <a:latin typeface="Cambria Math" panose="02040503050406030204" pitchFamily="18" charset="0"/>
                                </a:rPr>
                              </m:ctrlPr>
                            </m:sSubPr>
                            <m:e>
                              <m:r>
                                <a:rPr lang="en-US" sz="3200" b="0" i="1" smtClean="0">
                                  <a:solidFill>
                                    <a:srgbClr val="0000FF"/>
                                  </a:solidFill>
                                  <a:latin typeface="Cambria Math" panose="02040503050406030204" pitchFamily="18" charset="0"/>
                                </a:rPr>
                                <m:t>𝐷</m:t>
                              </m:r>
                            </m:e>
                            <m:sub>
                              <m:r>
                                <a:rPr lang="en-US" sz="3200" i="1">
                                  <a:solidFill>
                                    <a:srgbClr val="0000FF"/>
                                  </a:solidFill>
                                  <a:latin typeface="Cambria Math" panose="02040503050406030204" pitchFamily="18" charset="0"/>
                                </a:rPr>
                                <m:t>𝑃𝑆</m:t>
                              </m:r>
                            </m:sub>
                          </m:sSub>
                        </m:num>
                        <m:den>
                          <m:sSub>
                            <m:sSubPr>
                              <m:ctrlPr>
                                <a:rPr lang="en-US" sz="3200" i="1">
                                  <a:solidFill>
                                    <a:srgbClr val="0000FF"/>
                                  </a:solidFill>
                                  <a:latin typeface="Cambria Math" panose="02040503050406030204" pitchFamily="18" charset="0"/>
                                </a:rPr>
                              </m:ctrlPr>
                            </m:sSubPr>
                            <m:e>
                              <m:r>
                                <a:rPr lang="en-US" sz="3200" b="0" i="1" smtClean="0">
                                  <a:solidFill>
                                    <a:srgbClr val="0000FF"/>
                                  </a:solidFill>
                                  <a:latin typeface="Cambria Math" panose="02040503050406030204" pitchFamily="18" charset="0"/>
                                </a:rPr>
                                <m:t>𝐾</m:t>
                              </m:r>
                            </m:e>
                            <m:sub>
                              <m:r>
                                <a:rPr lang="en-US" sz="3200" i="1">
                                  <a:solidFill>
                                    <a:srgbClr val="0000FF"/>
                                  </a:solidFill>
                                  <a:latin typeface="Cambria Math" panose="02040503050406030204" pitchFamily="18" charset="0"/>
                                </a:rPr>
                                <m:t>𝑃𝑆</m:t>
                              </m:r>
                            </m:sub>
                          </m:sSub>
                        </m:den>
                      </m:f>
                      <m:r>
                        <a:rPr lang="en-US" sz="3200" b="0" i="1" smtClean="0">
                          <a:solidFill>
                            <a:srgbClr val="0000FF"/>
                          </a:solidFill>
                          <a:latin typeface="Cambria Math" panose="02040503050406030204" pitchFamily="18" charset="0"/>
                        </a:rPr>
                        <m:t>=</m:t>
                      </m:r>
                      <m:f>
                        <m:fPr>
                          <m:ctrlPr>
                            <a:rPr lang="en-US" sz="3200" i="1">
                              <a:solidFill>
                                <a:srgbClr val="0000FF"/>
                              </a:solidFill>
                              <a:latin typeface="Cambria Math" panose="02040503050406030204" pitchFamily="18" charset="0"/>
                            </a:rPr>
                          </m:ctrlPr>
                        </m:fPr>
                        <m:num>
                          <m:r>
                            <a:rPr lang="en-US" sz="3200" b="0" i="1" smtClean="0">
                              <a:solidFill>
                                <a:srgbClr val="0000FF"/>
                              </a:solidFill>
                              <a:latin typeface="Cambria Math" panose="02040503050406030204" pitchFamily="18" charset="0"/>
                            </a:rPr>
                            <m:t>9.5</m:t>
                          </m:r>
                        </m:num>
                        <m:den>
                          <m:r>
                            <a:rPr lang="en-US" sz="3200" b="0" i="1" smtClean="0">
                              <a:solidFill>
                                <a:srgbClr val="0000FF"/>
                              </a:solidFill>
                              <a:latin typeface="Cambria Math" panose="02040503050406030204" pitchFamily="18" charset="0"/>
                            </a:rPr>
                            <m:t>0.125</m:t>
                          </m:r>
                        </m:den>
                      </m:f>
                      <m:r>
                        <a:rPr lang="en-US" sz="3200" i="1">
                          <a:solidFill>
                            <a:srgbClr val="0000FF"/>
                          </a:solidFill>
                          <a:latin typeface="Cambria Math" panose="02040503050406030204" pitchFamily="18" charset="0"/>
                        </a:rPr>
                        <m:t>=</m:t>
                      </m:r>
                      <m:r>
                        <a:rPr lang="en-US" sz="3200" b="0" i="1" smtClean="0">
                          <a:solidFill>
                            <a:srgbClr val="0000FF"/>
                          </a:solidFill>
                          <a:latin typeface="Cambria Math" panose="02040503050406030204" pitchFamily="18" charset="0"/>
                        </a:rPr>
                        <m:t>76 </m:t>
                      </m:r>
                      <m:r>
                        <a:rPr lang="mn-MN" sz="3200" b="0" i="1" smtClean="0">
                          <a:solidFill>
                            <a:srgbClr val="0000FF"/>
                          </a:solidFill>
                          <a:latin typeface="Cambria Math" panose="02040503050406030204" pitchFamily="18" charset="0"/>
                        </a:rPr>
                        <m:t>төгрөг</m:t>
                      </m:r>
                    </m:oMath>
                  </m:oMathPara>
                </a14:m>
                <a:endParaRPr lang="en-US" dirty="0">
                  <a:solidFill>
                    <a:srgbClr val="0000FF"/>
                  </a:solidFill>
                </a:endParaRPr>
              </a:p>
            </p:txBody>
          </p:sp>
        </mc:Choice>
        <mc:Fallback xmlns="">
          <p:sp>
            <p:nvSpPr>
              <p:cNvPr id="17" name="TextBox 16">
                <a:extLst>
                  <a:ext uri="{FF2B5EF4-FFF2-40B4-BE49-F238E27FC236}">
                    <a16:creationId xmlns:a16="http://schemas.microsoft.com/office/drawing/2014/main" id="{7CBCE8A9-07BF-4150-86B8-DDCB1A0B973A}"/>
                  </a:ext>
                </a:extLst>
              </p:cNvPr>
              <p:cNvSpPr txBox="1">
                <a:spLocks noRot="1" noChangeAspect="1" noMove="1" noResize="1" noEditPoints="1" noAdjustHandles="1" noChangeArrowheads="1" noChangeShapeType="1" noTextEdit="1"/>
              </p:cNvSpPr>
              <p:nvPr/>
            </p:nvSpPr>
            <p:spPr>
              <a:xfrm>
                <a:off x="1011272" y="5646363"/>
                <a:ext cx="8183528" cy="111126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936091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304212" y="16161"/>
            <a:ext cx="11474501" cy="410194"/>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Энгийн хувьцааны үнэлгээ</a:t>
            </a:r>
            <a:r>
              <a:rPr lang="en-US" sz="2400" b="1" dirty="0">
                <a:solidFill>
                  <a:srgbClr val="0000FF"/>
                </a:solidFill>
                <a:latin typeface="Times New Roman" panose="02020603050405020304" pitchFamily="18" charset="0"/>
                <a:cs typeface="Times New Roman" panose="02020603050405020304" pitchFamily="18" charset="0"/>
              </a:rPr>
              <a:t>:</a:t>
            </a:r>
          </a:p>
        </p:txBody>
      </p:sp>
      <p:sp>
        <p:nvSpPr>
          <p:cNvPr id="12" name="Content Placeholder 2">
            <a:extLst>
              <a:ext uri="{FF2B5EF4-FFF2-40B4-BE49-F238E27FC236}">
                <a16:creationId xmlns:a16="http://schemas.microsoft.com/office/drawing/2014/main" id="{AE67B8A4-77BD-4956-A1C5-E1E6F276E0C7}"/>
              </a:ext>
            </a:extLst>
          </p:cNvPr>
          <p:cNvSpPr txBox="1">
            <a:spLocks/>
          </p:cNvSpPr>
          <p:nvPr/>
        </p:nvSpPr>
        <p:spPr>
          <a:xfrm>
            <a:off x="309311" y="2765642"/>
            <a:ext cx="11575140" cy="14139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mn-MN" sz="23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Энэхүү загварыг тогтмол өсөлтийн загвар буюу Гордон загвар/</a:t>
            </a:r>
            <a:r>
              <a:rPr lang="en-US" sz="23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Gordon model/ </a:t>
            </a:r>
            <a:r>
              <a:rPr lang="mn-MN" sz="23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гэж нэрлэдэг. </a:t>
            </a:r>
            <a:r>
              <a:rPr lang="mn-MN" sz="2300" b="1"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Жишээ нь </a:t>
            </a:r>
            <a:r>
              <a:rPr lang="mn-MN" sz="23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Е компани урьд онд 100 төгрөгийн ногдол ашгийг нэгж хувьцаандаа олгосон. Тус компанийн ногдол ашиг жил бүр 5%-ийн тогтмол өсөлттэй. Шаардлагатай өгөөжийн хэмжээ 12% бол хувьцааны үнийг ол.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844D35D-FADC-40CD-83D0-7F8BBD6B2F5F}"/>
                  </a:ext>
                </a:extLst>
              </p:cNvPr>
              <p:cNvSpPr txBox="1"/>
              <p:nvPr/>
            </p:nvSpPr>
            <p:spPr>
              <a:xfrm>
                <a:off x="525293" y="1528709"/>
                <a:ext cx="3595895" cy="13527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solidFill>
                                <a:srgbClr val="0000FF"/>
                              </a:solidFill>
                              <a:latin typeface="Cambria Math" panose="02040503050406030204" pitchFamily="18" charset="0"/>
                            </a:rPr>
                          </m:ctrlPr>
                        </m:sSubPr>
                        <m:e>
                          <m:r>
                            <a:rPr lang="en-US" sz="4000" b="0" i="1" smtClean="0">
                              <a:solidFill>
                                <a:srgbClr val="0000FF"/>
                              </a:solidFill>
                              <a:latin typeface="Cambria Math" panose="02040503050406030204" pitchFamily="18" charset="0"/>
                            </a:rPr>
                            <m:t>𝑃</m:t>
                          </m:r>
                        </m:e>
                        <m:sub>
                          <m:r>
                            <a:rPr lang="mn-MN" sz="4000" b="0" i="1" smtClean="0">
                              <a:solidFill>
                                <a:srgbClr val="0000FF"/>
                              </a:solidFill>
                              <a:latin typeface="Cambria Math" panose="02040503050406030204" pitchFamily="18" charset="0"/>
                            </a:rPr>
                            <m:t>0</m:t>
                          </m:r>
                        </m:sub>
                      </m:sSub>
                      <m:r>
                        <a:rPr lang="en-US" sz="4000" b="0" i="1" smtClean="0">
                          <a:solidFill>
                            <a:srgbClr val="0000FF"/>
                          </a:solidFill>
                          <a:effectLst/>
                          <a:latin typeface="Cambria Math" panose="02040503050406030204" pitchFamily="18" charset="0"/>
                          <a:ea typeface="Times New Roman" panose="02020603050405020304" pitchFamily="18" charset="0"/>
                        </a:rPr>
                        <m:t>=</m:t>
                      </m:r>
                      <m:f>
                        <m:fPr>
                          <m:ctrlPr>
                            <a:rPr lang="en-US" sz="4000" i="1">
                              <a:solidFill>
                                <a:srgbClr val="0000FF"/>
                              </a:solidFill>
                              <a:latin typeface="Cambria Math" panose="02040503050406030204" pitchFamily="18" charset="0"/>
                            </a:rPr>
                          </m:ctrlPr>
                        </m:fPr>
                        <m:num>
                          <m:sSub>
                            <m:sSubPr>
                              <m:ctrlPr>
                                <a:rPr lang="en-US" sz="4000" i="1">
                                  <a:solidFill>
                                    <a:srgbClr val="0000FF"/>
                                  </a:solidFill>
                                  <a:latin typeface="Cambria Math" panose="02040503050406030204" pitchFamily="18" charset="0"/>
                                </a:rPr>
                              </m:ctrlPr>
                            </m:sSubPr>
                            <m:e>
                              <m:r>
                                <a:rPr lang="en-US" sz="4000" b="0" i="1" smtClean="0">
                                  <a:solidFill>
                                    <a:srgbClr val="0000FF"/>
                                  </a:solidFill>
                                  <a:latin typeface="Cambria Math" panose="02040503050406030204" pitchFamily="18" charset="0"/>
                                </a:rPr>
                                <m:t>𝐷</m:t>
                              </m:r>
                            </m:e>
                            <m:sub>
                              <m:r>
                                <a:rPr lang="en-US" sz="4000" b="0" i="1" smtClean="0">
                                  <a:solidFill>
                                    <a:srgbClr val="0000FF"/>
                                  </a:solidFill>
                                  <a:latin typeface="Cambria Math" panose="02040503050406030204" pitchFamily="18" charset="0"/>
                                </a:rPr>
                                <m:t>𝐼</m:t>
                              </m:r>
                            </m:sub>
                          </m:sSub>
                        </m:num>
                        <m:den>
                          <m:sSub>
                            <m:sSubPr>
                              <m:ctrlPr>
                                <a:rPr lang="en-US" sz="4000" i="1">
                                  <a:solidFill>
                                    <a:srgbClr val="0000FF"/>
                                  </a:solidFill>
                                  <a:latin typeface="Cambria Math" panose="02040503050406030204" pitchFamily="18" charset="0"/>
                                </a:rPr>
                              </m:ctrlPr>
                            </m:sSubPr>
                            <m:e>
                              <m:r>
                                <a:rPr lang="en-US" sz="4000" b="0" i="1" smtClean="0">
                                  <a:solidFill>
                                    <a:srgbClr val="0000FF"/>
                                  </a:solidFill>
                                  <a:latin typeface="Cambria Math" panose="02040503050406030204" pitchFamily="18" charset="0"/>
                                </a:rPr>
                                <m:t>𝐾</m:t>
                              </m:r>
                            </m:e>
                            <m:sub>
                              <m:r>
                                <a:rPr lang="en-US" sz="4000" i="1">
                                  <a:solidFill>
                                    <a:srgbClr val="0000FF"/>
                                  </a:solidFill>
                                  <a:latin typeface="Cambria Math" panose="02040503050406030204" pitchFamily="18" charset="0"/>
                                </a:rPr>
                                <m:t>𝑆</m:t>
                              </m:r>
                            </m:sub>
                          </m:sSub>
                          <m:r>
                            <a:rPr lang="en-US" sz="4000" b="0" i="1" smtClean="0">
                              <a:solidFill>
                                <a:srgbClr val="0000FF"/>
                              </a:solidFill>
                              <a:latin typeface="Cambria Math" panose="02040503050406030204" pitchFamily="18" charset="0"/>
                            </a:rPr>
                            <m:t>−</m:t>
                          </m:r>
                          <m:r>
                            <a:rPr lang="en-US" sz="4000" b="0" i="1" smtClean="0">
                              <a:solidFill>
                                <a:srgbClr val="0000FF"/>
                              </a:solidFill>
                              <a:latin typeface="Cambria Math" panose="02040503050406030204" pitchFamily="18" charset="0"/>
                            </a:rPr>
                            <m:t>𝑔</m:t>
                          </m:r>
                        </m:den>
                      </m:f>
                    </m:oMath>
                  </m:oMathPara>
                </a14:m>
                <a:endParaRPr lang="en-US" sz="2400" dirty="0">
                  <a:solidFill>
                    <a:srgbClr val="0000FF"/>
                  </a:solidFill>
                </a:endParaRPr>
              </a:p>
            </p:txBody>
          </p:sp>
        </mc:Choice>
        <mc:Fallback xmlns="">
          <p:sp>
            <p:nvSpPr>
              <p:cNvPr id="13" name="TextBox 12">
                <a:extLst>
                  <a:ext uri="{FF2B5EF4-FFF2-40B4-BE49-F238E27FC236}">
                    <a16:creationId xmlns:a16="http://schemas.microsoft.com/office/drawing/2014/main" id="{9844D35D-FADC-40CD-83D0-7F8BBD6B2F5F}"/>
                  </a:ext>
                </a:extLst>
              </p:cNvPr>
              <p:cNvSpPr txBox="1">
                <a:spLocks noRot="1" noChangeAspect="1" noMove="1" noResize="1" noEditPoints="1" noAdjustHandles="1" noChangeArrowheads="1" noChangeShapeType="1" noTextEdit="1"/>
              </p:cNvSpPr>
              <p:nvPr/>
            </p:nvSpPr>
            <p:spPr>
              <a:xfrm>
                <a:off x="525293" y="1528709"/>
                <a:ext cx="3595895" cy="135274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E84B9B36-E24A-49C5-BBCA-8686A9D2D106}"/>
                  </a:ext>
                </a:extLst>
              </p:cNvPr>
              <p:cNvSpPr txBox="1">
                <a:spLocks/>
              </p:cNvSpPr>
              <p:nvPr/>
            </p:nvSpPr>
            <p:spPr>
              <a:xfrm>
                <a:off x="3813242" y="1550809"/>
                <a:ext cx="8090663" cy="1075657"/>
              </a:xfrm>
              <a:prstGeom prst="rect">
                <a:avLst/>
              </a:prstGeom>
              <a:ln>
                <a:solidFill>
                  <a:srgbClr val="00B0F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None/>
                </a:pPr>
                <a14:m>
                  <m:oMath xmlns:m="http://schemas.openxmlformats.org/officeDocument/2006/math">
                    <m:sSub>
                      <m:sSubPr>
                        <m:ctrlPr>
                          <a:rPr lang="en-US" sz="2500" b="1" i="1" smtClean="0">
                            <a:solidFill>
                              <a:srgbClr val="231F20"/>
                            </a:solidFill>
                            <a:latin typeface="Cambria Math" panose="02040503050406030204" pitchFamily="18" charset="0"/>
                          </a:rPr>
                        </m:ctrlPr>
                      </m:sSubPr>
                      <m:e>
                        <m:r>
                          <a:rPr lang="en-US" sz="2500" b="1" i="1" smtClean="0">
                            <a:solidFill>
                              <a:srgbClr val="231F20"/>
                            </a:solidFill>
                            <a:latin typeface="Cambria Math" panose="02040503050406030204" pitchFamily="18" charset="0"/>
                          </a:rPr>
                          <m:t>𝑷</m:t>
                        </m:r>
                      </m:e>
                      <m:sub>
                        <m:r>
                          <a:rPr lang="en-US" sz="2500" b="1" i="1" smtClean="0">
                            <a:solidFill>
                              <a:srgbClr val="231F20"/>
                            </a:solidFill>
                            <a:latin typeface="Cambria Math" panose="02040503050406030204" pitchFamily="18" charset="0"/>
                          </a:rPr>
                          <m:t>𝟎</m:t>
                        </m:r>
                      </m:sub>
                    </m:sSub>
                  </m:oMath>
                </a14:m>
                <a:r>
                  <a:rPr lang="en-US" sz="2500" b="1" i="1" dirty="0">
                    <a:solidFill>
                      <a:srgbClr val="231F20"/>
                    </a:solidFill>
                    <a:latin typeface="Times New Roman" panose="02020603050405020304" pitchFamily="18" charset="0"/>
                    <a:ea typeface="Times New Roman" panose="02020603050405020304" pitchFamily="18" charset="0"/>
                  </a:rPr>
                  <a:t> </a:t>
                </a:r>
                <a:r>
                  <a:rPr lang="en-US" sz="2500" i="1" dirty="0">
                    <a:solidFill>
                      <a:srgbClr val="231F20"/>
                    </a:solidFill>
                    <a:latin typeface="Times New Roman" panose="02020603050405020304" pitchFamily="18" charset="0"/>
                    <a:ea typeface="Times New Roman" panose="02020603050405020304" pitchFamily="18" charset="0"/>
                  </a:rPr>
                  <a:t>- </a:t>
                </a:r>
                <a:r>
                  <a:rPr lang="mn-MN" sz="2500" dirty="0">
                    <a:solidFill>
                      <a:srgbClr val="231F20"/>
                    </a:solidFill>
                    <a:latin typeface="Times New Roman" panose="02020603050405020304" pitchFamily="18" charset="0"/>
                    <a:ea typeface="Times New Roman" panose="02020603050405020304" pitchFamily="18" charset="0"/>
                  </a:rPr>
                  <a:t>Хувьцааны одоогийн үнэ</a:t>
                </a:r>
              </a:p>
              <a:p>
                <a:pPr marL="84455" marR="132080" indent="0" algn="just">
                  <a:spcBef>
                    <a:spcPts val="0"/>
                  </a:spcBef>
                  <a:buFont typeface="Arial" panose="020B0604020202020204" pitchFamily="34" charset="0"/>
                  <a:buNone/>
                </a:pPr>
                <a:r>
                  <a:rPr lang="en-US" sz="2500" b="1" i="1" dirty="0">
                    <a:solidFill>
                      <a:srgbClr val="231F20"/>
                    </a:solidFill>
                    <a:latin typeface="Times New Roman" panose="02020603050405020304" pitchFamily="18" charset="0"/>
                    <a:ea typeface="Times New Roman" panose="02020603050405020304" pitchFamily="18" charset="0"/>
                  </a:rPr>
                  <a:t>D</a:t>
                </a:r>
                <a:r>
                  <a:rPr lang="en-US" sz="2500" i="1" dirty="0">
                    <a:solidFill>
                      <a:srgbClr val="231F20"/>
                    </a:solidFill>
                    <a:latin typeface="Times New Roman" panose="02020603050405020304" pitchFamily="18" charset="0"/>
                    <a:ea typeface="Times New Roman" panose="02020603050405020304" pitchFamily="18" charset="0"/>
                  </a:rPr>
                  <a:t> </a:t>
                </a:r>
                <a:r>
                  <a:rPr lang="mn-MN" sz="2500" i="1" dirty="0">
                    <a:solidFill>
                      <a:srgbClr val="231F20"/>
                    </a:solidFill>
                    <a:latin typeface="Times New Roman" panose="02020603050405020304" pitchFamily="18" charset="0"/>
                    <a:ea typeface="Times New Roman" panose="02020603050405020304" pitchFamily="18" charset="0"/>
                  </a:rPr>
                  <a:t>- </a:t>
                </a:r>
                <a:r>
                  <a:rPr lang="mn-MN" sz="2500" dirty="0">
                    <a:solidFill>
                      <a:srgbClr val="231F20"/>
                    </a:solidFill>
                    <a:latin typeface="Times New Roman" panose="02020603050405020304" pitchFamily="18" charset="0"/>
                    <a:ea typeface="Times New Roman" panose="02020603050405020304" pitchFamily="18" charset="0"/>
                  </a:rPr>
                  <a:t>Энгийн хувьцаанд тухайн жилд олгосон ногдол ашиг</a:t>
                </a:r>
                <a:endParaRPr lang="mn-MN" sz="2500" i="1"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None/>
                </a:pPr>
                <a14:m>
                  <m:oMath xmlns:m="http://schemas.openxmlformats.org/officeDocument/2006/math">
                    <m:sSub>
                      <m:sSubPr>
                        <m:ctrlPr>
                          <a:rPr lang="en-US" sz="2500" b="1" i="1" smtClean="0">
                            <a:solidFill>
                              <a:srgbClr val="231F20"/>
                            </a:solidFill>
                            <a:latin typeface="Cambria Math" panose="02040503050406030204" pitchFamily="18" charset="0"/>
                          </a:rPr>
                        </m:ctrlPr>
                      </m:sSubPr>
                      <m:e>
                        <m:r>
                          <a:rPr lang="en-US" sz="2500" b="1" i="1" smtClean="0">
                            <a:solidFill>
                              <a:srgbClr val="231F20"/>
                            </a:solidFill>
                            <a:latin typeface="Cambria Math" panose="02040503050406030204" pitchFamily="18" charset="0"/>
                          </a:rPr>
                          <m:t>𝑲</m:t>
                        </m:r>
                      </m:e>
                      <m:sub>
                        <m:r>
                          <a:rPr lang="en-US" sz="2500" b="1" i="1" smtClean="0">
                            <a:solidFill>
                              <a:srgbClr val="231F20"/>
                            </a:solidFill>
                            <a:latin typeface="Cambria Math" panose="02040503050406030204" pitchFamily="18" charset="0"/>
                          </a:rPr>
                          <m:t>𝒔</m:t>
                        </m:r>
                      </m:sub>
                    </m:sSub>
                    <m:r>
                      <a:rPr lang="en-US" sz="2500" b="0" i="1" smtClean="0">
                        <a:solidFill>
                          <a:srgbClr val="231F20"/>
                        </a:solidFill>
                        <a:latin typeface="Cambria Math" panose="02040503050406030204" pitchFamily="18" charset="0"/>
                      </a:rPr>
                      <m:t> </m:t>
                    </m:r>
                  </m:oMath>
                </a14:m>
                <a:r>
                  <a:rPr lang="en-US" sz="2500" i="1" dirty="0">
                    <a:solidFill>
                      <a:srgbClr val="231F20"/>
                    </a:solidFill>
                    <a:latin typeface="Times New Roman" panose="02020603050405020304" pitchFamily="18" charset="0"/>
                    <a:ea typeface="Times New Roman" panose="02020603050405020304" pitchFamily="18" charset="0"/>
                  </a:rPr>
                  <a:t> - </a:t>
                </a:r>
                <a:r>
                  <a:rPr lang="mn-MN" sz="2500" dirty="0">
                    <a:solidFill>
                      <a:srgbClr val="231F20"/>
                    </a:solidFill>
                    <a:latin typeface="Times New Roman" panose="02020603050405020304" pitchFamily="18" charset="0"/>
                    <a:ea typeface="Times New Roman" panose="02020603050405020304" pitchFamily="18" charset="0"/>
                  </a:rPr>
                  <a:t>Өмнөх жилийн ногдол ашиг</a:t>
                </a:r>
                <a:endParaRPr lang="kk-KZ" sz="2500" dirty="0">
                  <a:solidFill>
                    <a:srgbClr val="231F20"/>
                  </a:solidFill>
                  <a:latin typeface="Times New Roman" panose="02020603050405020304" pitchFamily="18" charset="0"/>
                  <a:ea typeface="Times New Roman" panose="02020603050405020304" pitchFamily="18" charset="0"/>
                </a:endParaRPr>
              </a:p>
            </p:txBody>
          </p:sp>
        </mc:Choice>
        <mc:Fallback xmlns="">
          <p:sp>
            <p:nvSpPr>
              <p:cNvPr id="14" name="Content Placeholder 2">
                <a:extLst>
                  <a:ext uri="{FF2B5EF4-FFF2-40B4-BE49-F238E27FC236}">
                    <a16:creationId xmlns:a16="http://schemas.microsoft.com/office/drawing/2014/main" id="{E84B9B36-E24A-49C5-BBCA-8686A9D2D106}"/>
                  </a:ext>
                </a:extLst>
              </p:cNvPr>
              <p:cNvSpPr txBox="1">
                <a:spLocks noRot="1" noChangeAspect="1" noMove="1" noResize="1" noEditPoints="1" noAdjustHandles="1" noChangeArrowheads="1" noChangeShapeType="1" noTextEdit="1"/>
              </p:cNvSpPr>
              <p:nvPr/>
            </p:nvSpPr>
            <p:spPr>
              <a:xfrm>
                <a:off x="3813242" y="1550809"/>
                <a:ext cx="8090663" cy="1075657"/>
              </a:xfrm>
              <a:prstGeom prst="rect">
                <a:avLst/>
              </a:prstGeom>
              <a:blipFill>
                <a:blip r:embed="rId4"/>
                <a:stretch>
                  <a:fillRect l="-150" t="-7263" b="-16760"/>
                </a:stretch>
              </a:blipFill>
              <a:ln>
                <a:solidFill>
                  <a:srgbClr val="00B0F0"/>
                </a:solidFill>
                <a:prstDash val="lgDash"/>
              </a:ln>
            </p:spPr>
            <p:txBody>
              <a:bodyPr/>
              <a:lstStyle/>
              <a:p>
                <a:r>
                  <a:rPr lang="en-US">
                    <a:noFill/>
                  </a:rPr>
                  <a:t> </a:t>
                </a:r>
              </a:p>
            </p:txBody>
          </p:sp>
        </mc:Fallback>
      </mc:AlternateContent>
      <p:sp>
        <p:nvSpPr>
          <p:cNvPr id="15" name="Content Placeholder 2">
            <a:extLst>
              <a:ext uri="{FF2B5EF4-FFF2-40B4-BE49-F238E27FC236}">
                <a16:creationId xmlns:a16="http://schemas.microsoft.com/office/drawing/2014/main" id="{49019DB4-D8E1-462F-A60B-A75496C0EA47}"/>
              </a:ext>
            </a:extLst>
          </p:cNvPr>
          <p:cNvSpPr txBox="1">
            <a:spLocks/>
          </p:cNvSpPr>
          <p:nvPr/>
        </p:nvSpPr>
        <p:spPr>
          <a:xfrm>
            <a:off x="282371" y="6034826"/>
            <a:ext cx="11795052" cy="5847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mn-MN" dirty="0">
                <a:solidFill>
                  <a:srgbClr val="231F20"/>
                </a:solidFill>
                <a:latin typeface="Times New Roman" panose="02020603050405020304" pitchFamily="18" charset="0"/>
                <a:ea typeface="Times New Roman" panose="02020603050405020304" pitchFamily="18" charset="0"/>
              </a:rPr>
              <a:t>Энэ компанийн нэгж хувьцаа зах зээл дээр 1500 төгрөг байх ёстой гэдгийг илэрхийлнэ.</a:t>
            </a:r>
            <a:endParaRPr lang="kk-KZ" dirty="0">
              <a:solidFill>
                <a:srgbClr val="231F20"/>
              </a:solidFill>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40E3D57-9B3E-4F64-BE6B-282CE64DA492}"/>
                  </a:ext>
                </a:extLst>
              </p:cNvPr>
              <p:cNvSpPr txBox="1"/>
              <p:nvPr/>
            </p:nvSpPr>
            <p:spPr>
              <a:xfrm>
                <a:off x="525293" y="4752712"/>
                <a:ext cx="8535202" cy="13660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solidFill>
                                <a:srgbClr val="0000FF"/>
                              </a:solidFill>
                              <a:latin typeface="Cambria Math" panose="02040503050406030204" pitchFamily="18" charset="0"/>
                            </a:rPr>
                          </m:ctrlPr>
                        </m:sSubPr>
                        <m:e>
                          <m:r>
                            <a:rPr lang="en-US" sz="4000" i="1">
                              <a:solidFill>
                                <a:srgbClr val="0000FF"/>
                              </a:solidFill>
                              <a:latin typeface="Cambria Math" panose="02040503050406030204" pitchFamily="18" charset="0"/>
                            </a:rPr>
                            <m:t>𝑃</m:t>
                          </m:r>
                        </m:e>
                        <m:sub>
                          <m:r>
                            <a:rPr lang="mn-MN" sz="4000" i="1">
                              <a:solidFill>
                                <a:srgbClr val="0000FF"/>
                              </a:solidFill>
                              <a:latin typeface="Cambria Math" panose="02040503050406030204" pitchFamily="18" charset="0"/>
                            </a:rPr>
                            <m:t>0</m:t>
                          </m:r>
                        </m:sub>
                      </m:sSub>
                      <m:r>
                        <a:rPr lang="en-US" sz="4000" i="1">
                          <a:solidFill>
                            <a:srgbClr val="0000FF"/>
                          </a:solidFill>
                          <a:latin typeface="Cambria Math" panose="02040503050406030204" pitchFamily="18" charset="0"/>
                          <a:ea typeface="Times New Roman" panose="02020603050405020304" pitchFamily="18" charset="0"/>
                        </a:rPr>
                        <m:t>=</m:t>
                      </m:r>
                      <m:f>
                        <m:fPr>
                          <m:ctrlPr>
                            <a:rPr lang="en-US" sz="4000" i="1">
                              <a:solidFill>
                                <a:srgbClr val="0000FF"/>
                              </a:solidFill>
                              <a:latin typeface="Cambria Math" panose="02040503050406030204" pitchFamily="18" charset="0"/>
                            </a:rPr>
                          </m:ctrlPr>
                        </m:fPr>
                        <m:num>
                          <m:r>
                            <a:rPr lang="en-US" sz="4000" i="1">
                              <a:solidFill>
                                <a:srgbClr val="0000FF"/>
                              </a:solidFill>
                              <a:latin typeface="Cambria Math" panose="02040503050406030204" pitchFamily="18" charset="0"/>
                            </a:rPr>
                            <m:t>𝐷</m:t>
                          </m:r>
                        </m:num>
                        <m:den>
                          <m:sSub>
                            <m:sSubPr>
                              <m:ctrlPr>
                                <a:rPr lang="en-US" sz="4000" i="1">
                                  <a:solidFill>
                                    <a:srgbClr val="0000FF"/>
                                  </a:solidFill>
                                  <a:latin typeface="Cambria Math" panose="02040503050406030204" pitchFamily="18" charset="0"/>
                                </a:rPr>
                              </m:ctrlPr>
                            </m:sSubPr>
                            <m:e>
                              <m:r>
                                <a:rPr lang="en-US" sz="4000" i="1">
                                  <a:solidFill>
                                    <a:srgbClr val="0000FF"/>
                                  </a:solidFill>
                                  <a:latin typeface="Cambria Math" panose="02040503050406030204" pitchFamily="18" charset="0"/>
                                </a:rPr>
                                <m:t>𝐾</m:t>
                              </m:r>
                            </m:e>
                            <m:sub>
                              <m:r>
                                <a:rPr lang="en-US" sz="4000" i="1">
                                  <a:solidFill>
                                    <a:srgbClr val="0000FF"/>
                                  </a:solidFill>
                                  <a:latin typeface="Cambria Math" panose="02040503050406030204" pitchFamily="18" charset="0"/>
                                </a:rPr>
                                <m:t>𝑆</m:t>
                              </m:r>
                            </m:sub>
                          </m:sSub>
                        </m:den>
                      </m:f>
                      <m:r>
                        <a:rPr lang="en-US" sz="4000" b="0" i="1" smtClean="0">
                          <a:solidFill>
                            <a:srgbClr val="0000FF"/>
                          </a:solidFill>
                          <a:latin typeface="Cambria Math" panose="02040503050406030204" pitchFamily="18" charset="0"/>
                        </a:rPr>
                        <m:t>=</m:t>
                      </m:r>
                      <m:f>
                        <m:fPr>
                          <m:ctrlPr>
                            <a:rPr lang="en-US" sz="4000" i="1">
                              <a:solidFill>
                                <a:srgbClr val="0000FF"/>
                              </a:solidFill>
                              <a:latin typeface="Cambria Math" panose="02040503050406030204" pitchFamily="18" charset="0"/>
                            </a:rPr>
                          </m:ctrlPr>
                        </m:fPr>
                        <m:num>
                          <m:r>
                            <a:rPr lang="en-US" sz="4000" b="0" i="1" smtClean="0">
                              <a:solidFill>
                                <a:srgbClr val="0000FF"/>
                              </a:solidFill>
                              <a:latin typeface="Cambria Math" panose="02040503050406030204" pitchFamily="18" charset="0"/>
                            </a:rPr>
                            <m:t>1</m:t>
                          </m:r>
                          <m:r>
                            <a:rPr lang="mn-MN" sz="4000" b="0" i="1" smtClean="0">
                              <a:solidFill>
                                <a:srgbClr val="0000FF"/>
                              </a:solidFill>
                              <a:latin typeface="Cambria Math" panose="02040503050406030204" pitchFamily="18" charset="0"/>
                            </a:rPr>
                            <m:t>0</m:t>
                          </m:r>
                          <m:r>
                            <a:rPr lang="en-US" sz="4000" b="0" i="1" smtClean="0">
                              <a:solidFill>
                                <a:srgbClr val="0000FF"/>
                              </a:solidFill>
                              <a:latin typeface="Cambria Math" panose="02040503050406030204" pitchFamily="18" charset="0"/>
                            </a:rPr>
                            <m:t>5</m:t>
                          </m:r>
                        </m:num>
                        <m:den>
                          <m:r>
                            <a:rPr lang="en-US" sz="4000" b="0" i="1" smtClean="0">
                              <a:solidFill>
                                <a:srgbClr val="0000FF"/>
                              </a:solidFill>
                              <a:latin typeface="Cambria Math" panose="02040503050406030204" pitchFamily="18" charset="0"/>
                            </a:rPr>
                            <m:t>0.1</m:t>
                          </m:r>
                          <m:r>
                            <a:rPr lang="mn-MN" sz="4000" b="0" i="1" smtClean="0">
                              <a:solidFill>
                                <a:srgbClr val="0000FF"/>
                              </a:solidFill>
                              <a:latin typeface="Cambria Math" panose="02040503050406030204" pitchFamily="18" charset="0"/>
                            </a:rPr>
                            <m:t>2−0.05</m:t>
                          </m:r>
                        </m:den>
                      </m:f>
                      <m:r>
                        <a:rPr lang="en-US" sz="4000" i="1">
                          <a:solidFill>
                            <a:srgbClr val="0000FF"/>
                          </a:solidFill>
                          <a:latin typeface="Cambria Math" panose="02040503050406030204" pitchFamily="18" charset="0"/>
                        </a:rPr>
                        <m:t>=</m:t>
                      </m:r>
                      <m:r>
                        <a:rPr lang="en-US" sz="4000" b="0" i="1" smtClean="0">
                          <a:solidFill>
                            <a:srgbClr val="0000FF"/>
                          </a:solidFill>
                          <a:latin typeface="Cambria Math" panose="02040503050406030204" pitchFamily="18" charset="0"/>
                        </a:rPr>
                        <m:t>1</m:t>
                      </m:r>
                      <m:r>
                        <a:rPr lang="mn-MN" sz="4000" b="0" i="1" smtClean="0">
                          <a:solidFill>
                            <a:srgbClr val="0000FF"/>
                          </a:solidFill>
                          <a:latin typeface="Cambria Math" panose="02040503050406030204" pitchFamily="18" charset="0"/>
                        </a:rPr>
                        <m:t>5</m:t>
                      </m:r>
                      <m:r>
                        <a:rPr lang="en-US" sz="4000" b="0" i="1" smtClean="0">
                          <a:solidFill>
                            <a:srgbClr val="0000FF"/>
                          </a:solidFill>
                          <a:latin typeface="Cambria Math" panose="02040503050406030204" pitchFamily="18" charset="0"/>
                        </a:rPr>
                        <m:t>00 </m:t>
                      </m:r>
                      <m:r>
                        <a:rPr lang="mn-MN" sz="4000" b="0" i="1" smtClean="0">
                          <a:solidFill>
                            <a:srgbClr val="0000FF"/>
                          </a:solidFill>
                          <a:latin typeface="Cambria Math" panose="02040503050406030204" pitchFamily="18" charset="0"/>
                        </a:rPr>
                        <m:t>төгрөг</m:t>
                      </m:r>
                    </m:oMath>
                  </m:oMathPara>
                </a14:m>
                <a:endParaRPr lang="en-US" sz="4000" dirty="0">
                  <a:solidFill>
                    <a:srgbClr val="0000FF"/>
                  </a:solidFill>
                </a:endParaRPr>
              </a:p>
            </p:txBody>
          </p:sp>
        </mc:Choice>
        <mc:Fallback xmlns="">
          <p:sp>
            <p:nvSpPr>
              <p:cNvPr id="16" name="TextBox 15">
                <a:extLst>
                  <a:ext uri="{FF2B5EF4-FFF2-40B4-BE49-F238E27FC236}">
                    <a16:creationId xmlns:a16="http://schemas.microsoft.com/office/drawing/2014/main" id="{E40E3D57-9B3E-4F64-BE6B-282CE64DA492}"/>
                  </a:ext>
                </a:extLst>
              </p:cNvPr>
              <p:cNvSpPr txBox="1">
                <a:spLocks noRot="1" noChangeAspect="1" noMove="1" noResize="1" noEditPoints="1" noAdjustHandles="1" noChangeArrowheads="1" noChangeShapeType="1" noTextEdit="1"/>
              </p:cNvSpPr>
              <p:nvPr/>
            </p:nvSpPr>
            <p:spPr>
              <a:xfrm>
                <a:off x="525293" y="4752712"/>
                <a:ext cx="8535202" cy="1366015"/>
              </a:xfrm>
              <a:prstGeom prst="rect">
                <a:avLst/>
              </a:prstGeom>
              <a:blipFill>
                <a:blip r:embed="rId5"/>
                <a:stretch>
                  <a:fillRect/>
                </a:stretch>
              </a:blipFill>
            </p:spPr>
            <p:txBody>
              <a:bodyPr/>
              <a:lstStyle/>
              <a:p>
                <a:r>
                  <a:rPr lang="en-US">
                    <a:noFill/>
                  </a:rPr>
                  <a:t> </a:t>
                </a:r>
              </a:p>
            </p:txBody>
          </p:sp>
        </mc:Fallback>
      </mc:AlternateContent>
      <p:sp>
        <p:nvSpPr>
          <p:cNvPr id="19" name="Content Placeholder 18">
            <a:extLst>
              <a:ext uri="{FF2B5EF4-FFF2-40B4-BE49-F238E27FC236}">
                <a16:creationId xmlns:a16="http://schemas.microsoft.com/office/drawing/2014/main" id="{61BADE6B-F19D-40EF-8026-FE3E2FD30C88}"/>
              </a:ext>
            </a:extLst>
          </p:cNvPr>
          <p:cNvSpPr>
            <a:spLocks noGrp="1"/>
          </p:cNvSpPr>
          <p:nvPr>
            <p:ph idx="1"/>
          </p:nvPr>
        </p:nvSpPr>
        <p:spPr>
          <a:xfrm>
            <a:off x="309311" y="426355"/>
            <a:ext cx="11578477" cy="1342666"/>
          </a:xfrm>
        </p:spPr>
        <p:txBody>
          <a:bodyPr>
            <a:normAutofit lnSpcReduction="10000"/>
          </a:bodyPr>
          <a:lstStyle/>
          <a:p>
            <a:pPr marL="84455" marR="132080" indent="0" algn="just">
              <a:spcBef>
                <a:spcPts val="0"/>
              </a:spcBef>
              <a:buFont typeface="Arial" panose="020B0604020202020204" pitchFamily="34" charset="0"/>
              <a:buNone/>
            </a:pPr>
            <a:r>
              <a:rPr lang="mn-MN" sz="23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Ногдол ашиг нь тогтмол өсөлттэй энгийн хувьцааны үнэлгээний загвар</a:t>
            </a:r>
          </a:p>
          <a:p>
            <a:pPr marL="84455" marR="132080" indent="0" algn="just">
              <a:spcBef>
                <a:spcPts val="0"/>
              </a:spcBef>
              <a:buFont typeface="Arial" panose="020B0604020202020204" pitchFamily="34" charset="0"/>
              <a:buNone/>
            </a:pPr>
            <a:r>
              <a:rPr lang="mn-MN" sz="23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Энэхүү үнэлгээний загвар нь давуу эрхтэй хувьцааны үнэлгээний загвартай адил юм. Өрөөр хэлбэл, давуу эрхтэй хувьцааны ногдол ашиг тэг өсөлттэй буюу тогтмол ногдол ашигтай байна гэсэн үг. </a:t>
            </a:r>
            <a:endParaRPr lang="en-US" sz="230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4225C9F-B0E1-4B0A-B4FA-295CF81F563B}"/>
                  </a:ext>
                </a:extLst>
              </p:cNvPr>
              <p:cNvSpPr txBox="1"/>
              <p:nvPr/>
            </p:nvSpPr>
            <p:spPr>
              <a:xfrm>
                <a:off x="282371" y="4046291"/>
                <a:ext cx="8394701"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solidFill>
                                <a:srgbClr val="0000FF"/>
                              </a:solidFill>
                              <a:latin typeface="Cambria Math" panose="02040503050406030204" pitchFamily="18" charset="0"/>
                            </a:rPr>
                          </m:ctrlPr>
                        </m:sSubPr>
                        <m:e>
                          <m:sSub>
                            <m:sSubPr>
                              <m:ctrlPr>
                                <a:rPr lang="en-US" sz="4000" i="1">
                                  <a:solidFill>
                                    <a:srgbClr val="0000FF"/>
                                  </a:solidFill>
                                  <a:latin typeface="Cambria Math" panose="02040503050406030204" pitchFamily="18" charset="0"/>
                                </a:rPr>
                              </m:ctrlPr>
                            </m:sSubPr>
                            <m:e>
                              <m:r>
                                <a:rPr lang="en-US" sz="4000" i="1">
                                  <a:solidFill>
                                    <a:srgbClr val="0000FF"/>
                                  </a:solidFill>
                                  <a:latin typeface="Cambria Math" panose="02040503050406030204" pitchFamily="18" charset="0"/>
                                </a:rPr>
                                <m:t>𝐷</m:t>
                              </m:r>
                            </m:e>
                            <m:sub>
                              <m:r>
                                <a:rPr lang="en-US" sz="4000" i="1">
                                  <a:solidFill>
                                    <a:srgbClr val="0000FF"/>
                                  </a:solidFill>
                                  <a:latin typeface="Cambria Math" panose="02040503050406030204" pitchFamily="18" charset="0"/>
                                </a:rPr>
                                <m:t>𝐼</m:t>
                              </m:r>
                            </m:sub>
                          </m:sSub>
                          <m:r>
                            <a:rPr lang="en-US" sz="4000" b="0" i="1" smtClean="0">
                              <a:solidFill>
                                <a:srgbClr val="0000FF"/>
                              </a:solidFill>
                              <a:latin typeface="Cambria Math" panose="02040503050406030204" pitchFamily="18" charset="0"/>
                            </a:rPr>
                            <m:t>=</m:t>
                          </m:r>
                          <m:r>
                            <a:rPr lang="en-US" sz="4000" b="0" i="1" smtClean="0">
                              <a:solidFill>
                                <a:srgbClr val="0000FF"/>
                              </a:solidFill>
                              <a:latin typeface="Cambria Math" panose="02040503050406030204" pitchFamily="18" charset="0"/>
                            </a:rPr>
                            <m:t>𝐷</m:t>
                          </m:r>
                        </m:e>
                        <m:sub>
                          <m:r>
                            <a:rPr lang="mn-MN" sz="4000" b="0" i="1" smtClean="0">
                              <a:solidFill>
                                <a:srgbClr val="0000FF"/>
                              </a:solidFill>
                              <a:latin typeface="Cambria Math" panose="02040503050406030204" pitchFamily="18" charset="0"/>
                            </a:rPr>
                            <m:t>0</m:t>
                          </m:r>
                        </m:sub>
                      </m:sSub>
                      <m:r>
                        <a:rPr lang="en-US" sz="4000" i="1" smtClean="0">
                          <a:solidFill>
                            <a:srgbClr val="0000FF"/>
                          </a:solidFill>
                          <a:latin typeface="Cambria Math" panose="02040503050406030204" pitchFamily="18" charset="0"/>
                          <a:ea typeface="Cambria Math" panose="02040503050406030204" pitchFamily="18" charset="0"/>
                        </a:rPr>
                        <m:t>∙</m:t>
                      </m:r>
                      <m:d>
                        <m:dPr>
                          <m:ctrlPr>
                            <a:rPr lang="en-US" sz="4000" i="1" smtClean="0">
                              <a:solidFill>
                                <a:srgbClr val="0000FF"/>
                              </a:solidFill>
                              <a:latin typeface="Cambria Math" panose="02040503050406030204" pitchFamily="18" charset="0"/>
                              <a:ea typeface="Cambria Math" panose="02040503050406030204" pitchFamily="18" charset="0"/>
                            </a:rPr>
                          </m:ctrlPr>
                        </m:dPr>
                        <m:e>
                          <m:r>
                            <a:rPr lang="en-US" sz="4000" b="0" i="1" smtClean="0">
                              <a:solidFill>
                                <a:srgbClr val="0000FF"/>
                              </a:solidFill>
                              <a:latin typeface="Cambria Math" panose="02040503050406030204" pitchFamily="18" charset="0"/>
                              <a:ea typeface="Cambria Math" panose="02040503050406030204" pitchFamily="18" charset="0"/>
                            </a:rPr>
                            <m:t>1+0.05</m:t>
                          </m:r>
                        </m:e>
                      </m:d>
                      <m:r>
                        <a:rPr lang="en-US" sz="4000" b="0" i="1" smtClean="0">
                          <a:solidFill>
                            <a:srgbClr val="0000FF"/>
                          </a:solidFill>
                          <a:effectLst/>
                          <a:latin typeface="Cambria Math" panose="02040503050406030204" pitchFamily="18" charset="0"/>
                          <a:ea typeface="Times New Roman" panose="02020603050405020304" pitchFamily="18" charset="0"/>
                        </a:rPr>
                        <m:t>=105 </m:t>
                      </m:r>
                      <m:r>
                        <a:rPr lang="mn-MN" sz="4000" b="0" i="1" smtClean="0">
                          <a:solidFill>
                            <a:srgbClr val="0000FF"/>
                          </a:solidFill>
                          <a:effectLst/>
                          <a:latin typeface="Cambria Math" panose="02040503050406030204" pitchFamily="18" charset="0"/>
                          <a:ea typeface="Times New Roman" panose="02020603050405020304" pitchFamily="18" charset="0"/>
                        </a:rPr>
                        <m:t>төгрөг</m:t>
                      </m:r>
                    </m:oMath>
                  </m:oMathPara>
                </a14:m>
                <a:endParaRPr lang="en-US" sz="4000" dirty="0">
                  <a:solidFill>
                    <a:srgbClr val="0000FF"/>
                  </a:solidFill>
                </a:endParaRPr>
              </a:p>
            </p:txBody>
          </p:sp>
        </mc:Choice>
        <mc:Fallback xmlns="">
          <p:sp>
            <p:nvSpPr>
              <p:cNvPr id="20" name="TextBox 19">
                <a:extLst>
                  <a:ext uri="{FF2B5EF4-FFF2-40B4-BE49-F238E27FC236}">
                    <a16:creationId xmlns:a16="http://schemas.microsoft.com/office/drawing/2014/main" id="{64225C9F-B0E1-4B0A-B4FA-295CF81F563B}"/>
                  </a:ext>
                </a:extLst>
              </p:cNvPr>
              <p:cNvSpPr txBox="1">
                <a:spLocks noRot="1" noChangeAspect="1" noMove="1" noResize="1" noEditPoints="1" noAdjustHandles="1" noChangeArrowheads="1" noChangeShapeType="1" noTextEdit="1"/>
              </p:cNvSpPr>
              <p:nvPr/>
            </p:nvSpPr>
            <p:spPr>
              <a:xfrm>
                <a:off x="282371" y="4046291"/>
                <a:ext cx="8394701" cy="707886"/>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679518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304212" y="16161"/>
            <a:ext cx="11474501" cy="410194"/>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Энгийн хувьцааны үнэлгээ</a:t>
            </a:r>
            <a:r>
              <a:rPr lang="en-US" sz="2400" b="1" dirty="0">
                <a:solidFill>
                  <a:srgbClr val="0000FF"/>
                </a:solidFill>
                <a:latin typeface="Times New Roman" panose="02020603050405020304" pitchFamily="18" charset="0"/>
                <a:cs typeface="Times New Roman" panose="02020603050405020304" pitchFamily="18" charset="0"/>
              </a:rPr>
              <a:t>:</a:t>
            </a:r>
            <a:r>
              <a:rPr lang="mn-MN" sz="2400" b="1" dirty="0">
                <a:solidFill>
                  <a:srgbClr val="0000FF"/>
                </a:solidFill>
                <a:latin typeface="Times New Roman" panose="02020603050405020304" pitchFamily="18" charset="0"/>
                <a:cs typeface="Times New Roman" panose="02020603050405020304" pitchFamily="18" charset="0"/>
              </a:rPr>
              <a:t>  </a:t>
            </a:r>
            <a:r>
              <a:rPr lang="mn-MN" sz="2800" b="1" dirty="0">
                <a:solidFill>
                  <a:srgbClr val="0000FF"/>
                </a:solidFill>
                <a:latin typeface="Times New Roman" panose="02020603050405020304" pitchFamily="18" charset="0"/>
                <a:cs typeface="Times New Roman" panose="02020603050405020304" pitchFamily="18" charset="0"/>
              </a:rPr>
              <a:t>Хувьсах өсөлттэй загвар </a:t>
            </a:r>
            <a:endParaRPr lang="en-US" sz="2400" b="1"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844D35D-FADC-40CD-83D0-7F8BBD6B2F5F}"/>
                  </a:ext>
                </a:extLst>
              </p:cNvPr>
              <p:cNvSpPr txBox="1"/>
              <p:nvPr/>
            </p:nvSpPr>
            <p:spPr>
              <a:xfrm>
                <a:off x="304212" y="1802101"/>
                <a:ext cx="11357396" cy="18230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4000" i="1" smtClean="0">
                              <a:solidFill>
                                <a:srgbClr val="0000FF"/>
                              </a:solidFill>
                              <a:latin typeface="Cambria Math" panose="02040503050406030204" pitchFamily="18" charset="0"/>
                            </a:rPr>
                          </m:ctrlPr>
                        </m:sSubPr>
                        <m:e>
                          <m:r>
                            <a:rPr lang="en-US" sz="4000" i="1">
                              <a:solidFill>
                                <a:srgbClr val="0000FF"/>
                              </a:solidFill>
                              <a:latin typeface="Cambria Math" panose="02040503050406030204" pitchFamily="18" charset="0"/>
                            </a:rPr>
                            <m:t>𝑃</m:t>
                          </m:r>
                        </m:e>
                        <m:sub>
                          <m:r>
                            <a:rPr lang="mn-MN" sz="4000" i="1">
                              <a:solidFill>
                                <a:srgbClr val="0000FF"/>
                              </a:solidFill>
                              <a:latin typeface="Cambria Math" panose="02040503050406030204" pitchFamily="18" charset="0"/>
                            </a:rPr>
                            <m:t>0</m:t>
                          </m:r>
                        </m:sub>
                      </m:sSub>
                      <m:r>
                        <a:rPr lang="en-US" sz="4000" i="1">
                          <a:solidFill>
                            <a:srgbClr val="0000FF"/>
                          </a:solidFill>
                          <a:latin typeface="Cambria Math" panose="02040503050406030204" pitchFamily="18" charset="0"/>
                          <a:ea typeface="Times New Roman" panose="02020603050405020304" pitchFamily="18" charset="0"/>
                        </a:rPr>
                        <m:t>=</m:t>
                      </m:r>
                      <m:nary>
                        <m:naryPr>
                          <m:chr m:val="∑"/>
                          <m:ctrlPr>
                            <a:rPr lang="en-US" sz="4000" i="1">
                              <a:solidFill>
                                <a:srgbClr val="0000FF"/>
                              </a:solidFill>
                              <a:latin typeface="Cambria Math" panose="02040503050406030204" pitchFamily="18" charset="0"/>
                            </a:rPr>
                          </m:ctrlPr>
                        </m:naryPr>
                        <m:sub>
                          <m:r>
                            <m:rPr>
                              <m:brk m:alnAt="23"/>
                            </m:rPr>
                            <a:rPr lang="en-US" sz="4000" i="1">
                              <a:solidFill>
                                <a:srgbClr val="0000FF"/>
                              </a:solidFill>
                              <a:latin typeface="Cambria Math" panose="02040503050406030204" pitchFamily="18" charset="0"/>
                            </a:rPr>
                            <m:t>𝑡</m:t>
                          </m:r>
                          <m:r>
                            <a:rPr lang="en-US" sz="4000" i="1">
                              <a:solidFill>
                                <a:srgbClr val="0000FF"/>
                              </a:solidFill>
                              <a:latin typeface="Cambria Math" panose="02040503050406030204" pitchFamily="18" charset="0"/>
                            </a:rPr>
                            <m:t>=1</m:t>
                          </m:r>
                        </m:sub>
                        <m:sup>
                          <m:r>
                            <a:rPr lang="en-US" sz="4000" b="0" i="1" smtClean="0">
                              <a:solidFill>
                                <a:srgbClr val="0000FF"/>
                              </a:solidFill>
                              <a:latin typeface="Cambria Math" panose="02040503050406030204" pitchFamily="18" charset="0"/>
                            </a:rPr>
                            <m:t>𝑇</m:t>
                          </m:r>
                        </m:sup>
                        <m:e>
                          <m:f>
                            <m:fPr>
                              <m:ctrlPr>
                                <a:rPr lang="en-US" sz="4000" i="1">
                                  <a:solidFill>
                                    <a:srgbClr val="0000FF"/>
                                  </a:solidFill>
                                  <a:latin typeface="Cambria Math" panose="02040503050406030204" pitchFamily="18" charset="0"/>
                                </a:rPr>
                              </m:ctrlPr>
                            </m:fPr>
                            <m:num>
                              <m:sSub>
                                <m:sSubPr>
                                  <m:ctrlPr>
                                    <a:rPr lang="en-US" sz="4000" i="1">
                                      <a:solidFill>
                                        <a:srgbClr val="0000FF"/>
                                      </a:solidFill>
                                      <a:latin typeface="Cambria Math" panose="02040503050406030204" pitchFamily="18" charset="0"/>
                                    </a:rPr>
                                  </m:ctrlPr>
                                </m:sSubPr>
                                <m:e>
                                  <m:r>
                                    <a:rPr lang="en-US" sz="4000" b="0" i="1" smtClean="0">
                                      <a:solidFill>
                                        <a:srgbClr val="0000FF"/>
                                      </a:solidFill>
                                      <a:latin typeface="Cambria Math" panose="02040503050406030204" pitchFamily="18" charset="0"/>
                                    </a:rPr>
                                    <m:t>𝐷</m:t>
                                  </m:r>
                                </m:e>
                                <m:sub>
                                  <m:r>
                                    <a:rPr lang="mn-MN" sz="4000" i="1">
                                      <a:solidFill>
                                        <a:srgbClr val="0000FF"/>
                                      </a:solidFill>
                                      <a:latin typeface="Cambria Math" panose="02040503050406030204" pitchFamily="18" charset="0"/>
                                    </a:rPr>
                                    <m:t>0</m:t>
                                  </m:r>
                                </m:sub>
                              </m:sSub>
                              <m:r>
                                <a:rPr lang="mn-MN" sz="4000" i="1" smtClean="0">
                                  <a:solidFill>
                                    <a:srgbClr val="0000FF"/>
                                  </a:solidFill>
                                  <a:latin typeface="Cambria Math" panose="02040503050406030204" pitchFamily="18" charset="0"/>
                                  <a:ea typeface="Cambria Math" panose="02040503050406030204" pitchFamily="18" charset="0"/>
                                </a:rPr>
                                <m:t>∙</m:t>
                              </m:r>
                              <m:sSup>
                                <m:sSupPr>
                                  <m:ctrlPr>
                                    <a:rPr lang="en-US" sz="4000" i="1">
                                      <a:solidFill>
                                        <a:srgbClr val="0000FF"/>
                                      </a:solidFill>
                                      <a:latin typeface="Cambria Math" panose="02040503050406030204" pitchFamily="18" charset="0"/>
                                    </a:rPr>
                                  </m:ctrlPr>
                                </m:sSupPr>
                                <m:e>
                                  <m:d>
                                    <m:dPr>
                                      <m:ctrlPr>
                                        <a:rPr lang="en-US" sz="4000" i="1">
                                          <a:solidFill>
                                            <a:srgbClr val="0000FF"/>
                                          </a:solidFill>
                                          <a:latin typeface="Cambria Math" panose="02040503050406030204" pitchFamily="18" charset="0"/>
                                        </a:rPr>
                                      </m:ctrlPr>
                                    </m:dPr>
                                    <m:e>
                                      <m:r>
                                        <a:rPr lang="en-US" sz="4000" i="1">
                                          <a:solidFill>
                                            <a:srgbClr val="0000FF"/>
                                          </a:solidFill>
                                          <a:latin typeface="Cambria Math" panose="02040503050406030204" pitchFamily="18" charset="0"/>
                                        </a:rPr>
                                        <m:t>1+</m:t>
                                      </m:r>
                                      <m:r>
                                        <a:rPr lang="en-US" sz="4000" b="0" i="1" smtClean="0">
                                          <a:solidFill>
                                            <a:srgbClr val="0000FF"/>
                                          </a:solidFill>
                                          <a:latin typeface="Cambria Math" panose="02040503050406030204" pitchFamily="18" charset="0"/>
                                        </a:rPr>
                                        <m:t>𝑔</m:t>
                                      </m:r>
                                    </m:e>
                                  </m:d>
                                </m:e>
                                <m:sup>
                                  <m:r>
                                    <a:rPr lang="en-US" sz="4000" i="1">
                                      <a:solidFill>
                                        <a:srgbClr val="0000FF"/>
                                      </a:solidFill>
                                      <a:latin typeface="Cambria Math" panose="02040503050406030204" pitchFamily="18" charset="0"/>
                                    </a:rPr>
                                    <m:t>𝑡</m:t>
                                  </m:r>
                                </m:sup>
                              </m:sSup>
                            </m:num>
                            <m:den>
                              <m:sSup>
                                <m:sSupPr>
                                  <m:ctrlPr>
                                    <a:rPr lang="en-US" sz="4000" i="1">
                                      <a:solidFill>
                                        <a:srgbClr val="0000FF"/>
                                      </a:solidFill>
                                      <a:latin typeface="Cambria Math" panose="02040503050406030204" pitchFamily="18" charset="0"/>
                                    </a:rPr>
                                  </m:ctrlPr>
                                </m:sSupPr>
                                <m:e>
                                  <m:d>
                                    <m:dPr>
                                      <m:ctrlPr>
                                        <a:rPr lang="en-US" sz="4000" i="1">
                                          <a:solidFill>
                                            <a:srgbClr val="0000FF"/>
                                          </a:solidFill>
                                          <a:latin typeface="Cambria Math" panose="02040503050406030204" pitchFamily="18" charset="0"/>
                                        </a:rPr>
                                      </m:ctrlPr>
                                    </m:dPr>
                                    <m:e>
                                      <m:r>
                                        <a:rPr lang="en-US" sz="4000" i="1">
                                          <a:solidFill>
                                            <a:srgbClr val="0000FF"/>
                                          </a:solidFill>
                                          <a:latin typeface="Cambria Math" panose="02040503050406030204" pitchFamily="18" charset="0"/>
                                        </a:rPr>
                                        <m:t>1+</m:t>
                                      </m:r>
                                      <m:r>
                                        <a:rPr lang="en-US" sz="4000" b="0" i="1" smtClean="0">
                                          <a:solidFill>
                                            <a:srgbClr val="0000FF"/>
                                          </a:solidFill>
                                          <a:latin typeface="Cambria Math" panose="02040503050406030204" pitchFamily="18" charset="0"/>
                                        </a:rPr>
                                        <m:t>𝑅</m:t>
                                      </m:r>
                                    </m:e>
                                  </m:d>
                                </m:e>
                                <m:sup>
                                  <m:r>
                                    <a:rPr lang="en-US" sz="4000" i="1">
                                      <a:solidFill>
                                        <a:srgbClr val="0000FF"/>
                                      </a:solidFill>
                                      <a:latin typeface="Cambria Math" panose="02040503050406030204" pitchFamily="18" charset="0"/>
                                    </a:rPr>
                                    <m:t>𝑡</m:t>
                                  </m:r>
                                </m:sup>
                              </m:sSup>
                            </m:den>
                          </m:f>
                          <m:r>
                            <a:rPr lang="en-US" sz="4000" b="0" i="1" smtClean="0">
                              <a:solidFill>
                                <a:srgbClr val="0000FF"/>
                              </a:solidFill>
                              <a:latin typeface="Cambria Math" panose="02040503050406030204" pitchFamily="18" charset="0"/>
                            </a:rPr>
                            <m:t>+</m:t>
                          </m:r>
                          <m:f>
                            <m:fPr>
                              <m:ctrlPr>
                                <a:rPr lang="en-US" sz="4000" i="1">
                                  <a:solidFill>
                                    <a:srgbClr val="0000FF"/>
                                  </a:solidFill>
                                  <a:latin typeface="Cambria Math" panose="02040503050406030204" pitchFamily="18" charset="0"/>
                                </a:rPr>
                              </m:ctrlPr>
                            </m:fPr>
                            <m:num>
                              <m:sSub>
                                <m:sSubPr>
                                  <m:ctrlPr>
                                    <a:rPr lang="en-US" sz="4000" i="1">
                                      <a:solidFill>
                                        <a:srgbClr val="0000FF"/>
                                      </a:solidFill>
                                      <a:latin typeface="Cambria Math" panose="02040503050406030204" pitchFamily="18" charset="0"/>
                                    </a:rPr>
                                  </m:ctrlPr>
                                </m:sSubPr>
                                <m:e>
                                  <m:r>
                                    <a:rPr lang="en-US" sz="4000" i="1">
                                      <a:solidFill>
                                        <a:srgbClr val="0000FF"/>
                                      </a:solidFill>
                                      <a:latin typeface="Cambria Math" panose="02040503050406030204" pitchFamily="18" charset="0"/>
                                    </a:rPr>
                                    <m:t>𝐷</m:t>
                                  </m:r>
                                </m:e>
                                <m:sub>
                                  <m:r>
                                    <a:rPr lang="en-US" sz="4000" b="0" i="1" smtClean="0">
                                      <a:solidFill>
                                        <a:srgbClr val="0000FF"/>
                                      </a:solidFill>
                                      <a:latin typeface="Cambria Math" panose="02040503050406030204" pitchFamily="18" charset="0"/>
                                    </a:rPr>
                                    <m:t>𝑛</m:t>
                                  </m:r>
                                </m:sub>
                              </m:sSub>
                              <m:r>
                                <a:rPr lang="mn-MN" sz="4000" i="1">
                                  <a:solidFill>
                                    <a:srgbClr val="0000FF"/>
                                  </a:solidFill>
                                  <a:latin typeface="Cambria Math" panose="02040503050406030204" pitchFamily="18" charset="0"/>
                                  <a:ea typeface="Cambria Math" panose="02040503050406030204" pitchFamily="18" charset="0"/>
                                </a:rPr>
                                <m:t>∙</m:t>
                              </m:r>
                              <m:d>
                                <m:dPr>
                                  <m:ctrlPr>
                                    <a:rPr lang="mn-MN" sz="4000" i="1" smtClean="0">
                                      <a:solidFill>
                                        <a:srgbClr val="0000FF"/>
                                      </a:solidFill>
                                      <a:latin typeface="Cambria Math" panose="02040503050406030204" pitchFamily="18" charset="0"/>
                                      <a:ea typeface="Cambria Math" panose="02040503050406030204" pitchFamily="18" charset="0"/>
                                    </a:rPr>
                                  </m:ctrlPr>
                                </m:dPr>
                                <m:e>
                                  <m:r>
                                    <a:rPr lang="en-US" sz="4000" i="1">
                                      <a:solidFill>
                                        <a:srgbClr val="0000FF"/>
                                      </a:solidFill>
                                      <a:latin typeface="Cambria Math" panose="02040503050406030204" pitchFamily="18" charset="0"/>
                                    </a:rPr>
                                    <m:t>1+</m:t>
                                  </m:r>
                                  <m:sSub>
                                    <m:sSubPr>
                                      <m:ctrlPr>
                                        <a:rPr lang="en-US" sz="4000" i="1">
                                          <a:solidFill>
                                            <a:srgbClr val="0000FF"/>
                                          </a:solidFill>
                                          <a:latin typeface="Cambria Math" panose="02040503050406030204" pitchFamily="18" charset="0"/>
                                        </a:rPr>
                                      </m:ctrlPr>
                                    </m:sSubPr>
                                    <m:e>
                                      <m:r>
                                        <a:rPr lang="en-US" sz="4000" i="1">
                                          <a:solidFill>
                                            <a:srgbClr val="0000FF"/>
                                          </a:solidFill>
                                          <a:latin typeface="Cambria Math" panose="02040503050406030204" pitchFamily="18" charset="0"/>
                                        </a:rPr>
                                        <m:t>𝑔</m:t>
                                      </m:r>
                                    </m:e>
                                    <m:sub>
                                      <m:r>
                                        <a:rPr lang="en-US" sz="4000" i="1">
                                          <a:solidFill>
                                            <a:srgbClr val="0000FF"/>
                                          </a:solidFill>
                                          <a:latin typeface="Cambria Math" panose="02040503050406030204" pitchFamily="18" charset="0"/>
                                        </a:rPr>
                                        <m:t>𝑐</m:t>
                                      </m:r>
                                    </m:sub>
                                  </m:sSub>
                                </m:e>
                              </m:d>
                            </m:num>
                            <m:den>
                              <m:d>
                                <m:dPr>
                                  <m:ctrlPr>
                                    <a:rPr lang="en-US" sz="4000" i="1" smtClean="0">
                                      <a:solidFill>
                                        <a:srgbClr val="0000FF"/>
                                      </a:solidFill>
                                      <a:latin typeface="Cambria Math" panose="02040503050406030204" pitchFamily="18" charset="0"/>
                                    </a:rPr>
                                  </m:ctrlPr>
                                </m:dPr>
                                <m:e>
                                  <m:r>
                                    <a:rPr lang="en-US" sz="4000" i="1">
                                      <a:solidFill>
                                        <a:srgbClr val="0000FF"/>
                                      </a:solidFill>
                                      <a:latin typeface="Cambria Math" panose="02040503050406030204" pitchFamily="18" charset="0"/>
                                    </a:rPr>
                                    <m:t>𝑅</m:t>
                                  </m:r>
                                  <m:r>
                                    <a:rPr lang="en-US" sz="4000" i="1">
                                      <a:solidFill>
                                        <a:srgbClr val="0000FF"/>
                                      </a:solidFill>
                                      <a:latin typeface="Cambria Math" panose="02040503050406030204" pitchFamily="18" charset="0"/>
                                    </a:rPr>
                                    <m:t>−</m:t>
                                  </m:r>
                                  <m:sSub>
                                    <m:sSubPr>
                                      <m:ctrlPr>
                                        <a:rPr lang="en-US" sz="4000" i="1">
                                          <a:solidFill>
                                            <a:srgbClr val="0000FF"/>
                                          </a:solidFill>
                                          <a:latin typeface="Cambria Math" panose="02040503050406030204" pitchFamily="18" charset="0"/>
                                        </a:rPr>
                                      </m:ctrlPr>
                                    </m:sSubPr>
                                    <m:e>
                                      <m:r>
                                        <a:rPr lang="en-US" sz="4000" i="1">
                                          <a:solidFill>
                                            <a:srgbClr val="0000FF"/>
                                          </a:solidFill>
                                          <a:latin typeface="Cambria Math" panose="02040503050406030204" pitchFamily="18" charset="0"/>
                                        </a:rPr>
                                        <m:t>𝑔</m:t>
                                      </m:r>
                                    </m:e>
                                    <m:sub>
                                      <m:r>
                                        <a:rPr lang="en-US" sz="4000" i="1">
                                          <a:solidFill>
                                            <a:srgbClr val="0000FF"/>
                                          </a:solidFill>
                                          <a:latin typeface="Cambria Math" panose="02040503050406030204" pitchFamily="18" charset="0"/>
                                        </a:rPr>
                                        <m:t>𝑐</m:t>
                                      </m:r>
                                    </m:sub>
                                  </m:sSub>
                                </m:e>
                              </m:d>
                            </m:den>
                          </m:f>
                          <m:r>
                            <a:rPr lang="en-US" sz="4000" i="1" smtClean="0">
                              <a:solidFill>
                                <a:srgbClr val="0000FF"/>
                              </a:solidFill>
                              <a:latin typeface="Cambria Math" panose="02040503050406030204" pitchFamily="18" charset="0"/>
                              <a:ea typeface="Cambria Math" panose="02040503050406030204" pitchFamily="18" charset="0"/>
                            </a:rPr>
                            <m:t>∙</m:t>
                          </m:r>
                          <m:f>
                            <m:fPr>
                              <m:ctrlPr>
                                <a:rPr lang="en-US" sz="4000" i="1">
                                  <a:solidFill>
                                    <a:srgbClr val="0000FF"/>
                                  </a:solidFill>
                                  <a:latin typeface="Cambria Math" panose="02040503050406030204" pitchFamily="18" charset="0"/>
                                </a:rPr>
                              </m:ctrlPr>
                            </m:fPr>
                            <m:num>
                              <m:r>
                                <a:rPr lang="en-US" sz="4000" b="0" i="1" smtClean="0">
                                  <a:solidFill>
                                    <a:srgbClr val="0000FF"/>
                                  </a:solidFill>
                                  <a:latin typeface="Cambria Math" panose="02040503050406030204" pitchFamily="18" charset="0"/>
                                </a:rPr>
                                <m:t>1</m:t>
                              </m:r>
                            </m:num>
                            <m:den>
                              <m:sSup>
                                <m:sSupPr>
                                  <m:ctrlPr>
                                    <a:rPr lang="en-US" sz="4000" i="1">
                                      <a:solidFill>
                                        <a:srgbClr val="0000FF"/>
                                      </a:solidFill>
                                      <a:latin typeface="Cambria Math" panose="02040503050406030204" pitchFamily="18" charset="0"/>
                                    </a:rPr>
                                  </m:ctrlPr>
                                </m:sSupPr>
                                <m:e>
                                  <m:d>
                                    <m:dPr>
                                      <m:ctrlPr>
                                        <a:rPr lang="en-US" sz="4000" i="1">
                                          <a:solidFill>
                                            <a:srgbClr val="0000FF"/>
                                          </a:solidFill>
                                          <a:latin typeface="Cambria Math" panose="02040503050406030204" pitchFamily="18" charset="0"/>
                                        </a:rPr>
                                      </m:ctrlPr>
                                    </m:dPr>
                                    <m:e>
                                      <m:r>
                                        <a:rPr lang="en-US" sz="4000" i="1">
                                          <a:solidFill>
                                            <a:srgbClr val="0000FF"/>
                                          </a:solidFill>
                                          <a:latin typeface="Cambria Math" panose="02040503050406030204" pitchFamily="18" charset="0"/>
                                        </a:rPr>
                                        <m:t>1+</m:t>
                                      </m:r>
                                      <m:r>
                                        <a:rPr lang="en-US" sz="4000" b="0" i="1" smtClean="0">
                                          <a:solidFill>
                                            <a:srgbClr val="0000FF"/>
                                          </a:solidFill>
                                          <a:latin typeface="Cambria Math" panose="02040503050406030204" pitchFamily="18" charset="0"/>
                                        </a:rPr>
                                        <m:t>𝑅</m:t>
                                      </m:r>
                                    </m:e>
                                  </m:d>
                                </m:e>
                                <m:sup>
                                  <m:r>
                                    <a:rPr lang="en-US" sz="4000" b="0" i="1" smtClean="0">
                                      <a:solidFill>
                                        <a:srgbClr val="0000FF"/>
                                      </a:solidFill>
                                      <a:latin typeface="Cambria Math" panose="02040503050406030204" pitchFamily="18" charset="0"/>
                                    </a:rPr>
                                    <m:t>𝑇</m:t>
                                  </m:r>
                                </m:sup>
                              </m:sSup>
                            </m:den>
                          </m:f>
                        </m:e>
                      </m:nary>
                    </m:oMath>
                  </m:oMathPara>
                </a14:m>
                <a:endParaRPr lang="en-US" sz="2400" dirty="0">
                  <a:solidFill>
                    <a:srgbClr val="0000FF"/>
                  </a:solidFill>
                </a:endParaRPr>
              </a:p>
            </p:txBody>
          </p:sp>
        </mc:Choice>
        <mc:Fallback xmlns="">
          <p:sp>
            <p:nvSpPr>
              <p:cNvPr id="13" name="TextBox 12">
                <a:extLst>
                  <a:ext uri="{FF2B5EF4-FFF2-40B4-BE49-F238E27FC236}">
                    <a16:creationId xmlns:a16="http://schemas.microsoft.com/office/drawing/2014/main" id="{9844D35D-FADC-40CD-83D0-7F8BBD6B2F5F}"/>
                  </a:ext>
                </a:extLst>
              </p:cNvPr>
              <p:cNvSpPr txBox="1">
                <a:spLocks noRot="1" noChangeAspect="1" noMove="1" noResize="1" noEditPoints="1" noAdjustHandles="1" noChangeArrowheads="1" noChangeShapeType="1" noTextEdit="1"/>
              </p:cNvSpPr>
              <p:nvPr/>
            </p:nvSpPr>
            <p:spPr>
              <a:xfrm>
                <a:off x="304212" y="1802101"/>
                <a:ext cx="11357396" cy="182306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E84B9B36-E24A-49C5-BBCA-8686A9D2D106}"/>
                  </a:ext>
                </a:extLst>
              </p:cNvPr>
              <p:cNvSpPr txBox="1">
                <a:spLocks/>
              </p:cNvSpPr>
              <p:nvPr/>
            </p:nvSpPr>
            <p:spPr>
              <a:xfrm>
                <a:off x="304212" y="3658244"/>
                <a:ext cx="11578477" cy="2773401"/>
              </a:xfrm>
              <a:prstGeom prst="rect">
                <a:avLst/>
              </a:prstGeom>
              <a:ln>
                <a:solidFill>
                  <a:srgbClr val="00B0F0"/>
                </a:solidFill>
                <a:prstDash val="lg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None/>
                </a:pPr>
                <a14:m>
                  <m:oMath xmlns:m="http://schemas.openxmlformats.org/officeDocument/2006/math">
                    <m:sSub>
                      <m:sSubPr>
                        <m:ctrlPr>
                          <a:rPr lang="en-US" sz="3000" b="1" i="1" smtClean="0">
                            <a:solidFill>
                              <a:srgbClr val="231F20"/>
                            </a:solidFill>
                            <a:latin typeface="Cambria Math" panose="02040503050406030204" pitchFamily="18" charset="0"/>
                          </a:rPr>
                        </m:ctrlPr>
                      </m:sSubPr>
                      <m:e>
                        <m:r>
                          <a:rPr lang="en-US" sz="3000" b="1" i="1" smtClean="0">
                            <a:solidFill>
                              <a:srgbClr val="231F20"/>
                            </a:solidFill>
                            <a:latin typeface="Cambria Math" panose="02040503050406030204" pitchFamily="18" charset="0"/>
                          </a:rPr>
                          <m:t>𝑷</m:t>
                        </m:r>
                      </m:e>
                      <m:sub>
                        <m:r>
                          <a:rPr lang="en-US" sz="3000" b="1" i="1" smtClean="0">
                            <a:solidFill>
                              <a:srgbClr val="231F20"/>
                            </a:solidFill>
                            <a:latin typeface="Cambria Math" panose="02040503050406030204" pitchFamily="18" charset="0"/>
                          </a:rPr>
                          <m:t>𝟎</m:t>
                        </m:r>
                      </m:sub>
                    </m:sSub>
                  </m:oMath>
                </a14:m>
                <a:r>
                  <a:rPr lang="en-US" sz="3000" b="1" i="1" dirty="0">
                    <a:solidFill>
                      <a:srgbClr val="231F20"/>
                    </a:solidFill>
                    <a:latin typeface="Times New Roman" panose="02020603050405020304" pitchFamily="18" charset="0"/>
                    <a:ea typeface="Times New Roman" panose="02020603050405020304" pitchFamily="18" charset="0"/>
                  </a:rPr>
                  <a:t> </a:t>
                </a:r>
                <a:r>
                  <a:rPr lang="en-US" sz="3000" i="1" dirty="0">
                    <a:solidFill>
                      <a:srgbClr val="231F20"/>
                    </a:solidFill>
                    <a:latin typeface="Times New Roman" panose="02020603050405020304" pitchFamily="18" charset="0"/>
                    <a:ea typeface="Times New Roman" panose="02020603050405020304" pitchFamily="18" charset="0"/>
                  </a:rPr>
                  <a:t>- </a:t>
                </a:r>
                <a:r>
                  <a:rPr lang="mn-MN" sz="3000" dirty="0">
                    <a:solidFill>
                      <a:srgbClr val="231F20"/>
                    </a:solidFill>
                    <a:latin typeface="Times New Roman" panose="02020603050405020304" pitchFamily="18" charset="0"/>
                    <a:ea typeface="Times New Roman" panose="02020603050405020304" pitchFamily="18" charset="0"/>
                  </a:rPr>
                  <a:t>Хувьцааны одоогийн үнэлгээ</a:t>
                </a:r>
              </a:p>
              <a:p>
                <a:pPr marL="84455" marR="132080" indent="0" algn="just">
                  <a:spcBef>
                    <a:spcPts val="0"/>
                  </a:spcBef>
                  <a:buFont typeface="Arial" panose="020B0604020202020204" pitchFamily="34" charset="0"/>
                  <a:buNone/>
                </a:pPr>
                <a14:m>
                  <m:oMath xmlns:m="http://schemas.openxmlformats.org/officeDocument/2006/math">
                    <m:sSub>
                      <m:sSubPr>
                        <m:ctrlPr>
                          <a:rPr lang="en-US" sz="3000" b="1" i="1" smtClean="0">
                            <a:solidFill>
                              <a:srgbClr val="231F20"/>
                            </a:solidFill>
                            <a:latin typeface="Cambria Math" panose="02040503050406030204" pitchFamily="18" charset="0"/>
                          </a:rPr>
                        </m:ctrlPr>
                      </m:sSubPr>
                      <m:e>
                        <m:r>
                          <a:rPr lang="en-US" sz="3000" b="1" i="1" smtClean="0">
                            <a:solidFill>
                              <a:srgbClr val="231F20"/>
                            </a:solidFill>
                            <a:latin typeface="Cambria Math" panose="02040503050406030204" pitchFamily="18" charset="0"/>
                          </a:rPr>
                          <m:t>𝑫</m:t>
                        </m:r>
                      </m:e>
                      <m:sub>
                        <m:r>
                          <a:rPr lang="en-US" sz="3000" b="1" i="1" smtClean="0">
                            <a:solidFill>
                              <a:srgbClr val="231F20"/>
                            </a:solidFill>
                            <a:latin typeface="Cambria Math" panose="02040503050406030204" pitchFamily="18" charset="0"/>
                          </a:rPr>
                          <m:t>𝟎</m:t>
                        </m:r>
                      </m:sub>
                    </m:sSub>
                  </m:oMath>
                </a14:m>
                <a:r>
                  <a:rPr lang="en-US" sz="3000" b="1" i="1" dirty="0">
                    <a:solidFill>
                      <a:srgbClr val="231F20"/>
                    </a:solidFill>
                    <a:latin typeface="Times New Roman" panose="02020603050405020304" pitchFamily="18" charset="0"/>
                    <a:ea typeface="Times New Roman" panose="02020603050405020304" pitchFamily="18" charset="0"/>
                  </a:rPr>
                  <a:t> </a:t>
                </a:r>
                <a:r>
                  <a:rPr lang="mn-MN" sz="3000" i="1" dirty="0">
                    <a:solidFill>
                      <a:srgbClr val="231F20"/>
                    </a:solidFill>
                    <a:latin typeface="Times New Roman" panose="02020603050405020304" pitchFamily="18" charset="0"/>
                    <a:ea typeface="Times New Roman" panose="02020603050405020304" pitchFamily="18" charset="0"/>
                  </a:rPr>
                  <a:t>- </a:t>
                </a:r>
                <a:r>
                  <a:rPr lang="mn-MN" sz="3000" dirty="0">
                    <a:solidFill>
                      <a:srgbClr val="231F20"/>
                    </a:solidFill>
                    <a:latin typeface="Times New Roman" panose="02020603050405020304" pitchFamily="18" charset="0"/>
                    <a:ea typeface="Times New Roman" panose="02020603050405020304" pitchFamily="18" charset="0"/>
                  </a:rPr>
                  <a:t>Өмнөх жилийн ногдол ашиг</a:t>
                </a:r>
                <a:endParaRPr lang="en-US" sz="30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None/>
                </a:pPr>
                <a14:m>
                  <m:oMath xmlns:m="http://schemas.openxmlformats.org/officeDocument/2006/math">
                    <m:r>
                      <a:rPr lang="en-US" sz="3000" b="1" i="1" smtClean="0">
                        <a:solidFill>
                          <a:srgbClr val="231F20"/>
                        </a:solidFill>
                        <a:latin typeface="Cambria Math" panose="02040503050406030204" pitchFamily="18" charset="0"/>
                      </a:rPr>
                      <m:t>𝒈</m:t>
                    </m:r>
                  </m:oMath>
                </a14:m>
                <a:r>
                  <a:rPr lang="en-US" sz="3000" i="1" dirty="0">
                    <a:solidFill>
                      <a:srgbClr val="231F20"/>
                    </a:solidFill>
                    <a:latin typeface="Times New Roman" panose="02020603050405020304" pitchFamily="18" charset="0"/>
                    <a:ea typeface="Times New Roman" panose="02020603050405020304" pitchFamily="18" charset="0"/>
                  </a:rPr>
                  <a:t> - </a:t>
                </a:r>
                <a:r>
                  <a:rPr lang="mn-MN" sz="3000" dirty="0">
                    <a:solidFill>
                      <a:srgbClr val="231F20"/>
                    </a:solidFill>
                    <a:latin typeface="Times New Roman" panose="02020603050405020304" pitchFamily="18" charset="0"/>
                    <a:ea typeface="Times New Roman" panose="02020603050405020304" pitchFamily="18" charset="0"/>
                  </a:rPr>
                  <a:t>Ногдол ашгийн жирийн бус буюу хамгийн их өсөлтийн хэмжээ</a:t>
                </a:r>
                <a:endParaRPr lang="en-US" sz="30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None/>
                </a:pPr>
                <a14:m>
                  <m:oMath xmlns:m="http://schemas.openxmlformats.org/officeDocument/2006/math">
                    <m:sSub>
                      <m:sSubPr>
                        <m:ctrlPr>
                          <a:rPr lang="en-US" sz="3000" b="1" i="1" smtClean="0">
                            <a:solidFill>
                              <a:srgbClr val="231F20"/>
                            </a:solidFill>
                            <a:latin typeface="Cambria Math" panose="02040503050406030204" pitchFamily="18" charset="0"/>
                          </a:rPr>
                        </m:ctrlPr>
                      </m:sSubPr>
                      <m:e>
                        <m:r>
                          <a:rPr lang="en-US" sz="3000" b="1" i="1" smtClean="0">
                            <a:solidFill>
                              <a:srgbClr val="231F20"/>
                            </a:solidFill>
                            <a:latin typeface="Cambria Math" panose="02040503050406030204" pitchFamily="18" charset="0"/>
                          </a:rPr>
                          <m:t>𝒈</m:t>
                        </m:r>
                      </m:e>
                      <m:sub>
                        <m:r>
                          <a:rPr lang="en-US" sz="3000" b="1" i="1" smtClean="0">
                            <a:solidFill>
                              <a:srgbClr val="231F20"/>
                            </a:solidFill>
                            <a:latin typeface="Cambria Math" panose="02040503050406030204" pitchFamily="18" charset="0"/>
                          </a:rPr>
                          <m:t>𝒄</m:t>
                        </m:r>
                      </m:sub>
                    </m:sSub>
                    <m:r>
                      <a:rPr lang="en-US" sz="3000" b="1" i="1" smtClean="0">
                        <a:solidFill>
                          <a:srgbClr val="231F20"/>
                        </a:solidFill>
                        <a:latin typeface="Cambria Math" panose="02040503050406030204" pitchFamily="18" charset="0"/>
                      </a:rPr>
                      <m:t> </m:t>
                    </m:r>
                  </m:oMath>
                </a14:m>
                <a:r>
                  <a:rPr lang="en-US" sz="3000" b="1" i="1" dirty="0">
                    <a:solidFill>
                      <a:srgbClr val="231F20"/>
                    </a:solidFill>
                    <a:latin typeface="Times New Roman" panose="02020603050405020304" pitchFamily="18" charset="0"/>
                    <a:ea typeface="Times New Roman" panose="02020603050405020304" pitchFamily="18" charset="0"/>
                  </a:rPr>
                  <a:t> </a:t>
                </a:r>
                <a:r>
                  <a:rPr lang="en-US" sz="3000" i="1" dirty="0">
                    <a:solidFill>
                      <a:srgbClr val="231F20"/>
                    </a:solidFill>
                    <a:latin typeface="Times New Roman" panose="02020603050405020304" pitchFamily="18" charset="0"/>
                    <a:ea typeface="Times New Roman" panose="02020603050405020304" pitchFamily="18" charset="0"/>
                  </a:rPr>
                  <a:t>- </a:t>
                </a:r>
                <a:r>
                  <a:rPr lang="mn-MN" sz="3000" dirty="0">
                    <a:solidFill>
                      <a:srgbClr val="231F20"/>
                    </a:solidFill>
                    <a:latin typeface="Times New Roman" panose="02020603050405020304" pitchFamily="18" charset="0"/>
                    <a:ea typeface="Times New Roman" panose="02020603050405020304" pitchFamily="18" charset="0"/>
                  </a:rPr>
                  <a:t>Ногдол ашгийн тогтмол өсөлтийн хэмжээ</a:t>
                </a:r>
                <a:endParaRPr lang="en-US" sz="30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None/>
                </a:pPr>
                <a14:m>
                  <m:oMath xmlns:m="http://schemas.openxmlformats.org/officeDocument/2006/math">
                    <m:sSub>
                      <m:sSubPr>
                        <m:ctrlPr>
                          <a:rPr lang="en-US" sz="3000" b="1" i="1" smtClean="0">
                            <a:solidFill>
                              <a:srgbClr val="231F20"/>
                            </a:solidFill>
                            <a:latin typeface="Cambria Math" panose="02040503050406030204" pitchFamily="18" charset="0"/>
                          </a:rPr>
                        </m:ctrlPr>
                      </m:sSubPr>
                      <m:e>
                        <m:r>
                          <a:rPr lang="en-US" sz="3000" b="1" i="1" smtClean="0">
                            <a:solidFill>
                              <a:srgbClr val="231F20"/>
                            </a:solidFill>
                            <a:latin typeface="Cambria Math" panose="02040503050406030204" pitchFamily="18" charset="0"/>
                          </a:rPr>
                          <m:t>𝑫</m:t>
                        </m:r>
                      </m:e>
                      <m:sub>
                        <m:r>
                          <a:rPr lang="en-US" sz="3000" b="1" i="1" smtClean="0">
                            <a:solidFill>
                              <a:srgbClr val="231F20"/>
                            </a:solidFill>
                            <a:latin typeface="Cambria Math" panose="02040503050406030204" pitchFamily="18" charset="0"/>
                          </a:rPr>
                          <m:t>𝒏</m:t>
                        </m:r>
                      </m:sub>
                    </m:sSub>
                    <m:r>
                      <a:rPr lang="en-US" sz="3000" b="1" i="1" smtClean="0">
                        <a:solidFill>
                          <a:srgbClr val="231F20"/>
                        </a:solidFill>
                        <a:latin typeface="Cambria Math" panose="02040503050406030204" pitchFamily="18" charset="0"/>
                      </a:rPr>
                      <m:t> </m:t>
                    </m:r>
                  </m:oMath>
                </a14:m>
                <a:r>
                  <a:rPr lang="en-US" sz="3000" b="1" i="1" dirty="0">
                    <a:solidFill>
                      <a:srgbClr val="231F20"/>
                    </a:solidFill>
                    <a:latin typeface="Times New Roman" panose="02020603050405020304" pitchFamily="18" charset="0"/>
                    <a:ea typeface="Times New Roman" panose="02020603050405020304" pitchFamily="18" charset="0"/>
                  </a:rPr>
                  <a:t> </a:t>
                </a:r>
                <a:r>
                  <a:rPr lang="en-US" sz="3000" i="1" dirty="0">
                    <a:solidFill>
                      <a:srgbClr val="231F20"/>
                    </a:solidFill>
                    <a:latin typeface="Times New Roman" panose="02020603050405020304" pitchFamily="18" charset="0"/>
                    <a:ea typeface="Times New Roman" panose="02020603050405020304" pitchFamily="18" charset="0"/>
                  </a:rPr>
                  <a:t>- </a:t>
                </a:r>
                <a:r>
                  <a:rPr lang="mn-MN" sz="3000" dirty="0">
                    <a:solidFill>
                      <a:srgbClr val="231F20"/>
                    </a:solidFill>
                    <a:latin typeface="Times New Roman" panose="02020603050405020304" pitchFamily="18" charset="0"/>
                    <a:ea typeface="Times New Roman" panose="02020603050405020304" pitchFamily="18" charset="0"/>
                  </a:rPr>
                  <a:t>Тооцогдох хугацааны сүүлийн жилийн ногдол ашиг</a:t>
                </a:r>
                <a:endParaRPr lang="en-US" sz="30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None/>
                </a:pPr>
                <a14:m>
                  <m:oMath xmlns:m="http://schemas.openxmlformats.org/officeDocument/2006/math">
                    <m:r>
                      <a:rPr lang="en-US" sz="3000" b="1" i="1" smtClean="0">
                        <a:solidFill>
                          <a:srgbClr val="231F20"/>
                        </a:solidFill>
                        <a:latin typeface="Cambria Math" panose="02040503050406030204" pitchFamily="18" charset="0"/>
                        <a:ea typeface="Times New Roman" panose="02020603050405020304" pitchFamily="18" charset="0"/>
                      </a:rPr>
                      <m:t>𝑻</m:t>
                    </m:r>
                    <m:r>
                      <a:rPr lang="en-US" sz="3000" b="0" i="1" smtClean="0">
                        <a:solidFill>
                          <a:srgbClr val="231F20"/>
                        </a:solidFill>
                        <a:latin typeface="Cambria Math" panose="02040503050406030204" pitchFamily="18" charset="0"/>
                        <a:ea typeface="Times New Roman" panose="02020603050405020304" pitchFamily="18" charset="0"/>
                      </a:rPr>
                      <m:t> </m:t>
                    </m:r>
                  </m:oMath>
                </a14:m>
                <a:r>
                  <a:rPr lang="mn-MN" sz="3000" i="1" dirty="0">
                    <a:solidFill>
                      <a:srgbClr val="231F20"/>
                    </a:solidFill>
                    <a:latin typeface="Times New Roman" panose="02020603050405020304" pitchFamily="18" charset="0"/>
                    <a:ea typeface="Times New Roman" panose="02020603050405020304" pitchFamily="18" charset="0"/>
                  </a:rPr>
                  <a:t> - </a:t>
                </a:r>
                <a:r>
                  <a:rPr lang="mn-MN" sz="3000" dirty="0">
                    <a:solidFill>
                      <a:srgbClr val="231F20"/>
                    </a:solidFill>
                    <a:latin typeface="Times New Roman" panose="02020603050405020304" pitchFamily="18" charset="0"/>
                    <a:ea typeface="Times New Roman" panose="02020603050405020304" pitchFamily="18" charset="0"/>
                  </a:rPr>
                  <a:t>Хугацаа буюу жилийн тоо</a:t>
                </a:r>
                <a:endParaRPr lang="en-US" sz="30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None/>
                </a:pPr>
                <a14:m>
                  <m:oMath xmlns:m="http://schemas.openxmlformats.org/officeDocument/2006/math">
                    <m:r>
                      <a:rPr lang="en-US" sz="3000" b="1" i="1">
                        <a:solidFill>
                          <a:srgbClr val="231F20"/>
                        </a:solidFill>
                        <a:latin typeface="Cambria Math" panose="02040503050406030204" pitchFamily="18" charset="0"/>
                      </a:rPr>
                      <m:t>𝑹</m:t>
                    </m:r>
                    <m:r>
                      <a:rPr lang="en-US" sz="3000" b="1" i="1" smtClean="0">
                        <a:solidFill>
                          <a:srgbClr val="231F20"/>
                        </a:solidFill>
                        <a:latin typeface="Cambria Math" panose="02040503050406030204" pitchFamily="18" charset="0"/>
                      </a:rPr>
                      <m:t> </m:t>
                    </m:r>
                  </m:oMath>
                </a14:m>
                <a:r>
                  <a:rPr lang="en-US" sz="3000" i="1" dirty="0">
                    <a:solidFill>
                      <a:srgbClr val="231F20"/>
                    </a:solidFill>
                    <a:latin typeface="Times New Roman" panose="02020603050405020304" pitchFamily="18" charset="0"/>
                    <a:ea typeface="Times New Roman" panose="02020603050405020304" pitchFamily="18" charset="0"/>
                  </a:rPr>
                  <a:t> - </a:t>
                </a:r>
                <a:r>
                  <a:rPr lang="mn-MN" sz="3000" dirty="0">
                    <a:solidFill>
                      <a:srgbClr val="231F20"/>
                    </a:solidFill>
                    <a:latin typeface="Times New Roman" panose="02020603050405020304" pitchFamily="18" charset="0"/>
                    <a:ea typeface="Times New Roman" panose="02020603050405020304" pitchFamily="18" charset="0"/>
                  </a:rPr>
                  <a:t>Хорогдуулалтын хувь буюу шаардлагатай өгөөжийн хэмжээ</a:t>
                </a:r>
                <a:endParaRPr lang="en-US" sz="3000" dirty="0">
                  <a:solidFill>
                    <a:srgbClr val="231F20"/>
                  </a:solidFill>
                  <a:latin typeface="Times New Roman" panose="02020603050405020304" pitchFamily="18" charset="0"/>
                  <a:ea typeface="Times New Roman" panose="02020603050405020304" pitchFamily="18" charset="0"/>
                </a:endParaRPr>
              </a:p>
              <a:p>
                <a:pPr marL="84455" marR="132080" indent="0" algn="just">
                  <a:spcBef>
                    <a:spcPts val="0"/>
                  </a:spcBef>
                  <a:buNone/>
                </a:pPr>
                <a:endParaRPr lang="kk-KZ" sz="3000" dirty="0">
                  <a:solidFill>
                    <a:srgbClr val="231F20"/>
                  </a:solidFill>
                  <a:latin typeface="Times New Roman" panose="02020603050405020304" pitchFamily="18" charset="0"/>
                  <a:ea typeface="Times New Roman" panose="02020603050405020304" pitchFamily="18" charset="0"/>
                </a:endParaRPr>
              </a:p>
            </p:txBody>
          </p:sp>
        </mc:Choice>
        <mc:Fallback xmlns="">
          <p:sp>
            <p:nvSpPr>
              <p:cNvPr id="14" name="Content Placeholder 2">
                <a:extLst>
                  <a:ext uri="{FF2B5EF4-FFF2-40B4-BE49-F238E27FC236}">
                    <a16:creationId xmlns:a16="http://schemas.microsoft.com/office/drawing/2014/main" id="{E84B9B36-E24A-49C5-BBCA-8686A9D2D106}"/>
                  </a:ext>
                </a:extLst>
              </p:cNvPr>
              <p:cNvSpPr txBox="1">
                <a:spLocks noRot="1" noChangeAspect="1" noMove="1" noResize="1" noEditPoints="1" noAdjustHandles="1" noChangeArrowheads="1" noChangeShapeType="1" noTextEdit="1"/>
              </p:cNvSpPr>
              <p:nvPr/>
            </p:nvSpPr>
            <p:spPr>
              <a:xfrm>
                <a:off x="304212" y="3658244"/>
                <a:ext cx="11578477" cy="2773401"/>
              </a:xfrm>
              <a:prstGeom prst="rect">
                <a:avLst/>
              </a:prstGeom>
              <a:blipFill>
                <a:blip r:embed="rId4"/>
                <a:stretch>
                  <a:fillRect t="-4158" b="-13786"/>
                </a:stretch>
              </a:blipFill>
              <a:ln>
                <a:solidFill>
                  <a:srgbClr val="00B0F0"/>
                </a:solidFill>
                <a:prstDash val="lgDash"/>
              </a:ln>
            </p:spPr>
            <p:txBody>
              <a:bodyPr/>
              <a:lstStyle/>
              <a:p>
                <a:r>
                  <a:rPr lang="en-US">
                    <a:noFill/>
                  </a:rPr>
                  <a:t> </a:t>
                </a:r>
              </a:p>
            </p:txBody>
          </p:sp>
        </mc:Fallback>
      </mc:AlternateContent>
      <p:sp>
        <p:nvSpPr>
          <p:cNvPr id="19" name="Content Placeholder 18">
            <a:extLst>
              <a:ext uri="{FF2B5EF4-FFF2-40B4-BE49-F238E27FC236}">
                <a16:creationId xmlns:a16="http://schemas.microsoft.com/office/drawing/2014/main" id="{61BADE6B-F19D-40EF-8026-FE3E2FD30C88}"/>
              </a:ext>
            </a:extLst>
          </p:cNvPr>
          <p:cNvSpPr>
            <a:spLocks noGrp="1"/>
          </p:cNvSpPr>
          <p:nvPr>
            <p:ph idx="1"/>
          </p:nvPr>
        </p:nvSpPr>
        <p:spPr>
          <a:xfrm>
            <a:off x="309311" y="426355"/>
            <a:ext cx="11578477" cy="1342666"/>
          </a:xfrm>
        </p:spPr>
        <p:txBody>
          <a:bodyPr>
            <a:noAutofit/>
          </a:bodyPr>
          <a:lstStyle/>
          <a:p>
            <a:pPr marL="84455" marR="132080" indent="0" algn="just">
              <a:spcBef>
                <a:spcPts val="0"/>
              </a:spcBef>
              <a:buFont typeface="Arial" panose="020B0604020202020204" pitchFamily="34" charset="0"/>
              <a:buNone/>
            </a:pPr>
            <a:r>
              <a:rPr lang="mn-MN" sz="26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Энэ загвараар ногдол ашиг нь тогтмол бус өсөлттэй энгийн хувьцааг үнэлдэг. Ногдол ашиг нь хэлбэлзэлтэй бол энэхүү загвараар үнийг олно. Үүнд хэвийн бус буюу хамгийн өндөр өсөлтийн хувь болон ногдол ашгийн тогтмол өсөлтийн хувийг уг загварт ашигладаг. </a:t>
            </a:r>
            <a:endParaRPr lang="en-US" sz="2600" dirty="0"/>
          </a:p>
        </p:txBody>
      </p:sp>
    </p:spTree>
    <p:extLst>
      <p:ext uri="{BB962C8B-B14F-4D97-AF65-F5344CB8AC3E}">
        <p14:creationId xmlns:p14="http://schemas.microsoft.com/office/powerpoint/2010/main" val="890033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304212" y="16161"/>
            <a:ext cx="11474501" cy="410194"/>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Энгийн хувьцааны үнэлгээ</a:t>
            </a:r>
            <a:r>
              <a:rPr lang="en-US" sz="2400" b="1" dirty="0">
                <a:solidFill>
                  <a:srgbClr val="0000FF"/>
                </a:solidFill>
                <a:latin typeface="Times New Roman" panose="02020603050405020304" pitchFamily="18" charset="0"/>
                <a:cs typeface="Times New Roman" panose="02020603050405020304" pitchFamily="18" charset="0"/>
              </a:rPr>
              <a:t>:</a:t>
            </a:r>
            <a:r>
              <a:rPr lang="mn-MN" sz="2400" b="1" dirty="0">
                <a:solidFill>
                  <a:srgbClr val="0000FF"/>
                </a:solidFill>
                <a:latin typeface="Times New Roman" panose="02020603050405020304" pitchFamily="18" charset="0"/>
                <a:cs typeface="Times New Roman" panose="02020603050405020304" pitchFamily="18" charset="0"/>
              </a:rPr>
              <a:t>  </a:t>
            </a:r>
            <a:r>
              <a:rPr lang="mn-MN" sz="2800" b="1" dirty="0">
                <a:solidFill>
                  <a:srgbClr val="0000FF"/>
                </a:solidFill>
                <a:latin typeface="Times New Roman" panose="02020603050405020304" pitchFamily="18" charset="0"/>
                <a:cs typeface="Times New Roman" panose="02020603050405020304" pitchFamily="18" charset="0"/>
              </a:rPr>
              <a:t>Хувьсах өсөлттэй загвар </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19" name="Content Placeholder 18">
            <a:extLst>
              <a:ext uri="{FF2B5EF4-FFF2-40B4-BE49-F238E27FC236}">
                <a16:creationId xmlns:a16="http://schemas.microsoft.com/office/drawing/2014/main" id="{61BADE6B-F19D-40EF-8026-FE3E2FD30C88}"/>
              </a:ext>
            </a:extLst>
          </p:cNvPr>
          <p:cNvSpPr>
            <a:spLocks noGrp="1"/>
          </p:cNvSpPr>
          <p:nvPr>
            <p:ph idx="1"/>
          </p:nvPr>
        </p:nvSpPr>
        <p:spPr>
          <a:xfrm>
            <a:off x="309311" y="426354"/>
            <a:ext cx="11578477" cy="1535795"/>
          </a:xfrm>
        </p:spPr>
        <p:txBody>
          <a:bodyPr>
            <a:noAutofit/>
          </a:bodyPr>
          <a:lstStyle/>
          <a:p>
            <a:pPr marL="84455" marR="132080" indent="0" algn="just">
              <a:spcBef>
                <a:spcPts val="0"/>
              </a:spcBef>
              <a:buFont typeface="Arial" panose="020B0604020202020204" pitchFamily="34" charset="0"/>
              <a:buNone/>
            </a:pPr>
            <a:r>
              <a:rPr lang="mn-MN" sz="2600" b="1"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Жишээ: </a:t>
            </a:r>
            <a:r>
              <a:rPr lang="mn-MN" sz="26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Компанийн одоогийн олгож байгаа ногдол ашиг 20 төгрөг, ногдол ашгийн хамгийн өндөр өсөлтийн хувь 12% бөгөөд энэ нь 5 жилд хадгалагдана. Хугацааны эцэст тогтмол 5%-аар өсөхөөр хүлээгдэж байгаа. Шаардлагатай өгөөжийн хэмжээ 10% бол уг хувьцааны үнийг тодорхойлно уу.</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8AD514A9-0119-496A-B0BD-E6C2BB976FDB}"/>
                  </a:ext>
                </a:extLst>
              </p:cNvPr>
              <p:cNvGraphicFramePr>
                <a:graphicFrameLocks noGrp="1"/>
              </p:cNvGraphicFramePr>
              <p:nvPr>
                <p:extLst>
                  <p:ext uri="{D42A27DB-BD31-4B8C-83A1-F6EECF244321}">
                    <p14:modId xmlns:p14="http://schemas.microsoft.com/office/powerpoint/2010/main" val="2897059025"/>
                  </p:ext>
                </p:extLst>
              </p:nvPr>
            </p:nvGraphicFramePr>
            <p:xfrm>
              <a:off x="517231" y="1962149"/>
              <a:ext cx="11261482" cy="3631946"/>
            </p:xfrm>
            <a:graphic>
              <a:graphicData uri="http://schemas.openxmlformats.org/drawingml/2006/table">
                <a:tbl>
                  <a:tblPr firstRow="1" bandRow="1">
                    <a:tableStyleId>{2D5ABB26-0587-4C30-8999-92F81FD0307C}</a:tableStyleId>
                  </a:tblPr>
                  <a:tblGrid>
                    <a:gridCol w="4626269">
                      <a:extLst>
                        <a:ext uri="{9D8B030D-6E8A-4147-A177-3AD203B41FA5}">
                          <a16:colId xmlns:a16="http://schemas.microsoft.com/office/drawing/2014/main" val="2191857071"/>
                        </a:ext>
                      </a:extLst>
                    </a:gridCol>
                    <a:gridCol w="1066800">
                      <a:extLst>
                        <a:ext uri="{9D8B030D-6E8A-4147-A177-3AD203B41FA5}">
                          <a16:colId xmlns:a16="http://schemas.microsoft.com/office/drawing/2014/main" val="2979984416"/>
                        </a:ext>
                      </a:extLst>
                    </a:gridCol>
                    <a:gridCol w="5568413">
                      <a:extLst>
                        <a:ext uri="{9D8B030D-6E8A-4147-A177-3AD203B41FA5}">
                          <a16:colId xmlns:a16="http://schemas.microsoft.com/office/drawing/2014/main" val="279627227"/>
                        </a:ext>
                      </a:extLst>
                    </a:gridCol>
                  </a:tblGrid>
                  <a:tr h="370840">
                    <a:tc>
                      <a:txBody>
                        <a:bodyPr/>
                        <a:lstStyle/>
                        <a:p>
                          <a14:m>
                            <m:oMath xmlns:m="http://schemas.openxmlformats.org/officeDocument/2006/math">
                              <m:sSub>
                                <m:sSubPr>
                                  <m:ctrlPr>
                                    <a:rPr lang="en-US" sz="2800" i="1" smtClean="0">
                                      <a:solidFill>
                                        <a:srgbClr val="0000FF"/>
                                      </a:solidFill>
                                      <a:latin typeface="Cambria Math" panose="02040503050406030204" pitchFamily="18" charset="0"/>
                                    </a:rPr>
                                  </m:ctrlPr>
                                </m:sSubPr>
                                <m:e>
                                  <m:r>
                                    <a:rPr lang="en-US" sz="2800" b="0" i="1" smtClean="0">
                                      <a:solidFill>
                                        <a:srgbClr val="0000FF"/>
                                      </a:solidFill>
                                      <a:latin typeface="Cambria Math" panose="02040503050406030204" pitchFamily="18" charset="0"/>
                                    </a:rPr>
                                    <m:t>𝐷</m:t>
                                  </m:r>
                                </m:e>
                                <m:sub>
                                  <m:r>
                                    <a:rPr lang="mn-MN" sz="2800" i="1">
                                      <a:solidFill>
                                        <a:srgbClr val="0000FF"/>
                                      </a:solidFill>
                                      <a:latin typeface="Cambria Math" panose="02040503050406030204" pitchFamily="18" charset="0"/>
                                    </a:rPr>
                                    <m:t>0</m:t>
                                  </m:r>
                                </m:sub>
                              </m:sSub>
                              <m:r>
                                <a:rPr lang="en-US" sz="2800" b="0" i="1" smtClean="0">
                                  <a:solidFill>
                                    <a:srgbClr val="0000FF"/>
                                  </a:solidFill>
                                  <a:latin typeface="Cambria Math" panose="02040503050406030204" pitchFamily="18" charset="0"/>
                                </a:rPr>
                                <m:t>=20 </m:t>
                              </m:r>
                              <m:r>
                                <a:rPr lang="mn-MN" sz="2800" b="0" i="1" smtClean="0">
                                  <a:solidFill>
                                    <a:srgbClr val="0000FF"/>
                                  </a:solidFill>
                                  <a:latin typeface="Cambria Math" panose="02040503050406030204" pitchFamily="18" charset="0"/>
                                </a:rPr>
                                <m:t>төгрөг</m:t>
                              </m:r>
                            </m:oMath>
                          </a14:m>
                          <a:r>
                            <a:rPr lang="mn-MN"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PVIF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Ногдол ашгийн өнөөгийн үнэ цэнэ</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7117838"/>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sz="2800" i="1" smtClean="0">
                                        <a:solidFill>
                                          <a:srgbClr val="0000FF"/>
                                        </a:solidFill>
                                        <a:latin typeface="Cambria Math" panose="02040503050406030204" pitchFamily="18" charset="0"/>
                                      </a:rPr>
                                    </m:ctrlPr>
                                  </m:sSubPr>
                                  <m:e>
                                    <m:r>
                                      <a:rPr lang="en-US" sz="2800" b="0" i="1" smtClean="0">
                                        <a:solidFill>
                                          <a:srgbClr val="0000FF"/>
                                        </a:solidFill>
                                        <a:latin typeface="Cambria Math" panose="02040503050406030204" pitchFamily="18" charset="0"/>
                                      </a:rPr>
                                      <m:t>𝐷</m:t>
                                    </m:r>
                                  </m:e>
                                  <m:sub>
                                    <m:r>
                                      <a:rPr lang="en-US" sz="2800" b="0" i="1" smtClean="0">
                                        <a:solidFill>
                                          <a:srgbClr val="0000FF"/>
                                        </a:solidFill>
                                        <a:latin typeface="Cambria Math" panose="02040503050406030204" pitchFamily="18" charset="0"/>
                                      </a:rPr>
                                      <m:t>1</m:t>
                                    </m:r>
                                  </m:sub>
                                </m:sSub>
                                <m:r>
                                  <a:rPr lang="en-US" sz="2800" b="0" i="1" smtClean="0">
                                    <a:solidFill>
                                      <a:srgbClr val="0000FF"/>
                                    </a:solidFill>
                                    <a:latin typeface="Cambria Math" panose="02040503050406030204" pitchFamily="18" charset="0"/>
                                  </a:rPr>
                                  <m:t>=20</m:t>
                                </m:r>
                                <m:r>
                                  <a:rPr lang="mn-MN" sz="2800" i="1" smtClean="0">
                                    <a:solidFill>
                                      <a:srgbClr val="0000FF"/>
                                    </a:solidFill>
                                    <a:latin typeface="Cambria Math" panose="02040503050406030204" pitchFamily="18" charset="0"/>
                                    <a:ea typeface="Cambria Math" panose="02040503050406030204" pitchFamily="18" charset="0"/>
                                  </a:rPr>
                                  <m:t>∙</m:t>
                                </m:r>
                                <m:sSup>
                                  <m:sSupPr>
                                    <m:ctrlPr>
                                      <a:rPr lang="en-US" sz="2800" i="1">
                                        <a:solidFill>
                                          <a:srgbClr val="0000FF"/>
                                        </a:solidFill>
                                        <a:latin typeface="Cambria Math" panose="02040503050406030204" pitchFamily="18" charset="0"/>
                                      </a:rPr>
                                    </m:ctrlPr>
                                  </m:sSupPr>
                                  <m:e>
                                    <m:d>
                                      <m:dPr>
                                        <m:ctrlPr>
                                          <a:rPr lang="en-US" sz="2800" i="1">
                                            <a:solidFill>
                                              <a:srgbClr val="0000FF"/>
                                            </a:solidFill>
                                            <a:latin typeface="Cambria Math" panose="02040503050406030204" pitchFamily="18" charset="0"/>
                                          </a:rPr>
                                        </m:ctrlPr>
                                      </m:dPr>
                                      <m:e>
                                        <m:r>
                                          <a:rPr lang="en-US" sz="2800" b="0" i="1" smtClean="0">
                                            <a:solidFill>
                                              <a:srgbClr val="0000FF"/>
                                            </a:solidFill>
                                            <a:latin typeface="Cambria Math" panose="02040503050406030204" pitchFamily="18" charset="0"/>
                                          </a:rPr>
                                          <m:t>1.012</m:t>
                                        </m:r>
                                      </m:e>
                                    </m:d>
                                  </m:e>
                                  <m:sup>
                                    <m:r>
                                      <a:rPr lang="en-US" sz="2800" b="0" i="1" smtClean="0">
                                        <a:solidFill>
                                          <a:srgbClr val="0000FF"/>
                                        </a:solidFill>
                                        <a:latin typeface="Cambria Math" panose="02040503050406030204" pitchFamily="18" charset="0"/>
                                      </a:rPr>
                                      <m:t>1</m:t>
                                    </m:r>
                                  </m:sup>
                                </m:sSup>
                                <m:r>
                                  <a:rPr lang="en-US" sz="2800" b="0" i="1" smtClean="0">
                                    <a:solidFill>
                                      <a:srgbClr val="0000FF"/>
                                    </a:solidFill>
                                    <a:latin typeface="Cambria Math" panose="02040503050406030204" pitchFamily="18" charset="0"/>
                                  </a:rPr>
                                  <m:t>=22.40</m:t>
                                </m:r>
                              </m:oMath>
                            </m:oMathPara>
                          </a14:m>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0.909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20.36</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1926680"/>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𝐷</m:t>
                                    </m:r>
                                  </m:e>
                                  <m:sub>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2</m:t>
                                    </m:r>
                                  </m:sub>
                                </m:sSub>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=20</m:t>
                                </m:r>
                                <m:r>
                                  <a:rPr kumimoji="0" lang="mn-MN" sz="2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sSup>
                                  <m:sSupPr>
                                    <m:ctrlPr>
                                      <a:rPr kumimoji="0" lang="en-US" sz="2800" b="0" i="1" u="none" strike="noStrike" kern="1200" cap="none" spc="0" normalizeH="0" baseline="0" noProof="0">
                                        <a:ln>
                                          <a:noFill/>
                                        </a:ln>
                                        <a:solidFill>
                                          <a:srgbClr val="0000FF"/>
                                        </a:solidFill>
                                        <a:effectLst/>
                                        <a:uLnTx/>
                                        <a:uFillTx/>
                                        <a:latin typeface="Cambria Math" panose="02040503050406030204" pitchFamily="18" charset="0"/>
                                        <a:ea typeface="+mn-ea"/>
                                        <a:cs typeface="+mn-cs"/>
                                      </a:rPr>
                                    </m:ctrlPr>
                                  </m:sSupPr>
                                  <m:e>
                                    <m:d>
                                      <m:dPr>
                                        <m:ctrlPr>
                                          <a:rPr kumimoji="0" lang="en-US" sz="2800" b="0" i="1" u="none" strike="noStrike" kern="1200" cap="none" spc="0" normalizeH="0" baseline="0" noProof="0">
                                            <a:ln>
                                              <a:noFill/>
                                            </a:ln>
                                            <a:solidFill>
                                              <a:srgbClr val="0000FF"/>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1.012</m:t>
                                        </m:r>
                                      </m:e>
                                    </m:d>
                                  </m:e>
                                  <m:sup>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2</m:t>
                                    </m:r>
                                  </m:sup>
                                </m:sSup>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=25.08</m:t>
                                </m:r>
                              </m:oMath>
                            </m:oMathPara>
                          </a14:m>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0.826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20.72</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9304890"/>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𝐷</m:t>
                                    </m:r>
                                  </m:e>
                                  <m:sub>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3</m:t>
                                    </m:r>
                                  </m:sub>
                                </m:sSub>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=20</m:t>
                                </m:r>
                                <m:r>
                                  <a:rPr kumimoji="0" lang="mn-MN" sz="2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sSup>
                                  <m:sSupPr>
                                    <m:ctrlPr>
                                      <a:rPr kumimoji="0" lang="en-US" sz="2800" b="0" i="1" u="none" strike="noStrike" kern="1200" cap="none" spc="0" normalizeH="0" baseline="0" noProof="0">
                                        <a:ln>
                                          <a:noFill/>
                                        </a:ln>
                                        <a:solidFill>
                                          <a:srgbClr val="0000FF"/>
                                        </a:solidFill>
                                        <a:effectLst/>
                                        <a:uLnTx/>
                                        <a:uFillTx/>
                                        <a:latin typeface="Cambria Math" panose="02040503050406030204" pitchFamily="18" charset="0"/>
                                        <a:ea typeface="+mn-ea"/>
                                        <a:cs typeface="+mn-cs"/>
                                      </a:rPr>
                                    </m:ctrlPr>
                                  </m:sSupPr>
                                  <m:e>
                                    <m:d>
                                      <m:dPr>
                                        <m:ctrlPr>
                                          <a:rPr kumimoji="0" lang="en-US" sz="2800" b="0" i="1" u="none" strike="noStrike" kern="1200" cap="none" spc="0" normalizeH="0" baseline="0" noProof="0">
                                            <a:ln>
                                              <a:noFill/>
                                            </a:ln>
                                            <a:solidFill>
                                              <a:srgbClr val="0000FF"/>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1.012</m:t>
                                        </m:r>
                                      </m:e>
                                    </m:d>
                                  </m:e>
                                  <m:sup>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3</m:t>
                                    </m:r>
                                  </m:sup>
                                </m:sSup>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=28.09</m:t>
                                </m:r>
                              </m:oMath>
                            </m:oMathPara>
                          </a14:m>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0.751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21.10</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445374"/>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𝐷</m:t>
                                    </m:r>
                                  </m:e>
                                  <m:sub>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4</m:t>
                                    </m:r>
                                  </m:sub>
                                </m:sSub>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=20</m:t>
                                </m:r>
                                <m:r>
                                  <a:rPr kumimoji="0" lang="mn-MN" sz="2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sSup>
                                  <m:sSupPr>
                                    <m:ctrlPr>
                                      <a:rPr kumimoji="0" lang="en-US" sz="2800" b="0" i="1" u="none" strike="noStrike" kern="1200" cap="none" spc="0" normalizeH="0" baseline="0" noProof="0">
                                        <a:ln>
                                          <a:noFill/>
                                        </a:ln>
                                        <a:solidFill>
                                          <a:srgbClr val="0000FF"/>
                                        </a:solidFill>
                                        <a:effectLst/>
                                        <a:uLnTx/>
                                        <a:uFillTx/>
                                        <a:latin typeface="Cambria Math" panose="02040503050406030204" pitchFamily="18" charset="0"/>
                                        <a:ea typeface="+mn-ea"/>
                                        <a:cs typeface="+mn-cs"/>
                                      </a:rPr>
                                    </m:ctrlPr>
                                  </m:sSupPr>
                                  <m:e>
                                    <m:d>
                                      <m:dPr>
                                        <m:ctrlPr>
                                          <a:rPr kumimoji="0" lang="en-US" sz="2800" b="0" i="1" u="none" strike="noStrike" kern="1200" cap="none" spc="0" normalizeH="0" baseline="0" noProof="0">
                                            <a:ln>
                                              <a:noFill/>
                                            </a:ln>
                                            <a:solidFill>
                                              <a:srgbClr val="0000FF"/>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1.012</m:t>
                                        </m:r>
                                      </m:e>
                                    </m:d>
                                  </m:e>
                                  <m:sup>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4</m:t>
                                    </m:r>
                                  </m:sup>
                                </m:sSup>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=31.47</m:t>
                                </m:r>
                              </m:oMath>
                            </m:oMathPara>
                          </a14:m>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0.683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21.50</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8999654"/>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𝐷</m:t>
                                    </m:r>
                                  </m:e>
                                  <m:sub>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5</m:t>
                                    </m:r>
                                  </m:sub>
                                </m:sSub>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=20</m:t>
                                </m:r>
                                <m:r>
                                  <a:rPr kumimoji="0" lang="mn-MN" sz="2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sSup>
                                  <m:sSupPr>
                                    <m:ctrlPr>
                                      <a:rPr kumimoji="0" lang="en-US" sz="2800" b="0" i="1" u="none" strike="noStrike" kern="1200" cap="none" spc="0" normalizeH="0" baseline="0" noProof="0">
                                        <a:ln>
                                          <a:noFill/>
                                        </a:ln>
                                        <a:solidFill>
                                          <a:srgbClr val="0000FF"/>
                                        </a:solidFill>
                                        <a:effectLst/>
                                        <a:uLnTx/>
                                        <a:uFillTx/>
                                        <a:latin typeface="Cambria Math" panose="02040503050406030204" pitchFamily="18" charset="0"/>
                                        <a:ea typeface="+mn-ea"/>
                                        <a:cs typeface="+mn-cs"/>
                                      </a:rPr>
                                    </m:ctrlPr>
                                  </m:sSupPr>
                                  <m:e>
                                    <m:d>
                                      <m:dPr>
                                        <m:ctrlPr>
                                          <a:rPr kumimoji="0" lang="en-US" sz="2800" b="0" i="1" u="none" strike="noStrike" kern="1200" cap="none" spc="0" normalizeH="0" baseline="0" noProof="0">
                                            <a:ln>
                                              <a:noFill/>
                                            </a:ln>
                                            <a:solidFill>
                                              <a:srgbClr val="0000FF"/>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1.012</m:t>
                                        </m:r>
                                      </m:e>
                                    </m:d>
                                  </m:e>
                                  <m:sup>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5</m:t>
                                    </m:r>
                                  </m:sup>
                                </m:sSup>
                                <m:r>
                                  <a:rPr kumimoji="0" lang="en-US" sz="2800" b="0" i="1" u="none" strike="noStrike" kern="1200" cap="none" spc="0" normalizeH="0" baseline="0" noProof="0" smtClean="0">
                                    <a:ln>
                                      <a:noFill/>
                                    </a:ln>
                                    <a:solidFill>
                                      <a:srgbClr val="0000FF"/>
                                    </a:solidFill>
                                    <a:effectLst/>
                                    <a:uLnTx/>
                                    <a:uFillTx/>
                                    <a:latin typeface="Cambria Math" panose="02040503050406030204" pitchFamily="18" charset="0"/>
                                    <a:ea typeface="+mn-ea"/>
                                    <a:cs typeface="+mn-cs"/>
                                  </a:rPr>
                                  <m:t>=35.25</m:t>
                                </m:r>
                              </m:oMath>
                            </m:oMathPara>
                          </a14:m>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0.621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21.89</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6733025"/>
                      </a:ext>
                    </a:extLst>
                  </a:tr>
                  <a:tr h="370840">
                    <a:tc>
                      <a:txBody>
                        <a:bodyPr/>
                        <a:lstStyle/>
                        <a:p>
                          <a:pPr algn="ctr"/>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b="1" dirty="0">
                              <a:solidFill>
                                <a:srgbClr val="0000FF"/>
                              </a:solidFill>
                              <a:latin typeface="Times New Roman" panose="02020603050405020304" pitchFamily="18" charset="0"/>
                              <a:cs typeface="Times New Roman" panose="02020603050405020304" pitchFamily="18" charset="0"/>
                            </a:rPr>
                            <a:t>Нийт: 105.57</a:t>
                          </a:r>
                          <a:endParaRPr lang="en-US" sz="2800" b="1"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9993394"/>
                      </a:ext>
                    </a:extLst>
                  </a:tr>
                </a:tbl>
              </a:graphicData>
            </a:graphic>
          </p:graphicFrame>
        </mc:Choice>
        <mc:Fallback xmlns="">
          <p:graphicFrame>
            <p:nvGraphicFramePr>
              <p:cNvPr id="4" name="Table 4">
                <a:extLst>
                  <a:ext uri="{FF2B5EF4-FFF2-40B4-BE49-F238E27FC236}">
                    <a16:creationId xmlns:a16="http://schemas.microsoft.com/office/drawing/2014/main" id="{8AD514A9-0119-496A-B0BD-E6C2BB976FDB}"/>
                  </a:ext>
                </a:extLst>
              </p:cNvPr>
              <p:cNvGraphicFramePr>
                <a:graphicFrameLocks noGrp="1"/>
              </p:cNvGraphicFramePr>
              <p:nvPr>
                <p:extLst>
                  <p:ext uri="{D42A27DB-BD31-4B8C-83A1-F6EECF244321}">
                    <p14:modId xmlns:p14="http://schemas.microsoft.com/office/powerpoint/2010/main" val="2897059025"/>
                  </p:ext>
                </p:extLst>
              </p:nvPr>
            </p:nvGraphicFramePr>
            <p:xfrm>
              <a:off x="517231" y="1962149"/>
              <a:ext cx="11261482" cy="3631946"/>
            </p:xfrm>
            <a:graphic>
              <a:graphicData uri="http://schemas.openxmlformats.org/drawingml/2006/table">
                <a:tbl>
                  <a:tblPr firstRow="1" bandRow="1">
                    <a:tableStyleId>{2D5ABB26-0587-4C30-8999-92F81FD0307C}</a:tableStyleId>
                  </a:tblPr>
                  <a:tblGrid>
                    <a:gridCol w="4626269">
                      <a:extLst>
                        <a:ext uri="{9D8B030D-6E8A-4147-A177-3AD203B41FA5}">
                          <a16:colId xmlns:a16="http://schemas.microsoft.com/office/drawing/2014/main" val="2191857071"/>
                        </a:ext>
                      </a:extLst>
                    </a:gridCol>
                    <a:gridCol w="1066800">
                      <a:extLst>
                        <a:ext uri="{9D8B030D-6E8A-4147-A177-3AD203B41FA5}">
                          <a16:colId xmlns:a16="http://schemas.microsoft.com/office/drawing/2014/main" val="2979984416"/>
                        </a:ext>
                      </a:extLst>
                    </a:gridCol>
                    <a:gridCol w="5568413">
                      <a:extLst>
                        <a:ext uri="{9D8B030D-6E8A-4147-A177-3AD203B41FA5}">
                          <a16:colId xmlns:a16="http://schemas.microsoft.com/office/drawing/2014/main" val="279627227"/>
                        </a:ext>
                      </a:extLst>
                    </a:gridCol>
                  </a:tblGrid>
                  <a:tr h="5181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 t="-11765" r="-143553" b="-635294"/>
                          </a:stretch>
                        </a:blipFill>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PVIF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Ногдол ашгийн өнөөгийн үнэ цэнэ</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7117838"/>
                      </a:ext>
                    </a:extLst>
                  </a:tr>
                  <a:tr h="5181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 t="-111765" r="-143553" b="-535294"/>
                          </a:stretch>
                        </a:blipFill>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0.909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20.36</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1926680"/>
                      </a:ext>
                    </a:extLst>
                  </a:tr>
                  <a:tr h="5181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 t="-209302" r="-143553" b="-429070"/>
                          </a:stretch>
                        </a:blipFill>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0.826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20.72</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9304890"/>
                      </a:ext>
                    </a:extLst>
                  </a:tr>
                  <a:tr h="5181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 t="-312941" r="-143553" b="-334118"/>
                          </a:stretch>
                        </a:blipFill>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0.751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21.10</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445374"/>
                      </a:ext>
                    </a:extLst>
                  </a:tr>
                  <a:tr h="5181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 t="-412941" r="-143553" b="-234118"/>
                          </a:stretch>
                        </a:blipFill>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0.683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21.50</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8999654"/>
                      </a:ext>
                    </a:extLst>
                  </a:tr>
                  <a:tr h="52298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 t="-506977" r="-143553" b="-131395"/>
                          </a:stretch>
                        </a:blipFill>
                      </a:tcPr>
                    </a:tc>
                    <a:tc>
                      <a:txBody>
                        <a:bodyPr/>
                        <a:lstStyle/>
                        <a:p>
                          <a:r>
                            <a:rPr lang="en-US" sz="2800" dirty="0">
                              <a:solidFill>
                                <a:srgbClr val="0000FF"/>
                              </a:solidFill>
                              <a:latin typeface="Times New Roman" panose="02020603050405020304" pitchFamily="18" charset="0"/>
                              <a:cs typeface="Times New Roman" panose="02020603050405020304" pitchFamily="18" charset="0"/>
                            </a:rPr>
                            <a:t>0.621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dirty="0">
                              <a:solidFill>
                                <a:srgbClr val="0000FF"/>
                              </a:solidFill>
                              <a:latin typeface="Times New Roman" panose="02020603050405020304" pitchFamily="18" charset="0"/>
                              <a:cs typeface="Times New Roman" panose="02020603050405020304" pitchFamily="18" charset="0"/>
                            </a:rPr>
                            <a:t>21.89</a:t>
                          </a:r>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6733025"/>
                      </a:ext>
                    </a:extLst>
                  </a:tr>
                  <a:tr h="518160">
                    <a:tc>
                      <a:txBody>
                        <a:bodyPr/>
                        <a:lstStyle/>
                        <a:p>
                          <a:pPr algn="ctr"/>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800"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mn-MN" sz="2800" b="1" dirty="0">
                              <a:solidFill>
                                <a:srgbClr val="0000FF"/>
                              </a:solidFill>
                              <a:latin typeface="Times New Roman" panose="02020603050405020304" pitchFamily="18" charset="0"/>
                              <a:cs typeface="Times New Roman" panose="02020603050405020304" pitchFamily="18" charset="0"/>
                            </a:rPr>
                            <a:t>Нийт: 105.57</a:t>
                          </a:r>
                          <a:endParaRPr lang="en-US" sz="2800" b="1" dirty="0">
                            <a:solidFill>
                              <a:srgbClr val="0000FF"/>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9993394"/>
                      </a:ext>
                    </a:extLst>
                  </a:tr>
                </a:tbl>
              </a:graphicData>
            </a:graphic>
          </p:graphicFrame>
        </mc:Fallback>
      </mc:AlternateContent>
    </p:spTree>
    <p:extLst>
      <p:ext uri="{BB962C8B-B14F-4D97-AF65-F5344CB8AC3E}">
        <p14:creationId xmlns:p14="http://schemas.microsoft.com/office/powerpoint/2010/main" val="29580401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EFF-867D-D3A5-84DD-33810E1C8323}"/>
              </a:ext>
            </a:extLst>
          </p:cNvPr>
          <p:cNvSpPr>
            <a:spLocks noGrp="1"/>
          </p:cNvSpPr>
          <p:nvPr>
            <p:ph type="title"/>
          </p:nvPr>
        </p:nvSpPr>
        <p:spPr>
          <a:xfrm>
            <a:off x="304212" y="16161"/>
            <a:ext cx="11474501" cy="410194"/>
          </a:xfrm>
        </p:spPr>
        <p:txBody>
          <a:bodyPr>
            <a:noAutofit/>
          </a:bodyPr>
          <a:lstStyle/>
          <a:p>
            <a:r>
              <a:rPr lang="mn-MN" sz="2400" b="1" dirty="0">
                <a:solidFill>
                  <a:srgbClr val="0000FF"/>
                </a:solidFill>
                <a:latin typeface="Times New Roman" panose="02020603050405020304" pitchFamily="18" charset="0"/>
                <a:cs typeface="Times New Roman" panose="02020603050405020304" pitchFamily="18" charset="0"/>
              </a:rPr>
              <a:t>Энгийн хувьцааны үнэлгээ</a:t>
            </a:r>
            <a:r>
              <a:rPr lang="en-US" sz="2400" b="1" dirty="0">
                <a:solidFill>
                  <a:srgbClr val="0000FF"/>
                </a:solidFill>
                <a:latin typeface="Times New Roman" panose="02020603050405020304" pitchFamily="18" charset="0"/>
                <a:cs typeface="Times New Roman" panose="02020603050405020304" pitchFamily="18" charset="0"/>
              </a:rPr>
              <a:t>:</a:t>
            </a:r>
            <a:r>
              <a:rPr lang="mn-MN" sz="2400" b="1" dirty="0">
                <a:solidFill>
                  <a:srgbClr val="0000FF"/>
                </a:solidFill>
                <a:latin typeface="Times New Roman" panose="02020603050405020304" pitchFamily="18" charset="0"/>
                <a:cs typeface="Times New Roman" panose="02020603050405020304" pitchFamily="18" charset="0"/>
              </a:rPr>
              <a:t>  </a:t>
            </a:r>
            <a:r>
              <a:rPr lang="mn-MN" sz="2800" b="1" dirty="0">
                <a:solidFill>
                  <a:srgbClr val="0000FF"/>
                </a:solidFill>
                <a:latin typeface="Times New Roman" panose="02020603050405020304" pitchFamily="18" charset="0"/>
                <a:cs typeface="Times New Roman" panose="02020603050405020304" pitchFamily="18" charset="0"/>
              </a:rPr>
              <a:t>Хувьсах өсөлттэй загвар </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19" name="Content Placeholder 18">
            <a:extLst>
              <a:ext uri="{FF2B5EF4-FFF2-40B4-BE49-F238E27FC236}">
                <a16:creationId xmlns:a16="http://schemas.microsoft.com/office/drawing/2014/main" id="{61BADE6B-F19D-40EF-8026-FE3E2FD30C88}"/>
              </a:ext>
            </a:extLst>
          </p:cNvPr>
          <p:cNvSpPr>
            <a:spLocks noGrp="1"/>
          </p:cNvSpPr>
          <p:nvPr>
            <p:ph idx="1"/>
          </p:nvPr>
        </p:nvSpPr>
        <p:spPr>
          <a:xfrm>
            <a:off x="309311" y="426355"/>
            <a:ext cx="11578477" cy="869046"/>
          </a:xfrm>
        </p:spPr>
        <p:txBody>
          <a:bodyPr>
            <a:noAutofit/>
          </a:bodyPr>
          <a:lstStyle/>
          <a:p>
            <a:pPr marL="84455" marR="132080" indent="0" algn="just">
              <a:spcBef>
                <a:spcPts val="0"/>
              </a:spcBef>
              <a:buFont typeface="Arial" panose="020B0604020202020204" pitchFamily="34" charset="0"/>
              <a:buNone/>
            </a:pPr>
            <a:r>
              <a:rPr lang="mn-MN" sz="26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Одоо томьёоны </a:t>
            </a:r>
            <a:r>
              <a:rPr lang="en-US" sz="26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2-</a:t>
            </a:r>
            <a:r>
              <a:rPr lang="mn-MN" sz="26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р хэсгийг бодож нийлбэрийг олбол хувьцааны үнэ гарна.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831C0B6-F21A-48FD-9098-7C39BA2A7EBF}"/>
                  </a:ext>
                </a:extLst>
              </p:cNvPr>
              <p:cNvSpPr txBox="1"/>
              <p:nvPr/>
            </p:nvSpPr>
            <p:spPr>
              <a:xfrm>
                <a:off x="304212" y="1295401"/>
                <a:ext cx="11357396" cy="17226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400" i="1" smtClean="0">
                          <a:solidFill>
                            <a:srgbClr val="0000FF"/>
                          </a:solidFill>
                          <a:latin typeface="Cambria Math" panose="02040503050406030204" pitchFamily="18" charset="0"/>
                        </a:rPr>
                        <m:t>=</m:t>
                      </m:r>
                      <m:f>
                        <m:fPr>
                          <m:ctrlPr>
                            <a:rPr lang="en-US" sz="3400" i="1">
                              <a:solidFill>
                                <a:srgbClr val="0000FF"/>
                              </a:solidFill>
                              <a:latin typeface="Cambria Math" panose="02040503050406030204" pitchFamily="18" charset="0"/>
                            </a:rPr>
                          </m:ctrlPr>
                        </m:fPr>
                        <m:num>
                          <m:sSub>
                            <m:sSubPr>
                              <m:ctrlPr>
                                <a:rPr lang="en-US" sz="3400" i="1">
                                  <a:solidFill>
                                    <a:srgbClr val="0000FF"/>
                                  </a:solidFill>
                                  <a:latin typeface="Cambria Math" panose="02040503050406030204" pitchFamily="18" charset="0"/>
                                </a:rPr>
                              </m:ctrlPr>
                            </m:sSubPr>
                            <m:e>
                              <m:r>
                                <a:rPr lang="en-US" sz="3400" i="1">
                                  <a:solidFill>
                                    <a:srgbClr val="0000FF"/>
                                  </a:solidFill>
                                  <a:latin typeface="Cambria Math" panose="02040503050406030204" pitchFamily="18" charset="0"/>
                                </a:rPr>
                                <m:t>𝐷</m:t>
                              </m:r>
                            </m:e>
                            <m:sub>
                              <m:r>
                                <a:rPr lang="en-US" sz="3400" i="1">
                                  <a:solidFill>
                                    <a:srgbClr val="0000FF"/>
                                  </a:solidFill>
                                  <a:latin typeface="Cambria Math" panose="02040503050406030204" pitchFamily="18" charset="0"/>
                                </a:rPr>
                                <m:t>𝑛</m:t>
                              </m:r>
                            </m:sub>
                          </m:sSub>
                          <m:r>
                            <a:rPr lang="mn-MN" sz="3400" i="1">
                              <a:solidFill>
                                <a:srgbClr val="0000FF"/>
                              </a:solidFill>
                              <a:latin typeface="Cambria Math" panose="02040503050406030204" pitchFamily="18" charset="0"/>
                              <a:ea typeface="Cambria Math" panose="02040503050406030204" pitchFamily="18" charset="0"/>
                            </a:rPr>
                            <m:t>∙</m:t>
                          </m:r>
                          <m:d>
                            <m:dPr>
                              <m:ctrlPr>
                                <a:rPr lang="mn-MN" sz="3400" i="1">
                                  <a:solidFill>
                                    <a:srgbClr val="0000FF"/>
                                  </a:solidFill>
                                  <a:latin typeface="Cambria Math" panose="02040503050406030204" pitchFamily="18" charset="0"/>
                                  <a:ea typeface="Cambria Math" panose="02040503050406030204" pitchFamily="18" charset="0"/>
                                </a:rPr>
                              </m:ctrlPr>
                            </m:dPr>
                            <m:e>
                              <m:r>
                                <a:rPr lang="en-US" sz="3400" i="1">
                                  <a:solidFill>
                                    <a:srgbClr val="0000FF"/>
                                  </a:solidFill>
                                  <a:latin typeface="Cambria Math" panose="02040503050406030204" pitchFamily="18" charset="0"/>
                                </a:rPr>
                                <m:t>1+</m:t>
                              </m:r>
                              <m:sSub>
                                <m:sSubPr>
                                  <m:ctrlPr>
                                    <a:rPr lang="en-US" sz="3400" i="1">
                                      <a:solidFill>
                                        <a:srgbClr val="0000FF"/>
                                      </a:solidFill>
                                      <a:latin typeface="Cambria Math" panose="02040503050406030204" pitchFamily="18" charset="0"/>
                                    </a:rPr>
                                  </m:ctrlPr>
                                </m:sSubPr>
                                <m:e>
                                  <m:r>
                                    <a:rPr lang="en-US" sz="3400" i="1">
                                      <a:solidFill>
                                        <a:srgbClr val="0000FF"/>
                                      </a:solidFill>
                                      <a:latin typeface="Cambria Math" panose="02040503050406030204" pitchFamily="18" charset="0"/>
                                    </a:rPr>
                                    <m:t>𝑔</m:t>
                                  </m:r>
                                </m:e>
                                <m:sub>
                                  <m:r>
                                    <a:rPr lang="en-US" sz="3400" i="1">
                                      <a:solidFill>
                                        <a:srgbClr val="0000FF"/>
                                      </a:solidFill>
                                      <a:latin typeface="Cambria Math" panose="02040503050406030204" pitchFamily="18" charset="0"/>
                                    </a:rPr>
                                    <m:t>𝑐</m:t>
                                  </m:r>
                                </m:sub>
                              </m:sSub>
                            </m:e>
                          </m:d>
                        </m:num>
                        <m:den>
                          <m:d>
                            <m:dPr>
                              <m:ctrlPr>
                                <a:rPr lang="en-US" sz="3400" i="1">
                                  <a:solidFill>
                                    <a:srgbClr val="0000FF"/>
                                  </a:solidFill>
                                  <a:latin typeface="Cambria Math" panose="02040503050406030204" pitchFamily="18" charset="0"/>
                                </a:rPr>
                              </m:ctrlPr>
                            </m:dPr>
                            <m:e>
                              <m:r>
                                <a:rPr lang="en-US" sz="3400" i="1">
                                  <a:solidFill>
                                    <a:srgbClr val="0000FF"/>
                                  </a:solidFill>
                                  <a:latin typeface="Cambria Math" panose="02040503050406030204" pitchFamily="18" charset="0"/>
                                </a:rPr>
                                <m:t>𝑅</m:t>
                              </m:r>
                              <m:r>
                                <a:rPr lang="en-US" sz="3400" i="1">
                                  <a:solidFill>
                                    <a:srgbClr val="0000FF"/>
                                  </a:solidFill>
                                  <a:latin typeface="Cambria Math" panose="02040503050406030204" pitchFamily="18" charset="0"/>
                                </a:rPr>
                                <m:t>−</m:t>
                              </m:r>
                              <m:sSub>
                                <m:sSubPr>
                                  <m:ctrlPr>
                                    <a:rPr lang="en-US" sz="3400" i="1">
                                      <a:solidFill>
                                        <a:srgbClr val="0000FF"/>
                                      </a:solidFill>
                                      <a:latin typeface="Cambria Math" panose="02040503050406030204" pitchFamily="18" charset="0"/>
                                    </a:rPr>
                                  </m:ctrlPr>
                                </m:sSubPr>
                                <m:e>
                                  <m:r>
                                    <a:rPr lang="en-US" sz="3400" i="1">
                                      <a:solidFill>
                                        <a:srgbClr val="0000FF"/>
                                      </a:solidFill>
                                      <a:latin typeface="Cambria Math" panose="02040503050406030204" pitchFamily="18" charset="0"/>
                                    </a:rPr>
                                    <m:t>𝑔</m:t>
                                  </m:r>
                                </m:e>
                                <m:sub>
                                  <m:r>
                                    <a:rPr lang="en-US" sz="3400" i="1">
                                      <a:solidFill>
                                        <a:srgbClr val="0000FF"/>
                                      </a:solidFill>
                                      <a:latin typeface="Cambria Math" panose="02040503050406030204" pitchFamily="18" charset="0"/>
                                    </a:rPr>
                                    <m:t>𝑐</m:t>
                                  </m:r>
                                </m:sub>
                              </m:sSub>
                            </m:e>
                          </m:d>
                        </m:den>
                      </m:f>
                      <m:r>
                        <a:rPr lang="en-US" sz="3400" i="1">
                          <a:solidFill>
                            <a:srgbClr val="0000FF"/>
                          </a:solidFill>
                          <a:latin typeface="Cambria Math" panose="02040503050406030204" pitchFamily="18" charset="0"/>
                          <a:ea typeface="Cambria Math" panose="02040503050406030204" pitchFamily="18" charset="0"/>
                        </a:rPr>
                        <m:t>∙</m:t>
                      </m:r>
                      <m:f>
                        <m:fPr>
                          <m:ctrlPr>
                            <a:rPr lang="en-US" sz="3400" i="1">
                              <a:solidFill>
                                <a:srgbClr val="0000FF"/>
                              </a:solidFill>
                              <a:latin typeface="Cambria Math" panose="02040503050406030204" pitchFamily="18" charset="0"/>
                            </a:rPr>
                          </m:ctrlPr>
                        </m:fPr>
                        <m:num>
                          <m:r>
                            <a:rPr lang="en-US" sz="3400" i="1">
                              <a:solidFill>
                                <a:srgbClr val="0000FF"/>
                              </a:solidFill>
                              <a:latin typeface="Cambria Math" panose="02040503050406030204" pitchFamily="18" charset="0"/>
                            </a:rPr>
                            <m:t>1</m:t>
                          </m:r>
                        </m:num>
                        <m:den>
                          <m:sSup>
                            <m:sSupPr>
                              <m:ctrlPr>
                                <a:rPr lang="en-US" sz="3400" i="1">
                                  <a:solidFill>
                                    <a:srgbClr val="0000FF"/>
                                  </a:solidFill>
                                  <a:latin typeface="Cambria Math" panose="02040503050406030204" pitchFamily="18" charset="0"/>
                                </a:rPr>
                              </m:ctrlPr>
                            </m:sSupPr>
                            <m:e>
                              <m:d>
                                <m:dPr>
                                  <m:ctrlPr>
                                    <a:rPr lang="en-US" sz="3400" i="1">
                                      <a:solidFill>
                                        <a:srgbClr val="0000FF"/>
                                      </a:solidFill>
                                      <a:latin typeface="Cambria Math" panose="02040503050406030204" pitchFamily="18" charset="0"/>
                                    </a:rPr>
                                  </m:ctrlPr>
                                </m:dPr>
                                <m:e>
                                  <m:r>
                                    <a:rPr lang="en-US" sz="3400" i="1">
                                      <a:solidFill>
                                        <a:srgbClr val="0000FF"/>
                                      </a:solidFill>
                                      <a:latin typeface="Cambria Math" panose="02040503050406030204" pitchFamily="18" charset="0"/>
                                    </a:rPr>
                                    <m:t>1+</m:t>
                                  </m:r>
                                  <m:r>
                                    <a:rPr lang="en-US" sz="3400" i="1">
                                      <a:solidFill>
                                        <a:srgbClr val="0000FF"/>
                                      </a:solidFill>
                                      <a:latin typeface="Cambria Math" panose="02040503050406030204" pitchFamily="18" charset="0"/>
                                    </a:rPr>
                                    <m:t>𝑅</m:t>
                                  </m:r>
                                </m:e>
                              </m:d>
                            </m:e>
                            <m:sup>
                              <m:r>
                                <a:rPr lang="en-US" sz="3400" i="1">
                                  <a:solidFill>
                                    <a:srgbClr val="0000FF"/>
                                  </a:solidFill>
                                  <a:latin typeface="Cambria Math" panose="02040503050406030204" pitchFamily="18" charset="0"/>
                                </a:rPr>
                                <m:t>𝑇</m:t>
                              </m:r>
                            </m:sup>
                          </m:sSup>
                        </m:den>
                      </m:f>
                      <m:r>
                        <a:rPr lang="en-US" sz="3400" b="0" i="1" smtClean="0">
                          <a:solidFill>
                            <a:srgbClr val="0000FF"/>
                          </a:solidFill>
                          <a:latin typeface="Cambria Math" panose="02040503050406030204" pitchFamily="18" charset="0"/>
                        </a:rPr>
                        <m:t>=</m:t>
                      </m:r>
                      <m:f>
                        <m:fPr>
                          <m:ctrlPr>
                            <a:rPr lang="en-US" sz="3400" i="1">
                              <a:solidFill>
                                <a:srgbClr val="0000FF"/>
                              </a:solidFill>
                              <a:latin typeface="Cambria Math" panose="02040503050406030204" pitchFamily="18" charset="0"/>
                            </a:rPr>
                          </m:ctrlPr>
                        </m:fPr>
                        <m:num>
                          <m:r>
                            <a:rPr lang="en-US" sz="3400" b="0" i="1" smtClean="0">
                              <a:solidFill>
                                <a:srgbClr val="0000FF"/>
                              </a:solidFill>
                              <a:latin typeface="Cambria Math" panose="02040503050406030204" pitchFamily="18" charset="0"/>
                            </a:rPr>
                            <m:t>35.25</m:t>
                          </m:r>
                          <m:r>
                            <a:rPr lang="mn-MN" sz="3400" i="1">
                              <a:solidFill>
                                <a:srgbClr val="0000FF"/>
                              </a:solidFill>
                              <a:latin typeface="Cambria Math" panose="02040503050406030204" pitchFamily="18" charset="0"/>
                              <a:ea typeface="Cambria Math" panose="02040503050406030204" pitchFamily="18" charset="0"/>
                            </a:rPr>
                            <m:t>∙</m:t>
                          </m:r>
                          <m:d>
                            <m:dPr>
                              <m:ctrlPr>
                                <a:rPr lang="mn-MN" sz="3400" i="1">
                                  <a:solidFill>
                                    <a:srgbClr val="0000FF"/>
                                  </a:solidFill>
                                  <a:latin typeface="Cambria Math" panose="02040503050406030204" pitchFamily="18" charset="0"/>
                                  <a:ea typeface="Cambria Math" panose="02040503050406030204" pitchFamily="18" charset="0"/>
                                </a:rPr>
                              </m:ctrlPr>
                            </m:dPr>
                            <m:e>
                              <m:r>
                                <a:rPr lang="en-US" sz="3400" i="1">
                                  <a:solidFill>
                                    <a:srgbClr val="0000FF"/>
                                  </a:solidFill>
                                  <a:latin typeface="Cambria Math" panose="02040503050406030204" pitchFamily="18" charset="0"/>
                                </a:rPr>
                                <m:t>1+</m:t>
                              </m:r>
                              <m:r>
                                <a:rPr lang="en-US" sz="3400" b="0" i="1" smtClean="0">
                                  <a:solidFill>
                                    <a:srgbClr val="0000FF"/>
                                  </a:solidFill>
                                  <a:latin typeface="Cambria Math" panose="02040503050406030204" pitchFamily="18" charset="0"/>
                                </a:rPr>
                                <m:t>0.05</m:t>
                              </m:r>
                            </m:e>
                          </m:d>
                        </m:num>
                        <m:den>
                          <m:d>
                            <m:dPr>
                              <m:ctrlPr>
                                <a:rPr lang="en-US" sz="3400" i="1">
                                  <a:solidFill>
                                    <a:srgbClr val="0000FF"/>
                                  </a:solidFill>
                                  <a:latin typeface="Cambria Math" panose="02040503050406030204" pitchFamily="18" charset="0"/>
                                </a:rPr>
                              </m:ctrlPr>
                            </m:dPr>
                            <m:e>
                              <m:r>
                                <a:rPr lang="en-US" sz="3400" b="0" i="1" smtClean="0">
                                  <a:solidFill>
                                    <a:srgbClr val="0000FF"/>
                                  </a:solidFill>
                                  <a:latin typeface="Cambria Math" panose="02040503050406030204" pitchFamily="18" charset="0"/>
                                </a:rPr>
                                <m:t>0.10</m:t>
                              </m:r>
                              <m:r>
                                <a:rPr lang="en-US" sz="3400" i="1">
                                  <a:solidFill>
                                    <a:srgbClr val="0000FF"/>
                                  </a:solidFill>
                                  <a:latin typeface="Cambria Math" panose="02040503050406030204" pitchFamily="18" charset="0"/>
                                </a:rPr>
                                <m:t>−</m:t>
                              </m:r>
                              <m:r>
                                <a:rPr lang="en-US" sz="3400" b="0" i="1" smtClean="0">
                                  <a:solidFill>
                                    <a:srgbClr val="0000FF"/>
                                  </a:solidFill>
                                  <a:latin typeface="Cambria Math" panose="02040503050406030204" pitchFamily="18" charset="0"/>
                                </a:rPr>
                                <m:t>0.05</m:t>
                              </m:r>
                            </m:e>
                          </m:d>
                        </m:den>
                      </m:f>
                      <m:r>
                        <a:rPr lang="en-US" sz="3400" i="1">
                          <a:solidFill>
                            <a:srgbClr val="0000FF"/>
                          </a:solidFill>
                          <a:latin typeface="Cambria Math" panose="02040503050406030204" pitchFamily="18" charset="0"/>
                          <a:ea typeface="Cambria Math" panose="02040503050406030204" pitchFamily="18" charset="0"/>
                        </a:rPr>
                        <m:t>∙</m:t>
                      </m:r>
                      <m:f>
                        <m:fPr>
                          <m:ctrlPr>
                            <a:rPr lang="en-US" sz="3400" i="1">
                              <a:solidFill>
                                <a:srgbClr val="0000FF"/>
                              </a:solidFill>
                              <a:latin typeface="Cambria Math" panose="02040503050406030204" pitchFamily="18" charset="0"/>
                            </a:rPr>
                          </m:ctrlPr>
                        </m:fPr>
                        <m:num>
                          <m:r>
                            <a:rPr lang="en-US" sz="3400" i="1">
                              <a:solidFill>
                                <a:srgbClr val="0000FF"/>
                              </a:solidFill>
                              <a:latin typeface="Cambria Math" panose="02040503050406030204" pitchFamily="18" charset="0"/>
                            </a:rPr>
                            <m:t>1</m:t>
                          </m:r>
                        </m:num>
                        <m:den>
                          <m:sSup>
                            <m:sSupPr>
                              <m:ctrlPr>
                                <a:rPr lang="en-US" sz="3400" i="1">
                                  <a:solidFill>
                                    <a:srgbClr val="0000FF"/>
                                  </a:solidFill>
                                  <a:latin typeface="Cambria Math" panose="02040503050406030204" pitchFamily="18" charset="0"/>
                                </a:rPr>
                              </m:ctrlPr>
                            </m:sSupPr>
                            <m:e>
                              <m:d>
                                <m:dPr>
                                  <m:ctrlPr>
                                    <a:rPr lang="en-US" sz="3400" i="1">
                                      <a:solidFill>
                                        <a:srgbClr val="0000FF"/>
                                      </a:solidFill>
                                      <a:latin typeface="Cambria Math" panose="02040503050406030204" pitchFamily="18" charset="0"/>
                                    </a:rPr>
                                  </m:ctrlPr>
                                </m:dPr>
                                <m:e>
                                  <m:r>
                                    <a:rPr lang="en-US" sz="3400" i="1">
                                      <a:solidFill>
                                        <a:srgbClr val="0000FF"/>
                                      </a:solidFill>
                                      <a:latin typeface="Cambria Math" panose="02040503050406030204" pitchFamily="18" charset="0"/>
                                    </a:rPr>
                                    <m:t>1+</m:t>
                                  </m:r>
                                  <m:r>
                                    <a:rPr lang="en-US" sz="3400" b="0" i="1" smtClean="0">
                                      <a:solidFill>
                                        <a:srgbClr val="0000FF"/>
                                      </a:solidFill>
                                      <a:latin typeface="Cambria Math" panose="02040503050406030204" pitchFamily="18" charset="0"/>
                                    </a:rPr>
                                    <m:t>0.10</m:t>
                                  </m:r>
                                </m:e>
                              </m:d>
                            </m:e>
                            <m:sup>
                              <m:r>
                                <a:rPr lang="en-US" sz="3400" b="0" i="1" smtClean="0">
                                  <a:solidFill>
                                    <a:srgbClr val="0000FF"/>
                                  </a:solidFill>
                                  <a:latin typeface="Cambria Math" panose="02040503050406030204" pitchFamily="18" charset="0"/>
                                </a:rPr>
                                <m:t>5</m:t>
                              </m:r>
                            </m:sup>
                          </m:sSup>
                        </m:den>
                      </m:f>
                      <m:r>
                        <a:rPr lang="en-US" sz="3400" i="1">
                          <a:solidFill>
                            <a:srgbClr val="0000FF"/>
                          </a:solidFill>
                          <a:latin typeface="Cambria Math" panose="02040503050406030204" pitchFamily="18" charset="0"/>
                        </a:rPr>
                        <m:t>=</m:t>
                      </m:r>
                      <m:r>
                        <a:rPr lang="en-US" sz="3400" b="0" i="1" smtClean="0">
                          <a:solidFill>
                            <a:srgbClr val="0000FF"/>
                          </a:solidFill>
                          <a:latin typeface="Cambria Math" panose="02040503050406030204" pitchFamily="18" charset="0"/>
                        </a:rPr>
                        <m:t>740.25</m:t>
                      </m:r>
                      <m:r>
                        <a:rPr lang="en-US" sz="3400" b="0" i="1" smtClean="0">
                          <a:solidFill>
                            <a:srgbClr val="0000FF"/>
                          </a:solidFill>
                          <a:latin typeface="Cambria Math" panose="02040503050406030204" pitchFamily="18" charset="0"/>
                          <a:ea typeface="Cambria Math" panose="02040503050406030204" pitchFamily="18" charset="0"/>
                        </a:rPr>
                        <m:t>∙</m:t>
                      </m:r>
                      <m:d>
                        <m:dPr>
                          <m:ctrlPr>
                            <a:rPr lang="en-US" sz="3400" b="0" i="1" smtClean="0">
                              <a:solidFill>
                                <a:srgbClr val="0000FF"/>
                              </a:solidFill>
                              <a:latin typeface="Cambria Math" panose="02040503050406030204" pitchFamily="18" charset="0"/>
                              <a:ea typeface="Cambria Math" panose="02040503050406030204" pitchFamily="18" charset="0"/>
                            </a:rPr>
                          </m:ctrlPr>
                        </m:dPr>
                        <m:e>
                          <m:r>
                            <a:rPr lang="en-US" sz="3400" b="0" i="1" smtClean="0">
                              <a:solidFill>
                                <a:srgbClr val="0000FF"/>
                              </a:solidFill>
                              <a:latin typeface="Cambria Math" panose="02040503050406030204" pitchFamily="18" charset="0"/>
                              <a:ea typeface="Cambria Math" panose="02040503050406030204" pitchFamily="18" charset="0"/>
                            </a:rPr>
                            <m:t>0.621</m:t>
                          </m:r>
                        </m:e>
                      </m:d>
                      <m:r>
                        <a:rPr lang="en-US" sz="3400" b="0" i="1" smtClean="0">
                          <a:solidFill>
                            <a:srgbClr val="0000FF"/>
                          </a:solidFill>
                          <a:latin typeface="Cambria Math" panose="02040503050406030204" pitchFamily="18" charset="0"/>
                          <a:ea typeface="Cambria Math" panose="02040503050406030204" pitchFamily="18" charset="0"/>
                        </a:rPr>
                        <m:t>=459.70 </m:t>
                      </m:r>
                      <m:r>
                        <a:rPr lang="mn-MN" sz="3400" b="0" i="1" smtClean="0">
                          <a:solidFill>
                            <a:srgbClr val="0000FF"/>
                          </a:solidFill>
                          <a:latin typeface="Cambria Math" panose="02040503050406030204" pitchFamily="18" charset="0"/>
                          <a:ea typeface="Cambria Math" panose="02040503050406030204" pitchFamily="18" charset="0"/>
                        </a:rPr>
                        <m:t>төгрөг болно.</m:t>
                      </m:r>
                    </m:oMath>
                  </m:oMathPara>
                </a14:m>
                <a:endParaRPr lang="en-US" sz="3400" dirty="0">
                  <a:solidFill>
                    <a:srgbClr val="0000FF"/>
                  </a:solidFill>
                </a:endParaRPr>
              </a:p>
            </p:txBody>
          </p:sp>
        </mc:Choice>
        <mc:Fallback xmlns="">
          <p:sp>
            <p:nvSpPr>
              <p:cNvPr id="5" name="TextBox 4">
                <a:extLst>
                  <a:ext uri="{FF2B5EF4-FFF2-40B4-BE49-F238E27FC236}">
                    <a16:creationId xmlns:a16="http://schemas.microsoft.com/office/drawing/2014/main" id="{E831C0B6-F21A-48FD-9098-7C39BA2A7EBF}"/>
                  </a:ext>
                </a:extLst>
              </p:cNvPr>
              <p:cNvSpPr txBox="1">
                <a:spLocks noRot="1" noChangeAspect="1" noMove="1" noResize="1" noEditPoints="1" noAdjustHandles="1" noChangeArrowheads="1" noChangeShapeType="1" noTextEdit="1"/>
              </p:cNvSpPr>
              <p:nvPr/>
            </p:nvSpPr>
            <p:spPr>
              <a:xfrm>
                <a:off x="304212" y="1295401"/>
                <a:ext cx="11357396" cy="172265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003168A-E590-4EC3-9C74-8BE2B4A61630}"/>
                  </a:ext>
                </a:extLst>
              </p:cNvPr>
              <p:cNvSpPr txBox="1"/>
              <p:nvPr/>
            </p:nvSpPr>
            <p:spPr>
              <a:xfrm>
                <a:off x="530392" y="3271545"/>
                <a:ext cx="11357396"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i="1" smtClean="0">
                              <a:solidFill>
                                <a:srgbClr val="0000FF"/>
                              </a:solidFill>
                              <a:latin typeface="Cambria Math" panose="02040503050406030204" pitchFamily="18" charset="0"/>
                            </a:rPr>
                          </m:ctrlPr>
                        </m:sSubPr>
                        <m:e>
                          <m:r>
                            <a:rPr lang="en-US" sz="3600" b="0" i="1" smtClean="0">
                              <a:solidFill>
                                <a:srgbClr val="0000FF"/>
                              </a:solidFill>
                              <a:latin typeface="Cambria Math" panose="02040503050406030204" pitchFamily="18" charset="0"/>
                            </a:rPr>
                            <m:t>𝑃</m:t>
                          </m:r>
                        </m:e>
                        <m:sub>
                          <m:r>
                            <a:rPr lang="en-US" sz="3600" b="0" i="1" smtClean="0">
                              <a:solidFill>
                                <a:srgbClr val="0000FF"/>
                              </a:solidFill>
                              <a:latin typeface="Cambria Math" panose="02040503050406030204" pitchFamily="18" charset="0"/>
                            </a:rPr>
                            <m:t>0</m:t>
                          </m:r>
                        </m:sub>
                      </m:sSub>
                      <m:r>
                        <a:rPr lang="en-US" sz="3600" i="1">
                          <a:solidFill>
                            <a:srgbClr val="0000FF"/>
                          </a:solidFill>
                          <a:latin typeface="Cambria Math" panose="02040503050406030204" pitchFamily="18" charset="0"/>
                        </a:rPr>
                        <m:t> =</m:t>
                      </m:r>
                      <m:r>
                        <a:rPr lang="en-US" sz="3600" b="0" i="1" smtClean="0">
                          <a:solidFill>
                            <a:srgbClr val="0000FF"/>
                          </a:solidFill>
                          <a:latin typeface="Cambria Math" panose="02040503050406030204" pitchFamily="18" charset="0"/>
                        </a:rPr>
                        <m:t>105.57+</m:t>
                      </m:r>
                      <m:r>
                        <a:rPr lang="en-US" sz="3600" b="0" i="1" smtClean="0">
                          <a:solidFill>
                            <a:srgbClr val="0000FF"/>
                          </a:solidFill>
                          <a:latin typeface="Cambria Math" panose="02040503050406030204" pitchFamily="18" charset="0"/>
                          <a:ea typeface="Cambria Math" panose="02040503050406030204" pitchFamily="18" charset="0"/>
                        </a:rPr>
                        <m:t>459.70=565.27 </m:t>
                      </m:r>
                      <m:r>
                        <a:rPr lang="mn-MN" sz="3600" b="0" i="1" smtClean="0">
                          <a:solidFill>
                            <a:srgbClr val="0000FF"/>
                          </a:solidFill>
                          <a:latin typeface="Cambria Math" panose="02040503050406030204" pitchFamily="18" charset="0"/>
                          <a:ea typeface="Cambria Math" panose="02040503050406030204" pitchFamily="18" charset="0"/>
                        </a:rPr>
                        <m:t>төгрөг.</m:t>
                      </m:r>
                    </m:oMath>
                  </m:oMathPara>
                </a14:m>
                <a:endParaRPr lang="en-US" sz="3600" dirty="0">
                  <a:solidFill>
                    <a:srgbClr val="0000FF"/>
                  </a:solidFill>
                </a:endParaRPr>
              </a:p>
            </p:txBody>
          </p:sp>
        </mc:Choice>
        <mc:Fallback xmlns="">
          <p:sp>
            <p:nvSpPr>
              <p:cNvPr id="6" name="TextBox 5">
                <a:extLst>
                  <a:ext uri="{FF2B5EF4-FFF2-40B4-BE49-F238E27FC236}">
                    <a16:creationId xmlns:a16="http://schemas.microsoft.com/office/drawing/2014/main" id="{F003168A-E590-4EC3-9C74-8BE2B4A61630}"/>
                  </a:ext>
                </a:extLst>
              </p:cNvPr>
              <p:cNvSpPr txBox="1">
                <a:spLocks noRot="1" noChangeAspect="1" noMove="1" noResize="1" noEditPoints="1" noAdjustHandles="1" noChangeArrowheads="1" noChangeShapeType="1" noTextEdit="1"/>
              </p:cNvSpPr>
              <p:nvPr/>
            </p:nvSpPr>
            <p:spPr>
              <a:xfrm>
                <a:off x="530392" y="3271545"/>
                <a:ext cx="11357396" cy="646331"/>
              </a:xfrm>
              <a:prstGeom prst="rect">
                <a:avLst/>
              </a:prstGeom>
              <a:blipFill>
                <a:blip r:embed="rId4"/>
                <a:stretch>
                  <a:fillRect/>
                </a:stretch>
              </a:blipFill>
            </p:spPr>
            <p:txBody>
              <a:bodyPr/>
              <a:lstStyle/>
              <a:p>
                <a:r>
                  <a:rPr lang="en-US">
                    <a:noFill/>
                  </a:rPr>
                  <a:t> </a:t>
                </a:r>
              </a:p>
            </p:txBody>
          </p:sp>
        </mc:Fallback>
      </mc:AlternateContent>
      <p:sp>
        <p:nvSpPr>
          <p:cNvPr id="7" name="Content Placeholder 18">
            <a:extLst>
              <a:ext uri="{FF2B5EF4-FFF2-40B4-BE49-F238E27FC236}">
                <a16:creationId xmlns:a16="http://schemas.microsoft.com/office/drawing/2014/main" id="{C8A75833-CD3C-4CB0-8CCA-3A2C5E42D641}"/>
              </a:ext>
            </a:extLst>
          </p:cNvPr>
          <p:cNvSpPr txBox="1">
            <a:spLocks/>
          </p:cNvSpPr>
          <p:nvPr/>
        </p:nvSpPr>
        <p:spPr>
          <a:xfrm>
            <a:off x="419851" y="3887098"/>
            <a:ext cx="11578477" cy="8690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455" marR="132080" indent="0" algn="just">
              <a:spcBef>
                <a:spcPts val="0"/>
              </a:spcBef>
              <a:buFont typeface="Arial" panose="020B0604020202020204" pitchFamily="34" charset="0"/>
              <a:buNone/>
            </a:pPr>
            <a:r>
              <a:rPr lang="mn-MN" sz="26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Уг хувьцааны үнэ хувьсах өсөлттэй үнэлгээний загвараар </a:t>
            </a:r>
            <a:r>
              <a:rPr lang="mn-MN" sz="32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565.27</a:t>
            </a:r>
            <a:r>
              <a:rPr lang="mn-MN" sz="26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төгрөг гэж тодорхойлогдож байна.</a:t>
            </a:r>
          </a:p>
        </p:txBody>
      </p:sp>
    </p:spTree>
    <p:extLst>
      <p:ext uri="{BB962C8B-B14F-4D97-AF65-F5344CB8AC3E}">
        <p14:creationId xmlns:p14="http://schemas.microsoft.com/office/powerpoint/2010/main" val="9133286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B41F-4F25-DAC4-4BE2-819D109D2F55}"/>
              </a:ext>
            </a:extLst>
          </p:cNvPr>
          <p:cNvSpPr>
            <a:spLocks noGrp="1"/>
          </p:cNvSpPr>
          <p:nvPr>
            <p:ph type="title"/>
          </p:nvPr>
        </p:nvSpPr>
        <p:spPr>
          <a:xfrm>
            <a:off x="117989" y="70165"/>
            <a:ext cx="11956022" cy="559103"/>
          </a:xfrm>
        </p:spPr>
        <p:txBody>
          <a:bodyPr>
            <a:normAutofit fontScale="90000"/>
          </a:bodyPr>
          <a:lstStyle/>
          <a:p>
            <a:pPr algn="just">
              <a:spcBef>
                <a:spcPts val="400"/>
              </a:spcBef>
            </a:pPr>
            <a:r>
              <a:rPr lang="mn-MN" b="1" dirty="0">
                <a:solidFill>
                  <a:srgbClr val="002060"/>
                </a:solidFill>
                <a:latin typeface="Times New Roman" panose="02020603050405020304" pitchFamily="18" charset="0"/>
                <a:cs typeface="Times New Roman" panose="02020603050405020304" pitchFamily="18" charset="0"/>
              </a:rPr>
              <a:t>Хөрөнгө төсөвлөх үйл явц</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F77F15-DD04-B180-C6A7-E504047EE616}"/>
              </a:ext>
            </a:extLst>
          </p:cNvPr>
          <p:cNvSpPr>
            <a:spLocks noGrp="1"/>
          </p:cNvSpPr>
          <p:nvPr>
            <p:ph idx="1"/>
          </p:nvPr>
        </p:nvSpPr>
        <p:spPr>
          <a:xfrm>
            <a:off x="117989" y="629268"/>
            <a:ext cx="11828206" cy="5388428"/>
          </a:xfrm>
        </p:spPr>
        <p:txBody>
          <a:bodyPr>
            <a:normAutofit/>
          </a:bodyPr>
          <a:lstStyle/>
          <a:p>
            <a:pPr algn="just">
              <a:spcBef>
                <a:spcPts val="400"/>
              </a:spcBef>
            </a:pPr>
            <a:r>
              <a:rPr lang="mn-MN" sz="3200" dirty="0">
                <a:solidFill>
                  <a:srgbClr val="002060"/>
                </a:solidFill>
                <a:latin typeface="Times New Roman" panose="02020603050405020304" pitchFamily="18" charset="0"/>
                <a:cs typeface="Times New Roman" panose="02020603050405020304" pitchFamily="18" charset="0"/>
              </a:rPr>
              <a:t>Компаний инженерчлэлийн төсөл хэрэгжүүлэхийн тулд гаргасан аливаа шийдвэр нь </a:t>
            </a:r>
          </a:p>
          <a:p>
            <a:pPr lvl="1" algn="just">
              <a:spcBef>
                <a:spcPts val="400"/>
              </a:spcBef>
            </a:pPr>
            <a:r>
              <a:rPr lang="mn-MN" sz="2800" dirty="0">
                <a:solidFill>
                  <a:srgbClr val="002060"/>
                </a:solidFill>
                <a:latin typeface="Times New Roman" panose="02020603050405020304" pitchFamily="18" charset="0"/>
                <a:cs typeface="Times New Roman" panose="02020603050405020304" pitchFamily="18" charset="0"/>
              </a:rPr>
              <a:t>Ирээдүйн эдийн засгийн үр өгөөжийг хүртэхийн тулд, </a:t>
            </a:r>
          </a:p>
          <a:p>
            <a:pPr lvl="1" algn="just">
              <a:spcBef>
                <a:spcPts val="400"/>
              </a:spcBef>
            </a:pPr>
            <a:r>
              <a:rPr lang="mn-MN" sz="2800" dirty="0">
                <a:solidFill>
                  <a:srgbClr val="002060"/>
                </a:solidFill>
                <a:latin typeface="Times New Roman" panose="02020603050405020304" pitchFamily="18" charset="0"/>
                <a:cs typeface="Times New Roman" panose="02020603050405020304" pitchFamily="18" charset="0"/>
              </a:rPr>
              <a:t>Эсвэл аюулгүй байдлыг хангах, зохицуулалттай байхын тулд, </a:t>
            </a:r>
          </a:p>
          <a:p>
            <a:pPr lvl="1" algn="just">
              <a:spcBef>
                <a:spcPts val="400"/>
              </a:spcBef>
            </a:pPr>
            <a:r>
              <a:rPr lang="mn-MN" sz="2800" dirty="0">
                <a:solidFill>
                  <a:srgbClr val="002060"/>
                </a:solidFill>
                <a:latin typeface="Times New Roman" panose="02020603050405020304" pitchFamily="18" charset="0"/>
                <a:cs typeface="Times New Roman" panose="02020603050405020304" pitchFamily="18" charset="0"/>
              </a:rPr>
              <a:t>Эсвэл бусад үйл ажиллагааны хэрэгцээг хангахын тулд </a:t>
            </a:r>
          </a:p>
          <a:p>
            <a:pPr marL="0" indent="0" algn="just">
              <a:spcBef>
                <a:spcPts val="400"/>
              </a:spcBef>
              <a:buNone/>
            </a:pPr>
            <a:r>
              <a:rPr lang="mn-MN" sz="3200" dirty="0">
                <a:solidFill>
                  <a:srgbClr val="002060"/>
                </a:solidFill>
                <a:latin typeface="Times New Roman" panose="02020603050405020304" pitchFamily="18" charset="0"/>
                <a:cs typeface="Times New Roman" panose="02020603050405020304" pitchFamily="18" charset="0"/>
              </a:rPr>
              <a:t>	эргэлтийн хөрөнгийн сангийн зардлыг агуулсан байдаг. </a:t>
            </a:r>
          </a:p>
          <a:p>
            <a:pPr algn="just">
              <a:spcBef>
                <a:spcPts val="400"/>
              </a:spcBef>
            </a:pPr>
            <a:r>
              <a:rPr lang="mn-MN" sz="3200" dirty="0">
                <a:solidFill>
                  <a:srgbClr val="002060"/>
                </a:solidFill>
                <a:latin typeface="Times New Roman" panose="02020603050405020304" pitchFamily="18" charset="0"/>
                <a:cs typeface="Times New Roman" panose="02020603050405020304" pitchFamily="18" charset="0"/>
              </a:rPr>
              <a:t>Сайн удирдлага, зохион байгуулалттай компанид төсөл хэрэгжүүлэх шийдвэрийг голдуу хөрөнгө төсөвлөх үйл явцын бүрэлдэхүүн хэсэг байдлаар гаргадаг. </a:t>
            </a:r>
          </a:p>
          <a:p>
            <a:pPr algn="just">
              <a:spcBef>
                <a:spcPts val="400"/>
              </a:spcBef>
            </a:pPr>
            <a:r>
              <a:rPr lang="mn-MN" sz="3200" dirty="0">
                <a:solidFill>
                  <a:srgbClr val="002060"/>
                </a:solidFill>
                <a:latin typeface="Times New Roman" panose="02020603050405020304" pitchFamily="18" charset="0"/>
                <a:cs typeface="Times New Roman" panose="02020603050405020304" pitchFamily="18" charset="0"/>
              </a:rPr>
              <a:t>Хөрөнгийн санхүүжилт болон хуваарилалтын функцууд энэ үйл явцын үндсэн хэсгүүд юм.</a:t>
            </a:r>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39678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B41F-4F25-DAC4-4BE2-819D109D2F55}"/>
              </a:ext>
            </a:extLst>
          </p:cNvPr>
          <p:cNvSpPr>
            <a:spLocks noGrp="1"/>
          </p:cNvSpPr>
          <p:nvPr>
            <p:ph type="title"/>
          </p:nvPr>
        </p:nvSpPr>
        <p:spPr>
          <a:xfrm>
            <a:off x="127820" y="136769"/>
            <a:ext cx="11700387" cy="384341"/>
          </a:xfrm>
        </p:spPr>
        <p:txBody>
          <a:bodyPr>
            <a:noAutofit/>
          </a:bodyPr>
          <a:lstStyle/>
          <a:p>
            <a:pPr>
              <a:spcBef>
                <a:spcPts val="200"/>
              </a:spcBef>
            </a:pPr>
            <a:r>
              <a:rPr lang="mn-MN" sz="3600" b="1" dirty="0">
                <a:solidFill>
                  <a:srgbClr val="002060"/>
                </a:solidFill>
                <a:latin typeface="Times New Roman" panose="02020603050405020304" pitchFamily="18" charset="0"/>
                <a:cs typeface="Times New Roman" panose="02020603050405020304" pitchFamily="18" charset="0"/>
              </a:rPr>
              <a:t>Хөрөнгийн санхүүжилт, хуваарилалтын функцүүд</a:t>
            </a:r>
            <a:endParaRPr lang="en-US" sz="3600" b="1"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DF202FE-F04E-6CBF-5053-CD5144F9EF39}"/>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632155" y="1238865"/>
            <a:ext cx="9566787" cy="5581322"/>
          </a:xfrm>
          <a:prstGeom prst="rect">
            <a:avLst/>
          </a:prstGeom>
        </p:spPr>
      </p:pic>
      <p:sp>
        <p:nvSpPr>
          <p:cNvPr id="3" name="Content Placeholder 2">
            <a:extLst>
              <a:ext uri="{FF2B5EF4-FFF2-40B4-BE49-F238E27FC236}">
                <a16:creationId xmlns:a16="http://schemas.microsoft.com/office/drawing/2014/main" id="{C0F77F15-DD04-B180-C6A7-E504047EE616}"/>
              </a:ext>
            </a:extLst>
          </p:cNvPr>
          <p:cNvSpPr>
            <a:spLocks noGrp="1"/>
          </p:cNvSpPr>
          <p:nvPr>
            <p:ph idx="1"/>
          </p:nvPr>
        </p:nvSpPr>
        <p:spPr>
          <a:xfrm>
            <a:off x="245806" y="530943"/>
            <a:ext cx="11700387" cy="1325249"/>
          </a:xfrm>
        </p:spPr>
        <p:txBody>
          <a:bodyPr>
            <a:normAutofit fontScale="92500" lnSpcReduction="20000"/>
          </a:bodyPr>
          <a:lstStyle/>
          <a:p>
            <a:pPr algn="just">
              <a:lnSpc>
                <a:spcPct val="100000"/>
              </a:lnSpc>
              <a:spcBef>
                <a:spcPts val="200"/>
              </a:spcBef>
            </a:pPr>
            <a:r>
              <a:rPr lang="mn-MN" sz="3200" dirty="0">
                <a:solidFill>
                  <a:srgbClr val="002060"/>
                </a:solidFill>
                <a:latin typeface="Times New Roman" panose="02020603050405020304" pitchFamily="18" charset="0"/>
                <a:cs typeface="Times New Roman" panose="02020603050405020304" pitchFamily="18" charset="0"/>
              </a:rPr>
              <a:t>Хөрөнгийн санхүүжилт болон хуваарилалтын функцууд хоорондоо нягт холбоотой ба хөрөнгө төсөвлөх үйл явцын бүрэлдэхүүн хэсэг байдлаар хамтдаа зохицуулагдана.</a:t>
            </a:r>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93949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B41F-4F25-DAC4-4BE2-819D109D2F55}"/>
              </a:ext>
            </a:extLst>
          </p:cNvPr>
          <p:cNvSpPr>
            <a:spLocks noGrp="1"/>
          </p:cNvSpPr>
          <p:nvPr>
            <p:ph type="title"/>
          </p:nvPr>
        </p:nvSpPr>
        <p:spPr>
          <a:xfrm>
            <a:off x="206477" y="30828"/>
            <a:ext cx="11818375" cy="406708"/>
          </a:xfrm>
        </p:spPr>
        <p:txBody>
          <a:bodyPr>
            <a:normAutofit fontScale="90000"/>
          </a:bodyPr>
          <a:lstStyle/>
          <a:p>
            <a:pPr>
              <a:spcBef>
                <a:spcPts val="400"/>
              </a:spcBef>
            </a:pPr>
            <a:r>
              <a:rPr lang="mn-MN" sz="4400" b="1" dirty="0">
                <a:solidFill>
                  <a:srgbClr val="002060"/>
                </a:solidFill>
                <a:latin typeface="Times New Roman" panose="02020603050405020304" pitchFamily="18" charset="0"/>
                <a:cs typeface="Times New Roman" panose="02020603050405020304" pitchFamily="18" charset="0"/>
              </a:rPr>
              <a:t>Хөрөнгийн санхүүжилт, хуваарилалтын функцүүд</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F77F15-DD04-B180-C6A7-E504047EE616}"/>
              </a:ext>
            </a:extLst>
          </p:cNvPr>
          <p:cNvSpPr>
            <a:spLocks noGrp="1"/>
          </p:cNvSpPr>
          <p:nvPr>
            <p:ph idx="1"/>
          </p:nvPr>
        </p:nvSpPr>
        <p:spPr>
          <a:xfrm>
            <a:off x="206477" y="464043"/>
            <a:ext cx="11818375" cy="5464805"/>
          </a:xfrm>
        </p:spPr>
        <p:txBody>
          <a:bodyPr>
            <a:normAutofit fontScale="85000" lnSpcReduction="20000"/>
          </a:bodyPr>
          <a:lstStyle/>
          <a:p>
            <a:pPr algn="just">
              <a:lnSpc>
                <a:spcPct val="110000"/>
              </a:lnSpc>
              <a:spcBef>
                <a:spcPts val="400"/>
              </a:spcBef>
            </a:pPr>
            <a:r>
              <a:rPr lang="mn-MN" sz="3200" dirty="0">
                <a:solidFill>
                  <a:srgbClr val="002060"/>
                </a:solidFill>
                <a:latin typeface="Times New Roman" panose="02020603050405020304" pitchFamily="18" charset="0"/>
                <a:cs typeface="Times New Roman" panose="02020603050405020304" pitchFamily="18" charset="0"/>
              </a:rPr>
              <a:t>Энэ үйл ажиллагаа нь хөрөнгө хуваарилах чиг үүргээр хэрэгжинэ. </a:t>
            </a:r>
          </a:p>
          <a:p>
            <a:pPr lvl="1" algn="just">
              <a:lnSpc>
                <a:spcPct val="110000"/>
              </a:lnSpc>
              <a:spcBef>
                <a:spcPts val="400"/>
              </a:spcBef>
            </a:pPr>
            <a:r>
              <a:rPr lang="mn-MN" sz="2800" dirty="0">
                <a:solidFill>
                  <a:srgbClr val="002060"/>
                </a:solidFill>
                <a:latin typeface="Times New Roman" panose="02020603050405020304" pitchFamily="18" charset="0"/>
                <a:cs typeface="Times New Roman" panose="02020603050405020304" pitchFamily="18" charset="0"/>
              </a:rPr>
              <a:t>Өөрөөр хэлбэл, хэрэгжүүлэх шаардлагатай техникийн төслийг сонгох нь хөрөнгө хуваарилах чиг үүрэгт хамаарна. </a:t>
            </a:r>
          </a:p>
          <a:p>
            <a:pPr algn="just">
              <a:lnSpc>
                <a:spcPct val="110000"/>
              </a:lnSpc>
              <a:spcBef>
                <a:spcPts val="400"/>
              </a:spcBef>
            </a:pPr>
            <a:r>
              <a:rPr lang="mn-MN" sz="3200" dirty="0">
                <a:solidFill>
                  <a:srgbClr val="002060"/>
                </a:solidFill>
                <a:latin typeface="Times New Roman" panose="02020603050405020304" pitchFamily="18" charset="0"/>
                <a:cs typeface="Times New Roman" panose="02020603050405020304" pitchFamily="18" charset="0"/>
              </a:rPr>
              <a:t>Дээрх зурагт үзүүлснээр хөрөнгө хуваарилалтын чиг үүргийн дагуу компаний хэмжээнд сонгогдсон төслүүдэд зарцуулах боломжтой хөрөнгийг хуваарилдаг.</a:t>
            </a:r>
          </a:p>
          <a:p>
            <a:pPr lvl="1" algn="just">
              <a:lnSpc>
                <a:spcPct val="110000"/>
              </a:lnSpc>
              <a:spcBef>
                <a:spcPts val="400"/>
              </a:spcBef>
            </a:pPr>
            <a:r>
              <a:rPr lang="mn-MN" sz="2800" dirty="0">
                <a:solidFill>
                  <a:srgbClr val="002060"/>
                </a:solidFill>
                <a:latin typeface="Times New Roman" panose="02020603050405020304" pitchFamily="18" charset="0"/>
                <a:cs typeface="Times New Roman" panose="02020603050405020304" pitchFamily="18" charset="0"/>
              </a:rPr>
              <a:t>Энд, компаний хэлтэс, газар, нэгж бүр оролцдог. </a:t>
            </a:r>
          </a:p>
          <a:p>
            <a:pPr algn="just">
              <a:lnSpc>
                <a:spcPct val="110000"/>
              </a:lnSpc>
              <a:spcBef>
                <a:spcPts val="400"/>
              </a:spcBef>
            </a:pPr>
            <a:r>
              <a:rPr lang="mn-MN" sz="3200" dirty="0">
                <a:solidFill>
                  <a:srgbClr val="002060"/>
                </a:solidFill>
                <a:latin typeface="Times New Roman" panose="02020603050405020304" pitchFamily="18" charset="0"/>
                <a:cs typeface="Times New Roman" panose="02020603050405020304" pitchFamily="18" charset="0"/>
              </a:rPr>
              <a:t>Мөн хувьцаа эзэмшигчдэд аль болох их ашиг өгөх зорилго тавина.  </a:t>
            </a:r>
          </a:p>
          <a:p>
            <a:pPr algn="just">
              <a:lnSpc>
                <a:spcPct val="110000"/>
              </a:lnSpc>
              <a:spcBef>
                <a:spcPts val="400"/>
              </a:spcBef>
            </a:pPr>
            <a:r>
              <a:rPr lang="mn-MN" sz="3200" dirty="0">
                <a:solidFill>
                  <a:srgbClr val="002060"/>
                </a:solidFill>
                <a:latin typeface="Times New Roman" panose="02020603050405020304" pitchFamily="18" charset="0"/>
                <a:cs typeface="Times New Roman" panose="02020603050405020304" pitchFamily="18" charset="0"/>
              </a:rPr>
              <a:t>Иймд  санал болгож байгаа төсөл тус бүрээр эдийн засгийн болон бусад үндэслэлтэй мэдээлэл шаардлагатай бөгөөд үүнд ИЭЗ –ийн  судалгаа ба шинжилгээ гол үүрэг гүйцэтгэдэг. </a:t>
            </a:r>
          </a:p>
          <a:p>
            <a:pPr algn="just">
              <a:lnSpc>
                <a:spcPct val="110000"/>
              </a:lnSpc>
              <a:spcBef>
                <a:spcPts val="400"/>
              </a:spcBef>
            </a:pPr>
            <a:r>
              <a:rPr lang="mn-MN" sz="3200" b="1" dirty="0">
                <a:solidFill>
                  <a:srgbClr val="002060"/>
                </a:solidFill>
                <a:latin typeface="Times New Roman" panose="02020603050405020304" pitchFamily="18" charset="0"/>
                <a:cs typeface="Times New Roman" panose="02020603050405020304" pitchFamily="18" charset="0"/>
              </a:rPr>
              <a:t>ИЙМД ИЭЗ-ИЙН МЭДЛЭГИЙН ХЭРЭГЛЭЭ НЬ КОМПАНИЙ СОЁЛЫН СУУРЬ ЭЛЕМЕНТ ЮМ.</a:t>
            </a:r>
          </a:p>
        </p:txBody>
      </p:sp>
    </p:spTree>
    <p:extLst>
      <p:ext uri="{BB962C8B-B14F-4D97-AF65-F5344CB8AC3E}">
        <p14:creationId xmlns:p14="http://schemas.microsoft.com/office/powerpoint/2010/main" val="27305900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B41F-4F25-DAC4-4BE2-819D109D2F55}"/>
              </a:ext>
            </a:extLst>
          </p:cNvPr>
          <p:cNvSpPr>
            <a:spLocks noGrp="1"/>
          </p:cNvSpPr>
          <p:nvPr>
            <p:ph type="title"/>
          </p:nvPr>
        </p:nvSpPr>
        <p:spPr>
          <a:xfrm>
            <a:off x="120845" y="30831"/>
            <a:ext cx="11279124" cy="431285"/>
          </a:xfrm>
        </p:spPr>
        <p:txBody>
          <a:bodyPr>
            <a:noAutofit/>
          </a:bodyPr>
          <a:lstStyle/>
          <a:p>
            <a:pPr algn="just">
              <a:spcBef>
                <a:spcPts val="400"/>
              </a:spcBef>
            </a:pPr>
            <a:r>
              <a:rPr lang="mn-MN" sz="3600" b="1" dirty="0">
                <a:solidFill>
                  <a:srgbClr val="002060"/>
                </a:solidFill>
                <a:latin typeface="Times New Roman" panose="02020603050405020304" pitchFamily="18" charset="0"/>
                <a:cs typeface="Times New Roman" panose="02020603050405020304" pitchFamily="18" charset="0"/>
              </a:rPr>
              <a:t>Хөрөнгө оруулалтын эх үүсвэр</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F77F15-DD04-B180-C6A7-E504047EE616}"/>
              </a:ext>
            </a:extLst>
          </p:cNvPr>
          <p:cNvSpPr>
            <a:spLocks noGrp="1"/>
          </p:cNvSpPr>
          <p:nvPr>
            <p:ph idx="1"/>
          </p:nvPr>
        </p:nvSpPr>
        <p:spPr>
          <a:xfrm>
            <a:off x="120845" y="462116"/>
            <a:ext cx="11798710" cy="5731329"/>
          </a:xfrm>
        </p:spPr>
        <p:txBody>
          <a:bodyPr>
            <a:normAutofit lnSpcReduction="10000"/>
          </a:bodyPr>
          <a:lstStyle/>
          <a:p>
            <a:pPr algn="just">
              <a:spcBef>
                <a:spcPts val="400"/>
              </a:spcBef>
            </a:pPr>
            <a:r>
              <a:rPr lang="mn-MN" sz="3200" dirty="0">
                <a:solidFill>
                  <a:srgbClr val="002060"/>
                </a:solidFill>
                <a:latin typeface="Times New Roman" panose="02020603050405020304" pitchFamily="18" charset="0"/>
                <a:cs typeface="Times New Roman" panose="02020603050405020304" pitchFamily="18" charset="0"/>
              </a:rPr>
              <a:t>Шинэ төслийг хэрэгжүүлэхэд хөрөнгө оруулалтын санхүүжилт шаардлагатай болно.</a:t>
            </a:r>
          </a:p>
          <a:p>
            <a:pPr algn="just">
              <a:spcBef>
                <a:spcPts val="400"/>
              </a:spcBef>
            </a:pPr>
            <a:r>
              <a:rPr lang="mn-MN" sz="3200" dirty="0">
                <a:solidFill>
                  <a:srgbClr val="002060"/>
                </a:solidFill>
                <a:latin typeface="Times New Roman" panose="02020603050405020304" pitchFamily="18" charset="0"/>
                <a:cs typeface="Times New Roman" panose="02020603050405020304" pitchFamily="18" charset="0"/>
              </a:rPr>
              <a:t>Санхүүжилтийн эх үүсвэр: </a:t>
            </a:r>
          </a:p>
          <a:p>
            <a:pPr lvl="1" algn="just">
              <a:spcBef>
                <a:spcPts val="400"/>
              </a:spcBef>
            </a:pPr>
            <a:r>
              <a:rPr lang="mn-MN" sz="2800" dirty="0">
                <a:solidFill>
                  <a:srgbClr val="002060"/>
                </a:solidFill>
                <a:latin typeface="Times New Roman" panose="02020603050405020304" pitchFamily="18" charset="0"/>
                <a:cs typeface="Times New Roman" panose="02020603050405020304" pitchFamily="18" charset="0"/>
              </a:rPr>
              <a:t>Дотоод (өөрийн) </a:t>
            </a:r>
          </a:p>
          <a:p>
            <a:pPr lvl="1" algn="just">
              <a:spcBef>
                <a:spcPts val="400"/>
              </a:spcBef>
            </a:pPr>
            <a:r>
              <a:rPr lang="mn-MN" sz="2800" dirty="0">
                <a:solidFill>
                  <a:srgbClr val="002060"/>
                </a:solidFill>
                <a:latin typeface="Times New Roman" panose="02020603050405020304" pitchFamily="18" charset="0"/>
                <a:cs typeface="Times New Roman" panose="02020603050405020304" pitchFamily="18" charset="0"/>
              </a:rPr>
              <a:t>Гадаад - </a:t>
            </a:r>
            <a:r>
              <a:rPr lang="mn-MN" dirty="0">
                <a:solidFill>
                  <a:srgbClr val="002060"/>
                </a:solidFill>
                <a:latin typeface="Times New Roman" panose="02020603050405020304" pitchFamily="18" charset="0"/>
                <a:cs typeface="Times New Roman" panose="02020603050405020304" pitchFamily="18" charset="0"/>
              </a:rPr>
              <a:t>дотоод эх </a:t>
            </a:r>
            <a:r>
              <a:rPr lang="mn-MN" sz="2400" dirty="0">
                <a:solidFill>
                  <a:srgbClr val="002060"/>
                </a:solidFill>
                <a:latin typeface="Times New Roman" panose="02020603050405020304" pitchFamily="18" charset="0"/>
                <a:cs typeface="Times New Roman" panose="02020603050405020304" pitchFamily="18" charset="0"/>
              </a:rPr>
              <a:t>үүсвэр хүрэлцэхгүй үед гадаад эх үүсвэрээс мөнгө босгоно. </a:t>
            </a:r>
          </a:p>
          <a:p>
            <a:pPr lvl="2" algn="just">
              <a:spcBef>
                <a:spcPts val="400"/>
              </a:spcBef>
            </a:pPr>
            <a:r>
              <a:rPr lang="mn-MN" sz="2200" dirty="0">
                <a:solidFill>
                  <a:srgbClr val="002060"/>
                </a:solidFill>
                <a:latin typeface="Times New Roman" panose="02020603050405020304" pitchFamily="18" charset="0"/>
                <a:cs typeface="Times New Roman" panose="02020603050405020304" pitchFamily="18" charset="0"/>
              </a:rPr>
              <a:t>Тухайлбал: хувьцаа гаргах, бонд борлуулах, эсвэл зээл авах.</a:t>
            </a:r>
          </a:p>
          <a:p>
            <a:pPr algn="just">
              <a:spcBef>
                <a:spcPts val="400"/>
              </a:spcBef>
            </a:pPr>
            <a:r>
              <a:rPr lang="mn-MN" sz="3000" dirty="0">
                <a:solidFill>
                  <a:srgbClr val="002060"/>
                </a:solidFill>
                <a:latin typeface="Times New Roman" panose="02020603050405020304" pitchFamily="18" charset="0"/>
                <a:cs typeface="Times New Roman" panose="02020603050405020304" pitchFamily="18" charset="0"/>
              </a:rPr>
              <a:t>Хөрөнгийн дотоод эх үүсвэрээс гадна, хувь нийлүүлсэн хамтрагчид, хувьцаа эзэмшигчид, бонд эзэмшигчид, банкууд, хөрөнгө оруулагчид бүгд өөрсдийн хөрөнгө оруулалтын өгөөжийг хүлээж байдаг. </a:t>
            </a:r>
          </a:p>
          <a:p>
            <a:pPr algn="just">
              <a:spcBef>
                <a:spcPts val="400"/>
              </a:spcBef>
            </a:pPr>
            <a:r>
              <a:rPr lang="mn-MN" sz="3000" dirty="0">
                <a:solidFill>
                  <a:srgbClr val="002060"/>
                </a:solidFill>
                <a:latin typeface="Times New Roman" panose="02020603050405020304" pitchFamily="18" charset="0"/>
                <a:cs typeface="Times New Roman" panose="02020603050405020304" pitchFamily="18" charset="0"/>
              </a:rPr>
              <a:t>Хэрэв компани ирээдүйд шинэ хөрөнгө оруулалт хийхийг эрэлхийлж байгаа бол шинэ хөрөнгө оруулагчдыг татах ёстой. </a:t>
            </a:r>
          </a:p>
          <a:p>
            <a:pPr algn="just">
              <a:spcBef>
                <a:spcPts val="400"/>
              </a:spcBef>
            </a:pPr>
            <a:r>
              <a:rPr lang="mn-MN" sz="3000" dirty="0">
                <a:solidFill>
                  <a:srgbClr val="002060"/>
                </a:solidFill>
                <a:latin typeface="Times New Roman" panose="02020603050405020304" pitchFamily="18" charset="0"/>
                <a:cs typeface="Times New Roman" panose="02020603050405020304" pitchFamily="18" charset="0"/>
              </a:rPr>
              <a:t>Үүнийг янз бүрийн үнэт цаасыг санал болгож байдаг өрсөлдөөний зах зээл (хөрөнгийн бирж) дээр өгөөжийн түвшинг төлөх замаар хийж гүйцэтгэдэг.  </a:t>
            </a:r>
          </a:p>
        </p:txBody>
      </p:sp>
    </p:spTree>
    <p:extLst>
      <p:ext uri="{BB962C8B-B14F-4D97-AF65-F5344CB8AC3E}">
        <p14:creationId xmlns:p14="http://schemas.microsoft.com/office/powerpoint/2010/main" val="5415829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B41F-4F25-DAC4-4BE2-819D109D2F55}"/>
              </a:ext>
            </a:extLst>
          </p:cNvPr>
          <p:cNvSpPr>
            <a:spLocks noGrp="1"/>
          </p:cNvSpPr>
          <p:nvPr>
            <p:ph type="title"/>
          </p:nvPr>
        </p:nvSpPr>
        <p:spPr>
          <a:xfrm>
            <a:off x="131298" y="99522"/>
            <a:ext cx="10515600" cy="395154"/>
          </a:xfrm>
        </p:spPr>
        <p:txBody>
          <a:bodyPr>
            <a:no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Хөрөнгө оруулалтын эх үүсвэр</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F77F15-DD04-B180-C6A7-E504047EE616}"/>
              </a:ext>
            </a:extLst>
          </p:cNvPr>
          <p:cNvSpPr>
            <a:spLocks noGrp="1"/>
          </p:cNvSpPr>
          <p:nvPr>
            <p:ph idx="1"/>
          </p:nvPr>
        </p:nvSpPr>
        <p:spPr>
          <a:xfrm>
            <a:off x="131298" y="434716"/>
            <a:ext cx="11770892" cy="2549957"/>
          </a:xfrm>
        </p:spPr>
        <p:txBody>
          <a:bodyPr>
            <a:normAutofit/>
          </a:bodyPr>
          <a:lstStyle/>
          <a:p>
            <a:pPr algn="just">
              <a:spcBef>
                <a:spcPts val="400"/>
              </a:spcBef>
            </a:pPr>
            <a:r>
              <a:rPr lang="mn-MN" sz="2400" dirty="0">
                <a:solidFill>
                  <a:srgbClr val="002060"/>
                </a:solidFill>
                <a:latin typeface="Times New Roman" panose="02020603050405020304" pitchFamily="18" charset="0"/>
                <a:cs typeface="Times New Roman" panose="02020603050405020304" pitchFamily="18" charset="0"/>
              </a:rPr>
              <a:t>Хөрөнгийн янз бүрийн эх үүсвэрт зарцуулагдах зардлын талаарх төсөөллийг төрөл бүрийн үнэт цаасанд хөрөнгө оруулагчдын санал болгох өгөөжийг үнэлэх замаар авч болно. Иймд өгөөжийн хувь хэмжээний түүхэн үнэ цэнийг эргэн харах хэрэгтэй. Үүнийг компаниудын үнэт цаасны урт хугацааны гүйцэтгэлийг гаргадаг эмхэтгэлээс харж болно. </a:t>
            </a:r>
          </a:p>
          <a:p>
            <a:pPr algn="just">
              <a:spcBef>
                <a:spcPts val="400"/>
              </a:spcBef>
            </a:pPr>
            <a:r>
              <a:rPr lang="mn-MN" sz="2400" dirty="0">
                <a:solidFill>
                  <a:srgbClr val="002060"/>
                </a:solidFill>
                <a:latin typeface="Times New Roman" panose="02020603050405020304" pitchFamily="18" charset="0"/>
                <a:cs typeface="Times New Roman" panose="02020603050405020304" pitchFamily="18" charset="0"/>
              </a:rPr>
              <a:t>Жишээ болгон 5 төрлийн үнэт цаасны 1926-2002 оны хоорондох өгөөжийн түвшингийн мэдээллийг дараах хүснэгтэд харуулав.</a:t>
            </a:r>
          </a:p>
          <a:p>
            <a:pPr algn="just">
              <a:spcBef>
                <a:spcPts val="400"/>
              </a:spcBef>
            </a:pPr>
            <a:endParaRPr lang="mn-MN" sz="2400" dirty="0">
              <a:solidFill>
                <a:srgbClr val="002060"/>
              </a:solidFill>
              <a:latin typeface="Times New Roman" panose="02020603050405020304" pitchFamily="18" charset="0"/>
              <a:cs typeface="Times New Roman" panose="02020603050405020304" pitchFamily="18" charset="0"/>
            </a:endParaRPr>
          </a:p>
          <a:p>
            <a:pPr algn="just">
              <a:spcBef>
                <a:spcPts val="400"/>
              </a:spcBef>
            </a:pPr>
            <a:endParaRPr lang="mn-MN" sz="2400"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Content Placeholder 5">
            <a:extLst>
              <a:ext uri="{FF2B5EF4-FFF2-40B4-BE49-F238E27FC236}">
                <a16:creationId xmlns:a16="http://schemas.microsoft.com/office/drawing/2014/main" id="{7E9FF6BC-83D1-20F0-96DF-99FB9FC55ECA}"/>
              </a:ext>
            </a:extLst>
          </p:cNvPr>
          <p:cNvGraphicFramePr>
            <a:graphicFrameLocks/>
          </p:cNvGraphicFramePr>
          <p:nvPr>
            <p:extLst>
              <p:ext uri="{D42A27DB-BD31-4B8C-83A1-F6EECF244321}">
                <p14:modId xmlns:p14="http://schemas.microsoft.com/office/powerpoint/2010/main" val="935790066"/>
              </p:ext>
            </p:extLst>
          </p:nvPr>
        </p:nvGraphicFramePr>
        <p:xfrm>
          <a:off x="131298" y="2891163"/>
          <a:ext cx="11665960" cy="3064450"/>
        </p:xfrm>
        <a:graphic>
          <a:graphicData uri="http://schemas.openxmlformats.org/drawingml/2006/table">
            <a:tbl>
              <a:tblPr firstRow="1" firstCol="1" bandRow="1">
                <a:tableStyleId>{5C22544A-7EE6-4342-B048-85BDC9FD1C3A}</a:tableStyleId>
              </a:tblPr>
              <a:tblGrid>
                <a:gridCol w="4797314">
                  <a:extLst>
                    <a:ext uri="{9D8B030D-6E8A-4147-A177-3AD203B41FA5}">
                      <a16:colId xmlns:a16="http://schemas.microsoft.com/office/drawing/2014/main" val="20000"/>
                    </a:ext>
                  </a:extLst>
                </a:gridCol>
                <a:gridCol w="3260310">
                  <a:extLst>
                    <a:ext uri="{9D8B030D-6E8A-4147-A177-3AD203B41FA5}">
                      <a16:colId xmlns:a16="http://schemas.microsoft.com/office/drawing/2014/main" val="20001"/>
                    </a:ext>
                  </a:extLst>
                </a:gridCol>
                <a:gridCol w="3608336">
                  <a:extLst>
                    <a:ext uri="{9D8B030D-6E8A-4147-A177-3AD203B41FA5}">
                      <a16:colId xmlns:a16="http://schemas.microsoft.com/office/drawing/2014/main" val="20002"/>
                    </a:ext>
                  </a:extLst>
                </a:gridCol>
              </a:tblGrid>
              <a:tr h="303843">
                <a:tc>
                  <a:txBody>
                    <a:bodyPr/>
                    <a:lstStyle/>
                    <a:p>
                      <a:pPr marL="0" marR="0" algn="ctr">
                        <a:lnSpc>
                          <a:spcPct val="115000"/>
                        </a:lnSpc>
                        <a:spcBef>
                          <a:spcPts val="0"/>
                        </a:spcBef>
                        <a:spcAft>
                          <a:spcPts val="0"/>
                        </a:spcAft>
                      </a:pPr>
                      <a:r>
                        <a:rPr lang="mn-MN" sz="2400" dirty="0">
                          <a:effectLst/>
                          <a:latin typeface="Times New Roman" pitchFamily="18" charset="0"/>
                          <a:cs typeface="Times New Roman" pitchFamily="18" charset="0"/>
                        </a:rPr>
                        <a:t>Үнэт цаасны төрөл</a:t>
                      </a:r>
                      <a:endParaRPr lang="en-US" sz="2400" dirty="0">
                        <a:effectLst/>
                        <a:latin typeface="Times New Roman" pitchFamily="18" charset="0"/>
                        <a:ea typeface="Times New Roman"/>
                        <a:cs typeface="Times New Roman" pitchFamily="18" charset="0"/>
                      </a:endParaRPr>
                    </a:p>
                  </a:txBody>
                  <a:tcPr marL="36491" marR="36491" marT="0" marB="0" anchor="ctr"/>
                </a:tc>
                <a:tc>
                  <a:txBody>
                    <a:bodyPr/>
                    <a:lstStyle/>
                    <a:p>
                      <a:pPr marL="0" marR="0" algn="ctr">
                        <a:lnSpc>
                          <a:spcPct val="115000"/>
                        </a:lnSpc>
                        <a:spcBef>
                          <a:spcPts val="0"/>
                        </a:spcBef>
                        <a:spcAft>
                          <a:spcPts val="0"/>
                        </a:spcAft>
                      </a:pPr>
                      <a:r>
                        <a:rPr lang="mn-MN" sz="2400" dirty="0">
                          <a:effectLst/>
                          <a:latin typeface="Times New Roman" pitchFamily="18" charset="0"/>
                          <a:cs typeface="Times New Roman" pitchFamily="18" charset="0"/>
                        </a:rPr>
                        <a:t>Жилийн дундаж өгөөж, </a:t>
                      </a:r>
                      <a:r>
                        <a:rPr lang="en-US" sz="2400" dirty="0">
                          <a:effectLst/>
                          <a:latin typeface="Times New Roman" pitchFamily="18" charset="0"/>
                          <a:cs typeface="Times New Roman" pitchFamily="18" charset="0"/>
                        </a:rPr>
                        <a:t>R</a:t>
                      </a:r>
                      <a:r>
                        <a:rPr lang="en-US" sz="2400" baseline="-25000" dirty="0">
                          <a:effectLst/>
                          <a:latin typeface="Times New Roman" pitchFamily="18" charset="0"/>
                          <a:cs typeface="Times New Roman" pitchFamily="18" charset="0"/>
                        </a:rPr>
                        <a:t>m</a:t>
                      </a:r>
                      <a:endParaRPr lang="en-US" sz="2400" dirty="0">
                        <a:effectLst/>
                        <a:latin typeface="Times New Roman" pitchFamily="18" charset="0"/>
                        <a:ea typeface="Times New Roman"/>
                        <a:cs typeface="Times New Roman" pitchFamily="18" charset="0"/>
                      </a:endParaRPr>
                    </a:p>
                  </a:txBody>
                  <a:tcPr marL="36491" marR="36491" marT="0" marB="0" anchor="ctr"/>
                </a:tc>
                <a:tc>
                  <a:txBody>
                    <a:bodyPr/>
                    <a:lstStyle/>
                    <a:p>
                      <a:pPr marL="0" marR="0" algn="ctr">
                        <a:lnSpc>
                          <a:spcPct val="115000"/>
                        </a:lnSpc>
                        <a:spcBef>
                          <a:spcPts val="0"/>
                        </a:spcBef>
                        <a:spcAft>
                          <a:spcPts val="0"/>
                        </a:spcAft>
                      </a:pPr>
                      <a:r>
                        <a:rPr lang="mn-MN" sz="2400" dirty="0">
                          <a:effectLst/>
                          <a:latin typeface="Times New Roman" pitchFamily="18" charset="0"/>
                          <a:cs typeface="Times New Roman" pitchFamily="18" charset="0"/>
                        </a:rPr>
                        <a:t>Өгөөжийн стандарт хазайлт</a:t>
                      </a:r>
                      <a:endParaRPr lang="en-US" sz="2400" dirty="0">
                        <a:effectLst/>
                        <a:latin typeface="Times New Roman" pitchFamily="18" charset="0"/>
                        <a:ea typeface="Times New Roman"/>
                        <a:cs typeface="Times New Roman" pitchFamily="18" charset="0"/>
                      </a:endParaRPr>
                    </a:p>
                  </a:txBody>
                  <a:tcPr marL="36491" marR="36491" marT="0" marB="0" anchor="ctr"/>
                </a:tc>
                <a:extLst>
                  <a:ext uri="{0D108BD9-81ED-4DB2-BD59-A6C34878D82A}">
                    <a16:rowId xmlns:a16="http://schemas.microsoft.com/office/drawing/2014/main" val="10000"/>
                  </a:ext>
                </a:extLst>
              </a:tr>
              <a:tr h="92934">
                <a:tc>
                  <a:txBody>
                    <a:bodyPr/>
                    <a:lstStyle/>
                    <a:p>
                      <a:pPr>
                        <a:lnSpc>
                          <a:spcPct val="107000"/>
                        </a:lnSpc>
                        <a:spcAft>
                          <a:spcPts val="0"/>
                        </a:spcAft>
                      </a:pPr>
                      <a:r>
                        <a:rPr lang="mn-MN" sz="2400" b="1" kern="1200" dirty="0">
                          <a:solidFill>
                            <a:schemeClr val="lt1"/>
                          </a:solidFill>
                          <a:effectLst/>
                          <a:latin typeface="Times New Roman" pitchFamily="18" charset="0"/>
                          <a:ea typeface="+mn-ea"/>
                          <a:cs typeface="Times New Roman" pitchFamily="18" charset="0"/>
                        </a:rPr>
                        <a:t>Засгийн газрын үнэт цаас</a:t>
                      </a:r>
                      <a:endParaRPr lang="en-US" sz="2400" b="1" kern="1200" dirty="0">
                        <a:solidFill>
                          <a:schemeClr val="lt1"/>
                        </a:solidFill>
                        <a:effectLst/>
                        <a:latin typeface="Times New Roman" pitchFamily="18" charset="0"/>
                        <a:ea typeface="+mn-ea"/>
                        <a:cs typeface="Times New Roman" pitchFamily="18" charset="0"/>
                      </a:endParaRPr>
                    </a:p>
                  </a:txBody>
                  <a:tcPr marL="33786" marR="33786" marT="0" marB="0"/>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3.8%</a:t>
                      </a:r>
                      <a:endParaRPr lang="en-US" sz="2400" dirty="0">
                        <a:effectLst/>
                        <a:latin typeface="Times New Roman" pitchFamily="18" charset="0"/>
                        <a:ea typeface="Times New Roman"/>
                        <a:cs typeface="Times New Roman" pitchFamily="18" charset="0"/>
                      </a:endParaRPr>
                    </a:p>
                  </a:txBody>
                  <a:tcPr marL="36491" marR="36491" marT="0" marB="0"/>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4.4%</a:t>
                      </a:r>
                      <a:endParaRPr lang="en-US" sz="2400" dirty="0">
                        <a:effectLst/>
                        <a:latin typeface="Times New Roman" pitchFamily="18" charset="0"/>
                        <a:ea typeface="Times New Roman"/>
                        <a:cs typeface="Times New Roman" pitchFamily="18" charset="0"/>
                      </a:endParaRPr>
                    </a:p>
                  </a:txBody>
                  <a:tcPr marL="36491" marR="36491" marT="0" marB="0"/>
                </a:tc>
                <a:extLst>
                  <a:ext uri="{0D108BD9-81ED-4DB2-BD59-A6C34878D82A}">
                    <a16:rowId xmlns:a16="http://schemas.microsoft.com/office/drawing/2014/main" val="10001"/>
                  </a:ext>
                </a:extLst>
              </a:tr>
              <a:tr h="149761">
                <a:tc>
                  <a:txBody>
                    <a:bodyPr/>
                    <a:lstStyle/>
                    <a:p>
                      <a:pPr>
                        <a:lnSpc>
                          <a:spcPct val="107000"/>
                        </a:lnSpc>
                        <a:spcAft>
                          <a:spcPts val="0"/>
                        </a:spcAft>
                      </a:pPr>
                      <a:r>
                        <a:rPr lang="mn-MN" sz="2400" b="1" kern="1200" dirty="0">
                          <a:solidFill>
                            <a:schemeClr val="lt1"/>
                          </a:solidFill>
                          <a:effectLst/>
                          <a:latin typeface="Times New Roman" pitchFamily="18" charset="0"/>
                          <a:ea typeface="+mn-ea"/>
                          <a:cs typeface="Times New Roman" pitchFamily="18" charset="0"/>
                        </a:rPr>
                        <a:t>АНУ-ын урт хугацааны бонд</a:t>
                      </a:r>
                      <a:endParaRPr lang="en-US" sz="2400" b="1" kern="1200" dirty="0">
                        <a:solidFill>
                          <a:schemeClr val="lt1"/>
                        </a:solidFill>
                        <a:effectLst/>
                        <a:latin typeface="Times New Roman" pitchFamily="18" charset="0"/>
                        <a:ea typeface="+mn-ea"/>
                        <a:cs typeface="Times New Roman" pitchFamily="18" charset="0"/>
                      </a:endParaRPr>
                    </a:p>
                  </a:txBody>
                  <a:tcPr marL="33786" marR="33786" marT="0" marB="0"/>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5.8</a:t>
                      </a:r>
                      <a:endParaRPr lang="en-US" sz="2400" dirty="0">
                        <a:effectLst/>
                        <a:latin typeface="Times New Roman" pitchFamily="18" charset="0"/>
                        <a:ea typeface="Times New Roman"/>
                        <a:cs typeface="Times New Roman" pitchFamily="18" charset="0"/>
                      </a:endParaRPr>
                    </a:p>
                  </a:txBody>
                  <a:tcPr marL="36491" marR="36491" marT="0" marB="0"/>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9.4</a:t>
                      </a:r>
                      <a:endParaRPr lang="en-US" sz="2400" dirty="0">
                        <a:effectLst/>
                        <a:latin typeface="Times New Roman" pitchFamily="18" charset="0"/>
                        <a:ea typeface="Times New Roman"/>
                        <a:cs typeface="Times New Roman" pitchFamily="18" charset="0"/>
                      </a:endParaRPr>
                    </a:p>
                  </a:txBody>
                  <a:tcPr marL="36491" marR="36491" marT="0" marB="0"/>
                </a:tc>
                <a:extLst>
                  <a:ext uri="{0D108BD9-81ED-4DB2-BD59-A6C34878D82A}">
                    <a16:rowId xmlns:a16="http://schemas.microsoft.com/office/drawing/2014/main" val="10002"/>
                  </a:ext>
                </a:extLst>
              </a:tr>
              <a:tr h="0">
                <a:tc>
                  <a:txBody>
                    <a:bodyPr/>
                    <a:lstStyle/>
                    <a:p>
                      <a:pPr>
                        <a:lnSpc>
                          <a:spcPct val="107000"/>
                        </a:lnSpc>
                        <a:spcAft>
                          <a:spcPts val="0"/>
                        </a:spcAft>
                      </a:pPr>
                      <a:r>
                        <a:rPr lang="mn-MN" sz="2400" b="1" kern="1200" dirty="0">
                          <a:solidFill>
                            <a:schemeClr val="lt1"/>
                          </a:solidFill>
                          <a:effectLst/>
                          <a:latin typeface="Times New Roman" pitchFamily="18" charset="0"/>
                          <a:ea typeface="+mn-ea"/>
                          <a:cs typeface="Times New Roman" pitchFamily="18" charset="0"/>
                        </a:rPr>
                        <a:t>Корпорацын бонд</a:t>
                      </a:r>
                      <a:endParaRPr lang="en-US" sz="2400" b="1" kern="1200" dirty="0">
                        <a:solidFill>
                          <a:schemeClr val="lt1"/>
                        </a:solidFill>
                        <a:effectLst/>
                        <a:latin typeface="Times New Roman" pitchFamily="18" charset="0"/>
                        <a:ea typeface="+mn-ea"/>
                        <a:cs typeface="Times New Roman" pitchFamily="18" charset="0"/>
                      </a:endParaRPr>
                    </a:p>
                  </a:txBody>
                  <a:tcPr marL="33786" marR="33786" marT="0" marB="0"/>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6.2</a:t>
                      </a:r>
                      <a:endParaRPr lang="en-US" sz="2400" dirty="0">
                        <a:effectLst/>
                        <a:latin typeface="Times New Roman" pitchFamily="18" charset="0"/>
                        <a:ea typeface="Times New Roman"/>
                        <a:cs typeface="Times New Roman" pitchFamily="18" charset="0"/>
                      </a:endParaRPr>
                    </a:p>
                  </a:txBody>
                  <a:tcPr marL="36491" marR="36491" marT="0" marB="0" anchor="b"/>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8.7</a:t>
                      </a:r>
                      <a:endParaRPr lang="en-US" sz="2400" dirty="0">
                        <a:effectLst/>
                        <a:latin typeface="Times New Roman" pitchFamily="18" charset="0"/>
                        <a:ea typeface="Times New Roman"/>
                        <a:cs typeface="Times New Roman" pitchFamily="18" charset="0"/>
                      </a:endParaRPr>
                    </a:p>
                  </a:txBody>
                  <a:tcPr marL="36491" marR="36491" marT="0" marB="0"/>
                </a:tc>
                <a:extLst>
                  <a:ext uri="{0D108BD9-81ED-4DB2-BD59-A6C34878D82A}">
                    <a16:rowId xmlns:a16="http://schemas.microsoft.com/office/drawing/2014/main" val="10003"/>
                  </a:ext>
                </a:extLst>
              </a:tr>
              <a:tr h="0">
                <a:tc>
                  <a:txBody>
                    <a:bodyPr/>
                    <a:lstStyle/>
                    <a:p>
                      <a:pPr>
                        <a:lnSpc>
                          <a:spcPct val="107000"/>
                        </a:lnSpc>
                        <a:spcAft>
                          <a:spcPts val="0"/>
                        </a:spcAft>
                      </a:pPr>
                      <a:r>
                        <a:rPr lang="mn-MN" sz="2400" b="1" kern="1200" dirty="0">
                          <a:solidFill>
                            <a:schemeClr val="lt1"/>
                          </a:solidFill>
                          <a:effectLst/>
                          <a:latin typeface="Times New Roman" pitchFamily="18" charset="0"/>
                          <a:ea typeface="+mn-ea"/>
                          <a:cs typeface="Times New Roman" pitchFamily="18" charset="0"/>
                        </a:rPr>
                        <a:t>S&amp;P 500 хувьцаа</a:t>
                      </a:r>
                      <a:endParaRPr lang="en-US" sz="2400" b="1" kern="1200" dirty="0">
                        <a:solidFill>
                          <a:schemeClr val="lt1"/>
                        </a:solidFill>
                        <a:effectLst/>
                        <a:latin typeface="Times New Roman" pitchFamily="18" charset="0"/>
                        <a:ea typeface="+mn-ea"/>
                        <a:cs typeface="Times New Roman" pitchFamily="18" charset="0"/>
                      </a:endParaRPr>
                    </a:p>
                  </a:txBody>
                  <a:tcPr marL="33786" marR="33786" marT="0" marB="0"/>
                </a:tc>
                <a:tc>
                  <a:txBody>
                    <a:bodyPr/>
                    <a:lstStyle/>
                    <a:p>
                      <a:pPr marL="0" marR="0" algn="ctr">
                        <a:lnSpc>
                          <a:spcPct val="115000"/>
                        </a:lnSpc>
                        <a:spcBef>
                          <a:spcPts val="0"/>
                        </a:spcBef>
                        <a:spcAft>
                          <a:spcPts val="0"/>
                        </a:spcAft>
                      </a:pPr>
                      <a:r>
                        <a:rPr lang="en-US" sz="2400">
                          <a:effectLst/>
                          <a:latin typeface="Times New Roman" pitchFamily="18" charset="0"/>
                          <a:cs typeface="Times New Roman" pitchFamily="18" charset="0"/>
                        </a:rPr>
                        <a:t>12.2</a:t>
                      </a:r>
                      <a:endParaRPr lang="en-US" sz="2400">
                        <a:effectLst/>
                        <a:latin typeface="Times New Roman" pitchFamily="18" charset="0"/>
                        <a:ea typeface="Times New Roman"/>
                        <a:cs typeface="Times New Roman" pitchFamily="18" charset="0"/>
                      </a:endParaRPr>
                    </a:p>
                  </a:txBody>
                  <a:tcPr marL="36491" marR="36491" marT="0" marB="0" anchor="b"/>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20.5</a:t>
                      </a:r>
                      <a:endParaRPr lang="en-US" sz="2400" dirty="0">
                        <a:effectLst/>
                        <a:latin typeface="Times New Roman" pitchFamily="18" charset="0"/>
                        <a:ea typeface="Times New Roman"/>
                        <a:cs typeface="Times New Roman" pitchFamily="18" charset="0"/>
                      </a:endParaRPr>
                    </a:p>
                  </a:txBody>
                  <a:tcPr marL="36491" marR="36491" marT="0" marB="0"/>
                </a:tc>
                <a:extLst>
                  <a:ext uri="{0D108BD9-81ED-4DB2-BD59-A6C34878D82A}">
                    <a16:rowId xmlns:a16="http://schemas.microsoft.com/office/drawing/2014/main" val="10004"/>
                  </a:ext>
                </a:extLst>
              </a:tr>
              <a:tr h="0">
                <a:tc>
                  <a:txBody>
                    <a:bodyPr/>
                    <a:lstStyle/>
                    <a:p>
                      <a:pPr>
                        <a:lnSpc>
                          <a:spcPct val="107000"/>
                        </a:lnSpc>
                        <a:spcAft>
                          <a:spcPts val="0"/>
                        </a:spcAft>
                      </a:pPr>
                      <a:r>
                        <a:rPr lang="mn-MN" sz="2400" b="1" kern="1200" dirty="0">
                          <a:solidFill>
                            <a:schemeClr val="lt1"/>
                          </a:solidFill>
                          <a:effectLst/>
                          <a:latin typeface="Times New Roman" pitchFamily="18" charset="0"/>
                          <a:ea typeface="+mn-ea"/>
                          <a:cs typeface="Times New Roman" pitchFamily="18" charset="0"/>
                        </a:rPr>
                        <a:t>Жижиг компаний хувьцаа</a:t>
                      </a:r>
                      <a:endParaRPr lang="en-US" sz="2400" b="1" kern="1200" dirty="0">
                        <a:solidFill>
                          <a:schemeClr val="lt1"/>
                        </a:solidFill>
                        <a:effectLst/>
                        <a:latin typeface="Times New Roman" pitchFamily="18" charset="0"/>
                        <a:ea typeface="+mn-ea"/>
                        <a:cs typeface="Times New Roman" pitchFamily="18" charset="0"/>
                      </a:endParaRPr>
                    </a:p>
                  </a:txBody>
                  <a:tcPr marL="33786" marR="33786" marT="0" marB="0"/>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16.9</a:t>
                      </a:r>
                      <a:endParaRPr lang="en-US" sz="2400" dirty="0">
                        <a:effectLst/>
                        <a:latin typeface="Times New Roman" pitchFamily="18" charset="0"/>
                        <a:ea typeface="Times New Roman"/>
                        <a:cs typeface="Times New Roman" pitchFamily="18" charset="0"/>
                      </a:endParaRPr>
                    </a:p>
                  </a:txBody>
                  <a:tcPr marL="36491" marR="36491" marT="0" marB="0" anchor="b"/>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33.2</a:t>
                      </a:r>
                      <a:endParaRPr lang="en-US" sz="2400" dirty="0">
                        <a:effectLst/>
                        <a:latin typeface="Times New Roman" pitchFamily="18" charset="0"/>
                        <a:ea typeface="Times New Roman"/>
                        <a:cs typeface="Times New Roman" pitchFamily="18" charset="0"/>
                      </a:endParaRPr>
                    </a:p>
                  </a:txBody>
                  <a:tcPr marL="36491" marR="36491" marT="0" marB="0" anchor="b"/>
                </a:tc>
                <a:extLst>
                  <a:ext uri="{0D108BD9-81ED-4DB2-BD59-A6C34878D82A}">
                    <a16:rowId xmlns:a16="http://schemas.microsoft.com/office/drawing/2014/main" val="10005"/>
                  </a:ext>
                </a:extLst>
              </a:tr>
              <a:tr h="0">
                <a:tc gridSpan="3">
                  <a:txBody>
                    <a:bodyPr/>
                    <a:lstStyle/>
                    <a:p>
                      <a:pPr marL="0" marR="0" algn="r">
                        <a:lnSpc>
                          <a:spcPct val="115000"/>
                        </a:lnSpc>
                        <a:spcBef>
                          <a:spcPts val="0"/>
                        </a:spcBef>
                        <a:spcAft>
                          <a:spcPts val="0"/>
                        </a:spcAft>
                      </a:pPr>
                      <a:r>
                        <a:rPr lang="en-US" sz="2000" dirty="0">
                          <a:effectLst/>
                          <a:latin typeface="Times New Roman" pitchFamily="18" charset="0"/>
                          <a:cs typeface="Times New Roman" pitchFamily="18" charset="0"/>
                        </a:rPr>
                        <a:t>Source: R. G. Ibbotson Associates, Chicago, IL, 2003</a:t>
                      </a:r>
                      <a:r>
                        <a:rPr lang="en-US" sz="1000" dirty="0">
                          <a:effectLst/>
                        </a:rPr>
                        <a:t>.</a:t>
                      </a:r>
                      <a:endParaRPr lang="en-US" sz="1100" dirty="0">
                        <a:effectLst/>
                        <a:latin typeface="Calibri"/>
                        <a:ea typeface="Times New Roman"/>
                        <a:cs typeface="Times New Roman"/>
                      </a:endParaRPr>
                    </a:p>
                  </a:txBody>
                  <a:tcPr marL="36491" marR="3649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197507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C581B-1C8E-4E3C-0547-E01275443290}"/>
              </a:ext>
            </a:extLst>
          </p:cNvPr>
          <p:cNvSpPr>
            <a:spLocks noGrp="1"/>
          </p:cNvSpPr>
          <p:nvPr>
            <p:ph type="title"/>
          </p:nvPr>
        </p:nvSpPr>
        <p:spPr>
          <a:xfrm>
            <a:off x="133662" y="125282"/>
            <a:ext cx="11918430" cy="699177"/>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Хөрөнгө оруулалтын эх үүсвэр</a:t>
            </a:r>
            <a:br>
              <a:rPr lang="mn-MN" sz="3600" b="1" dirty="0">
                <a:solidFill>
                  <a:srgbClr val="002060"/>
                </a:solidFill>
                <a:latin typeface="Times New Roman" panose="02020603050405020304" pitchFamily="18" charset="0"/>
                <a:cs typeface="Times New Roman" panose="02020603050405020304" pitchFamily="18" charset="0"/>
              </a:rPr>
            </a:br>
            <a:r>
              <a:rPr lang="mn-MN" sz="3600" b="1" dirty="0">
                <a:solidFill>
                  <a:schemeClr val="accent2">
                    <a:lumMod val="75000"/>
                  </a:schemeClr>
                </a:solidFill>
                <a:latin typeface="Times New Roman" panose="02020603050405020304" pitchFamily="18" charset="0"/>
                <a:cs typeface="Times New Roman" panose="02020603050405020304" pitchFamily="18" charset="0"/>
              </a:rPr>
              <a:t>Зээлийн хөрөнгө</a:t>
            </a:r>
            <a:endParaRPr lang="en-US" sz="3600" dirty="0">
              <a:solidFill>
                <a:schemeClr val="accent2">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0692B1-1C5F-C95A-0C28-9AE5D7EDF0AC}"/>
                  </a:ext>
                </a:extLst>
              </p:cNvPr>
              <p:cNvSpPr>
                <a:spLocks noGrp="1"/>
              </p:cNvSpPr>
              <p:nvPr>
                <p:ph idx="1"/>
              </p:nvPr>
            </p:nvSpPr>
            <p:spPr>
              <a:xfrm>
                <a:off x="133662" y="961244"/>
                <a:ext cx="11918430" cy="5225143"/>
              </a:xfrm>
            </p:spPr>
            <p:txBody>
              <a:bodyPr>
                <a:normAutofit/>
              </a:bodyPr>
              <a:lstStyle/>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Хөрөнгийн нэг эх үүсвэр бол зээл байдаг.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Мөнгийг банкаар дамжуулан зээлэх,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Эсвэл бусдаас зээлэх,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Хувьцаа болон өрийн бичиг зарах замаар босгож болно. </a:t>
                </a: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Бондыг зах зээлд амжилттай арилжаалахын тулд түүний өгөөж нь худалдан авагчдын сонирхлыг татахуйц байх шаардлагатай. </a:t>
                </a: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Бондын зэрэглэл өндөр үнэлгээтэй байх тусам хөрөнгө оруулагчдын сонирхлыг татахад шаардлагатай хүүний түвшин бага байдаг.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Тухайн үеийн засгийн газрын сангийн бондын хүүний түвшингээр эрсдэлгүй өгөөжийн хүү (</a:t>
                </a:r>
                <a14:m>
                  <m:oMath xmlns:m="http://schemas.openxmlformats.org/officeDocument/2006/math">
                    <m:sSub>
                      <m:sSubPr>
                        <m:ctrlPr>
                          <a:rPr lang="en-US" sz="2800" i="1" dirty="0" smtClean="0">
                            <a:solidFill>
                              <a:srgbClr val="002060"/>
                            </a:solidFill>
                            <a:latin typeface="Cambria Math" panose="02040503050406030204" pitchFamily="18" charset="0"/>
                          </a:rPr>
                        </m:ctrlPr>
                      </m:sSubPr>
                      <m:e>
                        <m:r>
                          <a:rPr lang="en-US" sz="2800" i="1" dirty="0">
                            <a:solidFill>
                              <a:srgbClr val="002060"/>
                            </a:solidFill>
                            <a:latin typeface="Cambria Math" panose="02040503050406030204" pitchFamily="18" charset="0"/>
                          </a:rPr>
                          <m:t>𝑅</m:t>
                        </m:r>
                      </m:e>
                      <m:sub>
                        <m:r>
                          <a:rPr lang="en-US" sz="2800" b="0" i="1" dirty="0" smtClean="0">
                            <a:solidFill>
                              <a:srgbClr val="002060"/>
                            </a:solidFill>
                            <a:latin typeface="Cambria Math" panose="02040503050406030204" pitchFamily="18" charset="0"/>
                          </a:rPr>
                          <m:t>𝐹</m:t>
                        </m:r>
                      </m:sub>
                    </m:sSub>
                  </m:oMath>
                </a14:m>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г төлөөлүүлэн тооцоход хэрэглэдэг</a:t>
                </a:r>
                <a:r>
                  <a:rPr lang="en-US" sz="2800" dirty="0">
                    <a:solidFill>
                      <a:srgbClr val="002060"/>
                    </a:solidFill>
                    <a:latin typeface="Times New Roman" panose="02020603050405020304" pitchFamily="18" charset="0"/>
                    <a:cs typeface="Times New Roman" panose="02020603050405020304" pitchFamily="18" charset="0"/>
                  </a:rPr>
                  <a:t>.</a:t>
                </a:r>
                <a:endParaRPr lang="en-US" sz="32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270692B1-1C5F-C95A-0C28-9AE5D7EDF0AC}"/>
                  </a:ext>
                </a:extLst>
              </p:cNvPr>
              <p:cNvSpPr>
                <a:spLocks noGrp="1" noRot="1" noChangeAspect="1" noMove="1" noResize="1" noEditPoints="1" noAdjustHandles="1" noChangeArrowheads="1" noChangeShapeType="1" noTextEdit="1"/>
              </p:cNvSpPr>
              <p:nvPr>
                <p:ph idx="1"/>
              </p:nvPr>
            </p:nvSpPr>
            <p:spPr>
              <a:xfrm>
                <a:off x="133662" y="961244"/>
                <a:ext cx="11918430" cy="5225143"/>
              </a:xfrm>
              <a:blipFill>
                <a:blip r:embed="rId3"/>
                <a:stretch>
                  <a:fillRect l="-1176" t="-2567" r="-1279"/>
                </a:stretch>
              </a:blipFill>
            </p:spPr>
            <p:txBody>
              <a:bodyPr/>
              <a:lstStyle/>
              <a:p>
                <a:r>
                  <a:rPr lang="en-US">
                    <a:noFill/>
                  </a:rPr>
                  <a:t> </a:t>
                </a:r>
              </a:p>
            </p:txBody>
          </p:sp>
        </mc:Fallback>
      </mc:AlternateContent>
    </p:spTree>
    <p:extLst>
      <p:ext uri="{BB962C8B-B14F-4D97-AF65-F5344CB8AC3E}">
        <p14:creationId xmlns:p14="http://schemas.microsoft.com/office/powerpoint/2010/main" val="40804239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C581B-1C8E-4E3C-0547-E01275443290}"/>
              </a:ext>
            </a:extLst>
          </p:cNvPr>
          <p:cNvSpPr>
            <a:spLocks noGrp="1"/>
          </p:cNvSpPr>
          <p:nvPr>
            <p:ph type="title"/>
          </p:nvPr>
        </p:nvSpPr>
        <p:spPr>
          <a:xfrm>
            <a:off x="209859" y="140273"/>
            <a:ext cx="11841461" cy="444343"/>
          </a:xfrm>
        </p:spPr>
        <p:txBody>
          <a:bodyPr>
            <a:normAutofit fontScale="90000"/>
          </a:bodyPr>
          <a:lstStyle/>
          <a:p>
            <a:pPr>
              <a:spcBef>
                <a:spcPts val="400"/>
              </a:spcBef>
            </a:pPr>
            <a:r>
              <a:rPr lang="mn-MN" sz="3200" b="1" dirty="0">
                <a:solidFill>
                  <a:srgbClr val="002060"/>
                </a:solidFill>
                <a:latin typeface="Times New Roman" panose="02020603050405020304" pitchFamily="18" charset="0"/>
                <a:cs typeface="Times New Roman" panose="02020603050405020304" pitchFamily="18" charset="0"/>
              </a:rPr>
              <a:t>Хөрөнгө оруулалтын эх үүсвэр. </a:t>
            </a:r>
            <a:r>
              <a:rPr lang="mn-MN" sz="3200" b="1" dirty="0">
                <a:solidFill>
                  <a:schemeClr val="accent2">
                    <a:lumMod val="75000"/>
                  </a:schemeClr>
                </a:solidFill>
                <a:latin typeface="Times New Roman" panose="02020603050405020304" pitchFamily="18" charset="0"/>
                <a:cs typeface="Times New Roman" panose="02020603050405020304" pitchFamily="18" charset="0"/>
              </a:rPr>
              <a:t>Зээлийн хөрөнгө</a:t>
            </a:r>
            <a:endParaRPr lang="en-US" sz="3200" dirty="0">
              <a:solidFill>
                <a:schemeClr val="accent2">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0692B1-1C5F-C95A-0C28-9AE5D7EDF0AC}"/>
                  </a:ext>
                </a:extLst>
              </p:cNvPr>
              <p:cNvSpPr>
                <a:spLocks noGrp="1"/>
              </p:cNvSpPr>
              <p:nvPr>
                <p:ph idx="1"/>
              </p:nvPr>
            </p:nvSpPr>
            <p:spPr>
              <a:xfrm>
                <a:off x="209859" y="561596"/>
                <a:ext cx="11772282" cy="3905474"/>
              </a:xfrm>
            </p:spPr>
            <p:txBody>
              <a:bodyPr>
                <a:normAutofit/>
              </a:bodyPr>
              <a:lstStyle/>
              <a:p>
                <a:pPr algn="just">
                  <a:spcBef>
                    <a:spcPts val="400"/>
                  </a:spcBef>
                </a:pPr>
                <a:r>
                  <a:rPr lang="mn-MN" dirty="0">
                    <a:solidFill>
                      <a:srgbClr val="002060"/>
                    </a:solidFill>
                    <a:latin typeface="Times New Roman" panose="02020603050405020304" pitchFamily="18" charset="0"/>
                    <a:cs typeface="Times New Roman" panose="02020603050405020304" pitchFamily="18" charset="0"/>
                  </a:rPr>
                  <a:t>Компаниуд зээлийн төлбөрийг хийхдээ татварыг суутгах сонирхолтой байдаг. Татварыг суутгах нь хэмнэлтийг бий болгодог тул хөрөнгө оруулалтын талаархи ИЭЗШ-нд үүнийг тооцох хэрэгтэй. </a:t>
                </a:r>
              </a:p>
              <a:p>
                <a:pPr algn="just">
                  <a:spcBef>
                    <a:spcPts val="400"/>
                  </a:spcBef>
                </a:pPr>
                <a:r>
                  <a:rPr lang="mn-MN" dirty="0">
                    <a:solidFill>
                      <a:srgbClr val="002060"/>
                    </a:solidFill>
                    <a:latin typeface="Times New Roman" panose="02020603050405020304" pitchFamily="18" charset="0"/>
                    <a:cs typeface="Times New Roman" panose="02020603050405020304" pitchFamily="18" charset="0"/>
                  </a:rPr>
                  <a:t>Үүнийг хэрэгжүүлэх хоёр аргын хамгийн түгээмэл хэрэглэдэг арга бол хүүнээс татвар суутгах боломжтой байхаар тооцоолохын тулд </a:t>
                </a:r>
                <a:r>
                  <a:rPr lang="en-US" dirty="0">
                    <a:solidFill>
                      <a:srgbClr val="002060"/>
                    </a:solidFill>
                    <a:latin typeface="Times New Roman" panose="02020603050405020304" pitchFamily="18" charset="0"/>
                    <a:cs typeface="Times New Roman" panose="02020603050405020304" pitchFamily="18" charset="0"/>
                  </a:rPr>
                  <a:t>MARR-</a:t>
                </a:r>
                <a:r>
                  <a:rPr lang="mn-MN" dirty="0">
                    <a:solidFill>
                      <a:srgbClr val="002060"/>
                    </a:solidFill>
                    <a:latin typeface="Times New Roman" panose="02020603050405020304" pitchFamily="18" charset="0"/>
                    <a:cs typeface="Times New Roman" panose="02020603050405020304" pitchFamily="18" charset="0"/>
                  </a:rPr>
                  <a:t>ийг хэрэглэсэн зээлийн өртгийг өөрчлөх арга юм.</a:t>
                </a:r>
              </a:p>
              <a:p>
                <a:pPr marL="0" indent="0" algn="just">
                  <a:spcBef>
                    <a:spcPts val="400"/>
                  </a:spcBef>
                  <a:buNone/>
                </a:pPr>
                <a14:m>
                  <m:oMathPara xmlns:m="http://schemas.openxmlformats.org/officeDocument/2006/math">
                    <m:oMathParaPr>
                      <m:jc m:val="centerGroup"/>
                    </m:oMathParaPr>
                    <m:oMath xmlns:m="http://schemas.openxmlformats.org/officeDocument/2006/math">
                      <m:sSub>
                        <m:sSubPr>
                          <m:ctrlPr>
                            <a:rPr lang="en-US" sz="3600" i="1" smtClean="0">
                              <a:solidFill>
                                <a:srgbClr val="FF0000"/>
                              </a:solidFill>
                              <a:latin typeface="Cambria Math" panose="02040503050406030204" pitchFamily="18" charset="0"/>
                            </a:rPr>
                          </m:ctrlPr>
                        </m:sSubPr>
                        <m:e>
                          <m:r>
                            <a:rPr lang="en-US" sz="3600" i="1">
                              <a:solidFill>
                                <a:srgbClr val="FF0000"/>
                              </a:solidFill>
                              <a:latin typeface="Cambria Math" panose="02040503050406030204" pitchFamily="18" charset="0"/>
                            </a:rPr>
                            <m:t>𝐴𝑇𝐶𝐹</m:t>
                          </m:r>
                        </m:e>
                        <m:sub>
                          <m:r>
                            <a:rPr lang="en-US" sz="3600" i="1">
                              <a:solidFill>
                                <a:srgbClr val="FF0000"/>
                              </a:solidFill>
                              <a:latin typeface="Cambria Math" panose="02040503050406030204" pitchFamily="18" charset="0"/>
                            </a:rPr>
                            <m:t>𝑘</m:t>
                          </m:r>
                        </m:sub>
                      </m:sSub>
                      <m:r>
                        <a:rPr lang="en-US" sz="3600" i="1">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en-US" sz="3600" i="1">
                              <a:solidFill>
                                <a:srgbClr val="FF0000"/>
                              </a:solidFill>
                              <a:latin typeface="Cambria Math" panose="02040503050406030204" pitchFamily="18" charset="0"/>
                            </a:rPr>
                            <m:t>𝑁𝑂𝑃𝐴𝑇</m:t>
                          </m:r>
                        </m:e>
                        <m:sub>
                          <m:r>
                            <a:rPr lang="en-US" sz="3600" i="1">
                              <a:solidFill>
                                <a:srgbClr val="FF0000"/>
                              </a:solidFill>
                              <a:latin typeface="Cambria Math" panose="02040503050406030204" pitchFamily="18" charset="0"/>
                            </a:rPr>
                            <m:t>𝑘</m:t>
                          </m:r>
                        </m:sub>
                      </m:sSub>
                      <m:r>
                        <a:rPr lang="en-US" sz="3600" i="1">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en-US" sz="3600" i="1">
                              <a:solidFill>
                                <a:srgbClr val="FF0000"/>
                              </a:solidFill>
                              <a:latin typeface="Cambria Math" panose="02040503050406030204" pitchFamily="18" charset="0"/>
                            </a:rPr>
                            <m:t>𝑑</m:t>
                          </m:r>
                        </m:e>
                        <m:sub>
                          <m:r>
                            <a:rPr lang="en-US" sz="3600" i="1">
                              <a:solidFill>
                                <a:srgbClr val="FF0000"/>
                              </a:solidFill>
                              <a:latin typeface="Cambria Math" panose="02040503050406030204" pitchFamily="18" charset="0"/>
                            </a:rPr>
                            <m:t>𝑘</m:t>
                          </m:r>
                        </m:sub>
                      </m:sSub>
                      <m:r>
                        <a:rPr lang="en-US" sz="3600" i="1">
                          <a:solidFill>
                            <a:srgbClr val="FF0000"/>
                          </a:solidFill>
                          <a:latin typeface="Cambria Math" panose="02040503050406030204" pitchFamily="18" charset="0"/>
                        </a:rPr>
                        <m:t>=(1−</m:t>
                      </m:r>
                      <m:r>
                        <a:rPr lang="en-US" sz="3600" i="1">
                          <a:solidFill>
                            <a:srgbClr val="FF0000"/>
                          </a:solidFill>
                          <a:latin typeface="Cambria Math" panose="02040503050406030204" pitchFamily="18" charset="0"/>
                        </a:rPr>
                        <m:t>𝑡</m:t>
                      </m:r>
                      <m:r>
                        <a:rPr lang="en-US" sz="3600" i="1">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en-US" sz="3600" i="1">
                              <a:solidFill>
                                <a:srgbClr val="FF0000"/>
                              </a:solidFill>
                              <a:latin typeface="Cambria Math" panose="02040503050406030204" pitchFamily="18" charset="0"/>
                            </a:rPr>
                            <m:t>𝐸𝐵𝐼𝑇</m:t>
                          </m:r>
                        </m:e>
                        <m:sub>
                          <m:r>
                            <a:rPr lang="en-US" sz="3600" i="1">
                              <a:solidFill>
                                <a:srgbClr val="FF0000"/>
                              </a:solidFill>
                              <a:latin typeface="Cambria Math" panose="02040503050406030204" pitchFamily="18" charset="0"/>
                            </a:rPr>
                            <m:t>𝑘</m:t>
                          </m:r>
                        </m:sub>
                      </m:sSub>
                      <m:r>
                        <a:rPr lang="en-US" sz="3600" i="1">
                          <a:solidFill>
                            <a:srgbClr val="FF0000"/>
                          </a:solidFill>
                          <a:latin typeface="Cambria Math" panose="02040503050406030204" pitchFamily="18" charset="0"/>
                        </a:rPr>
                        <m:t>+</m:t>
                      </m:r>
                      <m:r>
                        <a:rPr lang="en-US" sz="3600" i="1">
                          <a:solidFill>
                            <a:srgbClr val="FF0000"/>
                          </a:solidFill>
                          <a:latin typeface="Cambria Math" panose="02040503050406030204" pitchFamily="18" charset="0"/>
                        </a:rPr>
                        <m:t>𝑡</m:t>
                      </m:r>
                      <m:sSub>
                        <m:sSubPr>
                          <m:ctrlPr>
                            <a:rPr lang="en-US" sz="3600" i="1">
                              <a:solidFill>
                                <a:srgbClr val="FF0000"/>
                              </a:solidFill>
                              <a:latin typeface="Cambria Math" panose="02040503050406030204" pitchFamily="18" charset="0"/>
                            </a:rPr>
                          </m:ctrlPr>
                        </m:sSubPr>
                        <m:e>
                          <m:r>
                            <a:rPr lang="en-US" sz="3600" i="1">
                              <a:solidFill>
                                <a:srgbClr val="FF0000"/>
                              </a:solidFill>
                              <a:latin typeface="Cambria Math" panose="02040503050406030204" pitchFamily="18" charset="0"/>
                            </a:rPr>
                            <m:t>𝑑</m:t>
                          </m:r>
                        </m:e>
                        <m:sub>
                          <m:r>
                            <a:rPr lang="en-US" sz="3600" i="1">
                              <a:solidFill>
                                <a:srgbClr val="FF0000"/>
                              </a:solidFill>
                              <a:latin typeface="Cambria Math" panose="02040503050406030204" pitchFamily="18" charset="0"/>
                            </a:rPr>
                            <m:t>𝑘</m:t>
                          </m:r>
                        </m:sub>
                      </m:sSub>
                    </m:oMath>
                  </m:oMathPara>
                </a14:m>
                <a:endParaRPr lang="en-US" dirty="0">
                  <a:solidFill>
                    <a:srgbClr val="002060"/>
                  </a:solidFill>
                  <a:latin typeface="Times New Roman" panose="02020603050405020304" pitchFamily="18" charset="0"/>
                  <a:cs typeface="Times New Roman" panose="02020603050405020304" pitchFamily="18" charset="0"/>
                </a:endParaRPr>
              </a:p>
              <a:p>
                <a:pPr algn="just">
                  <a:spcBef>
                    <a:spcPts val="400"/>
                  </a:spcBef>
                </a:pPr>
                <a:r>
                  <a:rPr lang="mn-MN" dirty="0">
                    <a:solidFill>
                      <a:srgbClr val="002060"/>
                    </a:solidFill>
                    <a:latin typeface="Times New Roman" panose="02020603050405020304" pitchFamily="18" charset="0"/>
                    <a:cs typeface="Times New Roman" panose="02020603050405020304" pitchFamily="18" charset="0"/>
                  </a:rPr>
                  <a:t>Зээлийн хөрөнгийн зардлыг (</a:t>
                </a:r>
                <a14:m>
                  <m:oMath xmlns:m="http://schemas.openxmlformats.org/officeDocument/2006/math">
                    <m:sSub>
                      <m:sSubPr>
                        <m:ctrlPr>
                          <a:rPr lang="en-US" i="1" smtClean="0">
                            <a:solidFill>
                              <a:srgbClr val="002060"/>
                            </a:solidFill>
                            <a:latin typeface="Cambria Math" panose="02040503050406030204" pitchFamily="18" charset="0"/>
                            <a:cs typeface="Times New Roman" pitchFamily="18" charset="0"/>
                          </a:rPr>
                        </m:ctrlPr>
                      </m:sSubPr>
                      <m:e>
                        <m:r>
                          <a:rPr lang="en-US">
                            <a:solidFill>
                              <a:srgbClr val="002060"/>
                            </a:solidFill>
                            <a:latin typeface="Cambria Math" panose="02040503050406030204" pitchFamily="18" charset="0"/>
                            <a:cs typeface="Times New Roman" pitchFamily="18" charset="0"/>
                          </a:rPr>
                          <m:t>𝑖</m:t>
                        </m:r>
                      </m:e>
                      <m:sub>
                        <m:r>
                          <a:rPr lang="en-US">
                            <a:solidFill>
                              <a:srgbClr val="002060"/>
                            </a:solidFill>
                            <a:latin typeface="Cambria Math" panose="02040503050406030204" pitchFamily="18" charset="0"/>
                            <a:cs typeface="Times New Roman" pitchFamily="18" charset="0"/>
                          </a:rPr>
                          <m:t>𝑏</m:t>
                        </m:r>
                      </m:sub>
                    </m:sSub>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гэж үзвэл, компаний зээлийн татварын дараах зардал </a:t>
                </a:r>
                <a14:m>
                  <m:oMath xmlns:m="http://schemas.openxmlformats.org/officeDocument/2006/math">
                    <m:sSub>
                      <m:sSubPr>
                        <m:ctrlPr>
                          <a:rPr lang="en-US" i="1">
                            <a:solidFill>
                              <a:srgbClr val="002060"/>
                            </a:solidFill>
                            <a:latin typeface="Cambria Math" panose="02040503050406030204" pitchFamily="18" charset="0"/>
                            <a:cs typeface="Times New Roman" pitchFamily="18" charset="0"/>
                          </a:rPr>
                        </m:ctrlPr>
                      </m:sSubPr>
                      <m:e>
                        <m:d>
                          <m:dPr>
                            <m:ctrlPr>
                              <a:rPr lang="en-US" i="1" smtClean="0">
                                <a:solidFill>
                                  <a:srgbClr val="002060"/>
                                </a:solidFill>
                                <a:latin typeface="Cambria Math" panose="02040503050406030204" pitchFamily="18" charset="0"/>
                                <a:cs typeface="Times New Roman" pitchFamily="18" charset="0"/>
                              </a:rPr>
                            </m:ctrlPr>
                          </m:dPr>
                          <m:e>
                            <m:r>
                              <a:rPr lang="mn-MN" b="0" i="1" smtClean="0">
                                <a:solidFill>
                                  <a:srgbClr val="002060"/>
                                </a:solidFill>
                                <a:latin typeface="Cambria Math" panose="02040503050406030204" pitchFamily="18" charset="0"/>
                                <a:cs typeface="Times New Roman" pitchFamily="18" charset="0"/>
                              </a:rPr>
                              <m:t>1−</m:t>
                            </m:r>
                            <m:r>
                              <a:rPr lang="en-US" b="0" i="1" smtClean="0">
                                <a:solidFill>
                                  <a:srgbClr val="002060"/>
                                </a:solidFill>
                                <a:latin typeface="Cambria Math" panose="02040503050406030204" pitchFamily="18" charset="0"/>
                                <a:cs typeface="Times New Roman" pitchFamily="18" charset="0"/>
                              </a:rPr>
                              <m:t>𝑡</m:t>
                            </m:r>
                          </m:e>
                        </m:d>
                        <m:r>
                          <a:rPr lang="en-US">
                            <a:solidFill>
                              <a:srgbClr val="002060"/>
                            </a:solidFill>
                            <a:latin typeface="Cambria Math" panose="02040503050406030204" pitchFamily="18" charset="0"/>
                            <a:cs typeface="Times New Roman" pitchFamily="18" charset="0"/>
                          </a:rPr>
                          <m:t>𝑖</m:t>
                        </m:r>
                      </m:e>
                      <m:sub>
                        <m:r>
                          <a:rPr lang="en-US">
                            <a:solidFill>
                              <a:srgbClr val="002060"/>
                            </a:solidFill>
                            <a:latin typeface="Cambria Math" panose="02040503050406030204" pitchFamily="18" charset="0"/>
                            <a:cs typeface="Times New Roman" pitchFamily="18" charset="0"/>
                          </a:rPr>
                          <m:t>𝑏</m:t>
                        </m:r>
                      </m:sub>
                    </m:sSub>
                  </m:oMath>
                </a14:m>
                <a:r>
                  <a:rPr lang="mn-MN" sz="2800" i="1" cap="none" baseline="-25000"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байна. </a:t>
                </a:r>
                <a:endParaRPr lang="en-US"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270692B1-1C5F-C95A-0C28-9AE5D7EDF0AC}"/>
                  </a:ext>
                </a:extLst>
              </p:cNvPr>
              <p:cNvSpPr>
                <a:spLocks noGrp="1" noRot="1" noChangeAspect="1" noMove="1" noResize="1" noEditPoints="1" noAdjustHandles="1" noChangeArrowheads="1" noChangeShapeType="1" noTextEdit="1"/>
              </p:cNvSpPr>
              <p:nvPr>
                <p:ph idx="1"/>
              </p:nvPr>
            </p:nvSpPr>
            <p:spPr>
              <a:xfrm>
                <a:off x="209859" y="561596"/>
                <a:ext cx="11772282" cy="3905474"/>
              </a:xfrm>
              <a:blipFill>
                <a:blip r:embed="rId3"/>
                <a:stretch>
                  <a:fillRect l="-932" t="-2652" r="-1035" b="-6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1D73B07-6835-1C1D-0F20-ABDDADCD82B9}"/>
                  </a:ext>
                </a:extLst>
              </p:cNvPr>
              <p:cNvSpPr txBox="1"/>
              <p:nvPr/>
            </p:nvSpPr>
            <p:spPr>
              <a:xfrm>
                <a:off x="350539" y="4319840"/>
                <a:ext cx="11841461" cy="1421928"/>
              </a:xfrm>
              <a:prstGeom prst="rect">
                <a:avLst/>
              </a:prstGeom>
              <a:noFill/>
            </p:spPr>
            <p:txBody>
              <a:bodyPr wrap="square">
                <a:spAutoFit/>
              </a:bodyPr>
              <a:lstStyle/>
              <a:p>
                <a:pPr>
                  <a:lnSpc>
                    <a:spcPct val="90000"/>
                  </a:lnSpc>
                  <a:spcBef>
                    <a:spcPts val="400"/>
                  </a:spcBef>
                </a:pPr>
                <a:r>
                  <a:rPr lang="mn-MN" sz="2400" b="1" dirty="0">
                    <a:solidFill>
                      <a:srgbClr val="FF0000"/>
                    </a:solidFill>
                    <a:latin typeface="Times New Roman" panose="02020603050405020304" pitchFamily="18" charset="0"/>
                    <a:cs typeface="Times New Roman" panose="02020603050405020304" pitchFamily="18" charset="0"/>
                  </a:rPr>
                  <a:t>Энд: </a:t>
                </a:r>
                <a14:m>
                  <m:oMath xmlns:m="http://schemas.openxmlformats.org/officeDocument/2006/math">
                    <m:r>
                      <a:rPr lang="en-US" sz="2400" i="1" dirty="0" smtClean="0">
                        <a:solidFill>
                          <a:srgbClr val="002060"/>
                        </a:solidFill>
                        <a:latin typeface="Cambria Math" panose="02040503050406030204" pitchFamily="18" charset="0"/>
                      </a:rPr>
                      <m:t>𝑘</m:t>
                    </m:r>
                  </m:oMath>
                </a14:m>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жилийн дугаар; </a:t>
                </a:r>
                <a14:m>
                  <m:oMath xmlns:m="http://schemas.openxmlformats.org/officeDocument/2006/math">
                    <m:sSub>
                      <m:sSubPr>
                        <m:ctrlPr>
                          <a:rPr lang="en-US" sz="2400" i="1">
                            <a:solidFill>
                              <a:srgbClr val="002060"/>
                            </a:solidFill>
                            <a:latin typeface="Cambria Math" panose="02040503050406030204" pitchFamily="18" charset="0"/>
                          </a:rPr>
                        </m:ctrlPr>
                      </m:sSubPr>
                      <m:e>
                        <m:r>
                          <a:rPr lang="en-US" sz="2400" i="1">
                            <a:solidFill>
                              <a:srgbClr val="002060"/>
                            </a:solidFill>
                            <a:latin typeface="Cambria Math" panose="02040503050406030204" pitchFamily="18" charset="0"/>
                          </a:rPr>
                          <m:t>𝐴𝑇𝐶𝐹</m:t>
                        </m:r>
                      </m:e>
                      <m:sub>
                        <m:r>
                          <a:rPr lang="en-US" sz="2400" i="1">
                            <a:solidFill>
                              <a:srgbClr val="002060"/>
                            </a:solidFill>
                            <a:latin typeface="Cambria Math" panose="02040503050406030204" pitchFamily="18" charset="0"/>
                          </a:rPr>
                          <m:t>𝑘</m:t>
                        </m:r>
                      </m:sub>
                    </m:sSub>
                    <m:r>
                      <a:rPr lang="en-US" sz="2400" i="1">
                        <a:solidFill>
                          <a:srgbClr val="002060"/>
                        </a:solidFill>
                        <a:latin typeface="Cambria Math" panose="02040503050406030204" pitchFamily="18" charset="0"/>
                      </a:rPr>
                      <m:t> </m:t>
                    </m:r>
                  </m:oMath>
                </a14:m>
                <a:r>
                  <a:rPr lang="mn-MN" sz="2400" dirty="0">
                    <a:solidFill>
                      <a:srgbClr val="002060"/>
                    </a:solidFill>
                    <a:latin typeface="Times New Roman" panose="02020603050405020304" pitchFamily="18" charset="0"/>
                    <a:cs typeface="Times New Roman" panose="02020603050405020304" pitchFamily="18" charset="0"/>
                  </a:rPr>
                  <a:t>= татварын дараах бэлэн мөнгөний урсгал (зээлийн хүүг хассан); </a:t>
                </a:r>
                <a14:m>
                  <m:oMath xmlns:m="http://schemas.openxmlformats.org/officeDocument/2006/math">
                    <m:sSub>
                      <m:sSubPr>
                        <m:ctrlPr>
                          <a:rPr lang="en-US" sz="2400" i="1">
                            <a:solidFill>
                              <a:srgbClr val="002060"/>
                            </a:solidFill>
                            <a:latin typeface="Cambria Math" panose="02040503050406030204" pitchFamily="18" charset="0"/>
                          </a:rPr>
                        </m:ctrlPr>
                      </m:sSubPr>
                      <m:e>
                        <m:r>
                          <a:rPr lang="en-US" sz="2400" i="1">
                            <a:solidFill>
                              <a:srgbClr val="002060"/>
                            </a:solidFill>
                            <a:latin typeface="Cambria Math" panose="02040503050406030204" pitchFamily="18" charset="0"/>
                          </a:rPr>
                          <m:t>𝑁𝑂𝑃𝐴𝑇</m:t>
                        </m:r>
                      </m:e>
                      <m:sub>
                        <m:r>
                          <a:rPr lang="en-US" sz="2400" i="1">
                            <a:solidFill>
                              <a:srgbClr val="002060"/>
                            </a:solidFill>
                            <a:latin typeface="Cambria Math" panose="02040503050406030204" pitchFamily="18" charset="0"/>
                          </a:rPr>
                          <m:t>𝑘</m:t>
                        </m:r>
                      </m:sub>
                    </m:sSub>
                  </m:oMath>
                </a14:m>
                <a:r>
                  <a:rPr lang="mn-MN" sz="2400" dirty="0">
                    <a:solidFill>
                      <a:srgbClr val="002060"/>
                    </a:solidFill>
                    <a:latin typeface="Times New Roman" panose="02020603050405020304" pitchFamily="18" charset="0"/>
                    <a:cs typeface="Times New Roman" panose="02020603050405020304" pitchFamily="18" charset="0"/>
                  </a:rPr>
                  <a:t> = татварын дараах үйл ажиллагааны цэвэр ашиг; </a:t>
                </a:r>
                <a14:m>
                  <m:oMath xmlns:m="http://schemas.openxmlformats.org/officeDocument/2006/math">
                    <m:sSub>
                      <m:sSubPr>
                        <m:ctrlPr>
                          <a:rPr lang="en-US" sz="2400" i="1">
                            <a:solidFill>
                              <a:srgbClr val="002060"/>
                            </a:solidFill>
                            <a:latin typeface="Cambria Math" panose="02040503050406030204" pitchFamily="18" charset="0"/>
                          </a:rPr>
                        </m:ctrlPr>
                      </m:sSubPr>
                      <m:e>
                        <m:r>
                          <a:rPr lang="en-US" sz="2400" i="1">
                            <a:solidFill>
                              <a:srgbClr val="002060"/>
                            </a:solidFill>
                            <a:latin typeface="Cambria Math" panose="02040503050406030204" pitchFamily="18" charset="0"/>
                          </a:rPr>
                          <m:t>𝐸𝐵𝐼𝑇</m:t>
                        </m:r>
                      </m:e>
                      <m:sub>
                        <m:r>
                          <a:rPr lang="en-US" sz="2400" i="1">
                            <a:solidFill>
                              <a:srgbClr val="002060"/>
                            </a:solidFill>
                            <a:latin typeface="Cambria Math" panose="02040503050406030204" pitchFamily="18" charset="0"/>
                          </a:rPr>
                          <m:t>𝑘</m:t>
                        </m:r>
                      </m:sub>
                    </m:sSub>
                  </m:oMath>
                </a14:m>
                <a:r>
                  <a:rPr lang="mn-MN" sz="2400" dirty="0">
                    <a:solidFill>
                      <a:srgbClr val="002060"/>
                    </a:solidFill>
                    <a:latin typeface="Times New Roman" panose="02020603050405020304" pitchFamily="18" charset="0"/>
                    <a:cs typeface="Times New Roman" panose="02020603050405020304" pitchFamily="18" charset="0"/>
                  </a:rPr>
                  <a:t> = Хүү болон татварын өмнөх ашиг (𝑅−𝐸); </a:t>
                </a:r>
                <a14:m>
                  <m:oMath xmlns:m="http://schemas.openxmlformats.org/officeDocument/2006/math">
                    <m:r>
                      <a:rPr lang="en-US" sz="2400" i="1" dirty="0" smtClean="0">
                        <a:solidFill>
                          <a:srgbClr val="002060"/>
                        </a:solidFill>
                        <a:latin typeface="Cambria Math" panose="02040503050406030204" pitchFamily="18" charset="0"/>
                      </a:rPr>
                      <m:t>𝑡</m:t>
                    </m:r>
                  </m:oMath>
                </a14:m>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үр ашигтай орлогын татварын хувь хэмжээ (аравтын орноор); </a:t>
                </a:r>
                <a14:m>
                  <m:oMath xmlns:m="http://schemas.openxmlformats.org/officeDocument/2006/math">
                    <m:sSub>
                      <m:sSubPr>
                        <m:ctrlPr>
                          <a:rPr lang="en-US" sz="2400" i="1">
                            <a:solidFill>
                              <a:srgbClr val="002060"/>
                            </a:solidFill>
                            <a:latin typeface="Cambria Math" panose="02040503050406030204" pitchFamily="18" charset="0"/>
                            <a:cs typeface="Times New Roman" pitchFamily="18" charset="0"/>
                          </a:rPr>
                        </m:ctrlPr>
                      </m:sSubPr>
                      <m:e>
                        <m:r>
                          <a:rPr lang="en-US" sz="2400">
                            <a:solidFill>
                              <a:srgbClr val="002060"/>
                            </a:solidFill>
                            <a:latin typeface="Cambria Math" panose="02040503050406030204" pitchFamily="18" charset="0"/>
                            <a:cs typeface="Times New Roman" pitchFamily="18" charset="0"/>
                          </a:rPr>
                          <m:t>𝑖</m:t>
                        </m:r>
                      </m:e>
                      <m:sub>
                        <m:r>
                          <a:rPr lang="en-US" sz="2400">
                            <a:solidFill>
                              <a:srgbClr val="002060"/>
                            </a:solidFill>
                            <a:latin typeface="Cambria Math" panose="02040503050406030204" pitchFamily="18" charset="0"/>
                            <a:cs typeface="Times New Roman" pitchFamily="18" charset="0"/>
                          </a:rPr>
                          <m:t>𝑏</m:t>
                        </m:r>
                      </m:sub>
                    </m:sSub>
                    <m:r>
                      <a:rPr lang="en-US" sz="2400" i="1">
                        <a:solidFill>
                          <a:srgbClr val="002060"/>
                        </a:solidFill>
                        <a:latin typeface="Cambria Math" panose="02040503050406030204" pitchFamily="18" charset="0"/>
                        <a:cs typeface="Times New Roman" pitchFamily="18" charset="0"/>
                      </a:rPr>
                      <m:t> </m:t>
                    </m:r>
                  </m:oMath>
                </a14:m>
                <a:r>
                  <a:rPr lang="mn-MN" sz="2400" dirty="0">
                    <a:solidFill>
                      <a:srgbClr val="002060"/>
                    </a:solidFill>
                    <a:latin typeface="Times New Roman" panose="02020603050405020304" pitchFamily="18" charset="0"/>
                    <a:cs typeface="Times New Roman" panose="02020603050405020304" pitchFamily="18" charset="0"/>
                  </a:rPr>
                  <a:t>- жилийн хүүний түвшин болох зээлийн татварын өмнөх зардал</a:t>
                </a:r>
              </a:p>
            </p:txBody>
          </p:sp>
        </mc:Choice>
        <mc:Fallback xmlns="">
          <p:sp>
            <p:nvSpPr>
              <p:cNvPr id="5" name="TextBox 4">
                <a:extLst>
                  <a:ext uri="{FF2B5EF4-FFF2-40B4-BE49-F238E27FC236}">
                    <a16:creationId xmlns:a16="http://schemas.microsoft.com/office/drawing/2014/main" id="{01D73B07-6835-1C1D-0F20-ABDDADCD82B9}"/>
                  </a:ext>
                </a:extLst>
              </p:cNvPr>
              <p:cNvSpPr txBox="1">
                <a:spLocks noRot="1" noChangeAspect="1" noMove="1" noResize="1" noEditPoints="1" noAdjustHandles="1" noChangeArrowheads="1" noChangeShapeType="1" noTextEdit="1"/>
              </p:cNvSpPr>
              <p:nvPr/>
            </p:nvSpPr>
            <p:spPr>
              <a:xfrm>
                <a:off x="350539" y="4319840"/>
                <a:ext cx="11841461" cy="1421928"/>
              </a:xfrm>
              <a:prstGeom prst="rect">
                <a:avLst/>
              </a:prstGeom>
              <a:blipFill>
                <a:blip r:embed="rId4"/>
                <a:stretch>
                  <a:fillRect l="-824" t="-6009" r="-824" b="-9013"/>
                </a:stretch>
              </a:blipFill>
            </p:spPr>
            <p:txBody>
              <a:bodyPr/>
              <a:lstStyle/>
              <a:p>
                <a:r>
                  <a:rPr lang="en-US">
                    <a:noFill/>
                  </a:rPr>
                  <a:t> </a:t>
                </a:r>
              </a:p>
            </p:txBody>
          </p:sp>
        </mc:Fallback>
      </mc:AlternateContent>
    </p:spTree>
    <p:extLst>
      <p:ext uri="{BB962C8B-B14F-4D97-AF65-F5344CB8AC3E}">
        <p14:creationId xmlns:p14="http://schemas.microsoft.com/office/powerpoint/2010/main" val="38611758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C581B-1C8E-4E3C-0547-E01275443290}"/>
              </a:ext>
            </a:extLst>
          </p:cNvPr>
          <p:cNvSpPr>
            <a:spLocks noGrp="1"/>
          </p:cNvSpPr>
          <p:nvPr>
            <p:ph type="title"/>
          </p:nvPr>
        </p:nvSpPr>
        <p:spPr>
          <a:xfrm>
            <a:off x="113363" y="125283"/>
            <a:ext cx="11652679" cy="414363"/>
          </a:xfrm>
        </p:spPr>
        <p:txBody>
          <a:bodyPr>
            <a:noAutofit/>
          </a:bodyPr>
          <a:lstStyle/>
          <a:p>
            <a:pPr>
              <a:spcBef>
                <a:spcPts val="300"/>
              </a:spcBef>
            </a:pPr>
            <a:r>
              <a:rPr lang="mn-MN" sz="3300" b="1" dirty="0">
                <a:solidFill>
                  <a:srgbClr val="002060"/>
                </a:solidFill>
                <a:latin typeface="Times New Roman" panose="02020603050405020304" pitchFamily="18" charset="0"/>
                <a:cs typeface="Times New Roman" panose="02020603050405020304" pitchFamily="18" charset="0"/>
              </a:rPr>
              <a:t>Хөрөнгө оруулалтын эх үүсвэр. </a:t>
            </a:r>
            <a:r>
              <a:rPr lang="mn-MN" sz="3300" b="1" dirty="0">
                <a:solidFill>
                  <a:schemeClr val="accent2">
                    <a:lumMod val="75000"/>
                  </a:schemeClr>
                </a:solidFill>
                <a:latin typeface="Times New Roman" panose="02020603050405020304" pitchFamily="18" charset="0"/>
                <a:cs typeface="Times New Roman" panose="02020603050405020304" pitchFamily="18" charset="0"/>
              </a:rPr>
              <a:t>Өөрийн хөрөнгө</a:t>
            </a:r>
            <a:endParaRPr lang="en-US" sz="3300" dirty="0">
              <a:solidFill>
                <a:schemeClr val="accent2">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0692B1-1C5F-C95A-0C28-9AE5D7EDF0AC}"/>
                  </a:ext>
                </a:extLst>
              </p:cNvPr>
              <p:cNvSpPr>
                <a:spLocks noGrp="1"/>
              </p:cNvSpPr>
              <p:nvPr>
                <p:ph idx="1"/>
              </p:nvPr>
            </p:nvSpPr>
            <p:spPr>
              <a:xfrm>
                <a:off x="113363" y="614596"/>
                <a:ext cx="11863778" cy="5094514"/>
              </a:xfrm>
            </p:spPr>
            <p:txBody>
              <a:bodyPr>
                <a:normAutofit lnSpcReduction="10000"/>
              </a:bodyPr>
              <a:lstStyle/>
              <a:p>
                <a:pPr algn="just">
                  <a:spcBef>
                    <a:spcPts val="300"/>
                  </a:spcBef>
                </a:pPr>
                <a:r>
                  <a:rPr lang="mn-MN" sz="3600" dirty="0">
                    <a:solidFill>
                      <a:srgbClr val="002060"/>
                    </a:solidFill>
                    <a:latin typeface="Times New Roman" panose="02020603050405020304" pitchFamily="18" charset="0"/>
                    <a:cs typeface="Times New Roman" panose="02020603050405020304" pitchFamily="18" charset="0"/>
                  </a:rPr>
                  <a:t>Санхүүжилтийн өөрийн хөрөнгийн эх үүсвэрт: </a:t>
                </a:r>
              </a:p>
              <a:p>
                <a:pPr lvl="1" algn="just">
                  <a:spcBef>
                    <a:spcPts val="300"/>
                  </a:spcBef>
                </a:pPr>
                <a:r>
                  <a:rPr lang="mn-MN" sz="3200" dirty="0">
                    <a:solidFill>
                      <a:srgbClr val="002060"/>
                    </a:solidFill>
                    <a:latin typeface="Times New Roman" panose="02020603050405020304" pitchFamily="18" charset="0"/>
                    <a:cs typeface="Times New Roman" panose="02020603050405020304" pitchFamily="18" charset="0"/>
                  </a:rPr>
                  <a:t>Хувьцаа эзэмшигчийн хөрөнгө, </a:t>
                </a:r>
              </a:p>
              <a:p>
                <a:pPr lvl="1" algn="just">
                  <a:spcBef>
                    <a:spcPts val="300"/>
                  </a:spcBef>
                </a:pPr>
                <a:r>
                  <a:rPr lang="mn-MN" sz="3200" dirty="0">
                    <a:solidFill>
                      <a:srgbClr val="002060"/>
                    </a:solidFill>
                    <a:latin typeface="Times New Roman" panose="02020603050405020304" pitchFamily="18" charset="0"/>
                    <a:cs typeface="Times New Roman" panose="02020603050405020304" pitchFamily="18" charset="0"/>
                  </a:rPr>
                  <a:t>Компаний хуримтлагдсан ашиг, </a:t>
                </a:r>
              </a:p>
              <a:p>
                <a:pPr lvl="1" algn="just">
                  <a:spcBef>
                    <a:spcPts val="300"/>
                  </a:spcBef>
                </a:pPr>
                <a:r>
                  <a:rPr lang="mn-MN" sz="3200" dirty="0">
                    <a:solidFill>
                      <a:srgbClr val="002060"/>
                    </a:solidFill>
                    <a:latin typeface="Times New Roman" panose="02020603050405020304" pitchFamily="18" charset="0"/>
                    <a:cs typeface="Times New Roman" panose="02020603050405020304" pitchFamily="18" charset="0"/>
                  </a:rPr>
                  <a:t>Ашгаас элэгдлийг хассаны дараах бэлэн мөнгө орно. </a:t>
                </a:r>
              </a:p>
              <a:p>
                <a:pPr algn="just">
                  <a:spcBef>
                    <a:spcPts val="300"/>
                  </a:spcBef>
                </a:pPr>
                <a:r>
                  <a:rPr lang="mn-MN" sz="3600" dirty="0">
                    <a:solidFill>
                      <a:srgbClr val="002060"/>
                    </a:solidFill>
                    <a:latin typeface="Times New Roman" panose="02020603050405020304" pitchFamily="18" charset="0"/>
                    <a:cs typeface="Times New Roman" panose="02020603050405020304" pitchFamily="18" charset="0"/>
                  </a:rPr>
                  <a:t>Бондын нэгэн адил өөрийн хөрөнгийн зардлын хувь хэмжээ </a:t>
                </a:r>
                <a14:m>
                  <m:oMath xmlns:m="http://schemas.openxmlformats.org/officeDocument/2006/math">
                    <m:sSub>
                      <m:sSubPr>
                        <m:ctrlPr>
                          <a:rPr lang="en-US" sz="4400" i="1" smtClean="0">
                            <a:latin typeface="Cambria Math" panose="02040503050406030204" pitchFamily="18" charset="0"/>
                            <a:cs typeface="Times New Roman" pitchFamily="18" charset="0"/>
                          </a:rPr>
                        </m:ctrlPr>
                      </m:sSubPr>
                      <m:e>
                        <m:r>
                          <a:rPr lang="en-US" sz="4400">
                            <a:latin typeface="Cambria Math" panose="02040503050406030204" pitchFamily="18" charset="0"/>
                            <a:cs typeface="Times New Roman" pitchFamily="18" charset="0"/>
                          </a:rPr>
                          <m:t>𝑒</m:t>
                        </m:r>
                      </m:e>
                      <m:sub>
                        <m:r>
                          <a:rPr lang="en-US" sz="4400">
                            <a:latin typeface="Cambria Math" panose="02040503050406030204" pitchFamily="18" charset="0"/>
                            <a:cs typeface="Times New Roman" pitchFamily="18" charset="0"/>
                          </a:rPr>
                          <m:t>𝑎</m:t>
                        </m:r>
                        <m:r>
                          <a:rPr lang="en-US" sz="4400">
                            <a:latin typeface="Cambria Math" panose="02040503050406030204" pitchFamily="18" charset="0"/>
                            <a:cs typeface="Times New Roman" pitchFamily="18" charset="0"/>
                          </a:rPr>
                          <m:t> </m:t>
                        </m:r>
                      </m:sub>
                    </m:sSub>
                  </m:oMath>
                </a14:m>
                <a:r>
                  <a:rPr lang="mn-MN" sz="3600" dirty="0">
                    <a:solidFill>
                      <a:srgbClr val="002060"/>
                    </a:solidFill>
                    <a:latin typeface="Times New Roman" panose="02020603050405020304" pitchFamily="18" charset="0"/>
                    <a:cs typeface="Times New Roman" panose="02020603050405020304" pitchFamily="18" charset="0"/>
                  </a:rPr>
                  <a:t>–г өөрийн шинэ хөрөнгө бий болсон үеийн зах зээлийн хүчин зүйлээр тодорхойлж болно. </a:t>
                </a:r>
              </a:p>
              <a:p>
                <a:pPr algn="just">
                  <a:spcBef>
                    <a:spcPts val="300"/>
                  </a:spcBef>
                </a:pPr>
                <a:r>
                  <a:rPr lang="mn-MN" sz="3600" dirty="0">
                    <a:solidFill>
                      <a:srgbClr val="002060"/>
                    </a:solidFill>
                    <a:latin typeface="Times New Roman" panose="02020603050405020304" pitchFamily="18" charset="0"/>
                    <a:cs typeface="Times New Roman" panose="02020603050405020304" pitchFamily="18" charset="0"/>
                  </a:rPr>
                  <a:t>Иймд хувьцааг энгийн хувьцаа байдлаар гаргахад </a:t>
                </a:r>
                <a:r>
                  <a:rPr lang="mn-MN" sz="3600" b="1" dirty="0">
                    <a:solidFill>
                      <a:srgbClr val="002060"/>
                    </a:solidFill>
                    <a:latin typeface="Times New Roman" panose="02020603050405020304" pitchFamily="18" charset="0"/>
                    <a:cs typeface="Times New Roman" panose="02020603050405020304" pitchFamily="18" charset="0"/>
                  </a:rPr>
                  <a:t>ХӨРӨНГИЙН АКТИВЫН ҮНЭЛГЭЭНИЙ ЗАГВАР </a:t>
                </a:r>
                <a:r>
                  <a:rPr lang="mn-MN" sz="3600" dirty="0">
                    <a:solidFill>
                      <a:srgbClr val="002060"/>
                    </a:solidFill>
                    <a:latin typeface="Times New Roman" panose="02020603050405020304" pitchFamily="18" charset="0"/>
                    <a:cs typeface="Times New Roman" panose="02020603050405020304" pitchFamily="18" charset="0"/>
                  </a:rPr>
                  <a:t>гэсэн онолын ойлголтыг хэрэглэх нь үр дүнтэй арга замын нэг байдаг. </a:t>
                </a:r>
              </a:p>
            </p:txBody>
          </p:sp>
        </mc:Choice>
        <mc:Fallback xmlns="">
          <p:sp>
            <p:nvSpPr>
              <p:cNvPr id="3" name="Content Placeholder 2">
                <a:extLst>
                  <a:ext uri="{FF2B5EF4-FFF2-40B4-BE49-F238E27FC236}">
                    <a16:creationId xmlns:a16="http://schemas.microsoft.com/office/drawing/2014/main" id="{270692B1-1C5F-C95A-0C28-9AE5D7EDF0AC}"/>
                  </a:ext>
                </a:extLst>
              </p:cNvPr>
              <p:cNvSpPr>
                <a:spLocks noGrp="1" noRot="1" noChangeAspect="1" noMove="1" noResize="1" noEditPoints="1" noAdjustHandles="1" noChangeArrowheads="1" noChangeShapeType="1" noTextEdit="1"/>
              </p:cNvSpPr>
              <p:nvPr>
                <p:ph idx="1"/>
              </p:nvPr>
            </p:nvSpPr>
            <p:spPr>
              <a:xfrm>
                <a:off x="113363" y="614596"/>
                <a:ext cx="11863778" cy="5094514"/>
              </a:xfrm>
              <a:blipFill>
                <a:blip r:embed="rId3"/>
                <a:stretch>
                  <a:fillRect l="-1439" t="-4187" r="-1542" b="-3589"/>
                </a:stretch>
              </a:blipFill>
            </p:spPr>
            <p:txBody>
              <a:bodyPr/>
              <a:lstStyle/>
              <a:p>
                <a:r>
                  <a:rPr lang="en-US">
                    <a:noFill/>
                  </a:rPr>
                  <a:t> </a:t>
                </a:r>
              </a:p>
            </p:txBody>
          </p:sp>
        </mc:Fallback>
      </mc:AlternateContent>
    </p:spTree>
    <p:extLst>
      <p:ext uri="{BB962C8B-B14F-4D97-AF65-F5344CB8AC3E}">
        <p14:creationId xmlns:p14="http://schemas.microsoft.com/office/powerpoint/2010/main" val="1874155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C581B-1C8E-4E3C-0547-E01275443290}"/>
              </a:ext>
            </a:extLst>
          </p:cNvPr>
          <p:cNvSpPr>
            <a:spLocks noGrp="1"/>
          </p:cNvSpPr>
          <p:nvPr>
            <p:ph type="title"/>
          </p:nvPr>
        </p:nvSpPr>
        <p:spPr>
          <a:xfrm>
            <a:off x="172961" y="168300"/>
            <a:ext cx="11789190" cy="560388"/>
          </a:xfrm>
        </p:spPr>
        <p:txBody>
          <a:bodyPr>
            <a:normAutofit fontScale="90000"/>
          </a:bodyPr>
          <a:lstStyle/>
          <a:p>
            <a:pPr>
              <a:spcBef>
                <a:spcPts val="300"/>
              </a:spcBef>
            </a:pPr>
            <a:r>
              <a:rPr lang="mn-MN" sz="3200" b="1" dirty="0">
                <a:solidFill>
                  <a:srgbClr val="002060"/>
                </a:solidFill>
                <a:latin typeface="Times New Roman" panose="02020603050405020304" pitchFamily="18" charset="0"/>
                <a:cs typeface="Times New Roman" panose="02020603050405020304" pitchFamily="18" charset="0"/>
              </a:rPr>
              <a:t>Хөрөнгийн активын үнэлгээний загвар </a:t>
            </a:r>
            <a:br>
              <a:rPr lang="mn-MN" sz="3200" b="1" dirty="0">
                <a:solidFill>
                  <a:srgbClr val="002060"/>
                </a:solidFill>
                <a:latin typeface="Times New Roman" panose="02020603050405020304" pitchFamily="18" charset="0"/>
                <a:cs typeface="Times New Roman" panose="02020603050405020304" pitchFamily="18" charset="0"/>
              </a:rPr>
            </a:br>
            <a:r>
              <a:rPr lang="mn-MN" sz="3200" b="1" dirty="0">
                <a:solidFill>
                  <a:schemeClr val="accent2">
                    <a:lumMod val="75000"/>
                  </a:schemeClr>
                </a:solidFill>
                <a:latin typeface="Times New Roman" panose="02020603050405020304" pitchFamily="18" charset="0"/>
                <a:cs typeface="Times New Roman" panose="02020603050405020304" pitchFamily="18" charset="0"/>
              </a:rPr>
              <a:t>(</a:t>
            </a:r>
            <a:r>
              <a:rPr lang="en-US" sz="3200" b="1" dirty="0">
                <a:solidFill>
                  <a:schemeClr val="accent2">
                    <a:lumMod val="75000"/>
                  </a:schemeClr>
                </a:solidFill>
                <a:latin typeface="Times New Roman" panose="02020603050405020304" pitchFamily="18" charset="0"/>
                <a:cs typeface="Times New Roman" panose="02020603050405020304" pitchFamily="18" charset="0"/>
              </a:rPr>
              <a:t>CAPM – The Capital Asset Pricing Model)</a:t>
            </a:r>
            <a:endParaRPr lang="en-US" sz="32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0692B1-1C5F-C95A-0C28-9AE5D7EDF0AC}"/>
              </a:ext>
            </a:extLst>
          </p:cNvPr>
          <p:cNvSpPr>
            <a:spLocks noGrp="1"/>
          </p:cNvSpPr>
          <p:nvPr>
            <p:ph idx="1"/>
          </p:nvPr>
        </p:nvSpPr>
        <p:spPr>
          <a:xfrm>
            <a:off x="7293633" y="281065"/>
            <a:ext cx="4668518" cy="5749254"/>
          </a:xfrm>
        </p:spPr>
        <p:txBody>
          <a:bodyPr>
            <a:noAutofit/>
          </a:bodyPr>
          <a:lstStyle/>
          <a:p>
            <a:pPr algn="just">
              <a:spcBef>
                <a:spcPts val="300"/>
              </a:spcBef>
            </a:pPr>
            <a:r>
              <a:rPr lang="mn-MN" sz="2600" dirty="0">
                <a:solidFill>
                  <a:srgbClr val="002060"/>
                </a:solidFill>
                <a:latin typeface="Times New Roman" panose="02020603050405020304" pitchFamily="18" charset="0"/>
                <a:cs typeface="Times New Roman" panose="02020603050405020304" pitchFamily="18" charset="0"/>
              </a:rPr>
              <a:t>Холимог хувьцааны багцад хөрөнгө оруулснаар хөрөнгө оруулалтын эрсдэл болон өгөөжийн хамгийн сайн хослолыг бий болгож болохыг Гарри Марковиц харуулсан. </a:t>
            </a:r>
          </a:p>
          <a:p>
            <a:pPr algn="just">
              <a:spcBef>
                <a:spcPts val="300"/>
              </a:spcBef>
            </a:pPr>
            <a:r>
              <a:rPr lang="mn-MN" sz="2600" dirty="0">
                <a:solidFill>
                  <a:srgbClr val="002060"/>
                </a:solidFill>
                <a:latin typeface="Times New Roman" panose="02020603050405020304" pitchFamily="18" charset="0"/>
                <a:cs typeface="Times New Roman" panose="02020603050405020304" pitchFamily="18" charset="0"/>
              </a:rPr>
              <a:t>Түүнчлэн, муруй дээр орших хамгийн үр дүнтэй багцаар эрсдлийн өгөгдсөн түвшинд хамгийн их өгөөжийг тодорхойлдог.</a:t>
            </a:r>
          </a:p>
          <a:p>
            <a:pPr algn="just">
              <a:spcBef>
                <a:spcPts val="300"/>
              </a:spcBef>
            </a:pPr>
            <a:r>
              <a:rPr lang="mn-MN" sz="2600" dirty="0">
                <a:solidFill>
                  <a:srgbClr val="002060"/>
                </a:solidFill>
                <a:latin typeface="Times New Roman" panose="02020603050405020304" pitchFamily="18" charset="0"/>
                <a:cs typeface="Times New Roman" panose="02020603050405020304" pitchFamily="18" charset="0"/>
              </a:rPr>
              <a:t>Зурагт харуулсан муруйг </a:t>
            </a:r>
            <a:r>
              <a:rPr lang="mn-MN" sz="2600" b="1" dirty="0">
                <a:solidFill>
                  <a:srgbClr val="002060"/>
                </a:solidFill>
                <a:latin typeface="Times New Roman" panose="02020603050405020304" pitchFamily="18" charset="0"/>
                <a:cs typeface="Times New Roman" panose="02020603050405020304" pitchFamily="18" charset="0"/>
              </a:rPr>
              <a:t>Марковицын үр ашигтай зах зээлийн багц </a:t>
            </a:r>
            <a:r>
              <a:rPr lang="mn-MN" sz="2600" dirty="0">
                <a:solidFill>
                  <a:srgbClr val="002060"/>
                </a:solidFill>
                <a:latin typeface="Times New Roman" panose="02020603050405020304" pitchFamily="18" charset="0"/>
                <a:cs typeface="Times New Roman" panose="02020603050405020304" pitchFamily="18" charset="0"/>
              </a:rPr>
              <a:t>гэж нэрлэдэг. </a:t>
            </a:r>
          </a:p>
        </p:txBody>
      </p:sp>
      <p:pic>
        <p:nvPicPr>
          <p:cNvPr id="4" name="Picture 3">
            <a:extLst>
              <a:ext uri="{FF2B5EF4-FFF2-40B4-BE49-F238E27FC236}">
                <a16:creationId xmlns:a16="http://schemas.microsoft.com/office/drawing/2014/main" id="{F7A9C508-D69C-E6DA-2AFF-1A6ECA2D3205}"/>
              </a:ext>
            </a:extLst>
          </p:cNvPr>
          <p:cNvPicPr/>
          <p:nvPr/>
        </p:nvPicPr>
        <p:blipFill rotWithShape="1">
          <a:blip r:embed="rId3" cstate="print">
            <a:extLst>
              <a:ext uri="{28A0092B-C50C-407E-A947-70E740481C1C}">
                <a14:useLocalDpi xmlns:a14="http://schemas.microsoft.com/office/drawing/2010/main" val="0"/>
              </a:ext>
            </a:extLst>
          </a:blip>
          <a:srcRect t="2382" b="2355"/>
          <a:stretch/>
        </p:blipFill>
        <p:spPr bwMode="auto">
          <a:xfrm>
            <a:off x="172960" y="827681"/>
            <a:ext cx="7120673" cy="548317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60015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C581B-1C8E-4E3C-0547-E01275443290}"/>
              </a:ext>
            </a:extLst>
          </p:cNvPr>
          <p:cNvSpPr>
            <a:spLocks noGrp="1"/>
          </p:cNvSpPr>
          <p:nvPr>
            <p:ph type="title"/>
          </p:nvPr>
        </p:nvSpPr>
        <p:spPr>
          <a:xfrm>
            <a:off x="208921" y="166058"/>
            <a:ext cx="7990699" cy="1000071"/>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Хөрөнгийн активын үнэлгээний загвар </a:t>
            </a:r>
            <a:br>
              <a:rPr lang="mn-MN" sz="3200" b="1" dirty="0">
                <a:solidFill>
                  <a:srgbClr val="002060"/>
                </a:solidFill>
                <a:latin typeface="Times New Roman" panose="02020603050405020304" pitchFamily="18" charset="0"/>
                <a:cs typeface="Times New Roman" panose="02020603050405020304" pitchFamily="18" charset="0"/>
              </a:rPr>
            </a:br>
            <a:r>
              <a:rPr lang="mn-MN" sz="3200" b="1" dirty="0">
                <a:solidFill>
                  <a:schemeClr val="accent2">
                    <a:lumMod val="75000"/>
                  </a:schemeClr>
                </a:solidFill>
                <a:latin typeface="Times New Roman" panose="02020603050405020304" pitchFamily="18" charset="0"/>
                <a:cs typeface="Times New Roman" panose="02020603050405020304" pitchFamily="18" charset="0"/>
              </a:rPr>
              <a:t>(</a:t>
            </a:r>
            <a:r>
              <a:rPr lang="en-US" sz="3200" b="1" dirty="0">
                <a:solidFill>
                  <a:schemeClr val="accent2">
                    <a:lumMod val="75000"/>
                  </a:schemeClr>
                </a:solidFill>
                <a:latin typeface="Times New Roman" panose="02020603050405020304" pitchFamily="18" charset="0"/>
                <a:cs typeface="Times New Roman" panose="02020603050405020304" pitchFamily="18" charset="0"/>
              </a:rPr>
              <a:t>CAPM – The Capital Asset Pricing Model)</a:t>
            </a:r>
            <a:endParaRPr lang="en-US" sz="32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0692B1-1C5F-C95A-0C28-9AE5D7EDF0AC}"/>
              </a:ext>
            </a:extLst>
          </p:cNvPr>
          <p:cNvSpPr>
            <a:spLocks noGrp="1"/>
          </p:cNvSpPr>
          <p:nvPr>
            <p:ph idx="1"/>
          </p:nvPr>
        </p:nvSpPr>
        <p:spPr>
          <a:xfrm>
            <a:off x="210466" y="1146737"/>
            <a:ext cx="8157498" cy="1251702"/>
          </a:xfrm>
        </p:spPr>
        <p:txBody>
          <a:bodyPr>
            <a:noAutofit/>
          </a:bodyPr>
          <a:lstStyle/>
          <a:p>
            <a:pPr algn="just">
              <a:spcBef>
                <a:spcPts val="200"/>
              </a:spcBef>
            </a:pPr>
            <a:r>
              <a:rPr lang="mn-MN" sz="2500" dirty="0">
                <a:solidFill>
                  <a:srgbClr val="002060"/>
                </a:solidFill>
                <a:latin typeface="Times New Roman" panose="02020603050405020304" pitchFamily="18" charset="0"/>
                <a:cs typeface="Times New Roman" panose="02020603050405020304" pitchFamily="18" charset="0"/>
              </a:rPr>
              <a:t>Зарим өөдрөг төсөөлөл, эдийн засгийн шалтгааны улмаас </a:t>
            </a:r>
            <a:r>
              <a:rPr lang="mn-MN" sz="2500" b="1" dirty="0">
                <a:solidFill>
                  <a:srgbClr val="002060"/>
                </a:solidFill>
                <a:latin typeface="Times New Roman" panose="02020603050405020304" pitchFamily="18" charset="0"/>
                <a:cs typeface="Times New Roman" panose="02020603050405020304" pitchFamily="18" charset="0"/>
              </a:rPr>
              <a:t>үнэт цаасны зах зээлийн шугам (ҮЦЗЗШ) </a:t>
            </a:r>
            <a:r>
              <a:rPr lang="mn-MN" sz="2500" dirty="0">
                <a:solidFill>
                  <a:srgbClr val="002060"/>
                </a:solidFill>
                <a:latin typeface="Times New Roman" panose="02020603050405020304" pitchFamily="18" charset="0"/>
                <a:cs typeface="Times New Roman" panose="02020603050405020304" pitchFamily="18" charset="0"/>
              </a:rPr>
              <a:t>гэж нэрлэгддэг шулуун шугам дээр өгөөж болон эрсдэлийн хамгийн сайн хослол оршдог болохыг ХАҮЗ </a:t>
            </a:r>
            <a:r>
              <a:rPr lang="en-US" sz="2500" dirty="0">
                <a:solidFill>
                  <a:srgbClr val="002060"/>
                </a:solidFill>
                <a:latin typeface="Times New Roman" panose="02020603050405020304" pitchFamily="18" charset="0"/>
                <a:cs typeface="Times New Roman" panose="02020603050405020304" pitchFamily="18" charset="0"/>
              </a:rPr>
              <a:t>(</a:t>
            </a:r>
            <a:r>
              <a:rPr lang="en-US" sz="2500" b="1" dirty="0">
                <a:solidFill>
                  <a:schemeClr val="accent2">
                    <a:lumMod val="75000"/>
                  </a:schemeClr>
                </a:solidFill>
                <a:latin typeface="Times New Roman" panose="02020603050405020304" pitchFamily="18" charset="0"/>
                <a:cs typeface="Times New Roman" panose="02020603050405020304" pitchFamily="18" charset="0"/>
              </a:rPr>
              <a:t>CAPM</a:t>
            </a:r>
            <a:r>
              <a:rPr lang="en-US" sz="2500" dirty="0">
                <a:solidFill>
                  <a:srgbClr val="002060"/>
                </a:solidFill>
                <a:latin typeface="Times New Roman" panose="02020603050405020304" pitchFamily="18" charset="0"/>
                <a:cs typeface="Times New Roman" panose="02020603050405020304" pitchFamily="18" charset="0"/>
              </a:rPr>
              <a:t>) </a:t>
            </a:r>
            <a:r>
              <a:rPr lang="mn-MN" sz="2500" dirty="0">
                <a:solidFill>
                  <a:srgbClr val="002060"/>
                </a:solidFill>
                <a:latin typeface="Times New Roman" panose="02020603050405020304" pitchFamily="18" charset="0"/>
                <a:cs typeface="Times New Roman" panose="02020603050405020304" pitchFamily="18" charset="0"/>
              </a:rPr>
              <a:t>баталдаг.</a:t>
            </a:r>
          </a:p>
        </p:txBody>
      </p:sp>
      <p:pic>
        <p:nvPicPr>
          <p:cNvPr id="5" name="Picture 4">
            <a:extLst>
              <a:ext uri="{FF2B5EF4-FFF2-40B4-BE49-F238E27FC236}">
                <a16:creationId xmlns:a16="http://schemas.microsoft.com/office/drawing/2014/main" id="{D1FA75AB-F79B-A9CD-48A3-268FECB9244F}"/>
              </a:ext>
            </a:extLst>
          </p:cNvPr>
          <p:cNvPicPr/>
          <p:nvPr/>
        </p:nvPicPr>
        <p:blipFill rotWithShape="1">
          <a:blip r:embed="rId3" cstate="print">
            <a:extLst>
              <a:ext uri="{28A0092B-C50C-407E-A947-70E740481C1C}">
                <a14:useLocalDpi xmlns:a14="http://schemas.microsoft.com/office/drawing/2010/main" val="0"/>
              </a:ext>
            </a:extLst>
          </a:blip>
          <a:srcRect t="2382" b="2355"/>
          <a:stretch/>
        </p:blipFill>
        <p:spPr bwMode="auto">
          <a:xfrm>
            <a:off x="8367964" y="67662"/>
            <a:ext cx="3613570" cy="2757972"/>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2057DAFA-C7EE-4BAA-B967-7D56EA1316C8}"/>
                  </a:ext>
                </a:extLst>
              </p:cNvPr>
              <p:cNvSpPr txBox="1">
                <a:spLocks/>
              </p:cNvSpPr>
              <p:nvPr/>
            </p:nvSpPr>
            <p:spPr>
              <a:xfrm>
                <a:off x="233905" y="2825634"/>
                <a:ext cx="11578344" cy="25108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200"/>
                  </a:spcBef>
                </a:pPr>
                <a:r>
                  <a:rPr lang="mn-MN" sz="2500" dirty="0">
                    <a:solidFill>
                      <a:srgbClr val="002060"/>
                    </a:solidFill>
                    <a:latin typeface="Times New Roman" panose="02020603050405020304" pitchFamily="18" charset="0"/>
                    <a:cs typeface="Times New Roman" panose="02020603050405020304" pitchFamily="18" charset="0"/>
                  </a:rPr>
                  <a:t>Энэ шугамыг эрсдэлгүй түвшин </a:t>
                </a:r>
                <a14:m>
                  <m:oMath xmlns:m="http://schemas.openxmlformats.org/officeDocument/2006/math">
                    <m:sSub>
                      <m:sSubPr>
                        <m:ctrlPr>
                          <a:rPr lang="en-US" sz="2500" i="1" dirty="0" smtClean="0">
                            <a:solidFill>
                              <a:srgbClr val="002060"/>
                            </a:solidFill>
                            <a:latin typeface="Cambria Math" panose="02040503050406030204" pitchFamily="18" charset="0"/>
                          </a:rPr>
                        </m:ctrlPr>
                      </m:sSubPr>
                      <m:e>
                        <m:r>
                          <a:rPr lang="en-US" sz="2500" i="1" dirty="0">
                            <a:solidFill>
                              <a:srgbClr val="002060"/>
                            </a:solidFill>
                            <a:latin typeface="Cambria Math" panose="02040503050406030204" pitchFamily="18" charset="0"/>
                          </a:rPr>
                          <m:t>𝑅</m:t>
                        </m:r>
                      </m:e>
                      <m:sub>
                        <m:r>
                          <a:rPr lang="en-US" sz="2500" i="1" dirty="0" smtClean="0">
                            <a:solidFill>
                              <a:srgbClr val="002060"/>
                            </a:solidFill>
                            <a:latin typeface="Cambria Math" panose="02040503050406030204" pitchFamily="18" charset="0"/>
                          </a:rPr>
                          <m:t>𝐹</m:t>
                        </m:r>
                      </m:sub>
                    </m:sSub>
                  </m:oMath>
                </a14:m>
                <a:r>
                  <a:rPr lang="en-US" sz="2500" dirty="0">
                    <a:solidFill>
                      <a:srgbClr val="002060"/>
                    </a:solidFill>
                    <a:latin typeface="Times New Roman" panose="02020603050405020304" pitchFamily="18" charset="0"/>
                    <a:cs typeface="Times New Roman" panose="02020603050405020304" pitchFamily="18" charset="0"/>
                  </a:rPr>
                  <a:t>, </a:t>
                </a:r>
                <a:r>
                  <a:rPr lang="mn-MN" sz="2500" dirty="0">
                    <a:solidFill>
                      <a:srgbClr val="002060"/>
                    </a:solidFill>
                    <a:latin typeface="Times New Roman" panose="02020603050405020304" pitchFamily="18" charset="0"/>
                    <a:cs typeface="Times New Roman" panose="02020603050405020304" pitchFamily="18" charset="0"/>
                  </a:rPr>
                  <a:t>болон Марковицын зах зээлийн үр ашигтай багцын шүргэлтийн цэгүүдээр үүсгэнэ. </a:t>
                </a:r>
              </a:p>
              <a:p>
                <a:pPr algn="just">
                  <a:spcBef>
                    <a:spcPts val="200"/>
                  </a:spcBef>
                </a:pPr>
                <a:r>
                  <a:rPr lang="mn-MN" sz="2500" dirty="0">
                    <a:solidFill>
                      <a:srgbClr val="002060"/>
                    </a:solidFill>
                    <a:latin typeface="Times New Roman" panose="02020603050405020304" pitchFamily="18" charset="0"/>
                    <a:cs typeface="Times New Roman" panose="02020603050405020304" pitchFamily="18" charset="0"/>
                  </a:rPr>
                  <a:t>Энэ нь хүсэж буй эрсдэл ба өгөөж дээр үндэслэсэн хувьцааны багцыг сонгохоос гадна хөрөнгө оруулагчид үр ашигтай зах зээлийн багцад хөрөнгө оруулснаар, эсвэл эрсдэлгүй түвшин дээр зээл өгснөөр өөрийн хүссэн эрсдэл, өгөөжид нийцсэн үнэ цэнийг хүртэх боломжтой гэдгийг харуулдаг. Ийм боломжтой байхын тулд аливаа үнэт цаас ҮЦЗЗШ дээр орших ёстой.</a:t>
                </a:r>
              </a:p>
            </p:txBody>
          </p:sp>
        </mc:Choice>
        <mc:Fallback xmlns="">
          <p:sp>
            <p:nvSpPr>
              <p:cNvPr id="6" name="Content Placeholder 2">
                <a:extLst>
                  <a:ext uri="{FF2B5EF4-FFF2-40B4-BE49-F238E27FC236}">
                    <a16:creationId xmlns:a16="http://schemas.microsoft.com/office/drawing/2014/main" id="{2057DAFA-C7EE-4BAA-B967-7D56EA1316C8}"/>
                  </a:ext>
                </a:extLst>
              </p:cNvPr>
              <p:cNvSpPr txBox="1">
                <a:spLocks noRot="1" noChangeAspect="1" noMove="1" noResize="1" noEditPoints="1" noAdjustHandles="1" noChangeArrowheads="1" noChangeShapeType="1" noTextEdit="1"/>
              </p:cNvSpPr>
              <p:nvPr/>
            </p:nvSpPr>
            <p:spPr>
              <a:xfrm>
                <a:off x="233905" y="2825634"/>
                <a:ext cx="11578344" cy="2510863"/>
              </a:xfrm>
              <a:prstGeom prst="rect">
                <a:avLst/>
              </a:prstGeom>
              <a:blipFill>
                <a:blip r:embed="rId4"/>
                <a:stretch>
                  <a:fillRect l="-737" t="-3650" r="-842" b="-6326"/>
                </a:stretch>
              </a:blipFill>
            </p:spPr>
            <p:txBody>
              <a:bodyPr/>
              <a:lstStyle/>
              <a:p>
                <a:r>
                  <a:rPr lang="en-US">
                    <a:noFill/>
                  </a:rPr>
                  <a:t> </a:t>
                </a:r>
              </a:p>
            </p:txBody>
          </p:sp>
        </mc:Fallback>
      </mc:AlternateContent>
    </p:spTree>
    <p:extLst>
      <p:ext uri="{BB962C8B-B14F-4D97-AF65-F5344CB8AC3E}">
        <p14:creationId xmlns:p14="http://schemas.microsoft.com/office/powerpoint/2010/main" val="14327093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5381CD-CAF6-DC39-5554-EBCE168F384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64891" y="794479"/>
            <a:ext cx="6725765" cy="4601980"/>
          </a:xfrm>
          <a:prstGeom prst="rect">
            <a:avLst/>
          </a:prstGeom>
        </p:spPr>
      </p:pic>
      <p:sp>
        <p:nvSpPr>
          <p:cNvPr id="2" name="Title 1">
            <a:extLst>
              <a:ext uri="{FF2B5EF4-FFF2-40B4-BE49-F238E27FC236}">
                <a16:creationId xmlns:a16="http://schemas.microsoft.com/office/drawing/2014/main" id="{CECC581B-1C8E-4E3C-0547-E01275443290}"/>
              </a:ext>
            </a:extLst>
          </p:cNvPr>
          <p:cNvSpPr>
            <a:spLocks noGrp="1"/>
          </p:cNvSpPr>
          <p:nvPr>
            <p:ph type="title"/>
          </p:nvPr>
        </p:nvSpPr>
        <p:spPr>
          <a:xfrm>
            <a:off x="164892" y="0"/>
            <a:ext cx="7210269" cy="794479"/>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Хөрөнгийн активын үнэлгээний загвар </a:t>
            </a:r>
            <a:br>
              <a:rPr lang="mn-MN" sz="2800" b="1" dirty="0">
                <a:solidFill>
                  <a:srgbClr val="002060"/>
                </a:solidFill>
                <a:latin typeface="Times New Roman" panose="02020603050405020304" pitchFamily="18" charset="0"/>
                <a:cs typeface="Times New Roman" panose="02020603050405020304" pitchFamily="18" charset="0"/>
              </a:rPr>
            </a:br>
            <a:r>
              <a:rPr lang="mn-MN" sz="2800" b="1" dirty="0">
                <a:solidFill>
                  <a:schemeClr val="accent2">
                    <a:lumMod val="75000"/>
                  </a:schemeClr>
                </a:solidFill>
                <a:latin typeface="Times New Roman" panose="02020603050405020304" pitchFamily="18" charset="0"/>
                <a:cs typeface="Times New Roman" panose="02020603050405020304" pitchFamily="18" charset="0"/>
              </a:rPr>
              <a:t>(</a:t>
            </a:r>
            <a:r>
              <a:rPr lang="en-US" sz="2800" b="1" dirty="0">
                <a:solidFill>
                  <a:schemeClr val="accent2">
                    <a:lumMod val="75000"/>
                  </a:schemeClr>
                </a:solidFill>
                <a:latin typeface="Times New Roman" panose="02020603050405020304" pitchFamily="18" charset="0"/>
                <a:cs typeface="Times New Roman" panose="02020603050405020304" pitchFamily="18" charset="0"/>
              </a:rPr>
              <a:t>CAPM – The Capital Asset Pricing Model)</a:t>
            </a:r>
            <a:endParaRPr lang="en-US" sz="2800" dirty="0">
              <a:solidFill>
                <a:schemeClr val="accent2">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E718365-3715-BA3E-0764-E8C43566E340}"/>
                  </a:ext>
                </a:extLst>
              </p:cNvPr>
              <p:cNvSpPr>
                <a:spLocks noGrp="1"/>
              </p:cNvSpPr>
              <p:nvPr>
                <p:ph idx="1"/>
              </p:nvPr>
            </p:nvSpPr>
            <p:spPr>
              <a:xfrm>
                <a:off x="6890656" y="183454"/>
                <a:ext cx="5041513" cy="6167451"/>
              </a:xfrm>
            </p:spPr>
            <p:txBody>
              <a:bodyPr>
                <a:noAutofit/>
              </a:bodyPr>
              <a:lstStyle/>
              <a:p>
                <a:pPr algn="just">
                  <a:lnSpc>
                    <a:spcPct val="80000"/>
                  </a:lnSpc>
                  <a:spcBef>
                    <a:spcPts val="200"/>
                  </a:spcBef>
                </a:pPr>
                <a:r>
                  <a:rPr lang="mn-MN" sz="2200" dirty="0">
                    <a:solidFill>
                      <a:schemeClr val="tx1"/>
                    </a:solidFill>
                    <a:latin typeface="Times New Roman" panose="02020603050405020304" pitchFamily="18" charset="0"/>
                    <a:cs typeface="Times New Roman" panose="02020603050405020304" pitchFamily="18" charset="0"/>
                  </a:rPr>
                  <a:t>Зах зээлийн багцын өгөөж </a:t>
                </a:r>
                <a14:m>
                  <m:oMath xmlns:m="http://schemas.openxmlformats.org/officeDocument/2006/math">
                    <m:sSub>
                      <m:sSubPr>
                        <m:ctrlPr>
                          <a:rPr lang="en-US" sz="2200" b="1" i="1" dirty="0" smtClean="0">
                            <a:solidFill>
                              <a:srgbClr val="0000FF"/>
                            </a:solidFill>
                            <a:latin typeface="Cambria Math" panose="02040503050406030204" pitchFamily="18" charset="0"/>
                          </a:rPr>
                        </m:ctrlPr>
                      </m:sSubPr>
                      <m:e>
                        <m:r>
                          <a:rPr lang="en-US" sz="2200" b="1" i="1" dirty="0">
                            <a:solidFill>
                              <a:srgbClr val="0000FF"/>
                            </a:solidFill>
                            <a:latin typeface="Cambria Math" panose="02040503050406030204" pitchFamily="18" charset="0"/>
                          </a:rPr>
                          <m:t>𝑹</m:t>
                        </m:r>
                      </m:e>
                      <m:sub>
                        <m:r>
                          <a:rPr lang="en-US" sz="2200" b="1" i="1" dirty="0" smtClean="0">
                            <a:solidFill>
                              <a:srgbClr val="0000FF"/>
                            </a:solidFill>
                            <a:latin typeface="Cambria Math" panose="02040503050406030204" pitchFamily="18" charset="0"/>
                          </a:rPr>
                          <m:t>𝑴</m:t>
                        </m:r>
                      </m:sub>
                    </m:sSub>
                  </m:oMath>
                </a14:m>
                <a:r>
                  <a:rPr lang="en-US" sz="2200" dirty="0">
                    <a:solidFill>
                      <a:schemeClr val="tx1"/>
                    </a:solidFill>
                    <a:latin typeface="Times New Roman" panose="02020603050405020304" pitchFamily="18" charset="0"/>
                    <a:cs typeface="Times New Roman" panose="02020603050405020304" pitchFamily="18" charset="0"/>
                  </a:rPr>
                  <a:t>–</a:t>
                </a:r>
                <a:r>
                  <a:rPr lang="mn-MN" sz="2200" dirty="0">
                    <a:solidFill>
                      <a:schemeClr val="tx1"/>
                    </a:solidFill>
                    <a:latin typeface="Times New Roman" panose="02020603050405020304" pitchFamily="18" charset="0"/>
                    <a:cs typeface="Times New Roman" panose="02020603050405020304" pitchFamily="18" charset="0"/>
                  </a:rPr>
                  <a:t>ийг эрсдэлийн түвшинтэй тохируулсныг </a:t>
                </a:r>
                <a14:m>
                  <m:oMath xmlns:m="http://schemas.openxmlformats.org/officeDocument/2006/math">
                    <m:sSub>
                      <m:sSubPr>
                        <m:ctrlPr>
                          <a:rPr lang="en-US" sz="2200" b="1" i="1" dirty="0" smtClean="0">
                            <a:solidFill>
                              <a:srgbClr val="0000FF"/>
                            </a:solidFill>
                            <a:latin typeface="Cambria Math" panose="02040503050406030204" pitchFamily="18" charset="0"/>
                          </a:rPr>
                        </m:ctrlPr>
                      </m:sSubPr>
                      <m:e>
                        <m:r>
                          <a:rPr lang="en-US" sz="2200" b="1" i="1" dirty="0" smtClean="0">
                            <a:solidFill>
                              <a:srgbClr val="0000FF"/>
                            </a:solidFill>
                            <a:latin typeface="Cambria Math" panose="02040503050406030204" pitchFamily="18" charset="0"/>
                            <a:ea typeface="Cambria Math" panose="02040503050406030204" pitchFamily="18" charset="0"/>
                          </a:rPr>
                          <m:t>𝜷</m:t>
                        </m:r>
                      </m:e>
                      <m:sub>
                        <m:r>
                          <a:rPr lang="en-US" sz="2200" b="1" i="1" dirty="0" smtClean="0">
                            <a:solidFill>
                              <a:srgbClr val="0000FF"/>
                            </a:solidFill>
                            <a:latin typeface="Cambria Math" panose="02040503050406030204" pitchFamily="18" charset="0"/>
                          </a:rPr>
                          <m:t>𝑴</m:t>
                        </m:r>
                      </m:sub>
                    </m:sSub>
                  </m:oMath>
                </a14:m>
                <a:r>
                  <a:rPr lang="en-US" sz="2200" dirty="0">
                    <a:solidFill>
                      <a:schemeClr val="tx1"/>
                    </a:solidFill>
                    <a:latin typeface="Times New Roman" panose="02020603050405020304" pitchFamily="18" charset="0"/>
                    <a:cs typeface="Times New Roman" panose="02020603050405020304" pitchFamily="18" charset="0"/>
                  </a:rPr>
                  <a:t>-</a:t>
                </a:r>
                <a:r>
                  <a:rPr lang="mn-MN" sz="2200" dirty="0">
                    <a:solidFill>
                      <a:schemeClr val="tx1"/>
                    </a:solidFill>
                    <a:latin typeface="Times New Roman" panose="02020603050405020304" pitchFamily="18" charset="0"/>
                    <a:cs typeface="Times New Roman" panose="02020603050405020304" pitchFamily="18" charset="0"/>
                  </a:rPr>
                  <a:t>ээр тэмдэглээд 1.0 гэсэн утга оноосон. Энэ нь зах зээлийн өгөөж </a:t>
                </a:r>
                <a14:m>
                  <m:oMath xmlns:m="http://schemas.openxmlformats.org/officeDocument/2006/math">
                    <m:sSub>
                      <m:sSubPr>
                        <m:ctrlPr>
                          <a:rPr lang="en-US" sz="2200" b="1" i="1" dirty="0" smtClean="0">
                            <a:solidFill>
                              <a:srgbClr val="0000FF"/>
                            </a:solidFill>
                            <a:latin typeface="Cambria Math" panose="02040503050406030204" pitchFamily="18" charset="0"/>
                          </a:rPr>
                        </m:ctrlPr>
                      </m:sSubPr>
                      <m:e>
                        <m:r>
                          <a:rPr lang="en-US" sz="2200" b="1" i="1" dirty="0">
                            <a:solidFill>
                              <a:srgbClr val="0000FF"/>
                            </a:solidFill>
                            <a:latin typeface="Cambria Math" panose="02040503050406030204" pitchFamily="18" charset="0"/>
                          </a:rPr>
                          <m:t>𝑹</m:t>
                        </m:r>
                      </m:e>
                      <m:sub>
                        <m:r>
                          <a:rPr lang="en-US" sz="2200" b="1" i="1" dirty="0">
                            <a:solidFill>
                              <a:srgbClr val="0000FF"/>
                            </a:solidFill>
                            <a:latin typeface="Cambria Math" panose="02040503050406030204" pitchFamily="18" charset="0"/>
                          </a:rPr>
                          <m:t>𝑴</m:t>
                        </m:r>
                      </m:sub>
                    </m:sSub>
                  </m:oMath>
                </a14:m>
                <a:r>
                  <a:rPr lang="en-US" sz="2200" dirty="0">
                    <a:solidFill>
                      <a:srgbClr val="0000FF"/>
                    </a:solidFill>
                    <a:latin typeface="Times New Roman" panose="02020603050405020304" pitchFamily="18" charset="0"/>
                    <a:cs typeface="Times New Roman" panose="02020603050405020304" pitchFamily="18" charset="0"/>
                  </a:rPr>
                  <a:t> </a:t>
                </a:r>
                <a:r>
                  <a:rPr lang="mn-MN" sz="2200" dirty="0">
                    <a:solidFill>
                      <a:schemeClr val="tx1"/>
                    </a:solidFill>
                    <a:latin typeface="Times New Roman" panose="02020603050405020304" pitchFamily="18" charset="0"/>
                    <a:cs typeface="Times New Roman" panose="02020603050405020304" pitchFamily="18" charset="0"/>
                  </a:rPr>
                  <a:t>болон эрсдэлийн түвшин </a:t>
                </a:r>
                <a14:m>
                  <m:oMath xmlns:m="http://schemas.openxmlformats.org/officeDocument/2006/math">
                    <m:sSub>
                      <m:sSubPr>
                        <m:ctrlPr>
                          <a:rPr lang="en-US" sz="2200" b="1" i="1" dirty="0" smtClean="0">
                            <a:solidFill>
                              <a:srgbClr val="0000FF"/>
                            </a:solidFill>
                            <a:latin typeface="Cambria Math" panose="02040503050406030204" pitchFamily="18" charset="0"/>
                          </a:rPr>
                        </m:ctrlPr>
                      </m:sSubPr>
                      <m:e>
                        <m:r>
                          <a:rPr lang="en-US" sz="2200" b="1" i="1" dirty="0">
                            <a:solidFill>
                              <a:srgbClr val="0000FF"/>
                            </a:solidFill>
                            <a:latin typeface="Cambria Math" panose="02040503050406030204" pitchFamily="18" charset="0"/>
                            <a:ea typeface="Cambria Math" panose="02040503050406030204" pitchFamily="18" charset="0"/>
                          </a:rPr>
                          <m:t>𝜷</m:t>
                        </m:r>
                      </m:e>
                      <m:sub>
                        <m:r>
                          <a:rPr lang="en-US" sz="2200" b="1" i="1" dirty="0">
                            <a:solidFill>
                              <a:srgbClr val="0000FF"/>
                            </a:solidFill>
                            <a:latin typeface="Cambria Math" panose="02040503050406030204" pitchFamily="18" charset="0"/>
                          </a:rPr>
                          <m:t>𝑴</m:t>
                        </m:r>
                      </m:sub>
                    </m:sSub>
                  </m:oMath>
                </a14:m>
                <a:r>
                  <a:rPr lang="en-US" sz="2200" dirty="0">
                    <a:solidFill>
                      <a:schemeClr val="tx1"/>
                    </a:solidFill>
                    <a:latin typeface="Times New Roman" panose="02020603050405020304" pitchFamily="18" charset="0"/>
                    <a:cs typeface="Times New Roman" panose="02020603050405020304" pitchFamily="18" charset="0"/>
                  </a:rPr>
                  <a:t>–</a:t>
                </a:r>
                <a:r>
                  <a:rPr lang="mn-MN" sz="2200" dirty="0">
                    <a:solidFill>
                      <a:schemeClr val="tx1"/>
                    </a:solidFill>
                    <a:latin typeface="Times New Roman" panose="02020603050405020304" pitchFamily="18" charset="0"/>
                    <a:cs typeface="Times New Roman" panose="02020603050405020304" pitchFamily="18" charset="0"/>
                  </a:rPr>
                  <a:t>ийг тодорхойлдог ҮЦЗЗШ дээр авсан нэг цэг юм. Эрсдэлгүй түвшин </a:t>
                </a:r>
                <a14:m>
                  <m:oMath xmlns:m="http://schemas.openxmlformats.org/officeDocument/2006/math">
                    <m:sSub>
                      <m:sSubPr>
                        <m:ctrlPr>
                          <a:rPr lang="en-US" sz="2200" b="1" i="1" dirty="0" smtClean="0">
                            <a:solidFill>
                              <a:srgbClr val="0000FF"/>
                            </a:solidFill>
                            <a:latin typeface="Cambria Math" panose="02040503050406030204" pitchFamily="18" charset="0"/>
                          </a:rPr>
                        </m:ctrlPr>
                      </m:sSubPr>
                      <m:e>
                        <m:r>
                          <a:rPr lang="en-US" sz="2200" b="1" i="1" dirty="0">
                            <a:solidFill>
                              <a:srgbClr val="0000FF"/>
                            </a:solidFill>
                            <a:latin typeface="Cambria Math" panose="02040503050406030204" pitchFamily="18" charset="0"/>
                          </a:rPr>
                          <m:t>𝑹</m:t>
                        </m:r>
                      </m:e>
                      <m:sub>
                        <m:r>
                          <a:rPr lang="en-US" sz="2200" b="1" i="1" dirty="0">
                            <a:solidFill>
                              <a:srgbClr val="0000FF"/>
                            </a:solidFill>
                            <a:latin typeface="Cambria Math" panose="02040503050406030204" pitchFamily="18" charset="0"/>
                          </a:rPr>
                          <m:t>𝑭</m:t>
                        </m:r>
                      </m:sub>
                    </m:sSub>
                  </m:oMath>
                </a14:m>
                <a:r>
                  <a:rPr lang="en-US" sz="2200" b="1" dirty="0">
                    <a:solidFill>
                      <a:srgbClr val="0000FF"/>
                    </a:solidFill>
                    <a:latin typeface="Times New Roman" panose="02020603050405020304" pitchFamily="18" charset="0"/>
                    <a:cs typeface="Times New Roman" panose="02020603050405020304" pitchFamily="18" charset="0"/>
                  </a:rPr>
                  <a:t> </a:t>
                </a:r>
                <a:r>
                  <a:rPr lang="mn-MN" sz="2200" dirty="0">
                    <a:solidFill>
                      <a:schemeClr val="tx1"/>
                    </a:solidFill>
                    <a:latin typeface="Times New Roman" panose="02020603050405020304" pitchFamily="18" charset="0"/>
                    <a:cs typeface="Times New Roman" panose="02020603050405020304" pitchFamily="18" charset="0"/>
                  </a:rPr>
                  <a:t>болон бетагийн тэг утга нь эрсдэлгүй өгөөжийн түвшин зах зээлээс хамаарч хэлбэлзэхгүй болохыг илэрхийлнэ. </a:t>
                </a:r>
              </a:p>
              <a:p>
                <a:pPr algn="just">
                  <a:lnSpc>
                    <a:spcPct val="80000"/>
                  </a:lnSpc>
                  <a:spcBef>
                    <a:spcPts val="200"/>
                  </a:spcBef>
                </a:pPr>
                <a:r>
                  <a:rPr lang="mn-MN" sz="2200" dirty="0">
                    <a:solidFill>
                      <a:schemeClr val="tx1"/>
                    </a:solidFill>
                    <a:latin typeface="Times New Roman" panose="02020603050405020304" pitchFamily="18" charset="0"/>
                    <a:cs typeface="Times New Roman" panose="02020603050405020304" pitchFamily="18" charset="0"/>
                  </a:rPr>
                  <a:t>ХАҮЗ </a:t>
                </a:r>
                <a:r>
                  <a:rPr lang="en-US" sz="2200" dirty="0">
                    <a:solidFill>
                      <a:schemeClr val="tx1"/>
                    </a:solidFill>
                    <a:latin typeface="Times New Roman" panose="02020603050405020304" pitchFamily="18" charset="0"/>
                    <a:cs typeface="Times New Roman" panose="02020603050405020304" pitchFamily="18" charset="0"/>
                  </a:rPr>
                  <a:t>(</a:t>
                </a:r>
                <a:r>
                  <a:rPr lang="en-US" sz="2200" b="1" dirty="0">
                    <a:solidFill>
                      <a:schemeClr val="tx1"/>
                    </a:solidFill>
                    <a:latin typeface="Times New Roman" panose="02020603050405020304" pitchFamily="18" charset="0"/>
                    <a:cs typeface="Times New Roman" panose="02020603050405020304" pitchFamily="18" charset="0"/>
                  </a:rPr>
                  <a:t>CAPM</a:t>
                </a:r>
                <a:r>
                  <a:rPr lang="en-US" sz="2200" dirty="0">
                    <a:solidFill>
                      <a:schemeClr val="tx1"/>
                    </a:solidFill>
                    <a:latin typeface="Times New Roman" panose="02020603050405020304" pitchFamily="18" charset="0"/>
                    <a:cs typeface="Times New Roman" panose="02020603050405020304" pitchFamily="18" charset="0"/>
                  </a:rPr>
                  <a:t>) </a:t>
                </a:r>
                <a:r>
                  <a:rPr lang="mn-MN" sz="2200" dirty="0">
                    <a:solidFill>
                      <a:schemeClr val="tx1"/>
                    </a:solidFill>
                    <a:latin typeface="Times New Roman" panose="02020603050405020304" pitchFamily="18" charset="0"/>
                    <a:cs typeface="Times New Roman" panose="02020603050405020304" pitchFamily="18" charset="0"/>
                  </a:rPr>
                  <a:t>нь аливаа хувьцааны өгөөж </a:t>
                </a:r>
                <a14:m>
                  <m:oMath xmlns:m="http://schemas.openxmlformats.org/officeDocument/2006/math">
                    <m:sSub>
                      <m:sSubPr>
                        <m:ctrlPr>
                          <a:rPr lang="en-US" sz="2200" b="1" i="1" dirty="0" smtClean="0">
                            <a:solidFill>
                              <a:srgbClr val="0000FF"/>
                            </a:solidFill>
                            <a:latin typeface="Cambria Math" panose="02040503050406030204" pitchFamily="18" charset="0"/>
                          </a:rPr>
                        </m:ctrlPr>
                      </m:sSubPr>
                      <m:e>
                        <m:r>
                          <a:rPr lang="en-US" sz="2200" b="1" i="1" dirty="0">
                            <a:solidFill>
                              <a:srgbClr val="0000FF"/>
                            </a:solidFill>
                            <a:latin typeface="Cambria Math" panose="02040503050406030204" pitchFamily="18" charset="0"/>
                          </a:rPr>
                          <m:t>𝑹</m:t>
                        </m:r>
                      </m:e>
                      <m:sub>
                        <m:r>
                          <a:rPr lang="en-US" sz="2200" b="1" i="1" dirty="0" smtClean="0">
                            <a:solidFill>
                              <a:srgbClr val="0000FF"/>
                            </a:solidFill>
                            <a:latin typeface="Cambria Math" panose="02040503050406030204" pitchFamily="18" charset="0"/>
                          </a:rPr>
                          <m:t>𝑺</m:t>
                        </m:r>
                      </m:sub>
                    </m:sSub>
                    <m:r>
                      <a:rPr lang="en-US" sz="2200" b="0" i="1" dirty="0" smtClean="0">
                        <a:solidFill>
                          <a:srgbClr val="0000FF"/>
                        </a:solidFill>
                        <a:latin typeface="Cambria Math" panose="02040503050406030204" pitchFamily="18" charset="0"/>
                      </a:rPr>
                      <m:t> </m:t>
                    </m:r>
                  </m:oMath>
                </a14:m>
                <a:r>
                  <a:rPr lang="en-US" sz="2200" dirty="0">
                    <a:solidFill>
                      <a:srgbClr val="0000FF"/>
                    </a:solidFill>
                    <a:latin typeface="Times New Roman" panose="02020603050405020304" pitchFamily="18" charset="0"/>
                    <a:cs typeface="Times New Roman" panose="02020603050405020304" pitchFamily="18" charset="0"/>
                  </a:rPr>
                  <a:t> </a:t>
                </a:r>
                <a:r>
                  <a:rPr lang="mn-MN" sz="2200" dirty="0">
                    <a:solidFill>
                      <a:schemeClr val="tx1"/>
                    </a:solidFill>
                    <a:latin typeface="Times New Roman" panose="02020603050405020304" pitchFamily="18" charset="0"/>
                    <a:cs typeface="Times New Roman" panose="02020603050405020304" pitchFamily="18" charset="0"/>
                  </a:rPr>
                  <a:t>зах зээлтэй харьцуулсан эрсдэлээс хамааралтай болохыг баталдаг. Эрсдэл </a:t>
                </a:r>
                <a14:m>
                  <m:oMath xmlns:m="http://schemas.openxmlformats.org/officeDocument/2006/math">
                    <m:sSub>
                      <m:sSubPr>
                        <m:ctrlPr>
                          <a:rPr lang="en-US" sz="2200" b="1" i="1" dirty="0" smtClean="0">
                            <a:solidFill>
                              <a:srgbClr val="0000FF"/>
                            </a:solidFill>
                            <a:latin typeface="Cambria Math" panose="02040503050406030204" pitchFamily="18" charset="0"/>
                          </a:rPr>
                        </m:ctrlPr>
                      </m:sSubPr>
                      <m:e>
                        <m:r>
                          <a:rPr lang="en-US" sz="2200" b="1" i="1" dirty="0">
                            <a:solidFill>
                              <a:srgbClr val="0000FF"/>
                            </a:solidFill>
                            <a:latin typeface="Cambria Math" panose="02040503050406030204" pitchFamily="18" charset="0"/>
                            <a:ea typeface="Cambria Math" panose="02040503050406030204" pitchFamily="18" charset="0"/>
                          </a:rPr>
                          <m:t>𝜷</m:t>
                        </m:r>
                      </m:e>
                      <m:sub>
                        <m:r>
                          <a:rPr lang="en-US" sz="2200" b="1" i="1" dirty="0" smtClean="0">
                            <a:solidFill>
                              <a:srgbClr val="0000FF"/>
                            </a:solidFill>
                            <a:latin typeface="Cambria Math" panose="02040503050406030204" pitchFamily="18" charset="0"/>
                            <a:ea typeface="Cambria Math" panose="02040503050406030204" pitchFamily="18" charset="0"/>
                          </a:rPr>
                          <m:t>𝑺</m:t>
                        </m:r>
                      </m:sub>
                    </m:sSub>
                  </m:oMath>
                </a14:m>
                <a:r>
                  <a:rPr lang="en-US" sz="2200" b="1" dirty="0">
                    <a:solidFill>
                      <a:schemeClr val="tx1"/>
                    </a:solidFill>
                    <a:latin typeface="Times New Roman" panose="02020603050405020304" pitchFamily="18" charset="0"/>
                    <a:cs typeface="Times New Roman" panose="02020603050405020304" pitchFamily="18" charset="0"/>
                  </a:rPr>
                  <a:t> </a:t>
                </a:r>
                <a:r>
                  <a:rPr lang="mn-MN" sz="2200" dirty="0">
                    <a:solidFill>
                      <a:schemeClr val="tx1"/>
                    </a:solidFill>
                    <a:latin typeface="Times New Roman" panose="02020603050405020304" pitchFamily="18" charset="0"/>
                    <a:cs typeface="Times New Roman" panose="02020603050405020304" pitchFamily="18" charset="0"/>
                  </a:rPr>
                  <a:t>бол зах зээлийн багцын эрсдэлийн хэмжээнд хувьцааны оруулж буй хувь хэмжээ юм. ХАҮЗ</a:t>
                </a: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CAPM</a:t>
                </a:r>
                <a:r>
                  <a:rPr lang="en-US" sz="2200" dirty="0">
                    <a:solidFill>
                      <a:schemeClr val="tx1"/>
                    </a:solidFill>
                    <a:latin typeface="Times New Roman" panose="02020603050405020304" pitchFamily="18" charset="0"/>
                    <a:cs typeface="Times New Roman" panose="02020603050405020304" pitchFamily="18" charset="0"/>
                  </a:rPr>
                  <a:t>)</a:t>
                </a:r>
                <a:r>
                  <a:rPr lang="mn-MN" sz="2200" dirty="0">
                    <a:solidFill>
                      <a:schemeClr val="tx1"/>
                    </a:solidFill>
                    <a:latin typeface="Times New Roman" panose="02020603050405020304" pitchFamily="18" charset="0"/>
                    <a:cs typeface="Times New Roman" panose="02020603050405020304" pitchFamily="18" charset="0"/>
                  </a:rPr>
                  <a:t> нь аливаа хувьцааны эрсдэлийн урамшуулал нь түүний бетатай пропорционал хамааралтай болохыг харуулдаг. </a:t>
                </a:r>
                <a:endParaRPr lang="en-US" sz="2200" dirty="0">
                  <a:solidFill>
                    <a:schemeClr val="tx1"/>
                  </a:solidFill>
                  <a:latin typeface="Times New Roman" panose="02020603050405020304" pitchFamily="18" charset="0"/>
                  <a:cs typeface="Times New Roman" panose="02020603050405020304" pitchFamily="18" charset="0"/>
                </a:endParaRPr>
              </a:p>
              <a:p>
                <a:pPr marL="0" indent="0" algn="just">
                  <a:lnSpc>
                    <a:spcPct val="80000"/>
                  </a:lnSpc>
                  <a:spcBef>
                    <a:spcPts val="200"/>
                  </a:spcBef>
                  <a:buNone/>
                </a:pPr>
                <a14:m>
                  <m:oMathPara xmlns:m="http://schemas.openxmlformats.org/officeDocument/2006/math">
                    <m:oMathParaPr>
                      <m:jc m:val="centerGroup"/>
                    </m:oMathParaPr>
                    <m:oMath xmlns:m="http://schemas.openxmlformats.org/officeDocument/2006/math">
                      <m:sSub>
                        <m:sSubPr>
                          <m:ctrlPr>
                            <a:rPr lang="en-US" sz="3600" i="1" smtClean="0">
                              <a:solidFill>
                                <a:srgbClr val="FF0000"/>
                              </a:solidFill>
                              <a:latin typeface="Cambria Math" panose="02040503050406030204" pitchFamily="18" charset="0"/>
                            </a:rPr>
                          </m:ctrlPr>
                        </m:sSubPr>
                        <m:e>
                          <m:r>
                            <a:rPr lang="mn-MN" sz="3600" i="1">
                              <a:solidFill>
                                <a:srgbClr val="FF0000"/>
                              </a:solidFill>
                              <a:latin typeface="Cambria Math" panose="02040503050406030204" pitchFamily="18" charset="0"/>
                            </a:rPr>
                            <m:t>𝑅</m:t>
                          </m:r>
                        </m:e>
                        <m:sub>
                          <m:r>
                            <a:rPr lang="mn-MN" sz="3600" i="1">
                              <a:solidFill>
                                <a:srgbClr val="FF0000"/>
                              </a:solidFill>
                              <a:latin typeface="Cambria Math" panose="02040503050406030204" pitchFamily="18" charset="0"/>
                            </a:rPr>
                            <m:t>𝑆</m:t>
                          </m:r>
                        </m:sub>
                      </m:sSub>
                      <m:r>
                        <a:rPr lang="mn-MN" sz="3600" i="1">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mn-MN" sz="3600" i="1">
                              <a:solidFill>
                                <a:srgbClr val="FF0000"/>
                              </a:solidFill>
                              <a:latin typeface="Cambria Math" panose="02040503050406030204" pitchFamily="18" charset="0"/>
                            </a:rPr>
                            <m:t>𝑅</m:t>
                          </m:r>
                        </m:e>
                        <m:sub>
                          <m:r>
                            <a:rPr lang="mn-MN" sz="3600" i="1">
                              <a:solidFill>
                                <a:srgbClr val="FF0000"/>
                              </a:solidFill>
                              <a:latin typeface="Cambria Math" panose="02040503050406030204" pitchFamily="18" charset="0"/>
                            </a:rPr>
                            <m:t>𝐹</m:t>
                          </m:r>
                        </m:sub>
                      </m:sSub>
                      <m:r>
                        <a:rPr lang="mn-MN" sz="3600" i="1">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mn-MN" sz="3600" i="1">
                              <a:solidFill>
                                <a:srgbClr val="FF0000"/>
                              </a:solidFill>
                              <a:latin typeface="Cambria Math" panose="02040503050406030204" pitchFamily="18" charset="0"/>
                            </a:rPr>
                            <m:t>𝛽</m:t>
                          </m:r>
                        </m:e>
                        <m:sub>
                          <m:r>
                            <a:rPr lang="mn-MN" sz="3600" i="1">
                              <a:solidFill>
                                <a:srgbClr val="FF0000"/>
                              </a:solidFill>
                              <a:latin typeface="Cambria Math" panose="02040503050406030204" pitchFamily="18" charset="0"/>
                            </a:rPr>
                            <m:t>𝑆</m:t>
                          </m:r>
                        </m:sub>
                      </m:sSub>
                      <m:d>
                        <m:dPr>
                          <m:ctrlPr>
                            <a:rPr lang="en-US" sz="3600" i="1">
                              <a:solidFill>
                                <a:srgbClr val="FF0000"/>
                              </a:solidFill>
                              <a:latin typeface="Cambria Math" panose="02040503050406030204" pitchFamily="18" charset="0"/>
                            </a:rPr>
                          </m:ctrlPr>
                        </m:dPr>
                        <m:e>
                          <m:sSub>
                            <m:sSubPr>
                              <m:ctrlPr>
                                <a:rPr lang="en-US" sz="3600" i="1">
                                  <a:solidFill>
                                    <a:srgbClr val="FF0000"/>
                                  </a:solidFill>
                                  <a:latin typeface="Cambria Math" panose="02040503050406030204" pitchFamily="18" charset="0"/>
                                </a:rPr>
                              </m:ctrlPr>
                            </m:sSubPr>
                            <m:e>
                              <m:r>
                                <a:rPr lang="mn-MN" sz="3600" i="1">
                                  <a:solidFill>
                                    <a:srgbClr val="FF0000"/>
                                  </a:solidFill>
                                  <a:latin typeface="Cambria Math" panose="02040503050406030204" pitchFamily="18" charset="0"/>
                                </a:rPr>
                                <m:t>𝑅</m:t>
                              </m:r>
                            </m:e>
                            <m:sub>
                              <m:r>
                                <a:rPr lang="mn-MN" sz="3600" i="1">
                                  <a:solidFill>
                                    <a:srgbClr val="FF0000"/>
                                  </a:solidFill>
                                  <a:latin typeface="Cambria Math" panose="02040503050406030204" pitchFamily="18" charset="0"/>
                                </a:rPr>
                                <m:t>𝑀</m:t>
                              </m:r>
                            </m:sub>
                          </m:sSub>
                          <m:r>
                            <a:rPr lang="mn-MN" sz="3600" i="1">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mn-MN" sz="3600" i="1">
                                  <a:solidFill>
                                    <a:srgbClr val="FF0000"/>
                                  </a:solidFill>
                                  <a:latin typeface="Cambria Math" panose="02040503050406030204" pitchFamily="18" charset="0"/>
                                </a:rPr>
                                <m:t>𝑅</m:t>
                              </m:r>
                            </m:e>
                            <m:sub>
                              <m:r>
                                <a:rPr lang="mn-MN" sz="3600" i="1">
                                  <a:solidFill>
                                    <a:srgbClr val="FF0000"/>
                                  </a:solidFill>
                                  <a:latin typeface="Cambria Math" panose="02040503050406030204" pitchFamily="18" charset="0"/>
                                </a:rPr>
                                <m:t>𝐹</m:t>
                              </m:r>
                            </m:sub>
                          </m:sSub>
                        </m:e>
                      </m:d>
                    </m:oMath>
                  </m:oMathPara>
                </a14:m>
                <a:endParaRPr lang="en-US" sz="22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5E718365-3715-BA3E-0764-E8C43566E340}"/>
                  </a:ext>
                </a:extLst>
              </p:cNvPr>
              <p:cNvSpPr>
                <a:spLocks noGrp="1" noRot="1" noChangeAspect="1" noMove="1" noResize="1" noEditPoints="1" noAdjustHandles="1" noChangeArrowheads="1" noChangeShapeType="1" noTextEdit="1"/>
              </p:cNvSpPr>
              <p:nvPr>
                <p:ph idx="1"/>
              </p:nvPr>
            </p:nvSpPr>
            <p:spPr>
              <a:xfrm>
                <a:off x="6890656" y="183454"/>
                <a:ext cx="5041513" cy="6167451"/>
              </a:xfrm>
              <a:blipFill>
                <a:blip r:embed="rId4"/>
                <a:stretch>
                  <a:fillRect l="-1330" t="-1779" r="-15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EC9B6B1-4E34-96A8-9380-F53C83B7FC40}"/>
                  </a:ext>
                </a:extLst>
              </p:cNvPr>
              <p:cNvSpPr txBox="1"/>
              <p:nvPr/>
            </p:nvSpPr>
            <p:spPr>
              <a:xfrm>
                <a:off x="164891" y="5252618"/>
                <a:ext cx="6890657" cy="1421928"/>
              </a:xfrm>
              <a:prstGeom prst="rect">
                <a:avLst/>
              </a:prstGeom>
              <a:noFill/>
            </p:spPr>
            <p:txBody>
              <a:bodyPr wrap="square">
                <a:spAutoFit/>
              </a:bodyPr>
              <a:lstStyle/>
              <a:p>
                <a:pPr algn="just">
                  <a:lnSpc>
                    <a:spcPct val="90000"/>
                  </a:lnSpc>
                </a:pPr>
                <a:r>
                  <a:rPr lang="mn-MN" sz="2400" dirty="0">
                    <a:solidFill>
                      <a:srgbClr val="002060"/>
                    </a:solidFill>
                    <a:latin typeface="Times New Roman" panose="02020603050405020304" pitchFamily="18" charset="0"/>
                    <a:cs typeface="Times New Roman" panose="02020603050405020304" pitchFamily="18" charset="0"/>
                  </a:rPr>
                  <a:t>Энд: </a:t>
                </a:r>
                <a14:m>
                  <m:oMath xmlns:m="http://schemas.openxmlformats.org/officeDocument/2006/math">
                    <m:r>
                      <a:rPr lang="mn-MN" sz="2400" b="1" i="1">
                        <a:solidFill>
                          <a:srgbClr val="002060"/>
                        </a:solidFill>
                        <a:latin typeface="Cambria Math" panose="02040503050406030204" pitchFamily="18" charset="0"/>
                      </a:rPr>
                      <m:t>(</m:t>
                    </m:r>
                    <m:sSub>
                      <m:sSubPr>
                        <m:ctrlPr>
                          <a:rPr lang="en-US" sz="2400" b="1" i="1">
                            <a:solidFill>
                              <a:srgbClr val="002060"/>
                            </a:solidFill>
                            <a:latin typeface="Cambria Math" panose="02040503050406030204" pitchFamily="18" charset="0"/>
                          </a:rPr>
                        </m:ctrlPr>
                      </m:sSubPr>
                      <m:e>
                        <m:r>
                          <a:rPr lang="mn-MN" sz="2400" b="1" i="1">
                            <a:solidFill>
                              <a:srgbClr val="002060"/>
                            </a:solidFill>
                            <a:latin typeface="Cambria Math" panose="02040503050406030204" pitchFamily="18" charset="0"/>
                          </a:rPr>
                          <m:t>𝑹</m:t>
                        </m:r>
                      </m:e>
                      <m:sub>
                        <m:r>
                          <a:rPr lang="mn-MN" sz="2400" b="1" i="1">
                            <a:solidFill>
                              <a:srgbClr val="002060"/>
                            </a:solidFill>
                            <a:latin typeface="Cambria Math" panose="02040503050406030204" pitchFamily="18" charset="0"/>
                          </a:rPr>
                          <m:t>𝑺</m:t>
                        </m:r>
                      </m:sub>
                    </m:sSub>
                    <m:r>
                      <a:rPr lang="mn-MN" sz="2400" b="1" i="1">
                        <a:solidFill>
                          <a:srgbClr val="002060"/>
                        </a:solidFill>
                        <a:latin typeface="Cambria Math" panose="02040503050406030204" pitchFamily="18" charset="0"/>
                      </a:rPr>
                      <m:t>−</m:t>
                    </m:r>
                    <m:sSub>
                      <m:sSubPr>
                        <m:ctrlPr>
                          <a:rPr lang="en-US" sz="2400" b="1" i="1">
                            <a:solidFill>
                              <a:srgbClr val="002060"/>
                            </a:solidFill>
                            <a:latin typeface="Cambria Math" panose="02040503050406030204" pitchFamily="18" charset="0"/>
                          </a:rPr>
                        </m:ctrlPr>
                      </m:sSubPr>
                      <m:e>
                        <m:r>
                          <a:rPr lang="mn-MN" sz="2400" b="1" i="1">
                            <a:solidFill>
                              <a:srgbClr val="002060"/>
                            </a:solidFill>
                            <a:latin typeface="Cambria Math" panose="02040503050406030204" pitchFamily="18" charset="0"/>
                          </a:rPr>
                          <m:t>𝑹</m:t>
                        </m:r>
                      </m:e>
                      <m:sub>
                        <m:r>
                          <a:rPr lang="mn-MN" sz="2400" b="1" i="1">
                            <a:solidFill>
                              <a:srgbClr val="002060"/>
                            </a:solidFill>
                            <a:latin typeface="Cambria Math" panose="02040503050406030204" pitchFamily="18" charset="0"/>
                          </a:rPr>
                          <m:t>𝑭</m:t>
                        </m:r>
                      </m:sub>
                    </m:sSub>
                    <m:r>
                      <a:rPr lang="mn-MN" sz="2400" b="1" i="1">
                        <a:solidFill>
                          <a:srgbClr val="002060"/>
                        </a:solidFill>
                        <a:latin typeface="Cambria Math" panose="02040503050406030204" pitchFamily="18" charset="0"/>
                      </a:rPr>
                      <m:t>)</m:t>
                    </m:r>
                  </m:oMath>
                </a14:m>
                <a:r>
                  <a:rPr lang="mn-MN" sz="2400" dirty="0">
                    <a:solidFill>
                      <a:srgbClr val="002060"/>
                    </a:solidFill>
                    <a:latin typeface="Times New Roman" panose="02020603050405020304" pitchFamily="18" charset="0"/>
                    <a:cs typeface="Times New Roman" panose="02020603050405020304" pitchFamily="18" charset="0"/>
                  </a:rPr>
                  <a:t> - эрсдэлгүй хөрөнгө оруулалттай хамааралтай хувьцаа </a:t>
                </a:r>
                <a:r>
                  <a:rPr lang="en-US" sz="2400" b="1" i="1" dirty="0">
                    <a:solidFill>
                      <a:srgbClr val="002060"/>
                    </a:solidFill>
                    <a:latin typeface="Times New Roman" panose="02020603050405020304" pitchFamily="18" charset="0"/>
                    <a:cs typeface="Times New Roman" panose="02020603050405020304" pitchFamily="18" charset="0"/>
                  </a:rPr>
                  <a:t>S</a:t>
                </a:r>
                <a:r>
                  <a:rPr lang="mn-MN" sz="2400" i="1" dirty="0">
                    <a:solidFill>
                      <a:srgbClr val="002060"/>
                    </a:solidFill>
                    <a:latin typeface="Times New Roman" panose="02020603050405020304" pitchFamily="18" charset="0"/>
                    <a:cs typeface="Times New Roman" panose="02020603050405020304" pitchFamily="18" charset="0"/>
                  </a:rPr>
                  <a:t>-</a:t>
                </a:r>
                <a:r>
                  <a:rPr lang="mn-MN" sz="2400" dirty="0">
                    <a:solidFill>
                      <a:srgbClr val="002060"/>
                    </a:solidFill>
                    <a:latin typeface="Times New Roman" panose="02020603050405020304" pitchFamily="18" charset="0"/>
                    <a:cs typeface="Times New Roman" panose="02020603050405020304" pitchFamily="18" charset="0"/>
                  </a:rPr>
                  <a:t>ын эрсдлийн урамшуулал. </a:t>
                </a:r>
                <a14:m>
                  <m:oMath xmlns:m="http://schemas.openxmlformats.org/officeDocument/2006/math">
                    <m:d>
                      <m:dPr>
                        <m:ctrlPr>
                          <a:rPr lang="en-US" sz="2400" b="1" i="1">
                            <a:solidFill>
                              <a:srgbClr val="002060"/>
                            </a:solidFill>
                            <a:latin typeface="Cambria Math" panose="02040503050406030204" pitchFamily="18" charset="0"/>
                          </a:rPr>
                        </m:ctrlPr>
                      </m:dPr>
                      <m:e>
                        <m:sSub>
                          <m:sSubPr>
                            <m:ctrlPr>
                              <a:rPr lang="en-US" sz="2400" b="1" i="1">
                                <a:solidFill>
                                  <a:srgbClr val="002060"/>
                                </a:solidFill>
                                <a:latin typeface="Cambria Math" panose="02040503050406030204" pitchFamily="18" charset="0"/>
                              </a:rPr>
                            </m:ctrlPr>
                          </m:sSubPr>
                          <m:e>
                            <m:r>
                              <a:rPr lang="mn-MN" sz="2400" b="1" i="1">
                                <a:solidFill>
                                  <a:srgbClr val="002060"/>
                                </a:solidFill>
                                <a:latin typeface="Cambria Math" panose="02040503050406030204" pitchFamily="18" charset="0"/>
                              </a:rPr>
                              <m:t>𝑹</m:t>
                            </m:r>
                          </m:e>
                          <m:sub>
                            <m:r>
                              <a:rPr lang="mn-MN" sz="2400" b="1" i="1">
                                <a:solidFill>
                                  <a:srgbClr val="002060"/>
                                </a:solidFill>
                                <a:latin typeface="Cambria Math" panose="02040503050406030204" pitchFamily="18" charset="0"/>
                              </a:rPr>
                              <m:t>𝑴</m:t>
                            </m:r>
                          </m:sub>
                        </m:sSub>
                        <m:r>
                          <a:rPr lang="mn-MN" sz="2400" b="1" i="1">
                            <a:solidFill>
                              <a:srgbClr val="002060"/>
                            </a:solidFill>
                            <a:latin typeface="Cambria Math" panose="02040503050406030204" pitchFamily="18" charset="0"/>
                          </a:rPr>
                          <m:t>−</m:t>
                        </m:r>
                        <m:sSub>
                          <m:sSubPr>
                            <m:ctrlPr>
                              <a:rPr lang="en-US" sz="2400" b="1" i="1">
                                <a:solidFill>
                                  <a:srgbClr val="002060"/>
                                </a:solidFill>
                                <a:latin typeface="Cambria Math" panose="02040503050406030204" pitchFamily="18" charset="0"/>
                              </a:rPr>
                            </m:ctrlPr>
                          </m:sSubPr>
                          <m:e>
                            <m:r>
                              <a:rPr lang="mn-MN" sz="2400" b="1" i="1">
                                <a:solidFill>
                                  <a:srgbClr val="002060"/>
                                </a:solidFill>
                                <a:latin typeface="Cambria Math" panose="02040503050406030204" pitchFamily="18" charset="0"/>
                              </a:rPr>
                              <m:t>𝑹</m:t>
                            </m:r>
                          </m:e>
                          <m:sub>
                            <m:r>
                              <a:rPr lang="mn-MN" sz="2400" b="1" i="1">
                                <a:solidFill>
                                  <a:srgbClr val="002060"/>
                                </a:solidFill>
                                <a:latin typeface="Cambria Math" panose="02040503050406030204" pitchFamily="18" charset="0"/>
                              </a:rPr>
                              <m:t>𝑭</m:t>
                            </m:r>
                          </m:sub>
                        </m:sSub>
                      </m:e>
                    </m:d>
                  </m:oMath>
                </a14:m>
                <a:r>
                  <a:rPr lang="mn-MN" sz="2400" dirty="0">
                    <a:solidFill>
                      <a:srgbClr val="002060"/>
                    </a:solidFill>
                    <a:latin typeface="Times New Roman" panose="02020603050405020304" pitchFamily="18" charset="0"/>
                    <a:cs typeface="Times New Roman" panose="02020603050405020304" pitchFamily="18" charset="0"/>
                  </a:rPr>
                  <a:t>- хувьцааны зах зээлийн эрсдлийн дундаж</a:t>
                </a:r>
                <a:r>
                  <a:rPr lang="en-US" sz="2400"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урамшуулал</a:t>
                </a:r>
                <a:r>
                  <a:rPr lang="en-US" sz="2400" dirty="0">
                    <a:solidFill>
                      <a:srgbClr val="002060"/>
                    </a:solidFill>
                    <a:latin typeface="Times New Roman" panose="02020603050405020304" pitchFamily="18" charset="0"/>
                    <a:cs typeface="Times New Roman" panose="02020603050405020304" pitchFamily="18" charset="0"/>
                  </a:rPr>
                  <a:t>.</a:t>
                </a:r>
                <a:r>
                  <a:rPr lang="mn-MN" sz="24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b="1" i="1">
                            <a:solidFill>
                              <a:srgbClr val="002060"/>
                            </a:solidFill>
                            <a:latin typeface="Cambria Math" panose="02040503050406030204" pitchFamily="18" charset="0"/>
                            <a:cs typeface="Times New Roman" pitchFamily="18" charset="0"/>
                          </a:rPr>
                        </m:ctrlPr>
                      </m:sSubPr>
                      <m:e>
                        <m:r>
                          <a:rPr lang="mn-MN" sz="2400" b="1" i="1">
                            <a:solidFill>
                              <a:srgbClr val="002060"/>
                            </a:solidFill>
                            <a:latin typeface="Cambria Math" panose="02040503050406030204" pitchFamily="18" charset="0"/>
                            <a:cs typeface="Times New Roman" pitchFamily="18" charset="0"/>
                          </a:rPr>
                          <m:t>𝜷</m:t>
                        </m:r>
                      </m:e>
                      <m:sub>
                        <m:r>
                          <a:rPr lang="mn-MN" sz="2400" b="1" i="1">
                            <a:solidFill>
                              <a:srgbClr val="002060"/>
                            </a:solidFill>
                            <a:latin typeface="Cambria Math" panose="02040503050406030204" pitchFamily="18" charset="0"/>
                            <a:cs typeface="Times New Roman" pitchFamily="18" charset="0"/>
                          </a:rPr>
                          <m:t>𝑺</m:t>
                        </m:r>
                      </m:sub>
                    </m:sSub>
                  </m:oMath>
                </a14:m>
                <a:r>
                  <a:rPr lang="mn-MN" sz="2400" b="1"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 хувьцаа </a:t>
                </a:r>
                <a:r>
                  <a:rPr lang="en-US" sz="2400" b="1" i="1" dirty="0">
                    <a:solidFill>
                      <a:srgbClr val="002060"/>
                    </a:solidFill>
                    <a:latin typeface="Times New Roman" panose="02020603050405020304" pitchFamily="18" charset="0"/>
                    <a:cs typeface="Times New Roman" panose="02020603050405020304" pitchFamily="18" charset="0"/>
                  </a:rPr>
                  <a:t>S</a:t>
                </a:r>
                <a:r>
                  <a:rPr lang="en-US" sz="2400" dirty="0">
                    <a:solidFill>
                      <a:srgbClr val="002060"/>
                    </a:solidFill>
                    <a:latin typeface="Times New Roman" panose="02020603050405020304" pitchFamily="18" charset="0"/>
                    <a:cs typeface="Times New Roman" panose="02020603050405020304" pitchFamily="18" charset="0"/>
                  </a:rPr>
                  <a:t>-</a:t>
                </a:r>
                <a:r>
                  <a:rPr lang="mn-MN" sz="2400" dirty="0">
                    <a:solidFill>
                      <a:srgbClr val="002060"/>
                    </a:solidFill>
                    <a:latin typeface="Times New Roman" panose="02020603050405020304" pitchFamily="18" charset="0"/>
                    <a:cs typeface="Times New Roman" panose="02020603050405020304" pitchFamily="18" charset="0"/>
                  </a:rPr>
                  <a:t>ийн бета утга. </a:t>
                </a:r>
              </a:p>
            </p:txBody>
          </p:sp>
        </mc:Choice>
        <mc:Fallback xmlns="">
          <p:sp>
            <p:nvSpPr>
              <p:cNvPr id="8" name="TextBox 7">
                <a:extLst>
                  <a:ext uri="{FF2B5EF4-FFF2-40B4-BE49-F238E27FC236}">
                    <a16:creationId xmlns:a16="http://schemas.microsoft.com/office/drawing/2014/main" id="{1EC9B6B1-4E34-96A8-9380-F53C83B7FC40}"/>
                  </a:ext>
                </a:extLst>
              </p:cNvPr>
              <p:cNvSpPr txBox="1">
                <a:spLocks noRot="1" noChangeAspect="1" noMove="1" noResize="1" noEditPoints="1" noAdjustHandles="1" noChangeArrowheads="1" noChangeShapeType="1" noTextEdit="1"/>
              </p:cNvSpPr>
              <p:nvPr/>
            </p:nvSpPr>
            <p:spPr>
              <a:xfrm>
                <a:off x="164891" y="5252618"/>
                <a:ext cx="6890657" cy="1421928"/>
              </a:xfrm>
              <a:prstGeom prst="rect">
                <a:avLst/>
              </a:prstGeom>
              <a:blipFill>
                <a:blip r:embed="rId5"/>
                <a:stretch>
                  <a:fillRect l="-1327" t="-6009" r="-1416" b="-9013"/>
                </a:stretch>
              </a:blipFill>
            </p:spPr>
            <p:txBody>
              <a:bodyPr/>
              <a:lstStyle/>
              <a:p>
                <a:r>
                  <a:rPr lang="en-US">
                    <a:noFill/>
                  </a:rPr>
                  <a:t> </a:t>
                </a:r>
              </a:p>
            </p:txBody>
          </p:sp>
        </mc:Fallback>
      </mc:AlternateContent>
    </p:spTree>
    <p:extLst>
      <p:ext uri="{BB962C8B-B14F-4D97-AF65-F5344CB8AC3E}">
        <p14:creationId xmlns:p14="http://schemas.microsoft.com/office/powerpoint/2010/main" val="1631191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29C93-4986-C9A4-34C1-22E0097A857E}"/>
              </a:ext>
            </a:extLst>
          </p:cNvPr>
          <p:cNvSpPr>
            <a:spLocks noGrp="1"/>
          </p:cNvSpPr>
          <p:nvPr>
            <p:ph type="title"/>
          </p:nvPr>
        </p:nvSpPr>
        <p:spPr>
          <a:xfrm>
            <a:off x="118673" y="160826"/>
            <a:ext cx="11903438" cy="533377"/>
          </a:xfrm>
        </p:spPr>
        <p:txBody>
          <a:bodyPr>
            <a:noAutofit/>
          </a:bodyPr>
          <a:lstStyle/>
          <a:p>
            <a:r>
              <a:rPr lang="mn-MN" sz="3000" b="1" dirty="0">
                <a:solidFill>
                  <a:srgbClr val="002060"/>
                </a:solidFill>
                <a:latin typeface="Times New Roman" panose="02020603050405020304" pitchFamily="18" charset="0"/>
                <a:cs typeface="Times New Roman" panose="02020603050405020304" pitchFamily="18" charset="0"/>
              </a:rPr>
              <a:t>Хөрөнгийн жигнэсэн дундаж өртөг </a:t>
            </a:r>
            <a:br>
              <a:rPr lang="en-US" sz="3000" b="1" dirty="0">
                <a:latin typeface="Times New Roman" panose="02020603050405020304" pitchFamily="18" charset="0"/>
                <a:cs typeface="Times New Roman" panose="02020603050405020304" pitchFamily="18" charset="0"/>
              </a:rPr>
            </a:br>
            <a:r>
              <a:rPr lang="mn-MN" sz="3000" b="1" dirty="0">
                <a:solidFill>
                  <a:schemeClr val="accent2">
                    <a:lumMod val="75000"/>
                  </a:schemeClr>
                </a:solidFill>
                <a:latin typeface="Times New Roman" panose="02020603050405020304" pitchFamily="18" charset="0"/>
                <a:cs typeface="Times New Roman" panose="02020603050405020304" pitchFamily="18" charset="0"/>
              </a:rPr>
              <a:t>(WACC</a:t>
            </a:r>
            <a:r>
              <a:rPr lang="en-US" sz="3000" b="1" dirty="0">
                <a:solidFill>
                  <a:schemeClr val="accent2">
                    <a:lumMod val="75000"/>
                  </a:schemeClr>
                </a:solidFill>
                <a:latin typeface="Times New Roman" panose="02020603050405020304" pitchFamily="18" charset="0"/>
                <a:cs typeface="Times New Roman" panose="02020603050405020304" pitchFamily="18" charset="0"/>
              </a:rPr>
              <a:t> –Weighted Average Cost of Capital)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9F62DB-6CD9-9E21-1672-B1BBA2F907D3}"/>
                  </a:ext>
                </a:extLst>
              </p:cNvPr>
              <p:cNvSpPr>
                <a:spLocks noGrp="1"/>
              </p:cNvSpPr>
              <p:nvPr>
                <p:ph idx="1"/>
              </p:nvPr>
            </p:nvSpPr>
            <p:spPr>
              <a:xfrm>
                <a:off x="118673" y="771668"/>
                <a:ext cx="11903438" cy="4184721"/>
              </a:xfrm>
            </p:spPr>
            <p:txBody>
              <a:bodyPr>
                <a:normAutofit/>
              </a:bodyPr>
              <a:lstStyle/>
              <a:p>
                <a:pPr algn="just">
                  <a:lnSpc>
                    <a:spcPct val="80000"/>
                  </a:lnSpc>
                  <a:spcBef>
                    <a:spcPts val="400"/>
                  </a:spcBef>
                </a:pPr>
                <a:r>
                  <a:rPr lang="mn-MN" dirty="0">
                    <a:solidFill>
                      <a:srgbClr val="002060"/>
                    </a:solidFill>
                    <a:latin typeface="Times New Roman" panose="02020603050405020304" pitchFamily="18" charset="0"/>
                    <a:cs typeface="Times New Roman" panose="02020603050405020304" pitchFamily="18" charset="0"/>
                  </a:rPr>
                  <a:t>Хөрөнгийн жигнэсэн дундаж өртөг (</a:t>
                </a:r>
                <a:r>
                  <a:rPr lang="en-US" dirty="0">
                    <a:solidFill>
                      <a:srgbClr val="002060"/>
                    </a:solidFill>
                    <a:latin typeface="Times New Roman" panose="02020603050405020304" pitchFamily="18" charset="0"/>
                    <a:cs typeface="Times New Roman" panose="02020603050405020304" pitchFamily="18" charset="0"/>
                  </a:rPr>
                  <a:t>WACC) </a:t>
                </a:r>
                <a:r>
                  <a:rPr lang="mn-MN" dirty="0">
                    <a:solidFill>
                      <a:srgbClr val="002060"/>
                    </a:solidFill>
                    <a:latin typeface="Times New Roman" panose="02020603050405020304" pitchFamily="18" charset="0"/>
                    <a:cs typeface="Times New Roman" panose="02020603050405020304" pitchFamily="18" charset="0"/>
                  </a:rPr>
                  <a:t>нь эх үүсвэрүүдийн нийт хөрөнгийн хувь болон нийт эх үүсвэрүүдийн нийлбэр болох хөрөнгийн өртгийн үржвэрээр тодорхойлогдоно. Бид энэ ойлголтыг тайлбарлахын тулд зээл, хувьцааны эх үүсвэрүүдийг, тэдгээрийн харгалзах өртгийг зөвхөн авч үзнэ. Ингэснээр, төлөвлөхөд хангалттай дүр зургийг бий болгодог. Бид компаний хөрөнгийн жигнэсэн дундаж өртөг (</a:t>
                </a:r>
                <a:r>
                  <a:rPr lang="en-US" dirty="0">
                    <a:solidFill>
                      <a:srgbClr val="002060"/>
                    </a:solidFill>
                    <a:latin typeface="Times New Roman" panose="02020603050405020304" pitchFamily="18" charset="0"/>
                    <a:cs typeface="Times New Roman" panose="02020603050405020304" pitchFamily="18" charset="0"/>
                  </a:rPr>
                  <a:t>WACC)-</a:t>
                </a:r>
                <a:r>
                  <a:rPr lang="mn-MN" dirty="0">
                    <a:solidFill>
                      <a:srgbClr val="002060"/>
                    </a:solidFill>
                    <a:latin typeface="Times New Roman" panose="02020603050405020304" pitchFamily="18" charset="0"/>
                    <a:cs typeface="Times New Roman" panose="02020603050405020304" pitchFamily="18" charset="0"/>
                  </a:rPr>
                  <a:t>ийг (13.3) тэгшитгэлээр тооцоолно. Үүний тулд: </a:t>
                </a:r>
              </a:p>
              <a:p>
                <a:pPr marL="0" indent="0" algn="just">
                  <a:lnSpc>
                    <a:spcPct val="80000"/>
                  </a:lnSpc>
                  <a:spcBef>
                    <a:spcPts val="400"/>
                  </a:spcBef>
                  <a:buNone/>
                </a:pPr>
                <a14:m>
                  <m:oMathPara xmlns:m="http://schemas.openxmlformats.org/officeDocument/2006/math">
                    <m:oMathParaPr>
                      <m:jc m:val="centerGroup"/>
                    </m:oMathParaPr>
                    <m:oMath xmlns:m="http://schemas.openxmlformats.org/officeDocument/2006/math">
                      <m:sSub>
                        <m:sSubPr>
                          <m:ctrlPr>
                            <a:rPr lang="en-US" sz="4000" i="1" smtClean="0">
                              <a:solidFill>
                                <a:srgbClr val="FF0000"/>
                              </a:solidFill>
                              <a:latin typeface="Cambria Math" panose="02040503050406030204" pitchFamily="18" charset="0"/>
                            </a:rPr>
                          </m:ctrlPr>
                        </m:sSubPr>
                        <m:e>
                          <m:r>
                            <m:rPr>
                              <m:sty m:val="p"/>
                            </m:rPr>
                            <a:rPr lang="mn-MN" sz="4000">
                              <a:solidFill>
                                <a:srgbClr val="FF0000"/>
                              </a:solidFill>
                              <a:latin typeface="Cambria Math" panose="02040503050406030204" pitchFamily="18" charset="0"/>
                            </a:rPr>
                            <m:t>WACC</m:t>
                          </m:r>
                          <m:r>
                            <a:rPr lang="en-US" sz="4000">
                              <a:solidFill>
                                <a:srgbClr val="FF0000"/>
                              </a:solidFill>
                              <a:latin typeface="Cambria Math" panose="02040503050406030204" pitchFamily="18" charset="0"/>
                            </a:rPr>
                            <m:t>=</m:t>
                          </m:r>
                          <m:r>
                            <m:rPr>
                              <m:sty m:val="p"/>
                            </m:rPr>
                            <a:rPr lang="en-US" sz="4000" cap="none" smtClean="0">
                              <a:solidFill>
                                <a:srgbClr val="FF0000"/>
                              </a:solidFill>
                              <a:latin typeface="Cambria Math" panose="02040503050406030204" pitchFamily="18" charset="0"/>
                            </a:rPr>
                            <m:t>λ</m:t>
                          </m:r>
                          <m:r>
                            <a:rPr lang="en-US" sz="4000">
                              <a:solidFill>
                                <a:srgbClr val="FF0000"/>
                              </a:solidFill>
                              <a:latin typeface="Cambria Math" panose="02040503050406030204" pitchFamily="18" charset="0"/>
                            </a:rPr>
                            <m:t>(1</m:t>
                          </m:r>
                          <m:r>
                            <a:rPr lang="en-US" sz="4000" i="1">
                              <a:solidFill>
                                <a:srgbClr val="FF0000"/>
                              </a:solidFill>
                              <a:latin typeface="Cambria Math" panose="02040503050406030204" pitchFamily="18" charset="0"/>
                            </a:rPr>
                            <m:t>−</m:t>
                          </m:r>
                          <m:r>
                            <a:rPr lang="en-US" sz="4000" i="1">
                              <a:solidFill>
                                <a:srgbClr val="FF0000"/>
                              </a:solidFill>
                              <a:latin typeface="Cambria Math" panose="02040503050406030204" pitchFamily="18" charset="0"/>
                            </a:rPr>
                            <m:t>𝑡</m:t>
                          </m:r>
                          <m:r>
                            <a:rPr lang="en-US" sz="4000">
                              <a:solidFill>
                                <a:srgbClr val="FF0000"/>
                              </a:solidFill>
                              <a:latin typeface="Cambria Math" panose="02040503050406030204" pitchFamily="18" charset="0"/>
                            </a:rPr>
                            <m:t>)</m:t>
                          </m:r>
                          <m:sSub>
                            <m:sSubPr>
                              <m:ctrlPr>
                                <a:rPr lang="en-US" sz="4000" i="1">
                                  <a:solidFill>
                                    <a:srgbClr val="FF0000"/>
                                  </a:solidFill>
                                  <a:latin typeface="Cambria Math" panose="02040503050406030204" pitchFamily="18" charset="0"/>
                                </a:rPr>
                              </m:ctrlPr>
                            </m:sSubPr>
                            <m:e>
                              <m:r>
                                <a:rPr lang="en-US" sz="4000" i="1">
                                  <a:solidFill>
                                    <a:srgbClr val="FF0000"/>
                                  </a:solidFill>
                                  <a:latin typeface="Cambria Math" panose="02040503050406030204" pitchFamily="18" charset="0"/>
                                </a:rPr>
                                <m:t>𝑖</m:t>
                              </m:r>
                            </m:e>
                            <m:sub>
                              <m:r>
                                <a:rPr lang="mn-MN" sz="4000" i="1">
                                  <a:solidFill>
                                    <a:srgbClr val="FF0000"/>
                                  </a:solidFill>
                                  <a:latin typeface="Cambria Math" panose="02040503050406030204" pitchFamily="18" charset="0"/>
                                </a:rPr>
                                <m:t>𝑏</m:t>
                              </m:r>
                            </m:sub>
                          </m:sSub>
                          <m:r>
                            <a:rPr lang="en-US" sz="4000">
                              <a:solidFill>
                                <a:srgbClr val="FF0000"/>
                              </a:solidFill>
                              <a:latin typeface="Cambria Math" panose="02040503050406030204" pitchFamily="18" charset="0"/>
                            </a:rPr>
                            <m:t>+(1</m:t>
                          </m:r>
                          <m:r>
                            <a:rPr lang="en-US" sz="4000" i="1">
                              <a:solidFill>
                                <a:srgbClr val="FF0000"/>
                              </a:solidFill>
                              <a:latin typeface="Cambria Math" panose="02040503050406030204" pitchFamily="18" charset="0"/>
                            </a:rPr>
                            <m:t>−</m:t>
                          </m:r>
                          <m:r>
                            <m:rPr>
                              <m:sty m:val="p"/>
                            </m:rPr>
                            <a:rPr lang="en-US" sz="4000" cap="none" smtClean="0">
                              <a:solidFill>
                                <a:srgbClr val="FF0000"/>
                              </a:solidFill>
                              <a:latin typeface="Cambria Math" panose="02040503050406030204" pitchFamily="18" charset="0"/>
                            </a:rPr>
                            <m:t>λ</m:t>
                          </m:r>
                          <m:r>
                            <a:rPr lang="en-US" sz="4000">
                              <a:solidFill>
                                <a:srgbClr val="FF0000"/>
                              </a:solidFill>
                              <a:latin typeface="Cambria Math" panose="02040503050406030204" pitchFamily="18" charset="0"/>
                            </a:rPr>
                            <m:t>)</m:t>
                          </m:r>
                          <m:r>
                            <a:rPr lang="mn-MN" sz="4000" i="1">
                              <a:solidFill>
                                <a:srgbClr val="FF0000"/>
                              </a:solidFill>
                              <a:latin typeface="Cambria Math" panose="02040503050406030204" pitchFamily="18" charset="0"/>
                            </a:rPr>
                            <m:t>𝑒</m:t>
                          </m:r>
                        </m:e>
                        <m:sub>
                          <m:r>
                            <a:rPr lang="mn-MN" sz="4000" i="1">
                              <a:solidFill>
                                <a:srgbClr val="FF0000"/>
                              </a:solidFill>
                              <a:latin typeface="Cambria Math" panose="02040503050406030204" pitchFamily="18" charset="0"/>
                            </a:rPr>
                            <m:t>𝑎</m:t>
                          </m:r>
                        </m:sub>
                      </m:sSub>
                    </m:oMath>
                  </m:oMathPara>
                </a14:m>
                <a:endParaRPr lang="mn-MN" dirty="0">
                  <a:solidFill>
                    <a:srgbClr val="002060"/>
                  </a:solidFill>
                  <a:latin typeface="Times New Roman" panose="02020603050405020304" pitchFamily="18" charset="0"/>
                  <a:cs typeface="Times New Roman" panose="02020603050405020304" pitchFamily="18" charset="0"/>
                </a:endParaRPr>
              </a:p>
              <a:p>
                <a:pPr algn="just">
                  <a:lnSpc>
                    <a:spcPct val="80000"/>
                  </a:lnSpc>
                  <a:spcBef>
                    <a:spcPts val="400"/>
                  </a:spcBef>
                </a:pPr>
                <a:r>
                  <a:rPr lang="mn-MN" dirty="0">
                    <a:solidFill>
                      <a:srgbClr val="002060"/>
                    </a:solidFill>
                    <a:latin typeface="Times New Roman" panose="02020603050405020304" pitchFamily="18" charset="0"/>
                    <a:cs typeface="Times New Roman" panose="02020603050405020304" pitchFamily="18" charset="0"/>
                  </a:rPr>
                  <a:t>Тэгшитгэлээс сангуудын дундаж өртөг нь хөрөнгийн эх үүсвэр тус бүрийн өртгийн жигнэсэн дундаж болохыг харж болно.</a:t>
                </a:r>
              </a:p>
            </p:txBody>
          </p:sp>
        </mc:Choice>
        <mc:Fallback xmlns="">
          <p:sp>
            <p:nvSpPr>
              <p:cNvPr id="3" name="Content Placeholder 2">
                <a:extLst>
                  <a:ext uri="{FF2B5EF4-FFF2-40B4-BE49-F238E27FC236}">
                    <a16:creationId xmlns:a16="http://schemas.microsoft.com/office/drawing/2014/main" id="{B49F62DB-6CD9-9E21-1672-B1BBA2F907D3}"/>
                  </a:ext>
                </a:extLst>
              </p:cNvPr>
              <p:cNvSpPr>
                <a:spLocks noGrp="1" noRot="1" noChangeAspect="1" noMove="1" noResize="1" noEditPoints="1" noAdjustHandles="1" noChangeArrowheads="1" noChangeShapeType="1" noTextEdit="1"/>
              </p:cNvSpPr>
              <p:nvPr>
                <p:ph idx="1"/>
              </p:nvPr>
            </p:nvSpPr>
            <p:spPr>
              <a:xfrm>
                <a:off x="118673" y="771668"/>
                <a:ext cx="11903438" cy="4184721"/>
              </a:xfrm>
              <a:blipFill>
                <a:blip r:embed="rId3"/>
                <a:stretch>
                  <a:fillRect l="-922" t="-3644" r="-10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AB4B250-104B-02EF-D3EE-3D36AD6B9803}"/>
                  </a:ext>
                </a:extLst>
              </p:cNvPr>
              <p:cNvSpPr txBox="1"/>
              <p:nvPr/>
            </p:nvSpPr>
            <p:spPr>
              <a:xfrm>
                <a:off x="288562" y="4338916"/>
                <a:ext cx="11903438" cy="2246769"/>
              </a:xfrm>
              <a:prstGeom prst="rect">
                <a:avLst/>
              </a:prstGeom>
              <a:noFill/>
            </p:spPr>
            <p:txBody>
              <a:bodyPr wrap="square">
                <a:spAutoFit/>
              </a:bodyPr>
              <a:lstStyle/>
              <a:p>
                <a:r>
                  <a:rPr lang="mn-MN" sz="2800" b="1" dirty="0">
                    <a:solidFill>
                      <a:srgbClr val="FF0000"/>
                    </a:solidFill>
                    <a:latin typeface="Times New Roman" panose="02020603050405020304" pitchFamily="18" charset="0"/>
                    <a:cs typeface="Times New Roman" panose="02020603050405020304" pitchFamily="18" charset="0"/>
                  </a:rPr>
                  <a:t>Энд:</a:t>
                </a:r>
                <a:r>
                  <a:rPr lang="mn-MN" sz="2800" dirty="0">
                    <a:solidFill>
                      <a:srgbClr val="002060"/>
                    </a:solidFill>
                    <a:latin typeface="Times New Roman" panose="02020603050405020304" pitchFamily="18" charset="0"/>
                    <a:cs typeface="Times New Roman" panose="02020603050405020304" pitchFamily="18" charset="0"/>
                  </a:rPr>
                  <a:t> </a:t>
                </a:r>
                <a:r>
                  <a:rPr lang="el-GR" sz="2800" b="1" dirty="0">
                    <a:solidFill>
                      <a:srgbClr val="002060"/>
                    </a:solidFill>
                    <a:latin typeface="Times New Roman" panose="02020603050405020304" pitchFamily="18" charset="0"/>
                    <a:cs typeface="Times New Roman" panose="02020603050405020304" pitchFamily="18" charset="0"/>
                  </a:rPr>
                  <a:t>λ</a:t>
                </a:r>
                <a:r>
                  <a:rPr lang="el-GR" sz="2800" dirty="0">
                    <a:solidFill>
                      <a:srgbClr val="002060"/>
                    </a:solidFill>
                    <a:latin typeface="Times New Roman" panose="02020603050405020304" pitchFamily="18" charset="0"/>
                    <a:cs typeface="Times New Roman" panose="02020603050405020304" pitchFamily="18" charset="0"/>
                  </a:rPr>
                  <a:t> = </a:t>
                </a:r>
                <a:r>
                  <a:rPr lang="mn-MN" sz="2800" dirty="0">
                    <a:solidFill>
                      <a:srgbClr val="002060"/>
                    </a:solidFill>
                    <a:latin typeface="Times New Roman" panose="02020603050405020304" pitchFamily="18" charset="0"/>
                    <a:cs typeface="Times New Roman" panose="02020603050405020304" pitchFamily="18" charset="0"/>
                  </a:rPr>
                  <a:t>зээлээс орж ирсэн нийт хөрөнгийн хувь;</a:t>
                </a:r>
                <a:r>
                  <a:rPr lang="en-US" sz="2800" dirty="0">
                    <a:solidFill>
                      <a:srgbClr val="002060"/>
                    </a:solidFill>
                    <a:latin typeface="Times New Roman" panose="02020603050405020304" pitchFamily="18" charset="0"/>
                    <a:cs typeface="Times New Roman" panose="02020603050405020304" pitchFamily="18" charset="0"/>
                  </a:rPr>
                  <a:t> </a:t>
                </a:r>
                <a:r>
                  <a:rPr lang="mn-MN" sz="2800" b="1" dirty="0">
                    <a:solidFill>
                      <a:srgbClr val="002060"/>
                    </a:solidFill>
                    <a:latin typeface="Times New Roman" panose="02020603050405020304" pitchFamily="18" charset="0"/>
                    <a:cs typeface="Times New Roman" panose="02020603050405020304" pitchFamily="18" charset="0"/>
                  </a:rPr>
                  <a:t>(1 − </a:t>
                </a:r>
                <a:r>
                  <a:rPr lang="el-GR" sz="2800" b="1" dirty="0">
                    <a:solidFill>
                      <a:srgbClr val="002060"/>
                    </a:solidFill>
                    <a:latin typeface="Times New Roman" panose="02020603050405020304" pitchFamily="18" charset="0"/>
                    <a:cs typeface="Times New Roman" panose="02020603050405020304" pitchFamily="18" charset="0"/>
                  </a:rPr>
                  <a:t>λ) </a:t>
                </a:r>
                <a:r>
                  <a:rPr lang="el-GR"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хувьцаанаас орж ирсэн нийт хөрөнгийн хувь;</a:t>
                </a:r>
              </a:p>
              <a:p>
                <a14:m>
                  <m:oMath xmlns:m="http://schemas.openxmlformats.org/officeDocument/2006/math">
                    <m:r>
                      <a:rPr lang="en-US" sz="2800" b="1" i="1" dirty="0" smtClean="0">
                        <a:solidFill>
                          <a:srgbClr val="002060"/>
                        </a:solidFill>
                        <a:latin typeface="Cambria Math" panose="02040503050406030204" pitchFamily="18" charset="0"/>
                      </a:rPr>
                      <m:t>𝒕</m:t>
                    </m:r>
                  </m:oMath>
                </a14:m>
                <a:r>
                  <a:rPr lang="en-US" sz="2800" dirty="0">
                    <a:solidFill>
                      <a:srgbClr val="002060"/>
                    </a:solidFill>
                    <a:latin typeface="Times New Roman" panose="02020603050405020304" pitchFamily="18" charset="0"/>
                    <a:cs typeface="Times New Roman" panose="02020603050405020304" pitchFamily="18" charset="0"/>
                  </a:rPr>
                  <a:t> = </a:t>
                </a:r>
                <a:r>
                  <a:rPr lang="mn-MN" sz="2800" dirty="0">
                    <a:solidFill>
                      <a:srgbClr val="002060"/>
                    </a:solidFill>
                    <a:latin typeface="Times New Roman" panose="02020603050405020304" pitchFamily="18" charset="0"/>
                    <a:cs typeface="Times New Roman" panose="02020603050405020304" pitchFamily="18" charset="0"/>
                  </a:rPr>
                  <a:t>аравтаар илэрхийлсэн бодит орлогын татвар;</a:t>
                </a:r>
                <a:r>
                  <a:rPr lang="en-US" sz="28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𝒊</m:t>
                        </m:r>
                      </m:e>
                      <m:sub>
                        <m:r>
                          <a:rPr lang="mn-MN" sz="2800" b="1" i="1">
                            <a:solidFill>
                              <a:srgbClr val="002060"/>
                            </a:solidFill>
                            <a:latin typeface="Cambria Math" panose="02040503050406030204" pitchFamily="18" charset="0"/>
                          </a:rPr>
                          <m:t>𝒃</m:t>
                        </m:r>
                      </m:sub>
                    </m:sSub>
                  </m:oMath>
                </a14:m>
                <a:r>
                  <a:rPr lang="mn-MN" sz="2800" dirty="0">
                    <a:solidFill>
                      <a:srgbClr val="002060"/>
                    </a:solidFill>
                    <a:latin typeface="Times New Roman" panose="02020603050405020304" pitchFamily="18" charset="0"/>
                    <a:cs typeface="Times New Roman" panose="02020603050405020304" pitchFamily="18" charset="0"/>
                  </a:rPr>
                  <a:t> = зээлийн зардал тохирох бондын хувийг тооцсоноор;</a:t>
                </a:r>
              </a:p>
              <a:p>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US" sz="2800" b="1" i="1" smtClean="0">
                            <a:solidFill>
                              <a:srgbClr val="002060"/>
                            </a:solidFill>
                            <a:latin typeface="Cambria Math" panose="02040503050406030204" pitchFamily="18" charset="0"/>
                          </a:rPr>
                          <m:t> </m:t>
                        </m:r>
                        <m:r>
                          <a:rPr lang="mn-MN" sz="2800" b="1" i="1">
                            <a:solidFill>
                              <a:srgbClr val="002060"/>
                            </a:solidFill>
                            <a:latin typeface="Cambria Math" panose="02040503050406030204" pitchFamily="18" charset="0"/>
                          </a:rPr>
                          <m:t>𝒆</m:t>
                        </m:r>
                      </m:e>
                      <m:sub>
                        <m:r>
                          <a:rPr lang="mn-MN" sz="2800" b="1" i="1">
                            <a:solidFill>
                              <a:srgbClr val="002060"/>
                            </a:solidFill>
                            <a:latin typeface="Cambria Math" panose="02040503050406030204" pitchFamily="18" charset="0"/>
                          </a:rPr>
                          <m:t>𝒂</m:t>
                        </m:r>
                      </m:sub>
                    </m:sSub>
                  </m:oMath>
                </a14:m>
                <a:r>
                  <a:rPr lang="mn-MN" sz="2800" b="1"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 хувьцааны зардлыг ХАҮЗ-ийн гүйцэтгэлээр тооцсоноор.</a:t>
                </a:r>
                <a:endParaRPr lang="en-US" sz="28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EAB4B250-104B-02EF-D3EE-3D36AD6B9803}"/>
                  </a:ext>
                </a:extLst>
              </p:cNvPr>
              <p:cNvSpPr txBox="1">
                <a:spLocks noRot="1" noChangeAspect="1" noMove="1" noResize="1" noEditPoints="1" noAdjustHandles="1" noChangeArrowheads="1" noChangeShapeType="1" noTextEdit="1"/>
              </p:cNvSpPr>
              <p:nvPr/>
            </p:nvSpPr>
            <p:spPr>
              <a:xfrm>
                <a:off x="288562" y="4338916"/>
                <a:ext cx="11903438" cy="2246769"/>
              </a:xfrm>
              <a:prstGeom prst="rect">
                <a:avLst/>
              </a:prstGeom>
              <a:blipFill>
                <a:blip r:embed="rId4"/>
                <a:stretch>
                  <a:fillRect l="-1024" t="-2989" r="-1485" b="-6793"/>
                </a:stretch>
              </a:blipFill>
            </p:spPr>
            <p:txBody>
              <a:bodyPr/>
              <a:lstStyle/>
              <a:p>
                <a:r>
                  <a:rPr lang="en-US">
                    <a:noFill/>
                  </a:rPr>
                  <a:t> </a:t>
                </a:r>
              </a:p>
            </p:txBody>
          </p:sp>
        </mc:Fallback>
      </mc:AlternateContent>
    </p:spTree>
    <p:extLst>
      <p:ext uri="{BB962C8B-B14F-4D97-AF65-F5344CB8AC3E}">
        <p14:creationId xmlns:p14="http://schemas.microsoft.com/office/powerpoint/2010/main" val="37531221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DFD2-E325-FFD7-3BC6-957C31C680A3}"/>
              </a:ext>
            </a:extLst>
          </p:cNvPr>
          <p:cNvSpPr>
            <a:spLocks noGrp="1"/>
          </p:cNvSpPr>
          <p:nvPr>
            <p:ph type="title"/>
          </p:nvPr>
        </p:nvSpPr>
        <p:spPr>
          <a:xfrm>
            <a:off x="164892" y="86925"/>
            <a:ext cx="11535701" cy="485029"/>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Эрсдэл ба өгөөж</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63F679-B110-C402-BD0B-2458E0961A9E}"/>
              </a:ext>
            </a:extLst>
          </p:cNvPr>
          <p:cNvSpPr>
            <a:spLocks noGrp="1"/>
          </p:cNvSpPr>
          <p:nvPr>
            <p:ph idx="1"/>
          </p:nvPr>
        </p:nvSpPr>
        <p:spPr>
          <a:xfrm>
            <a:off x="159895" y="588026"/>
            <a:ext cx="11872210" cy="4870721"/>
          </a:xfrm>
        </p:spPr>
        <p:txBody>
          <a:bodyPr>
            <a:normAutofit fontScale="92500" lnSpcReduction="10000"/>
          </a:bodyPr>
          <a:lstStyle/>
          <a:p>
            <a:pPr algn="just">
              <a:spcBef>
                <a:spcPts val="200"/>
              </a:spcBef>
            </a:pPr>
            <a:r>
              <a:rPr lang="mn-MN" sz="3200" b="1" dirty="0">
                <a:solidFill>
                  <a:srgbClr val="002060"/>
                </a:solidFill>
                <a:latin typeface="Times New Roman" panose="02020603050405020304" pitchFamily="18" charset="0"/>
                <a:cs typeface="Times New Roman" panose="02020603050405020304" pitchFamily="18" charset="0"/>
              </a:rPr>
              <a:t>Эрсдэл – хүссэн болон хүлээгдэж буй үр дүнгээс сөрөг хазайлт үүсч болзошгүй нөхцөл юм.</a:t>
            </a:r>
            <a:r>
              <a:rPr lang="en-US" sz="3200" b="1" dirty="0">
                <a:solidFill>
                  <a:srgbClr val="002060"/>
                </a:solidFill>
                <a:latin typeface="Times New Roman" panose="02020603050405020304" pitchFamily="18" charset="0"/>
                <a:cs typeface="Times New Roman" panose="02020603050405020304" pitchFamily="18" charset="0"/>
              </a:rPr>
              <a:t> </a:t>
            </a:r>
            <a:endParaRPr lang="mn-MN" sz="3200" b="1" dirty="0">
              <a:solidFill>
                <a:srgbClr val="FF0000"/>
              </a:solidFill>
              <a:latin typeface="Times New Roman" panose="02020603050405020304" pitchFamily="18" charset="0"/>
              <a:cs typeface="Times New Roman" panose="02020603050405020304" pitchFamily="18" charset="0"/>
            </a:endParaRP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Эрсдэл ба тодорхойгүй байдлыг (эргэлзээг) шийдвэрлэх сэдэл нь алдааны хязгаарыг тогтоох явдал юм.</a:t>
            </a:r>
          </a:p>
          <a:p>
            <a:pPr algn="just">
              <a:spcBef>
                <a:spcPts val="200"/>
              </a:spcBef>
            </a:pPr>
            <a:r>
              <a:rPr lang="mn-MN" sz="3200" b="1" dirty="0">
                <a:solidFill>
                  <a:srgbClr val="002060"/>
                </a:solidFill>
                <a:latin typeface="Times New Roman" panose="02020603050405020304" pitchFamily="18" charset="0"/>
                <a:cs typeface="Times New Roman" panose="02020603050405020304" pitchFamily="18" charset="0"/>
              </a:rPr>
              <a:t>Эрсдэл – алдагдал хүлээж болзошгүй нөхцөл байдал.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Алдагдал хүлээх боломж ихтэй сонголтыг </a:t>
            </a:r>
            <a:r>
              <a:rPr lang="mn-MN" sz="2800" b="1" dirty="0">
                <a:solidFill>
                  <a:srgbClr val="002060"/>
                </a:solidFill>
                <a:latin typeface="Times New Roman" panose="02020603050405020304" pitchFamily="18" charset="0"/>
                <a:cs typeface="Times New Roman" panose="02020603050405020304" pitchFamily="18" charset="0"/>
              </a:rPr>
              <a:t>эрсдэл өндөртэй </a:t>
            </a:r>
            <a:r>
              <a:rPr lang="mn-MN" sz="2800" dirty="0">
                <a:solidFill>
                  <a:srgbClr val="002060"/>
                </a:solidFill>
                <a:latin typeface="Times New Roman" panose="02020603050405020304" pitchFamily="18" charset="0"/>
                <a:cs typeface="Times New Roman" panose="02020603050405020304" pitchFamily="18" charset="0"/>
              </a:rPr>
              <a:t>гэж тодорхойлно. </a:t>
            </a:r>
          </a:p>
          <a:p>
            <a:pPr algn="just">
              <a:spcBef>
                <a:spcPts val="200"/>
              </a:spcBef>
            </a:pPr>
            <a:r>
              <a:rPr lang="mn-MN" sz="3200" b="1" dirty="0">
                <a:solidFill>
                  <a:srgbClr val="002060"/>
                </a:solidFill>
                <a:latin typeface="Times New Roman" panose="02020603050405020304" pitchFamily="18" charset="0"/>
                <a:cs typeface="Times New Roman" panose="02020603050405020304" pitchFamily="18" charset="0"/>
              </a:rPr>
              <a:t>Эрсдэл – тодорхойгүй байдал, өгөөжийн хэлбэлзэл. </a:t>
            </a:r>
          </a:p>
          <a:p>
            <a:pPr algn="just">
              <a:spcBef>
                <a:spcPts val="200"/>
              </a:spcBef>
            </a:pPr>
            <a:r>
              <a:rPr lang="mn-MN" sz="3200" b="1" dirty="0">
                <a:solidFill>
                  <a:srgbClr val="002060"/>
                </a:solidFill>
                <a:latin typeface="Times New Roman" panose="02020603050405020304" pitchFamily="18" charset="0"/>
                <a:cs typeface="Times New Roman" panose="02020603050405020304" pitchFamily="18" charset="0"/>
              </a:rPr>
              <a:t>Эрсдэл сонголттой холбоотой. Сонголт хийх боломжгүй тохиолдолд эрсдэл байхгүй. </a:t>
            </a:r>
          </a:p>
          <a:p>
            <a:pPr algn="just">
              <a:spcBef>
                <a:spcPts val="200"/>
              </a:spcBef>
            </a:pPr>
            <a:r>
              <a:rPr lang="mn-MN" sz="3200" b="1" dirty="0">
                <a:solidFill>
                  <a:srgbClr val="002060"/>
                </a:solidFill>
                <a:latin typeface="Times New Roman" panose="02020603050405020304" pitchFamily="18" charset="0"/>
                <a:cs typeface="Times New Roman" panose="02020603050405020304" pitchFamily="18" charset="0"/>
              </a:rPr>
              <a:t>Эрсдэл – аз туршилт. Өөрөөр хэлбэл, ямар нэг боломжит аюул, нөгөөтэйгүүр амжилтад найдаж хийсэн аз туршсан үйлдэл юм.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Эрсдэл бол санамсаргүй шинжтэй тул магадлалын онолыг ашиглан тооцоолох боломжтой байдаг. </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2438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DFD2-E325-FFD7-3BC6-957C31C680A3}"/>
              </a:ext>
            </a:extLst>
          </p:cNvPr>
          <p:cNvSpPr>
            <a:spLocks noGrp="1"/>
          </p:cNvSpPr>
          <p:nvPr>
            <p:ph type="title"/>
          </p:nvPr>
        </p:nvSpPr>
        <p:spPr>
          <a:xfrm>
            <a:off x="4931764" y="5470559"/>
            <a:ext cx="6823778" cy="941161"/>
          </a:xfrm>
        </p:spPr>
        <p:txBody>
          <a:bodyPr>
            <a:noAutofit/>
          </a:bodyPr>
          <a:lstStyle/>
          <a:p>
            <a:pPr algn="ctr"/>
            <a:r>
              <a:rPr lang="mn-MN" sz="3200" b="1" dirty="0">
                <a:solidFill>
                  <a:srgbClr val="002060"/>
                </a:solidFill>
                <a:latin typeface="Times New Roman" panose="02020603050405020304" pitchFamily="18" charset="0"/>
                <a:cs typeface="Times New Roman" panose="02020603050405020304" pitchFamily="18" charset="0"/>
              </a:rPr>
              <a:t>Эрсдлийн ангилал</a:t>
            </a:r>
            <a:br>
              <a:rPr lang="mn-MN" sz="3200" b="1" dirty="0">
                <a:solidFill>
                  <a:srgbClr val="002060"/>
                </a:solidFill>
                <a:latin typeface="Times New Roman" panose="02020603050405020304" pitchFamily="18" charset="0"/>
                <a:cs typeface="Times New Roman" panose="02020603050405020304" pitchFamily="18" charset="0"/>
              </a:rPr>
            </a:br>
            <a:r>
              <a:rPr lang="en-US" sz="3200" b="1" dirty="0">
                <a:solidFill>
                  <a:srgbClr val="FF0000"/>
                </a:solidFill>
                <a:latin typeface="Times New Roman" panose="02020603050405020304" pitchFamily="18" charset="0"/>
                <a:cs typeface="Times New Roman" panose="02020603050405020304" pitchFamily="18" charset="0"/>
              </a:rPr>
              <a:t>(</a:t>
            </a:r>
            <a:r>
              <a:rPr lang="mn-MN" sz="3200" b="1" dirty="0">
                <a:solidFill>
                  <a:srgbClr val="FF0000"/>
                </a:solidFill>
                <a:latin typeface="Times New Roman" panose="02020603050405020304" pitchFamily="18" charset="0"/>
                <a:cs typeface="Times New Roman" panose="02020603050405020304" pitchFamily="18" charset="0"/>
              </a:rPr>
              <a:t>бусад номоос цуглуулсан</a:t>
            </a:r>
            <a:r>
              <a:rPr lang="en-US" sz="3200" b="1" dirty="0">
                <a:solidFill>
                  <a:srgbClr val="FF0000"/>
                </a:solidFill>
                <a:latin typeface="Times New Roman" panose="02020603050405020304" pitchFamily="18" charset="0"/>
                <a:cs typeface="Times New Roman" panose="02020603050405020304" pitchFamily="18" charset="0"/>
              </a:rPr>
              <a:t>)</a:t>
            </a:r>
            <a:endParaRPr lang="en-US" sz="3200" b="1"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2C6C638-112D-6AB1-900A-63DE51A418A8}"/>
              </a:ext>
            </a:extLst>
          </p:cNvPr>
          <p:cNvPicPr>
            <a:picLocks noChangeAspect="1"/>
          </p:cNvPicPr>
          <p:nvPr/>
        </p:nvPicPr>
        <p:blipFill>
          <a:blip r:embed="rId3"/>
          <a:stretch>
            <a:fillRect/>
          </a:stretch>
        </p:blipFill>
        <p:spPr>
          <a:xfrm>
            <a:off x="359763" y="102258"/>
            <a:ext cx="11377534" cy="6623504"/>
          </a:xfrm>
          <a:prstGeom prst="rect">
            <a:avLst/>
          </a:prstGeom>
        </p:spPr>
      </p:pic>
      <p:cxnSp>
        <p:nvCxnSpPr>
          <p:cNvPr id="4" name="Straight Arrow Connector 3">
            <a:extLst>
              <a:ext uri="{FF2B5EF4-FFF2-40B4-BE49-F238E27FC236}">
                <a16:creationId xmlns:a16="http://schemas.microsoft.com/office/drawing/2014/main" id="{1A1EEE75-F9C2-4771-A7BD-20116BA0D971}"/>
              </a:ext>
            </a:extLst>
          </p:cNvPr>
          <p:cNvCxnSpPr/>
          <p:nvPr/>
        </p:nvCxnSpPr>
        <p:spPr>
          <a:xfrm>
            <a:off x="4931764" y="1525937"/>
            <a:ext cx="0" cy="1828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9E1822F-ABA2-4B8D-8E67-4D5645D7118A}"/>
              </a:ext>
            </a:extLst>
          </p:cNvPr>
          <p:cNvCxnSpPr/>
          <p:nvPr/>
        </p:nvCxnSpPr>
        <p:spPr>
          <a:xfrm>
            <a:off x="7728304" y="1510697"/>
            <a:ext cx="0" cy="1828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4278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DFD2-E325-FFD7-3BC6-957C31C680A3}"/>
              </a:ext>
            </a:extLst>
          </p:cNvPr>
          <p:cNvSpPr>
            <a:spLocks noGrp="1"/>
          </p:cNvSpPr>
          <p:nvPr>
            <p:ph type="title"/>
          </p:nvPr>
        </p:nvSpPr>
        <p:spPr>
          <a:xfrm>
            <a:off x="179882" y="212271"/>
            <a:ext cx="11722308" cy="429353"/>
          </a:xfrm>
        </p:spPr>
        <p:txBody>
          <a:bodyPr>
            <a:noAutofit/>
          </a:bodyPr>
          <a:lstStyle/>
          <a:p>
            <a:pPr>
              <a:spcBef>
                <a:spcPts val="200"/>
              </a:spcBef>
            </a:pPr>
            <a:r>
              <a:rPr lang="mn-MN" sz="3800" b="1" dirty="0">
                <a:solidFill>
                  <a:srgbClr val="002060"/>
                </a:solidFill>
                <a:latin typeface="Times New Roman" panose="02020603050405020304" pitchFamily="18" charset="0"/>
                <a:cs typeface="Times New Roman" panose="02020603050405020304" pitchFamily="18" charset="0"/>
              </a:rPr>
              <a:t>Эрсдэл ба тодорхойгүй байдлын эх сурвалжууд</a:t>
            </a:r>
            <a:endParaRPr lang="en-US" sz="38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63F679-B110-C402-BD0B-2458E0961A9E}"/>
              </a:ext>
            </a:extLst>
          </p:cNvPr>
          <p:cNvSpPr>
            <a:spLocks noGrp="1"/>
          </p:cNvSpPr>
          <p:nvPr>
            <p:ph idx="1"/>
          </p:nvPr>
        </p:nvSpPr>
        <p:spPr>
          <a:xfrm>
            <a:off x="179882" y="710292"/>
            <a:ext cx="11722308" cy="5170245"/>
          </a:xfrm>
        </p:spPr>
        <p:txBody>
          <a:bodyPr>
            <a:normAutofit lnSpcReduction="10000"/>
          </a:bodyPr>
          <a:lstStyle/>
          <a:p>
            <a:pPr algn="just">
              <a:lnSpc>
                <a:spcPct val="100000"/>
              </a:lnSpc>
              <a:spcBef>
                <a:spcPts val="200"/>
              </a:spcBef>
            </a:pPr>
            <a:r>
              <a:rPr lang="mn-MN" sz="3200" dirty="0">
                <a:solidFill>
                  <a:srgbClr val="002060"/>
                </a:solidFill>
                <a:latin typeface="Times New Roman" panose="02020603050405020304" pitchFamily="18" charset="0"/>
                <a:cs typeface="Times New Roman" panose="02020603050405020304" pitchFamily="18" charset="0"/>
              </a:rPr>
              <a:t>Инженерчлэлийн төслийн ирээдүйн эдийн засгийн үр дагаврын шинжилгээ хийхэд хамааралтай тодорхойгүй байдалд нөлөөлөх зарим хүчин зүйлсийг авч үзэх нь чухал.</a:t>
            </a:r>
          </a:p>
          <a:p>
            <a:pPr algn="just">
              <a:lnSpc>
                <a:spcPct val="100000"/>
              </a:lnSpc>
              <a:spcBef>
                <a:spcPts val="200"/>
              </a:spcBef>
            </a:pPr>
            <a:r>
              <a:rPr lang="mn-MN" sz="3200" dirty="0">
                <a:solidFill>
                  <a:srgbClr val="002060"/>
                </a:solidFill>
                <a:latin typeface="Times New Roman" panose="02020603050405020304" pitchFamily="18" charset="0"/>
                <a:cs typeface="Times New Roman" panose="02020603050405020304" pitchFamily="18" charset="0"/>
              </a:rPr>
              <a:t>ИЭЗС-нд тодорхойгүй байдлын </a:t>
            </a:r>
            <a:r>
              <a:rPr lang="mn-MN" sz="3200" b="1" dirty="0">
                <a:solidFill>
                  <a:srgbClr val="002060"/>
                </a:solidFill>
                <a:latin typeface="Times New Roman" panose="02020603050405020304" pitchFamily="18" charset="0"/>
                <a:cs typeface="Times New Roman" panose="02020603050405020304" pitchFamily="18" charset="0"/>
              </a:rPr>
              <a:t>дөрвөн үндсэн эх сурвалж </a:t>
            </a:r>
            <a:r>
              <a:rPr lang="mn-MN" sz="3200" dirty="0">
                <a:solidFill>
                  <a:srgbClr val="002060"/>
                </a:solidFill>
                <a:latin typeface="Times New Roman" panose="02020603050405020304" pitchFamily="18" charset="0"/>
                <a:cs typeface="Times New Roman" panose="02020603050405020304" pitchFamily="18" charset="0"/>
              </a:rPr>
              <a:t>байдаг. Үүнд:</a:t>
            </a:r>
          </a:p>
          <a:p>
            <a:pPr marL="914400" lvl="1" indent="-457200" algn="just">
              <a:lnSpc>
                <a:spcPct val="100000"/>
              </a:lnSpc>
              <a:spcBef>
                <a:spcPts val="200"/>
              </a:spcBef>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Судалгаанд ашигласан мөнгөн урсгалын тооцооллын болзошгүй алдаа</a:t>
            </a:r>
          </a:p>
          <a:p>
            <a:pPr marL="914400" lvl="1" indent="-457200" algn="just">
              <a:lnSpc>
                <a:spcPct val="100000"/>
              </a:lnSpc>
              <a:spcBef>
                <a:spcPts val="200"/>
              </a:spcBef>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Эдийн засгийн ирээдүйн эерэг байдалтай холбоотой бизнесийн төрөл</a:t>
            </a:r>
          </a:p>
          <a:p>
            <a:pPr marL="914400" lvl="1" indent="-457200" algn="just">
              <a:lnSpc>
                <a:spcPct val="100000"/>
              </a:lnSpc>
              <a:spcBef>
                <a:spcPts val="200"/>
              </a:spcBef>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Зарим төрлийн бүтэц, тоног төхөөрөмж нь тодорхой хугацаа, зах зээлийн үнэ цэнэтэй байдаг явдал</a:t>
            </a:r>
          </a:p>
          <a:p>
            <a:pPr marL="914400" lvl="1" indent="-457200" algn="just">
              <a:lnSpc>
                <a:spcPct val="100000"/>
              </a:lnSpc>
              <a:spcBef>
                <a:spcPts val="200"/>
              </a:spcBef>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Шинжилгээнд ашиглаж байгаа судалгааны хугацааны урт</a:t>
            </a:r>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81608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DFD2-E325-FFD7-3BC6-957C31C680A3}"/>
              </a:ext>
            </a:extLst>
          </p:cNvPr>
          <p:cNvSpPr>
            <a:spLocks noGrp="1"/>
          </p:cNvSpPr>
          <p:nvPr>
            <p:ph type="title"/>
          </p:nvPr>
        </p:nvSpPr>
        <p:spPr>
          <a:xfrm>
            <a:off x="186183" y="112878"/>
            <a:ext cx="11587656" cy="754225"/>
          </a:xfrm>
        </p:spPr>
        <p:txBody>
          <a:bodyPr>
            <a:noAutofit/>
          </a:bodyPr>
          <a:lstStyle/>
          <a:p>
            <a:pPr>
              <a:spcBef>
                <a:spcPts val="300"/>
              </a:spcBef>
            </a:pPr>
            <a:r>
              <a:rPr lang="mn-MN" sz="3000" b="1" dirty="0">
                <a:solidFill>
                  <a:srgbClr val="002060"/>
                </a:solidFill>
                <a:latin typeface="Times New Roman" panose="02020603050405020304" pitchFamily="18" charset="0"/>
                <a:cs typeface="Times New Roman" panose="02020603050405020304" pitchFamily="18" charset="0"/>
              </a:rPr>
              <a:t>Инфляцийн нөхцөл дэх хөрөнгө оруулалтын төслийн үр ашгийн шинжилгээ</a:t>
            </a:r>
            <a:endParaRPr lang="en-US" sz="3000" b="1" dirty="0">
              <a:solidFill>
                <a:srgbClr val="00206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359206C-F58A-12DA-A020-A1101D58AA25}"/>
              </a:ext>
            </a:extLst>
          </p:cNvPr>
          <p:cNvSpPr>
            <a:spLocks noGrp="1"/>
          </p:cNvSpPr>
          <p:nvPr>
            <p:ph idx="1"/>
          </p:nvPr>
        </p:nvSpPr>
        <p:spPr>
          <a:xfrm>
            <a:off x="186183" y="867103"/>
            <a:ext cx="11587656" cy="5628290"/>
          </a:xfrm>
        </p:spPr>
        <p:txBody>
          <a:bodyPr>
            <a:normAutofit lnSpcReduction="10000"/>
          </a:bodyPr>
          <a:lstStyle/>
          <a:p>
            <a:pPr algn="just">
              <a:spcBef>
                <a:spcPts val="300"/>
              </a:spcBef>
            </a:pPr>
            <a:r>
              <a:rPr lang="mn-MN" b="1" dirty="0">
                <a:solidFill>
                  <a:srgbClr val="002060"/>
                </a:solidFill>
                <a:latin typeface="Times New Roman" panose="02020603050405020304" pitchFamily="18" charset="0"/>
                <a:cs typeface="Times New Roman" panose="02020603050405020304" pitchFamily="18" charset="0"/>
              </a:rPr>
              <a:t>Инфляц </a:t>
            </a:r>
            <a:r>
              <a:rPr lang="en-US" b="1" dirty="0">
                <a:solidFill>
                  <a:srgbClr val="002060"/>
                </a:solidFill>
                <a:latin typeface="Times New Roman" panose="02020603050405020304" pitchFamily="18" charset="0"/>
                <a:cs typeface="Times New Roman" panose="02020603050405020304" pitchFamily="18" charset="0"/>
              </a:rPr>
              <a:t>(</a:t>
            </a:r>
            <a:r>
              <a:rPr lang="mn-MN" b="1" dirty="0">
                <a:solidFill>
                  <a:srgbClr val="002060"/>
                </a:solidFill>
                <a:latin typeface="Times New Roman" panose="02020603050405020304" pitchFamily="18" charset="0"/>
                <a:cs typeface="Times New Roman" panose="02020603050405020304" pitchFamily="18" charset="0"/>
              </a:rPr>
              <a:t>Дефляц</a:t>
            </a:r>
            <a:r>
              <a:rPr lang="en-US" b="1" dirty="0">
                <a:solidFill>
                  <a:srgbClr val="002060"/>
                </a:solidFill>
                <a:latin typeface="Times New Roman" panose="02020603050405020304" pitchFamily="18" charset="0"/>
                <a:cs typeface="Times New Roman" panose="02020603050405020304" pitchFamily="18" charset="0"/>
              </a:rPr>
              <a:t>)</a:t>
            </a:r>
            <a:r>
              <a:rPr lang="mn-MN" b="1"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 мөнгөний худалдан авах чадварын бууралт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өсөлт</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 буюу бараа, бүтээгдэхүүн, үйлчилгээний үнэ өсөх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буурах</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 үзэгдэл. </a:t>
            </a:r>
          </a:p>
          <a:p>
            <a:pPr algn="just">
              <a:spcBef>
                <a:spcPts val="300"/>
              </a:spcBef>
            </a:pPr>
            <a:r>
              <a:rPr lang="mn-MN" dirty="0">
                <a:solidFill>
                  <a:srgbClr val="002060"/>
                </a:solidFill>
                <a:latin typeface="Times New Roman" panose="02020603050405020304" pitchFamily="18" charset="0"/>
                <a:cs typeface="Times New Roman" panose="02020603050405020304" pitchFamily="18" charset="0"/>
              </a:rPr>
              <a:t>Эдийн засагт үнийн өөрчлөлтийг тодорхойлох хоёр хэмжигдэхүүн байдаг. Үүнд:</a:t>
            </a:r>
          </a:p>
          <a:p>
            <a:pPr lvl="1" algn="just">
              <a:spcBef>
                <a:spcPts val="300"/>
              </a:spcBef>
            </a:pPr>
            <a:r>
              <a:rPr lang="mn-MN" dirty="0">
                <a:solidFill>
                  <a:srgbClr val="002060"/>
                </a:solidFill>
                <a:latin typeface="Times New Roman" panose="02020603050405020304" pitchFamily="18" charset="0"/>
                <a:cs typeface="Times New Roman" panose="02020603050405020304" pitchFamily="18" charset="0"/>
              </a:rPr>
              <a:t>Хэрэглээний үнийн индекс (</a:t>
            </a:r>
            <a:r>
              <a:rPr lang="en-US" dirty="0">
                <a:solidFill>
                  <a:srgbClr val="002060"/>
                </a:solidFill>
                <a:latin typeface="Times New Roman" panose="02020603050405020304" pitchFamily="18" charset="0"/>
                <a:cs typeface="Times New Roman" panose="02020603050405020304" pitchFamily="18" charset="0"/>
              </a:rPr>
              <a:t>CPI)</a:t>
            </a:r>
          </a:p>
          <a:p>
            <a:pPr lvl="1" algn="just">
              <a:spcBef>
                <a:spcPts val="300"/>
              </a:spcBef>
            </a:pPr>
            <a:r>
              <a:rPr lang="mn-MN" dirty="0">
                <a:solidFill>
                  <a:srgbClr val="002060"/>
                </a:solidFill>
                <a:latin typeface="Times New Roman" panose="02020603050405020304" pitchFamily="18" charset="0"/>
                <a:cs typeface="Times New Roman" panose="02020603050405020304" pitchFamily="18" charset="0"/>
              </a:rPr>
              <a:t>Үйлдвэрлэгчийн үнийн индекс (</a:t>
            </a:r>
            <a:r>
              <a:rPr lang="en-US" dirty="0">
                <a:solidFill>
                  <a:srgbClr val="002060"/>
                </a:solidFill>
                <a:latin typeface="Times New Roman" panose="02020603050405020304" pitchFamily="18" charset="0"/>
                <a:cs typeface="Times New Roman" panose="02020603050405020304" pitchFamily="18" charset="0"/>
              </a:rPr>
              <a:t>PPI)</a:t>
            </a:r>
          </a:p>
          <a:p>
            <a:pPr algn="just">
              <a:spcBef>
                <a:spcPts val="300"/>
              </a:spcBef>
            </a:pPr>
            <a:r>
              <a:rPr lang="mn-MN" b="1" dirty="0">
                <a:solidFill>
                  <a:srgbClr val="002060"/>
                </a:solidFill>
                <a:latin typeface="Times New Roman" panose="02020603050405020304" pitchFamily="18" charset="0"/>
                <a:cs typeface="Times New Roman" panose="02020603050405020304" pitchFamily="18" charset="0"/>
              </a:rPr>
              <a:t>ХҮИ </a:t>
            </a:r>
            <a:r>
              <a:rPr lang="mn-MN" dirty="0">
                <a:solidFill>
                  <a:srgbClr val="002060"/>
                </a:solidFill>
                <a:latin typeface="Times New Roman" panose="02020603050405020304" pitchFamily="18" charset="0"/>
                <a:cs typeface="Times New Roman" panose="02020603050405020304" pitchFamily="18" charset="0"/>
              </a:rPr>
              <a:t>– бараа бүтээгдэхүүн, орон байр, эмнэлгийн үйлчилгээ, тээвэр, хувцас хэрэглэл зэрэг өөрийн болон гэр бүлийн гишүүдийн сонгосон бүтээгдэхүүн ба үйлчилгээнд төлсөн үнийн дундаж өөрчлөлтийг хэмждэг. </a:t>
            </a:r>
          </a:p>
          <a:p>
            <a:pPr lvl="1" algn="just">
              <a:spcBef>
                <a:spcPts val="300"/>
              </a:spcBef>
            </a:pPr>
            <a:r>
              <a:rPr lang="mn-MN" dirty="0">
                <a:solidFill>
                  <a:srgbClr val="002060"/>
                </a:solidFill>
                <a:latin typeface="Times New Roman" panose="02020603050405020304" pitchFamily="18" charset="0"/>
                <a:cs typeface="Times New Roman" panose="02020603050405020304" pitchFamily="18" charset="0"/>
              </a:rPr>
              <a:t>Жишээлбэл: 1982-1994 онуудын ХҮИ инфляцийн жилийн дундаж түвшин 3.33% байв. 1994–2004 онуудад ердөө 2.59%  болсон гэх мэт. </a:t>
            </a:r>
          </a:p>
          <a:p>
            <a:pPr algn="just">
              <a:spcBef>
                <a:spcPts val="300"/>
              </a:spcBef>
            </a:pPr>
            <a:r>
              <a:rPr lang="mn-MN" b="1" dirty="0">
                <a:solidFill>
                  <a:srgbClr val="002060"/>
                </a:solidFill>
                <a:latin typeface="Times New Roman" panose="02020603050405020304" pitchFamily="18" charset="0"/>
                <a:cs typeface="Times New Roman" panose="02020603050405020304" pitchFamily="18" charset="0"/>
              </a:rPr>
              <a:t>ҮҮИ </a:t>
            </a:r>
            <a:r>
              <a:rPr lang="mn-MN" dirty="0">
                <a:solidFill>
                  <a:srgbClr val="002060"/>
                </a:solidFill>
                <a:latin typeface="Times New Roman" panose="02020603050405020304" pitchFamily="18" charset="0"/>
                <a:cs typeface="Times New Roman" panose="02020603050405020304" pitchFamily="18" charset="0"/>
              </a:rPr>
              <a:t>– бүтээгдэхүүн, үйлчилгээг үйлдвэрлэхэд ашигласан зүйлсийн борлуулалтын үнийн дундаж өөрчлөлтийг хэмждэг нийлмэл хэмжигдэхүүн юм.</a:t>
            </a:r>
          </a:p>
        </p:txBody>
      </p:sp>
    </p:spTree>
    <p:extLst>
      <p:ext uri="{BB962C8B-B14F-4D97-AF65-F5344CB8AC3E}">
        <p14:creationId xmlns:p14="http://schemas.microsoft.com/office/powerpoint/2010/main" val="19960951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DFD2-E325-FFD7-3BC6-957C31C680A3}"/>
              </a:ext>
            </a:extLst>
          </p:cNvPr>
          <p:cNvSpPr>
            <a:spLocks noGrp="1"/>
          </p:cNvSpPr>
          <p:nvPr>
            <p:ph type="title"/>
          </p:nvPr>
        </p:nvSpPr>
        <p:spPr>
          <a:xfrm>
            <a:off x="157660" y="144405"/>
            <a:ext cx="11713780" cy="598261"/>
          </a:xfrm>
        </p:spPr>
        <p:txBody>
          <a:bodyPr>
            <a:noAutofit/>
          </a:bodyPr>
          <a:lstStyle/>
          <a:p>
            <a:pPr algn="just">
              <a:spcBef>
                <a:spcPts val="300"/>
              </a:spcBef>
            </a:pPr>
            <a:r>
              <a:rPr lang="mn-MN" sz="3000" b="1" dirty="0">
                <a:solidFill>
                  <a:srgbClr val="002060"/>
                </a:solidFill>
                <a:latin typeface="Times New Roman" panose="02020603050405020304" pitchFamily="18" charset="0"/>
                <a:cs typeface="Times New Roman" panose="02020603050405020304" pitchFamily="18" charset="0"/>
              </a:rPr>
              <a:t>Инфляцийн нөхцөл дэх хөрөнгө оруулалтын төслийн үр ашгийн шинжилгээ </a:t>
            </a:r>
            <a:r>
              <a:rPr lang="en-US" sz="2600" b="1" dirty="0">
                <a:solidFill>
                  <a:srgbClr val="FF0000"/>
                </a:solidFill>
                <a:latin typeface="Times New Roman" panose="02020603050405020304" pitchFamily="18" charset="0"/>
                <a:cs typeface="Times New Roman" panose="02020603050405020304" pitchFamily="18" charset="0"/>
              </a:rPr>
              <a:t>(</a:t>
            </a:r>
            <a:r>
              <a:rPr lang="mn-MN" sz="2600" b="1" dirty="0">
                <a:solidFill>
                  <a:srgbClr val="FF0000"/>
                </a:solidFill>
                <a:latin typeface="Times New Roman" panose="02020603050405020304" pitchFamily="18" charset="0"/>
                <a:cs typeface="Times New Roman" panose="02020603050405020304" pitchFamily="18" charset="0"/>
              </a:rPr>
              <a:t>1212</a:t>
            </a:r>
            <a:r>
              <a:rPr lang="en-US" sz="2600" b="1" dirty="0">
                <a:solidFill>
                  <a:srgbClr val="FF0000"/>
                </a:solidFill>
                <a:latin typeface="Times New Roman" panose="02020603050405020304" pitchFamily="18" charset="0"/>
                <a:cs typeface="Times New Roman" panose="02020603050405020304" pitchFamily="18" charset="0"/>
              </a:rPr>
              <a:t>.</a:t>
            </a:r>
            <a:r>
              <a:rPr lang="en-US" sz="2600" b="1" dirty="0" err="1">
                <a:solidFill>
                  <a:srgbClr val="FF0000"/>
                </a:solidFill>
                <a:latin typeface="Times New Roman" panose="02020603050405020304" pitchFamily="18" charset="0"/>
                <a:cs typeface="Times New Roman" panose="02020603050405020304" pitchFamily="18" charset="0"/>
              </a:rPr>
              <a:t>mn</a:t>
            </a:r>
            <a:r>
              <a:rPr lang="en-US" sz="2600" b="1" dirty="0">
                <a:solidFill>
                  <a:srgbClr val="FF0000"/>
                </a:solidFill>
                <a:latin typeface="Times New Roman" panose="02020603050405020304" pitchFamily="18" charset="0"/>
                <a:cs typeface="Times New Roman" panose="02020603050405020304" pitchFamily="18" charset="0"/>
              </a:rPr>
              <a:t>-</a:t>
            </a:r>
            <a:r>
              <a:rPr lang="mn-MN" sz="2600" b="1" dirty="0">
                <a:solidFill>
                  <a:srgbClr val="FF0000"/>
                </a:solidFill>
                <a:latin typeface="Times New Roman" panose="02020603050405020304" pitchFamily="18" charset="0"/>
                <a:cs typeface="Times New Roman" panose="02020603050405020304" pitchFamily="18" charset="0"/>
              </a:rPr>
              <a:t>ээс+дэлгэрүүлж судлаарай</a:t>
            </a:r>
            <a:r>
              <a:rPr lang="en-US" sz="2600" b="1" dirty="0">
                <a:solidFill>
                  <a:srgbClr val="FF0000"/>
                </a:solidFill>
                <a:latin typeface="Times New Roman" panose="02020603050405020304" pitchFamily="18" charset="0"/>
                <a:cs typeface="Times New Roman" panose="02020603050405020304" pitchFamily="18" charset="0"/>
              </a:rPr>
              <a:t>)</a:t>
            </a:r>
            <a:endParaRPr lang="en-US" sz="2600" b="1" dirty="0">
              <a:solidFill>
                <a:srgbClr val="00206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359206C-F58A-12DA-A020-A1101D58AA25}"/>
              </a:ext>
            </a:extLst>
          </p:cNvPr>
          <p:cNvSpPr>
            <a:spLocks noGrp="1"/>
          </p:cNvSpPr>
          <p:nvPr>
            <p:ph idx="1"/>
          </p:nvPr>
        </p:nvSpPr>
        <p:spPr>
          <a:xfrm>
            <a:off x="157660" y="830497"/>
            <a:ext cx="11855669" cy="5633357"/>
          </a:xfrm>
        </p:spPr>
        <p:txBody>
          <a:bodyPr>
            <a:normAutofit lnSpcReduction="10000"/>
          </a:bodyPr>
          <a:lstStyle/>
          <a:p>
            <a:pPr algn="just">
              <a:spcBef>
                <a:spcPts val="300"/>
              </a:spcBef>
            </a:pPr>
            <a:r>
              <a:rPr lang="mn-MN" b="1" i="0" dirty="0">
                <a:solidFill>
                  <a:srgbClr val="002060"/>
                </a:solidFill>
                <a:effectLst/>
                <a:latin typeface="Times New Roman" panose="02020603050405020304" pitchFamily="18" charset="0"/>
                <a:cs typeface="Times New Roman" panose="02020603050405020304" pitchFamily="18" charset="0"/>
              </a:rPr>
              <a:t>Хэрэглээний үнийн индекс (ХҮИ) </a:t>
            </a:r>
            <a:r>
              <a:rPr lang="mn-MN" dirty="0">
                <a:solidFill>
                  <a:srgbClr val="002060"/>
                </a:solidFill>
                <a:latin typeface="Times New Roman" panose="02020603050405020304" pitchFamily="18" charset="0"/>
                <a:cs typeface="Times New Roman" panose="02020603050405020304" pitchFamily="18" charset="0"/>
              </a:rPr>
              <a:t>–</a:t>
            </a:r>
            <a:r>
              <a:rPr lang="mn-MN" b="0" i="0" dirty="0">
                <a:solidFill>
                  <a:srgbClr val="002060"/>
                </a:solidFill>
                <a:effectLst/>
                <a:latin typeface="Times New Roman" panose="02020603050405020304" pitchFamily="18" charset="0"/>
                <a:cs typeface="Times New Roman" panose="02020603050405020304" pitchFamily="18" charset="0"/>
              </a:rPr>
              <a:t> хэрэглэгчдийн худалдаж авсан бараа, үйлчилгээний нэр төрөл, чанар өөрчлөлтгүй тогтвортой байхад үнэ дунджаар өөрчлөгдөж буйг илэрхийлэх үзүүлэлт бөгөөд нэг өрхөөр бус нийт өрхөөр тооцогдсон үнийн дундаж өөрчлөлтийг харуулна. </a:t>
            </a:r>
          </a:p>
          <a:p>
            <a:pPr lvl="1" algn="just">
              <a:spcBef>
                <a:spcPts val="300"/>
              </a:spcBef>
            </a:pPr>
            <a:r>
              <a:rPr lang="mn-MN" b="0" i="0" dirty="0">
                <a:solidFill>
                  <a:srgbClr val="002060"/>
                </a:solidFill>
                <a:effectLst/>
                <a:latin typeface="Times New Roman" panose="02020603050405020304" pitchFamily="18" charset="0"/>
                <a:cs typeface="Times New Roman" panose="02020603050405020304" pitchFamily="18" charset="0"/>
              </a:rPr>
              <a:t>Хэрэглээний үнийн индексийг төрөөс санхүү, мөнгө, зээлийн бодлогыг боловсруулах, инфляцийн түвшинг тодорхойлох, хүн амын цалин, тэтгэвэр, тэтгэмж, бусад орлогын хэмжээг индексжүүлэхэд тооцооны гол үзүүлэлт болгон ашигладаг. </a:t>
            </a:r>
          </a:p>
          <a:p>
            <a:pPr algn="just">
              <a:spcBef>
                <a:spcPts val="300"/>
              </a:spcBef>
            </a:pPr>
            <a:r>
              <a:rPr lang="mn-MN" b="0" i="0" dirty="0">
                <a:solidFill>
                  <a:srgbClr val="002060"/>
                </a:solidFill>
                <a:effectLst/>
                <a:latin typeface="Times New Roman" panose="02020603050405020304" pitchFamily="18" charset="0"/>
                <a:cs typeface="Times New Roman" panose="02020603050405020304" pitchFamily="18" charset="0"/>
              </a:rPr>
              <a:t>ХҮИ-ийн тооцоонд </a:t>
            </a:r>
            <a:r>
              <a:rPr lang="mn-MN" b="1" i="0" dirty="0">
                <a:solidFill>
                  <a:srgbClr val="002060"/>
                </a:solidFill>
                <a:effectLst/>
                <a:latin typeface="Times New Roman" panose="02020603050405020304" pitchFamily="18" charset="0"/>
                <a:cs typeface="Times New Roman" panose="02020603050405020304" pitchFamily="18" charset="0"/>
              </a:rPr>
              <a:t>хэрэглээний сагс</a:t>
            </a:r>
            <a:r>
              <a:rPr lang="mn-MN" b="0" i="0" dirty="0">
                <a:solidFill>
                  <a:srgbClr val="002060"/>
                </a:solidFill>
                <a:effectLst/>
                <a:latin typeface="Times New Roman" panose="02020603050405020304" pitchFamily="18" charset="0"/>
                <a:cs typeface="Times New Roman" panose="02020603050405020304" pitchFamily="18" charset="0"/>
              </a:rPr>
              <a:t>, </a:t>
            </a:r>
            <a:r>
              <a:rPr lang="mn-MN" b="1" i="0" dirty="0">
                <a:solidFill>
                  <a:srgbClr val="002060"/>
                </a:solidFill>
                <a:effectLst/>
                <a:latin typeface="Times New Roman" panose="02020603050405020304" pitchFamily="18" charset="0"/>
                <a:cs typeface="Times New Roman" panose="02020603050405020304" pitchFamily="18" charset="0"/>
              </a:rPr>
              <a:t>хэрэглээний жин </a:t>
            </a:r>
            <a:r>
              <a:rPr lang="mn-MN" b="0" i="0" dirty="0">
                <a:solidFill>
                  <a:srgbClr val="002060"/>
                </a:solidFill>
                <a:effectLst/>
                <a:latin typeface="Times New Roman" panose="02020603050405020304" pitchFamily="18" charset="0"/>
                <a:cs typeface="Times New Roman" panose="02020603050405020304" pitchFamily="18" charset="0"/>
              </a:rPr>
              <a:t>гэсэн хоёр үзүүлэлтийг ашиглана. </a:t>
            </a:r>
          </a:p>
          <a:p>
            <a:pPr lvl="1" algn="just">
              <a:spcBef>
                <a:spcPts val="300"/>
              </a:spcBef>
            </a:pPr>
            <a:r>
              <a:rPr lang="mn-MN" b="1" i="0" dirty="0">
                <a:solidFill>
                  <a:srgbClr val="002060"/>
                </a:solidFill>
                <a:effectLst/>
                <a:latin typeface="Times New Roman" panose="02020603050405020304" pitchFamily="18" charset="0"/>
                <a:cs typeface="Times New Roman" panose="02020603050405020304" pitchFamily="18" charset="0"/>
              </a:rPr>
              <a:t>Хэрэглээний сагс </a:t>
            </a:r>
            <a:r>
              <a:rPr lang="mn-MN" b="0" i="0" dirty="0">
                <a:solidFill>
                  <a:srgbClr val="002060"/>
                </a:solidFill>
                <a:effectLst/>
                <a:latin typeface="Times New Roman" panose="02020603050405020304" pitchFamily="18" charset="0"/>
                <a:cs typeface="Times New Roman" panose="02020603050405020304" pitchFamily="18" charset="0"/>
              </a:rPr>
              <a:t>нь дундаж өрхийн хэрэглээг төлөөлөх чадвартай, хэрэглээний үнийн индекс тооцох зорилгоор бүрдүүлсэн хүн амын өргөн хэрэглээний бараа, үйлчилгээний нэр төрлийн жагсаалт юм. Сагсанд сонгогдсон бараа, үйлчилгээний үнийн өөрчлөлтийг тооцоходоо бараа, үйлчилгээний тоо хэмжээ, төрөл, чанар зэргийг тогтмолоор авна. </a:t>
            </a:r>
          </a:p>
          <a:p>
            <a:pPr lvl="1" algn="just">
              <a:spcBef>
                <a:spcPts val="300"/>
              </a:spcBef>
            </a:pPr>
            <a:r>
              <a:rPr lang="mn-MN" b="1" i="0" dirty="0">
                <a:solidFill>
                  <a:srgbClr val="002060"/>
                </a:solidFill>
                <a:effectLst/>
                <a:latin typeface="Times New Roman" panose="02020603050405020304" pitchFamily="18" charset="0"/>
                <a:cs typeface="Times New Roman" panose="02020603050405020304" pitchFamily="18" charset="0"/>
              </a:rPr>
              <a:t>Хэрэглээний бараа, үйлчилгээний жин </a:t>
            </a:r>
            <a:r>
              <a:rPr lang="mn-MN" b="0" i="0" dirty="0">
                <a:solidFill>
                  <a:srgbClr val="002060"/>
                </a:solidFill>
                <a:effectLst/>
                <a:latin typeface="Times New Roman" panose="02020603050405020304" pitchFamily="18" charset="0"/>
                <a:cs typeface="Times New Roman" panose="02020603050405020304" pitchFamily="18" charset="0"/>
              </a:rPr>
              <a:t>нь өрхийн худалдаж авсан бараа, үзүүлсэн үйлчилгээний нийт зардалд тухайн бараа, үйлчилгээний зардлын эзлэх хувь юм.</a:t>
            </a:r>
          </a:p>
        </p:txBody>
      </p:sp>
    </p:spTree>
    <p:extLst>
      <p:ext uri="{BB962C8B-B14F-4D97-AF65-F5344CB8AC3E}">
        <p14:creationId xmlns:p14="http://schemas.microsoft.com/office/powerpoint/2010/main" val="27152057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80B3-2E80-20E0-8E2C-9888ADC271BD}"/>
              </a:ext>
            </a:extLst>
          </p:cNvPr>
          <p:cNvSpPr>
            <a:spLocks noGrp="1"/>
          </p:cNvSpPr>
          <p:nvPr>
            <p:ph type="title"/>
          </p:nvPr>
        </p:nvSpPr>
        <p:spPr>
          <a:xfrm>
            <a:off x="199696" y="223239"/>
            <a:ext cx="11792607" cy="722696"/>
          </a:xfrm>
        </p:spPr>
        <p:txBody>
          <a:bodyPr>
            <a:noAutofit/>
          </a:bodyPr>
          <a:lstStyle/>
          <a:p>
            <a:pPr algn="just">
              <a:spcBef>
                <a:spcPts val="300"/>
              </a:spcBef>
            </a:pPr>
            <a:r>
              <a:rPr lang="mn-MN" sz="3200" b="1" dirty="0">
                <a:solidFill>
                  <a:srgbClr val="002060"/>
                </a:solidFill>
                <a:latin typeface="Times New Roman" panose="02020603050405020304" pitchFamily="18" charset="0"/>
                <a:cs typeface="Times New Roman" panose="02020603050405020304" pitchFamily="18" charset="0"/>
              </a:rPr>
              <a:t>Инфляцийн нөхцөл дэх хөрөнгө оруулалтын төслийн үр ашгийн шинжилгээ </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CD5598-8855-A51F-19B6-8FB5D0889209}"/>
                  </a:ext>
                </a:extLst>
              </p:cNvPr>
              <p:cNvSpPr>
                <a:spLocks noGrp="1"/>
              </p:cNvSpPr>
              <p:nvPr>
                <p:ph idx="1"/>
              </p:nvPr>
            </p:nvSpPr>
            <p:spPr>
              <a:xfrm>
                <a:off x="0" y="1097215"/>
                <a:ext cx="11792607" cy="4852761"/>
              </a:xfrm>
            </p:spPr>
            <p:txBody>
              <a:bodyPr>
                <a:normAutofit/>
              </a:bodyPr>
              <a:lstStyle/>
              <a:p>
                <a:pPr algn="just">
                  <a:lnSpc>
                    <a:spcPct val="100000"/>
                  </a:lnSpc>
                  <a:spcBef>
                    <a:spcPts val="300"/>
                  </a:spcBef>
                </a:pPr>
                <a:r>
                  <a:rPr lang="mn-MN" dirty="0">
                    <a:solidFill>
                      <a:schemeClr val="tx1"/>
                    </a:solidFill>
                    <a:latin typeface="Times New Roman" panose="02020603050405020304" pitchFamily="18" charset="0"/>
                    <a:cs typeface="Times New Roman" panose="02020603050405020304" pitchFamily="18" charset="0"/>
                  </a:rPr>
                  <a:t>ХҮИ (</a:t>
                </a:r>
                <a:r>
                  <a:rPr lang="en-US" dirty="0">
                    <a:solidFill>
                      <a:schemeClr val="tx1"/>
                    </a:solidFill>
                    <a:latin typeface="Times New Roman" panose="02020603050405020304" pitchFamily="18" charset="0"/>
                    <a:cs typeface="Times New Roman" panose="02020603050405020304" pitchFamily="18" charset="0"/>
                  </a:rPr>
                  <a:t>CPI), </a:t>
                </a:r>
                <a:r>
                  <a:rPr lang="mn-MN" dirty="0">
                    <a:solidFill>
                      <a:schemeClr val="tx1"/>
                    </a:solidFill>
                    <a:latin typeface="Times New Roman" panose="02020603050405020304" pitchFamily="18" charset="0"/>
                    <a:cs typeface="Times New Roman" panose="02020603050405020304" pitchFamily="18" charset="0"/>
                  </a:rPr>
                  <a:t>ҮҮИ (</a:t>
                </a:r>
                <a:r>
                  <a:rPr lang="en-US" dirty="0">
                    <a:solidFill>
                      <a:schemeClr val="tx1"/>
                    </a:solidFill>
                    <a:latin typeface="Times New Roman" panose="02020603050405020304" pitchFamily="18" charset="0"/>
                    <a:cs typeface="Times New Roman" panose="02020603050405020304" pitchFamily="18" charset="0"/>
                  </a:rPr>
                  <a:t>PPI) </a:t>
                </a:r>
                <a:r>
                  <a:rPr lang="mn-MN" dirty="0">
                    <a:solidFill>
                      <a:schemeClr val="tx1"/>
                    </a:solidFill>
                    <a:latin typeface="Times New Roman" panose="02020603050405020304" pitchFamily="18" charset="0"/>
                    <a:cs typeface="Times New Roman" panose="02020603050405020304" pitchFamily="18" charset="0"/>
                  </a:rPr>
                  <a:t>индекс буюу жилийн өөрчлөлтийн түвшинг дараах томъёогоор тооцоолно:</a:t>
                </a:r>
              </a:p>
              <a:p>
                <a:pPr marL="0" indent="0" algn="just">
                  <a:lnSpc>
                    <a:spcPct val="100000"/>
                  </a:lnSpc>
                  <a:spcBef>
                    <a:spcPts val="300"/>
                  </a:spcBef>
                  <a:buNone/>
                </a:pPr>
                <a14:m>
                  <m:oMathPara xmlns:m="http://schemas.openxmlformats.org/officeDocument/2006/math">
                    <m:oMathParaPr>
                      <m:jc m:val="center"/>
                    </m:oMathParaPr>
                    <m:oMath xmlns:m="http://schemas.openxmlformats.org/officeDocument/2006/math">
                      <m:sSub>
                        <m:sSubPr>
                          <m:ctrlPr>
                            <a:rPr lang="en-US" sz="3200" i="1" smtClean="0">
                              <a:solidFill>
                                <a:srgbClr val="FF0000"/>
                              </a:solidFill>
                              <a:latin typeface="Cambria Math" panose="02040503050406030204" pitchFamily="18" charset="0"/>
                            </a:rPr>
                          </m:ctrlPr>
                        </m:sSubPr>
                        <m:e>
                          <m:r>
                            <a:rPr lang="mn-MN" sz="3200" i="1">
                              <a:solidFill>
                                <a:srgbClr val="FF0000"/>
                              </a:solidFill>
                              <a:latin typeface="Cambria Math" panose="02040503050406030204" pitchFamily="18" charset="0"/>
                            </a:rPr>
                            <m:t>(</m:t>
                          </m:r>
                          <m:r>
                            <a:rPr lang="mn-MN" sz="3200" i="1">
                              <a:solidFill>
                                <a:srgbClr val="FF0000"/>
                              </a:solidFill>
                              <a:latin typeface="Cambria Math" panose="02040503050406030204" pitchFamily="18" charset="0"/>
                            </a:rPr>
                            <m:t>𝐶𝑃𝐼</m:t>
                          </m:r>
                          <m:r>
                            <a:rPr lang="mn-MN" sz="3200" i="1">
                              <a:solidFill>
                                <a:srgbClr val="FF0000"/>
                              </a:solidFill>
                              <a:latin typeface="Cambria Math" panose="02040503050406030204" pitchFamily="18" charset="0"/>
                            </a:rPr>
                            <m:t>, эсвэл </m:t>
                          </m:r>
                          <m:r>
                            <a:rPr lang="en-US" sz="3200" i="1">
                              <a:solidFill>
                                <a:srgbClr val="FF0000"/>
                              </a:solidFill>
                              <a:latin typeface="Cambria Math" panose="02040503050406030204" pitchFamily="18" charset="0"/>
                            </a:rPr>
                            <m:t>𝑃𝑃𝐼</m:t>
                          </m:r>
                          <m:r>
                            <a:rPr lang="mn-MN" sz="3200" i="1">
                              <a:solidFill>
                                <a:srgbClr val="FF0000"/>
                              </a:solidFill>
                              <a:latin typeface="Cambria Math" panose="02040503050406030204" pitchFamily="18" charset="0"/>
                            </a:rPr>
                            <m:t>−ийн жилийн өөрчлөлтийн түвшин,%)</m:t>
                          </m:r>
                        </m:e>
                        <m:sub>
                          <m:r>
                            <a:rPr lang="mn-MN" sz="3200" i="1">
                              <a:solidFill>
                                <a:srgbClr val="FF0000"/>
                              </a:solidFill>
                              <a:latin typeface="Cambria Math" panose="02040503050406030204" pitchFamily="18" charset="0"/>
                            </a:rPr>
                            <m:t>𝑘</m:t>
                          </m:r>
                        </m:sub>
                      </m:sSub>
                      <m:r>
                        <a:rPr lang="en-US" sz="3200" i="1">
                          <a:solidFill>
                            <a:srgbClr val="FF0000"/>
                          </a:solidFill>
                          <a:latin typeface="Cambria Math" panose="02040503050406030204" pitchFamily="18" charset="0"/>
                        </a:rPr>
                        <m:t>== </m:t>
                      </m:r>
                      <m:f>
                        <m:fPr>
                          <m:ctrlPr>
                            <a:rPr lang="en-US" sz="3200" i="1">
                              <a:solidFill>
                                <a:srgbClr val="FF0000"/>
                              </a:solidFill>
                              <a:latin typeface="Cambria Math" panose="02040503050406030204" pitchFamily="18" charset="0"/>
                            </a:rPr>
                          </m:ctrlPr>
                        </m:fPr>
                        <m:num>
                          <m:sSub>
                            <m:sSubPr>
                              <m:ctrlPr>
                                <a:rPr lang="en-US" sz="3200" i="1">
                                  <a:solidFill>
                                    <a:srgbClr val="FF0000"/>
                                  </a:solidFill>
                                  <a:latin typeface="Cambria Math" panose="02040503050406030204" pitchFamily="18" charset="0"/>
                                </a:rPr>
                              </m:ctrlPr>
                            </m:sSubPr>
                            <m:e>
                              <m:d>
                                <m:dPr>
                                  <m:ctrlPr>
                                    <a:rPr lang="en-US" sz="3200" i="1">
                                      <a:solidFill>
                                        <a:srgbClr val="FF0000"/>
                                      </a:solidFill>
                                      <a:latin typeface="Cambria Math" panose="02040503050406030204" pitchFamily="18" charset="0"/>
                                    </a:rPr>
                                  </m:ctrlPr>
                                </m:dPr>
                                <m:e>
                                  <m:r>
                                    <a:rPr lang="mn-MN" sz="3200" i="1">
                                      <a:solidFill>
                                        <a:srgbClr val="FF0000"/>
                                      </a:solidFill>
                                      <a:latin typeface="Cambria Math" panose="02040503050406030204" pitchFamily="18" charset="0"/>
                                    </a:rPr>
                                    <m:t>Индекс</m:t>
                                  </m:r>
                                </m:e>
                              </m:d>
                            </m:e>
                            <m:sub>
                              <m:r>
                                <a:rPr lang="en-US" sz="3200" i="1">
                                  <a:solidFill>
                                    <a:srgbClr val="FF0000"/>
                                  </a:solidFill>
                                  <a:latin typeface="Cambria Math" panose="02040503050406030204" pitchFamily="18" charset="0"/>
                                </a:rPr>
                                <m:t>𝑘</m:t>
                              </m:r>
                            </m:sub>
                          </m:sSub>
                          <m:r>
                            <a:rPr lang="en-US" sz="3200" i="1">
                              <a:solidFill>
                                <a:srgbClr val="FF0000"/>
                              </a:solidFill>
                              <a:latin typeface="Cambria Math" panose="02040503050406030204" pitchFamily="18" charset="0"/>
                            </a:rPr>
                            <m:t>− </m:t>
                          </m:r>
                          <m:sSub>
                            <m:sSubPr>
                              <m:ctrlPr>
                                <a:rPr lang="en-US" sz="3200" i="1">
                                  <a:solidFill>
                                    <a:srgbClr val="FF0000"/>
                                  </a:solidFill>
                                  <a:latin typeface="Cambria Math" panose="02040503050406030204" pitchFamily="18" charset="0"/>
                                </a:rPr>
                              </m:ctrlPr>
                            </m:sSubPr>
                            <m:e>
                              <m:d>
                                <m:dPr>
                                  <m:ctrlPr>
                                    <a:rPr lang="en-US" sz="3200" i="1">
                                      <a:solidFill>
                                        <a:srgbClr val="FF0000"/>
                                      </a:solidFill>
                                      <a:latin typeface="Cambria Math" panose="02040503050406030204" pitchFamily="18" charset="0"/>
                                    </a:rPr>
                                  </m:ctrlPr>
                                </m:dPr>
                                <m:e>
                                  <m:r>
                                    <a:rPr lang="mn-MN" sz="3200" i="1">
                                      <a:solidFill>
                                        <a:srgbClr val="FF0000"/>
                                      </a:solidFill>
                                      <a:latin typeface="Cambria Math" panose="02040503050406030204" pitchFamily="18" charset="0"/>
                                    </a:rPr>
                                    <m:t>Индекс</m:t>
                                  </m:r>
                                </m:e>
                              </m:d>
                            </m:e>
                            <m:sub>
                              <m:r>
                                <a:rPr lang="en-US" sz="3200" i="1">
                                  <a:solidFill>
                                    <a:srgbClr val="FF0000"/>
                                  </a:solidFill>
                                  <a:latin typeface="Cambria Math" panose="02040503050406030204" pitchFamily="18" charset="0"/>
                                </a:rPr>
                                <m:t>𝑘</m:t>
                              </m:r>
                              <m:r>
                                <a:rPr lang="en-US" sz="3200" i="1">
                                  <a:solidFill>
                                    <a:srgbClr val="FF0000"/>
                                  </a:solidFill>
                                  <a:latin typeface="Cambria Math" panose="02040503050406030204" pitchFamily="18" charset="0"/>
                                </a:rPr>
                                <m:t>−1</m:t>
                              </m:r>
                            </m:sub>
                          </m:sSub>
                        </m:num>
                        <m:den>
                          <m:sSub>
                            <m:sSubPr>
                              <m:ctrlPr>
                                <a:rPr lang="en-US" sz="3200" i="1">
                                  <a:solidFill>
                                    <a:srgbClr val="FF0000"/>
                                  </a:solidFill>
                                  <a:latin typeface="Cambria Math" panose="02040503050406030204" pitchFamily="18" charset="0"/>
                                </a:rPr>
                              </m:ctrlPr>
                            </m:sSubPr>
                            <m:e>
                              <m:d>
                                <m:dPr>
                                  <m:ctrlPr>
                                    <a:rPr lang="en-US" sz="3200" i="1">
                                      <a:solidFill>
                                        <a:srgbClr val="FF0000"/>
                                      </a:solidFill>
                                      <a:latin typeface="Cambria Math" panose="02040503050406030204" pitchFamily="18" charset="0"/>
                                    </a:rPr>
                                  </m:ctrlPr>
                                </m:dPr>
                                <m:e>
                                  <m:r>
                                    <a:rPr lang="mn-MN" sz="3200" i="1">
                                      <a:solidFill>
                                        <a:srgbClr val="FF0000"/>
                                      </a:solidFill>
                                      <a:latin typeface="Cambria Math" panose="02040503050406030204" pitchFamily="18" charset="0"/>
                                    </a:rPr>
                                    <m:t>Индекс</m:t>
                                  </m:r>
                                </m:e>
                              </m:d>
                            </m:e>
                            <m:sub>
                              <m:r>
                                <a:rPr lang="en-US" sz="3200" i="1">
                                  <a:solidFill>
                                    <a:srgbClr val="FF0000"/>
                                  </a:solidFill>
                                  <a:latin typeface="Cambria Math" panose="02040503050406030204" pitchFamily="18" charset="0"/>
                                </a:rPr>
                                <m:t>𝑘</m:t>
                              </m:r>
                              <m:r>
                                <a:rPr lang="en-US" sz="3200" i="1">
                                  <a:solidFill>
                                    <a:srgbClr val="FF0000"/>
                                  </a:solidFill>
                                  <a:latin typeface="Cambria Math" panose="02040503050406030204" pitchFamily="18" charset="0"/>
                                </a:rPr>
                                <m:t>−1</m:t>
                              </m:r>
                            </m:sub>
                          </m:sSub>
                        </m:den>
                      </m:f>
                      <m:r>
                        <a:rPr lang="en-US" sz="3200" i="1">
                          <a:solidFill>
                            <a:srgbClr val="FF0000"/>
                          </a:solidFill>
                          <a:latin typeface="Cambria Math" panose="02040503050406030204" pitchFamily="18" charset="0"/>
                        </a:rPr>
                        <m:t>(100%)</m:t>
                      </m:r>
                    </m:oMath>
                  </m:oMathPara>
                </a14:m>
                <a:endParaRPr lang="en-US" sz="3600" dirty="0">
                  <a:solidFill>
                    <a:srgbClr val="FF0000"/>
                  </a:solidFill>
                  <a:latin typeface="Times New Roman" panose="02020603050405020304" pitchFamily="18" charset="0"/>
                  <a:cs typeface="Times New Roman" panose="02020603050405020304" pitchFamily="18" charset="0"/>
                </a:endParaRPr>
              </a:p>
              <a:p>
                <a:pPr lvl="1" algn="just">
                  <a:lnSpc>
                    <a:spcPct val="100000"/>
                  </a:lnSpc>
                  <a:spcBef>
                    <a:spcPts val="300"/>
                  </a:spcBef>
                </a:pPr>
                <a:r>
                  <a:rPr lang="mn-MN" sz="2600" b="1" dirty="0">
                    <a:solidFill>
                      <a:schemeClr val="tx1"/>
                    </a:solidFill>
                    <a:latin typeface="Times New Roman" panose="02020603050405020304" pitchFamily="18" charset="0"/>
                    <a:cs typeface="Times New Roman" panose="02020603050405020304" pitchFamily="18" charset="0"/>
                  </a:rPr>
                  <a:t>Жишээлбэл:</a:t>
                </a:r>
                <a:r>
                  <a:rPr lang="mn-MN" sz="2600" dirty="0">
                    <a:solidFill>
                      <a:schemeClr val="tx1"/>
                    </a:solidFill>
                    <a:latin typeface="Times New Roman" panose="02020603050405020304" pitchFamily="18" charset="0"/>
                    <a:cs typeface="Times New Roman" panose="02020603050405020304" pitchFamily="18" charset="0"/>
                  </a:rPr>
                  <a:t> 2006 онд </a:t>
                </a:r>
                <a:r>
                  <a:rPr lang="en-US" sz="2600" dirty="0">
                    <a:solidFill>
                      <a:schemeClr val="tx1"/>
                    </a:solidFill>
                    <a:latin typeface="Times New Roman" panose="02020603050405020304" pitchFamily="18" charset="0"/>
                    <a:cs typeface="Times New Roman" panose="02020603050405020304" pitchFamily="18" charset="0"/>
                  </a:rPr>
                  <a:t>CPI=201.6, 2007 </a:t>
                </a:r>
                <a:r>
                  <a:rPr lang="mn-MN" sz="2600" dirty="0">
                    <a:solidFill>
                      <a:schemeClr val="tx1"/>
                    </a:solidFill>
                    <a:latin typeface="Times New Roman" panose="02020603050405020304" pitchFamily="18" charset="0"/>
                    <a:cs typeface="Times New Roman" panose="02020603050405020304" pitchFamily="18" charset="0"/>
                  </a:rPr>
                  <a:t>онд </a:t>
                </a:r>
                <a:r>
                  <a:rPr lang="en-US" sz="2600" dirty="0">
                    <a:solidFill>
                      <a:schemeClr val="tx1"/>
                    </a:solidFill>
                    <a:latin typeface="Times New Roman" panose="02020603050405020304" pitchFamily="18" charset="0"/>
                    <a:cs typeface="Times New Roman" panose="02020603050405020304" pitchFamily="18" charset="0"/>
                  </a:rPr>
                  <a:t>CPI = 208.0 </a:t>
                </a:r>
                <a:r>
                  <a:rPr lang="mn-MN" sz="2600" dirty="0">
                    <a:solidFill>
                      <a:schemeClr val="tx1"/>
                    </a:solidFill>
                    <a:latin typeface="Times New Roman" panose="02020603050405020304" pitchFamily="18" charset="0"/>
                    <a:cs typeface="Times New Roman" panose="02020603050405020304" pitchFamily="18" charset="0"/>
                  </a:rPr>
                  <a:t>бол 2007 оны хувьд </a:t>
                </a:r>
                <a:r>
                  <a:rPr lang="en-US" sz="2600" dirty="0">
                    <a:solidFill>
                      <a:schemeClr val="tx1"/>
                    </a:solidFill>
                    <a:latin typeface="Times New Roman" panose="02020603050405020304" pitchFamily="18" charset="0"/>
                    <a:cs typeface="Times New Roman" panose="02020603050405020304" pitchFamily="18" charset="0"/>
                  </a:rPr>
                  <a:t>CPI-</a:t>
                </a:r>
                <a:r>
                  <a:rPr lang="mn-MN" sz="2600" dirty="0">
                    <a:solidFill>
                      <a:schemeClr val="tx1"/>
                    </a:solidFill>
                    <a:latin typeface="Times New Roman" panose="02020603050405020304" pitchFamily="18" charset="0"/>
                    <a:cs typeface="Times New Roman" panose="02020603050405020304" pitchFamily="18" charset="0"/>
                  </a:rPr>
                  <a:t>ийн жилийн өөрчлөлтийн түвшинг тооцоолбол:</a:t>
                </a:r>
              </a:p>
              <a:p>
                <a:pPr marL="0" indent="0" algn="just">
                  <a:lnSpc>
                    <a:spcPct val="100000"/>
                  </a:lnSpc>
                  <a:spcBef>
                    <a:spcPts val="300"/>
                  </a:spcBef>
                  <a:buNone/>
                </a:pPr>
                <a14:m>
                  <m:oMathPara xmlns:m="http://schemas.openxmlformats.org/officeDocument/2006/math">
                    <m:oMathParaPr>
                      <m:jc m:val="center"/>
                    </m:oMathParaPr>
                    <m:oMath xmlns:m="http://schemas.openxmlformats.org/officeDocument/2006/math">
                      <m:f>
                        <m:fPr>
                          <m:ctrlPr>
                            <a:rPr lang="en-US" sz="3000" i="1" smtClean="0">
                              <a:solidFill>
                                <a:schemeClr val="tx1"/>
                              </a:solidFill>
                              <a:latin typeface="Cambria Math" panose="02040503050406030204" pitchFamily="18" charset="0"/>
                            </a:rPr>
                          </m:ctrlPr>
                        </m:fPr>
                        <m:num>
                          <m:sSub>
                            <m:sSubPr>
                              <m:ctrlPr>
                                <a:rPr lang="en-US" sz="3000" i="1">
                                  <a:solidFill>
                                    <a:schemeClr val="tx1"/>
                                  </a:solidFill>
                                  <a:latin typeface="Cambria Math" panose="02040503050406030204" pitchFamily="18" charset="0"/>
                                </a:rPr>
                              </m:ctrlPr>
                            </m:sSubPr>
                            <m:e>
                              <m:r>
                                <a:rPr lang="mn-MN" sz="3000" i="1">
                                  <a:solidFill>
                                    <a:schemeClr val="tx1"/>
                                  </a:solidFill>
                                  <a:latin typeface="Cambria Math" panose="02040503050406030204" pitchFamily="18" charset="0"/>
                                </a:rPr>
                                <m:t>(</m:t>
                              </m:r>
                              <m:r>
                                <a:rPr lang="mn-MN" sz="3000" i="1">
                                  <a:solidFill>
                                    <a:schemeClr val="tx1"/>
                                  </a:solidFill>
                                  <a:latin typeface="Cambria Math" panose="02040503050406030204" pitchFamily="18" charset="0"/>
                                </a:rPr>
                                <m:t>𝐶𝑃𝐼</m:t>
                              </m:r>
                              <m:r>
                                <a:rPr lang="mn-MN" sz="3000" i="1">
                                  <a:solidFill>
                                    <a:schemeClr val="tx1"/>
                                  </a:solidFill>
                                  <a:latin typeface="Cambria Math" panose="02040503050406030204" pitchFamily="18" charset="0"/>
                                </a:rPr>
                                <m:t>)</m:t>
                              </m:r>
                            </m:e>
                            <m:sub>
                              <m:r>
                                <a:rPr lang="mn-MN" sz="3000" i="1">
                                  <a:solidFill>
                                    <a:schemeClr val="tx1"/>
                                  </a:solidFill>
                                  <a:latin typeface="Cambria Math" panose="02040503050406030204" pitchFamily="18" charset="0"/>
                                </a:rPr>
                                <m:t>2007</m:t>
                              </m:r>
                            </m:sub>
                          </m:sSub>
                          <m:r>
                            <a:rPr lang="mn-MN" sz="3000" i="1">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a:rPr lang="mn-MN" sz="3000" i="1">
                                  <a:solidFill>
                                    <a:schemeClr val="tx1"/>
                                  </a:solidFill>
                                  <a:latin typeface="Cambria Math" panose="02040503050406030204" pitchFamily="18" charset="0"/>
                                </a:rPr>
                                <m:t>(</m:t>
                              </m:r>
                              <m:r>
                                <a:rPr lang="mn-MN" sz="3000" i="1">
                                  <a:solidFill>
                                    <a:schemeClr val="tx1"/>
                                  </a:solidFill>
                                  <a:latin typeface="Cambria Math" panose="02040503050406030204" pitchFamily="18" charset="0"/>
                                </a:rPr>
                                <m:t>𝐶𝑃𝐼</m:t>
                              </m:r>
                              <m:r>
                                <a:rPr lang="mn-MN" sz="3000" i="1">
                                  <a:solidFill>
                                    <a:schemeClr val="tx1"/>
                                  </a:solidFill>
                                  <a:latin typeface="Cambria Math" panose="02040503050406030204" pitchFamily="18" charset="0"/>
                                </a:rPr>
                                <m:t>)</m:t>
                              </m:r>
                            </m:e>
                            <m:sub>
                              <m:r>
                                <a:rPr lang="mn-MN" sz="3000" i="1">
                                  <a:solidFill>
                                    <a:schemeClr val="tx1"/>
                                  </a:solidFill>
                                  <a:latin typeface="Cambria Math" panose="02040503050406030204" pitchFamily="18" charset="0"/>
                                </a:rPr>
                                <m:t>2006</m:t>
                              </m:r>
                            </m:sub>
                          </m:sSub>
                        </m:num>
                        <m:den>
                          <m:sSub>
                            <m:sSubPr>
                              <m:ctrlPr>
                                <a:rPr lang="en-US" sz="3000" i="1">
                                  <a:solidFill>
                                    <a:schemeClr val="tx1"/>
                                  </a:solidFill>
                                  <a:latin typeface="Cambria Math" panose="02040503050406030204" pitchFamily="18" charset="0"/>
                                </a:rPr>
                              </m:ctrlPr>
                            </m:sSubPr>
                            <m:e>
                              <m:r>
                                <a:rPr lang="mn-MN" sz="3000" i="1">
                                  <a:solidFill>
                                    <a:schemeClr val="tx1"/>
                                  </a:solidFill>
                                  <a:latin typeface="Cambria Math" panose="02040503050406030204" pitchFamily="18" charset="0"/>
                                </a:rPr>
                                <m:t>(</m:t>
                              </m:r>
                              <m:r>
                                <a:rPr lang="mn-MN" sz="3000" i="1">
                                  <a:solidFill>
                                    <a:schemeClr val="tx1"/>
                                  </a:solidFill>
                                  <a:latin typeface="Cambria Math" panose="02040503050406030204" pitchFamily="18" charset="0"/>
                                </a:rPr>
                                <m:t>𝐶𝑃𝐼</m:t>
                              </m:r>
                              <m:r>
                                <a:rPr lang="mn-MN" sz="3000" i="1">
                                  <a:solidFill>
                                    <a:schemeClr val="tx1"/>
                                  </a:solidFill>
                                  <a:latin typeface="Cambria Math" panose="02040503050406030204" pitchFamily="18" charset="0"/>
                                </a:rPr>
                                <m:t>)</m:t>
                              </m:r>
                            </m:e>
                            <m:sub>
                              <m:r>
                                <a:rPr lang="mn-MN" sz="3000" i="1">
                                  <a:solidFill>
                                    <a:schemeClr val="tx1"/>
                                  </a:solidFill>
                                  <a:latin typeface="Cambria Math" panose="02040503050406030204" pitchFamily="18" charset="0"/>
                                </a:rPr>
                                <m:t>2006</m:t>
                              </m:r>
                            </m:sub>
                          </m:sSub>
                        </m:den>
                      </m:f>
                      <m:d>
                        <m:dPr>
                          <m:ctrlPr>
                            <a:rPr lang="en-US" sz="3000" i="1">
                              <a:solidFill>
                                <a:schemeClr val="tx1"/>
                              </a:solidFill>
                              <a:latin typeface="Cambria Math" panose="02040503050406030204" pitchFamily="18" charset="0"/>
                            </a:rPr>
                          </m:ctrlPr>
                        </m:dPr>
                        <m:e>
                          <m:r>
                            <a:rPr lang="mn-MN" sz="3000" i="1">
                              <a:solidFill>
                                <a:schemeClr val="tx1"/>
                              </a:solidFill>
                              <a:latin typeface="Cambria Math" panose="02040503050406030204" pitchFamily="18" charset="0"/>
                            </a:rPr>
                            <m:t>100%</m:t>
                          </m:r>
                        </m:e>
                      </m:d>
                      <m:r>
                        <a:rPr lang="mn-MN" sz="3000" i="1">
                          <a:solidFill>
                            <a:schemeClr val="tx1"/>
                          </a:solidFill>
                          <a:latin typeface="Cambria Math" panose="02040503050406030204" pitchFamily="18" charset="0"/>
                        </a:rPr>
                        <m:t>= </m:t>
                      </m:r>
                      <m:f>
                        <m:fPr>
                          <m:ctrlPr>
                            <a:rPr lang="en-US" sz="3000" i="1">
                              <a:solidFill>
                                <a:schemeClr val="tx1"/>
                              </a:solidFill>
                              <a:latin typeface="Cambria Math" panose="02040503050406030204" pitchFamily="18" charset="0"/>
                            </a:rPr>
                          </m:ctrlPr>
                        </m:fPr>
                        <m:num>
                          <m:r>
                            <a:rPr lang="mn-MN" sz="3000" i="1">
                              <a:solidFill>
                                <a:schemeClr val="tx1"/>
                              </a:solidFill>
                              <a:latin typeface="Cambria Math" panose="02040503050406030204" pitchFamily="18" charset="0"/>
                            </a:rPr>
                            <m:t>208.0−201.6</m:t>
                          </m:r>
                        </m:num>
                        <m:den>
                          <m:r>
                            <a:rPr lang="mn-MN" sz="3000" i="1">
                              <a:solidFill>
                                <a:schemeClr val="tx1"/>
                              </a:solidFill>
                              <a:latin typeface="Cambria Math" panose="02040503050406030204" pitchFamily="18" charset="0"/>
                            </a:rPr>
                            <m:t>201.6</m:t>
                          </m:r>
                        </m:den>
                      </m:f>
                      <m:d>
                        <m:dPr>
                          <m:ctrlPr>
                            <a:rPr lang="en-US" sz="3000" i="1">
                              <a:solidFill>
                                <a:schemeClr val="tx1"/>
                              </a:solidFill>
                              <a:latin typeface="Cambria Math" panose="02040503050406030204" pitchFamily="18" charset="0"/>
                            </a:rPr>
                          </m:ctrlPr>
                        </m:dPr>
                        <m:e>
                          <m:r>
                            <a:rPr lang="mn-MN" sz="3000" i="1">
                              <a:solidFill>
                                <a:schemeClr val="tx1"/>
                              </a:solidFill>
                              <a:latin typeface="Cambria Math" panose="02040503050406030204" pitchFamily="18" charset="0"/>
                            </a:rPr>
                            <m:t>100%</m:t>
                          </m:r>
                        </m:e>
                      </m:d>
                      <m:r>
                        <a:rPr lang="mn-MN" sz="3000" i="1">
                          <a:solidFill>
                            <a:schemeClr val="tx1"/>
                          </a:solidFill>
                          <a:latin typeface="Cambria Math" panose="02040503050406030204" pitchFamily="18" charset="0"/>
                        </a:rPr>
                        <m:t>=3.71%</m:t>
                      </m:r>
                    </m:oMath>
                  </m:oMathPara>
                </a14:m>
                <a:endParaRPr lang="en-US" sz="3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B2CD5598-8855-A51F-19B6-8FB5D0889209}"/>
                  </a:ext>
                </a:extLst>
              </p:cNvPr>
              <p:cNvSpPr>
                <a:spLocks noGrp="1" noRot="1" noChangeAspect="1" noMove="1" noResize="1" noEditPoints="1" noAdjustHandles="1" noChangeArrowheads="1" noChangeShapeType="1" noTextEdit="1"/>
              </p:cNvSpPr>
              <p:nvPr>
                <p:ph idx="1"/>
              </p:nvPr>
            </p:nvSpPr>
            <p:spPr>
              <a:xfrm>
                <a:off x="0" y="1097215"/>
                <a:ext cx="11792607" cy="4852761"/>
              </a:xfrm>
              <a:blipFill>
                <a:blip r:embed="rId3"/>
                <a:stretch>
                  <a:fillRect l="-931" t="-1382" r="-1034"/>
                </a:stretch>
              </a:blipFill>
            </p:spPr>
            <p:txBody>
              <a:bodyPr/>
              <a:lstStyle/>
              <a:p>
                <a:r>
                  <a:rPr lang="en-US">
                    <a:noFill/>
                  </a:rPr>
                  <a:t> </a:t>
                </a:r>
              </a:p>
            </p:txBody>
          </p:sp>
        </mc:Fallback>
      </mc:AlternateContent>
    </p:spTree>
    <p:extLst>
      <p:ext uri="{BB962C8B-B14F-4D97-AF65-F5344CB8AC3E}">
        <p14:creationId xmlns:p14="http://schemas.microsoft.com/office/powerpoint/2010/main" val="6270545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2D16-3034-45DA-9C55-A7C30C9B247F}"/>
              </a:ext>
            </a:extLst>
          </p:cNvPr>
          <p:cNvSpPr>
            <a:spLocks noGrp="1"/>
          </p:cNvSpPr>
          <p:nvPr>
            <p:ph type="title"/>
          </p:nvPr>
        </p:nvSpPr>
        <p:spPr>
          <a:xfrm>
            <a:off x="128752" y="128644"/>
            <a:ext cx="11884572" cy="565040"/>
          </a:xfrm>
        </p:spPr>
        <p:txBody>
          <a:bodyPr>
            <a:normAutofit/>
          </a:bodyPr>
          <a:lstStyle/>
          <a:p>
            <a:pPr algn="just">
              <a:spcBef>
                <a:spcPts val="400"/>
              </a:spcBef>
            </a:pPr>
            <a:r>
              <a:rPr lang="mn-MN" sz="3400" b="1" dirty="0">
                <a:solidFill>
                  <a:srgbClr val="002060"/>
                </a:solidFill>
                <a:latin typeface="Times New Roman" panose="02020603050405020304" pitchFamily="18" charset="0"/>
                <a:cs typeface="Times New Roman" panose="02020603050405020304" pitchFamily="18" charset="0"/>
              </a:rPr>
              <a:t>Нэрлэсэн ба бодит ханш, тэдгээрийн хоорондын хамаарал</a:t>
            </a:r>
            <a:endParaRPr lang="en-US" sz="34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B727EF-4A6D-5328-8165-61656F757B60}"/>
              </a:ext>
            </a:extLst>
          </p:cNvPr>
          <p:cNvSpPr>
            <a:spLocks noGrp="1"/>
          </p:cNvSpPr>
          <p:nvPr>
            <p:ph idx="1"/>
          </p:nvPr>
        </p:nvSpPr>
        <p:spPr>
          <a:xfrm>
            <a:off x="178676" y="693684"/>
            <a:ext cx="11884572" cy="4836432"/>
          </a:xfrm>
        </p:spPr>
        <p:txBody>
          <a:bodyPr>
            <a:normAutofit fontScale="92500" lnSpcReduction="10000"/>
          </a:bodyPr>
          <a:lstStyle/>
          <a:p>
            <a:pPr algn="just">
              <a:lnSpc>
                <a:spcPct val="100000"/>
              </a:lnSpc>
              <a:spcBef>
                <a:spcPts val="400"/>
              </a:spcBef>
            </a:pPr>
            <a:r>
              <a:rPr lang="mn-MN" sz="3200" b="1" dirty="0">
                <a:solidFill>
                  <a:srgbClr val="002060"/>
                </a:solidFill>
                <a:latin typeface="Times New Roman" panose="02020603050405020304" pitchFamily="18" charset="0"/>
                <a:cs typeface="Times New Roman" panose="02020603050405020304" pitchFamily="18" charset="0"/>
              </a:rPr>
              <a:t>Нэрлэсэн ханш (А$) </a:t>
            </a:r>
            <a:r>
              <a:rPr lang="mn-MN" sz="3200" dirty="0">
                <a:solidFill>
                  <a:srgbClr val="002060"/>
                </a:solidFill>
                <a:latin typeface="Times New Roman" panose="02020603050405020304" pitchFamily="18" charset="0"/>
                <a:cs typeface="Times New Roman" panose="02020603050405020304" pitchFamily="18" charset="0"/>
              </a:rPr>
              <a:t>нь үйл явдал болох тухайн цаг хугацаан дахь мөнгөн урсгалтай холбоотой мөнгөний тоо хэмжээ юм.</a:t>
            </a:r>
          </a:p>
          <a:p>
            <a:pPr lvl="1" algn="just">
              <a:lnSpc>
                <a:spcPct val="100000"/>
              </a:lnSpc>
              <a:spcBef>
                <a:spcPts val="400"/>
              </a:spcBef>
            </a:pPr>
            <a:r>
              <a:rPr lang="mn-MN" sz="2800" dirty="0">
                <a:solidFill>
                  <a:srgbClr val="002060"/>
                </a:solidFill>
                <a:latin typeface="Times New Roman" panose="02020603050405020304" pitchFamily="18" charset="0"/>
                <a:cs typeface="Times New Roman" panose="02020603050405020304" pitchFamily="18" charset="0"/>
              </a:rPr>
              <a:t>Өөрөөр хэлбэл, </a:t>
            </a:r>
            <a:r>
              <a:rPr lang="mn-MN" sz="2800" b="1" dirty="0">
                <a:solidFill>
                  <a:srgbClr val="002060"/>
                </a:solidFill>
                <a:latin typeface="Times New Roman" panose="02020603050405020304" pitchFamily="18" charset="0"/>
                <a:cs typeface="Times New Roman" panose="02020603050405020304" pitchFamily="18" charset="0"/>
              </a:rPr>
              <a:t>инфляц болон дефляцийн нөлөөг тооцоогүй ханш юм. </a:t>
            </a:r>
            <a:r>
              <a:rPr lang="mn-MN" sz="2800" dirty="0">
                <a:solidFill>
                  <a:srgbClr val="002060"/>
                </a:solidFill>
                <a:latin typeface="Times New Roman" panose="02020603050405020304" pitchFamily="18" charset="0"/>
                <a:cs typeface="Times New Roman" panose="02020603050405020304" pitchFamily="18" charset="0"/>
              </a:rPr>
              <a:t>Тэдгээрийн худалдан авах чадварт ерөнхий үнийн инфляци болон дефляци нөлөөлдөг.</a:t>
            </a:r>
          </a:p>
          <a:p>
            <a:pPr algn="just">
              <a:lnSpc>
                <a:spcPct val="100000"/>
              </a:lnSpc>
              <a:spcBef>
                <a:spcPts val="400"/>
              </a:spcBef>
            </a:pPr>
            <a:r>
              <a:rPr lang="mn-MN" sz="3200" b="1" dirty="0">
                <a:solidFill>
                  <a:srgbClr val="002060"/>
                </a:solidFill>
                <a:latin typeface="Times New Roman" panose="02020603050405020304" pitchFamily="18" charset="0"/>
                <a:cs typeface="Times New Roman" panose="02020603050405020304" pitchFamily="18" charset="0"/>
              </a:rPr>
              <a:t>Бодит ханш (</a:t>
            </a:r>
            <a:r>
              <a:rPr lang="en-US" sz="3200" b="1" dirty="0">
                <a:solidFill>
                  <a:srgbClr val="002060"/>
                </a:solidFill>
                <a:latin typeface="Times New Roman" panose="02020603050405020304" pitchFamily="18" charset="0"/>
                <a:cs typeface="Times New Roman" panose="02020603050405020304" pitchFamily="18" charset="0"/>
              </a:rPr>
              <a:t>R$) </a:t>
            </a:r>
            <a:r>
              <a:rPr lang="mn-MN" sz="3200" dirty="0">
                <a:solidFill>
                  <a:srgbClr val="002060"/>
                </a:solidFill>
                <a:latin typeface="Times New Roman" panose="02020603050405020304" pitchFamily="18" charset="0"/>
                <a:cs typeface="Times New Roman" panose="02020603050405020304" pitchFamily="18" charset="0"/>
              </a:rPr>
              <a:t>нь ижил худалдан авах чадварыг тухайн цаг хугацаанаас хамааруулан илэрхийлсэн ханш буюу бүтээгдэхүүн, үйлчилгээг худалдан авагчдын төлж буй бодит мөнгөний тоо хэмжээ юм. </a:t>
            </a:r>
          </a:p>
          <a:p>
            <a:pPr lvl="1" algn="just">
              <a:lnSpc>
                <a:spcPct val="100000"/>
              </a:lnSpc>
              <a:spcBef>
                <a:spcPts val="400"/>
              </a:spcBef>
            </a:pPr>
            <a:r>
              <a:rPr lang="mn-MN" sz="2800" dirty="0">
                <a:solidFill>
                  <a:srgbClr val="002060"/>
                </a:solidFill>
                <a:latin typeface="Times New Roman" panose="02020603050405020304" pitchFamily="18" charset="0"/>
                <a:cs typeface="Times New Roman" panose="02020603050405020304" pitchFamily="18" charset="0"/>
              </a:rPr>
              <a:t>Өөрөөр хэлбэл, </a:t>
            </a:r>
            <a:r>
              <a:rPr lang="mn-MN" sz="2800" b="1" dirty="0">
                <a:solidFill>
                  <a:srgbClr val="002060"/>
                </a:solidFill>
                <a:latin typeface="Times New Roman" panose="02020603050405020304" pitchFamily="18" charset="0"/>
                <a:cs typeface="Times New Roman" panose="02020603050405020304" pitchFamily="18" charset="0"/>
              </a:rPr>
              <a:t>инфляц болон дефляцийн нөлөөг тооцсон мөнгийг бодит ханш (</a:t>
            </a:r>
            <a:r>
              <a:rPr lang="en-US" sz="2800" b="1" dirty="0">
                <a:solidFill>
                  <a:srgbClr val="002060"/>
                </a:solidFill>
                <a:latin typeface="Times New Roman" panose="02020603050405020304" pitchFamily="18" charset="0"/>
                <a:cs typeface="Times New Roman" panose="02020603050405020304" pitchFamily="18" charset="0"/>
              </a:rPr>
              <a:t>R$) </a:t>
            </a:r>
            <a:r>
              <a:rPr lang="mn-MN" sz="2800" b="1" dirty="0">
                <a:solidFill>
                  <a:srgbClr val="002060"/>
                </a:solidFill>
                <a:latin typeface="Times New Roman" panose="02020603050405020304" pitchFamily="18" charset="0"/>
                <a:cs typeface="Times New Roman" panose="02020603050405020304" pitchFamily="18" charset="0"/>
              </a:rPr>
              <a:t>гэдэг. </a:t>
            </a:r>
            <a:r>
              <a:rPr lang="mn-MN" sz="2800" dirty="0">
                <a:solidFill>
                  <a:srgbClr val="002060"/>
                </a:solidFill>
                <a:latin typeface="Times New Roman" panose="02020603050405020304" pitchFamily="18" charset="0"/>
                <a:cs typeface="Times New Roman" panose="02020603050405020304" pitchFamily="18" charset="0"/>
              </a:rPr>
              <a:t>Заримдаа </a:t>
            </a:r>
            <a:r>
              <a:rPr lang="en-US" sz="2800" dirty="0">
                <a:solidFill>
                  <a:srgbClr val="002060"/>
                </a:solidFill>
                <a:latin typeface="Times New Roman" panose="02020603050405020304" pitchFamily="18" charset="0"/>
                <a:cs typeface="Times New Roman" panose="02020603050405020304" pitchFamily="18" charset="0"/>
              </a:rPr>
              <a:t>R$ -</a:t>
            </a:r>
            <a:r>
              <a:rPr lang="mn-MN" sz="2800" dirty="0">
                <a:solidFill>
                  <a:srgbClr val="002060"/>
                </a:solidFill>
                <a:latin typeface="Times New Roman" panose="02020603050405020304" pitchFamily="18" charset="0"/>
                <a:cs typeface="Times New Roman" panose="02020603050405020304" pitchFamily="18" charset="0"/>
              </a:rPr>
              <a:t>ийг </a:t>
            </a:r>
            <a:r>
              <a:rPr lang="mn-MN" sz="2800" b="1" dirty="0">
                <a:solidFill>
                  <a:srgbClr val="002060"/>
                </a:solidFill>
                <a:latin typeface="Times New Roman" panose="02020603050405020304" pitchFamily="18" charset="0"/>
                <a:cs typeface="Times New Roman" panose="02020603050405020304" pitchFamily="18" charset="0"/>
              </a:rPr>
              <a:t>тогтмол ханш </a:t>
            </a:r>
            <a:r>
              <a:rPr lang="mn-MN" sz="2800" dirty="0">
                <a:solidFill>
                  <a:srgbClr val="002060"/>
                </a:solidFill>
                <a:latin typeface="Times New Roman" panose="02020603050405020304" pitchFamily="18" charset="0"/>
                <a:cs typeface="Times New Roman" panose="02020603050405020304" pitchFamily="18" charset="0"/>
              </a:rPr>
              <a:t>гэдэг. </a:t>
            </a:r>
          </a:p>
        </p:txBody>
      </p:sp>
    </p:spTree>
    <p:extLst>
      <p:ext uri="{BB962C8B-B14F-4D97-AF65-F5344CB8AC3E}">
        <p14:creationId xmlns:p14="http://schemas.microsoft.com/office/powerpoint/2010/main" val="4891388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2D16-3034-45DA-9C55-A7C30C9B247F}"/>
              </a:ext>
            </a:extLst>
          </p:cNvPr>
          <p:cNvSpPr>
            <a:spLocks noGrp="1"/>
          </p:cNvSpPr>
          <p:nvPr>
            <p:ph type="title"/>
          </p:nvPr>
        </p:nvSpPr>
        <p:spPr>
          <a:xfrm>
            <a:off x="160283" y="63065"/>
            <a:ext cx="11871434" cy="434940"/>
          </a:xfrm>
        </p:spPr>
        <p:txBody>
          <a:bodyPr>
            <a:noAutofit/>
          </a:bodyPr>
          <a:lstStyle/>
          <a:p>
            <a:pPr algn="just"/>
            <a:r>
              <a:rPr lang="mn-MN" sz="3300" b="1" dirty="0">
                <a:solidFill>
                  <a:srgbClr val="002060"/>
                </a:solidFill>
                <a:latin typeface="Times New Roman" panose="02020603050405020304" pitchFamily="18" charset="0"/>
                <a:cs typeface="Times New Roman" panose="02020603050405020304" pitchFamily="18" charset="0"/>
              </a:rPr>
              <a:t>Нэрлэсэн ба бодит ханш, тэдгээрийн хоорондын хамаарал</a:t>
            </a:r>
            <a:endParaRPr lang="en-US" sz="33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B727EF-4A6D-5328-8165-61656F757B60}"/>
              </a:ext>
            </a:extLst>
          </p:cNvPr>
          <p:cNvSpPr>
            <a:spLocks noGrp="1"/>
          </p:cNvSpPr>
          <p:nvPr>
            <p:ph idx="1"/>
          </p:nvPr>
        </p:nvSpPr>
        <p:spPr>
          <a:xfrm>
            <a:off x="160283" y="609164"/>
            <a:ext cx="11871434" cy="4836432"/>
          </a:xfrm>
        </p:spPr>
        <p:txBody>
          <a:bodyPr>
            <a:normAutofit lnSpcReduction="10000"/>
          </a:bodyPr>
          <a:lstStyle/>
          <a:p>
            <a:pPr algn="just"/>
            <a:r>
              <a:rPr lang="mn-MN" sz="3200" b="1" dirty="0">
                <a:solidFill>
                  <a:srgbClr val="002060"/>
                </a:solidFill>
                <a:latin typeface="Times New Roman" panose="02020603050405020304" pitchFamily="18" charset="0"/>
                <a:cs typeface="Times New Roman" panose="02020603050405020304" pitchFamily="18" charset="0"/>
              </a:rPr>
              <a:t>Нэрлэсэн ханш (А$) </a:t>
            </a:r>
            <a:r>
              <a:rPr lang="mn-MN" sz="3200" dirty="0">
                <a:solidFill>
                  <a:srgbClr val="002060"/>
                </a:solidFill>
                <a:latin typeface="Times New Roman" panose="02020603050405020304" pitchFamily="18" charset="0"/>
                <a:cs typeface="Times New Roman" panose="02020603050405020304" pitchFamily="18" charset="0"/>
              </a:rPr>
              <a:t>нь үйл явдал болох тухайн цаг хугацаан дахь мөнгөн урсгалтай холбоотой мөнгөний тоо хэмжээ юм.</a:t>
            </a:r>
          </a:p>
          <a:p>
            <a:pPr lvl="1" algn="just"/>
            <a:r>
              <a:rPr lang="mn-MN" sz="2800" dirty="0">
                <a:solidFill>
                  <a:srgbClr val="002060"/>
                </a:solidFill>
                <a:latin typeface="Times New Roman" panose="02020603050405020304" pitchFamily="18" charset="0"/>
                <a:cs typeface="Times New Roman" panose="02020603050405020304" pitchFamily="18" charset="0"/>
              </a:rPr>
              <a:t>Өөрөөр хэлбэл, </a:t>
            </a:r>
            <a:r>
              <a:rPr lang="mn-MN" sz="2800" b="1" dirty="0">
                <a:solidFill>
                  <a:srgbClr val="002060"/>
                </a:solidFill>
                <a:latin typeface="Times New Roman" panose="02020603050405020304" pitchFamily="18" charset="0"/>
                <a:cs typeface="Times New Roman" panose="02020603050405020304" pitchFamily="18" charset="0"/>
              </a:rPr>
              <a:t>инфляц болон дефляцийн нөлөөг тооцоогүй ханш юм. </a:t>
            </a:r>
            <a:r>
              <a:rPr lang="mn-MN" sz="2800" dirty="0">
                <a:solidFill>
                  <a:srgbClr val="002060"/>
                </a:solidFill>
                <a:latin typeface="Times New Roman" panose="02020603050405020304" pitchFamily="18" charset="0"/>
                <a:cs typeface="Times New Roman" panose="02020603050405020304" pitchFamily="18" charset="0"/>
              </a:rPr>
              <a:t>Тэдгээрийн худалдан авах чадварт ерөнхий үнийн инфляци болон дефляци нөлөөлдөг.</a:t>
            </a:r>
          </a:p>
          <a:p>
            <a:pPr algn="just"/>
            <a:r>
              <a:rPr lang="mn-MN" sz="3200" b="1" dirty="0">
                <a:solidFill>
                  <a:srgbClr val="002060"/>
                </a:solidFill>
                <a:latin typeface="Times New Roman" panose="02020603050405020304" pitchFamily="18" charset="0"/>
                <a:cs typeface="Times New Roman" panose="02020603050405020304" pitchFamily="18" charset="0"/>
              </a:rPr>
              <a:t>Бодит ханш (</a:t>
            </a:r>
            <a:r>
              <a:rPr lang="en-US" sz="3200" b="1" dirty="0">
                <a:solidFill>
                  <a:srgbClr val="002060"/>
                </a:solidFill>
                <a:latin typeface="Times New Roman" panose="02020603050405020304" pitchFamily="18" charset="0"/>
                <a:cs typeface="Times New Roman" panose="02020603050405020304" pitchFamily="18" charset="0"/>
              </a:rPr>
              <a:t>R$) </a:t>
            </a:r>
            <a:r>
              <a:rPr lang="mn-MN" sz="3200" dirty="0">
                <a:solidFill>
                  <a:srgbClr val="002060"/>
                </a:solidFill>
                <a:latin typeface="Times New Roman" panose="02020603050405020304" pitchFamily="18" charset="0"/>
                <a:cs typeface="Times New Roman" panose="02020603050405020304" pitchFamily="18" charset="0"/>
              </a:rPr>
              <a:t>нь ижил худалдан авах чадварыг тухайн цаг хугацаанаас хамааруулан илэрхийлсэн ханш буюу бүтээгдэхүүн, үйлчилгээг худалдан авагчдын төлж буй бодит мөнгөний тоо хэмжээ юм. </a:t>
            </a:r>
          </a:p>
          <a:p>
            <a:pPr lvl="1" algn="just"/>
            <a:r>
              <a:rPr lang="mn-MN" sz="2800" dirty="0">
                <a:solidFill>
                  <a:srgbClr val="002060"/>
                </a:solidFill>
                <a:latin typeface="Times New Roman" panose="02020603050405020304" pitchFamily="18" charset="0"/>
                <a:cs typeface="Times New Roman" panose="02020603050405020304" pitchFamily="18" charset="0"/>
              </a:rPr>
              <a:t>Өөрөөр хэлбэл, </a:t>
            </a:r>
            <a:r>
              <a:rPr lang="mn-MN" sz="2800" b="1" dirty="0">
                <a:solidFill>
                  <a:srgbClr val="002060"/>
                </a:solidFill>
                <a:latin typeface="Times New Roman" panose="02020603050405020304" pitchFamily="18" charset="0"/>
                <a:cs typeface="Times New Roman" panose="02020603050405020304" pitchFamily="18" charset="0"/>
              </a:rPr>
              <a:t>инфляц болон дефляцийн нөлөөг тооцсон мөнгийг бодит ханш (</a:t>
            </a:r>
            <a:r>
              <a:rPr lang="en-US" sz="2800" b="1" dirty="0">
                <a:solidFill>
                  <a:srgbClr val="002060"/>
                </a:solidFill>
                <a:latin typeface="Times New Roman" panose="02020603050405020304" pitchFamily="18" charset="0"/>
                <a:cs typeface="Times New Roman" panose="02020603050405020304" pitchFamily="18" charset="0"/>
              </a:rPr>
              <a:t>R$) </a:t>
            </a:r>
            <a:r>
              <a:rPr lang="mn-MN" sz="2800" b="1" dirty="0">
                <a:solidFill>
                  <a:srgbClr val="002060"/>
                </a:solidFill>
                <a:latin typeface="Times New Roman" panose="02020603050405020304" pitchFamily="18" charset="0"/>
                <a:cs typeface="Times New Roman" panose="02020603050405020304" pitchFamily="18" charset="0"/>
              </a:rPr>
              <a:t>гэдэг. </a:t>
            </a:r>
            <a:r>
              <a:rPr lang="mn-MN" sz="2800" dirty="0">
                <a:solidFill>
                  <a:srgbClr val="002060"/>
                </a:solidFill>
                <a:latin typeface="Times New Roman" panose="02020603050405020304" pitchFamily="18" charset="0"/>
                <a:cs typeface="Times New Roman" panose="02020603050405020304" pitchFamily="18" charset="0"/>
              </a:rPr>
              <a:t>Заримдаа </a:t>
            </a:r>
            <a:r>
              <a:rPr lang="en-US" sz="2800" dirty="0">
                <a:solidFill>
                  <a:srgbClr val="002060"/>
                </a:solidFill>
                <a:latin typeface="Times New Roman" panose="02020603050405020304" pitchFamily="18" charset="0"/>
                <a:cs typeface="Times New Roman" panose="02020603050405020304" pitchFamily="18" charset="0"/>
              </a:rPr>
              <a:t>R$ -</a:t>
            </a:r>
            <a:r>
              <a:rPr lang="mn-MN" sz="2800" dirty="0">
                <a:solidFill>
                  <a:srgbClr val="002060"/>
                </a:solidFill>
                <a:latin typeface="Times New Roman" panose="02020603050405020304" pitchFamily="18" charset="0"/>
                <a:cs typeface="Times New Roman" panose="02020603050405020304" pitchFamily="18" charset="0"/>
              </a:rPr>
              <a:t>ийг </a:t>
            </a:r>
            <a:r>
              <a:rPr lang="mn-MN" sz="2800" b="1" dirty="0">
                <a:solidFill>
                  <a:srgbClr val="002060"/>
                </a:solidFill>
                <a:latin typeface="Times New Roman" panose="02020603050405020304" pitchFamily="18" charset="0"/>
                <a:cs typeface="Times New Roman" panose="02020603050405020304" pitchFamily="18" charset="0"/>
              </a:rPr>
              <a:t>тогтмол ханш </a:t>
            </a:r>
            <a:r>
              <a:rPr lang="mn-MN" sz="2800" dirty="0">
                <a:solidFill>
                  <a:srgbClr val="002060"/>
                </a:solidFill>
                <a:latin typeface="Times New Roman" panose="02020603050405020304" pitchFamily="18" charset="0"/>
                <a:cs typeface="Times New Roman" panose="02020603050405020304" pitchFamily="18" charset="0"/>
              </a:rPr>
              <a:t>гэдэг. </a:t>
            </a:r>
          </a:p>
        </p:txBody>
      </p:sp>
    </p:spTree>
    <p:extLst>
      <p:ext uri="{BB962C8B-B14F-4D97-AF65-F5344CB8AC3E}">
        <p14:creationId xmlns:p14="http://schemas.microsoft.com/office/powerpoint/2010/main" val="23104926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90C9-7867-B2FE-DDC6-6022E983749C}"/>
              </a:ext>
            </a:extLst>
          </p:cNvPr>
          <p:cNvSpPr>
            <a:spLocks noGrp="1"/>
          </p:cNvSpPr>
          <p:nvPr>
            <p:ph type="title"/>
          </p:nvPr>
        </p:nvSpPr>
        <p:spPr>
          <a:xfrm>
            <a:off x="183930" y="85581"/>
            <a:ext cx="11792607" cy="403150"/>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Нэрлэсэн ба бодит ханш, тэдгээрийн хоорондын хамаарал</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C3AA2E-97A2-A89D-432B-6E4BA7E5AC03}"/>
                  </a:ext>
                </a:extLst>
              </p:cNvPr>
              <p:cNvSpPr>
                <a:spLocks noGrp="1"/>
              </p:cNvSpPr>
              <p:nvPr>
                <p:ph idx="1"/>
              </p:nvPr>
            </p:nvSpPr>
            <p:spPr>
              <a:xfrm>
                <a:off x="183930" y="488731"/>
                <a:ext cx="11792607" cy="5990897"/>
              </a:xfrm>
            </p:spPr>
            <p:txBody>
              <a:bodyPr>
                <a:normAutofit fontScale="77500" lnSpcReduction="20000"/>
              </a:bodyPr>
              <a:lstStyle/>
              <a:p>
                <a:pPr algn="just">
                  <a:lnSpc>
                    <a:spcPct val="110000"/>
                  </a:lnSpc>
                  <a:spcBef>
                    <a:spcPts val="400"/>
                  </a:spcBef>
                </a:pPr>
                <a:r>
                  <a:rPr lang="mn-MN" dirty="0">
                    <a:solidFill>
                      <a:srgbClr val="002060"/>
                    </a:solidFill>
                    <a:latin typeface="Times New Roman" panose="02020603050405020304" pitchFamily="18" charset="0"/>
                    <a:cs typeface="Times New Roman" panose="02020603050405020304" pitchFamily="18" charset="0"/>
                  </a:rPr>
                  <a:t>Нэрлэсэн ханш (А$) болон бодит ханш (</a:t>
                </a:r>
                <a:r>
                  <a:rPr lang="en-US" dirty="0">
                    <a:solidFill>
                      <a:srgbClr val="002060"/>
                    </a:solidFill>
                    <a:latin typeface="Times New Roman" panose="02020603050405020304" pitchFamily="18" charset="0"/>
                    <a:cs typeface="Times New Roman" panose="02020603050405020304" pitchFamily="18" charset="0"/>
                  </a:rPr>
                  <a:t>R$)-</a:t>
                </a:r>
                <a:r>
                  <a:rPr lang="mn-MN" dirty="0">
                    <a:solidFill>
                      <a:srgbClr val="002060"/>
                    </a:solidFill>
                    <a:latin typeface="Times New Roman" panose="02020603050405020304" pitchFamily="18" charset="0"/>
                    <a:cs typeface="Times New Roman" panose="02020603050405020304" pitchFamily="18" charset="0"/>
                  </a:rPr>
                  <a:t>ийн хоорондын хамаарал ерөнхий үнийн инфляц (эсвэл дефляц)-ын түвшин </a:t>
                </a:r>
                <a:r>
                  <a:rPr lang="en-US"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r>
                      <a:rPr lang="en-US" i="1" dirty="0" smtClean="0">
                        <a:solidFill>
                          <a:srgbClr val="002060"/>
                        </a:solidFill>
                        <a:latin typeface="Cambria Math" panose="02040503050406030204" pitchFamily="18" charset="0"/>
                      </a:rPr>
                      <m:t>𝑓</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ээр тодорхойлогдох ба </a:t>
                </a:r>
                <a14:m>
                  <m:oMath xmlns:m="http://schemas.openxmlformats.org/officeDocument/2006/math">
                    <m:r>
                      <a:rPr lang="en-US" i="1" dirty="0" smtClean="0">
                        <a:solidFill>
                          <a:srgbClr val="002060"/>
                        </a:solidFill>
                        <a:latin typeface="Cambria Math" panose="02040503050406030204" pitchFamily="18" charset="0"/>
                      </a:rPr>
                      <m:t>𝑓</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ээс хамаарсан функц байна.</a:t>
                </a:r>
              </a:p>
              <a:p>
                <a:pPr algn="just">
                  <a:lnSpc>
                    <a:spcPct val="110000"/>
                  </a:lnSpc>
                  <a:spcBef>
                    <a:spcPts val="400"/>
                  </a:spcBef>
                </a:pPr>
                <a:r>
                  <a:rPr lang="mn-MN" dirty="0">
                    <a:solidFill>
                      <a:srgbClr val="002060"/>
                    </a:solidFill>
                    <a:latin typeface="Times New Roman" panose="02020603050405020304" pitchFamily="18" charset="0"/>
                    <a:cs typeface="Times New Roman" panose="02020603050405020304" pitchFamily="18" charset="0"/>
                  </a:rPr>
                  <a:t>Дурын </a:t>
                </a:r>
                <a14:m>
                  <m:oMath xmlns:m="http://schemas.openxmlformats.org/officeDocument/2006/math">
                    <m:r>
                      <a:rPr lang="en-US" i="1" dirty="0" smtClean="0">
                        <a:solidFill>
                          <a:srgbClr val="002060"/>
                        </a:solidFill>
                        <a:latin typeface="Cambria Math" panose="02040503050406030204" pitchFamily="18" charset="0"/>
                      </a:rPr>
                      <m:t>𝑘</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хугацааны (тухайлбал, 1 жил) үе дэх нэрлэсэн ханш нь дурын үндсэн үе </a:t>
                </a:r>
                <a14:m>
                  <m:oMath xmlns:m="http://schemas.openxmlformats.org/officeDocument/2006/math">
                    <m:r>
                      <a:rPr lang="en-US" i="1" dirty="0" smtClean="0">
                        <a:solidFill>
                          <a:srgbClr val="002060"/>
                        </a:solidFill>
                        <a:latin typeface="Cambria Math" panose="02040503050406030204" pitchFamily="18" charset="0"/>
                      </a:rPr>
                      <m:t>𝑏</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дэх зах зээлийн тогтмол худалдан авах чадвартай бодит ханшид хөрвөж чадах ба өгөгдсөн </a:t>
                </a:r>
                <a14:m>
                  <m:oMath xmlns:m="http://schemas.openxmlformats.org/officeDocument/2006/math">
                    <m:r>
                      <a:rPr lang="en-US" i="1" dirty="0" smtClean="0">
                        <a:solidFill>
                          <a:srgbClr val="002060"/>
                        </a:solidFill>
                        <a:latin typeface="Cambria Math" panose="02040503050406030204" pitchFamily="18" charset="0"/>
                      </a:rPr>
                      <m:t>𝑏</m:t>
                    </m:r>
                  </m:oMath>
                </a14:m>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ийн утганд дараах хамаарлаар тодорхойлно:</a:t>
                </a:r>
              </a:p>
              <a:p>
                <a:pPr marL="0" indent="0" algn="just">
                  <a:lnSpc>
                    <a:spcPct val="110000"/>
                  </a:lnSpc>
                  <a:spcBef>
                    <a:spcPts val="400"/>
                  </a:spcBef>
                  <a:buNone/>
                </a:pPr>
                <a14:m>
                  <m:oMathPara xmlns:m="http://schemas.openxmlformats.org/officeDocument/2006/math">
                    <m:oMathParaPr>
                      <m:jc m:val="center"/>
                    </m:oMathParaPr>
                    <m:oMath xmlns:m="http://schemas.openxmlformats.org/officeDocument/2006/math">
                      <m:sSub>
                        <m:sSubPr>
                          <m:ctrlPr>
                            <a:rPr lang="en-US" sz="4100" i="1" smtClean="0">
                              <a:solidFill>
                                <a:srgbClr val="FF0000"/>
                              </a:solidFill>
                              <a:latin typeface="Cambria Math" panose="02040503050406030204" pitchFamily="18" charset="0"/>
                            </a:rPr>
                          </m:ctrlPr>
                        </m:sSubPr>
                        <m:e>
                          <m:d>
                            <m:dPr>
                              <m:ctrlPr>
                                <a:rPr lang="en-US" sz="4100" i="1">
                                  <a:solidFill>
                                    <a:srgbClr val="FF0000"/>
                                  </a:solidFill>
                                  <a:latin typeface="Cambria Math" panose="02040503050406030204" pitchFamily="18" charset="0"/>
                                </a:rPr>
                              </m:ctrlPr>
                            </m:dPr>
                            <m:e>
                              <m:r>
                                <a:rPr lang="en-US" sz="4100" i="1">
                                  <a:solidFill>
                                    <a:srgbClr val="FF0000"/>
                                  </a:solidFill>
                                  <a:latin typeface="Cambria Math" panose="02040503050406030204" pitchFamily="18" charset="0"/>
                                </a:rPr>
                                <m:t>𝑅</m:t>
                              </m:r>
                              <m:r>
                                <a:rPr lang="en-US" sz="4100" i="1">
                                  <a:solidFill>
                                    <a:srgbClr val="FF0000"/>
                                  </a:solidFill>
                                  <a:latin typeface="Cambria Math" panose="02040503050406030204" pitchFamily="18" charset="0"/>
                                </a:rPr>
                                <m:t>$</m:t>
                              </m:r>
                            </m:e>
                          </m:d>
                        </m:e>
                        <m:sub>
                          <m:r>
                            <a:rPr lang="mn-MN" sz="4100" i="1">
                              <a:solidFill>
                                <a:srgbClr val="FF0000"/>
                              </a:solidFill>
                              <a:latin typeface="Cambria Math" panose="02040503050406030204" pitchFamily="18" charset="0"/>
                            </a:rPr>
                            <m:t>𝑘</m:t>
                          </m:r>
                        </m:sub>
                      </m:sSub>
                      <m:r>
                        <a:rPr lang="mn-MN" sz="4100" i="1">
                          <a:solidFill>
                            <a:srgbClr val="FF0000"/>
                          </a:solidFill>
                          <a:latin typeface="Cambria Math" panose="02040503050406030204" pitchFamily="18" charset="0"/>
                        </a:rPr>
                        <m:t>=</m:t>
                      </m:r>
                      <m:sSub>
                        <m:sSubPr>
                          <m:ctrlPr>
                            <a:rPr lang="en-US" sz="4100" i="1">
                              <a:solidFill>
                                <a:srgbClr val="FF0000"/>
                              </a:solidFill>
                              <a:latin typeface="Cambria Math" panose="02040503050406030204" pitchFamily="18" charset="0"/>
                            </a:rPr>
                          </m:ctrlPr>
                        </m:sSubPr>
                        <m:e>
                          <m:d>
                            <m:dPr>
                              <m:ctrlPr>
                                <a:rPr lang="en-US" sz="4100" i="1">
                                  <a:solidFill>
                                    <a:srgbClr val="FF0000"/>
                                  </a:solidFill>
                                  <a:latin typeface="Cambria Math" panose="02040503050406030204" pitchFamily="18" charset="0"/>
                                </a:rPr>
                              </m:ctrlPr>
                            </m:dPr>
                            <m:e>
                              <m:r>
                                <a:rPr lang="en-US" sz="4100" i="1">
                                  <a:solidFill>
                                    <a:srgbClr val="FF0000"/>
                                  </a:solidFill>
                                  <a:latin typeface="Cambria Math" panose="02040503050406030204" pitchFamily="18" charset="0"/>
                                </a:rPr>
                                <m:t>𝐴</m:t>
                              </m:r>
                              <m:r>
                                <a:rPr lang="en-US" sz="4100" i="1">
                                  <a:solidFill>
                                    <a:srgbClr val="FF0000"/>
                                  </a:solidFill>
                                  <a:latin typeface="Cambria Math" panose="02040503050406030204" pitchFamily="18" charset="0"/>
                                </a:rPr>
                                <m:t>$</m:t>
                              </m:r>
                            </m:e>
                          </m:d>
                        </m:e>
                        <m:sub>
                          <m:r>
                            <a:rPr lang="mn-MN" sz="4100" i="1">
                              <a:solidFill>
                                <a:srgbClr val="FF0000"/>
                              </a:solidFill>
                              <a:latin typeface="Cambria Math" panose="02040503050406030204" pitchFamily="18" charset="0"/>
                            </a:rPr>
                            <m:t>𝑘</m:t>
                          </m:r>
                        </m:sub>
                      </m:sSub>
                      <m:sSup>
                        <m:sSupPr>
                          <m:ctrlPr>
                            <a:rPr lang="en-US" sz="4100" i="1">
                              <a:solidFill>
                                <a:srgbClr val="FF0000"/>
                              </a:solidFill>
                              <a:latin typeface="Cambria Math" panose="02040503050406030204" pitchFamily="18" charset="0"/>
                            </a:rPr>
                          </m:ctrlPr>
                        </m:sSupPr>
                        <m:e>
                          <m:d>
                            <m:dPr>
                              <m:ctrlPr>
                                <a:rPr lang="en-US" sz="4100" i="1">
                                  <a:solidFill>
                                    <a:srgbClr val="FF0000"/>
                                  </a:solidFill>
                                  <a:latin typeface="Cambria Math" panose="02040503050406030204" pitchFamily="18" charset="0"/>
                                </a:rPr>
                              </m:ctrlPr>
                            </m:dPr>
                            <m:e>
                              <m:f>
                                <m:fPr>
                                  <m:ctrlPr>
                                    <a:rPr lang="en-US" sz="4100" i="1">
                                      <a:solidFill>
                                        <a:srgbClr val="FF0000"/>
                                      </a:solidFill>
                                      <a:latin typeface="Cambria Math" panose="02040503050406030204" pitchFamily="18" charset="0"/>
                                    </a:rPr>
                                  </m:ctrlPr>
                                </m:fPr>
                                <m:num>
                                  <m:r>
                                    <a:rPr lang="mn-MN" sz="4100" i="1">
                                      <a:solidFill>
                                        <a:srgbClr val="FF0000"/>
                                      </a:solidFill>
                                      <a:latin typeface="Cambria Math" panose="02040503050406030204" pitchFamily="18" charset="0"/>
                                    </a:rPr>
                                    <m:t>1</m:t>
                                  </m:r>
                                </m:num>
                                <m:den>
                                  <m:r>
                                    <a:rPr lang="mn-MN" sz="4100" i="1">
                                      <a:solidFill>
                                        <a:srgbClr val="FF0000"/>
                                      </a:solidFill>
                                      <a:latin typeface="Cambria Math" panose="02040503050406030204" pitchFamily="18" charset="0"/>
                                    </a:rPr>
                                    <m:t>1+</m:t>
                                  </m:r>
                                  <m:r>
                                    <a:rPr lang="mn-MN" sz="4100" i="1">
                                      <a:solidFill>
                                        <a:srgbClr val="FF0000"/>
                                      </a:solidFill>
                                      <a:latin typeface="Cambria Math" panose="02040503050406030204" pitchFamily="18" charset="0"/>
                                    </a:rPr>
                                    <m:t>𝑓</m:t>
                                  </m:r>
                                </m:den>
                              </m:f>
                            </m:e>
                          </m:d>
                        </m:e>
                        <m:sup>
                          <m:r>
                            <a:rPr lang="mn-MN" sz="4100" i="1">
                              <a:solidFill>
                                <a:srgbClr val="FF0000"/>
                              </a:solidFill>
                              <a:latin typeface="Cambria Math" panose="02040503050406030204" pitchFamily="18" charset="0"/>
                            </a:rPr>
                            <m:t>𝑘</m:t>
                          </m:r>
                          <m:r>
                            <a:rPr lang="mn-MN" sz="4100" i="1">
                              <a:solidFill>
                                <a:srgbClr val="FF0000"/>
                              </a:solidFill>
                              <a:latin typeface="Cambria Math" panose="02040503050406030204" pitchFamily="18" charset="0"/>
                            </a:rPr>
                            <m:t>−</m:t>
                          </m:r>
                          <m:r>
                            <a:rPr lang="mn-MN" sz="4100" i="1">
                              <a:solidFill>
                                <a:srgbClr val="FF0000"/>
                              </a:solidFill>
                              <a:latin typeface="Cambria Math" panose="02040503050406030204" pitchFamily="18" charset="0"/>
                            </a:rPr>
                            <m:t>𝑏</m:t>
                          </m:r>
                        </m:sup>
                      </m:sSup>
                      <m:r>
                        <a:rPr lang="mn-MN" sz="4100" i="1">
                          <a:solidFill>
                            <a:srgbClr val="FF0000"/>
                          </a:solidFill>
                          <a:latin typeface="Cambria Math" panose="02040503050406030204" pitchFamily="18" charset="0"/>
                        </a:rPr>
                        <m:t>=</m:t>
                      </m:r>
                      <m:sSub>
                        <m:sSubPr>
                          <m:ctrlPr>
                            <a:rPr lang="en-US" sz="4100" i="1">
                              <a:solidFill>
                                <a:srgbClr val="FF0000"/>
                              </a:solidFill>
                              <a:latin typeface="Cambria Math" panose="02040503050406030204" pitchFamily="18" charset="0"/>
                            </a:rPr>
                          </m:ctrlPr>
                        </m:sSubPr>
                        <m:e>
                          <m:d>
                            <m:dPr>
                              <m:ctrlPr>
                                <a:rPr lang="en-US" sz="4100" i="1">
                                  <a:solidFill>
                                    <a:srgbClr val="FF0000"/>
                                  </a:solidFill>
                                  <a:latin typeface="Cambria Math" panose="02040503050406030204" pitchFamily="18" charset="0"/>
                                </a:rPr>
                              </m:ctrlPr>
                            </m:dPr>
                            <m:e>
                              <m:r>
                                <a:rPr lang="en-US" sz="4100" i="1">
                                  <a:solidFill>
                                    <a:srgbClr val="FF0000"/>
                                  </a:solidFill>
                                  <a:latin typeface="Cambria Math" panose="02040503050406030204" pitchFamily="18" charset="0"/>
                                </a:rPr>
                                <m:t>𝐴</m:t>
                              </m:r>
                              <m:r>
                                <a:rPr lang="en-US" sz="4100" i="1">
                                  <a:solidFill>
                                    <a:srgbClr val="FF0000"/>
                                  </a:solidFill>
                                  <a:latin typeface="Cambria Math" panose="02040503050406030204" pitchFamily="18" charset="0"/>
                                </a:rPr>
                                <m:t>$</m:t>
                              </m:r>
                            </m:e>
                          </m:d>
                        </m:e>
                        <m:sub>
                          <m:r>
                            <a:rPr lang="mn-MN" sz="4100" i="1">
                              <a:solidFill>
                                <a:srgbClr val="FF0000"/>
                              </a:solidFill>
                              <a:latin typeface="Cambria Math" panose="02040503050406030204" pitchFamily="18" charset="0"/>
                            </a:rPr>
                            <m:t>𝑘</m:t>
                          </m:r>
                        </m:sub>
                      </m:sSub>
                      <m:d>
                        <m:dPr>
                          <m:ctrlPr>
                            <a:rPr lang="en-US" sz="4100" i="1">
                              <a:solidFill>
                                <a:srgbClr val="FF0000"/>
                              </a:solidFill>
                              <a:latin typeface="Cambria Math" panose="02040503050406030204" pitchFamily="18" charset="0"/>
                            </a:rPr>
                          </m:ctrlPr>
                        </m:dPr>
                        <m:e>
                          <m:f>
                            <m:fPr>
                              <m:type m:val="lin"/>
                              <m:ctrlPr>
                                <a:rPr lang="en-US" sz="4100" i="1">
                                  <a:solidFill>
                                    <a:srgbClr val="FF0000"/>
                                  </a:solidFill>
                                  <a:latin typeface="Cambria Math" panose="02040503050406030204" pitchFamily="18" charset="0"/>
                                </a:rPr>
                              </m:ctrlPr>
                            </m:fPr>
                            <m:num>
                              <m:r>
                                <a:rPr lang="mn-MN" sz="4100" i="1">
                                  <a:solidFill>
                                    <a:srgbClr val="FF0000"/>
                                  </a:solidFill>
                                  <a:latin typeface="Cambria Math" panose="02040503050406030204" pitchFamily="18" charset="0"/>
                                </a:rPr>
                                <m:t>𝑃</m:t>
                              </m:r>
                            </m:num>
                            <m:den>
                              <m:r>
                                <a:rPr lang="mn-MN" sz="4100" i="1">
                                  <a:solidFill>
                                    <a:srgbClr val="FF0000"/>
                                  </a:solidFill>
                                  <a:latin typeface="Cambria Math" panose="02040503050406030204" pitchFamily="18" charset="0"/>
                                </a:rPr>
                                <m:t>𝐹</m:t>
                              </m:r>
                            </m:den>
                          </m:f>
                          <m:r>
                            <a:rPr lang="mn-MN" sz="4100" i="1">
                              <a:solidFill>
                                <a:srgbClr val="FF0000"/>
                              </a:solidFill>
                              <a:latin typeface="Cambria Math" panose="02040503050406030204" pitchFamily="18" charset="0"/>
                            </a:rPr>
                            <m:t>, </m:t>
                          </m:r>
                          <m:r>
                            <a:rPr lang="mn-MN" sz="4100" i="1">
                              <a:solidFill>
                                <a:srgbClr val="FF0000"/>
                              </a:solidFill>
                              <a:latin typeface="Cambria Math" panose="02040503050406030204" pitchFamily="18" charset="0"/>
                            </a:rPr>
                            <m:t>𝑓</m:t>
                          </m:r>
                          <m:r>
                            <a:rPr lang="mn-MN" sz="4100" i="1">
                              <a:solidFill>
                                <a:srgbClr val="FF0000"/>
                              </a:solidFill>
                              <a:latin typeface="Cambria Math" panose="02040503050406030204" pitchFamily="18" charset="0"/>
                            </a:rPr>
                            <m:t>%, </m:t>
                          </m:r>
                          <m:r>
                            <a:rPr lang="mn-MN" sz="4100" i="1">
                              <a:solidFill>
                                <a:srgbClr val="FF0000"/>
                              </a:solidFill>
                              <a:latin typeface="Cambria Math" panose="02040503050406030204" pitchFamily="18" charset="0"/>
                            </a:rPr>
                            <m:t>𝑘</m:t>
                          </m:r>
                          <m:r>
                            <a:rPr lang="mn-MN" sz="4100" i="1">
                              <a:solidFill>
                                <a:srgbClr val="FF0000"/>
                              </a:solidFill>
                              <a:latin typeface="Cambria Math" panose="02040503050406030204" pitchFamily="18" charset="0"/>
                            </a:rPr>
                            <m:t>−</m:t>
                          </m:r>
                          <m:r>
                            <a:rPr lang="mn-MN" sz="4100" i="1">
                              <a:solidFill>
                                <a:srgbClr val="FF0000"/>
                              </a:solidFill>
                              <a:latin typeface="Cambria Math" panose="02040503050406030204" pitchFamily="18" charset="0"/>
                            </a:rPr>
                            <m:t>𝑏</m:t>
                          </m:r>
                        </m:e>
                      </m:d>
                    </m:oMath>
                  </m:oMathPara>
                </a14:m>
                <a:endParaRPr lang="mn-MN" sz="4100" dirty="0">
                  <a:solidFill>
                    <a:srgbClr val="FF0000"/>
                  </a:solidFill>
                  <a:latin typeface="Times New Roman" panose="02020603050405020304" pitchFamily="18" charset="0"/>
                  <a:cs typeface="Times New Roman" panose="02020603050405020304" pitchFamily="18" charset="0"/>
                </a:endParaRPr>
              </a:p>
              <a:p>
                <a:pPr algn="just">
                  <a:lnSpc>
                    <a:spcPct val="110000"/>
                  </a:lnSpc>
                  <a:spcBef>
                    <a:spcPts val="400"/>
                  </a:spcBef>
                </a:pPr>
                <a:r>
                  <a:rPr lang="mn-MN" dirty="0">
                    <a:solidFill>
                      <a:srgbClr val="002060"/>
                    </a:solidFill>
                    <a:latin typeface="Times New Roman" panose="02020603050405020304" pitchFamily="18" charset="0"/>
                    <a:cs typeface="Times New Roman" panose="02020603050405020304" pitchFamily="18" charset="0"/>
                  </a:rPr>
                  <a:t>Нэрлэсэн ханш болон бодит ханш хоорондын энэ хамаарлыг нэгжийн үнэ, эсвэл бие даасан бүтээгдэхүүн/үйлчилгээний тогтмол зардалд хэрэглэдэг ба инженерчлэлийн төсөлд хамаарах бие даасан мөнгөн урсгалыг боловсруулах (тооцоолоход)-д ашигладаг.</a:t>
                </a:r>
              </a:p>
              <a:p>
                <a:pPr algn="just">
                  <a:lnSpc>
                    <a:spcPct val="110000"/>
                  </a:lnSpc>
                  <a:spcBef>
                    <a:spcPts val="400"/>
                  </a:spcBef>
                </a:pPr>
                <a:r>
                  <a:rPr lang="mn-MN" dirty="0">
                    <a:solidFill>
                      <a:srgbClr val="002060"/>
                    </a:solidFill>
                    <a:latin typeface="Times New Roman" panose="02020603050405020304" pitchFamily="18" charset="0"/>
                    <a:cs typeface="Times New Roman" panose="02020603050405020304" pitchFamily="18" charset="0"/>
                  </a:rPr>
                  <a:t>Мөнгөн урсгалын тодорхой </a:t>
                </a:r>
                <a14:m>
                  <m:oMath xmlns:m="http://schemas.openxmlformats.org/officeDocument/2006/math">
                    <m:r>
                      <a:rPr lang="en-US" i="1" dirty="0" smtClean="0">
                        <a:solidFill>
                          <a:srgbClr val="002060"/>
                        </a:solidFill>
                        <a:latin typeface="Cambria Math" panose="02040503050406030204" pitchFamily="18" charset="0"/>
                      </a:rPr>
                      <m:t>𝑗</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төрлийн загвар нь өгөгдсөн </a:t>
                </a:r>
                <a14:m>
                  <m:oMath xmlns:m="http://schemas.openxmlformats.org/officeDocument/2006/math">
                    <m:r>
                      <a:rPr lang="en-US" i="1" dirty="0" smtClean="0">
                        <a:solidFill>
                          <a:srgbClr val="002060"/>
                        </a:solidFill>
                        <a:latin typeface="Cambria Math" panose="02040503050406030204" pitchFamily="18" charset="0"/>
                      </a:rPr>
                      <m:t>𝑏</m:t>
                    </m:r>
                  </m:oMath>
                </a14:m>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ийн хувьд дараах хэлбэрээр илэрхийлэгдэнэ:</a:t>
                </a:r>
              </a:p>
              <a:p>
                <a:pPr marL="0" indent="0" algn="just">
                  <a:lnSpc>
                    <a:spcPct val="110000"/>
                  </a:lnSpc>
                  <a:spcBef>
                    <a:spcPts val="400"/>
                  </a:spcBef>
                  <a:buNone/>
                </a:pPr>
                <a14:m>
                  <m:oMathPara xmlns:m="http://schemas.openxmlformats.org/officeDocument/2006/math">
                    <m:oMathParaPr>
                      <m:jc m:val="center"/>
                    </m:oMathParaPr>
                    <m:oMath xmlns:m="http://schemas.openxmlformats.org/officeDocument/2006/math">
                      <m:sSub>
                        <m:sSubPr>
                          <m:ctrlPr>
                            <a:rPr lang="en-US" sz="4100" i="1" smtClean="0">
                              <a:solidFill>
                                <a:srgbClr val="FF0000"/>
                              </a:solidFill>
                              <a:latin typeface="Cambria Math" panose="02040503050406030204" pitchFamily="18" charset="0"/>
                            </a:rPr>
                          </m:ctrlPr>
                        </m:sSubPr>
                        <m:e>
                          <m:d>
                            <m:dPr>
                              <m:ctrlPr>
                                <a:rPr lang="en-US" sz="4100" i="1">
                                  <a:solidFill>
                                    <a:srgbClr val="FF0000"/>
                                  </a:solidFill>
                                  <a:latin typeface="Cambria Math" panose="02040503050406030204" pitchFamily="18" charset="0"/>
                                </a:rPr>
                              </m:ctrlPr>
                            </m:dPr>
                            <m:e>
                              <m:r>
                                <a:rPr lang="en-US" sz="4100" i="1">
                                  <a:solidFill>
                                    <a:srgbClr val="FF0000"/>
                                  </a:solidFill>
                                  <a:latin typeface="Cambria Math" panose="02040503050406030204" pitchFamily="18" charset="0"/>
                                </a:rPr>
                                <m:t>𝑅</m:t>
                              </m:r>
                              <m:r>
                                <a:rPr lang="en-US" sz="4100" i="1">
                                  <a:solidFill>
                                    <a:srgbClr val="FF0000"/>
                                  </a:solidFill>
                                  <a:latin typeface="Cambria Math" panose="02040503050406030204" pitchFamily="18" charset="0"/>
                                </a:rPr>
                                <m:t>$</m:t>
                              </m:r>
                            </m:e>
                          </m:d>
                        </m:e>
                        <m:sub>
                          <m:r>
                            <a:rPr lang="mn-MN" sz="4100" i="1">
                              <a:solidFill>
                                <a:srgbClr val="FF0000"/>
                              </a:solidFill>
                              <a:latin typeface="Cambria Math" panose="02040503050406030204" pitchFamily="18" charset="0"/>
                            </a:rPr>
                            <m:t>𝑘</m:t>
                          </m:r>
                          <m:r>
                            <a:rPr lang="en-US" sz="4100" i="1">
                              <a:solidFill>
                                <a:srgbClr val="FF0000"/>
                              </a:solidFill>
                              <a:latin typeface="Cambria Math" panose="02040503050406030204" pitchFamily="18" charset="0"/>
                            </a:rPr>
                            <m:t>,</m:t>
                          </m:r>
                          <m:r>
                            <a:rPr lang="en-US" sz="4100" i="1">
                              <a:solidFill>
                                <a:srgbClr val="FF0000"/>
                              </a:solidFill>
                              <a:latin typeface="Cambria Math" panose="02040503050406030204" pitchFamily="18" charset="0"/>
                            </a:rPr>
                            <m:t>𝑗</m:t>
                          </m:r>
                        </m:sub>
                      </m:sSub>
                      <m:r>
                        <a:rPr lang="mn-MN" sz="4100" i="1">
                          <a:solidFill>
                            <a:srgbClr val="FF0000"/>
                          </a:solidFill>
                          <a:latin typeface="Cambria Math" panose="02040503050406030204" pitchFamily="18" charset="0"/>
                        </a:rPr>
                        <m:t>=</m:t>
                      </m:r>
                      <m:sSub>
                        <m:sSubPr>
                          <m:ctrlPr>
                            <a:rPr lang="en-US" sz="4100" i="1">
                              <a:solidFill>
                                <a:srgbClr val="FF0000"/>
                              </a:solidFill>
                              <a:latin typeface="Cambria Math" panose="02040503050406030204" pitchFamily="18" charset="0"/>
                            </a:rPr>
                          </m:ctrlPr>
                        </m:sSubPr>
                        <m:e>
                          <m:d>
                            <m:dPr>
                              <m:ctrlPr>
                                <a:rPr lang="en-US" sz="4100" i="1">
                                  <a:solidFill>
                                    <a:srgbClr val="FF0000"/>
                                  </a:solidFill>
                                  <a:latin typeface="Cambria Math" panose="02040503050406030204" pitchFamily="18" charset="0"/>
                                </a:rPr>
                              </m:ctrlPr>
                            </m:dPr>
                            <m:e>
                              <m:r>
                                <a:rPr lang="en-US" sz="4100" i="1">
                                  <a:solidFill>
                                    <a:srgbClr val="FF0000"/>
                                  </a:solidFill>
                                  <a:latin typeface="Cambria Math" panose="02040503050406030204" pitchFamily="18" charset="0"/>
                                </a:rPr>
                                <m:t>𝐴</m:t>
                              </m:r>
                              <m:r>
                                <a:rPr lang="en-US" sz="4100" i="1">
                                  <a:solidFill>
                                    <a:srgbClr val="FF0000"/>
                                  </a:solidFill>
                                  <a:latin typeface="Cambria Math" panose="02040503050406030204" pitchFamily="18" charset="0"/>
                                </a:rPr>
                                <m:t>$</m:t>
                              </m:r>
                            </m:e>
                          </m:d>
                        </m:e>
                        <m:sub>
                          <m:r>
                            <a:rPr lang="mn-MN" sz="4100" i="1">
                              <a:solidFill>
                                <a:srgbClr val="FF0000"/>
                              </a:solidFill>
                              <a:latin typeface="Cambria Math" panose="02040503050406030204" pitchFamily="18" charset="0"/>
                            </a:rPr>
                            <m:t>𝑘</m:t>
                          </m:r>
                          <m:r>
                            <a:rPr lang="mn-MN" sz="4100" i="1">
                              <a:solidFill>
                                <a:srgbClr val="FF0000"/>
                              </a:solidFill>
                              <a:latin typeface="Cambria Math" panose="02040503050406030204" pitchFamily="18" charset="0"/>
                            </a:rPr>
                            <m:t>,</m:t>
                          </m:r>
                          <m:r>
                            <a:rPr lang="mn-MN" sz="4100" i="1">
                              <a:solidFill>
                                <a:srgbClr val="FF0000"/>
                              </a:solidFill>
                              <a:latin typeface="Cambria Math" panose="02040503050406030204" pitchFamily="18" charset="0"/>
                            </a:rPr>
                            <m:t>𝑗</m:t>
                          </m:r>
                        </m:sub>
                      </m:sSub>
                      <m:sSup>
                        <m:sSupPr>
                          <m:ctrlPr>
                            <a:rPr lang="en-US" sz="4100" i="1">
                              <a:solidFill>
                                <a:srgbClr val="FF0000"/>
                              </a:solidFill>
                              <a:latin typeface="Cambria Math" panose="02040503050406030204" pitchFamily="18" charset="0"/>
                            </a:rPr>
                          </m:ctrlPr>
                        </m:sSupPr>
                        <m:e>
                          <m:d>
                            <m:dPr>
                              <m:ctrlPr>
                                <a:rPr lang="en-US" sz="4100" i="1">
                                  <a:solidFill>
                                    <a:srgbClr val="FF0000"/>
                                  </a:solidFill>
                                  <a:latin typeface="Cambria Math" panose="02040503050406030204" pitchFamily="18" charset="0"/>
                                </a:rPr>
                              </m:ctrlPr>
                            </m:dPr>
                            <m:e>
                              <m:f>
                                <m:fPr>
                                  <m:ctrlPr>
                                    <a:rPr lang="en-US" sz="4100" i="1">
                                      <a:solidFill>
                                        <a:srgbClr val="FF0000"/>
                                      </a:solidFill>
                                      <a:latin typeface="Cambria Math" panose="02040503050406030204" pitchFamily="18" charset="0"/>
                                    </a:rPr>
                                  </m:ctrlPr>
                                </m:fPr>
                                <m:num>
                                  <m:r>
                                    <a:rPr lang="mn-MN" sz="4100" i="1">
                                      <a:solidFill>
                                        <a:srgbClr val="FF0000"/>
                                      </a:solidFill>
                                      <a:latin typeface="Cambria Math" panose="02040503050406030204" pitchFamily="18" charset="0"/>
                                    </a:rPr>
                                    <m:t>1</m:t>
                                  </m:r>
                                </m:num>
                                <m:den>
                                  <m:r>
                                    <a:rPr lang="mn-MN" sz="4100" i="1">
                                      <a:solidFill>
                                        <a:srgbClr val="FF0000"/>
                                      </a:solidFill>
                                      <a:latin typeface="Cambria Math" panose="02040503050406030204" pitchFamily="18" charset="0"/>
                                    </a:rPr>
                                    <m:t>1+</m:t>
                                  </m:r>
                                  <m:r>
                                    <a:rPr lang="mn-MN" sz="4100" i="1">
                                      <a:solidFill>
                                        <a:srgbClr val="FF0000"/>
                                      </a:solidFill>
                                      <a:latin typeface="Cambria Math" panose="02040503050406030204" pitchFamily="18" charset="0"/>
                                    </a:rPr>
                                    <m:t>𝑓</m:t>
                                  </m:r>
                                </m:den>
                              </m:f>
                            </m:e>
                          </m:d>
                        </m:e>
                        <m:sup>
                          <m:r>
                            <a:rPr lang="mn-MN" sz="4100" i="1">
                              <a:solidFill>
                                <a:srgbClr val="FF0000"/>
                              </a:solidFill>
                              <a:latin typeface="Cambria Math" panose="02040503050406030204" pitchFamily="18" charset="0"/>
                            </a:rPr>
                            <m:t>𝑘</m:t>
                          </m:r>
                          <m:r>
                            <a:rPr lang="mn-MN" sz="4100" i="1">
                              <a:solidFill>
                                <a:srgbClr val="FF0000"/>
                              </a:solidFill>
                              <a:latin typeface="Cambria Math" panose="02040503050406030204" pitchFamily="18" charset="0"/>
                            </a:rPr>
                            <m:t>−</m:t>
                          </m:r>
                          <m:r>
                            <a:rPr lang="mn-MN" sz="4100" i="1">
                              <a:solidFill>
                                <a:srgbClr val="FF0000"/>
                              </a:solidFill>
                              <a:latin typeface="Cambria Math" panose="02040503050406030204" pitchFamily="18" charset="0"/>
                            </a:rPr>
                            <m:t>𝑏</m:t>
                          </m:r>
                        </m:sup>
                      </m:sSup>
                      <m:r>
                        <a:rPr lang="mn-MN" sz="4100" i="1">
                          <a:solidFill>
                            <a:srgbClr val="FF0000"/>
                          </a:solidFill>
                          <a:latin typeface="Cambria Math" panose="02040503050406030204" pitchFamily="18" charset="0"/>
                        </a:rPr>
                        <m:t>=</m:t>
                      </m:r>
                      <m:sSub>
                        <m:sSubPr>
                          <m:ctrlPr>
                            <a:rPr lang="en-US" sz="4100" i="1">
                              <a:solidFill>
                                <a:srgbClr val="FF0000"/>
                              </a:solidFill>
                              <a:latin typeface="Cambria Math" panose="02040503050406030204" pitchFamily="18" charset="0"/>
                            </a:rPr>
                          </m:ctrlPr>
                        </m:sSubPr>
                        <m:e>
                          <m:d>
                            <m:dPr>
                              <m:ctrlPr>
                                <a:rPr lang="en-US" sz="4100" i="1">
                                  <a:solidFill>
                                    <a:srgbClr val="FF0000"/>
                                  </a:solidFill>
                                  <a:latin typeface="Cambria Math" panose="02040503050406030204" pitchFamily="18" charset="0"/>
                                </a:rPr>
                              </m:ctrlPr>
                            </m:dPr>
                            <m:e>
                              <m:r>
                                <a:rPr lang="en-US" sz="4100" i="1">
                                  <a:solidFill>
                                    <a:srgbClr val="FF0000"/>
                                  </a:solidFill>
                                  <a:latin typeface="Cambria Math" panose="02040503050406030204" pitchFamily="18" charset="0"/>
                                </a:rPr>
                                <m:t>𝐴</m:t>
                              </m:r>
                              <m:r>
                                <a:rPr lang="en-US" sz="4100" i="1">
                                  <a:solidFill>
                                    <a:srgbClr val="FF0000"/>
                                  </a:solidFill>
                                  <a:latin typeface="Cambria Math" panose="02040503050406030204" pitchFamily="18" charset="0"/>
                                </a:rPr>
                                <m:t>$</m:t>
                              </m:r>
                            </m:e>
                          </m:d>
                        </m:e>
                        <m:sub>
                          <m:r>
                            <a:rPr lang="mn-MN" sz="4100" i="1">
                              <a:solidFill>
                                <a:srgbClr val="FF0000"/>
                              </a:solidFill>
                              <a:latin typeface="Cambria Math" panose="02040503050406030204" pitchFamily="18" charset="0"/>
                            </a:rPr>
                            <m:t>𝑘</m:t>
                          </m:r>
                          <m:r>
                            <a:rPr lang="mn-MN" sz="4100" i="1">
                              <a:solidFill>
                                <a:srgbClr val="FF0000"/>
                              </a:solidFill>
                              <a:latin typeface="Cambria Math" panose="02040503050406030204" pitchFamily="18" charset="0"/>
                            </a:rPr>
                            <m:t>,</m:t>
                          </m:r>
                          <m:r>
                            <a:rPr lang="mn-MN" sz="4100" i="1">
                              <a:solidFill>
                                <a:srgbClr val="FF0000"/>
                              </a:solidFill>
                              <a:latin typeface="Cambria Math" panose="02040503050406030204" pitchFamily="18" charset="0"/>
                            </a:rPr>
                            <m:t>𝑗</m:t>
                          </m:r>
                        </m:sub>
                      </m:sSub>
                      <m:d>
                        <m:dPr>
                          <m:ctrlPr>
                            <a:rPr lang="en-US" sz="4100" i="1">
                              <a:solidFill>
                                <a:srgbClr val="FF0000"/>
                              </a:solidFill>
                              <a:latin typeface="Cambria Math" panose="02040503050406030204" pitchFamily="18" charset="0"/>
                            </a:rPr>
                          </m:ctrlPr>
                        </m:dPr>
                        <m:e>
                          <m:f>
                            <m:fPr>
                              <m:type m:val="lin"/>
                              <m:ctrlPr>
                                <a:rPr lang="en-US" sz="4100" i="1">
                                  <a:solidFill>
                                    <a:srgbClr val="FF0000"/>
                                  </a:solidFill>
                                  <a:latin typeface="Cambria Math" panose="02040503050406030204" pitchFamily="18" charset="0"/>
                                </a:rPr>
                              </m:ctrlPr>
                            </m:fPr>
                            <m:num>
                              <m:r>
                                <a:rPr lang="mn-MN" sz="4100" i="1">
                                  <a:solidFill>
                                    <a:srgbClr val="FF0000"/>
                                  </a:solidFill>
                                  <a:latin typeface="Cambria Math" panose="02040503050406030204" pitchFamily="18" charset="0"/>
                                </a:rPr>
                                <m:t>𝑃</m:t>
                              </m:r>
                            </m:num>
                            <m:den>
                              <m:r>
                                <a:rPr lang="mn-MN" sz="4100" i="1">
                                  <a:solidFill>
                                    <a:srgbClr val="FF0000"/>
                                  </a:solidFill>
                                  <a:latin typeface="Cambria Math" panose="02040503050406030204" pitchFamily="18" charset="0"/>
                                </a:rPr>
                                <m:t>𝐹</m:t>
                              </m:r>
                            </m:den>
                          </m:f>
                          <m:r>
                            <a:rPr lang="mn-MN" sz="4100" i="1">
                              <a:solidFill>
                                <a:srgbClr val="FF0000"/>
                              </a:solidFill>
                              <a:latin typeface="Cambria Math" panose="02040503050406030204" pitchFamily="18" charset="0"/>
                            </a:rPr>
                            <m:t>, </m:t>
                          </m:r>
                          <m:r>
                            <a:rPr lang="mn-MN" sz="4100" i="1">
                              <a:solidFill>
                                <a:srgbClr val="FF0000"/>
                              </a:solidFill>
                              <a:latin typeface="Cambria Math" panose="02040503050406030204" pitchFamily="18" charset="0"/>
                            </a:rPr>
                            <m:t>𝑓</m:t>
                          </m:r>
                          <m:r>
                            <a:rPr lang="mn-MN" sz="4100" i="1">
                              <a:solidFill>
                                <a:srgbClr val="FF0000"/>
                              </a:solidFill>
                              <a:latin typeface="Cambria Math" panose="02040503050406030204" pitchFamily="18" charset="0"/>
                            </a:rPr>
                            <m:t>%, </m:t>
                          </m:r>
                          <m:r>
                            <a:rPr lang="mn-MN" sz="4100" i="1">
                              <a:solidFill>
                                <a:srgbClr val="FF0000"/>
                              </a:solidFill>
                              <a:latin typeface="Cambria Math" panose="02040503050406030204" pitchFamily="18" charset="0"/>
                            </a:rPr>
                            <m:t>𝑘</m:t>
                          </m:r>
                          <m:r>
                            <a:rPr lang="mn-MN" sz="4100" i="1">
                              <a:solidFill>
                                <a:srgbClr val="FF0000"/>
                              </a:solidFill>
                              <a:latin typeface="Cambria Math" panose="02040503050406030204" pitchFamily="18" charset="0"/>
                            </a:rPr>
                            <m:t>−</m:t>
                          </m:r>
                          <m:r>
                            <a:rPr lang="mn-MN" sz="4100" i="1">
                              <a:solidFill>
                                <a:srgbClr val="FF0000"/>
                              </a:solidFill>
                              <a:latin typeface="Cambria Math" panose="02040503050406030204" pitchFamily="18" charset="0"/>
                            </a:rPr>
                            <m:t>𝑏</m:t>
                          </m:r>
                        </m:e>
                      </m:d>
                    </m:oMath>
                  </m:oMathPara>
                </a14:m>
                <a:endParaRPr lang="mn-MN"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8C3AA2E-97A2-A89D-432B-6E4BA7E5AC03}"/>
                  </a:ext>
                </a:extLst>
              </p:cNvPr>
              <p:cNvSpPr>
                <a:spLocks noGrp="1" noRot="1" noChangeAspect="1" noMove="1" noResize="1" noEditPoints="1" noAdjustHandles="1" noChangeArrowheads="1" noChangeShapeType="1" noTextEdit="1"/>
              </p:cNvSpPr>
              <p:nvPr>
                <p:ph idx="1"/>
              </p:nvPr>
            </p:nvSpPr>
            <p:spPr>
              <a:xfrm>
                <a:off x="183930" y="488731"/>
                <a:ext cx="11792607" cy="5990897"/>
              </a:xfrm>
              <a:blipFill>
                <a:blip r:embed="rId3"/>
                <a:stretch>
                  <a:fillRect l="-568" t="-1221" r="-620"/>
                </a:stretch>
              </a:blipFill>
            </p:spPr>
            <p:txBody>
              <a:bodyPr/>
              <a:lstStyle/>
              <a:p>
                <a:r>
                  <a:rPr lang="en-US">
                    <a:noFill/>
                  </a:rPr>
                  <a:t> </a:t>
                </a:r>
              </a:p>
            </p:txBody>
          </p:sp>
        </mc:Fallback>
      </mc:AlternateContent>
    </p:spTree>
    <p:extLst>
      <p:ext uri="{BB962C8B-B14F-4D97-AF65-F5344CB8AC3E}">
        <p14:creationId xmlns:p14="http://schemas.microsoft.com/office/powerpoint/2010/main" val="17520442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90C9-7867-B2FE-DDC6-6022E983749C}"/>
              </a:ext>
            </a:extLst>
          </p:cNvPr>
          <p:cNvSpPr>
            <a:spLocks noGrp="1"/>
          </p:cNvSpPr>
          <p:nvPr>
            <p:ph type="title"/>
          </p:nvPr>
        </p:nvSpPr>
        <p:spPr>
          <a:xfrm>
            <a:off x="199696" y="112878"/>
            <a:ext cx="11792607" cy="973818"/>
          </a:xfrm>
        </p:spPr>
        <p:txBody>
          <a:bodyPr>
            <a:noAutofit/>
          </a:bodyPr>
          <a:lstStyle/>
          <a:p>
            <a:pPr algn="just"/>
            <a:r>
              <a:rPr lang="mn-MN" sz="3100" b="1" dirty="0">
                <a:solidFill>
                  <a:srgbClr val="002060"/>
                </a:solidFill>
                <a:latin typeface="Times New Roman" panose="02020603050405020304" pitchFamily="18" charset="0"/>
                <a:cs typeface="Times New Roman" panose="02020603050405020304" pitchFamily="18" charset="0"/>
              </a:rPr>
              <a:t>ИЭЗС-ны нэрлэсэн ба бодит ханшийн тооцоонд хүүний зохистой түвшинг ашиглах</a:t>
            </a:r>
            <a:endParaRPr lang="en-US" sz="31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5BFFE35-7EFC-0833-6487-D7CFAD0E70CC}"/>
              </a:ext>
            </a:extLst>
          </p:cNvPr>
          <p:cNvSpPr>
            <a:spLocks noGrp="1"/>
          </p:cNvSpPr>
          <p:nvPr>
            <p:ph idx="1"/>
          </p:nvPr>
        </p:nvSpPr>
        <p:spPr>
          <a:xfrm>
            <a:off x="199696" y="1006380"/>
            <a:ext cx="11792607" cy="5153930"/>
          </a:xfrm>
        </p:spPr>
        <p:txBody>
          <a:bodyPr>
            <a:normAutofit/>
          </a:bodyPr>
          <a:lstStyle/>
          <a:p>
            <a:pPr algn="just">
              <a:spcBef>
                <a:spcPts val="400"/>
              </a:spcBef>
            </a:pPr>
            <a:r>
              <a:rPr lang="mn-MN" dirty="0">
                <a:latin typeface="Times New Roman" panose="02020603050405020304" pitchFamily="18" charset="0"/>
                <a:cs typeface="Times New Roman" panose="02020603050405020304" pitchFamily="18" charset="0"/>
              </a:rPr>
              <a:t>ИЭЗС-ны эквивалент тооцоололд ашиглах хүүний түвшин нь мөнгөн урсгалын тооцоонд нэрлэсэн ханш, эсвэл бодит ханшийн алийг ашиглаж байгаагаас хамаарна.</a:t>
            </a:r>
          </a:p>
          <a:p>
            <a:pPr marL="0" indent="0" algn="just">
              <a:spcBef>
                <a:spcPts val="400"/>
              </a:spcBef>
              <a:buNone/>
            </a:pPr>
            <a:endParaRPr lang="mn-MN" dirty="0">
              <a:latin typeface="Times New Roman" panose="02020603050405020304" pitchFamily="18" charset="0"/>
              <a:cs typeface="Times New Roman" panose="02020603050405020304" pitchFamily="18" charset="0"/>
            </a:endParaRPr>
          </a:p>
          <a:p>
            <a:pPr algn="just">
              <a:spcBef>
                <a:spcPts val="400"/>
              </a:spcBef>
            </a:pPr>
            <a:endParaRPr lang="mn-MN" dirty="0">
              <a:latin typeface="Times New Roman" panose="02020603050405020304" pitchFamily="18" charset="0"/>
              <a:cs typeface="Times New Roman" panose="02020603050405020304" pitchFamily="18" charset="0"/>
            </a:endParaRPr>
          </a:p>
          <a:p>
            <a:pPr algn="just">
              <a:spcBef>
                <a:spcPts val="400"/>
              </a:spcBef>
            </a:pPr>
            <a:endParaRPr lang="mn-MN" dirty="0">
              <a:latin typeface="Times New Roman" panose="02020603050405020304" pitchFamily="18" charset="0"/>
              <a:cs typeface="Times New Roman" panose="02020603050405020304" pitchFamily="18" charset="0"/>
            </a:endParaRPr>
          </a:p>
          <a:p>
            <a:pPr algn="just">
              <a:spcBef>
                <a:spcPts val="400"/>
              </a:spcBef>
            </a:pPr>
            <a:r>
              <a:rPr lang="mn-MN" dirty="0">
                <a:latin typeface="Times New Roman" panose="02020603050405020304" pitchFamily="18" charset="0"/>
                <a:cs typeface="Times New Roman" panose="02020603050405020304" pitchFamily="18" charset="0"/>
              </a:rPr>
              <a:t>Хэрэв нэрлэсэн (хөөргөгдсөн) ханшаар мөнгөн урсгалыг тооцоолвол, зах зээлийн хүүний түвшинг (инфляц/дефляцыг агуулсан хүүний түвшин) ашигладаг. </a:t>
            </a:r>
          </a:p>
          <a:p>
            <a:pPr algn="just">
              <a:spcBef>
                <a:spcPts val="400"/>
              </a:spcBef>
            </a:pPr>
            <a:r>
              <a:rPr lang="mn-MN" dirty="0">
                <a:latin typeface="Times New Roman" panose="02020603050405020304" pitchFamily="18" charset="0"/>
                <a:cs typeface="Times New Roman" panose="02020603050405020304" pitchFamily="18" charset="0"/>
              </a:rPr>
              <a:t>Бодит ханшаар мөнгөн урсгалыг тооцоолбол, бодит (инфляц/дефляц агуулаагүй) хүүний түвшинг ашигладаг.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3B9CDC4-8C74-4126-217F-066FBF50203F}"/>
                  </a:ext>
                </a:extLst>
              </p:cNvPr>
              <p:cNvGraphicFramePr>
                <a:graphicFrameLocks noGrp="1"/>
              </p:cNvGraphicFramePr>
              <p:nvPr>
                <p:extLst>
                  <p:ext uri="{D42A27DB-BD31-4B8C-83A1-F6EECF244321}">
                    <p14:modId xmlns:p14="http://schemas.microsoft.com/office/powerpoint/2010/main" val="3853806975"/>
                  </p:ext>
                </p:extLst>
              </p:nvPr>
            </p:nvGraphicFramePr>
            <p:xfrm>
              <a:off x="461711" y="2294005"/>
              <a:ext cx="11265288" cy="1400210"/>
            </p:xfrm>
            <a:graphic>
              <a:graphicData uri="http://schemas.openxmlformats.org/drawingml/2006/table">
                <a:tbl>
                  <a:tblPr firstRow="1" firstCol="1" bandRow="1">
                    <a:tableStyleId>{5C22544A-7EE6-4342-B048-85BDC9FD1C3A}</a:tableStyleId>
                  </a:tblPr>
                  <a:tblGrid>
                    <a:gridCol w="1493213">
                      <a:extLst>
                        <a:ext uri="{9D8B030D-6E8A-4147-A177-3AD203B41FA5}">
                          <a16:colId xmlns:a16="http://schemas.microsoft.com/office/drawing/2014/main" val="2722409546"/>
                        </a:ext>
                      </a:extLst>
                    </a:gridCol>
                    <a:gridCol w="4824248">
                      <a:extLst>
                        <a:ext uri="{9D8B030D-6E8A-4147-A177-3AD203B41FA5}">
                          <a16:colId xmlns:a16="http://schemas.microsoft.com/office/drawing/2014/main" val="2235165789"/>
                        </a:ext>
                      </a:extLst>
                    </a:gridCol>
                    <a:gridCol w="4947827">
                      <a:extLst>
                        <a:ext uri="{9D8B030D-6E8A-4147-A177-3AD203B41FA5}">
                          <a16:colId xmlns:a16="http://schemas.microsoft.com/office/drawing/2014/main" val="4174754177"/>
                        </a:ext>
                      </a:extLst>
                    </a:gridCol>
                  </a:tblGrid>
                  <a:tr h="497494">
                    <a:tc>
                      <a:txBody>
                        <a:bodyPr/>
                        <a:lstStyle/>
                        <a:p>
                          <a:pPr marL="0" marR="0" algn="ctr">
                            <a:lnSpc>
                              <a:spcPct val="115000"/>
                            </a:lnSpc>
                            <a:spcBef>
                              <a:spcPts val="0"/>
                            </a:spcBef>
                            <a:spcAft>
                              <a:spcPts val="0"/>
                            </a:spcAft>
                          </a:pPr>
                          <a:r>
                            <a:rPr lang="en-US" sz="2400" dirty="0" err="1">
                              <a:effectLst/>
                              <a:latin typeface="Times New Roman" panose="02020603050405020304" pitchFamily="18" charset="0"/>
                              <a:cs typeface="Times New Roman" panose="02020603050405020304" pitchFamily="18" charset="0"/>
                            </a:rPr>
                            <a:t>Аргачлал</a:t>
                          </a:r>
                          <a:endParaRPr lang="en-US" sz="32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err="1">
                              <a:effectLst/>
                              <a:latin typeface="Times New Roman" panose="02020603050405020304" pitchFamily="18" charset="0"/>
                              <a:cs typeface="Times New Roman" panose="02020603050405020304" pitchFamily="18" charset="0"/>
                            </a:rPr>
                            <a:t>Мөнгөн</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урсгалын</a:t>
                          </a:r>
                          <a:r>
                            <a:rPr lang="mn-MN" sz="2400" dirty="0">
                              <a:effectLst/>
                              <a:latin typeface="Times New Roman" panose="02020603050405020304" pitchFamily="18" charset="0"/>
                              <a:cs typeface="Times New Roman" panose="02020603050405020304" pitchFamily="18" charset="0"/>
                            </a:rPr>
                            <a:t> нэр томъёолол</a:t>
                          </a:r>
                          <a:endParaRPr lang="en-US" sz="32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err="1">
                              <a:effectLst/>
                              <a:latin typeface="Times New Roman" panose="02020603050405020304" pitchFamily="18" charset="0"/>
                              <a:cs typeface="Times New Roman" panose="02020603050405020304" pitchFamily="18" charset="0"/>
                            </a:rPr>
                            <a:t>Ашиглах</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хүүний</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түвшин</a:t>
                          </a:r>
                          <a:endParaRPr lang="en-US" sz="32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9152353"/>
                      </a:ext>
                    </a:extLst>
                  </a:tr>
                  <a:tr h="269142">
                    <a:tc>
                      <a:txBody>
                        <a:bodyPr/>
                        <a:lstStyle/>
                        <a:p>
                          <a:pPr marL="0" marR="0" algn="ctr">
                            <a:lnSpc>
                              <a:spcPct val="115000"/>
                            </a:lnSpc>
                            <a:spcBef>
                              <a:spcPts val="0"/>
                            </a:spcBef>
                            <a:spcAft>
                              <a:spcPts val="0"/>
                            </a:spcAft>
                          </a:pPr>
                          <a:r>
                            <a:rPr lang="mn-MN" sz="2400">
                              <a:effectLst/>
                              <a:latin typeface="Times New Roman" panose="02020603050405020304" pitchFamily="18" charset="0"/>
                              <a:cs typeface="Times New Roman" panose="02020603050405020304" pitchFamily="18" charset="0"/>
                            </a:rPr>
                            <a:t>А</a:t>
                          </a:r>
                          <a:endParaRPr lang="en-US" sz="32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Нэрлэсэн ханш </a:t>
                          </a:r>
                          <a:r>
                            <a:rPr lang="en-US" sz="2800" dirty="0">
                              <a:effectLst/>
                              <a:latin typeface="Times New Roman" panose="02020603050405020304" pitchFamily="18" charset="0"/>
                              <a:cs typeface="Times New Roman" panose="02020603050405020304" pitchFamily="18" charset="0"/>
                            </a:rPr>
                            <a:t>(A$)</a:t>
                          </a:r>
                          <a:endParaRPr lang="en-US" sz="36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Зах зээлийн хүүний түвшин, </a:t>
                          </a:r>
                          <a14:m>
                            <m:oMath xmlns:m="http://schemas.openxmlformats.org/officeDocument/2006/math">
                              <m:sSub>
                                <m:sSubPr>
                                  <m:ctrlPr>
                                    <a:rPr lang="mn-MN" sz="2800" i="1" smtClean="0">
                                      <a:effectLst/>
                                      <a:latin typeface="Cambria Math" panose="02040503050406030204" pitchFamily="18" charset="0"/>
                                    </a:rPr>
                                  </m:ctrlPr>
                                </m:sSubPr>
                                <m:e>
                                  <m:r>
                                    <a:rPr lang="en-US" sz="2800" b="0" i="1" smtClean="0">
                                      <a:effectLst/>
                                      <a:latin typeface="Cambria Math" panose="02040503050406030204" pitchFamily="18" charset="0"/>
                                    </a:rPr>
                                    <m:t>𝑖</m:t>
                                  </m:r>
                                </m:e>
                                <m:sub>
                                  <m:r>
                                    <a:rPr lang="en-US" sz="2800" b="0" i="1" smtClean="0">
                                      <a:effectLst/>
                                      <a:latin typeface="Cambria Math" panose="02040503050406030204" pitchFamily="18" charset="0"/>
                                    </a:rPr>
                                    <m:t>𝑚</m:t>
                                  </m:r>
                                </m:sub>
                              </m:sSub>
                            </m:oMath>
                          </a14:m>
                          <a:endParaRPr lang="en-US" sz="3600" i="1" u="sng"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830574"/>
                      </a:ext>
                    </a:extLst>
                  </a:tr>
                  <a:tr h="252379">
                    <a:tc>
                      <a:txBody>
                        <a:bodyPr/>
                        <a:lstStyle/>
                        <a:p>
                          <a:pPr marL="0" marR="0" algn="ctr">
                            <a:lnSpc>
                              <a:spcPct val="115000"/>
                            </a:lnSpc>
                            <a:spcBef>
                              <a:spcPts val="0"/>
                            </a:spcBef>
                            <a:spcAft>
                              <a:spcPts val="0"/>
                            </a:spcAft>
                          </a:pPr>
                          <a:r>
                            <a:rPr lang="mn-MN" sz="2400">
                              <a:effectLst/>
                              <a:latin typeface="Times New Roman" panose="02020603050405020304" pitchFamily="18" charset="0"/>
                              <a:cs typeface="Times New Roman" panose="02020603050405020304" pitchFamily="18" charset="0"/>
                            </a:rPr>
                            <a:t>В</a:t>
                          </a:r>
                          <a:endParaRPr lang="en-US" sz="32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Бодит ханш </a:t>
                          </a:r>
                          <a:r>
                            <a:rPr lang="en-US" sz="2800" dirty="0">
                              <a:effectLst/>
                              <a:latin typeface="Times New Roman" panose="02020603050405020304" pitchFamily="18" charset="0"/>
                              <a:cs typeface="Times New Roman" panose="02020603050405020304" pitchFamily="18" charset="0"/>
                            </a:rPr>
                            <a:t>(R$)</a:t>
                          </a:r>
                          <a:endParaRPr lang="en-US" sz="36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Бодит хүүний түвшин, </a:t>
                          </a:r>
                          <a14:m>
                            <m:oMath xmlns:m="http://schemas.openxmlformats.org/officeDocument/2006/math">
                              <m:sSub>
                                <m:sSubPr>
                                  <m:ctrlPr>
                                    <a:rPr lang="mn-MN" sz="2800" i="1" kern="1200" smtClean="0">
                                      <a:solidFill>
                                        <a:schemeClr val="dk1"/>
                                      </a:solidFill>
                                      <a:effectLst/>
                                      <a:latin typeface="Cambria Math" panose="02040503050406030204" pitchFamily="18" charset="0"/>
                                      <a:ea typeface="+mn-ea"/>
                                      <a:cs typeface="+mn-cs"/>
                                    </a:rPr>
                                  </m:ctrlPr>
                                </m:sSubPr>
                                <m:e>
                                  <m:r>
                                    <a:rPr lang="en-US" sz="2800" i="1" kern="1200" smtClean="0">
                                      <a:solidFill>
                                        <a:schemeClr val="dk1"/>
                                      </a:solidFill>
                                      <a:effectLst/>
                                      <a:latin typeface="Cambria Math" panose="02040503050406030204" pitchFamily="18" charset="0"/>
                                      <a:ea typeface="+mn-ea"/>
                                      <a:cs typeface="+mn-cs"/>
                                    </a:rPr>
                                    <m:t>𝑖</m:t>
                                  </m:r>
                                </m:e>
                                <m:sub>
                                  <m:r>
                                    <a:rPr lang="en-US" sz="2800" i="1" kern="1200" smtClean="0">
                                      <a:solidFill>
                                        <a:schemeClr val="dk1"/>
                                      </a:solidFill>
                                      <a:effectLst/>
                                      <a:latin typeface="Cambria Math" panose="02040503050406030204" pitchFamily="18" charset="0"/>
                                      <a:ea typeface="+mn-ea"/>
                                      <a:cs typeface="+mn-cs"/>
                                    </a:rPr>
                                    <m:t>𝑟</m:t>
                                  </m:r>
                                </m:sub>
                              </m:sSub>
                            </m:oMath>
                          </a14:m>
                          <a:endParaRPr lang="en-US" sz="2800" i="1" kern="1200" dirty="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3638449056"/>
                      </a:ext>
                    </a:extLst>
                  </a:tr>
                </a:tbl>
              </a:graphicData>
            </a:graphic>
          </p:graphicFrame>
        </mc:Choice>
        <mc:Fallback xmlns="">
          <p:graphicFrame>
            <p:nvGraphicFramePr>
              <p:cNvPr id="5" name="Table 4">
                <a:extLst>
                  <a:ext uri="{FF2B5EF4-FFF2-40B4-BE49-F238E27FC236}">
                    <a16:creationId xmlns:a16="http://schemas.microsoft.com/office/drawing/2014/main" id="{93B9CDC4-8C74-4126-217F-066FBF50203F}"/>
                  </a:ext>
                </a:extLst>
              </p:cNvPr>
              <p:cNvGraphicFramePr>
                <a:graphicFrameLocks noGrp="1"/>
              </p:cNvGraphicFramePr>
              <p:nvPr>
                <p:extLst>
                  <p:ext uri="{D42A27DB-BD31-4B8C-83A1-F6EECF244321}">
                    <p14:modId xmlns:p14="http://schemas.microsoft.com/office/powerpoint/2010/main" val="3853806975"/>
                  </p:ext>
                </p:extLst>
              </p:nvPr>
            </p:nvGraphicFramePr>
            <p:xfrm>
              <a:off x="461711" y="2294005"/>
              <a:ext cx="11265288" cy="1400210"/>
            </p:xfrm>
            <a:graphic>
              <a:graphicData uri="http://schemas.openxmlformats.org/drawingml/2006/table">
                <a:tbl>
                  <a:tblPr firstRow="1" firstCol="1" bandRow="1">
                    <a:tableStyleId>{5C22544A-7EE6-4342-B048-85BDC9FD1C3A}</a:tableStyleId>
                  </a:tblPr>
                  <a:tblGrid>
                    <a:gridCol w="1493213">
                      <a:extLst>
                        <a:ext uri="{9D8B030D-6E8A-4147-A177-3AD203B41FA5}">
                          <a16:colId xmlns:a16="http://schemas.microsoft.com/office/drawing/2014/main" val="2722409546"/>
                        </a:ext>
                      </a:extLst>
                    </a:gridCol>
                    <a:gridCol w="4824248">
                      <a:extLst>
                        <a:ext uri="{9D8B030D-6E8A-4147-A177-3AD203B41FA5}">
                          <a16:colId xmlns:a16="http://schemas.microsoft.com/office/drawing/2014/main" val="2235165789"/>
                        </a:ext>
                      </a:extLst>
                    </a:gridCol>
                    <a:gridCol w="4947827">
                      <a:extLst>
                        <a:ext uri="{9D8B030D-6E8A-4147-A177-3AD203B41FA5}">
                          <a16:colId xmlns:a16="http://schemas.microsoft.com/office/drawing/2014/main" val="4174754177"/>
                        </a:ext>
                      </a:extLst>
                    </a:gridCol>
                  </a:tblGrid>
                  <a:tr h="497494">
                    <a:tc>
                      <a:txBody>
                        <a:bodyPr/>
                        <a:lstStyle/>
                        <a:p>
                          <a:pPr marL="0" marR="0" algn="ctr">
                            <a:lnSpc>
                              <a:spcPct val="115000"/>
                            </a:lnSpc>
                            <a:spcBef>
                              <a:spcPts val="0"/>
                            </a:spcBef>
                            <a:spcAft>
                              <a:spcPts val="0"/>
                            </a:spcAft>
                          </a:pPr>
                          <a:r>
                            <a:rPr lang="en-US" sz="2400" dirty="0" err="1">
                              <a:effectLst/>
                              <a:latin typeface="Times New Roman" panose="02020603050405020304" pitchFamily="18" charset="0"/>
                              <a:cs typeface="Times New Roman" panose="02020603050405020304" pitchFamily="18" charset="0"/>
                            </a:rPr>
                            <a:t>Аргачлал</a:t>
                          </a:r>
                          <a:endParaRPr lang="en-US" sz="32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err="1">
                              <a:effectLst/>
                              <a:latin typeface="Times New Roman" panose="02020603050405020304" pitchFamily="18" charset="0"/>
                              <a:cs typeface="Times New Roman" panose="02020603050405020304" pitchFamily="18" charset="0"/>
                            </a:rPr>
                            <a:t>Мөнгөн</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урсгалын</a:t>
                          </a:r>
                          <a:r>
                            <a:rPr lang="mn-MN" sz="2400" dirty="0">
                              <a:effectLst/>
                              <a:latin typeface="Times New Roman" panose="02020603050405020304" pitchFamily="18" charset="0"/>
                              <a:cs typeface="Times New Roman" panose="02020603050405020304" pitchFamily="18" charset="0"/>
                            </a:rPr>
                            <a:t> нэр томъёолол</a:t>
                          </a:r>
                          <a:endParaRPr lang="en-US" sz="32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err="1">
                              <a:effectLst/>
                              <a:latin typeface="Times New Roman" panose="02020603050405020304" pitchFamily="18" charset="0"/>
                              <a:cs typeface="Times New Roman" panose="02020603050405020304" pitchFamily="18" charset="0"/>
                            </a:rPr>
                            <a:t>Ашиглах</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хүүний</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түвшин</a:t>
                          </a:r>
                          <a:endParaRPr lang="en-US" sz="32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9152353"/>
                      </a:ext>
                    </a:extLst>
                  </a:tr>
                  <a:tr h="451358">
                    <a:tc>
                      <a:txBody>
                        <a:bodyPr/>
                        <a:lstStyle/>
                        <a:p>
                          <a:pPr marL="0" marR="0" algn="ctr">
                            <a:lnSpc>
                              <a:spcPct val="115000"/>
                            </a:lnSpc>
                            <a:spcBef>
                              <a:spcPts val="0"/>
                            </a:spcBef>
                            <a:spcAft>
                              <a:spcPts val="0"/>
                            </a:spcAft>
                          </a:pPr>
                          <a:r>
                            <a:rPr lang="mn-MN" sz="2400">
                              <a:effectLst/>
                              <a:latin typeface="Times New Roman" panose="02020603050405020304" pitchFamily="18" charset="0"/>
                              <a:cs typeface="Times New Roman" panose="02020603050405020304" pitchFamily="18" charset="0"/>
                            </a:rPr>
                            <a:t>А</a:t>
                          </a:r>
                          <a:endParaRPr lang="en-US" sz="32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Нэрлэсэн ханш </a:t>
                          </a:r>
                          <a:r>
                            <a:rPr lang="en-US" sz="2800" dirty="0">
                              <a:effectLst/>
                              <a:latin typeface="Times New Roman" panose="02020603050405020304" pitchFamily="18" charset="0"/>
                              <a:cs typeface="Times New Roman" panose="02020603050405020304" pitchFamily="18" charset="0"/>
                            </a:rPr>
                            <a:t>(A$)</a:t>
                          </a:r>
                          <a:endParaRPr lang="en-US" sz="36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127833" t="-124000" r="-493" b="-144000"/>
                          </a:stretch>
                        </a:blipFill>
                      </a:tcPr>
                    </a:tc>
                    <a:extLst>
                      <a:ext uri="{0D108BD9-81ED-4DB2-BD59-A6C34878D82A}">
                        <a16:rowId xmlns:a16="http://schemas.microsoft.com/office/drawing/2014/main" val="3008830574"/>
                      </a:ext>
                    </a:extLst>
                  </a:tr>
                  <a:tr h="451358">
                    <a:tc>
                      <a:txBody>
                        <a:bodyPr/>
                        <a:lstStyle/>
                        <a:p>
                          <a:pPr marL="0" marR="0" algn="ctr">
                            <a:lnSpc>
                              <a:spcPct val="115000"/>
                            </a:lnSpc>
                            <a:spcBef>
                              <a:spcPts val="0"/>
                            </a:spcBef>
                            <a:spcAft>
                              <a:spcPts val="0"/>
                            </a:spcAft>
                          </a:pPr>
                          <a:r>
                            <a:rPr lang="mn-MN" sz="2400">
                              <a:effectLst/>
                              <a:latin typeface="Times New Roman" panose="02020603050405020304" pitchFamily="18" charset="0"/>
                              <a:cs typeface="Times New Roman" panose="02020603050405020304" pitchFamily="18" charset="0"/>
                            </a:rPr>
                            <a:t>В</a:t>
                          </a:r>
                          <a:endParaRPr lang="en-US" sz="32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mn-MN" sz="2800" dirty="0">
                              <a:effectLst/>
                              <a:latin typeface="Times New Roman" panose="02020603050405020304" pitchFamily="18" charset="0"/>
                              <a:cs typeface="Times New Roman" panose="02020603050405020304" pitchFamily="18" charset="0"/>
                            </a:rPr>
                            <a:t>Бодит ханш </a:t>
                          </a:r>
                          <a:r>
                            <a:rPr lang="en-US" sz="2800" dirty="0">
                              <a:effectLst/>
                              <a:latin typeface="Times New Roman" panose="02020603050405020304" pitchFamily="18" charset="0"/>
                              <a:cs typeface="Times New Roman" panose="02020603050405020304" pitchFamily="18" charset="0"/>
                            </a:rPr>
                            <a:t>(R$)</a:t>
                          </a:r>
                          <a:endParaRPr lang="en-US" sz="36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127833" t="-227027" r="-493" b="-45946"/>
                          </a:stretch>
                        </a:blipFill>
                      </a:tcPr>
                    </a:tc>
                    <a:extLst>
                      <a:ext uri="{0D108BD9-81ED-4DB2-BD59-A6C34878D82A}">
                        <a16:rowId xmlns:a16="http://schemas.microsoft.com/office/drawing/2014/main" val="3638449056"/>
                      </a:ext>
                    </a:extLst>
                  </a:tr>
                </a:tbl>
              </a:graphicData>
            </a:graphic>
          </p:graphicFrame>
        </mc:Fallback>
      </mc:AlternateContent>
    </p:spTree>
    <p:extLst>
      <p:ext uri="{BB962C8B-B14F-4D97-AF65-F5344CB8AC3E}">
        <p14:creationId xmlns:p14="http://schemas.microsoft.com/office/powerpoint/2010/main" val="21088585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3BD90C9-7867-B2FE-DDC6-6022E983749C}"/>
                  </a:ext>
                </a:extLst>
              </p:cNvPr>
              <p:cNvSpPr>
                <a:spLocks noGrp="1"/>
              </p:cNvSpPr>
              <p:nvPr>
                <p:ph type="title"/>
              </p:nvPr>
            </p:nvSpPr>
            <p:spPr>
              <a:xfrm>
                <a:off x="308272" y="160175"/>
                <a:ext cx="11575456" cy="706928"/>
              </a:xfrm>
            </p:spPr>
            <p:txBody>
              <a:bodyPr>
                <a:noAutofit/>
              </a:bodyPr>
              <a:lstStyle/>
              <a:p>
                <a:pPr algn="just">
                  <a:spcBef>
                    <a:spcPts val="200"/>
                  </a:spcBef>
                </a:pPr>
                <a:r>
                  <a:rPr lang="mn-MN" sz="3000" b="1" dirty="0">
                    <a:solidFill>
                      <a:srgbClr val="002060"/>
                    </a:solidFill>
                    <a:latin typeface="Times New Roman" panose="02020603050405020304" pitchFamily="18" charset="0"/>
                    <a:cs typeface="Times New Roman" panose="02020603050405020304" pitchFamily="18" charset="0"/>
                  </a:rPr>
                  <a:t>Зах зээлийн (</a:t>
                </a:r>
                <a14:m>
                  <m:oMath xmlns:m="http://schemas.openxmlformats.org/officeDocument/2006/math">
                    <m:sSub>
                      <m:sSubPr>
                        <m:ctrlPr>
                          <a:rPr lang="mn-MN" sz="3000" b="1" i="1" smtClean="0">
                            <a:solidFill>
                              <a:srgbClr val="002060"/>
                            </a:solidFill>
                            <a:effectLst/>
                            <a:latin typeface="Cambria Math" panose="02040503050406030204" pitchFamily="18" charset="0"/>
                          </a:rPr>
                        </m:ctrlPr>
                      </m:sSubPr>
                      <m:e>
                        <m:r>
                          <a:rPr lang="en-US" sz="3000" b="1" i="1" smtClean="0">
                            <a:solidFill>
                              <a:srgbClr val="002060"/>
                            </a:solidFill>
                            <a:effectLst/>
                            <a:latin typeface="Cambria Math" panose="02040503050406030204" pitchFamily="18" charset="0"/>
                          </a:rPr>
                          <m:t>𝒊</m:t>
                        </m:r>
                      </m:e>
                      <m:sub>
                        <m:r>
                          <a:rPr lang="en-US" sz="3000" b="1" i="1" smtClean="0">
                            <a:solidFill>
                              <a:srgbClr val="002060"/>
                            </a:solidFill>
                            <a:effectLst/>
                            <a:latin typeface="Cambria Math" panose="02040503050406030204" pitchFamily="18" charset="0"/>
                          </a:rPr>
                          <m:t>𝒎</m:t>
                        </m:r>
                      </m:sub>
                    </m:sSub>
                  </m:oMath>
                </a14:m>
                <a:r>
                  <a:rPr lang="en-US" sz="3000" b="1" dirty="0">
                    <a:solidFill>
                      <a:srgbClr val="002060"/>
                    </a:solidFill>
                    <a:latin typeface="Times New Roman" panose="02020603050405020304" pitchFamily="18" charset="0"/>
                    <a:cs typeface="Times New Roman" panose="02020603050405020304" pitchFamily="18" charset="0"/>
                  </a:rPr>
                  <a:t>) </a:t>
                </a:r>
                <a:r>
                  <a:rPr lang="mn-MN" sz="3000" b="1" dirty="0">
                    <a:solidFill>
                      <a:srgbClr val="002060"/>
                    </a:solidFill>
                    <a:latin typeface="Times New Roman" panose="02020603050405020304" pitchFamily="18" charset="0"/>
                    <a:cs typeface="Times New Roman" panose="02020603050405020304" pitchFamily="18" charset="0"/>
                  </a:rPr>
                  <a:t>ба бодит (</a:t>
                </a:r>
                <a14:m>
                  <m:oMath xmlns:m="http://schemas.openxmlformats.org/officeDocument/2006/math">
                    <m:sSub>
                      <m:sSubPr>
                        <m:ctrlPr>
                          <a:rPr lang="mn-MN" sz="3000" b="1" i="1">
                            <a:solidFill>
                              <a:srgbClr val="002060"/>
                            </a:solidFill>
                            <a:latin typeface="Cambria Math" panose="02040503050406030204" pitchFamily="18" charset="0"/>
                          </a:rPr>
                        </m:ctrlPr>
                      </m:sSubPr>
                      <m:e>
                        <m:r>
                          <a:rPr lang="en-US" sz="3000" b="1" i="1">
                            <a:solidFill>
                              <a:srgbClr val="002060"/>
                            </a:solidFill>
                            <a:latin typeface="Cambria Math" panose="02040503050406030204" pitchFamily="18" charset="0"/>
                          </a:rPr>
                          <m:t>𝒊</m:t>
                        </m:r>
                      </m:e>
                      <m:sub>
                        <m:r>
                          <a:rPr lang="en-US" sz="3000" b="1" i="1">
                            <a:solidFill>
                              <a:srgbClr val="002060"/>
                            </a:solidFill>
                            <a:latin typeface="Cambria Math" panose="02040503050406030204" pitchFamily="18" charset="0"/>
                          </a:rPr>
                          <m:t>𝒓</m:t>
                        </m:r>
                      </m:sub>
                    </m:sSub>
                  </m:oMath>
                </a14:m>
                <a:r>
                  <a:rPr lang="en-US" sz="3000" b="1" dirty="0">
                    <a:solidFill>
                      <a:srgbClr val="002060"/>
                    </a:solidFill>
                    <a:latin typeface="Times New Roman" panose="02020603050405020304" pitchFamily="18" charset="0"/>
                    <a:cs typeface="Times New Roman" panose="02020603050405020304" pitchFamily="18" charset="0"/>
                  </a:rPr>
                  <a:t>) </a:t>
                </a:r>
                <a:r>
                  <a:rPr lang="mn-MN" sz="3000" b="1" dirty="0">
                    <a:solidFill>
                      <a:srgbClr val="002060"/>
                    </a:solidFill>
                    <a:latin typeface="Times New Roman" panose="02020603050405020304" pitchFamily="18" charset="0"/>
                    <a:cs typeface="Times New Roman" panose="02020603050405020304" pitchFamily="18" charset="0"/>
                  </a:rPr>
                  <a:t>хүүний түвшин болон ерөнхий үнийн инфляци (дефляци)-н түвшин (</a:t>
                </a:r>
                <a14:m>
                  <m:oMath xmlns:m="http://schemas.openxmlformats.org/officeDocument/2006/math">
                    <m:r>
                      <a:rPr lang="en-US" sz="3000" b="1" i="1" dirty="0" smtClean="0">
                        <a:solidFill>
                          <a:srgbClr val="002060"/>
                        </a:solidFill>
                        <a:latin typeface="Cambria Math" panose="02040503050406030204" pitchFamily="18" charset="0"/>
                      </a:rPr>
                      <m:t>𝒇</m:t>
                    </m:r>
                  </m:oMath>
                </a14:m>
                <a:r>
                  <a:rPr lang="en-US" sz="3000" b="1" dirty="0">
                    <a:solidFill>
                      <a:srgbClr val="002060"/>
                    </a:solidFill>
                    <a:latin typeface="Times New Roman" panose="02020603050405020304" pitchFamily="18" charset="0"/>
                    <a:cs typeface="Times New Roman" panose="02020603050405020304" pitchFamily="18" charset="0"/>
                  </a:rPr>
                  <a:t>)-</a:t>
                </a:r>
                <a:r>
                  <a:rPr lang="mn-MN" sz="3000" b="1" dirty="0">
                    <a:solidFill>
                      <a:srgbClr val="002060"/>
                    </a:solidFill>
                    <a:latin typeface="Times New Roman" panose="02020603050405020304" pitchFamily="18" charset="0"/>
                    <a:cs typeface="Times New Roman" panose="02020603050405020304" pitchFamily="18" charset="0"/>
                  </a:rPr>
                  <a:t>гийн хамаарал</a:t>
                </a:r>
                <a:endParaRPr lang="en-US" sz="3000" b="1"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63BD90C9-7867-B2FE-DDC6-6022E983749C}"/>
                  </a:ext>
                </a:extLst>
              </p:cNvPr>
              <p:cNvSpPr>
                <a:spLocks noGrp="1" noRot="1" noChangeAspect="1" noMove="1" noResize="1" noEditPoints="1" noAdjustHandles="1" noChangeArrowheads="1" noChangeShapeType="1" noTextEdit="1"/>
              </p:cNvSpPr>
              <p:nvPr>
                <p:ph type="title"/>
              </p:nvPr>
            </p:nvSpPr>
            <p:spPr>
              <a:xfrm>
                <a:off x="308272" y="160175"/>
                <a:ext cx="11575456" cy="706928"/>
              </a:xfrm>
              <a:blipFill>
                <a:blip r:embed="rId3"/>
                <a:stretch>
                  <a:fillRect l="-1264" t="-31897" r="-1264" b="-413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3816EBE9-35F6-29D6-70B0-C70C35B8ACC4}"/>
                  </a:ext>
                </a:extLst>
              </p:cNvPr>
              <p:cNvSpPr>
                <a:spLocks noGrp="1"/>
              </p:cNvSpPr>
              <p:nvPr>
                <p:ph idx="1"/>
              </p:nvPr>
            </p:nvSpPr>
            <p:spPr>
              <a:xfrm>
                <a:off x="173421" y="867103"/>
                <a:ext cx="11710307" cy="5453742"/>
              </a:xfrm>
            </p:spPr>
            <p:txBody>
              <a:bodyPr>
                <a:noAutofit/>
              </a:bodyPr>
              <a:lstStyle/>
              <a:p>
                <a:pPr algn="just">
                  <a:lnSpc>
                    <a:spcPct val="80000"/>
                  </a:lnSpc>
                  <a:spcBef>
                    <a:spcPts val="200"/>
                  </a:spcBef>
                </a:pPr>
                <a14:m>
                  <m:oMath xmlns:m="http://schemas.openxmlformats.org/officeDocument/2006/math">
                    <m:r>
                      <a:rPr lang="en-US" sz="2400" i="1" dirty="0" smtClean="0">
                        <a:solidFill>
                          <a:srgbClr val="002060"/>
                        </a:solidFill>
                        <a:latin typeface="Cambria Math" panose="02040503050406030204" pitchFamily="18" charset="0"/>
                      </a:rPr>
                      <m:t>𝑘</m:t>
                    </m:r>
                  </m:oMath>
                </a14:m>
                <a:r>
                  <a:rPr lang="en-US" sz="2400"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үе дэх тэнцүү худалдан авах чадвартай нэрлэсэн ханшаар илэрхийлэгдсэн мөнгөн дүн болон бодит ханшаар илэрхийлэгдсэн мөнгөн дүн хоорондын хамаарал нь ерөнхий инфляцын түвшин (</a:t>
                </a:r>
                <a14:m>
                  <m:oMath xmlns:m="http://schemas.openxmlformats.org/officeDocument/2006/math">
                    <m:r>
                      <a:rPr lang="en-US" sz="2400" i="1" dirty="0" smtClean="0">
                        <a:solidFill>
                          <a:srgbClr val="002060"/>
                        </a:solidFill>
                        <a:latin typeface="Cambria Math" panose="02040503050406030204" pitchFamily="18" charset="0"/>
                      </a:rPr>
                      <m:t>𝑓</m:t>
                    </m:r>
                  </m:oMath>
                </a14:m>
                <a:r>
                  <a:rPr lang="en-US" sz="2400" dirty="0">
                    <a:solidFill>
                      <a:srgbClr val="002060"/>
                    </a:solidFill>
                    <a:latin typeface="Times New Roman" panose="02020603050405020304" pitchFamily="18" charset="0"/>
                    <a:cs typeface="Times New Roman" panose="02020603050405020304" pitchFamily="18" charset="0"/>
                  </a:rPr>
                  <a:t>)-</a:t>
                </a:r>
                <a:r>
                  <a:rPr lang="mn-MN" sz="2400" dirty="0">
                    <a:solidFill>
                      <a:srgbClr val="002060"/>
                    </a:solidFill>
                    <a:latin typeface="Times New Roman" panose="02020603050405020304" pitchFamily="18" charset="0"/>
                    <a:cs typeface="Times New Roman" panose="02020603050405020304" pitchFamily="18" charset="0"/>
                  </a:rPr>
                  <a:t>гийн функц болохыг харуулдаг. </a:t>
                </a:r>
                <a:endParaRPr lang="en-US" sz="2400" dirty="0">
                  <a:solidFill>
                    <a:srgbClr val="002060"/>
                  </a:solidFill>
                  <a:latin typeface="Times New Roman" panose="02020603050405020304" pitchFamily="18" charset="0"/>
                  <a:cs typeface="Times New Roman" panose="02020603050405020304" pitchFamily="18" charset="0"/>
                </a:endParaRPr>
              </a:p>
              <a:p>
                <a:pPr algn="just">
                  <a:lnSpc>
                    <a:spcPct val="80000"/>
                  </a:lnSpc>
                  <a:spcBef>
                    <a:spcPts val="200"/>
                  </a:spcBef>
                </a:pPr>
                <a:r>
                  <a:rPr lang="mn-MN" sz="2400" dirty="0">
                    <a:solidFill>
                      <a:srgbClr val="002060"/>
                    </a:solidFill>
                    <a:latin typeface="Times New Roman" panose="02020603050405020304" pitchFamily="18" charset="0"/>
                    <a:cs typeface="Times New Roman" panose="02020603050405020304" pitchFamily="18" charset="0"/>
                  </a:rPr>
                  <a:t>Эдгээр гурван хүчин зүйлийн хоорондын хамаарлыг дараах тэгшитгэлээр харуулав:</a:t>
                </a:r>
              </a:p>
              <a:p>
                <a:pPr marL="0" indent="0" algn="just">
                  <a:lnSpc>
                    <a:spcPct val="100000"/>
                  </a:lnSpc>
                  <a:spcBef>
                    <a:spcPts val="200"/>
                  </a:spcBef>
                  <a:buNone/>
                </a:pPr>
                <a14:m>
                  <m:oMathPara xmlns:m="http://schemas.openxmlformats.org/officeDocument/2006/math">
                    <m:oMathParaPr>
                      <m:jc m:val="centerGroup"/>
                    </m:oMathParaPr>
                    <m:oMath xmlns:m="http://schemas.openxmlformats.org/officeDocument/2006/math">
                      <m:r>
                        <a:rPr lang="en-US" sz="3600" i="1" dirty="0" smtClean="0">
                          <a:solidFill>
                            <a:srgbClr val="FF0000"/>
                          </a:solidFill>
                          <a:latin typeface="Cambria Math" panose="02040503050406030204" pitchFamily="18" charset="0"/>
                        </a:rPr>
                        <m:t>1+</m:t>
                      </m:r>
                      <m:r>
                        <a:rPr lang="en-US" sz="3600" i="1" cap="none" dirty="0" err="1" smtClean="0">
                          <a:solidFill>
                            <a:srgbClr val="FF0000"/>
                          </a:solidFill>
                          <a:latin typeface="Cambria Math" panose="02040503050406030204" pitchFamily="18" charset="0"/>
                        </a:rPr>
                        <m:t>𝑖</m:t>
                      </m:r>
                      <m:r>
                        <a:rPr lang="en-US" sz="3600" i="1" cap="none" baseline="-25000" dirty="0" err="1" smtClean="0">
                          <a:solidFill>
                            <a:srgbClr val="FF0000"/>
                          </a:solidFill>
                          <a:latin typeface="Cambria Math" panose="02040503050406030204" pitchFamily="18" charset="0"/>
                        </a:rPr>
                        <m:t>𝑚</m:t>
                      </m:r>
                      <m:r>
                        <a:rPr lang="en-US" sz="3600" i="1" dirty="0" smtClean="0">
                          <a:solidFill>
                            <a:srgbClr val="FF0000"/>
                          </a:solidFill>
                          <a:latin typeface="Cambria Math" panose="02040503050406030204" pitchFamily="18" charset="0"/>
                        </a:rPr>
                        <m:t>=(1+</m:t>
                      </m:r>
                      <m:r>
                        <a:rPr lang="en-US" sz="3600" i="1" cap="none" dirty="0" smtClean="0">
                          <a:solidFill>
                            <a:srgbClr val="FF0000"/>
                          </a:solidFill>
                          <a:latin typeface="Cambria Math" panose="02040503050406030204" pitchFamily="18" charset="0"/>
                        </a:rPr>
                        <m:t>𝑓</m:t>
                      </m:r>
                      <m:r>
                        <a:rPr lang="en-US" sz="3600" i="1" dirty="0" smtClean="0">
                          <a:solidFill>
                            <a:srgbClr val="FF0000"/>
                          </a:solidFill>
                          <a:latin typeface="Cambria Math" panose="02040503050406030204" pitchFamily="18" charset="0"/>
                        </a:rPr>
                        <m:t>)(1+</m:t>
                      </m:r>
                      <m:r>
                        <a:rPr lang="en-US" sz="3600" i="1" cap="none" dirty="0" err="1" smtClean="0">
                          <a:solidFill>
                            <a:srgbClr val="FF0000"/>
                          </a:solidFill>
                          <a:latin typeface="Cambria Math" panose="02040503050406030204" pitchFamily="18" charset="0"/>
                        </a:rPr>
                        <m:t>𝑖</m:t>
                      </m:r>
                      <m:r>
                        <a:rPr lang="en-US" sz="3600" i="1" cap="none" baseline="-25000" dirty="0" err="1" smtClean="0">
                          <a:solidFill>
                            <a:srgbClr val="FF0000"/>
                          </a:solidFill>
                          <a:latin typeface="Cambria Math" panose="02040503050406030204" pitchFamily="18" charset="0"/>
                        </a:rPr>
                        <m:t>𝑟</m:t>
                      </m:r>
                      <m:r>
                        <a:rPr lang="en-US" sz="3600" i="1" dirty="0" smtClean="0">
                          <a:solidFill>
                            <a:srgbClr val="FF0000"/>
                          </a:solidFill>
                          <a:latin typeface="Cambria Math" panose="02040503050406030204" pitchFamily="18" charset="0"/>
                        </a:rPr>
                        <m:t>)</m:t>
                      </m:r>
                    </m:oMath>
                  </m:oMathPara>
                </a14:m>
                <a:endParaRPr lang="mn-MN" sz="3600" dirty="0">
                  <a:solidFill>
                    <a:srgbClr val="FF0000"/>
                  </a:solidFill>
                  <a:latin typeface="Times New Roman" panose="02020603050405020304" pitchFamily="18" charset="0"/>
                  <a:cs typeface="Times New Roman" panose="02020603050405020304" pitchFamily="18" charset="0"/>
                </a:endParaRPr>
              </a:p>
              <a:p>
                <a:pPr marL="0" indent="0" algn="just">
                  <a:lnSpc>
                    <a:spcPct val="100000"/>
                  </a:lnSpc>
                  <a:spcBef>
                    <a:spcPts val="200"/>
                  </a:spcBef>
                  <a:buNone/>
                </a:pPr>
                <a14:m>
                  <m:oMathPara xmlns:m="http://schemas.openxmlformats.org/officeDocument/2006/math">
                    <m:oMathParaPr>
                      <m:jc m:val="centerGroup"/>
                    </m:oMathParaPr>
                    <m:oMath xmlns:m="http://schemas.openxmlformats.org/officeDocument/2006/math">
                      <m:r>
                        <a:rPr lang="en-US" sz="3600" i="1" cap="none" dirty="0" smtClean="0">
                          <a:solidFill>
                            <a:srgbClr val="FF0000"/>
                          </a:solidFill>
                          <a:latin typeface="Cambria Math" panose="02040503050406030204" pitchFamily="18" charset="0"/>
                        </a:rPr>
                        <m:t>𝑖</m:t>
                      </m:r>
                      <m:r>
                        <a:rPr lang="en-US" sz="3600" i="1" cap="none" baseline="-25000" dirty="0" err="1" smtClean="0">
                          <a:solidFill>
                            <a:srgbClr val="FF0000"/>
                          </a:solidFill>
                          <a:latin typeface="Cambria Math" panose="02040503050406030204" pitchFamily="18" charset="0"/>
                        </a:rPr>
                        <m:t>𝑚</m:t>
                      </m:r>
                      <m:r>
                        <a:rPr lang="en-US" sz="3600" i="1" dirty="0" smtClean="0">
                          <a:solidFill>
                            <a:srgbClr val="FF0000"/>
                          </a:solidFill>
                          <a:latin typeface="Cambria Math" panose="02040503050406030204" pitchFamily="18" charset="0"/>
                        </a:rPr>
                        <m:t>=</m:t>
                      </m:r>
                      <m:r>
                        <a:rPr lang="en-US" sz="3600" i="1" cap="none" dirty="0" err="1" smtClean="0">
                          <a:solidFill>
                            <a:srgbClr val="FF0000"/>
                          </a:solidFill>
                          <a:latin typeface="Cambria Math" panose="02040503050406030204" pitchFamily="18" charset="0"/>
                        </a:rPr>
                        <m:t>𝑖</m:t>
                      </m:r>
                      <m:r>
                        <a:rPr lang="en-US" sz="3600" i="1" cap="none" baseline="-25000" dirty="0" err="1" smtClean="0">
                          <a:solidFill>
                            <a:srgbClr val="FF0000"/>
                          </a:solidFill>
                          <a:latin typeface="Cambria Math" panose="02040503050406030204" pitchFamily="18" charset="0"/>
                        </a:rPr>
                        <m:t>𝑟</m:t>
                      </m:r>
                      <m:r>
                        <a:rPr lang="en-US" sz="3600" i="1" dirty="0" smtClean="0">
                          <a:solidFill>
                            <a:srgbClr val="FF0000"/>
                          </a:solidFill>
                          <a:latin typeface="Cambria Math" panose="02040503050406030204" pitchFamily="18" charset="0"/>
                        </a:rPr>
                        <m:t>+</m:t>
                      </m:r>
                      <m:r>
                        <a:rPr lang="en-US" sz="3600" i="1" cap="none" dirty="0" smtClean="0">
                          <a:solidFill>
                            <a:srgbClr val="FF0000"/>
                          </a:solidFill>
                          <a:latin typeface="Cambria Math" panose="02040503050406030204" pitchFamily="18" charset="0"/>
                        </a:rPr>
                        <m:t>𝑓</m:t>
                      </m:r>
                      <m:r>
                        <a:rPr lang="en-US" sz="3600" i="1" dirty="0" smtClean="0">
                          <a:solidFill>
                            <a:srgbClr val="FF0000"/>
                          </a:solidFill>
                          <a:latin typeface="Cambria Math" panose="02040503050406030204" pitchFamily="18" charset="0"/>
                        </a:rPr>
                        <m:t>+</m:t>
                      </m:r>
                      <m:r>
                        <a:rPr lang="en-US" sz="3600" i="1" cap="none" dirty="0" err="1" smtClean="0">
                          <a:solidFill>
                            <a:srgbClr val="FF0000"/>
                          </a:solidFill>
                          <a:latin typeface="Cambria Math" panose="02040503050406030204" pitchFamily="18" charset="0"/>
                        </a:rPr>
                        <m:t>𝑖</m:t>
                      </m:r>
                      <m:r>
                        <a:rPr lang="en-US" sz="3600" i="1" cap="none" baseline="-25000" dirty="0" err="1" smtClean="0">
                          <a:solidFill>
                            <a:srgbClr val="FF0000"/>
                          </a:solidFill>
                          <a:latin typeface="Cambria Math" panose="02040503050406030204" pitchFamily="18" charset="0"/>
                        </a:rPr>
                        <m:t>𝑟</m:t>
                      </m:r>
                      <m:r>
                        <a:rPr lang="en-US" sz="3600" i="1" cap="none" dirty="0" smtClean="0">
                          <a:solidFill>
                            <a:srgbClr val="FF0000"/>
                          </a:solidFill>
                          <a:latin typeface="Cambria Math" panose="02040503050406030204" pitchFamily="18" charset="0"/>
                        </a:rPr>
                        <m:t>(</m:t>
                      </m:r>
                      <m:r>
                        <a:rPr lang="en-US" sz="3600" i="1" cap="none" dirty="0" smtClean="0">
                          <a:solidFill>
                            <a:srgbClr val="FF0000"/>
                          </a:solidFill>
                          <a:latin typeface="Cambria Math" panose="02040503050406030204" pitchFamily="18" charset="0"/>
                        </a:rPr>
                        <m:t>𝑓</m:t>
                      </m:r>
                      <m:r>
                        <a:rPr lang="en-US" sz="3600" i="1" cap="none" dirty="0" smtClean="0">
                          <a:solidFill>
                            <a:srgbClr val="FF0000"/>
                          </a:solidFill>
                          <a:latin typeface="Cambria Math" panose="02040503050406030204" pitchFamily="18" charset="0"/>
                        </a:rPr>
                        <m:t>)</m:t>
                      </m:r>
                    </m:oMath>
                  </m:oMathPara>
                </a14:m>
                <a:endParaRPr lang="mn-MN" sz="3600" dirty="0">
                  <a:solidFill>
                    <a:srgbClr val="FF0000"/>
                  </a:solidFill>
                  <a:latin typeface="Times New Roman" panose="02020603050405020304" pitchFamily="18" charset="0"/>
                  <a:cs typeface="Times New Roman" panose="02020603050405020304" pitchFamily="18" charset="0"/>
                </a:endParaRPr>
              </a:p>
              <a:p>
                <a:pPr marL="0" indent="0" algn="just">
                  <a:lnSpc>
                    <a:spcPct val="100000"/>
                  </a:lnSpc>
                  <a:spcBef>
                    <a:spcPts val="200"/>
                  </a:spcBef>
                  <a:buNone/>
                </a:pPr>
                <a14:m>
                  <m:oMathPara xmlns:m="http://schemas.openxmlformats.org/officeDocument/2006/math">
                    <m:oMathParaPr>
                      <m:jc m:val="centerGroup"/>
                    </m:oMathParaPr>
                    <m:oMath xmlns:m="http://schemas.openxmlformats.org/officeDocument/2006/math">
                      <m:r>
                        <a:rPr lang="en-US" sz="3600" i="1" cap="none" dirty="0" smtClean="0">
                          <a:solidFill>
                            <a:srgbClr val="FF0000"/>
                          </a:solidFill>
                          <a:latin typeface="Cambria Math" panose="02040503050406030204" pitchFamily="18" charset="0"/>
                        </a:rPr>
                        <m:t>𝑖</m:t>
                      </m:r>
                      <m:r>
                        <a:rPr lang="en-US" sz="3600" i="1" cap="none" baseline="-25000" dirty="0" err="1" smtClean="0">
                          <a:solidFill>
                            <a:srgbClr val="FF0000"/>
                          </a:solidFill>
                          <a:latin typeface="Cambria Math" panose="02040503050406030204" pitchFamily="18" charset="0"/>
                        </a:rPr>
                        <m:t>𝑟</m:t>
                      </m:r>
                      <m:r>
                        <a:rPr lang="en-US" sz="3600" i="1" dirty="0" smtClean="0">
                          <a:solidFill>
                            <a:srgbClr val="FF0000"/>
                          </a:solidFill>
                          <a:latin typeface="Cambria Math" panose="02040503050406030204" pitchFamily="18" charset="0"/>
                        </a:rPr>
                        <m:t>=</m:t>
                      </m:r>
                      <m:f>
                        <m:fPr>
                          <m:ctrlPr>
                            <a:rPr lang="en-US" sz="3600" i="1" cap="none" dirty="0" smtClean="0">
                              <a:solidFill>
                                <a:srgbClr val="FF0000"/>
                              </a:solidFill>
                              <a:latin typeface="Cambria Math" panose="02040503050406030204" pitchFamily="18" charset="0"/>
                            </a:rPr>
                          </m:ctrlPr>
                        </m:fPr>
                        <m:num>
                          <m:r>
                            <a:rPr lang="en-US" sz="3600" i="1" cap="none" dirty="0" err="1" smtClean="0">
                              <a:solidFill>
                                <a:srgbClr val="FF0000"/>
                              </a:solidFill>
                              <a:latin typeface="Cambria Math" panose="02040503050406030204" pitchFamily="18" charset="0"/>
                            </a:rPr>
                            <m:t>𝑖</m:t>
                          </m:r>
                          <m:r>
                            <a:rPr lang="en-US" sz="3600" i="1" cap="none" baseline="-25000" dirty="0" err="1" smtClean="0">
                              <a:solidFill>
                                <a:srgbClr val="FF0000"/>
                              </a:solidFill>
                              <a:latin typeface="Cambria Math" panose="02040503050406030204" pitchFamily="18" charset="0"/>
                            </a:rPr>
                            <m:t>𝑚</m:t>
                          </m:r>
                          <m:r>
                            <a:rPr lang="en-US" sz="3600" i="1" cap="none" dirty="0" smtClean="0">
                              <a:solidFill>
                                <a:srgbClr val="FF0000"/>
                              </a:solidFill>
                              <a:latin typeface="Cambria Math" panose="02040503050406030204" pitchFamily="18" charset="0"/>
                            </a:rPr>
                            <m:t>–</m:t>
                          </m:r>
                          <m:r>
                            <a:rPr lang="en-US" sz="3600" i="1" cap="none" dirty="0" smtClean="0">
                              <a:solidFill>
                                <a:srgbClr val="FF0000"/>
                              </a:solidFill>
                              <a:latin typeface="Cambria Math" panose="02040503050406030204" pitchFamily="18" charset="0"/>
                            </a:rPr>
                            <m:t>𝑓</m:t>
                          </m:r>
                        </m:num>
                        <m:den>
                          <m:r>
                            <a:rPr lang="en-US" sz="3600" i="1" cap="none" dirty="0" smtClean="0">
                              <a:solidFill>
                                <a:srgbClr val="FF0000"/>
                              </a:solidFill>
                              <a:latin typeface="Cambria Math" panose="02040503050406030204" pitchFamily="18" charset="0"/>
                            </a:rPr>
                            <m:t>1+</m:t>
                          </m:r>
                          <m:r>
                            <a:rPr lang="en-US" sz="3600" i="1" cap="none" dirty="0" smtClean="0">
                              <a:solidFill>
                                <a:srgbClr val="FF0000"/>
                              </a:solidFill>
                              <a:latin typeface="Cambria Math" panose="02040503050406030204" pitchFamily="18" charset="0"/>
                            </a:rPr>
                            <m:t>𝑓</m:t>
                          </m:r>
                        </m:den>
                      </m:f>
                    </m:oMath>
                  </m:oMathPara>
                </a14:m>
                <a:endParaRPr lang="mn-MN" sz="3600" dirty="0">
                  <a:solidFill>
                    <a:srgbClr val="002060"/>
                  </a:solidFill>
                  <a:latin typeface="Times New Roman" panose="02020603050405020304" pitchFamily="18" charset="0"/>
                  <a:cs typeface="Times New Roman" panose="02020603050405020304" pitchFamily="18" charset="0"/>
                </a:endParaRPr>
              </a:p>
              <a:p>
                <a:pPr algn="just">
                  <a:lnSpc>
                    <a:spcPct val="80000"/>
                  </a:lnSpc>
                  <a:spcBef>
                    <a:spcPts val="200"/>
                  </a:spcBef>
                </a:pPr>
                <a:r>
                  <a:rPr lang="mn-MN" sz="2400" dirty="0">
                    <a:solidFill>
                      <a:srgbClr val="002060"/>
                    </a:solidFill>
                    <a:latin typeface="Times New Roman" panose="02020603050405020304" pitchFamily="18" charset="0"/>
                    <a:cs typeface="Times New Roman" panose="02020603050405020304" pitchFamily="18" charset="0"/>
                  </a:rPr>
                  <a:t>Бодит мөнгөн урсгалын дотоод өгөөжийн түвшин (</a:t>
                </a:r>
                <a:r>
                  <a:rPr lang="en-US" sz="2400" dirty="0">
                    <a:solidFill>
                      <a:srgbClr val="002060"/>
                    </a:solidFill>
                    <a:latin typeface="Times New Roman" panose="02020603050405020304" pitchFamily="18" charset="0"/>
                    <a:cs typeface="Times New Roman" panose="02020603050405020304" pitchFamily="18" charset="0"/>
                  </a:rPr>
                  <a:t>IRR) </a:t>
                </a:r>
                <a:r>
                  <a:rPr lang="mn-MN" sz="2400" dirty="0">
                    <a:solidFill>
                      <a:srgbClr val="002060"/>
                    </a:solidFill>
                    <a:latin typeface="Times New Roman" panose="02020603050405020304" pitchFamily="18" charset="0"/>
                    <a:cs typeface="Times New Roman" panose="02020603050405020304" pitchFamily="18" charset="0"/>
                  </a:rPr>
                  <a:t>нь нэрлэсэн мөнгөн урсгал (үе бүрт ижил худалдан авах чадвартай)-ын </a:t>
                </a:r>
                <a:r>
                  <a:rPr lang="en-US" sz="2400" dirty="0">
                    <a:solidFill>
                      <a:srgbClr val="002060"/>
                    </a:solidFill>
                    <a:latin typeface="Times New Roman" panose="02020603050405020304" pitchFamily="18" charset="0"/>
                    <a:cs typeface="Times New Roman" panose="02020603050405020304" pitchFamily="18" charset="0"/>
                  </a:rPr>
                  <a:t>IRR-</a:t>
                </a:r>
                <a:r>
                  <a:rPr lang="mn-MN" sz="2400" dirty="0">
                    <a:solidFill>
                      <a:srgbClr val="002060"/>
                    </a:solidFill>
                    <a:latin typeface="Times New Roman" panose="02020603050405020304" pitchFamily="18" charset="0"/>
                    <a:cs typeface="Times New Roman" panose="02020603050405020304" pitchFamily="18" charset="0"/>
                  </a:rPr>
                  <a:t>тэй дараах хамааралтай байдаг:</a:t>
                </a:r>
              </a:p>
              <a:p>
                <a:pPr marL="0" indent="0" algn="just">
                  <a:lnSpc>
                    <a:spcPct val="100000"/>
                  </a:lnSpc>
                  <a:spcBef>
                    <a:spcPts val="200"/>
                  </a:spcBef>
                  <a:buNone/>
                </a:pPr>
                <a14:m>
                  <m:oMathPara xmlns:m="http://schemas.openxmlformats.org/officeDocument/2006/math">
                    <m:oMathParaPr>
                      <m:jc m:val="centerGroup"/>
                    </m:oMathParaPr>
                    <m:oMath xmlns:m="http://schemas.openxmlformats.org/officeDocument/2006/math">
                      <m:r>
                        <a:rPr lang="mn-MN" sz="3600" i="1" dirty="0" smtClean="0">
                          <a:solidFill>
                            <a:srgbClr val="FF0000"/>
                          </a:solidFill>
                          <a:latin typeface="Cambria Math" panose="02040503050406030204" pitchFamily="18" charset="0"/>
                        </a:rPr>
                        <m:t>𝐼𝑅𝑅</m:t>
                      </m:r>
                      <m:r>
                        <a:rPr lang="mn-MN" sz="3600" i="1" cap="none" baseline="-25000" dirty="0" smtClean="0">
                          <a:solidFill>
                            <a:srgbClr val="FF0000"/>
                          </a:solidFill>
                          <a:latin typeface="Cambria Math" panose="02040503050406030204" pitchFamily="18" charset="0"/>
                        </a:rPr>
                        <m:t>𝑟</m:t>
                      </m:r>
                      <m:r>
                        <a:rPr lang="mn-MN" sz="3600" i="1" dirty="0" smtClean="0">
                          <a:solidFill>
                            <a:srgbClr val="FF0000"/>
                          </a:solidFill>
                          <a:latin typeface="Cambria Math" panose="02040503050406030204" pitchFamily="18" charset="0"/>
                        </a:rPr>
                        <m:t>=</m:t>
                      </m:r>
                      <m:f>
                        <m:fPr>
                          <m:ctrlPr>
                            <a:rPr lang="mn-MN" sz="3600" i="1" cap="none" dirty="0" smtClean="0">
                              <a:solidFill>
                                <a:srgbClr val="FF0000"/>
                              </a:solidFill>
                              <a:latin typeface="Cambria Math" panose="02040503050406030204" pitchFamily="18" charset="0"/>
                            </a:rPr>
                          </m:ctrlPr>
                        </m:fPr>
                        <m:num>
                          <m:r>
                            <a:rPr lang="mn-MN" sz="3600" i="1" dirty="0" smtClean="0">
                              <a:solidFill>
                                <a:srgbClr val="FF0000"/>
                              </a:solidFill>
                              <a:latin typeface="Cambria Math" panose="02040503050406030204" pitchFamily="18" charset="0"/>
                            </a:rPr>
                            <m:t>𝐼𝑅𝑅</m:t>
                          </m:r>
                          <m:r>
                            <a:rPr lang="mn-MN" sz="3600" i="1" cap="none" baseline="-25000" dirty="0" smtClean="0">
                              <a:solidFill>
                                <a:srgbClr val="FF0000"/>
                              </a:solidFill>
                              <a:latin typeface="Cambria Math" panose="02040503050406030204" pitchFamily="18" charset="0"/>
                            </a:rPr>
                            <m:t>𝑚</m:t>
                          </m:r>
                          <m:r>
                            <a:rPr lang="mn-MN" sz="3600" i="1" cap="none" dirty="0" smtClean="0">
                              <a:solidFill>
                                <a:srgbClr val="FF0000"/>
                              </a:solidFill>
                              <a:latin typeface="Cambria Math" panose="02040503050406030204" pitchFamily="18" charset="0"/>
                            </a:rPr>
                            <m:t>−</m:t>
                          </m:r>
                          <m:r>
                            <a:rPr lang="mn-MN" sz="3600" i="1" cap="none" dirty="0" smtClean="0">
                              <a:solidFill>
                                <a:srgbClr val="FF0000"/>
                              </a:solidFill>
                              <a:latin typeface="Cambria Math" panose="02040503050406030204" pitchFamily="18" charset="0"/>
                            </a:rPr>
                            <m:t>𝑓</m:t>
                          </m:r>
                        </m:num>
                        <m:den>
                          <m:r>
                            <a:rPr lang="mn-MN" sz="3600" i="1" cap="none" dirty="0" smtClean="0">
                              <a:solidFill>
                                <a:srgbClr val="FF0000"/>
                              </a:solidFill>
                              <a:latin typeface="Cambria Math" panose="02040503050406030204" pitchFamily="18" charset="0"/>
                            </a:rPr>
                            <m:t>1+</m:t>
                          </m:r>
                          <m:r>
                            <a:rPr lang="mn-MN" sz="3600" i="1" cap="none" dirty="0" smtClean="0">
                              <a:solidFill>
                                <a:srgbClr val="FF0000"/>
                              </a:solidFill>
                              <a:latin typeface="Cambria Math" panose="02040503050406030204" pitchFamily="18" charset="0"/>
                            </a:rPr>
                            <m:t>𝑓</m:t>
                          </m:r>
                        </m:den>
                      </m:f>
                    </m:oMath>
                  </m:oMathPara>
                </a14:m>
                <a:endParaRPr lang="mn-MN" sz="36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7" name="Content Placeholder 6">
                <a:extLst>
                  <a:ext uri="{FF2B5EF4-FFF2-40B4-BE49-F238E27FC236}">
                    <a16:creationId xmlns:a16="http://schemas.microsoft.com/office/drawing/2014/main" id="{3816EBE9-35F6-29D6-70B0-C70C35B8ACC4}"/>
                  </a:ext>
                </a:extLst>
              </p:cNvPr>
              <p:cNvSpPr>
                <a:spLocks noGrp="1" noRot="1" noChangeAspect="1" noMove="1" noResize="1" noEditPoints="1" noAdjustHandles="1" noChangeArrowheads="1" noChangeShapeType="1" noTextEdit="1"/>
              </p:cNvSpPr>
              <p:nvPr>
                <p:ph idx="1"/>
              </p:nvPr>
            </p:nvSpPr>
            <p:spPr>
              <a:xfrm>
                <a:off x="173421" y="867103"/>
                <a:ext cx="11710307" cy="5453742"/>
              </a:xfrm>
              <a:blipFill>
                <a:blip r:embed="rId4"/>
                <a:stretch>
                  <a:fillRect l="-677" t="-2235" r="-833"/>
                </a:stretch>
              </a:blipFill>
            </p:spPr>
            <p:txBody>
              <a:bodyPr/>
              <a:lstStyle/>
              <a:p>
                <a:r>
                  <a:rPr lang="en-US">
                    <a:noFill/>
                  </a:rPr>
                  <a:t> </a:t>
                </a:r>
              </a:p>
            </p:txBody>
          </p:sp>
        </mc:Fallback>
      </mc:AlternateContent>
    </p:spTree>
    <p:extLst>
      <p:ext uri="{BB962C8B-B14F-4D97-AF65-F5344CB8AC3E}">
        <p14:creationId xmlns:p14="http://schemas.microsoft.com/office/powerpoint/2010/main" val="39445550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90C9-7867-B2FE-DDC6-6022E983749C}"/>
              </a:ext>
            </a:extLst>
          </p:cNvPr>
          <p:cNvSpPr>
            <a:spLocks noGrp="1"/>
          </p:cNvSpPr>
          <p:nvPr>
            <p:ph type="title"/>
          </p:nvPr>
        </p:nvSpPr>
        <p:spPr>
          <a:xfrm>
            <a:off x="94592" y="60509"/>
            <a:ext cx="11855668" cy="973818"/>
          </a:xfrm>
        </p:spPr>
        <p:txBody>
          <a:bodyPr>
            <a:noAutofit/>
          </a:bodyPr>
          <a:lstStyle/>
          <a:p>
            <a:pPr algn="just"/>
            <a:r>
              <a:rPr lang="mn-MN" sz="3000" b="1" dirty="0">
                <a:solidFill>
                  <a:srgbClr val="002060"/>
                </a:solidFill>
                <a:latin typeface="Times New Roman" panose="02020603050405020304" pitchFamily="18" charset="0"/>
                <a:cs typeface="Times New Roman" panose="02020603050405020304" pitchFamily="18" charset="0"/>
              </a:rPr>
              <a:t>Тогтмол болон ерөнхий үнийн инфляцд хамааралтай үе тутмын тэнцүү төлбөрүүд /</a:t>
            </a:r>
            <a:r>
              <a:rPr lang="en-US" sz="3000" b="1" dirty="0">
                <a:solidFill>
                  <a:srgbClr val="002060"/>
                </a:solidFill>
                <a:latin typeface="Times New Roman" panose="02020603050405020304" pitchFamily="18" charset="0"/>
                <a:cs typeface="Times New Roman" panose="02020603050405020304" pitchFamily="18" charset="0"/>
              </a:rPr>
              <a:t>Fixed and Responsive Annuities/</a:t>
            </a:r>
          </a:p>
        </p:txBody>
      </p:sp>
      <p:sp>
        <p:nvSpPr>
          <p:cNvPr id="7" name="Content Placeholder 6">
            <a:extLst>
              <a:ext uri="{FF2B5EF4-FFF2-40B4-BE49-F238E27FC236}">
                <a16:creationId xmlns:a16="http://schemas.microsoft.com/office/drawing/2014/main" id="{3816EBE9-35F6-29D6-70B0-C70C35B8ACC4}"/>
              </a:ext>
            </a:extLst>
          </p:cNvPr>
          <p:cNvSpPr>
            <a:spLocks noGrp="1"/>
          </p:cNvSpPr>
          <p:nvPr>
            <p:ph idx="1"/>
          </p:nvPr>
        </p:nvSpPr>
        <p:spPr>
          <a:xfrm>
            <a:off x="94592" y="1034327"/>
            <a:ext cx="11855668" cy="5447845"/>
          </a:xfrm>
        </p:spPr>
        <p:txBody>
          <a:bodyPr>
            <a:normAutofit fontScale="92500"/>
          </a:bodyPr>
          <a:lstStyle/>
          <a:p>
            <a:pPr algn="just">
              <a:spcBef>
                <a:spcPts val="300"/>
              </a:spcBef>
            </a:pPr>
            <a:r>
              <a:rPr lang="mn-MN" dirty="0">
                <a:solidFill>
                  <a:srgbClr val="002060"/>
                </a:solidFill>
                <a:latin typeface="Times New Roman" panose="02020603050405020304" pitchFamily="18" charset="0"/>
                <a:cs typeface="Times New Roman" panose="02020603050405020304" pitchFamily="18" charset="0"/>
              </a:rPr>
              <a:t>Ирээдүйн мөнгөн урсгалууд бонд, эсвэл тогтмол үе тутмын тэнцүү төлбөр хэлбэрээр гэрээний дагуу урьдчилан тодорхойлогдсон үед, эдгээр мөнгөн дүнгүүд ерөнхий үнийн инфляц болон дефляцид хамааралгүй байдаг. </a:t>
            </a:r>
          </a:p>
          <a:p>
            <a:pPr algn="just">
              <a:spcBef>
                <a:spcPts val="300"/>
              </a:spcBef>
            </a:pPr>
            <a:r>
              <a:rPr lang="mn-MN" dirty="0">
                <a:solidFill>
                  <a:srgbClr val="002060"/>
                </a:solidFill>
                <a:latin typeface="Times New Roman" panose="02020603050405020304" pitchFamily="18" charset="0"/>
                <a:cs typeface="Times New Roman" panose="02020603050405020304" pitchFamily="18" charset="0"/>
              </a:rPr>
              <a:t>Ирээдүйн мөнгөн дүнгүүд урьдчилан тодорхойлогдоогүй тохиолдолд, тэд ерөнхий үнийн өөрчлөлтөд хамааралтай байж болно. </a:t>
            </a:r>
          </a:p>
          <a:p>
            <a:pPr algn="just">
              <a:spcBef>
                <a:spcPts val="300"/>
              </a:spcBef>
            </a:pPr>
            <a:r>
              <a:rPr lang="mn-MN" dirty="0">
                <a:solidFill>
                  <a:srgbClr val="002060"/>
                </a:solidFill>
                <a:latin typeface="Times New Roman" panose="02020603050405020304" pitchFamily="18" charset="0"/>
                <a:cs typeface="Times New Roman" panose="02020603050405020304" pitchFamily="18" charset="0"/>
              </a:rPr>
              <a:t>Энэ нөхцөл байдлын дүр зургийг дүрслэхийн тулд хоёр төрлийн үе тутмын тэнцүү төлбөрийг ашиглая: </a:t>
            </a:r>
          </a:p>
          <a:p>
            <a:pPr marL="914400" lvl="1" indent="-457200" algn="just">
              <a:spcBef>
                <a:spcPts val="300"/>
              </a:spcBef>
              <a:buFont typeface="+mj-lt"/>
              <a:buAutoNum type="alphaLcParenR"/>
            </a:pPr>
            <a:r>
              <a:rPr lang="mn-MN" sz="2600" dirty="0">
                <a:solidFill>
                  <a:srgbClr val="002060"/>
                </a:solidFill>
                <a:latin typeface="Times New Roman" panose="02020603050405020304" pitchFamily="18" charset="0"/>
                <a:cs typeface="Times New Roman" panose="02020603050405020304" pitchFamily="18" charset="0"/>
              </a:rPr>
              <a:t>Эхний үе тутмын тэнцүү төлбөр нь тогтмол (ерөнхий үнийн инфляцд хамааралгүй) ба 10 жилийн турш жил бүр $2,000-ын нэрлэсэн ханшаар илэрхийлэгдэх ашигтай байг.</a:t>
            </a:r>
          </a:p>
          <a:p>
            <a:pPr marL="914400" lvl="1" indent="-457200" algn="just">
              <a:spcBef>
                <a:spcPts val="300"/>
              </a:spcBef>
              <a:buFont typeface="+mj-lt"/>
              <a:buAutoNum type="alphaLcParenR"/>
            </a:pPr>
            <a:r>
              <a:rPr lang="mn-MN" sz="2600" dirty="0">
                <a:solidFill>
                  <a:srgbClr val="002060"/>
                </a:solidFill>
                <a:latin typeface="Times New Roman" panose="02020603050405020304" pitchFamily="18" charset="0"/>
                <a:cs typeface="Times New Roman" panose="02020603050405020304" pitchFamily="18" charset="0"/>
              </a:rPr>
              <a:t>Хоёр дахь үе тутмын тэнцүү төлбөр нь ерөнхий үнийн инфляцд хамааралтай бөгөөд ижил 10 жилийн хугацаанд жил бүр бодит ханшаар илэрхийлсэн $2,000-той эквивалент байх нэрлэсэн (худалдан авах чадвар) ашигтай байна. </a:t>
            </a:r>
          </a:p>
          <a:p>
            <a:pPr lvl="1" algn="just">
              <a:spcBef>
                <a:spcPts val="300"/>
              </a:spcBef>
            </a:pPr>
            <a:r>
              <a:rPr lang="mn-MN" dirty="0">
                <a:solidFill>
                  <a:srgbClr val="002060"/>
                </a:solidFill>
                <a:latin typeface="Times New Roman" panose="02020603050405020304" pitchFamily="18" charset="0"/>
                <a:cs typeface="Times New Roman" panose="02020603050405020304" pitchFamily="18" charset="0"/>
              </a:rPr>
              <a:t>Ерөнхий үнийн инфляцын түвшин жилд 6% байна гэж үзэн хоёр төлбөрийн холбогдох утгуудыг 10 жилээр тооцоолж хүснэгтэд үзүүлэв.</a:t>
            </a:r>
          </a:p>
        </p:txBody>
      </p:sp>
    </p:spTree>
    <p:extLst>
      <p:ext uri="{BB962C8B-B14F-4D97-AF65-F5344CB8AC3E}">
        <p14:creationId xmlns:p14="http://schemas.microsoft.com/office/powerpoint/2010/main" val="12763637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90C9-7867-B2FE-DDC6-6022E983749C}"/>
              </a:ext>
            </a:extLst>
          </p:cNvPr>
          <p:cNvSpPr>
            <a:spLocks noGrp="1"/>
          </p:cNvSpPr>
          <p:nvPr>
            <p:ph type="title"/>
          </p:nvPr>
        </p:nvSpPr>
        <p:spPr>
          <a:xfrm>
            <a:off x="157658" y="91121"/>
            <a:ext cx="11666482" cy="804039"/>
          </a:xfrm>
        </p:spPr>
        <p:txBody>
          <a:bodyPr>
            <a:no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Ерөнхий үнийн инфляц жилд 6% байхад жил бүрийн төлбөрийн тооцоо</a:t>
            </a:r>
            <a:endParaRPr lang="en-US" sz="32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Content Placeholder 4">
            <a:extLst>
              <a:ext uri="{FF2B5EF4-FFF2-40B4-BE49-F238E27FC236}">
                <a16:creationId xmlns:a16="http://schemas.microsoft.com/office/drawing/2014/main" id="{3A6F8502-15EC-8773-F537-6294BC30DC3B}"/>
              </a:ext>
            </a:extLst>
          </p:cNvPr>
          <p:cNvGraphicFramePr>
            <a:graphicFrameLocks/>
          </p:cNvGraphicFramePr>
          <p:nvPr>
            <p:extLst>
              <p:ext uri="{D42A27DB-BD31-4B8C-83A1-F6EECF244321}">
                <p14:modId xmlns:p14="http://schemas.microsoft.com/office/powerpoint/2010/main" val="1437744414"/>
              </p:ext>
            </p:extLst>
          </p:nvPr>
        </p:nvGraphicFramePr>
        <p:xfrm>
          <a:off x="262759" y="895160"/>
          <a:ext cx="11666482" cy="5425440"/>
        </p:xfrm>
        <a:graphic>
          <a:graphicData uri="http://schemas.openxmlformats.org/drawingml/2006/table">
            <a:tbl>
              <a:tblPr firstRow="1" firstCol="1" bandRow="1">
                <a:tableStyleId>{5C22544A-7EE6-4342-B048-85BDC9FD1C3A}</a:tableStyleId>
              </a:tblPr>
              <a:tblGrid>
                <a:gridCol w="1417882">
                  <a:extLst>
                    <a:ext uri="{9D8B030D-6E8A-4147-A177-3AD203B41FA5}">
                      <a16:colId xmlns:a16="http://schemas.microsoft.com/office/drawing/2014/main" val="1759703972"/>
                    </a:ext>
                  </a:extLst>
                </a:gridCol>
                <a:gridCol w="2230952">
                  <a:extLst>
                    <a:ext uri="{9D8B030D-6E8A-4147-A177-3AD203B41FA5}">
                      <a16:colId xmlns:a16="http://schemas.microsoft.com/office/drawing/2014/main" val="2424371975"/>
                    </a:ext>
                  </a:extLst>
                </a:gridCol>
                <a:gridCol w="2437786">
                  <a:extLst>
                    <a:ext uri="{9D8B030D-6E8A-4147-A177-3AD203B41FA5}">
                      <a16:colId xmlns:a16="http://schemas.microsoft.com/office/drawing/2014/main" val="21216641"/>
                    </a:ext>
                  </a:extLst>
                </a:gridCol>
                <a:gridCol w="1967061">
                  <a:extLst>
                    <a:ext uri="{9D8B030D-6E8A-4147-A177-3AD203B41FA5}">
                      <a16:colId xmlns:a16="http://schemas.microsoft.com/office/drawing/2014/main" val="473770682"/>
                    </a:ext>
                  </a:extLst>
                </a:gridCol>
                <a:gridCol w="3612801">
                  <a:extLst>
                    <a:ext uri="{9D8B030D-6E8A-4147-A177-3AD203B41FA5}">
                      <a16:colId xmlns:a16="http://schemas.microsoft.com/office/drawing/2014/main" val="2511717504"/>
                    </a:ext>
                  </a:extLst>
                </a:gridCol>
              </a:tblGrid>
              <a:tr h="556093">
                <a:tc>
                  <a:txBody>
                    <a:bodyPr/>
                    <a:lstStyle/>
                    <a:p>
                      <a:pPr algn="ctr">
                        <a:spcAft>
                          <a:spcPts val="0"/>
                        </a:spcAft>
                      </a:pPr>
                      <a:r>
                        <a:rPr lang="en-US" sz="2400" dirty="0">
                          <a:effectLst/>
                          <a:latin typeface="Times New Roman" panose="02020603050405020304" pitchFamily="18" charset="0"/>
                          <a:cs typeface="Times New Roman" panose="02020603050405020304" pitchFamily="18" charset="0"/>
                        </a:rPr>
                        <a:t> </a:t>
                      </a:r>
                      <a:endParaRPr lang="en-US" sz="32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spcAft>
                          <a:spcPts val="0"/>
                        </a:spcAft>
                      </a:pPr>
                      <a:r>
                        <a:rPr lang="mn-MN" sz="2400" dirty="0">
                          <a:effectLst/>
                          <a:latin typeface="Times New Roman" panose="02020603050405020304" pitchFamily="18" charset="0"/>
                          <a:cs typeface="Times New Roman" panose="02020603050405020304" pitchFamily="18" charset="0"/>
                        </a:rPr>
                        <a:t>Тогтмол үе тутмын тэнцүү төлбөр</a:t>
                      </a:r>
                      <a:endParaRPr lang="en-US" sz="32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gridSpan="2">
                  <a:txBody>
                    <a:bodyPr/>
                    <a:lstStyle/>
                    <a:p>
                      <a:pPr algn="ctr">
                        <a:spcAft>
                          <a:spcPts val="0"/>
                        </a:spcAft>
                      </a:pPr>
                      <a:r>
                        <a:rPr lang="mn-MN" sz="2400" dirty="0">
                          <a:effectLst/>
                          <a:latin typeface="Times New Roman" panose="02020603050405020304" pitchFamily="18" charset="0"/>
                          <a:cs typeface="Times New Roman" panose="02020603050405020304" pitchFamily="18" charset="0"/>
                        </a:rPr>
                        <a:t>Ерөнхий үнийн инфляцд хамааралтай үе тутмын тэнцүү төлбөр</a:t>
                      </a:r>
                      <a:endParaRPr lang="en-US" sz="32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2489714908"/>
                  </a:ext>
                </a:extLst>
              </a:tr>
              <a:tr h="566979">
                <a:tc>
                  <a:txBody>
                    <a:bodyPr/>
                    <a:lstStyle/>
                    <a:p>
                      <a:pPr algn="ctr">
                        <a:spcAft>
                          <a:spcPts val="0"/>
                        </a:spcAft>
                      </a:pPr>
                      <a:r>
                        <a:rPr lang="mn-MN" sz="2400">
                          <a:effectLst/>
                          <a:latin typeface="Times New Roman" panose="02020603050405020304" pitchFamily="18" charset="0"/>
                          <a:cs typeface="Times New Roman" panose="02020603050405020304" pitchFamily="18" charset="0"/>
                        </a:rPr>
                        <a:t>Жилийн эцэс, </a:t>
                      </a:r>
                      <a:r>
                        <a:rPr lang="en-US" sz="2400">
                          <a:effectLst/>
                          <a:latin typeface="Times New Roman" panose="02020603050405020304" pitchFamily="18" charset="0"/>
                          <a:cs typeface="Times New Roman" panose="02020603050405020304" pitchFamily="18" charset="0"/>
                        </a:rPr>
                        <a:t>k</a:t>
                      </a:r>
                      <a:endParaRPr lang="en-US" sz="32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mn-MN" sz="2400" dirty="0">
                          <a:effectLst/>
                          <a:latin typeface="Times New Roman" panose="02020603050405020304" pitchFamily="18" charset="0"/>
                          <a:cs typeface="Times New Roman" panose="02020603050405020304" pitchFamily="18" charset="0"/>
                        </a:rPr>
                        <a:t>Нэрлэсэн ханшаар</a:t>
                      </a:r>
                      <a:endParaRPr lang="en-US" sz="32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mn-MN" sz="2400" dirty="0">
                          <a:effectLst/>
                          <a:latin typeface="Times New Roman" panose="02020603050405020304" pitchFamily="18" charset="0"/>
                          <a:cs typeface="Times New Roman" panose="02020603050405020304" pitchFamily="18" charset="0"/>
                        </a:rPr>
                        <a:t>Бодит ханштай эквивалент</a:t>
                      </a:r>
                      <a:r>
                        <a:rPr lang="mn-MN" sz="2400" baseline="30000" dirty="0">
                          <a:effectLst/>
                          <a:latin typeface="Times New Roman" panose="02020603050405020304" pitchFamily="18" charset="0"/>
                          <a:cs typeface="Times New Roman" panose="02020603050405020304" pitchFamily="18" charset="0"/>
                        </a:rPr>
                        <a:t>а</a:t>
                      </a:r>
                      <a:endParaRPr lang="en-US" sz="32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mn-MN" sz="2400" dirty="0">
                          <a:effectLst/>
                          <a:latin typeface="Times New Roman" panose="02020603050405020304" pitchFamily="18" charset="0"/>
                          <a:cs typeface="Times New Roman" panose="02020603050405020304" pitchFamily="18" charset="0"/>
                        </a:rPr>
                        <a:t>Нэрлэсэн ханшаар</a:t>
                      </a:r>
                      <a:endParaRPr lang="en-US" sz="32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mn-MN" sz="2400" dirty="0">
                          <a:effectLst/>
                          <a:latin typeface="Times New Roman" panose="02020603050405020304" pitchFamily="18" charset="0"/>
                          <a:cs typeface="Times New Roman" panose="02020603050405020304" pitchFamily="18" charset="0"/>
                        </a:rPr>
                        <a:t>Бодит ханштай эквивалент</a:t>
                      </a:r>
                      <a:r>
                        <a:rPr lang="mn-MN" sz="2400" baseline="30000" dirty="0">
                          <a:effectLst/>
                          <a:latin typeface="Times New Roman" panose="02020603050405020304" pitchFamily="18" charset="0"/>
                          <a:cs typeface="Times New Roman" panose="02020603050405020304" pitchFamily="18" charset="0"/>
                        </a:rPr>
                        <a:t>а</a:t>
                      </a:r>
                      <a:endParaRPr lang="en-US" sz="32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11601532"/>
                  </a:ext>
                </a:extLst>
              </a:tr>
              <a:tr h="71679">
                <a:tc>
                  <a:txBody>
                    <a:bodyPr/>
                    <a:lstStyle/>
                    <a:p>
                      <a:pPr algn="ctr">
                        <a:spcAft>
                          <a:spcPts val="0"/>
                        </a:spcAft>
                      </a:pPr>
                      <a:r>
                        <a:rPr lang="mn-MN" sz="2400">
                          <a:effectLst/>
                          <a:latin typeface="Times New Roman" panose="02020603050405020304" pitchFamily="18" charset="0"/>
                          <a:cs typeface="Times New Roman" panose="02020603050405020304" pitchFamily="18" charset="0"/>
                        </a:rPr>
                        <a:t>1</a:t>
                      </a:r>
                      <a:endParaRPr lang="en-US" sz="32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$2,000</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$1,887</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$2,120</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06070645"/>
                  </a:ext>
                </a:extLst>
              </a:tr>
              <a:tr h="0">
                <a:tc>
                  <a:txBody>
                    <a:bodyPr/>
                    <a:lstStyle/>
                    <a:p>
                      <a:pPr algn="ctr">
                        <a:spcAft>
                          <a:spcPts val="0"/>
                        </a:spcAft>
                      </a:pPr>
                      <a:r>
                        <a:rPr lang="mn-MN" sz="2400">
                          <a:effectLst/>
                          <a:latin typeface="Times New Roman" panose="02020603050405020304" pitchFamily="18" charset="0"/>
                          <a:cs typeface="Times New Roman" panose="02020603050405020304" pitchFamily="18" charset="0"/>
                        </a:rPr>
                        <a:t>2</a:t>
                      </a:r>
                      <a:endParaRPr lang="en-US" sz="32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600" dirty="0">
                          <a:effectLst/>
                          <a:latin typeface="Times New Roman" panose="02020603050405020304" pitchFamily="18" charset="0"/>
                          <a:cs typeface="Times New Roman" panose="02020603050405020304" pitchFamily="18" charset="0"/>
                        </a:rPr>
                        <a:t>2,000</a:t>
                      </a:r>
                      <a:endParaRPr lang="en-US" sz="26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1,780</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2,247</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83491729"/>
                  </a:ext>
                </a:extLst>
              </a:tr>
              <a:tr h="0">
                <a:tc>
                  <a:txBody>
                    <a:bodyPr/>
                    <a:lstStyle/>
                    <a:p>
                      <a:pPr algn="ctr">
                        <a:spcAft>
                          <a:spcPts val="0"/>
                        </a:spcAft>
                      </a:pPr>
                      <a:r>
                        <a:rPr lang="mn-MN" sz="2400">
                          <a:effectLst/>
                          <a:latin typeface="Times New Roman" panose="02020603050405020304" pitchFamily="18" charset="0"/>
                          <a:cs typeface="Times New Roman" panose="02020603050405020304" pitchFamily="18" charset="0"/>
                        </a:rPr>
                        <a:t>3</a:t>
                      </a:r>
                      <a:endParaRPr lang="en-US" sz="32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1,679</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2,382</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40598438"/>
                  </a:ext>
                </a:extLst>
              </a:tr>
              <a:tr h="0">
                <a:tc>
                  <a:txBody>
                    <a:bodyPr/>
                    <a:lstStyle/>
                    <a:p>
                      <a:pPr algn="ctr">
                        <a:spcAft>
                          <a:spcPts val="0"/>
                        </a:spcAft>
                      </a:pPr>
                      <a:r>
                        <a:rPr lang="mn-MN" sz="2400" dirty="0">
                          <a:effectLst/>
                          <a:latin typeface="Times New Roman" panose="02020603050405020304" pitchFamily="18" charset="0"/>
                          <a:cs typeface="Times New Roman" panose="02020603050405020304" pitchFamily="18" charset="0"/>
                        </a:rPr>
                        <a:t>4</a:t>
                      </a:r>
                      <a:endParaRPr lang="en-US" sz="32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1,584</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2,525</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59308153"/>
                  </a:ext>
                </a:extLst>
              </a:tr>
              <a:tr h="0">
                <a:tc>
                  <a:txBody>
                    <a:bodyPr/>
                    <a:lstStyle/>
                    <a:p>
                      <a:pPr algn="ctr">
                        <a:spcAft>
                          <a:spcPts val="0"/>
                        </a:spcAft>
                      </a:pPr>
                      <a:r>
                        <a:rPr lang="mn-MN" sz="2400">
                          <a:effectLst/>
                          <a:latin typeface="Times New Roman" panose="02020603050405020304" pitchFamily="18" charset="0"/>
                          <a:cs typeface="Times New Roman" panose="02020603050405020304" pitchFamily="18" charset="0"/>
                        </a:rPr>
                        <a:t>5</a:t>
                      </a:r>
                      <a:endParaRPr lang="en-US" sz="32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1,495</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2,676</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81688061"/>
                  </a:ext>
                </a:extLst>
              </a:tr>
              <a:tr h="0">
                <a:tc>
                  <a:txBody>
                    <a:bodyPr/>
                    <a:lstStyle/>
                    <a:p>
                      <a:pPr algn="ctr">
                        <a:spcAft>
                          <a:spcPts val="0"/>
                        </a:spcAft>
                      </a:pPr>
                      <a:r>
                        <a:rPr lang="mn-MN" sz="2400">
                          <a:effectLst/>
                          <a:latin typeface="Times New Roman" panose="02020603050405020304" pitchFamily="18" charset="0"/>
                          <a:cs typeface="Times New Roman" panose="02020603050405020304" pitchFamily="18" charset="0"/>
                        </a:rPr>
                        <a:t>6</a:t>
                      </a:r>
                      <a:endParaRPr lang="en-US" sz="32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1,410</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2,837</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4924825"/>
                  </a:ext>
                </a:extLst>
              </a:tr>
              <a:tr h="0">
                <a:tc>
                  <a:txBody>
                    <a:bodyPr/>
                    <a:lstStyle/>
                    <a:p>
                      <a:pPr algn="ctr">
                        <a:spcAft>
                          <a:spcPts val="0"/>
                        </a:spcAft>
                      </a:pPr>
                      <a:r>
                        <a:rPr lang="mn-MN" sz="2400">
                          <a:effectLst/>
                          <a:latin typeface="Times New Roman" panose="02020603050405020304" pitchFamily="18" charset="0"/>
                          <a:cs typeface="Times New Roman" panose="02020603050405020304" pitchFamily="18" charset="0"/>
                        </a:rPr>
                        <a:t>7</a:t>
                      </a:r>
                      <a:endParaRPr lang="en-US" sz="32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1,330</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3,007</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2,000</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84967703"/>
                  </a:ext>
                </a:extLst>
              </a:tr>
              <a:tr h="0">
                <a:tc>
                  <a:txBody>
                    <a:bodyPr/>
                    <a:lstStyle/>
                    <a:p>
                      <a:pPr algn="ctr">
                        <a:spcAft>
                          <a:spcPts val="0"/>
                        </a:spcAft>
                      </a:pPr>
                      <a:r>
                        <a:rPr lang="mn-MN" sz="2400">
                          <a:effectLst/>
                          <a:latin typeface="Times New Roman" panose="02020603050405020304" pitchFamily="18" charset="0"/>
                          <a:cs typeface="Times New Roman" panose="02020603050405020304" pitchFamily="18" charset="0"/>
                        </a:rPr>
                        <a:t>8</a:t>
                      </a:r>
                      <a:endParaRPr lang="en-US" sz="32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1,255</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3,188</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2,000</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09214143"/>
                  </a:ext>
                </a:extLst>
              </a:tr>
              <a:tr h="0">
                <a:tc>
                  <a:txBody>
                    <a:bodyPr/>
                    <a:lstStyle/>
                    <a:p>
                      <a:pPr algn="ctr">
                        <a:spcAft>
                          <a:spcPts val="0"/>
                        </a:spcAft>
                      </a:pPr>
                      <a:r>
                        <a:rPr lang="mn-MN" sz="2400">
                          <a:effectLst/>
                          <a:latin typeface="Times New Roman" panose="02020603050405020304" pitchFamily="18" charset="0"/>
                          <a:cs typeface="Times New Roman" panose="02020603050405020304" pitchFamily="18" charset="0"/>
                        </a:rPr>
                        <a:t>9</a:t>
                      </a:r>
                      <a:endParaRPr lang="en-US" sz="32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600">
                          <a:effectLst/>
                          <a:latin typeface="Times New Roman" panose="02020603050405020304" pitchFamily="18" charset="0"/>
                          <a:cs typeface="Times New Roman" panose="02020603050405020304" pitchFamily="18" charset="0"/>
                        </a:rPr>
                        <a:t>2,000</a:t>
                      </a:r>
                      <a:endParaRPr lang="en-US" sz="260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1,184</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3,379</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2,000</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8227623"/>
                  </a:ext>
                </a:extLst>
              </a:tr>
              <a:tr h="0">
                <a:tc>
                  <a:txBody>
                    <a:bodyPr/>
                    <a:lstStyle/>
                    <a:p>
                      <a:pPr algn="ctr">
                        <a:spcAft>
                          <a:spcPts val="0"/>
                        </a:spcAft>
                      </a:pPr>
                      <a:r>
                        <a:rPr lang="mn-MN" sz="2400">
                          <a:effectLst/>
                          <a:latin typeface="Times New Roman" panose="02020603050405020304" pitchFamily="18" charset="0"/>
                          <a:cs typeface="Times New Roman" panose="02020603050405020304" pitchFamily="18" charset="0"/>
                        </a:rPr>
                        <a:t>10</a:t>
                      </a:r>
                      <a:endParaRPr lang="en-US" sz="32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600" dirty="0">
                          <a:effectLst/>
                          <a:latin typeface="Times New Roman" panose="02020603050405020304" pitchFamily="18" charset="0"/>
                          <a:cs typeface="Times New Roman" panose="02020603050405020304" pitchFamily="18" charset="0"/>
                        </a:rPr>
                        <a:t>2,000</a:t>
                      </a:r>
                      <a:endParaRPr lang="en-US" sz="2600" dirty="0">
                        <a:solidFill>
                          <a:srgbClr val="107DC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1,117</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a:effectLst/>
                          <a:latin typeface="Times New Roman" panose="02020603050405020304" pitchFamily="18" charset="0"/>
                          <a:cs typeface="Times New Roman" panose="02020603050405020304" pitchFamily="18" charset="0"/>
                        </a:rPr>
                        <a:t>3,582</a:t>
                      </a:r>
                      <a:endParaRPr lang="en-US" sz="260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US" sz="2600" dirty="0">
                          <a:effectLst/>
                          <a:latin typeface="Times New Roman" panose="02020603050405020304" pitchFamily="18" charset="0"/>
                          <a:cs typeface="Times New Roman" panose="02020603050405020304" pitchFamily="18" charset="0"/>
                        </a:rPr>
                        <a:t>2,000</a:t>
                      </a:r>
                      <a:endParaRPr lang="en-US" sz="2600" dirty="0">
                        <a:solidFill>
                          <a:srgbClr val="107DC5"/>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75252100"/>
                  </a:ext>
                </a:extLst>
              </a:tr>
            </a:tbl>
          </a:graphicData>
        </a:graphic>
      </p:graphicFrame>
    </p:spTree>
    <p:extLst>
      <p:ext uri="{BB962C8B-B14F-4D97-AF65-F5344CB8AC3E}">
        <p14:creationId xmlns:p14="http://schemas.microsoft.com/office/powerpoint/2010/main" val="25371800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8C14C-7681-5C71-E371-4646B80B7671}"/>
              </a:ext>
            </a:extLst>
          </p:cNvPr>
          <p:cNvSpPr>
            <a:spLocks noGrp="1"/>
          </p:cNvSpPr>
          <p:nvPr>
            <p:ph type="title"/>
          </p:nvPr>
        </p:nvSpPr>
        <p:spPr>
          <a:xfrm>
            <a:off x="215462" y="110362"/>
            <a:ext cx="11708763" cy="788276"/>
          </a:xfrm>
        </p:spPr>
        <p:txBody>
          <a:bodyPr>
            <a:noAutofit/>
          </a:bodyPr>
          <a:lstStyle/>
          <a:p>
            <a:pPr algn="just">
              <a:spcBef>
                <a:spcPts val="300"/>
              </a:spcBef>
            </a:pPr>
            <a:r>
              <a:rPr lang="mn-MN" sz="3000" b="1" dirty="0">
                <a:solidFill>
                  <a:srgbClr val="002060"/>
                </a:solidFill>
                <a:latin typeface="Times New Roman" panose="02020603050405020304" pitchFamily="18" charset="0"/>
                <a:cs typeface="Times New Roman" panose="02020603050405020304" pitchFamily="18" charset="0"/>
              </a:rPr>
              <a:t>Тогтмол болон ерөнхий үнийн инфляцд хамааралтай үе тутмын тэнцүү төлбөрүүд /</a:t>
            </a:r>
            <a:r>
              <a:rPr lang="en-US" sz="3000" b="1" dirty="0">
                <a:solidFill>
                  <a:srgbClr val="002060"/>
                </a:solidFill>
                <a:latin typeface="Times New Roman" panose="02020603050405020304" pitchFamily="18" charset="0"/>
                <a:cs typeface="Times New Roman" panose="02020603050405020304" pitchFamily="18" charset="0"/>
              </a:rPr>
              <a:t>Fixed and Responsive Annuities/</a:t>
            </a:r>
            <a:endParaRPr lang="en-US"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BB44C86-0414-79DA-9A0D-C82B49E5AA40}"/>
              </a:ext>
            </a:extLst>
          </p:cNvPr>
          <p:cNvSpPr>
            <a:spLocks noGrp="1"/>
          </p:cNvSpPr>
          <p:nvPr>
            <p:ph idx="1"/>
          </p:nvPr>
        </p:nvSpPr>
        <p:spPr>
          <a:xfrm>
            <a:off x="189305" y="898638"/>
            <a:ext cx="11761076" cy="5849000"/>
          </a:xfrm>
        </p:spPr>
        <p:txBody>
          <a:bodyPr>
            <a:normAutofit fontScale="92500" lnSpcReduction="20000"/>
          </a:bodyPr>
          <a:lstStyle/>
          <a:p>
            <a:pPr algn="just">
              <a:spcBef>
                <a:spcPts val="300"/>
              </a:spcBef>
            </a:pPr>
            <a:r>
              <a:rPr lang="mn-MN" dirty="0">
                <a:solidFill>
                  <a:srgbClr val="002060"/>
                </a:solidFill>
                <a:latin typeface="Times New Roman" panose="02020603050405020304" pitchFamily="18" charset="0"/>
                <a:cs typeface="Times New Roman" panose="02020603050405020304" pitchFamily="18" charset="0"/>
              </a:rPr>
              <a:t>ИЭЗС-нд ерөнхий үнийн инфляцд хамааралгүй жилийн тогтмол төлбөрүүдийг авч үзсэн байх ёстой. </a:t>
            </a:r>
          </a:p>
          <a:p>
            <a:pPr lvl="1" algn="just">
              <a:spcBef>
                <a:spcPts val="300"/>
              </a:spcBef>
            </a:pPr>
            <a:r>
              <a:rPr lang="mn-MN" dirty="0">
                <a:solidFill>
                  <a:srgbClr val="002060"/>
                </a:solidFill>
                <a:latin typeface="Times New Roman" panose="02020603050405020304" pitchFamily="18" charset="0"/>
                <a:cs typeface="Times New Roman" panose="02020603050405020304" pitchFamily="18" charset="0"/>
              </a:rPr>
              <a:t>Жишээлбэл, нэгэнтээ тодорхойлсон элэгдлийн шимтгэлийн мөнгөн дүнг ерөнхий үнийн инфляцтай нийцүүлэн өсгөдөггүй (одоогийн нягтлан бодох бүртгэлийн практикт хэрэглэдэг); </a:t>
            </a:r>
          </a:p>
          <a:p>
            <a:pPr lvl="1" algn="just">
              <a:spcBef>
                <a:spcPts val="300"/>
              </a:spcBef>
            </a:pPr>
            <a:r>
              <a:rPr lang="mn-MN" dirty="0">
                <a:solidFill>
                  <a:srgbClr val="002060"/>
                </a:solidFill>
                <a:latin typeface="Times New Roman" panose="02020603050405020304" pitchFamily="18" charset="0"/>
                <a:cs typeface="Times New Roman" panose="02020603050405020304" pitchFamily="18" charset="0"/>
              </a:rPr>
              <a:t>Лизингийн төлбөрүүд болон өгөгдсөн хугацааны үечлэлд ихэвчлэн гэрээгээр тогтмол байна гэж заасан хүүний төлбөрүүд байдаг. </a:t>
            </a:r>
          </a:p>
          <a:p>
            <a:pPr algn="just">
              <a:spcBef>
                <a:spcPts val="300"/>
              </a:spcBef>
            </a:pPr>
            <a:r>
              <a:rPr lang="mn-MN" dirty="0">
                <a:solidFill>
                  <a:srgbClr val="002060"/>
                </a:solidFill>
                <a:latin typeface="Times New Roman" panose="02020603050405020304" pitchFamily="18" charset="0"/>
                <a:cs typeface="Times New Roman" panose="02020603050405020304" pitchFamily="18" charset="0"/>
              </a:rPr>
              <a:t>Түүнчлэн, энд нэрлэсэн ханшаар шинжилгээг хийх үед ерөнхий үнийн инфляцд хамааралгүй жилийн төлбөрүүдийг таньж мэдэх нь чухал ба бодит ханшаар шинжилгээг хийх үед эдгээр </a:t>
            </a:r>
            <a:r>
              <a:rPr lang="en-US" dirty="0">
                <a:solidFill>
                  <a:srgbClr val="002060"/>
                </a:solidFill>
                <a:latin typeface="Times New Roman" panose="02020603050405020304" pitchFamily="18" charset="0"/>
                <a:cs typeface="Times New Roman" panose="02020603050405020304" pitchFamily="18" charset="0"/>
              </a:rPr>
              <a:t>A$-</a:t>
            </a:r>
            <a:r>
              <a:rPr lang="mn-MN" dirty="0">
                <a:solidFill>
                  <a:srgbClr val="002060"/>
                </a:solidFill>
                <a:latin typeface="Times New Roman" panose="02020603050405020304" pitchFamily="18" charset="0"/>
                <a:cs typeface="Times New Roman" panose="02020603050405020304" pitchFamily="18" charset="0"/>
              </a:rPr>
              <a:t>ын жилийн төлбөрүүдийг </a:t>
            </a:r>
            <a:r>
              <a:rPr lang="en-US" dirty="0">
                <a:solidFill>
                  <a:srgbClr val="002060"/>
                </a:solidFill>
                <a:latin typeface="Times New Roman" panose="02020603050405020304" pitchFamily="18" charset="0"/>
                <a:cs typeface="Times New Roman" panose="02020603050405020304" pitchFamily="18" charset="0"/>
              </a:rPr>
              <a:t>R$-</a:t>
            </a:r>
            <a:r>
              <a:rPr lang="mn-MN" dirty="0">
                <a:solidFill>
                  <a:srgbClr val="002060"/>
                </a:solidFill>
                <a:latin typeface="Times New Roman" panose="02020603050405020304" pitchFamily="18" charset="0"/>
                <a:cs typeface="Times New Roman" panose="02020603050405020304" pitchFamily="18" charset="0"/>
              </a:rPr>
              <a:t>ын жилийн төлбөрүүдэд хөрвүүлдэг.</a:t>
            </a:r>
          </a:p>
          <a:p>
            <a:pPr algn="just">
              <a:spcBef>
                <a:spcPts val="300"/>
              </a:spcBef>
            </a:pPr>
            <a:r>
              <a:rPr lang="mn-MN" dirty="0">
                <a:solidFill>
                  <a:srgbClr val="002060"/>
                </a:solidFill>
                <a:latin typeface="Times New Roman" panose="02020603050405020304" pitchFamily="18" charset="0"/>
                <a:cs typeface="Times New Roman" panose="02020603050405020304" pitchFamily="18" charset="0"/>
              </a:rPr>
              <a:t>ИЭЗС-нд инфляц ба дефляцаас шалтгаалсан үнийн өөрчлөлтүүдийн нөлөөллүүдийг багтаасан байх ба үүнд хүүний төлбөрүүд, элэгдлийн шимтгэлүүд, лизингийн төлбөрүүд болон бусад гэрээний дүнгүүд гэх зүйлс ордог. </a:t>
            </a:r>
          </a:p>
          <a:p>
            <a:pPr lvl="1" algn="just">
              <a:spcBef>
                <a:spcPts val="300"/>
              </a:spcBef>
            </a:pPr>
            <a:r>
              <a:rPr lang="mn-MN" dirty="0">
                <a:solidFill>
                  <a:srgbClr val="002060"/>
                </a:solidFill>
                <a:latin typeface="Times New Roman" panose="02020603050405020304" pitchFamily="18" charset="0"/>
                <a:cs typeface="Times New Roman" panose="02020603050405020304" pitchFamily="18" charset="0"/>
              </a:rPr>
              <a:t>Эдгээр нь өнгөрсөн үүрэг даалгавар, үйлдэлд үндэслэсэн нэрлэсэн ханшаар илэрхийлэгдэх мөнгөн урсгалууд байдаг. Тэд цаашдын үнийн өөрчлөлтүүдээс гол төлөв хамааралгүй байдаг. </a:t>
            </a:r>
          </a:p>
          <a:p>
            <a:pPr algn="just">
              <a:spcBef>
                <a:spcPts val="300"/>
              </a:spcBef>
            </a:pPr>
            <a:r>
              <a:rPr lang="mn-MN" dirty="0">
                <a:solidFill>
                  <a:srgbClr val="002060"/>
                </a:solidFill>
                <a:latin typeface="Times New Roman" panose="02020603050405020304" pitchFamily="18" charset="0"/>
                <a:cs typeface="Times New Roman" panose="02020603050405020304" pitchFamily="18" charset="0"/>
              </a:rPr>
              <a:t>Үүний зэрэгцээ, мөнгөн урсгал (тухайлбал, шууд хөдөлмөр, шууд материал)-ын өөр олон төрлүүд зах зээлийн үнийн өөрчлөлтөөс хамаардаг.</a:t>
            </a: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26381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90C9-7867-B2FE-DDC6-6022E983749C}"/>
              </a:ext>
            </a:extLst>
          </p:cNvPr>
          <p:cNvSpPr>
            <a:spLocks noGrp="1"/>
          </p:cNvSpPr>
          <p:nvPr>
            <p:ph type="title"/>
          </p:nvPr>
        </p:nvSpPr>
        <p:spPr>
          <a:xfrm>
            <a:off x="204952" y="128644"/>
            <a:ext cx="11148848" cy="454680"/>
          </a:xfrm>
        </p:spPr>
        <p:txBody>
          <a:bodyPr>
            <a:noAutofit/>
          </a:bodyPr>
          <a:lstStyle/>
          <a:p>
            <a:pPr>
              <a:lnSpc>
                <a:spcPct val="80000"/>
              </a:lnSpc>
              <a:spcBef>
                <a:spcPts val="400"/>
              </a:spcBef>
            </a:pPr>
            <a:r>
              <a:rPr lang="mn-MN" sz="3600" b="1" dirty="0">
                <a:solidFill>
                  <a:srgbClr val="002060"/>
                </a:solidFill>
                <a:latin typeface="Times New Roman" panose="02020603050405020304" pitchFamily="18" charset="0"/>
                <a:cs typeface="Times New Roman" panose="02020603050405020304" pitchFamily="18" charset="0"/>
              </a:rPr>
              <a:t>Гадаад валютын ханш</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3816EBE9-35F6-29D6-70B0-C70C35B8ACC4}"/>
              </a:ext>
            </a:extLst>
          </p:cNvPr>
          <p:cNvSpPr>
            <a:spLocks noGrp="1"/>
          </p:cNvSpPr>
          <p:nvPr>
            <p:ph idx="1"/>
          </p:nvPr>
        </p:nvSpPr>
        <p:spPr>
          <a:xfrm>
            <a:off x="204952" y="583324"/>
            <a:ext cx="11544300" cy="5568041"/>
          </a:xfrm>
        </p:spPr>
        <p:txBody>
          <a:bodyPr>
            <a:normAutofit fontScale="92500" lnSpcReduction="20000"/>
          </a:bodyPr>
          <a:lstStyle/>
          <a:p>
            <a:pPr algn="just">
              <a:lnSpc>
                <a:spcPct val="100000"/>
              </a:lnSpc>
              <a:spcBef>
                <a:spcPts val="400"/>
              </a:spcBef>
            </a:pPr>
            <a:r>
              <a:rPr lang="mn-MN" b="1" dirty="0">
                <a:solidFill>
                  <a:srgbClr val="002060"/>
                </a:solidFill>
                <a:latin typeface="Times New Roman" panose="02020603050405020304" pitchFamily="18" charset="0"/>
                <a:cs typeface="Times New Roman" panose="02020603050405020304" pitchFamily="18" charset="0"/>
              </a:rPr>
              <a:t>Валютын ханш </a:t>
            </a:r>
            <a:r>
              <a:rPr lang="mn-MN" dirty="0">
                <a:solidFill>
                  <a:srgbClr val="002060"/>
                </a:solidFill>
                <a:latin typeface="Times New Roman" panose="02020603050405020304" pitchFamily="18" charset="0"/>
                <a:cs typeface="Times New Roman" panose="02020603050405020304" pitchFamily="18" charset="0"/>
              </a:rPr>
              <a:t>гэж аливаа улсын мөнгөн тэмдэгтээр нөгөө улсын мөнгөн тэмдэгтийг худалдан авах харьцааг хэлнэ. </a:t>
            </a:r>
          </a:p>
          <a:p>
            <a:pPr algn="just">
              <a:lnSpc>
                <a:spcPct val="100000"/>
              </a:lnSpc>
              <a:spcBef>
                <a:spcPts val="400"/>
              </a:spcBef>
            </a:pPr>
            <a:r>
              <a:rPr lang="mn-MN" dirty="0">
                <a:solidFill>
                  <a:srgbClr val="002060"/>
                </a:solidFill>
                <a:latin typeface="Times New Roman" panose="02020603050405020304" pitchFamily="18" charset="0"/>
                <a:cs typeface="Times New Roman" panose="02020603050405020304" pitchFamily="18" charset="0"/>
              </a:rPr>
              <a:t>Аливаа валютыг худалдан авах эрэлт болон нийлүүлэлт нэг түвшинд огтлолцон тэнцвэр үүсгэж валютын үнэ буюу ханшийг тодорхойлдог.</a:t>
            </a:r>
          </a:p>
          <a:p>
            <a:pPr algn="just">
              <a:lnSpc>
                <a:spcPct val="100000"/>
              </a:lnSpc>
              <a:spcBef>
                <a:spcPts val="400"/>
              </a:spcBef>
            </a:pPr>
            <a:r>
              <a:rPr lang="mn-MN" dirty="0">
                <a:solidFill>
                  <a:srgbClr val="002060"/>
                </a:solidFill>
                <a:latin typeface="Times New Roman" panose="02020603050405020304" pitchFamily="18" charset="0"/>
                <a:cs typeface="Times New Roman" panose="02020603050405020304" pitchFamily="18" charset="0"/>
              </a:rPr>
              <a:t>Эрэлт-нийлүүлэлтийн төсөөллөөс шалтгаалж валютын ханшид тухайн улсын хүүний түвшингүүд, хил дамнасан хөрөнгө оруулалт, үндэсний өр, инфляц болон худалдааны тэнцвэр зэрэг олон хүчин зүйл нөлөөлдөг. </a:t>
            </a:r>
          </a:p>
          <a:p>
            <a:pPr algn="just">
              <a:lnSpc>
                <a:spcPct val="100000"/>
              </a:lnSpc>
              <a:spcBef>
                <a:spcPts val="400"/>
              </a:spcBef>
            </a:pPr>
            <a:r>
              <a:rPr lang="mn-MN" dirty="0">
                <a:solidFill>
                  <a:srgbClr val="002060"/>
                </a:solidFill>
                <a:latin typeface="Times New Roman" panose="02020603050405020304" pitchFamily="18" charset="0"/>
                <a:cs typeface="Times New Roman" panose="02020603050405020304" pitchFamily="18" charset="0"/>
              </a:rPr>
              <a:t>Эдгээр хүчин зүйлсээс шалтгаалж валютын ханш өөрчлөгдөхөд, тухайн улсын ханшийн бодлого зохицуулагчид гадаад дахь худалдан авах чадварын өөрчлөлтөд судалгаа хийж үздэг.</a:t>
            </a:r>
          </a:p>
          <a:p>
            <a:pPr algn="just">
              <a:lnSpc>
                <a:spcPct val="100000"/>
              </a:lnSpc>
              <a:spcBef>
                <a:spcPts val="400"/>
              </a:spcBef>
            </a:pPr>
            <a:r>
              <a:rPr lang="mn-MN" b="1" dirty="0">
                <a:solidFill>
                  <a:srgbClr val="002060"/>
                </a:solidFill>
                <a:latin typeface="Times New Roman" panose="02020603050405020304" pitchFamily="18" charset="0"/>
                <a:cs typeface="Times New Roman" panose="02020603050405020304" pitchFamily="18" charset="0"/>
              </a:rPr>
              <a:t>Тодорхой хугацааны туршид хоёр валютын хоорондох ханшийн өөрчлөлтүүд нь ерөнхий инфляцын түвшингийн өөрчлөлттэй адилхан байдаг. Учир нь хоёр валютын хоорондох харьцангуй худалдан авах чадвар нь нэрлэсэн болон бодит ханшаар илэрхийлэгдэх мөнгөн дүнгийн хоорондох харьцангуй худалдан авах чадвартай ижил байдлаар өөрчлөгддөг.</a:t>
            </a:r>
          </a:p>
        </p:txBody>
      </p:sp>
    </p:spTree>
    <p:extLst>
      <p:ext uri="{BB962C8B-B14F-4D97-AF65-F5344CB8AC3E}">
        <p14:creationId xmlns:p14="http://schemas.microsoft.com/office/powerpoint/2010/main" val="20725910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DFD2-E325-FFD7-3BC6-957C31C680A3}"/>
              </a:ext>
            </a:extLst>
          </p:cNvPr>
          <p:cNvSpPr>
            <a:spLocks noGrp="1"/>
          </p:cNvSpPr>
          <p:nvPr>
            <p:ph type="title"/>
          </p:nvPr>
        </p:nvSpPr>
        <p:spPr>
          <a:xfrm>
            <a:off x="154441" y="131541"/>
            <a:ext cx="4746171" cy="782859"/>
          </a:xfrm>
        </p:spPr>
        <p:txBody>
          <a:bodyPr>
            <a:normAutofit fontScale="90000"/>
          </a:bodyPr>
          <a:lstStyle/>
          <a:p>
            <a:r>
              <a:rPr lang="mn-MN" sz="3200" b="1" dirty="0">
                <a:solidFill>
                  <a:srgbClr val="002060"/>
                </a:solidFill>
                <a:latin typeface="Times New Roman" panose="02020603050405020304" pitchFamily="18" charset="0"/>
                <a:cs typeface="Times New Roman" panose="02020603050405020304" pitchFamily="18" charset="0"/>
              </a:rPr>
              <a:t>Төслийн эдийн засгийн үр ашгийн үнэлгээний аргууд</a:t>
            </a:r>
          </a:p>
        </p:txBody>
      </p:sp>
      <p:sp>
        <p:nvSpPr>
          <p:cNvPr id="4" name="Content Placeholder 3">
            <a:extLst>
              <a:ext uri="{FF2B5EF4-FFF2-40B4-BE49-F238E27FC236}">
                <a16:creationId xmlns:a16="http://schemas.microsoft.com/office/drawing/2014/main" id="{061AB321-8034-2288-4873-E83177CD74BF}"/>
              </a:ext>
            </a:extLst>
          </p:cNvPr>
          <p:cNvSpPr>
            <a:spLocks noGrp="1"/>
          </p:cNvSpPr>
          <p:nvPr>
            <p:ph idx="1"/>
          </p:nvPr>
        </p:nvSpPr>
        <p:spPr>
          <a:xfrm>
            <a:off x="154441" y="1031191"/>
            <a:ext cx="4353158" cy="4113888"/>
          </a:xfrm>
        </p:spPr>
        <p:txBody>
          <a:bodyPr>
            <a:noAutofit/>
          </a:bodyPr>
          <a:lstStyle/>
          <a:p>
            <a:pPr algn="just"/>
            <a:r>
              <a:rPr lang="mn-MN" sz="2700" dirty="0">
                <a:solidFill>
                  <a:srgbClr val="002060"/>
                </a:solidFill>
                <a:latin typeface="Times New Roman" panose="02020603050405020304" pitchFamily="18" charset="0"/>
                <a:cs typeface="Times New Roman" panose="02020603050405020304" pitchFamily="18" charset="0"/>
              </a:rPr>
              <a:t>Төслийн үр ашгийн үнэлгээг тодорхойлохдоо хөрөнгө оруулалтын төслийн үр ашгийн шалгуурууд буюу үзүүлэлтүүдийг тооцоолох замаар гүйцэтгэнэ.</a:t>
            </a:r>
          </a:p>
          <a:p>
            <a:pPr algn="just"/>
            <a:r>
              <a:rPr lang="mn-MN" sz="2700" dirty="0">
                <a:solidFill>
                  <a:srgbClr val="002060"/>
                </a:solidFill>
                <a:latin typeface="Times New Roman" panose="02020603050405020304" pitchFamily="18" charset="0"/>
                <a:cs typeface="Times New Roman" panose="02020603050405020304" pitchFamily="18" charset="0"/>
              </a:rPr>
              <a:t>Хөрөнгө оруулалтын төслийн шалгуур үзүүлэлтүүдийг дотор нь хоёр ангилдаг.</a:t>
            </a:r>
            <a:endParaRPr lang="en-US" sz="2700"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Object 5">
            <a:extLst>
              <a:ext uri="{FF2B5EF4-FFF2-40B4-BE49-F238E27FC236}">
                <a16:creationId xmlns:a16="http://schemas.microsoft.com/office/drawing/2014/main" id="{21B81F8B-86F1-4FD5-469D-3FC74A2719CC}"/>
              </a:ext>
            </a:extLst>
          </p:cNvPr>
          <p:cNvGraphicFramePr>
            <a:graphicFrameLocks noChangeAspect="1"/>
          </p:cNvGraphicFramePr>
          <p:nvPr>
            <p:extLst>
              <p:ext uri="{D42A27DB-BD31-4B8C-83A1-F6EECF244321}">
                <p14:modId xmlns:p14="http://schemas.microsoft.com/office/powerpoint/2010/main" val="4275489982"/>
              </p:ext>
            </p:extLst>
          </p:nvPr>
        </p:nvGraphicFramePr>
        <p:xfrm>
          <a:off x="4083269" y="131541"/>
          <a:ext cx="8108731" cy="6590090"/>
        </p:xfrm>
        <a:graphic>
          <a:graphicData uri="http://schemas.openxmlformats.org/presentationml/2006/ole">
            <mc:AlternateContent xmlns:mc="http://schemas.openxmlformats.org/markup-compatibility/2006">
              <mc:Choice xmlns:v="urn:schemas-microsoft-com:vml" Requires="v">
                <p:oleObj name="Visio" r:id="rId3" imgW="4839298" imgH="4330265" progId="Visio.Drawing.15">
                  <p:embed/>
                </p:oleObj>
              </mc:Choice>
              <mc:Fallback>
                <p:oleObj name="Visio" r:id="rId3" imgW="4839298" imgH="4330265" progId="Visio.Drawing.15">
                  <p:embed/>
                  <p:pic>
                    <p:nvPicPr>
                      <p:cNvPr id="6" name="Object 5">
                        <a:extLst>
                          <a:ext uri="{FF2B5EF4-FFF2-40B4-BE49-F238E27FC236}">
                            <a16:creationId xmlns:a16="http://schemas.microsoft.com/office/drawing/2014/main" id="{21B81F8B-86F1-4FD5-469D-3FC74A2719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3269" y="131541"/>
                        <a:ext cx="8108731" cy="6590090"/>
                      </a:xfrm>
                      <a:prstGeom prst="rect">
                        <a:avLst/>
                      </a:prstGeom>
                      <a:noFill/>
                    </p:spPr>
                  </p:pic>
                </p:oleObj>
              </mc:Fallback>
            </mc:AlternateContent>
          </a:graphicData>
        </a:graphic>
      </p:graphicFrame>
      <p:sp>
        <p:nvSpPr>
          <p:cNvPr id="7" name="Content Placeholder 3">
            <a:extLst>
              <a:ext uri="{FF2B5EF4-FFF2-40B4-BE49-F238E27FC236}">
                <a16:creationId xmlns:a16="http://schemas.microsoft.com/office/drawing/2014/main" id="{BC4678D9-BEFD-09B4-9BB3-8D28856D6ADB}"/>
              </a:ext>
            </a:extLst>
          </p:cNvPr>
          <p:cNvSpPr txBox="1">
            <a:spLocks/>
          </p:cNvSpPr>
          <p:nvPr/>
        </p:nvSpPr>
        <p:spPr>
          <a:xfrm>
            <a:off x="2331020" y="5261870"/>
            <a:ext cx="6747641" cy="14597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pPr>
            <a:r>
              <a:rPr lang="mn-MN" sz="2400" dirty="0">
                <a:solidFill>
                  <a:srgbClr val="FF0000"/>
                </a:solidFill>
                <a:latin typeface="Times New Roman" panose="02020603050405020304" pitchFamily="18" charset="0"/>
                <a:cs typeface="Times New Roman" panose="02020603050405020304" pitchFamily="18" charset="0"/>
              </a:rPr>
              <a:t>Төслийн үр ашгийн үнэлгээний аргачлалуудыг өмнөх хичээлүүдээр үзсэн. </a:t>
            </a:r>
          </a:p>
          <a:p>
            <a:pPr algn="just">
              <a:spcBef>
                <a:spcPts val="0"/>
              </a:spcBef>
            </a:pPr>
            <a:r>
              <a:rPr lang="mn-MN" sz="2400" dirty="0">
                <a:solidFill>
                  <a:srgbClr val="FF0000"/>
                </a:solidFill>
                <a:latin typeface="Times New Roman" panose="02020603050405020304" pitchFamily="18" charset="0"/>
                <a:cs typeface="Times New Roman" panose="02020603050405020304" pitchFamily="18" charset="0"/>
              </a:rPr>
              <a:t>Мөн бие даалтын удирдамжын хавсралт А-аас дэлгэрүүлэн харах боломжтой. </a:t>
            </a:r>
            <a:endParaRPr 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76231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B99C4FA-7FF9-AF4B-1EC1-2FF43FDE8B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43467" y="1520612"/>
            <a:ext cx="10905066" cy="3816774"/>
          </a:xfrm>
          <a:prstGeom prst="rect">
            <a:avLst/>
          </a:prstGeom>
          <a:ln>
            <a:noFill/>
          </a:ln>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2642163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179281" y="170253"/>
            <a:ext cx="10706535" cy="519296"/>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Хичээлийн агуулга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idx="1"/>
          </p:nvPr>
        </p:nvSpPr>
        <p:spPr>
          <a:xfrm>
            <a:off x="179281" y="592117"/>
            <a:ext cx="11767879" cy="5339443"/>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Хөрөнгө оруулалтын тухай ойлголт</a:t>
            </a:r>
          </a:p>
          <a:p>
            <a:pPr algn="just"/>
            <a:r>
              <a:rPr lang="mn-MN" sz="3200" dirty="0">
                <a:solidFill>
                  <a:srgbClr val="002060"/>
                </a:solidFill>
                <a:latin typeface="Times New Roman" panose="02020603050405020304" pitchFamily="18" charset="0"/>
                <a:cs typeface="Times New Roman" panose="02020603050405020304" pitchFamily="18" charset="0"/>
              </a:rPr>
              <a:t>Хөрөнгө оруулалтын үүрэг, ангилал, үе шат</a:t>
            </a:r>
          </a:p>
          <a:p>
            <a:pPr algn="just"/>
            <a:r>
              <a:rPr lang="mn-MN" sz="3200" dirty="0">
                <a:solidFill>
                  <a:srgbClr val="002060"/>
                </a:solidFill>
                <a:latin typeface="Times New Roman" panose="02020603050405020304" pitchFamily="18" charset="0"/>
                <a:cs typeface="Times New Roman" panose="02020603050405020304" pitchFamily="18" charset="0"/>
              </a:rPr>
              <a:t>Хөрөнгө төсөвлөх үйл явц </a:t>
            </a:r>
          </a:p>
          <a:p>
            <a:pPr lvl="1" algn="just"/>
            <a:r>
              <a:rPr lang="mn-MN" sz="2800" dirty="0">
                <a:solidFill>
                  <a:srgbClr val="002060"/>
                </a:solidFill>
                <a:latin typeface="Times New Roman" panose="02020603050405020304" pitchFamily="18" charset="0"/>
                <a:cs typeface="Times New Roman" panose="02020603050405020304" pitchFamily="18" charset="0"/>
              </a:rPr>
              <a:t>Хөрөнгийн санхүүжилт, хуваарилалтын функцүүд</a:t>
            </a:r>
          </a:p>
          <a:p>
            <a:pPr algn="just"/>
            <a:r>
              <a:rPr lang="mn-MN" sz="3200" dirty="0">
                <a:solidFill>
                  <a:srgbClr val="002060"/>
                </a:solidFill>
                <a:latin typeface="Times New Roman" panose="02020603050405020304" pitchFamily="18" charset="0"/>
                <a:cs typeface="Times New Roman" panose="02020603050405020304" pitchFamily="18" charset="0"/>
              </a:rPr>
              <a:t>Хөрөнгө оруулалтын санхүүжилтийн эх үүсвэр</a:t>
            </a:r>
          </a:p>
          <a:p>
            <a:pPr algn="just"/>
            <a:r>
              <a:rPr lang="mn-MN" sz="3200" dirty="0">
                <a:solidFill>
                  <a:srgbClr val="002060"/>
                </a:solidFill>
                <a:latin typeface="Times New Roman" panose="02020603050405020304" pitchFamily="18" charset="0"/>
                <a:cs typeface="Times New Roman" panose="02020603050405020304" pitchFamily="18" charset="0"/>
              </a:rPr>
              <a:t>Хөрөнгийн активийн үнэлгээний загвар </a:t>
            </a:r>
            <a:r>
              <a:rPr lang="en-US" sz="3200" dirty="0">
                <a:solidFill>
                  <a:srgbClr val="002060"/>
                </a:solidFill>
                <a:latin typeface="Times New Roman" panose="02020603050405020304" pitchFamily="18" charset="0"/>
                <a:cs typeface="Times New Roman" panose="02020603050405020304" pitchFamily="18" charset="0"/>
              </a:rPr>
              <a:t>(CAPM - The Capital Asset Pricing Model)</a:t>
            </a:r>
            <a:endParaRPr lang="mn-MN" sz="3200" dirty="0">
              <a:solidFill>
                <a:srgbClr val="002060"/>
              </a:solidFill>
              <a:latin typeface="Times New Roman" panose="02020603050405020304" pitchFamily="18" charset="0"/>
              <a:cs typeface="Times New Roman" panose="02020603050405020304" pitchFamily="18" charset="0"/>
            </a:endParaRPr>
          </a:p>
          <a:p>
            <a:pPr algn="just"/>
            <a:r>
              <a:rPr lang="mn-MN" sz="3200" dirty="0">
                <a:solidFill>
                  <a:srgbClr val="002060"/>
                </a:solidFill>
                <a:latin typeface="Times New Roman" panose="02020603050405020304" pitchFamily="18" charset="0"/>
                <a:cs typeface="Times New Roman" panose="02020603050405020304" pitchFamily="18" charset="0"/>
              </a:rPr>
              <a:t>Төслийн эдийн засгийн үр ашгийн үнэлгээний аргууд </a:t>
            </a:r>
          </a:p>
          <a:p>
            <a:pPr lvl="1" algn="just"/>
            <a:r>
              <a:rPr lang="mn-MN" sz="2800" dirty="0">
                <a:solidFill>
                  <a:srgbClr val="002060"/>
                </a:solidFill>
                <a:latin typeface="Times New Roman" panose="02020603050405020304" pitchFamily="18" charset="0"/>
                <a:cs typeface="Times New Roman" panose="02020603050405020304" pitchFamily="18" charset="0"/>
              </a:rPr>
              <a:t>Инфляцийн нөхцөл дэх хөрөнгө оруулалтын төслийн шинжилгээ</a:t>
            </a:r>
          </a:p>
          <a:p>
            <a:pPr lvl="1" algn="just"/>
            <a:r>
              <a:rPr lang="mn-MN" sz="2800" dirty="0">
                <a:solidFill>
                  <a:srgbClr val="002060"/>
                </a:solidFill>
                <a:latin typeface="Times New Roman" panose="02020603050405020304" pitchFamily="18" charset="0"/>
                <a:cs typeface="Times New Roman" panose="02020603050405020304" pitchFamily="18" charset="0"/>
              </a:rPr>
              <a:t>Эрсдэлийн нөхцөл дэх хөрөнгө оруулалтын төслийн шинжилгээ</a:t>
            </a:r>
          </a:p>
        </p:txBody>
      </p:sp>
    </p:spTree>
    <p:extLst>
      <p:ext uri="{BB962C8B-B14F-4D97-AF65-F5344CB8AC3E}">
        <p14:creationId xmlns:p14="http://schemas.microsoft.com/office/powerpoint/2010/main" val="2670723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EDB8D949-0CCB-43DA-B6CF-E204FF0BAC4F"/>
  <p:tag name="ISPRING_CMI5_LAUNCH_METHOD" val="any window"/>
  <p:tag name="ISPRINGCLOUDFOLDERID" val="1"/>
  <p:tag name="ISPRINGONLINEFOLDERID" val="1"/>
  <p:tag name="ISPRING_OUTPUT_FOLDER" val="[[&quot;\uFFFD12\u001E{5CDD3A6F-82E0-49E5-B476-77BB91554EEC}&quot;,&quot;C:\\Users\\217\\Download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PASSING_SCORE" val="0.000000"/>
  <p:tag name="ISPRING_CURRENT_PLAYER_ID" val="universal"/>
  <p:tag name="ISPRING_FIRST_PUBLISH" val="1"/>
  <p:tag name="ISPRING_ULTRA_SCORM_COURCE_TITLE" val="S.EEM101_Lecture12_2023-24.B_ByTs.B_2024.04.15"/>
  <p:tag name="ISPRING_PRESENTATION_TITLE" val="S.EEM101_Lecture12_2023-24.B_ByTs.B_2024.04.15"/>
  <p:tag name="ISPRING_SCORM_ENDPOINT" val="&lt;endpoint&gt;&lt;enable&gt;0&lt;/enable&gt;&lt;lrs&gt;http://&lt;/lrs&gt;&lt;auth&gt;0&lt;/auth&gt;&lt;login&gt;&lt;/login&gt;&lt;password&gt;&lt;/password&gt;&lt;key&gt;&lt;/key&gt;&lt;name&gt;&lt;/name&gt;&lt;email&gt;&lt;/email&gt;&lt;/endpoint&gt;&#10;"/>
  <p:tag name="ISPRING_SCORM_RATE_QUIZZES"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7207</TotalTime>
  <Words>11715</Words>
  <Application>Microsoft Office PowerPoint</Application>
  <PresentationFormat>Widescreen</PresentationFormat>
  <Paragraphs>967</Paragraphs>
  <Slides>81</Slides>
  <Notes>81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81</vt:i4>
      </vt:variant>
    </vt:vector>
  </HeadingPairs>
  <TitlesOfParts>
    <vt:vector size="92" baseType="lpstr">
      <vt:lpstr>Arial</vt:lpstr>
      <vt:lpstr>Calibri</vt:lpstr>
      <vt:lpstr>Calibri Light</vt:lpstr>
      <vt:lpstr>Cambria Math</vt:lpstr>
      <vt:lpstr>Palatino Linotype</vt:lpstr>
      <vt:lpstr>Segoe UI Historic</vt:lpstr>
      <vt:lpstr>Symbol</vt:lpstr>
      <vt:lpstr>Times New Roman</vt:lpstr>
      <vt:lpstr>Wingdings</vt:lpstr>
      <vt:lpstr>Office Theme</vt:lpstr>
      <vt:lpstr>Visio</vt:lpstr>
      <vt:lpstr>ЛЕКЦ №12 Хөрөнгө оруулалтын үндэс</vt:lpstr>
      <vt:lpstr>Хичээлийн суралцахуйн үр дүнгүүд  Оюутан энэ сэдвийг судалснаар дараах ур чадваруудтай болсон байна. </vt:lpstr>
      <vt:lpstr>Хичээлийн агуулга </vt:lpstr>
      <vt:lpstr>Хөрөнгө оруулалт (ХО): Тодорхойлолтууд</vt:lpstr>
      <vt:lpstr>Хөрөнгө оруулалтын үүргүүд:</vt:lpstr>
      <vt:lpstr>Хөрөнгө оруулалт=ХО: мөн чанар, ач холбогдол</vt:lpstr>
      <vt:lpstr>Хөрөнгө оруулалт: мөн чанар, ач холбогдол</vt:lpstr>
      <vt:lpstr>Хөрөнгө оруулалтын сонголт: буюу эрсдэл багатай, эрсдэл ихтэй байдал</vt:lpstr>
      <vt:lpstr>Хөрөнгө оруулалтын сонголт: буюу эрсдэл багатай, эрсдэл ихтэй байдал</vt:lpstr>
      <vt:lpstr>Хөрөнгө оруулалтын сонголт:</vt:lpstr>
      <vt:lpstr>Хөрөнгө оруулалт хийх үе шатууд</vt:lpstr>
      <vt:lpstr>Хөрөнгө оруулалтад: нөлөөлөх хүчин зүйл (ХЗ)</vt:lpstr>
      <vt:lpstr>Хөрөнгө оруулалтад: нөлөөлөх хүчин зүйл (ХЗ)</vt:lpstr>
      <vt:lpstr>Хөрөнгө оруулалтад: нөлөөлөх хүчин зүйл (ХЗ)</vt:lpstr>
      <vt:lpstr>Хөрөнгө оруулалтын ангилал</vt:lpstr>
      <vt:lpstr>Хөрөнгө оруулалтын ангилал</vt:lpstr>
      <vt:lpstr>Хөрөнгө оруулалтын ангилал</vt:lpstr>
      <vt:lpstr>Хөрөнгө оруулалтын хэрэгсэл: Хувьцааны хөрөнгө оруулалт</vt:lpstr>
      <vt:lpstr>Хөрөнгө оруулалтын хэрэгсэл: Хувьцааны хөрөнгө оруулалт</vt:lpstr>
      <vt:lpstr>Хөрөнгө оруулалтын хэрэгсэл: Хувьцааны хөрөнгө оруулалт</vt:lpstr>
      <vt:lpstr>Хөрөнгө оруулалтын хэрэгсэл: Хувьцааны хөрөнгө оруулалт</vt:lpstr>
      <vt:lpstr>Хөрөнгө оруулалтын хэрэгсэл: Хувьцааны хөрөнгө оруулалт</vt:lpstr>
      <vt:lpstr>Хөрөнгө оруулалтын хэрэгсэл: Хувьцааны хөрөнгө оруулалт. ХУВЬЦАА – Бидний амьдралд</vt:lpstr>
      <vt:lpstr>Хөрөнгө оруулалтын хэрэгсэл: Хувьцааны хөрөнгө оруулалт. ХУВЬЦАА – Бидний амьдралд</vt:lpstr>
      <vt:lpstr>Хөрөнгө оруулалтын хэрэгсэл: Хувьцааны хөрөнгө оруулалт. Хөрөнгө оруулалт – Бидний амьдралд</vt:lpstr>
      <vt:lpstr>Хөрөнгө оруулалтын хэрэгсэл: Хувьцааны хөрөнгө оруулалт. ХУВЬЦАА – Бидний амьдралд (Ханшийн зөрүүнээс ашиг олох)</vt:lpstr>
      <vt:lpstr>Хөрөнгө оруулалтын хэрэгсэл: Бондын хөрөнгө оруулалт</vt:lpstr>
      <vt:lpstr>Хөрөнгө оруулалтын хэрэгсэл: Бондын хөрөнгө оруулалт</vt:lpstr>
      <vt:lpstr>Хөрөнгө оруулалтын хэрэгсэл: Үл хөдлөх хөрөнгийн хөрөнгө оруулалт</vt:lpstr>
      <vt:lpstr>Хөрөнгө оруулалтын хэрэгсэл: Үл хөдлөх хөрөнгийн хөрөнгө оруулалт</vt:lpstr>
      <vt:lpstr>Зарим сурах бичигт: Үнэт цааснуудыг арилжаалж буй зах зээлээсс хамааруулан ангилах нь.</vt:lpstr>
      <vt:lpstr>Зарим сурах бичигт: Үнэт цааснуудыг арилжаалж буй зах зээлээсс хамааруулан ангилах нь. </vt:lpstr>
      <vt:lpstr>Зарим сурах бичигт: Хөрөнгө оруулалтын хэрэгсэл:</vt:lpstr>
      <vt:lpstr>Зарим сурах бичигт: Хөрөнгө оруулалтын хэрэгсэл:</vt:lpstr>
      <vt:lpstr>Зарим сурах бичигт: Хөрөнгө оруулалтын хэрэгсэл:</vt:lpstr>
      <vt:lpstr>Зарим сурах бичигт: Хөрөнгө оруулалтын хэрэгсэл:</vt:lpstr>
      <vt:lpstr>Зарим сурах бичигт: Анхдагч зах зээл дээр хөрөнгө босгох, үнэт цаасыг худалдах арга</vt:lpstr>
      <vt:lpstr>Хоёрдогч зах зээл: Хоёрдогч зах зээл гэдэг нь анхдагч зах зээл дээр гаргасан үнэт цааснуудыг арилжаалж дууссаны дараа хөрөнгө оруулагчид өөр хоорондоо дахин худалдаалж байдаг зах зээл юм. Энэ зах зээл нь шинэ хөрөнгийг өсгөхгүй бөгөөд үнэт цаасыг гаргагч нь борлуулалтаас шууд ашиг олдоггүй. Хоёрдогч зах зээл нь хамгийн идэвхтэй арилжаа хийгддэг зах зээл бөгөөд арилжааны ихэнх хувийг эзэлдэг том зах зээл юм. Үнэт цаасны зах зээлийг зохион байгуулалтын хэлбэрийн хувьд 2 ангилж авч үздэг.      1.  Биржийн зах зээл      2.  Биржийн бус зах зээл </vt:lpstr>
      <vt:lpstr>Бонд ба хувьцааны үнэлгээ:</vt:lpstr>
      <vt:lpstr>Бонд ба хувьцааны үнэлгээ:</vt:lpstr>
      <vt:lpstr>Бондын үнэлгээ:</vt:lpstr>
      <vt:lpstr>Бондын үнэлгээ:</vt:lpstr>
      <vt:lpstr>Бондын үнэлгээ:</vt:lpstr>
      <vt:lpstr>Бондын үнэлгээ:</vt:lpstr>
      <vt:lpstr>Бондын огоөжийг тооцох:</vt:lpstr>
      <vt:lpstr>Бондын огоөжийг тооцох:</vt:lpstr>
      <vt:lpstr>Давуу эрхтэй хувьцаа, түүний үнэлгээ:</vt:lpstr>
      <vt:lpstr>Энгийн хувьцааны үнэлгээ:</vt:lpstr>
      <vt:lpstr>Энгийн хувьцааны үнэлгээ:  Хувьсах өсөлттэй загвар </vt:lpstr>
      <vt:lpstr>Энгийн хувьцааны үнэлгээ:  Хувьсах өсөлттэй загвар </vt:lpstr>
      <vt:lpstr>Энгийн хувьцааны үнэлгээ:  Хувьсах өсөлттэй загвар </vt:lpstr>
      <vt:lpstr>Хөрөнгө төсөвлөх үйл явц</vt:lpstr>
      <vt:lpstr>Хөрөнгийн санхүүжилт, хуваарилалтын функцүүд</vt:lpstr>
      <vt:lpstr>Хөрөнгийн санхүүжилт, хуваарилалтын функцүүд</vt:lpstr>
      <vt:lpstr>Хөрөнгө оруулалтын эх үүсвэр</vt:lpstr>
      <vt:lpstr>Хөрөнгө оруулалтын эх үүсвэр</vt:lpstr>
      <vt:lpstr>Хөрөнгө оруулалтын эх үүсвэр Зээлийн хөрөнгө</vt:lpstr>
      <vt:lpstr>Хөрөнгө оруулалтын эх үүсвэр. Зээлийн хөрөнгө</vt:lpstr>
      <vt:lpstr>Хөрөнгө оруулалтын эх үүсвэр. Өөрийн хөрөнгө</vt:lpstr>
      <vt:lpstr>Хөрөнгийн активын үнэлгээний загвар  (CAPM – The Capital Asset Pricing Model)</vt:lpstr>
      <vt:lpstr>Хөрөнгийн активын үнэлгээний загвар  (CAPM – The Capital Asset Pricing Model)</vt:lpstr>
      <vt:lpstr>Хөрөнгийн активын үнэлгээний загвар  (CAPM – The Capital Asset Pricing Model)</vt:lpstr>
      <vt:lpstr>Хөрөнгийн жигнэсэн дундаж өртөг  (WACC –Weighted Average Cost of Capital)</vt:lpstr>
      <vt:lpstr>Эрсдэл ба өгөөж</vt:lpstr>
      <vt:lpstr>Эрсдлийн ангилал (бусад номоос цуглуулсан)</vt:lpstr>
      <vt:lpstr>Эрсдэл ба тодорхойгүй байдлын эх сурвалжууд</vt:lpstr>
      <vt:lpstr>Инфляцийн нөхцөл дэх хөрөнгө оруулалтын төслийн үр ашгийн шинжилгээ</vt:lpstr>
      <vt:lpstr>Инфляцийн нөхцөл дэх хөрөнгө оруулалтын төслийн үр ашгийн шинжилгээ (1212.mn-ээс+дэлгэрүүлж судлаарай)</vt:lpstr>
      <vt:lpstr>Инфляцийн нөхцөл дэх хөрөнгө оруулалтын төслийн үр ашгийн шинжилгээ </vt:lpstr>
      <vt:lpstr>Нэрлэсэн ба бодит ханш, тэдгээрийн хоорондын хамаарал</vt:lpstr>
      <vt:lpstr>Нэрлэсэн ба бодит ханш, тэдгээрийн хоорондын хамаарал</vt:lpstr>
      <vt:lpstr>Нэрлэсэн ба бодит ханш, тэдгээрийн хоорондын хамаарал</vt:lpstr>
      <vt:lpstr>ИЭЗС-ны нэрлэсэн ба бодит ханшийн тооцоонд хүүний зохистой түвшинг ашиглах</vt:lpstr>
      <vt:lpstr>Зах зээлийн (i_m) ба бодит (i_r) хүүний түвшин болон ерөнхий үнийн инфляци (дефляци)-н түвшин (f)-гийн хамаарал</vt:lpstr>
      <vt:lpstr>Тогтмол болон ерөнхий үнийн инфляцд хамааралтай үе тутмын тэнцүү төлбөрүүд /Fixed and Responsive Annuities/</vt:lpstr>
      <vt:lpstr>Ерөнхий үнийн инфляц жилд 6% байхад жил бүрийн төлбөрийн тооцоо</vt:lpstr>
      <vt:lpstr>Тогтмол болон ерөнхий үнийн инфляцд хамааралтай үе тутмын тэнцүү төлбөрүүд /Fixed and Responsive Annuities/</vt:lpstr>
      <vt:lpstr>Гадаад валютын ханш</vt:lpstr>
      <vt:lpstr>Төслийн эдийн засгийн үр ашгийн үнэлгээний аргууд</vt:lpstr>
      <vt:lpstr>PowerPoint Presentation</vt:lpstr>
      <vt:lpstr>Хичээлийн агуулга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S.EEM101_Lecture12_2023-24.B_ByTs.B_2024.04.15</dc:title>
  <dc:creator>Oyu Chuluun</dc:creator>
  <cp:lastModifiedBy>Nominjin Tsogtbayar</cp:lastModifiedBy>
  <cp:revision>333</cp:revision>
  <cp:lastPrinted>2023-11-16T16:21:51Z</cp:lastPrinted>
  <dcterms:created xsi:type="dcterms:W3CDTF">2023-09-05T14:21:28Z</dcterms:created>
  <dcterms:modified xsi:type="dcterms:W3CDTF">2025-12-04T15:49:57Z</dcterms:modified>
</cp:coreProperties>
</file>