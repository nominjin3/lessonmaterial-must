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408" r:id="rId2"/>
    <p:sldId id="348" r:id="rId3"/>
    <p:sldId id="257" r:id="rId4"/>
    <p:sldId id="373" r:id="rId5"/>
    <p:sldId id="393" r:id="rId6"/>
    <p:sldId id="392" r:id="rId7"/>
    <p:sldId id="378" r:id="rId8"/>
    <p:sldId id="409" r:id="rId9"/>
    <p:sldId id="410" r:id="rId10"/>
    <p:sldId id="395" r:id="rId11"/>
    <p:sldId id="411" r:id="rId12"/>
    <p:sldId id="412" r:id="rId13"/>
    <p:sldId id="390" r:id="rId14"/>
    <p:sldId id="396" r:id="rId15"/>
    <p:sldId id="413" r:id="rId16"/>
    <p:sldId id="414" r:id="rId17"/>
    <p:sldId id="397" r:id="rId18"/>
    <p:sldId id="415" r:id="rId19"/>
    <p:sldId id="416" r:id="rId20"/>
    <p:sldId id="417" r:id="rId21"/>
    <p:sldId id="418" r:id="rId22"/>
    <p:sldId id="419" r:id="rId23"/>
    <p:sldId id="387" r:id="rId24"/>
    <p:sldId id="420" r:id="rId25"/>
    <p:sldId id="421" r:id="rId26"/>
    <p:sldId id="422" r:id="rId27"/>
    <p:sldId id="379" r:id="rId28"/>
    <p:sldId id="286" r:id="rId29"/>
  </p:sldIdLst>
  <p:sldSz cx="12192000" cy="6858000"/>
  <p:notesSz cx="7315200" cy="9601200"/>
  <p:custDataLst>
    <p:tags r:id="rId3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60FF65C-CA29-52B5-E688-B9F869745318}" name="T B" initials="TB" userId="cc74087b7d702bd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76903" autoAdjust="0"/>
  </p:normalViewPr>
  <p:slideViewPr>
    <p:cSldViewPr snapToGrid="0">
      <p:cViewPr varScale="1">
        <p:scale>
          <a:sx n="63" d="100"/>
          <a:sy n="63" d="100"/>
        </p:scale>
        <p:origin x="146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minjin Tsogtbayar" userId="c94a63f096c67c9e" providerId="LiveId" clId="{1D03B473-5C41-4C92-89E8-3498AA8364B6}"/>
    <pc:docChg chg="modSld">
      <pc:chgData name="Nominjin Tsogtbayar" userId="c94a63f096c67c9e" providerId="LiveId" clId="{1D03B473-5C41-4C92-89E8-3498AA8364B6}" dt="2025-11-28T10:34:07.399" v="0" actId="22"/>
      <pc:docMkLst>
        <pc:docMk/>
      </pc:docMkLst>
      <pc:sldChg chg="addSp mod">
        <pc:chgData name="Nominjin Tsogtbayar" userId="c94a63f096c67c9e" providerId="LiveId" clId="{1D03B473-5C41-4C92-89E8-3498AA8364B6}" dt="2025-11-28T10:34:07.399" v="0" actId="22"/>
        <pc:sldMkLst>
          <pc:docMk/>
          <pc:sldMk cId="1682745408" sldId="408"/>
        </pc:sldMkLst>
        <pc:picChg chg="add">
          <ac:chgData name="Nominjin Tsogtbayar" userId="c94a63f096c67c9e" providerId="LiveId" clId="{1D03B473-5C41-4C92-89E8-3498AA8364B6}" dt="2025-11-28T10:34:07.399" v="0" actId="22"/>
          <ac:picMkLst>
            <pc:docMk/>
            <pc:sldMk cId="1682745408" sldId="408"/>
            <ac:picMk id="6" creationId="{31D04FA3-8857-7B5F-C98A-01F0ABB3ED8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C622D43-C65E-428A-89C7-8C19C0C28B05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4CFEF27-99CE-459F-8C01-F12FB244F5E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22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3869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07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581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6227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752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2327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4376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083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4871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0914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383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9961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2612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901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1212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059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4879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5712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7072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1295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6192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8183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5585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592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613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3919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9492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CFEF27-99CE-459F-8C01-F12FB244F5E1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887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E7D8C-4D35-6BE7-8913-EE48165F6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E3668D-C2DB-80DC-A1DD-F60A137AF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D1920-FED3-D39C-539E-7B5A56639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53230D-E594-D7A5-32EC-9616DF20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21CD8-BAE7-5A75-5A6C-4A94631F2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586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BC744-581C-A465-D5AD-698E57356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0F86A-AA32-A112-1308-F20B349FF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C6181-E825-1285-E416-EE218D446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C597F-71A2-6113-48B7-23FBF239C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3508B-421D-3159-299D-6A50E1BB8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917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790E7-AF98-583B-B3C9-E30B90DF8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72DBB-25A0-77B9-56E0-E617E9D7AD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1DC2C-A214-4BAD-37A9-2AF51A57E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C845C-023D-8EAD-81C8-4BBE5DA6C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7C64A-2365-EABC-5F33-CDA3D6CE0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445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00046-0812-2CE0-21AB-F2D471CDD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84E91-81BA-B0C8-43E2-0C1FB07087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61BD2-1A58-7C56-D7A7-135866A4D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83FC1E-148B-EB6A-533C-A895CE8A2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110CF-5980-BE5D-9406-39F27D759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86073-4A93-20AE-0F86-129975236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067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3A182-292F-33B0-9A13-21D03CA66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B62B1-B0F4-D60D-9CE6-4D0E730C7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70E5CA-EE3A-F3E7-7FBE-BB5ADF5C6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79186F-B8E2-72F3-72AE-3FA8848ED5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688BD3-5740-E308-43A7-9518ACE588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B1AE7A-40F2-FDED-EA7F-916E51633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6873A7-8D41-C1BE-DFF8-172CB3F3B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C8E814-2557-C6DE-8A25-A4EF60D29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822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7397D-71F1-CCDC-44C6-DBC5BFE1C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E7B16D-F9FC-BCE6-1B42-BDE141D9D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6116CF-3051-29AA-D7A5-D541C877A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D2961-87BC-269D-8A12-082DD2B0C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812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042EFB-3455-988C-4371-6A02EC617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023196-D0D5-1737-480A-AC1B231A7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A5807-4B8C-8F0B-1E78-8808049AA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936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A8877-E86E-7B34-444B-E143B1819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B929B-DC3D-522B-D048-302158885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23059F-6707-DF7E-1BE4-62F707BB9E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BD24B2-E883-95C9-6B96-0C3CA02A0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C2D7E2-C7A6-E14A-739A-278F59E25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4A7BBE-F519-5822-9D2B-941BE610F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96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8129B-0D66-F795-85BE-7E78BDADB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EC4CF0-08AB-1C0A-815A-2BA203A8A2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B9B51-C177-2817-1D1A-C92F903B4C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A76B8-0006-54B6-EC79-B119F0FF5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F90E3-24E4-AFFB-E554-B66EC265A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57FE3-ECEA-4E08-D41E-EA19B38B4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817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C9902-7CD5-F898-A3C7-EA33606C1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88072-5629-164B-6FBB-FD7D6676D0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54E99-671D-9C4B-5F52-93E666ABD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52A27-D855-9487-5850-AA12D3CC7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B33CC-E6C6-4390-2D7D-F9F348F4A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451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627C86-B539-8330-A66A-0FE29628B1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18C975-ECBF-3772-1D5D-5F4B5DD65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6307C-889B-74E9-03D3-079595FBA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F83-6740-47E4-93AE-3D5AB4AA487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1C601-CDCF-8113-0351-6229FE214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45360-2CBE-551F-CCEE-8E997F9AB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979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787FCA-762D-6470-BFF4-B2C55CEA1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24B729-E129-522C-12D0-6FFCA7620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80C4F-690A-D0BF-6490-9F27DEC27C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867F83-6740-47E4-93AE-3D5AB4AA4876}" type="datetimeFigureOut">
              <a:rPr lang="en-US" smtClean="0"/>
              <a:t>11/28/2025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EBD5-0880-276D-00D3-BDE8B6BCD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95C48-2E4B-20AA-E642-20DF5BE9E6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28A5F-89C8-4E63-9CC2-CD7E02775F2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7561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54490-C09C-F2C1-1BED-C30E9C649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823767"/>
            <a:ext cx="10195249" cy="1828799"/>
          </a:xfrm>
        </p:spPr>
        <p:txBody>
          <a:bodyPr>
            <a:noAutofit/>
          </a:bodyPr>
          <a:lstStyle/>
          <a:p>
            <a:r>
              <a:rPr lang="mn-MN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Лекц </a:t>
            </a:r>
            <a: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mn-MN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Үндсэн хөрөнгийн элэгдэл тооцох аргууд</a:t>
            </a:r>
            <a:endParaRPr lang="en-US" sz="4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4687C9-0602-4AB3-C68B-47EB63DFD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497475"/>
            <a:ext cx="9144000" cy="871267"/>
          </a:xfrm>
        </p:spPr>
        <p:txBody>
          <a:bodyPr>
            <a:normAutofit lnSpcReduction="10000"/>
          </a:bodyPr>
          <a:lstStyle/>
          <a:p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ШУТИС-ийн МХТС, холбооны салбарын багш Ц.Балжинням</a:t>
            </a:r>
          </a:p>
          <a:p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Улаанбаатар хот. 2023-24.Хавар.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AB551975-1CE2-308D-D250-4B65BD2EF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58" y="16278"/>
            <a:ext cx="4957464" cy="1363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D493B6D6-2330-40E5-BEBE-D3505B39EAF9}"/>
              </a:ext>
            </a:extLst>
          </p:cNvPr>
          <p:cNvSpPr txBox="1">
            <a:spLocks/>
          </p:cNvSpPr>
          <p:nvPr/>
        </p:nvSpPr>
        <p:spPr>
          <a:xfrm>
            <a:off x="1751012" y="3905250"/>
            <a:ext cx="8689976" cy="133954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3200" b="1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altLang="en-US" sz="3200" b="1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en-US" sz="3200" b="1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EEM101  </a:t>
            </a:r>
            <a:br>
              <a:rPr lang="en-US" altLang="en-US" sz="3200" b="1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mn-MN" altLang="en-US" sz="3200" b="1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Инженерчлэлийн эдийн засаг</a:t>
            </a:r>
            <a:br>
              <a:rPr lang="mn-MN" altLang="en-US" sz="3200" b="1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200" b="1" dirty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Engineering Economy</a:t>
            </a:r>
            <a:endParaRPr lang="mn-MN" altLang="en-US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D04FA3-8857-7B5F-C98A-01F0ABB3E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3392" y="323581"/>
            <a:ext cx="6645216" cy="621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745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8F32-BFE1-C21B-C995-8F54A877F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63" y="143112"/>
            <a:ext cx="11807757" cy="596292"/>
          </a:xfrm>
        </p:spPr>
        <p:txBody>
          <a:bodyPr>
            <a:normAutofit fontScale="90000"/>
          </a:bodyPr>
          <a:lstStyle/>
          <a:p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Хичээлийн суралцахуйн үр дүнгүүд </a:t>
            </a:r>
            <a:b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mn-MN" sz="27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Оюутан энэ сэдвийг судалснаар дараах ур чадваруудтай болсон байна. 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86DB33-ADDE-EE1A-4291-78131A81F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263" y="1767259"/>
            <a:ext cx="11807757" cy="4351338"/>
          </a:xfrm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A3111A39-998C-32DE-9BFC-8C51E7AF27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5540836"/>
              </p:ext>
            </p:extLst>
          </p:nvPr>
        </p:nvGraphicFramePr>
        <p:xfrm>
          <a:off x="157263" y="894945"/>
          <a:ext cx="11807756" cy="57337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9464">
                  <a:extLst>
                    <a:ext uri="{9D8B030D-6E8A-4147-A177-3AD203B41FA5}">
                      <a16:colId xmlns:a16="http://schemas.microsoft.com/office/drawing/2014/main" val="78146492"/>
                    </a:ext>
                  </a:extLst>
                </a:gridCol>
                <a:gridCol w="4855363">
                  <a:extLst>
                    <a:ext uri="{9D8B030D-6E8A-4147-A177-3AD203B41FA5}">
                      <a16:colId xmlns:a16="http://schemas.microsoft.com/office/drawing/2014/main" val="2993372031"/>
                    </a:ext>
                  </a:extLst>
                </a:gridCol>
                <a:gridCol w="2819244">
                  <a:extLst>
                    <a:ext uri="{9D8B030D-6E8A-4147-A177-3AD203B41FA5}">
                      <a16:colId xmlns:a16="http://schemas.microsoft.com/office/drawing/2014/main" val="3377302877"/>
                    </a:ext>
                  </a:extLst>
                </a:gridCol>
                <a:gridCol w="2105731">
                  <a:extLst>
                    <a:ext uri="{9D8B030D-6E8A-4147-A177-3AD203B41FA5}">
                      <a16:colId xmlns:a16="http://schemas.microsoft.com/office/drawing/2014/main" val="574671118"/>
                    </a:ext>
                  </a:extLst>
                </a:gridCol>
                <a:gridCol w="1297954">
                  <a:extLst>
                    <a:ext uri="{9D8B030D-6E8A-4147-A177-3AD203B41FA5}">
                      <a16:colId xmlns:a16="http://schemas.microsoft.com/office/drawing/2014/main" val="1155244748"/>
                    </a:ext>
                  </a:extLst>
                </a:gridCol>
              </a:tblGrid>
              <a:tr h="12469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4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д/д</a:t>
                      </a:r>
                      <a:endParaRPr lang="en-US" sz="2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4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Суралцахуйн үр дүнгүүд</a:t>
                      </a:r>
                      <a:endParaRPr lang="en-US" sz="2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Суралцахуйн үр дүнг илэрхийлэх үйл үг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Суралцахуйн үр дүнгийн түвшин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mn-MN" sz="2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Блумын</a:t>
                      </a:r>
                      <a:r>
                        <a:rPr lang="en-US" sz="2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)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CLOs</a:t>
                      </a:r>
                      <a:r>
                        <a:rPr lang="mn-MN" sz="2000" b="1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 хамаарал</a:t>
                      </a:r>
                      <a:endParaRPr lang="en-US" sz="20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423415"/>
                  </a:ext>
                </a:extLst>
              </a:tr>
              <a:tr h="83451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Элэгдлийн тухай ойлголт, нэр томъёо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mn-M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тайлбарлах, ашиглах</a:t>
                      </a:r>
                      <a:endParaRPr lang="en-US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Тайлбарлах </a:t>
                      </a: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(Explain)</a:t>
                      </a:r>
                      <a:endParaRPr lang="mn-MN" sz="2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Хэрэглэх </a:t>
                      </a: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(Apply)</a:t>
                      </a: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Ойлгох,</a:t>
                      </a:r>
                      <a:endParaRPr lang="en-US" sz="24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Хэрэглэх</a:t>
                      </a:r>
                      <a:r>
                        <a:rPr lang="mn-MN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1, 3</a:t>
                      </a:r>
                      <a:endParaRPr lang="en-US" sz="3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028067"/>
                  </a:ext>
                </a:extLst>
              </a:tr>
              <a:tr h="168238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n-M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Эд хөрөнгийн ангилал ба нөхөн сэргээлтийн 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mn-M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ашиглалтын</a:t>
                      </a:r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mn-M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хугацаа, элэгдэл байгуулах болон тооцох нөхцлүүдийг тайлбарлах, ашиглах</a:t>
                      </a:r>
                      <a:endParaRPr lang="en-US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Тайлбарлах </a:t>
                      </a: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(Explain)</a:t>
                      </a:r>
                      <a:endParaRPr lang="mn-MN" sz="2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Хэрэглэх </a:t>
                      </a: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(Apply)</a:t>
                      </a:r>
                      <a:endParaRPr lang="mn-MN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Шийдэх</a:t>
                      </a:r>
                      <a:r>
                        <a:rPr lang="en-US" sz="2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/Solve/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Ойлгох,</a:t>
                      </a:r>
                      <a:endParaRPr lang="en-US" sz="24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Хэрэглэх</a:t>
                      </a:r>
                      <a:endParaRPr lang="en-US" sz="24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1, 3</a:t>
                      </a:r>
                      <a:endParaRPr lang="en-US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289944"/>
                  </a:ext>
                </a:extLst>
              </a:tr>
              <a:tr h="11052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4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3</a:t>
                      </a:r>
                      <a:endParaRPr lang="en-US" sz="2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n-MN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Элэгдэл тооцох аргуудыг ойлгох, ашиглах</a:t>
                      </a:r>
                      <a:endParaRPr lang="en-US" sz="24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Тайлбарлах </a:t>
                      </a: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(Explain)</a:t>
                      </a:r>
                      <a:endParaRPr lang="mn-MN" sz="2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Хэрэглэх </a:t>
                      </a:r>
                      <a:r>
                        <a:rPr lang="en-US" sz="2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(Apply)</a:t>
                      </a:r>
                      <a:endParaRPr lang="mn-MN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Шийдэх</a:t>
                      </a:r>
                      <a:r>
                        <a:rPr lang="en-US" sz="2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/Solve/</a:t>
                      </a:r>
                      <a:endParaRPr lang="en-US" sz="2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Ойлгох,</a:t>
                      </a:r>
                      <a:endParaRPr lang="en-US" sz="24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Хэрэглэх</a:t>
                      </a:r>
                      <a:endParaRPr lang="en-US" sz="24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1, 3</a:t>
                      </a:r>
                      <a:endParaRPr lang="en-US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78109"/>
                  </a:ext>
                </a:extLst>
              </a:tr>
              <a:tr h="83451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4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ea typeface="Malgun Gothic" panose="020B0503020000020004" pitchFamily="34" charset="-127"/>
                          <a:cs typeface="Times New Roman" panose="02020603050405020304" pitchFamily="18" charset="0"/>
                        </a:rPr>
                        <a:t>4</a:t>
                      </a:r>
                      <a:endParaRPr lang="en-US" sz="24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68586" marR="68586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Сэдэвтэй холбоотой материалуудыг ашиглах</a:t>
                      </a:r>
                      <a:endParaRPr lang="en-US" sz="24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Гүйцэтгэх </a:t>
                      </a:r>
                      <a:r>
                        <a:rPr lang="en-US" sz="22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(Function)</a:t>
                      </a: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Ойлгох,</a:t>
                      </a:r>
                      <a:endParaRPr lang="en-US" sz="24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4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Хэрэглэх</a:t>
                      </a:r>
                      <a:endParaRPr lang="en-US" sz="240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mn-MN" sz="24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3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2070" marR="52070" marT="9525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794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8320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84979-432A-FF79-CEB4-02905EE44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18" y="151116"/>
            <a:ext cx="11827213" cy="329593"/>
          </a:xfrm>
        </p:spPr>
        <p:txBody>
          <a:bodyPr>
            <a:normAutofit fontScale="90000"/>
          </a:bodyPr>
          <a:lstStyle/>
          <a:p>
            <a:r>
              <a:rPr lang="mn-MN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Хичээлийн агуулга </a:t>
            </a:r>
            <a:endParaRPr lang="en-US" sz="4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706510C6-911A-6EC2-51D4-E93E810D0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069" y="558528"/>
            <a:ext cx="11827213" cy="6148356"/>
          </a:xfrm>
        </p:spPr>
        <p:txBody>
          <a:bodyPr>
            <a:normAutofit fontScale="92500"/>
          </a:bodyPr>
          <a:lstStyle/>
          <a:p>
            <a:pPr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Хөрөнгө, хөрөнгийн ангилал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Эргэлтийн хөрөнгө, эргэлтийн бус хөрөнгө (биет хөрөнгө, биет бус хөрөнгө)</a:t>
            </a:r>
          </a:p>
          <a:p>
            <a:pPr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Үндсэн хөрөнгө, түүний ангилал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Үндсэн хөрөнгө, түүний ангилал (ашиглалтын байдлаар, ашиглагдах хүрээгээр, эзэмших байдлаар)</a:t>
            </a:r>
          </a:p>
          <a:p>
            <a:pPr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Элэгдлийн тухай үндсэн ойлголт</a:t>
            </a:r>
          </a:p>
          <a:p>
            <a:pPr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Элэгдэл тооцох аргууд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Шулуун шугамын арга 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(SL – Straight Line)</a:t>
            </a: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Үйлдвэрлэлийн нэгжийн арга (Бүтээгдэхүүний нэгжид ноогдуулах арга); 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Элэгдэл тооцох хурдавчилсан аргууд</a:t>
            </a:r>
          </a:p>
          <a:p>
            <a:pPr lvl="2" algn="just"/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Үлдэгдэл бууруулах арга (давхар бууруулах арга)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(DB – Declining Balance)</a:t>
            </a: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 lvl="2" algn="just"/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Ашиглах жилийн нийлбэрийн арга 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Эдэлгээний хугацаагаар жигнэх арга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Живэх элэгдлийн сангийн арга</a:t>
            </a:r>
          </a:p>
        </p:txBody>
      </p:sp>
    </p:spTree>
    <p:extLst>
      <p:ext uri="{BB962C8B-B14F-4D97-AF65-F5344CB8AC3E}">
        <p14:creationId xmlns:p14="http://schemas.microsoft.com/office/powerpoint/2010/main" val="2320916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9C871-A635-C72A-5366-CC8EA303F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263" y="151118"/>
            <a:ext cx="11866123" cy="510363"/>
          </a:xfrm>
        </p:spPr>
        <p:txBody>
          <a:bodyPr>
            <a:normAutofit fontScale="90000"/>
          </a:bodyPr>
          <a:lstStyle/>
          <a:p>
            <a:r>
              <a:rPr lang="mn-M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Хөрөнгө, хөрөнгийн ангилал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1E1F9-D8D6-526C-A096-3EC13C2BC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938" y="661481"/>
            <a:ext cx="11866123" cy="5912678"/>
          </a:xfrm>
        </p:spPr>
        <p:txBody>
          <a:bodyPr>
            <a:noAutofit/>
          </a:bodyPr>
          <a:lstStyle/>
          <a:p>
            <a:pPr algn="just"/>
            <a:r>
              <a:rPr lang="mn-M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Хөрөнгө</a:t>
            </a:r>
            <a:r>
              <a:rPr lang="mn-MN" sz="36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</a:p>
          <a:p>
            <a:pPr lvl="1"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Ирээдүйн үйл ажиллагааны явцад өгөөжөө хүртээх зорилгоор тухайн байгууллагын өмчлөлд байгаа хүлээгдэж байгаа эдийн засгийн нөөц. </a:t>
            </a:r>
          </a:p>
          <a:p>
            <a:pPr lvl="1"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Байгууллагын өдөр тутмын үйл ажиллагаанд ашиглагдах байдлаар эргэлтэд орж байдаг эд зүйлс. </a:t>
            </a:r>
          </a:p>
          <a:p>
            <a:pPr lvl="1"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ААН, байгууллагын эзэмшиж байгаа, эсвэл хяналтад байгаа мөнгөөр хэмжигдэх боломжтой эдийн засгийн нөөц баялаг. </a:t>
            </a:r>
          </a:p>
          <a:p>
            <a:pPr algn="just"/>
            <a:r>
              <a:rPr lang="mn-M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Хөрөнгийг </a:t>
            </a:r>
            <a:r>
              <a:rPr lang="mn-MN" sz="36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ашиглагдах хэлбэрээр </a:t>
            </a:r>
            <a:r>
              <a:rPr lang="mn-M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нь: </a:t>
            </a:r>
          </a:p>
          <a:p>
            <a:pPr lvl="1" algn="just"/>
            <a:r>
              <a:rPr lang="mn-MN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Эргэлтийн хөрөнгө</a:t>
            </a:r>
          </a:p>
          <a:p>
            <a:pPr lvl="1" algn="just"/>
            <a:r>
              <a:rPr lang="mn-MN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Эргэлтийн бус хөрөнгө </a:t>
            </a: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гэж ангилна. </a:t>
            </a:r>
          </a:p>
        </p:txBody>
      </p:sp>
    </p:spTree>
    <p:extLst>
      <p:ext uri="{BB962C8B-B14F-4D97-AF65-F5344CB8AC3E}">
        <p14:creationId xmlns:p14="http://schemas.microsoft.com/office/powerpoint/2010/main" val="1668841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9C871-A635-C72A-5366-CC8EA303F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121" y="116731"/>
            <a:ext cx="11807757" cy="496791"/>
          </a:xfrm>
        </p:spPr>
        <p:txBody>
          <a:bodyPr>
            <a:normAutofit fontScale="90000"/>
          </a:bodyPr>
          <a:lstStyle/>
          <a:p>
            <a:r>
              <a:rPr lang="mn-M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Хөрөнгө, хөрөнгийн ангилал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1E1F9-D8D6-526C-A096-3EC13C2BC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263" y="466927"/>
            <a:ext cx="11807757" cy="6274342"/>
          </a:xfrm>
        </p:spPr>
        <p:txBody>
          <a:bodyPr>
            <a:noAutofit/>
          </a:bodyPr>
          <a:lstStyle/>
          <a:p>
            <a:pPr algn="just"/>
            <a:r>
              <a:rPr lang="mn-MN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Эргэлтийн хөрөнгө </a:t>
            </a: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Үйлдвэрлэлийн процесст 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үйл явцад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n-MN" sz="28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 удаа </a:t>
            </a: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оролцож өөрийн хэлбэр дүрсээ өөрчлөн, шинэ бүтээгдэхүүнд өртгөө бүрэн шингээдэг хөрөнгө. </a:t>
            </a:r>
          </a:p>
          <a:p>
            <a:pPr lvl="1" algn="just"/>
            <a:r>
              <a:rPr lang="mn-MN" sz="28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 жилийн дотор </a:t>
            </a: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хэвийн үйл ажиллагаанд зарцуулах болох бусад зориулалтаар ашиглагдах мөнгөн хөрөнгө, богино хугацаат хөрөнгө оруулалт, бараа материал гэх мэт. </a:t>
            </a:r>
          </a:p>
          <a:p>
            <a:pPr algn="just"/>
            <a:r>
              <a:rPr lang="mn-MN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Эргэлтийн бус хөрөнгө </a:t>
            </a: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Үйлдвэрлэл явуулах нөхцлийг хангаж удаан хугацаагаар ашиглагдан, үйлдвэрлэлийн </a:t>
            </a:r>
            <a:r>
              <a:rPr lang="mn-MN" sz="28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олон удаагийн мөчлөгт </a:t>
            </a: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оролцож, өөрийн хэлбэр дүрсээ хадгалж байдаг хөрөнгө. </a:t>
            </a:r>
          </a:p>
          <a:p>
            <a:pPr lvl="1" algn="just"/>
            <a:r>
              <a:rPr lang="mn-MN" sz="28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 жил ба түүнээс дээш хугацаагаар </a:t>
            </a: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ашиглагдах, ашиглалтын боломжит хугацаа нь хязгаарлагдмал, үйлдвэрлэл, үйлчилгээ, захиргаа болон түрээсийн зориулалтаар ашиглах үндсэн хөрөнгө, биет бус хөрөнгө, урт хугацаат хөрөнгө оруулалт гэх мэт. </a:t>
            </a:r>
          </a:p>
        </p:txBody>
      </p:sp>
    </p:spTree>
    <p:extLst>
      <p:ext uri="{BB962C8B-B14F-4D97-AF65-F5344CB8AC3E}">
        <p14:creationId xmlns:p14="http://schemas.microsoft.com/office/powerpoint/2010/main" val="2748149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9C871-A635-C72A-5366-CC8EA303F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720" y="151118"/>
            <a:ext cx="11710480" cy="549274"/>
          </a:xfrm>
        </p:spPr>
        <p:txBody>
          <a:bodyPr>
            <a:noAutofit/>
          </a:bodyPr>
          <a:lstStyle/>
          <a:p>
            <a:r>
              <a:rPr lang="mn-M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Элэгдлийн тухай ойлголт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1E1F9-D8D6-526C-A096-3EC13C2BC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720" y="700392"/>
            <a:ext cx="11710480" cy="5953327"/>
          </a:xfrm>
        </p:spPr>
        <p:txBody>
          <a:bodyPr>
            <a:noAutofit/>
          </a:bodyPr>
          <a:lstStyle/>
          <a:p>
            <a:pPr algn="just"/>
            <a:r>
              <a:rPr lang="mn-M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Элэгдэл </a:t>
            </a:r>
            <a:r>
              <a:rPr lang="mn-M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Цаг хугацаа, ашиглалтаас хамааран хөрөнгийн физик шинж чанарын хэмжигдэхүүн буурах үзэгдэл юм. </a:t>
            </a:r>
          </a:p>
          <a:p>
            <a:pPr algn="just"/>
            <a:r>
              <a:rPr lang="mn-M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Элэгдэл </a:t>
            </a:r>
            <a:r>
              <a:rPr lang="mn-M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Татварын өмнөх орлогоос жил бүр хасч тооцдог нягтлан бодох бүртгэлийн ойлголт юм. </a:t>
            </a:r>
          </a:p>
          <a:p>
            <a:pPr algn="just"/>
            <a:r>
              <a:rPr lang="mn-M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Элэгдэл</a:t>
            </a:r>
            <a:r>
              <a:rPr lang="mn-M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Үндсэн хөрөнгийн өртгийг ашиглагдах хугацааны туршид системтэйгээр хуваарилан зардалд шингээх үйл ажиллагаа. </a:t>
            </a:r>
          </a:p>
          <a:p>
            <a:pPr algn="just"/>
            <a:r>
              <a:rPr lang="mn-M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Элэгдэл</a:t>
            </a:r>
            <a:r>
              <a:rPr lang="mn-M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Тухайн хөрөнгийн ашиглалтын хугацааны туршид орлогыг үйлдвэрлэхэд зарцуулагдсан жил бүрийн үнийн дүнг "тооцсон" бэлэн бус зардал байдаг.</a:t>
            </a:r>
          </a:p>
        </p:txBody>
      </p:sp>
    </p:spTree>
    <p:extLst>
      <p:ext uri="{BB962C8B-B14F-4D97-AF65-F5344CB8AC3E}">
        <p14:creationId xmlns:p14="http://schemas.microsoft.com/office/powerpoint/2010/main" val="1315545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BF61-B777-2E6A-29E2-02EE30129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809" y="77821"/>
            <a:ext cx="11827212" cy="574610"/>
          </a:xfrm>
        </p:spPr>
        <p:txBody>
          <a:bodyPr>
            <a:normAutofit fontScale="90000"/>
          </a:bodyPr>
          <a:lstStyle/>
          <a:p>
            <a:pPr algn="just"/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Элэгдлийн тухай ойлголт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2C40A-2270-2068-2D37-DD34E9D0F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09" y="876527"/>
            <a:ext cx="11827212" cy="5104946"/>
          </a:xfrm>
        </p:spPr>
        <p:txBody>
          <a:bodyPr>
            <a:normAutofit/>
          </a:bodyPr>
          <a:lstStyle/>
          <a:p>
            <a:pPr algn="just"/>
            <a:r>
              <a:rPr lang="mn-MN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Элэгдлийг тооцсоноор тухайн хөрөнгийн үнэ цэнэд цаг хугацаа, ашиглалт ямар нөлөө үзүүлснийг компаний санхүүгийн тайланд тусгах боломжтой болдог.</a:t>
            </a:r>
          </a:p>
          <a:p>
            <a:pPr algn="just"/>
            <a:r>
              <a:rPr lang="mn-MN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Элэгдэл нь орлогын албан татварт нөлөөлөх бэлэн бус зардал учраас татварын дараах ИЭЗС-д чухал үүрэгтэй.</a:t>
            </a:r>
          </a:p>
          <a:p>
            <a:pPr algn="just"/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906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D88A8-C3A8-B5AA-EB4D-08D1B7266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272" y="218822"/>
            <a:ext cx="10515600" cy="315912"/>
          </a:xfrm>
        </p:spPr>
        <p:txBody>
          <a:bodyPr>
            <a:noAutofit/>
          </a:bodyPr>
          <a:lstStyle/>
          <a:p>
            <a:pPr algn="just"/>
            <a:r>
              <a:rPr lang="mn-MN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Элэгдлийн төрөл</a:t>
            </a:r>
            <a:endParaRPr lang="en-US" sz="4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2708E-AE62-59A8-60EE-1D55CDAA1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272" y="694944"/>
            <a:ext cx="11670792" cy="5482019"/>
          </a:xfrm>
        </p:spPr>
        <p:txBody>
          <a:bodyPr>
            <a:normAutofit/>
          </a:bodyPr>
          <a:lstStyle/>
          <a:p>
            <a:pPr algn="just"/>
            <a:r>
              <a:rPr lang="mn-M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Биет элэгдэл </a:t>
            </a:r>
            <a:r>
              <a:rPr lang="mn-MN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Үндсэн хөрөнгө үйл ажиллагааны явцад гадаад нөлөөлөл зэргийн улмаас өөрийн хэрэглээний өртгөө аажим алдах үйл явц. </a:t>
            </a:r>
          </a:p>
          <a:p>
            <a:pPr algn="just"/>
            <a:r>
              <a:rPr lang="mn-MN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Хоцрогдлын элэгдэл </a:t>
            </a:r>
            <a:r>
              <a:rPr lang="mn-MN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Шинэ дэвшилтэт эдийн засгийн үр ашигтай техник технологи салбарт нэвтрэх үед тухайн аж ахуйн нэгжийн хуучин үндсэн хөрөнгийн өртөг буурах үзэгдэл. </a:t>
            </a:r>
            <a:endParaRPr lang="en-US" sz="4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3114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E01A8-19EC-869C-3ACB-59656F465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21" y="118545"/>
            <a:ext cx="10515600" cy="395162"/>
          </a:xfrm>
        </p:spPr>
        <p:txBody>
          <a:bodyPr>
            <a:normAutofit fontScale="90000"/>
          </a:bodyPr>
          <a:lstStyle/>
          <a:p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Хөрөнгийн ангилал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6E7B8-5142-C186-F75C-BEAAEDEB0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1" y="535801"/>
            <a:ext cx="11807601" cy="578639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mn-M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Элэгдлийн шимтгэл тооцох боломжтой эсэхийг тодорхойлохын тулд хөрөнгийн ангиллыг мэдэх шаардлагатай.</a:t>
            </a:r>
          </a:p>
          <a:p>
            <a:pPr algn="just"/>
            <a:r>
              <a:rPr lang="mn-M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Элэгдэл тооцох хөрөнгийг биет ба биет бус гэж 2 ангилна:</a:t>
            </a:r>
          </a:p>
          <a:p>
            <a:pPr lvl="1" algn="just"/>
            <a: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Биет</a:t>
            </a: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хөрөнгө- харж, барьж болох хөрөнгө.  Дараах 2 төрөлтэй:</a:t>
            </a:r>
          </a:p>
          <a:p>
            <a:pPr lvl="2" algn="just"/>
            <a: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Үндсэн хөрөнгө </a:t>
            </a: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Бизнесийн үйл ажиллагаанд ашиглах зорилгоор худалдан авсан удаан хугацаанд ашиглах хөрөнгө. Элэгдэл байгуулдаг хөрөнгө.</a:t>
            </a:r>
          </a:p>
          <a:p>
            <a:pPr lvl="3" algn="just"/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ашин механизм, тээврийн хэрэгсэл, тоног төхөөрөмж, тавилга болон түүнтэй төстэй бусад эд хөрөнгө.</a:t>
            </a:r>
          </a:p>
          <a:p>
            <a:pPr lvl="2" algn="just"/>
            <a: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Үл хөдлөх хөрөнгө </a:t>
            </a: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Газар болон газар дээр барьж байгуулсан, ургуулсан, эсвэл газартай хавсарсан хөрөнгийг хэлнэ. Ж-нь: байшин барилга, далан суваг, шугамын байгууламж. Мөн элэгдэл тооцно. Гэхдээ газрын насыг тогтоодоггүй учир элэгдэл тооцдоггүй.</a:t>
            </a:r>
          </a:p>
          <a:p>
            <a:pPr lvl="1" algn="just"/>
            <a: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Биет бус </a:t>
            </a: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хөрөнгө: Бизнесийн үйл ажиллагаанд оролцдог боловч бодитоор оршин байдаггүй хөрөнгө </a:t>
            </a:r>
          </a:p>
          <a:p>
            <a:pPr lvl="2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Зохиогчийн эрх, патент, худалдааны тэмдэг, франчайз зэрэг оюуны өмч.</a:t>
            </a:r>
          </a:p>
        </p:txBody>
      </p:sp>
    </p:spTree>
    <p:extLst>
      <p:ext uri="{BB962C8B-B14F-4D97-AF65-F5344CB8AC3E}">
        <p14:creationId xmlns:p14="http://schemas.microsoft.com/office/powerpoint/2010/main" val="101859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9C871-A635-C72A-5366-CC8EA303F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86" y="93506"/>
            <a:ext cx="11916104" cy="488347"/>
          </a:xfrm>
        </p:spPr>
        <p:txBody>
          <a:bodyPr>
            <a:normAutofit fontScale="90000"/>
          </a:bodyPr>
          <a:lstStyle/>
          <a:p>
            <a:pPr algn="just"/>
            <a:r>
              <a:rPr lang="mn-M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Үндсэн хөрөнгийн ангилал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1E1F9-D8D6-526C-A096-3EC13C2BC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986" y="581853"/>
            <a:ext cx="11916104" cy="5294694"/>
          </a:xfrm>
        </p:spPr>
        <p:txBody>
          <a:bodyPr>
            <a:noAutofit/>
          </a:bodyPr>
          <a:lstStyle/>
          <a:p>
            <a:pPr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Шинж чанар, зориулалтаар нь дараах байдлаар ангилна: 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Газар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Барилга байгууламж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 тээврийн хэрэгсэл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Тоног төхөөрөмж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Тавилга эд хогшил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Түүх соёлын дурсгалт зүйлс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Номын фонд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Бусад хөрөнгө </a:t>
            </a:r>
          </a:p>
          <a:p>
            <a:pPr lvl="2" algn="just"/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mn-MN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жишээлбэл, мал амьтад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mn-MN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31B77D-FF87-A812-24E9-6C65D825568B}"/>
              </a:ext>
            </a:extLst>
          </p:cNvPr>
          <p:cNvSpPr txBox="1"/>
          <p:nvPr/>
        </p:nvSpPr>
        <p:spPr>
          <a:xfrm>
            <a:off x="4808483" y="1100287"/>
            <a:ext cx="7140933" cy="129266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mn-MN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Гэхдээ газрын насыг тогтоодоггүй учир элэгдэл тооцдоггүй.</a:t>
            </a:r>
          </a:p>
          <a:p>
            <a:pPr algn="just"/>
            <a:r>
              <a:rPr lang="mn-MN" sz="2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Харин эзэмших жилээр хорогдол тооцдог. 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1D3F5-DD7A-491D-FE95-BE3EF5D1D239}"/>
              </a:ext>
            </a:extLst>
          </p:cNvPr>
          <p:cNvSpPr txBox="1"/>
          <p:nvPr/>
        </p:nvSpPr>
        <p:spPr>
          <a:xfrm>
            <a:off x="5316919" y="2410978"/>
            <a:ext cx="6632497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Элэгдэл тооцохгүй хөрөнгүүд –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Газар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Эргэлтийн хөрөнгө,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Бараа, материалын нөөц,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Уран зураг,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Гар урлал,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Эртний эдлэл,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Үнэт эдлэл, эдгээртэй адилтгах бусад эд хөрөнгөд элэгдэл, хорогдол тооцохгүй.</a:t>
            </a:r>
          </a:p>
        </p:txBody>
      </p:sp>
    </p:spTree>
    <p:extLst>
      <p:ext uri="{BB962C8B-B14F-4D97-AF65-F5344CB8AC3E}">
        <p14:creationId xmlns:p14="http://schemas.microsoft.com/office/powerpoint/2010/main" val="2824717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D4298-089F-FC5C-D385-52629522C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60" y="118546"/>
            <a:ext cx="11901755" cy="493159"/>
          </a:xfrm>
        </p:spPr>
        <p:txBody>
          <a:bodyPr>
            <a:normAutofit fontScale="90000"/>
          </a:bodyPr>
          <a:lstStyle/>
          <a:p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Элэгдэл байгуулах нөхцөл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1D5CA-D0F8-57F9-C2FF-65BB6C543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460" y="631862"/>
            <a:ext cx="11901755" cy="5121274"/>
          </a:xfrm>
        </p:spPr>
        <p:txBody>
          <a:bodyPr>
            <a:normAutofit lnSpcReduction="10000"/>
          </a:bodyPr>
          <a:lstStyle/>
          <a:p>
            <a:pPr algn="just"/>
            <a:r>
              <a:rPr lang="mn-M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Дараах </a:t>
            </a:r>
            <a:r>
              <a:rPr lang="mn-MN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шаардлагуудыг хангасан хөрөнгийг элэгдүүлж болно.</a:t>
            </a:r>
            <a:r>
              <a:rPr lang="mn-M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Үүнд:</a:t>
            </a:r>
          </a:p>
          <a:p>
            <a:pPr lvl="1"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Хөрөнгийг бизнес эрхлэх, </a:t>
            </a:r>
            <a:r>
              <a:rPr lang="mn-M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орлого олох зорилгоор авсан байх</a:t>
            </a: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lvl="1"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Хөрөнгө нь тодорхойлох боломжтой </a:t>
            </a:r>
            <a:r>
              <a:rPr lang="mn-M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ашиглалтын хугацаатай</a:t>
            </a: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ба ашиглалтын хугацаа нь нэг жилээс илүү байх,</a:t>
            </a:r>
          </a:p>
          <a:p>
            <a:pPr lvl="1"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Хөрөнгө нь муудах, ашиглалтаас гарах, хоцрогдох, эсвэл байгалийн бусад </a:t>
            </a:r>
            <a:r>
              <a:rPr lang="mn-M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хүчин зүйлээс шалтгаалан үнэ цэнэ нь буурдаг байх</a:t>
            </a: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lvl="1"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Элэгдэл тооцох хөрөнгө нь </a:t>
            </a:r>
            <a:r>
              <a:rPr lang="mn-M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ямар нэг нөөц</a:t>
            </a: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эсвэл худалдаалах бараа материал, </a:t>
            </a:r>
            <a:r>
              <a:rPr lang="mn-M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хөрөнгө оруулалтын зориулалттай хөрөнгө байж болохгүй</a:t>
            </a: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250836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BF74D-A7B5-E56E-9CAD-25F66228B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80" y="139093"/>
            <a:ext cx="11747642" cy="508179"/>
          </a:xfrm>
        </p:spPr>
        <p:txBody>
          <a:bodyPr>
            <a:normAutofit fontScale="90000"/>
          </a:bodyPr>
          <a:lstStyle/>
          <a:p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Элэгдэл тооцох нөхцөл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9CE029-A18C-CC74-8DFC-CB7494A69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80" y="647272"/>
            <a:ext cx="11747642" cy="5303659"/>
          </a:xfrm>
        </p:spPr>
        <p:txBody>
          <a:bodyPr>
            <a:normAutofit/>
          </a:bodyPr>
          <a:lstStyle/>
          <a:p>
            <a:pPr algn="just"/>
            <a:r>
              <a:rPr lang="mn-M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Компани хөрөнгийг орлого олох зорилгоор ашиглаж эхэлсэн үеэс элэгдүүлж тооцдог. </a:t>
            </a:r>
          </a:p>
          <a:p>
            <a:pPr lvl="1"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Эд хөрөнгө бодитоор ашиглагдаагүй байгаа ч гэсэн </a:t>
            </a:r>
          </a:p>
          <a:p>
            <a:pPr lvl="2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ашиглахад бэлэн болсон үеэс, </a:t>
            </a:r>
          </a:p>
          <a:p>
            <a:pPr lvl="2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тодорхой хэрэглээнд ашиглахад бэлэн байгаа гэж үзсэн тэр үеэс  </a:t>
            </a:r>
          </a:p>
          <a:p>
            <a:pPr marL="457200" lvl="1" indent="0" algn="just">
              <a:buNone/>
            </a:pP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ашиглаж эхэлсэн гэж тооцдог. </a:t>
            </a:r>
          </a:p>
          <a:p>
            <a:pPr algn="just"/>
            <a:r>
              <a:rPr lang="mn-M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Үйлчилгээнд байршуулсан хөрөнгийн өртгийг нөхөн төлсөн, эсвэл хөрөнгийг борлуулсны дараа элэгдэл тооцохыг зогсооно.</a:t>
            </a:r>
          </a:p>
          <a:p>
            <a:pPr algn="just"/>
            <a:endParaRPr lang="en-US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015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136C4-9F74-932C-6DB1-D3A40E58E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099" y="189796"/>
            <a:ext cx="11632127" cy="364518"/>
          </a:xfrm>
        </p:spPr>
        <p:txBody>
          <a:bodyPr>
            <a:noAutofit/>
          </a:bodyPr>
          <a:lstStyle/>
          <a:p>
            <a: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Үндсэн хөрөнгийн элэгдэл тооцоход ашигладаг ойлголтууд</a:t>
            </a:r>
            <a:endParaRPr lang="en-US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0DA20-937B-EDEF-EBF5-5307B70DB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06" y="574668"/>
            <a:ext cx="11997387" cy="507399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mn-MN" sz="3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Үндсэн хөрөнгийн элэгдэл тооцоход дараах ойлголтуудыг ашигладаг: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Анхны өртөг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Үлдэгдэл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өртөг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Элэгдэх өртөг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Үлдэх өртөг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Ашиглалтын хугацаа. 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0D2B48-E42B-96ED-B1DA-4DAD7A68C303}"/>
              </a:ext>
            </a:extLst>
          </p:cNvPr>
          <p:cNvSpPr txBox="1"/>
          <p:nvPr/>
        </p:nvSpPr>
        <p:spPr>
          <a:xfrm>
            <a:off x="165099" y="3208208"/>
            <a:ext cx="4958694" cy="35394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mn-MN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Үндсэн хөрөнгийн анхны өртөг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(Initial Value</a:t>
            </a:r>
            <a:r>
              <a:rPr lang="mn-MN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эсвэл </a:t>
            </a: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Basis) </a:t>
            </a: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тухайн хөрөнгийг ашиглахад бэлэн болгох хүртэл холбогдон гарсан бүх зардлуудын нийлбэр.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60AAE7-0FDE-6FDC-835C-B59B91935E61}"/>
              </a:ext>
            </a:extLst>
          </p:cNvPr>
          <p:cNvSpPr txBox="1"/>
          <p:nvPr/>
        </p:nvSpPr>
        <p:spPr>
          <a:xfrm>
            <a:off x="5254657" y="1098978"/>
            <a:ext cx="6713214" cy="52629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Хөрөнгийн анхны өртөг </a:t>
            </a: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Худалдан авахтай холбоотой гарсан дараах зардлуудыг тооцно: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Хөрөнгийн худалдан авсан үнэ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Тээврийн зардал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Даатгалын зардал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Худалдан авах үед шаардагдах хураамж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Бүртгэлийн хураамж 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газар, барилга байшин, үл хөдлөх хөрөнгө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mn-MN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Угсарч, суурилуулах зардал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Туршилт, тохируулгын зардал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Сургалтын зардал гэх мэт.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495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6B50B-B401-131B-B2BC-A73E423CC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812" y="160174"/>
            <a:ext cx="11884573" cy="409904"/>
          </a:xfrm>
        </p:spPr>
        <p:txBody>
          <a:bodyPr>
            <a:noAutofit/>
          </a:bodyPr>
          <a:lstStyle/>
          <a:p>
            <a:pPr algn="just"/>
            <a: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Үндсэн хөрөнгийн элэгдэл тооцоход ашигладаг ойлголтууд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866506-775D-5690-17BD-B91188009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812" y="570078"/>
            <a:ext cx="11884573" cy="6127748"/>
          </a:xfrm>
        </p:spPr>
        <p:txBody>
          <a:bodyPr>
            <a:normAutofit lnSpcReduction="10000"/>
          </a:bodyPr>
          <a:lstStyle/>
          <a:p>
            <a:pPr algn="just"/>
            <a:r>
              <a:rPr lang="mn-M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Үлдэгдэл өртөг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Дансны үнэ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Book Value)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хөрөнгийн анхны өртгөөс хуримтлагдсан элэгдлийг хассан дүнг хэлнэ. </a:t>
            </a:r>
          </a:p>
          <a:p>
            <a:pPr lvl="1" algn="just"/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Үлдэгдэл өртөг нь элэгдэл байгуулах хэмжээгээр жил бүр буурч ашиглалтын эцэс хүртэл тэг рүү тэмүүлж байдаг. </a:t>
            </a:r>
          </a:p>
          <a:p>
            <a:pPr algn="just"/>
            <a:r>
              <a:rPr lang="mn-M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Үлдэх өртөг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Устгалын үнэ –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Salvage Value)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Тухайн үндсэн хөрөнгийг ашиглалтаас хасах үед нөхөгдөж болох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хөрөнгийн үлдэгдлийг худалдахад олж болох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өртөг юм. </a:t>
            </a:r>
          </a:p>
          <a:p>
            <a:pPr algn="just"/>
            <a:r>
              <a:rPr lang="mn-M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Элэгдэх өртөг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(Depreciable Cost)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Хөрөнгийн анхны өртгөөс үлдэх өртгийг хассан дүнг хэлнэ. </a:t>
            </a:r>
          </a:p>
          <a:p>
            <a:pPr algn="just"/>
            <a:r>
              <a:rPr lang="mn-M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Ашиглалтын хугацаа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(N)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хөрөнгийн хүлээгдэж байгаа ашигт чанараар тодорхойлогдох хугацаа. </a:t>
            </a:r>
          </a:p>
          <a:p>
            <a:pPr algn="just"/>
            <a:r>
              <a:rPr lang="mn-M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Элэгдүүлэлт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(Depreciation)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Үндсэн хөрөнгийн өртгийг ашиглагдах хугацааны туршид системтэйгээр хуваарилан зардалд шингээх үйл ажиллагаа.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mn-MN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Хорогдуулалт</a:t>
            </a:r>
            <a:r>
              <a:rPr lang="mn-MN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(Amortization) -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Биет бус хөрөнгийн өртгийн хуваарилалт.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287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3A2F2-9462-81BB-3069-BEA12E757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303" y="118547"/>
            <a:ext cx="10675144" cy="493158"/>
          </a:xfrm>
        </p:spPr>
        <p:txBody>
          <a:bodyPr>
            <a:noAutofit/>
          </a:bodyPr>
          <a:lstStyle/>
          <a:p>
            <a: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Элэгдэл тооцох аргууд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1D590-0895-00BB-9DF7-7A3FA3A8B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03" y="611705"/>
            <a:ext cx="11732526" cy="5473785"/>
          </a:xfrm>
        </p:spPr>
        <p:txBody>
          <a:bodyPr>
            <a:normAutofit lnSpcReduction="10000"/>
          </a:bodyPr>
          <a:lstStyle/>
          <a:p>
            <a:pPr algn="just">
              <a:spcBef>
                <a:spcPts val="0"/>
              </a:spcBef>
            </a:pPr>
            <a:r>
              <a:rPr lang="mn-M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Элэгдлийг янз бүрийн аргаар тооцдог. </a:t>
            </a:r>
          </a:p>
          <a:p>
            <a:pPr algn="just">
              <a:spcBef>
                <a:spcPts val="0"/>
              </a:spcBef>
            </a:pPr>
            <a:r>
              <a:rPr lang="mn-M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Бизнесийн үйл ажиллагаанд оролцож байгаа хөрөнгүүдийн элэгдлийг ижил аргаар тооцох шаардлагагүй. </a:t>
            </a:r>
          </a:p>
          <a:p>
            <a:pPr algn="just">
              <a:spcBef>
                <a:spcPts val="0"/>
              </a:spcBef>
            </a:pPr>
            <a:r>
              <a:rPr lang="mn-M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Элэгдэл тооцох дараах аргууд байна. </a:t>
            </a:r>
          </a:p>
          <a:p>
            <a:pPr lvl="1" algn="just">
              <a:spcBef>
                <a:spcPts val="0"/>
              </a:spcBef>
            </a:pP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Шулуун шугам (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 - Straight-Line)-</a:t>
            </a: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ын арга</a:t>
            </a:r>
          </a:p>
          <a:p>
            <a:pPr lvl="1" algn="just">
              <a:spcBef>
                <a:spcPts val="0"/>
              </a:spcBef>
            </a:pPr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Үйлдвэрлэлийн нэгжийн арга буюу Бүтээгдэхүүний нэгжид ногдуулах арга</a:t>
            </a:r>
          </a:p>
          <a:p>
            <a:pPr lvl="1" algn="just">
              <a:spcBef>
                <a:spcPts val="0"/>
              </a:spcBef>
            </a:pPr>
            <a:r>
              <a:rPr lang="mn-MN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Элэгдэл байгуулах хурдавчилсан арга</a:t>
            </a:r>
          </a:p>
          <a:p>
            <a:pPr lvl="2" algn="just">
              <a:spcBef>
                <a:spcPts val="0"/>
              </a:spcBef>
            </a:pPr>
            <a:r>
              <a:rPr lang="mn-M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Үлдэгдэл бууруулах арга </a:t>
            </a:r>
            <a:r>
              <a:rPr lang="en-US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(DB – Declining balance)</a:t>
            </a:r>
            <a:endParaRPr lang="mn-MN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>
              <a:spcBef>
                <a:spcPts val="0"/>
              </a:spcBef>
            </a:pPr>
            <a:r>
              <a:rPr lang="mn-M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Эдэлгээний хугацаагаар жигнэх арга</a:t>
            </a:r>
            <a:endParaRPr lang="en-US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spcBef>
                <a:spcPts val="0"/>
              </a:spcBef>
            </a:pPr>
            <a:r>
              <a:rPr lang="mn-MN" sz="4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Живэх элэгдлийн сангийн арга</a:t>
            </a:r>
          </a:p>
          <a:p>
            <a:pPr lvl="1" algn="just">
              <a:spcBef>
                <a:spcPts val="0"/>
              </a:spcBef>
            </a:pPr>
            <a:endParaRPr lang="mn-MN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4669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CE8E6-5592-2433-4523-C2BD6B0D6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055" y="73301"/>
            <a:ext cx="10515600" cy="427740"/>
          </a:xfrm>
        </p:spPr>
        <p:txBody>
          <a:bodyPr>
            <a:noAutofit/>
          </a:bodyPr>
          <a:lstStyle/>
          <a:p>
            <a: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Шулуун шугам (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 - Straight-Line)-</a:t>
            </a:r>
            <a: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ын арга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8969A-D363-5F77-1B08-B6C135F95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84" y="501041"/>
            <a:ext cx="11800561" cy="2416625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</a:pP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 </a:t>
            </a:r>
            <a:r>
              <a:rPr lang="mn-MN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буюу шулуун шугамын арга бол элэгдэл тооцох хамгийн хялбар бөгөөд хамгийн өргөн хэрэглэгддэг арга юм. </a:t>
            </a:r>
          </a:p>
          <a:p>
            <a:pPr>
              <a:spcBef>
                <a:spcPts val="200"/>
              </a:spcBef>
            </a:pPr>
            <a:r>
              <a:rPr lang="mn-MN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Хөрөнгийг элэгдүүлэх хугацааны турш жил бүр тогтмол (ижил) дүнгээр элэгдүүлдэг.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CF587D-ECD2-9064-94BE-C0F2362CDAB8}"/>
                  </a:ext>
                </a:extLst>
              </p:cNvPr>
              <p:cNvSpPr txBox="1"/>
              <p:nvPr/>
            </p:nvSpPr>
            <p:spPr>
              <a:xfrm>
                <a:off x="5333774" y="1733960"/>
                <a:ext cx="6753842" cy="4401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mn-MN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Хөрөнгийн элэгдлийн хугацаа (нөхөн сэргээх хугацаа), жилээр; </a:t>
                </a:r>
              </a:p>
              <a:p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𝐵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mn-MN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зөвшөөрөгдсөн тохируулгыг оруулсан суурь зардал (анхны бүрэн өртөг);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mn-MN" sz="280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mn-MN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жилийн жил бүрийн элэгдлийн хасалт (</a:t>
                </a:r>
                <a14:m>
                  <m:oMath xmlns:m="http://schemas.openxmlformats.org/officeDocument/2006/math">
                    <m:r>
                      <a:rPr lang="mn-MN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mn-MN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</m:t>
                    </m:r>
                    <m:r>
                      <a:rPr lang="mn-MN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mn-MN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</m:t>
                    </m:r>
                    <m:r>
                      <a:rPr lang="mn-MN" sz="2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);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𝐵𝑉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mn-MN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жилийн эцэс дэх дансны үнэ;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𝑆𝑉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𝑁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mn-MN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жилийн эцэс дэх тооцоолсон үлдэх өртөг; 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  <m:sup>
                        <m:r>
                          <a:rPr lang="en-US" sz="28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</m:oMath>
                </a14:m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mn-MN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 жилд хуримтлагдсан элэгдэл</a:t>
                </a:r>
                <a:r>
                  <a:rPr lang="en-US" sz="28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mn-MN" sz="28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CF587D-ECD2-9064-94BE-C0F2362CD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3774" y="1733960"/>
                <a:ext cx="6753842" cy="4401205"/>
              </a:xfrm>
              <a:prstGeom prst="rect">
                <a:avLst/>
              </a:prstGeom>
              <a:blipFill>
                <a:blip r:embed="rId3"/>
                <a:stretch>
                  <a:fillRect l="-1895" t="-1385" r="-451" b="-2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EC959112-2708-0FCB-6EAF-347C72F1AA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9543" y="2164113"/>
                <a:ext cx="5148942" cy="241662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lvl="1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mn-MN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</m:e>
                        <m:sub>
                          <m:r>
                            <a:rPr lang="en-US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US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𝐵</m:t>
                          </m:r>
                          <m:r>
                            <a:rPr lang="en-US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3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𝑆𝑉</m:t>
                              </m:r>
                            </m:e>
                            <m:sub>
                              <m:r>
                                <a:rPr lang="en-US" sz="36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𝑁</m:t>
                              </m:r>
                            </m:sub>
                          </m:sSub>
                        </m:num>
                        <m:den>
                          <m:r>
                            <a:rPr lang="en-US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mn-MN" sz="3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mn-MN" sz="3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</m:t>
                    </m:r>
                    <m:r>
                      <a:rPr lang="mn-MN" sz="3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𝑘</m:t>
                    </m:r>
                    <m:r>
                      <a:rPr lang="mn-MN" sz="3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</m:t>
                    </m:r>
                    <m:r>
                      <a:rPr lang="mn-MN" sz="3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lang="en-US" sz="36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mn-MN" sz="36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үеийн</a:t>
                </a:r>
                <a:r>
                  <a:rPr lang="mn-MN" sz="36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3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3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e>
                      <m:sub>
                        <m:r>
                          <a:rPr lang="en-US" sz="3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  <m:sup>
                        <m:r>
                          <a:rPr lang="en-US" sz="3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bSup>
                    <m:r>
                      <a:rPr lang="en-US" sz="3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3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𝑘</m:t>
                    </m:r>
                    <m:r>
                      <a:rPr lang="en-US" sz="3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  <m:sSub>
                      <m:sSubPr>
                        <m:ctrlPr>
                          <a:rPr lang="mn-MN" sz="3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e>
                      <m:sub>
                        <m:r>
                          <a:rPr lang="en-US" sz="3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3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36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𝐵𝑉</m:t>
                          </m:r>
                        </m:e>
                        <m:sub>
                          <m:r>
                            <a:rPr lang="en-US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US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𝐵</m:t>
                      </m:r>
                      <m:r>
                        <a:rPr lang="en-US" sz="36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−</m:t>
                      </m:r>
                      <m:sSubSup>
                        <m:sSubSupPr>
                          <m:ctrlPr>
                            <a:rPr lang="en-US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SupPr>
                        <m:e>
                          <m:r>
                            <a:rPr lang="en-US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𝑑</m:t>
                          </m:r>
                        </m:e>
                        <m:sub>
                          <m:r>
                            <a:rPr lang="en-US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𝑘</m:t>
                          </m:r>
                        </m:sub>
                        <m:sup>
                          <m:r>
                            <a:rPr lang="en-US" sz="3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mn-MN" sz="3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EC959112-2708-0FCB-6EAF-347C72F1A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43" y="2164113"/>
                <a:ext cx="5148942" cy="24166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CD106C-C88B-596B-3F50-F7A424ECA42B}"/>
                  </a:ext>
                </a:extLst>
              </p:cNvPr>
              <p:cNvSpPr txBox="1"/>
              <p:nvPr/>
            </p:nvSpPr>
            <p:spPr>
              <a:xfrm>
                <a:off x="106635" y="4282335"/>
                <a:ext cx="5227139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mn-MN" sz="24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Энэ аргын үед N жилийн эцэс дэх сүүлчийн дансны үнэ BV болох SV-г тооцоолох хэрэгтэй. Зарим тохиолдолд тооцоолсон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𝑆𝑉</m:t>
                        </m:r>
                      </m:e>
                      <m:sub>
                        <m:r>
                          <a:rPr lang="en-US" sz="240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mn-MN" sz="24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нь хөрөнгийн бодит зах зээлийн үнэ MV-тэй тэнцүү биш байж болно.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CD106C-C88B-596B-3F50-F7A424ECA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35" y="4282335"/>
                <a:ext cx="5227139" cy="2308324"/>
              </a:xfrm>
              <a:prstGeom prst="rect">
                <a:avLst/>
              </a:prstGeom>
              <a:blipFill>
                <a:blip r:embed="rId5"/>
                <a:stretch>
                  <a:fillRect l="-1748" t="-2111" r="-1748" b="-5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9112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895B-3E8E-CA41-59BD-2BEC1F5C9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483" y="100230"/>
            <a:ext cx="11729545" cy="1150938"/>
          </a:xfrm>
        </p:spPr>
        <p:txBody>
          <a:bodyPr>
            <a:normAutofit fontScale="90000"/>
          </a:bodyPr>
          <a:lstStyle/>
          <a:p>
            <a:r>
              <a:rPr lang="mn-M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Хөрөнгийн бүлэг ба ашиглалтын хугацаа</a:t>
            </a:r>
            <a:br>
              <a:rPr lang="mn-MN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7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Аж</a:t>
            </a:r>
            <a:r>
              <a:rPr lang="en-US" sz="27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ахуйн</a:t>
            </a:r>
            <a:r>
              <a:rPr lang="en-US" sz="27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нэгжийн</a:t>
            </a:r>
            <a:r>
              <a:rPr lang="en-US" sz="27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орлогын</a:t>
            </a:r>
            <a:r>
              <a:rPr lang="en-US" sz="27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албан</a:t>
            </a:r>
            <a:r>
              <a:rPr lang="en-US" sz="27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татварын</a:t>
            </a:r>
            <a:r>
              <a:rPr lang="en-US" sz="27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b="1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тухай</a:t>
            </a:r>
            <a:r>
              <a:rPr lang="mn-MN" sz="27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хууль /Шинэчилсэн найруулга/ </a:t>
            </a:r>
            <a:r>
              <a:rPr lang="ru-RU" sz="27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2019 оны 03 сарын 22 өдөр</a:t>
            </a:r>
            <a:r>
              <a:rPr lang="mn-MN" sz="27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5761F12-71E3-4D65-0FB6-9E5140DE11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721517"/>
              </p:ext>
            </p:extLst>
          </p:nvPr>
        </p:nvGraphicFramePr>
        <p:xfrm>
          <a:off x="236483" y="1197864"/>
          <a:ext cx="11729546" cy="5221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479">
                  <a:extLst>
                    <a:ext uri="{9D8B030D-6E8A-4147-A177-3AD203B41FA5}">
                      <a16:colId xmlns:a16="http://schemas.microsoft.com/office/drawing/2014/main" val="3111164547"/>
                    </a:ext>
                  </a:extLst>
                </a:gridCol>
                <a:gridCol w="4037344">
                  <a:extLst>
                    <a:ext uri="{9D8B030D-6E8A-4147-A177-3AD203B41FA5}">
                      <a16:colId xmlns:a16="http://schemas.microsoft.com/office/drawing/2014/main" val="3508483729"/>
                    </a:ext>
                  </a:extLst>
                </a:gridCol>
                <a:gridCol w="5657763">
                  <a:extLst>
                    <a:ext uri="{9D8B030D-6E8A-4147-A177-3AD203B41FA5}">
                      <a16:colId xmlns:a16="http://schemas.microsoft.com/office/drawing/2014/main" val="761210734"/>
                    </a:ext>
                  </a:extLst>
                </a:gridCol>
                <a:gridCol w="1481960">
                  <a:extLst>
                    <a:ext uri="{9D8B030D-6E8A-4147-A177-3AD203B41FA5}">
                      <a16:colId xmlns:a16="http://schemas.microsoft.com/office/drawing/2014/main" val="3382810767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Хөрөнгийн бүлэг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Ашиглах нийт хугацаа /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жилээр /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010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mn-M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Ашигт малтмал, цацраг идэвхт ашигт малтмал, газрын тосны хайгуулын болон ашиглалтын тусгай зөвшөөрөл эзэмшигчийн хувьд</a:t>
                      </a:r>
                      <a:endPara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Бусад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4122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mn-MN" sz="2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Барилга байгууламж, газрын тохижилт</a:t>
                      </a:r>
                      <a:endParaRPr lang="en-US" sz="2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mn-MN" sz="2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  <a:endParaRPr lang="en-US"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mn-MN" sz="2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en-US"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82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Машин, механизм, техник, үйлдвэрлэлийн тоног төхөөрөмж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mn-MN" sz="2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010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ru-RU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Компьютер, дагалдах тоног төхөөрөмж, программ хангамж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mn-MN" sz="2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756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mn-M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Ашиглах хугацаа нь тодорхой биет бус хөрөнгө /Үүнд ашигт малтмалын хайгуулын болон ашиглалтын тусгай зөвшөөрөл хамаарна./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mn-MN" sz="2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Хүчин төгөлдөр байх хугацаанд</a:t>
                      </a:r>
                      <a:endParaRPr lang="en-US"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884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mn-M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mn-M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Бусад хөрөнгө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lang="mn-MN" sz="2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sz="2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640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65911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C5F1-14E7-AE41-866A-98239F55F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40" y="139094"/>
            <a:ext cx="11928297" cy="333517"/>
          </a:xfrm>
        </p:spPr>
        <p:txBody>
          <a:bodyPr>
            <a:noAutofit/>
          </a:bodyPr>
          <a:lstStyle/>
          <a:p>
            <a:pPr algn="just"/>
            <a:r>
              <a:rPr lang="mn-M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Үйлдвэрлэлийн нэгжийн арга буюу Бүтээгдэхүүний нэгжид ногдуулах арга</a:t>
            </a:r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037404-8FBD-594A-60E9-F968EAEFAC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851" y="586346"/>
                <a:ext cx="11928297" cy="5382228"/>
              </a:xfrm>
            </p:spPr>
            <p:txBody>
              <a:bodyPr>
                <a:normAutofit fontScale="85000" lnSpcReduction="20000"/>
              </a:bodyPr>
              <a:lstStyle/>
              <a:p>
                <a:pPr algn="just"/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Өмнөх арга хөрөнгийн үнэ цэнийн бууралтыг цаг хугацааны функц байдлаар илэрхийлэх, зарцуулсан цаг хугацааны онол дээр суурилсан байдаг. </a:t>
                </a:r>
              </a:p>
              <a:p>
                <a:pPr algn="just"/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Харин үнийн бууралт ашиглалтаас хамаарсан функц байх үед элэгдлийг цаг хугацаанаас үл хамаарах аргаар тооцож болно. </a:t>
                </a:r>
              </a:p>
              <a:p>
                <a:pPr algn="just"/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Энэ тохиолдолд </a:t>
                </a:r>
                <a:r>
                  <a:rPr lang="mn-MN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Үйлдвэрлэлийн нэгжийн арг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ыг ашигладаг. Энэ аргыг мөн </a:t>
                </a:r>
                <a:r>
                  <a:rPr lang="mn-MN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Бүтээгдэхүүний нэгжид ногдуулах арга 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гэж нэрлэдэг. </a:t>
                </a:r>
              </a:p>
              <a:p>
                <a:pPr algn="just"/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Энэ арга хөрөнгийн ашиглалтын хугацааны туршид үйлдвэрлэх бүтээгдэхүүний нэгжид ноогдох суурь өртгийг тооцоолдог. </a:t>
                </a:r>
              </a:p>
              <a:p>
                <a:pPr algn="just"/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Элэгдлийн хувь хэмжээг дараах байдлаар тооцоолно: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mn-MN" sz="33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Бүтээгдэхүүний нэгжид ноогдох элэгдэл </m:t>
                      </m:r>
                      <m:r>
                        <a:rPr lang="en-US" sz="33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3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33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𝑩</m:t>
                          </m:r>
                          <m:r>
                            <a:rPr lang="en-US" sz="33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3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300" b="1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𝑺𝑽</m:t>
                              </m:r>
                            </m:e>
                            <m:sub>
                              <m:r>
                                <a:rPr lang="en-US" sz="3300" b="1" i="1" dirty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𝑵</m:t>
                              </m:r>
                            </m:sub>
                          </m:sSub>
                        </m:num>
                        <m:den>
                          <m:r>
                            <a:rPr lang="mn-MN" sz="33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Ашиглалтын хугацаанд үйлдвэрлэх</m:t>
                          </m:r>
                          <m:r>
                            <a:rPr lang="mn-MN" sz="33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mn-MN" sz="33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бүтээгдэхүүний тоо хэмжээ</m:t>
                          </m:r>
                          <m:r>
                            <m:rPr>
                              <m:nor/>
                            </m:rPr>
                            <a:rPr lang="mn-MN" sz="3300" b="1" i="1" dirty="0">
                              <a:solidFill>
                                <a:srgbClr val="FF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mn-MN" sz="33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mn-MN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mn-MN" sz="3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Тухайн жилийн элэгдлийн зардал</m:t>
                      </m:r>
                      <m:r>
                        <a:rPr lang="en-US" sz="3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mn-MN" sz="3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Нэгжид ногдох элэгдэл</m:t>
                      </m:r>
                      <m:r>
                        <a:rPr lang="mn-MN" sz="3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×Тухайн жилд үйлдвэрлэсэн нэгж</m:t>
                      </m:r>
                    </m:oMath>
                  </m:oMathPara>
                </a14:m>
                <a:endParaRPr lang="mn-MN" sz="3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US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037404-8FBD-594A-60E9-F968EAEFAC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851" y="586346"/>
                <a:ext cx="11928297" cy="5382228"/>
              </a:xfrm>
              <a:blipFill>
                <a:blip r:embed="rId3"/>
                <a:stretch>
                  <a:fillRect l="-716" t="-2718" r="-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06020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0AE67-84B4-0763-EDE9-78461F27B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68" y="139095"/>
            <a:ext cx="11856377" cy="452062"/>
          </a:xfrm>
        </p:spPr>
        <p:txBody>
          <a:bodyPr>
            <a:noAutofit/>
          </a:bodyPr>
          <a:lstStyle/>
          <a:p>
            <a:r>
              <a:rPr lang="mn-M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Элэгдэл байгуулах хурдавчилсан арга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58CBC-0039-B412-2865-256C16FF8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68" y="745466"/>
            <a:ext cx="11856377" cy="4802187"/>
          </a:xfrm>
        </p:spPr>
        <p:txBody>
          <a:bodyPr>
            <a:normAutofit/>
          </a:bodyPr>
          <a:lstStyle/>
          <a:p>
            <a:pPr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Элэгдлийг ашиглалтын хугацааны эхэнд харьцангуй их хэмжээгээр байгуулдаг аргыг элэгдэл байгуулах хурдавчилсан арга гэж нэрлэдэг. </a:t>
            </a:r>
          </a:p>
          <a:p>
            <a:pPr algn="just"/>
            <a:r>
              <a:rPr lang="mn-M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Зарим нэр төрлийн хөрөнгө ашиглалтын хугацааныхаа эхэнд бүтээмж өндөртэй байдаг тул энэ үед нь хуваарилагдах элэгдлийн хэмжээ мөн их байх ёстой гэсэн үзэл санаа дээр тулгуурладаг. </a:t>
            </a:r>
          </a:p>
          <a:p>
            <a:pPr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Элэгдэл байгуулах хурдавчилсан аргыг</a:t>
            </a: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Үлдэгдэл бууруулах арга 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(DB – Declining-Balance) </a:t>
            </a:r>
            <a:endParaRPr lang="mn-MN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Ашиглах хугацааны нийлбэрээр жигнэх арга </a:t>
            </a:r>
          </a:p>
          <a:p>
            <a:pPr marL="457200" lvl="1" indent="0" algn="just">
              <a:buNone/>
            </a:pPr>
            <a:r>
              <a:rPr lang="mn-MN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гэж ангилна. </a:t>
            </a:r>
          </a:p>
          <a:p>
            <a:pPr algn="just"/>
            <a:endParaRPr lang="en-US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0308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F4AB8-1A4E-2B42-AA46-A71E3899E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223" y="135571"/>
            <a:ext cx="11891554" cy="601527"/>
          </a:xfrm>
        </p:spPr>
        <p:txBody>
          <a:bodyPr>
            <a:noAutofit/>
          </a:bodyPr>
          <a:lstStyle/>
          <a:p>
            <a: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Элэгдэл байгуулах хурдавчилсан арга</a:t>
            </a:r>
            <a:b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mn-M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бууруулах (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 – Declining-Balance) </a:t>
            </a:r>
            <a:r>
              <a:rPr lang="mn-M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арга</a:t>
            </a:r>
            <a:endParaRPr lang="en-US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8CC8F8-38F7-54C3-0B7B-55879D2EFE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0223" y="757646"/>
                <a:ext cx="11789228" cy="5744391"/>
              </a:xfrm>
            </p:spPr>
            <p:txBody>
              <a:bodyPr>
                <a:normAutofit/>
              </a:bodyPr>
              <a:lstStyle/>
              <a:p>
                <a:pPr algn="just">
                  <a:spcBef>
                    <a:spcPts val="0"/>
                  </a:spcBef>
                </a:pPr>
                <a:r>
                  <a:rPr lang="en-US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 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аргыг заримдаа </a:t>
                </a:r>
                <a:r>
                  <a:rPr lang="mn-MN" b="1" i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тогтмол хувийн арга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эсвэл </a:t>
                </a:r>
                <a:r>
                  <a:rPr lang="mn-MN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Матесоны томъёолол 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гэж нэрлэдэг. 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mn-MN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Жил бүрийн элэгдлийн зардал нь жилийн эхэн дэх дансны үнэ </a:t>
                </a:r>
                <a:r>
                  <a:rPr lang="en-US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BV-</a:t>
                </a:r>
                <a:r>
                  <a:rPr lang="mn-MN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ээс авсан тогтмол хувь хэмжээ байна гэж үздэг. 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Дурын нэг жилийн элэгдлийг жилийн эхэн дэх дансны үнэ </a:t>
                </a:r>
                <a:r>
                  <a:rPr lang="en-US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BV-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 харьцуулсан харьцаа нь хөрөнгийн ашиглалтын туршид тогтмол байх бөгөөд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mn-MN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</m:t>
                    </m:r>
                    <m:r>
                      <a:rPr lang="mn-MN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</m:t>
                    </m:r>
                    <m:r>
                      <a:rPr lang="mn-MN" sz="2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ээр тэмдэглэнэ. 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Энэ аргад, </a:t>
                </a:r>
                <a:r>
                  <a:rPr lang="mn-MN" sz="32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200%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DB-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ийг ашиглавал </a:t>
                </a:r>
                <a14:m>
                  <m:oMath xmlns:m="http://schemas.openxmlformats.org/officeDocument/2006/math">
                    <m:r>
                      <a:rPr lang="en-US" sz="4000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sz="4000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4000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4000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ө.х,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ээс </a:t>
                </a:r>
                <a:r>
                  <a:rPr lang="en-US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SL–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ийн хувь хэмжээг 2 дахин авсан), </a:t>
                </a:r>
              </a:p>
              <a:p>
                <a:pPr lvl="1" algn="just">
                  <a:spcBef>
                    <a:spcPts val="0"/>
                  </a:spcBef>
                </a:pP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Энд: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хөрөнгийг элэгдүүлэх (ашигтай) хугацаатай тэнцүү. </a:t>
                </a:r>
              </a:p>
              <a:p>
                <a:pPr algn="just">
                  <a:spcBef>
                    <a:spcPts val="0"/>
                  </a:spcBef>
                </a:pP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Хэрвээ </a:t>
                </a:r>
                <a:r>
                  <a:rPr lang="mn-MN" sz="3200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150%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 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аргыг ашиглавал </a:t>
                </a:r>
                <a14:m>
                  <m:oMath xmlns:m="http://schemas.openxmlformats.org/officeDocument/2006/math">
                    <m:r>
                      <a:rPr lang="en-US" sz="3600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sz="3600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600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3600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600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US" sz="3600" b="1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𝑵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гэж тооцно. </a:t>
                </a:r>
              </a:p>
              <a:p>
                <a:pPr algn="just">
                  <a:spcBef>
                    <a:spcPts val="0"/>
                  </a:spcBef>
                </a:pPr>
                <a:endParaRPr lang="en-US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8CC8F8-38F7-54C3-0B7B-55879D2EFE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0223" y="757646"/>
                <a:ext cx="11789228" cy="5744391"/>
              </a:xfrm>
              <a:blipFill>
                <a:blip r:embed="rId3"/>
                <a:stretch>
                  <a:fillRect l="-931" t="-1803" r="-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4392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E241D-A2CB-CD3D-14F2-67FF6A44E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15" y="164828"/>
            <a:ext cx="11876314" cy="636361"/>
          </a:xfrm>
        </p:spPr>
        <p:txBody>
          <a:bodyPr>
            <a:normAutofit fontScale="90000"/>
          </a:bodyPr>
          <a:lstStyle/>
          <a:p>
            <a: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Элэгдэл байгуулах хурдавчилсан арга</a:t>
            </a:r>
            <a:b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mn-M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бууруулах (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 – Declining-Balance) </a:t>
            </a:r>
            <a:r>
              <a:rPr lang="mn-M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арга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8C44DB-0462-EACA-9EAA-1858A50D4A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1515" y="801189"/>
                <a:ext cx="12120154" cy="5608320"/>
              </a:xfrm>
            </p:spPr>
            <p:txBody>
              <a:bodyPr>
                <a:normAutofit/>
              </a:bodyPr>
              <a:lstStyle/>
              <a:p>
                <a:r>
                  <a:rPr lang="ru-RU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 аргын хувьд дараах харьцаа байна:</a:t>
                </a:r>
                <a:endParaRPr lang="en-US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6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6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6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6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6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6000" b="0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6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6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6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en-US" sz="6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6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6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6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e>
                        <m:sup>
                          <m:r>
                            <a:rPr lang="en-US" sz="6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6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6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6000" b="0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6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6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6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6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6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6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6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sz="6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6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6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6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6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6000" b="0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6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6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𝐵𝑉</m:t>
                          </m:r>
                        </m:e>
                        <m:sub>
                          <m:r>
                            <a:rPr lang="en-US" sz="6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sz="6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6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en-US" sz="6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6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6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6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</m:e>
                        <m:sup>
                          <m:r>
                            <a:rPr lang="en-US" sz="6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sz="6000" b="0" dirty="0">
                  <a:solidFill>
                    <a:srgbClr val="FF0000"/>
                  </a:solidFill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r>
                  <a:rPr lang="mn-MN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Эдгээр тэгшитгэлүүд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𝑆𝑉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</a:t>
                </a:r>
                <a:r>
                  <a:rPr lang="mn-MN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д зориулсан нэр томьёо агуулаагүй болохыг анхаарах хэрэгтэй.</a:t>
                </a:r>
              </a:p>
              <a:p>
                <a:endParaRPr lang="en-US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88C44DB-0462-EACA-9EAA-1858A50D4A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1515" y="801189"/>
                <a:ext cx="12120154" cy="5608320"/>
              </a:xfrm>
              <a:blipFill>
                <a:blip r:embed="rId3"/>
                <a:stretch>
                  <a:fillRect l="-1157" t="-1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2128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7C9B5-BC0A-6A54-2B01-86143AF00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837" y="145742"/>
            <a:ext cx="11681717" cy="686466"/>
          </a:xfrm>
        </p:spPr>
        <p:txBody>
          <a:bodyPr>
            <a:noAutofit/>
          </a:bodyPr>
          <a:lstStyle/>
          <a:p>
            <a:r>
              <a:rPr lang="mn-M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Элэгдэл байгуулах хурдавчилсан арга</a:t>
            </a:r>
            <a:br>
              <a:rPr lang="mn-MN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mn-MN" sz="27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бууруулах (</a:t>
            </a:r>
            <a:r>
              <a:rPr lang="en-US" sz="27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DB) </a:t>
            </a:r>
            <a:r>
              <a:rPr lang="mn-MN" sz="27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аргаас шулуун шугамын </a:t>
            </a:r>
            <a:r>
              <a:rPr lang="en-US" sz="27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(SL) </a:t>
            </a:r>
            <a:r>
              <a:rPr lang="mn-MN" sz="27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арга руу шилжүүлэх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DC6B30-7DC8-CE45-2B53-546F6E76E1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3837" y="914400"/>
                <a:ext cx="11681717" cy="4122506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r>
                  <a:rPr lang="en-US" sz="40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DB-</a:t>
                </a:r>
                <a:r>
                  <a:rPr lang="mn-MN" sz="40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ийн аргыг ашигласан үед дансны үнэ </a:t>
                </a:r>
                <a:r>
                  <a:rPr lang="en-US" sz="40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BV-</a:t>
                </a:r>
                <a:r>
                  <a:rPr lang="mn-MN" sz="40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ийн утга хэзээ ч тэг хүрч чадахгүй тул энэ аргаас </a:t>
                </a:r>
                <a:r>
                  <a:rPr lang="en-US" sz="40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 </a:t>
                </a:r>
                <a:r>
                  <a:rPr lang="mn-MN" sz="40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арга руу хөрөнгийн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4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𝑩𝑽</m:t>
                        </m:r>
                      </m:e>
                      <m:sub>
                        <m:r>
                          <a:rPr lang="en-US" sz="4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sz="40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mn-MN" sz="40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нь тэг (эсвэл бусад тодорхой мөнгөн дүн, тухайлбал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4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4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𝑺𝑽</m:t>
                        </m:r>
                      </m:e>
                      <m:sub>
                        <m:r>
                          <a:rPr lang="en-US" sz="4400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𝑵</m:t>
                        </m:r>
                      </m:sub>
                    </m:sSub>
                  </m:oMath>
                </a14:m>
                <a:r>
                  <a:rPr lang="en-US" sz="40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mn-MN" sz="40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гэх мэт) байхаар шилжүүлэхийг зөвшөөрдөг. </a:t>
                </a:r>
              </a:p>
              <a:p>
                <a:pPr algn="just"/>
                <a:r>
                  <a:rPr lang="mn-MN" sz="40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Үүнийг дэлгэрэнгүйгээр семинарын хичээл дээр үзнэ.</a:t>
                </a:r>
                <a:endParaRPr lang="en-US" sz="40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DC6B30-7DC8-CE45-2B53-546F6E76E1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3837" y="914400"/>
                <a:ext cx="11681717" cy="4122506"/>
              </a:xfrm>
              <a:blipFill>
                <a:blip r:embed="rId3"/>
                <a:stretch>
                  <a:fillRect l="-1670" t="-5621" r="-1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6701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0ED3-82A6-AD0A-15DA-88CCC33DD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514" y="65574"/>
            <a:ext cx="11916107" cy="1195667"/>
          </a:xfrm>
        </p:spPr>
        <p:txBody>
          <a:bodyPr>
            <a:noAutofit/>
          </a:bodyPr>
          <a:lstStyle/>
          <a:p>
            <a:r>
              <a:rPr lang="mn-M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Элэгдэл байгуулах хурдавчилсан арга</a:t>
            </a:r>
            <a:b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mn-M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Ашиглах хугацааны нийлбэрээр жигнэх арга</a:t>
            </a:r>
            <a:b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mn-M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(Эдэлгээний хугацаагаар жигнэх арга)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D9A5CE-3314-F26E-E8ED-60C416B4426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379" y="1277007"/>
                <a:ext cx="11916107" cy="5515419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Ашиглалтын хугацааны эхэн үед хөрөнгийн өртгийг илүү хуваарилах бас нэг арга юм. </a:t>
                </a:r>
              </a:p>
              <a:p>
                <a:r>
                  <a:rPr lang="mn-MN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Хөрөнгийн дансны өртгийг элэгдлийн хувь хэмжээний хамт бууруулдаг. </a:t>
                </a:r>
                <a:endParaRPr 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mn-MN" sz="1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mn-MN" sz="33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Элэгдэл</m:t>
                      </m:r>
                      <m:r>
                        <a:rPr lang="en-US" sz="33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mn-MN" sz="33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Элэгдэл тооцох коэффициент</m:t>
                      </m:r>
                      <m:r>
                        <a:rPr lang="mn-MN" sz="33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mn-MN" sz="33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mn-MN" sz="33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Анхны өртөг−Үлдэх өртөг</m:t>
                          </m:r>
                        </m:e>
                      </m:d>
                    </m:oMath>
                  </m:oMathPara>
                </a14:m>
                <a:endParaRPr lang="en-US" sz="3300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mn-MN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mn-MN" sz="3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Элэгдэл тооцох коэффициент</m:t>
                      </m:r>
                      <m:r>
                        <a:rPr lang="en-US" sz="38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mn-MN" sz="3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Ашиглах жил</m:t>
                          </m:r>
                        </m:num>
                        <m:den>
                          <m:r>
                            <a:rPr lang="mn-MN" sz="3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Ашиглах жилүүдийн нийлбэр</m:t>
                          </m:r>
                        </m:den>
                      </m:f>
                    </m:oMath>
                  </m:oMathPara>
                </a14:m>
                <a:endParaRPr lang="mn-MN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sz="1400" b="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mn-MN" sz="3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Ашиглах жилүүдийн нийлбэр</m:t>
                      </m:r>
                      <m:r>
                        <a:rPr lang="en-US" sz="3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8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d>
                        <m:dPr>
                          <m:ctrlPr>
                            <a:rPr lang="en-US" sz="380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80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en-US" sz="38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38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mn-MN" sz="3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</a:t>
                </a:r>
                <a:r>
                  <a:rPr lang="mn-MN" sz="3800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ашиглалтын хугацаа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D9A5CE-3314-F26E-E8ED-60C416B442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379" y="1277007"/>
                <a:ext cx="11916107" cy="5515419"/>
              </a:xfrm>
              <a:blipFill>
                <a:blip r:embed="rId3"/>
                <a:stretch>
                  <a:fillRect l="-716" t="-22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93791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58F4F-C5BB-79F7-BD06-4162BB388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85" y="97998"/>
            <a:ext cx="11963401" cy="417988"/>
          </a:xfrm>
        </p:spPr>
        <p:txBody>
          <a:bodyPr>
            <a:noAutofit/>
          </a:bodyPr>
          <a:lstStyle/>
          <a:p>
            <a:pPr algn="just"/>
            <a:r>
              <a:rPr lang="mn-M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Живэх элэгдлийн сангийн арга</a:t>
            </a:r>
            <a:endParaRPr lang="en-US" sz="3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99DCCD-C3D1-A20D-A649-73CEA55A67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8185" y="515986"/>
                <a:ext cx="11963401" cy="5826029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mn-M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Хөрөнгийн ашиглалтын хугацааг харгалзан элэгдлийн өсөн нэмэгдэж буй хувь хэмжээний түвшин бүрд дансны өртгийг бууруулдаг арга юм. 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mn-MN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Х</m:t>
                      </m:r>
                      <m:r>
                        <a:rPr lang="mn-M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уримтлагдсан элэгдэл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mn-M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mn-M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Анхны өртөг−Үлдэх өртөг</m:t>
                          </m:r>
                          <m:r>
                            <m:rPr>
                              <m:nor/>
                            </m:rPr>
                            <a:rPr lang="mn-MN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num>
                            <m:den>
                              <m:r>
                                <a:rPr lang="en-US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den>
                          </m:f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mn-MN" sz="3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Т</m:t>
                      </m:r>
                      <m:r>
                        <a:rPr lang="mn-MN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ухайн хугацааны төгсгөлд хуримтлагдсан элэгдэл</m:t>
                      </m:r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32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mn-MN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Анхны өртөг−Үлдэх өртөг</m:t>
                          </m:r>
                          <m:r>
                            <m:rPr>
                              <m:nor/>
                            </m:rPr>
                            <a:rPr lang="mn-MN" sz="3200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32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2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num>
                            <m:den>
                              <m:r>
                                <a:rPr lang="en-US" sz="32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den>
                          </m:f>
                          <m:r>
                            <a:rPr lang="en-US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sz="32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200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num>
                            <m:den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den>
                          </m:f>
                          <m:r>
                            <a:rPr lang="en-US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mn-MN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:endParaRPr lang="en-US" b="0" i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mn-M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Тухайн хугацааны эцэс дэх дансны өртөг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mn-MN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Дансны үнэ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mn-MN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Анхны өртөг</m:t>
                      </m:r>
                      <m:r>
                        <a:rPr lang="en-US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mn-MN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Анхны өртөг−Үлдэх өртөг</m:t>
                          </m:r>
                          <m:r>
                            <m:rPr>
                              <m:nor/>
                            </m:rPr>
                            <a:rPr lang="mn-MN" dirty="0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den>
                          </m:f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  <m:r>
                        <a:rPr lang="en-US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den>
                          </m:f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799DCCD-C3D1-A20D-A649-73CEA55A67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8185" y="515986"/>
                <a:ext cx="11963401" cy="5826029"/>
              </a:xfrm>
              <a:blipFill>
                <a:blip r:embed="rId3"/>
                <a:stretch>
                  <a:fillRect l="-917" t="-1885" r="-10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00672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F936D-8D1C-D9DF-46AE-438AD6DF4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106" y="92466"/>
            <a:ext cx="11829835" cy="513709"/>
          </a:xfrm>
        </p:spPr>
        <p:txBody>
          <a:bodyPr>
            <a:noAutofit/>
          </a:bodyPr>
          <a:lstStyle/>
          <a:p>
            <a:pPr algn="just"/>
            <a:r>
              <a:rPr lang="mn-MN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Тогтвортой байдлын зарчим</a:t>
            </a:r>
            <a:endParaRPr lang="en-US" sz="4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7B260-0CCD-EA71-351B-FA7733B21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106" y="729916"/>
            <a:ext cx="11829835" cy="5689934"/>
          </a:xfrm>
        </p:spPr>
        <p:txBody>
          <a:bodyPr>
            <a:normAutofit lnSpcReduction="10000"/>
          </a:bodyPr>
          <a:lstStyle/>
          <a:p>
            <a:pPr algn="just"/>
            <a:r>
              <a:rPr lang="mn-M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Хөрөнгийн элэгдэл тооцох аргаа тайлангийн хугацаанд өөрчлөхгүй байх зарчмыг </a:t>
            </a:r>
            <a:r>
              <a:rPr lang="mn-M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тогтвортой байдлын зарчим </a:t>
            </a:r>
            <a:r>
              <a:rPr lang="mn-M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гэнэ. </a:t>
            </a:r>
          </a:p>
          <a:p>
            <a:pPr algn="just"/>
            <a:r>
              <a:rPr lang="mn-M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Компанийн хөрөнгийн элэгдэл тооцох аргыг сонгох үүргийг удирдлага хүлээх бөгөөд ямар аргаар тооцсоноо санхүүгийн тайлангийн хавсралтаар илэрхийлнэ. </a:t>
            </a:r>
          </a:p>
          <a:p>
            <a:pPr algn="just"/>
            <a:r>
              <a:rPr lang="mn-M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Элэгдэл тооцох аргыг сонгохдоо </a:t>
            </a:r>
          </a:p>
          <a:p>
            <a:pPr lvl="1"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Тухайн улсын хууль, тогтоол, шийдвэр,</a:t>
            </a:r>
          </a:p>
          <a:p>
            <a:pPr lvl="1"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Нягтлан бодох бүртгэлийн хууль, дүрэм, журам,</a:t>
            </a:r>
          </a:p>
          <a:p>
            <a:pPr lvl="1"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Ижил төстэй өмнөх туршлага</a:t>
            </a:r>
          </a:p>
          <a:p>
            <a:pPr lvl="1"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Одоогийн нөхцөл байдал,</a:t>
            </a:r>
          </a:p>
          <a:p>
            <a:pPr lvl="1" algn="just"/>
            <a:r>
              <a:rPr lang="mn-M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Ирээдүйн төлөвлөгөөг үндэслэнэ. </a:t>
            </a:r>
            <a:endParaRPr lang="en-US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9902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430FC-B1E0-4F78-7F9C-69BDAC596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17" y="111035"/>
            <a:ext cx="11890625" cy="728269"/>
          </a:xfrm>
        </p:spPr>
        <p:txBody>
          <a:bodyPr>
            <a:noAutofit/>
          </a:bodyPr>
          <a:lstStyle/>
          <a:p>
            <a:r>
              <a:rPr lang="ru-RU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Татвар ногдуулах орлого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mn-M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ru-RU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изнесийн компаниуд)</a:t>
            </a:r>
            <a:endParaRPr lang="en-US" sz="3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3792CC-018A-5492-F781-A96BD68DC1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9318" y="839304"/>
                <a:ext cx="11705690" cy="5824386"/>
              </a:xfrm>
            </p:spPr>
            <p:txBody>
              <a:bodyPr>
                <a:normAutofit fontScale="92500"/>
              </a:bodyPr>
              <a:lstStyle/>
              <a:p>
                <a:pPr algn="just"/>
                <a:r>
                  <a:rPr lang="mn-MN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Татвар ногдох орлогыг тодорхойлохдоо нийт орлогоос хуулиар зөвшөөрөгдсөн зардлуудыг хасч тооцно: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mn-MN" sz="39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Татвар ноогдуулах орлого</m:t>
                      </m:r>
                      <m:r>
                        <a:rPr lang="en-US" sz="39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mn-MN" sz="39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Нийт орлого–Хөрөнгө оруулалтаас бусад бүх зардал</m:t>
                      </m:r>
                    </m:oMath>
                  </m:oMathPara>
                </a14:m>
                <a:endParaRPr lang="mn-MN" sz="39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mn-MN" sz="39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–Элэгдлийн шимтгэл</m:t>
                      </m:r>
                    </m:oMath>
                  </m:oMathPara>
                </a14:m>
                <a:endParaRPr lang="mn-MN" sz="35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mn-MN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Элэгдэл тооцох хөрөнгийг борлуулснаас олох ашиг (алдагдал)-ийг зах зээлийн бодит үнээс тухайн үеийн дансны үнийг хасч тооцдог: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mn-MN" sz="410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Хөрөнгийг данснаас хасах үеийн ашиг </m:t>
                      </m:r>
                      <m:d>
                        <m:dPr>
                          <m:ctrlPr>
                            <a:rPr lang="en-US" sz="41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mn-MN" sz="41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алдагдал</m:t>
                          </m:r>
                        </m:e>
                      </m:d>
                      <m:r>
                        <a:rPr lang="en-US" sz="41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mn-MN" sz="41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5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8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𝑴𝑽</m:t>
                          </m:r>
                        </m:e>
                        <m:sub>
                          <m:r>
                            <a:rPr lang="en-US" sz="58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  <m:r>
                        <a:rPr lang="en-US" sz="5800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– </m:t>
                      </m:r>
                      <m:sSub>
                        <m:sSubPr>
                          <m:ctrlPr>
                            <a:rPr lang="en-US" sz="5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58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𝑩𝑽</m:t>
                          </m:r>
                        </m:e>
                        <m:sub>
                          <m:r>
                            <a:rPr lang="en-US" sz="5800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</m:sub>
                      </m:sSub>
                    </m:oMath>
                  </m:oMathPara>
                </a14:m>
                <a:endParaRPr lang="mn-MN" sz="39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mn-MN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Борлуулалт нь ашиг авчрах үед үүнийг </a:t>
                </a:r>
                <a:r>
                  <a:rPr lang="mn-MN" sz="3200" b="1" i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элэгдлийн нөхөлт </a:t>
                </a:r>
                <a:r>
                  <a:rPr lang="mn-MN" sz="3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гэж нэрлэдэг.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3792CC-018A-5492-F781-A96BD68DC1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318" y="839304"/>
                <a:ext cx="11705690" cy="5824386"/>
              </a:xfrm>
              <a:blipFill>
                <a:blip r:embed="rId3"/>
                <a:stretch>
                  <a:fillRect l="-1041" t="-2094" r="-1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99532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32878-A0F5-19C4-3E51-C4A71A313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180" y="240031"/>
            <a:ext cx="11555730" cy="834390"/>
          </a:xfrm>
        </p:spPr>
        <p:txBody>
          <a:bodyPr>
            <a:normAutofit/>
          </a:bodyPr>
          <a:lstStyle/>
          <a:p>
            <a:pPr algn="just"/>
            <a:r>
              <a:rPr lang="mn-MN" sz="4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Уншиж судлах ном, сурах бичиг</a:t>
            </a:r>
            <a:endParaRPr lang="en-US" sz="4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6ECD2-1478-C382-3CB4-7AE5501AC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180" y="1414984"/>
            <a:ext cx="11555730" cy="5237276"/>
          </a:xfrm>
        </p:spPr>
        <p:txBody>
          <a:bodyPr>
            <a:normAutofit/>
          </a:bodyPr>
          <a:lstStyle/>
          <a:p>
            <a:pPr algn="just"/>
            <a:r>
              <a:rPr lang="mn-M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А.Еркеш, Нягтлан бодох бүртгэл, 2016,</a:t>
            </a:r>
          </a:p>
          <a:p>
            <a:pPr algn="just"/>
            <a:r>
              <a:rPr lang="mn-M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Б.Шүрээ, Э.Жавзандулам, Санхүүгийн бүртгэл, 2021</a:t>
            </a:r>
          </a:p>
          <a:p>
            <a:pPr algn="just"/>
            <a:r>
              <a:rPr lang="mn-M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Х.Дэлгэрсайхан, Санхүү бүртгэл, 2006 </a:t>
            </a:r>
          </a:p>
          <a:p>
            <a:pPr algn="just"/>
            <a:r>
              <a:rPr lang="mn-MN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Н.Самданжамц, Санхүү бүртгэл, 2012</a:t>
            </a:r>
          </a:p>
          <a:p>
            <a:pPr algn="just"/>
            <a:endParaRPr lang="mn-MN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75632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EB99C4FA-7FF9-AF4B-1EC1-2FF43FDE8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491912"/>
            <a:ext cx="10905066" cy="3816774"/>
          </a:xfrm>
          <a:prstGeom prst="rect">
            <a:avLst/>
          </a:prstGeom>
          <a:ln>
            <a:noFill/>
          </a:ln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426421632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2nd edition)"/>
  <p:tag name="ISPRING_ULTRA_SCORM_COURSE_ID" val="B59F0632-C298-4310-9590-5C1127647554"/>
  <p:tag name="ISPRING_CMI5_LAUNCH_METHOD" val="any window"/>
  <p:tag name="ISPRINGCLOUDFOLDERID" val="1"/>
  <p:tag name="ISPRINGONLINEFOLDERID" val="1"/>
  <p:tag name="ISPRING_OUTPUT_FOLDER" val="[[&quot;\uFFFD12\u001E{5CDD3A6F-82E0-49E5-B476-77BB91554EEC}&quot;,&quot;C:\\Users\\217\\Download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publishDestination&quot;:&quot;LMS&quot;,&quot;wordSettings&quot;:{&quot;printCopies&quot;:1}}"/>
  <p:tag name="ISPRING_SCORM_RATE_SLIDES" val="0"/>
  <p:tag name="ISPRING_SCORM_PASSING_SCORE" val="0.000000"/>
  <p:tag name="ISPRING_CURRENT_PLAYER_ID" val="universal"/>
  <p:tag name="ISPRING_PRESENTATION_TITLE" val="S.EEM101_Lecture07_2023-24.B_ByTs.B_2024.03.11"/>
  <p:tag name="ISPRING_FIRST_PUBLISH" val="1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QUIZZES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3911</TotalTime>
  <Words>2280</Words>
  <Application>Microsoft Office PowerPoint</Application>
  <PresentationFormat>Widescreen</PresentationFormat>
  <Paragraphs>292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Лекц 7. Үндсэн хөрөнгийн элэгдэл тооцох аргууд</vt:lpstr>
      <vt:lpstr>Хичээлийн суралцахуйн үр дүнгүүд  Оюутан энэ сэдвийг судалснаар дараах ур чадваруудтай болсон байна. </vt:lpstr>
      <vt:lpstr>Хичээлийн агуулга </vt:lpstr>
      <vt:lpstr>Хөрөнгө, хөрөнгийн ангилал</vt:lpstr>
      <vt:lpstr>Хөрөнгө, хөрөнгийн ангилал</vt:lpstr>
      <vt:lpstr>Элэгдлийн тухай ойлголт</vt:lpstr>
      <vt:lpstr>Элэгдлийн тухай ойлголт</vt:lpstr>
      <vt:lpstr>Элэгдлийн төрөл</vt:lpstr>
      <vt:lpstr>Хөрөнгийн ангилал</vt:lpstr>
      <vt:lpstr>Үндсэн хөрөнгийн ангилал</vt:lpstr>
      <vt:lpstr>Элэгдэл байгуулах нөхцөл</vt:lpstr>
      <vt:lpstr>Элэгдэл тооцох нөхцөл</vt:lpstr>
      <vt:lpstr>Үндсэн хөрөнгийн элэгдэл тооцоход ашигладаг ойлголтууд</vt:lpstr>
      <vt:lpstr>Үндсэн хөрөнгийн элэгдэл тооцоход ашигладаг ойлголтууд</vt:lpstr>
      <vt:lpstr>Элэгдэл тооцох аргууд</vt:lpstr>
      <vt:lpstr>Шулуун шугам (SL - Straight-Line)-ын арга</vt:lpstr>
      <vt:lpstr>Хөрөнгийн бүлэг ба ашиглалтын хугацаа Аж ахуйн нэгжийн орлогын албан татварын тухай хууль /Шинэчилсэн найруулга/ 2019 оны 03 сарын 22 өдөр </vt:lpstr>
      <vt:lpstr>Үйлдвэрлэлийн нэгжийн арга буюу Бүтээгдэхүүний нэгжид ногдуулах арга</vt:lpstr>
      <vt:lpstr>Элэгдэл байгуулах хурдавчилсан арга</vt:lpstr>
      <vt:lpstr>Элэгдэл байгуулах хурдавчилсан арга Баланс бууруулах (DB – Declining-Balance) арга</vt:lpstr>
      <vt:lpstr>Элэгдэл байгуулах хурдавчилсан арга Баланс бууруулах (DB – Declining-Balance) арга</vt:lpstr>
      <vt:lpstr>Элэгдэл байгуулах хурдавчилсан арга Баланс бууруулах (DB) аргаас шулуун шугамын (SL) арга руу шилжүүлэх</vt:lpstr>
      <vt:lpstr>Элэгдэл байгуулах хурдавчилсан арга Ашиглах хугацааны нийлбэрээр жигнэх арга (Эдэлгээний хугацаагаар жигнэх арга)</vt:lpstr>
      <vt:lpstr>Живэх элэгдлийн сангийн арга</vt:lpstr>
      <vt:lpstr>Тогтвортой байдлын зарчим</vt:lpstr>
      <vt:lpstr>Татвар ногдуулах орлого (Бизнесийн компаниуд)</vt:lpstr>
      <vt:lpstr>Уншиж судлах ном, сурах бичиг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S.EEM101_Lecture07_2023-24.B_ByTs.B_2024.03.11</dc:title>
  <dc:creator>Oyu Chuluun</dc:creator>
  <cp:lastModifiedBy>Nominjin Tsogtbayar</cp:lastModifiedBy>
  <cp:revision>172</cp:revision>
  <cp:lastPrinted>2024-03-11T05:14:51Z</cp:lastPrinted>
  <dcterms:created xsi:type="dcterms:W3CDTF">2023-09-05T14:21:28Z</dcterms:created>
  <dcterms:modified xsi:type="dcterms:W3CDTF">2025-11-28T10:34:17Z</dcterms:modified>
</cp:coreProperties>
</file>