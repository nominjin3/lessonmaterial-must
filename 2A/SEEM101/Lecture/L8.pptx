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419" r:id="rId2"/>
    <p:sldId id="348" r:id="rId3"/>
    <p:sldId id="257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403" r:id="rId19"/>
    <p:sldId id="394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8" r:id="rId34"/>
    <p:sldId id="379" r:id="rId35"/>
    <p:sldId id="286" r:id="rId36"/>
  </p:sldIdLst>
  <p:sldSz cx="12192000" cy="6858000"/>
  <p:notesSz cx="7315200" cy="96012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0FF65C-CA29-52B5-E688-B9F869745318}" name="T B" initials="TB" userId="cc74087b7d702bd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76903" autoAdjust="0"/>
  </p:normalViewPr>
  <p:slideViewPr>
    <p:cSldViewPr snapToGrid="0">
      <p:cViewPr varScale="1">
        <p:scale>
          <a:sx n="82" d="100"/>
          <a:sy n="82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C622D43-C65E-428A-89C7-8C19C0C28B05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4CFEF27-99CE-459F-8C01-F12FB244F5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2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386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55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910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Зардал гэдэг ойлголт өртөг гэдэг ойлголтоос илүү өргөн хүрээтэй.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268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177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99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Хамсарсан бүтээгдэхүүний жишээ – гурилын үйлдвэр. Бүтээгдэхүүн нь бие даасан бүтээгдэхүүн болж тусгаарлагдах хүртлээ нэгдсэн өртөгтэй байдаг.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318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744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143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57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660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1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859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246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72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348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106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D222-83ED-AC25-DEE2-C321DD2B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3FCAA-9213-B3AC-A3FF-E9F7FAEA3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C864B-FE9D-517B-9EC4-BA0A507FE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F1918-1270-F5EA-E10D-6F28A7990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26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4</a:t>
            </a:r>
            <a:r>
              <a:rPr lang="en-US" dirty="0"/>
              <a:t>P –</a:t>
            </a:r>
            <a:r>
              <a:rPr lang="mn-MN" dirty="0"/>
              <a:t> ийн Үнэ л зөвхөн орлогыг илэрхийлдэг параметр байдаг бол бусад 3 нь өртөг зардлыг илэрхийлдэг.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818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687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n-MN" dirty="0"/>
              <a:t>Үнэ тогтооход нөлөөлдөг 3</a:t>
            </a:r>
            <a:r>
              <a:rPr lang="en-US" dirty="0"/>
              <a:t>C </a:t>
            </a:r>
            <a:r>
              <a:rPr lang="mn-MN" dirty="0"/>
              <a:t>гэж байна. Энэ 3 хүчин зүйлийг харгалзсны үндсэн дээр үнийг тогтоодог. </a:t>
            </a:r>
          </a:p>
          <a:p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461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856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76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mn-M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33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514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4031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0933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924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6234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1691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187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1651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7116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327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5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7D8C-4D35-6BE7-8913-EE48165F6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3668D-C2DB-80DC-A1DD-F60A137AF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D1920-FED3-D39C-539E-7B5A5663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230D-E594-D7A5-32EC-9616DF20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21CD8-BAE7-5A75-5A6C-4A94631F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8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C744-581C-A465-D5AD-698E5735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F86A-AA32-A112-1308-F20B349FF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C6181-E825-1285-E416-EE218D44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C597F-71A2-6113-48B7-23FBF239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3508B-421D-3159-299D-6A50E1BB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91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90E7-AF98-583B-B3C9-E30B90DF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72DBB-25A0-77B9-56E0-E617E9D7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1DC2C-A214-4BAD-37A9-2AF51A57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C845C-023D-8EAD-81C8-4BBE5DA6C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7C64A-2365-EABC-5F33-CDA3D6CE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44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0046-0812-2CE0-21AB-F2D471CD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84E91-81BA-B0C8-43E2-0C1FB0708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61BD2-1A58-7C56-D7A7-135866A4D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FC1E-148B-EB6A-533C-A895CE8A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110CF-5980-BE5D-9406-39F27D75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86073-4A93-20AE-0F86-129975236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67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A182-292F-33B0-9A13-21D03CA6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B62B1-B0F4-D60D-9CE6-4D0E730C7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0E5CA-EE3A-F3E7-7FBE-BB5ADF5C6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79186F-B8E2-72F3-72AE-3FA8848ED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88BD3-5740-E308-43A7-9518ACE58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1AE7A-40F2-FDED-EA7F-916E5163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873A7-8D41-C1BE-DFF8-172CB3F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8E814-2557-C6DE-8A25-A4EF60D2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2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397D-71F1-CCDC-44C6-DBC5BFE1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7B16D-F9FC-BCE6-1B42-BDE141D9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116CF-3051-29AA-D7A5-D541C87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D2961-87BC-269D-8A12-082DD2B0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81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42EFB-3455-988C-4371-6A02EC61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23196-D0D5-1737-480A-AC1B231A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A5807-4B8C-8F0B-1E78-8808049A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3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8877-E86E-7B34-444B-E143B1819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B929B-DC3D-522B-D048-30215888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3059F-6707-DF7E-1BE4-62F707BB9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D24B2-E883-95C9-6B96-0C3CA02A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2D7E2-C7A6-E14A-739A-278F59E2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A7BBE-F519-5822-9D2B-941BE610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9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129B-0D66-F795-85BE-7E78BDAD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C4CF0-08AB-1C0A-815A-2BA203A8A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B9B51-C177-2817-1D1A-C92F903B4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A76B8-0006-54B6-EC79-B119F0FF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F90E3-24E4-AFFB-E554-B66EC265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7FE3-ECEA-4E08-D41E-EA19B38B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81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9902-7CD5-F898-A3C7-EA33606C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88072-5629-164B-6FBB-FD7D6676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4E99-671D-9C4B-5F52-93E666AB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2A27-D855-9487-5850-AA12D3CC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B33CC-E6C6-4390-2D7D-F9F348F4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4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627C86-B539-8330-A66A-0FE29628B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8C975-ECBF-3772-1D5D-5F4B5DD65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6307C-889B-74E9-03D3-079595FB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1C601-CDCF-8113-0351-6229FE21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45360-2CBE-551F-CCEE-8E997F9A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979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87FCA-762D-6470-BFF4-B2C55CEA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4B729-E129-522C-12D0-6FFCA7620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80C4F-690A-D0BF-6490-9F27DEC27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67F83-6740-47E4-93AE-3D5AB4AA4876}" type="datetimeFigureOut">
              <a:rPr lang="en-US" smtClean="0"/>
              <a:t>3/12/2025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EBD5-0880-276D-00D3-BDE8B6BCD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95C48-2E4B-20AA-E642-20DF5BE9E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56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4490-C09C-F2C1-1BED-C30E9C649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1"/>
            <a:ext cx="10195249" cy="1828799"/>
          </a:xfrm>
        </p:spPr>
        <p:txBody>
          <a:bodyPr>
            <a:noAutofit/>
          </a:bodyPr>
          <a:lstStyle/>
          <a:p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Лекц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Өртөг, үнэ, ашгийн тооцоо</a:t>
            </a:r>
            <a:endParaRPr lang="en-US"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687C9-0602-4AB3-C68B-47EB63DFD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97475"/>
            <a:ext cx="9144000" cy="871267"/>
          </a:xfrm>
        </p:spPr>
        <p:txBody>
          <a:bodyPr>
            <a:normAutofit lnSpcReduction="10000"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ШУТИС-ийн МХТС, холбооны салбарын багш Ц.Балжинням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Улаанбаатар хот. 2023-24.Хавар.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B551975-1CE2-308D-D250-4B65BD2EF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8" y="16278"/>
            <a:ext cx="4957464" cy="1363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493B6D6-2330-40E5-BEBE-D3505B39EAF9}"/>
              </a:ext>
            </a:extLst>
          </p:cNvPr>
          <p:cNvSpPr txBox="1">
            <a:spLocks/>
          </p:cNvSpPr>
          <p:nvPr/>
        </p:nvSpPr>
        <p:spPr>
          <a:xfrm>
            <a:off x="1751012" y="3905250"/>
            <a:ext cx="8689976" cy="13395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EEM101  </a:t>
            </a:r>
            <a:b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Инженерчлэлийн эдийн засаг</a:t>
            </a:r>
            <a:br>
              <a:rPr lang="mn-MN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Economy</a:t>
            </a:r>
            <a:endParaRPr lang="mn-MN" alt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74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8F32-BFE1-C21B-C995-8F54A877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" y="106403"/>
            <a:ext cx="11624310" cy="682391"/>
          </a:xfrm>
        </p:spPr>
        <p:txBody>
          <a:bodyPr>
            <a:normAutofit fontScale="90000"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Хичээлийн суралцахуйн үр дүнгүүд </a:t>
            </a:r>
            <a:b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Оюутан энэ сэдвийг судалснаар дараах ур чадваруудтай болсон байна. 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86DB33-ADDE-EE1A-4291-78131A81F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890" y="1825625"/>
            <a:ext cx="11624310" cy="4351338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3111A39-998C-32DE-9BFC-8C51E7AF27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8226513"/>
              </p:ext>
            </p:extLst>
          </p:nvPr>
        </p:nvGraphicFramePr>
        <p:xfrm>
          <a:off x="262890" y="788794"/>
          <a:ext cx="11624311" cy="5280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678">
                  <a:extLst>
                    <a:ext uri="{9D8B030D-6E8A-4147-A177-3AD203B41FA5}">
                      <a16:colId xmlns:a16="http://schemas.microsoft.com/office/drawing/2014/main" val="78146492"/>
                    </a:ext>
                  </a:extLst>
                </a:gridCol>
                <a:gridCol w="4894384">
                  <a:extLst>
                    <a:ext uri="{9D8B030D-6E8A-4147-A177-3AD203B41FA5}">
                      <a16:colId xmlns:a16="http://schemas.microsoft.com/office/drawing/2014/main" val="2993372031"/>
                    </a:ext>
                  </a:extLst>
                </a:gridCol>
                <a:gridCol w="2775444">
                  <a:extLst>
                    <a:ext uri="{9D8B030D-6E8A-4147-A177-3AD203B41FA5}">
                      <a16:colId xmlns:a16="http://schemas.microsoft.com/office/drawing/2014/main" val="3377302877"/>
                    </a:ext>
                  </a:extLst>
                </a:gridCol>
                <a:gridCol w="2073017">
                  <a:extLst>
                    <a:ext uri="{9D8B030D-6E8A-4147-A177-3AD203B41FA5}">
                      <a16:colId xmlns:a16="http://schemas.microsoft.com/office/drawing/2014/main" val="574671118"/>
                    </a:ext>
                  </a:extLst>
                </a:gridCol>
                <a:gridCol w="1277788">
                  <a:extLst>
                    <a:ext uri="{9D8B030D-6E8A-4147-A177-3AD203B41FA5}">
                      <a16:colId xmlns:a16="http://schemas.microsoft.com/office/drawing/2014/main" val="1155244748"/>
                    </a:ext>
                  </a:extLst>
                </a:gridCol>
              </a:tblGrid>
              <a:tr h="12119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д/д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дүнгүүд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 илэрхийлэх үйл үг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дүнгийн түвшин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Блумын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CLOs</a:t>
                      </a: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хамаарал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423415"/>
                  </a:ext>
                </a:extLst>
              </a:tr>
              <a:tr h="8110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Өртөг болон өртөг тооцох аргуудын үндсэн ойлголт,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тайлбарлах, ашиглах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(Explain)</a:t>
                      </a:r>
                      <a:endParaRPr lang="mn-M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Хэрэглэх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(Apply)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1, 3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028067"/>
                  </a:ext>
                </a:extLst>
              </a:tr>
              <a:tr h="12231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Бүтээгдэхүүний үнэ тогтоох аргууд, түүнийг тооцоолох аргачлалуудыг тайлбарлах, ойлгох, ашиглах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(Explain)</a:t>
                      </a:r>
                      <a:endParaRPr lang="mn-M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Хэрэглэх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(Apply)</a:t>
                      </a:r>
                      <a:endParaRPr lang="mn-M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Шийдэх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/Solve/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289944"/>
                  </a:ext>
                </a:extLst>
              </a:tr>
              <a:tr h="12231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Орлого болон ашгийн тооцоо хийх аргачлал, хугарлын цэгийн шинжилгээг тайлбарлах, ойлгох, ашиглах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(Explain)</a:t>
                      </a:r>
                      <a:endParaRPr lang="mn-M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Хэрэглэх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(Apply)</a:t>
                      </a:r>
                      <a:endParaRPr lang="mn-M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Шийдэх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/Solve/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1, 3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78109"/>
                  </a:ext>
                </a:extLst>
              </a:tr>
              <a:tr h="8110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Сэдэвтэй холбоотой материалуудыг ашиглах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Гүйцэтгэх 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(Function)</a:t>
                      </a: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endParaRPr lang="en-US" sz="20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794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32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4979-432A-FF79-CEB4-02905EE4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127363"/>
            <a:ext cx="11578590" cy="558438"/>
          </a:xfrm>
        </p:spPr>
        <p:txBody>
          <a:bodyPr>
            <a:normAutofit fontScale="90000"/>
          </a:bodyPr>
          <a:lstStyle/>
          <a:p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Хичээлийн агуулга </a:t>
            </a:r>
            <a:endParaRPr lang="en-US"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06510C6-911A-6EC2-51D4-E93E810D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" y="685801"/>
            <a:ext cx="11578590" cy="5649684"/>
          </a:xfrm>
        </p:spPr>
        <p:txBody>
          <a:bodyPr>
            <a:normAutofit fontScale="92500" lnSpcReduction="10000"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тухай үндсэн ойлголт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Өртөг тооцох аргууд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Захиалгат ажлын өртөг тооцох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үе шатаар өртөг тооцох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Дундаж зардлын арга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 тооцооны арга (материалын орцод үндэслэн, боловсруулалтын хугацаанд үндэслэн)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үнэ тогтоох аргууд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 зээлийн арга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Өрсөлдөгчийн үнэд тулгуурлах арга,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Хэрэглэгчид хандах арга,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Зардалд тулгуурлах арга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Орлого, ашгийн тооцоо, хугарлын цэгийн шинжилгээ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 нэр төрлийн бүтээгдэхүүний хугарлын цэгийн шинжилгээ (нэгжээр болон өртгөөр тооцох нь)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Олон нэр төрлийн бүтээгдэхүүн дээр хугарлын цэгийг тооцох</a:t>
            </a:r>
          </a:p>
        </p:txBody>
      </p:sp>
    </p:spTree>
    <p:extLst>
      <p:ext uri="{BB962C8B-B14F-4D97-AF65-F5344CB8AC3E}">
        <p14:creationId xmlns:p14="http://schemas.microsoft.com/office/powerpoint/2010/main" val="232091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F22B-BF01-3332-3992-3613EF47B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" y="139700"/>
            <a:ext cx="11532870" cy="660401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Өмнөх хичээлээс ...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402DA-F39E-B568-1D00-4B907CAB2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800101"/>
            <a:ext cx="11532870" cy="5918199"/>
          </a:xfrm>
        </p:spPr>
        <p:txBody>
          <a:bodyPr>
            <a:normAutofit lnSpcReduction="10000"/>
          </a:bodyPr>
          <a:lstStyle/>
          <a:p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Зардал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 үйлдвэрлэхэд, үйлчилгээ үзүүлэхэд зарцуулагдаж байгаа хөрөнгө болон хөдөлмөрийн зарцуулалт, бусад нөөцийн мөнгөөр илэрхийлэгдсэн хэмжээ.  </a:t>
            </a:r>
          </a:p>
          <a:p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Өртөг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lvl="1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 үйлчилгээг олж авах, үйлдвэрлэх болон засварлахын тулд гарч байгаа зардлуудыг тодорхой цаг хугацаагаар аль нэг үйл ажиллагааны объектод зааглан хуримтлуулсныг хэлнэ. </a:t>
            </a:r>
          </a:p>
          <a:p>
            <a:pPr lvl="1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Тодорхой объектод хамаарах бүх зардлуудын мөнгөн илэрхийлэл. </a:t>
            </a:r>
          </a:p>
          <a:p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Өртөг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болон </a:t>
            </a:r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зардал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гэсэн ойлголтуудын </a:t>
            </a:r>
            <a:r>
              <a:rPr lang="mn-MN" sz="32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ялгаа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Ихэнх төрлийн зардал өртгийн тодорхой объекттой холбоотой байдаг боловч дангаараа өртгийг бүрдүүлдэггүй. </a:t>
            </a:r>
          </a:p>
          <a:p>
            <a:pPr lvl="1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Зарим төрлийн зардал өртгийн тодорхой объекттой биш, харин бүх объекттой хамааралтай гардаг. 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961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998E-C268-73C9-5910-C84373AF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04141"/>
            <a:ext cx="11681460" cy="800100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объект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69EB-03EC-E2AF-817E-AB6324914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904241"/>
            <a:ext cx="11681460" cy="5664199"/>
          </a:xfrm>
        </p:spPr>
        <p:txBody>
          <a:bodyPr>
            <a:normAutofit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Тодорхой нэр төрлийн бүтээгдэхүүн үйлчилгээний өртгийг тодорхойлохын тулд бололцоотой объектоор нь зардлыг хуримтлуулан бүртгэдэг. Ингэж зардлыг хуримтлуулан бүртгэж байгаа объектийг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объект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гэнэ. 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объектийн жишээ: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бараа, үйлчилгээ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Гэрээт ажил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Дамжлага, цех, тасаг гэх мэт ...</a:t>
            </a:r>
          </a:p>
          <a:p>
            <a:r>
              <a:rPr lang="mn-M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Юуны өртөг вэ?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хэмээх асуултын хариу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объект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байна.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Нэгжийн өртөг тооцох үйлдвэрлэсэн бүтээгдэхүүн, ажил үйлчилгээний нэр төрлийг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калькуляцийн объект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гэнэ.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Үйлдвэрлэсэн бүх бүтээгдэхүүн, үзүүлсэн ажил үйлчилгээ калькуляцийн объект болохгүй. </a:t>
            </a:r>
          </a:p>
        </p:txBody>
      </p:sp>
    </p:spTree>
    <p:extLst>
      <p:ext uri="{BB962C8B-B14F-4D97-AF65-F5344CB8AC3E}">
        <p14:creationId xmlns:p14="http://schemas.microsoft.com/office/powerpoint/2010/main" val="215479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998E-C268-73C9-5910-C84373AF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085"/>
            <a:ext cx="11738610" cy="572135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объектийн ангилал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69EB-03EC-E2AF-817E-AB6324914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21030"/>
            <a:ext cx="11738610" cy="5676900"/>
          </a:xfrm>
        </p:spPr>
        <p:txBody>
          <a:bodyPr>
            <a:normAutofit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нэг объектоос олон төрлийн бүтээгдэхүүнийг нэгэн зэрэг үйлдвэрлэн гаргадаг. Тиймээс тэдгээр бүтээгдэхүүнүүдийг</a:t>
            </a:r>
          </a:p>
          <a:p>
            <a:pPr lvl="1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бүтээгдэхүүн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үйлдвэрлэхээр зорьж байгаа бүтээгдэхүүн. 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Жишээ: тавилга, хувцас</a:t>
            </a:r>
          </a:p>
          <a:p>
            <a:pPr lvl="1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Дайвар бүтээгдэхүүн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үндсэн бүтээгдэхүүнийг үйлдвэрлэх явцад гардаг, зах зээлийн эрэлт бага, цаашид ашиглагдаж ч болох, ашиглагдахгүй ч байж болох бүтээгдэхүүн. 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Жишээ: модны үртэс, даавууны өөдөс</a:t>
            </a:r>
          </a:p>
          <a:p>
            <a:pPr marL="457200" lvl="1" indent="0">
              <a:buNone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гэж ангилна. 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Нэгжийн өртөг тооцоход хэрэглэж байгаа калькуляцийн объектийн хэмжих нэгжийг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калькуляцийн нэгж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гэнэ.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Жишээ: грам, кг, центнер, тонн, ширхэг, куб метр, кВт-ц, литр, га, км гэх мэт ...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308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998E-C268-73C9-5910-C84373AF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84455"/>
            <a:ext cx="11700510" cy="612775"/>
          </a:xfrm>
        </p:spPr>
        <p:txBody>
          <a:bodyPr>
            <a:normAutofit fontScale="90000"/>
          </a:bodyPr>
          <a:lstStyle/>
          <a:p>
            <a:pPr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объектийн ангилал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69EB-03EC-E2AF-817E-AB6324914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" y="786130"/>
            <a:ext cx="11700510" cy="5667375"/>
          </a:xfrm>
        </p:spPr>
        <p:txBody>
          <a:bodyPr>
            <a:normAutofit lnSpcReduction="10000"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Олон төрлийн бүтээгдэхүүнийг нэгэн зэрэг үйлдвэрлэх явцад гарсан зардлыг бүтээгдэхүүн тус бүрээр зөв хуваарилан өртөг тооцох шаардлага гардаг. </a:t>
            </a:r>
          </a:p>
          <a:p>
            <a:pPr lvl="1"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бүтээгдэхүүн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нэгжийн өртгийг тооцох тул калькуляцийн объект болно.</a:t>
            </a:r>
          </a:p>
          <a:p>
            <a:pPr lvl="1"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Дайвар бүтээгдэхүүн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нэгжийн өртгийг тооцохгүй тохиолдолд калькуляцийн объект болж чадахгүй.</a:t>
            </a:r>
          </a:p>
          <a:p>
            <a:pPr lvl="2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Дайвар бүтээгдэхүүн дээр зарим тохиолдолд нэгжийн өртөг тооцох хэрэгцээ шаардлага гарвал калькуляцийн объект болно.</a:t>
            </a:r>
          </a:p>
          <a:p>
            <a:pPr marL="457200" lvl="1" indent="0" algn="just">
              <a:buNone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гэж ангилна. </a:t>
            </a:r>
          </a:p>
          <a:p>
            <a:pPr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 хуваагдах цэг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үйлдвэрлэлийн явцад бүтээгдэхүүнийг үндсэн ба дайвар, эсвэл хэд хэдэн үндсэн бүтээгдэхүүн болгон ангилж болох цэг. </a:t>
            </a:r>
          </a:p>
          <a:p>
            <a:pPr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Хамсарсан бүтээгдэхүүн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нэгэн зэрэг үйлдвэрлэгдэх 2 ба түүнээс дээш үндсэн бүтээгдэхүүн.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Үүнтэй холбоотойгоор хамсарсан зардал бий болно.</a:t>
            </a:r>
          </a:p>
        </p:txBody>
      </p:sp>
    </p:spTree>
    <p:extLst>
      <p:ext uri="{BB962C8B-B14F-4D97-AF65-F5344CB8AC3E}">
        <p14:creationId xmlns:p14="http://schemas.microsoft.com/office/powerpoint/2010/main" val="308570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998E-C268-73C9-5910-C84373AF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" y="80724"/>
            <a:ext cx="11605260" cy="546675"/>
          </a:xfrm>
        </p:spPr>
        <p:txBody>
          <a:bodyPr>
            <a:normAutofit fontScale="90000"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17778-23A6-A6FF-E375-34BBAFF5F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410" y="575984"/>
            <a:ext cx="11605260" cy="5660311"/>
          </a:xfrm>
        </p:spPr>
        <p:txBody>
          <a:bodyPr>
            <a:normAutofit/>
          </a:bodyPr>
          <a:lstStyle/>
          <a:p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Үйлдвэрлэл, үйл ажиллагааны нийт зардлын тооцоонд тулгуурлан нэгж бүтээгдхүүний өөрийн өртөг болон үнийг тооцоолдог.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Зардлын тооцоог дараах хүснэгтүүдийг ашиглан хийх боломжтой. </a:t>
            </a:r>
          </a:p>
          <a:p>
            <a:endParaRPr lang="mn-M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3B8F9-99B0-51DA-D534-04CA742FDA04}"/>
              </a:ext>
            </a:extLst>
          </p:cNvPr>
          <p:cNvSpPr txBox="1"/>
          <p:nvPr/>
        </p:nvSpPr>
        <p:spPr>
          <a:xfrm>
            <a:off x="232410" y="1825268"/>
            <a:ext cx="58026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хөрөнгө, капиталын зардлын хүснэгт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Түүхий эд, материалын зардлын хүснэгт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Тогтмол ба хийснээрх цалингийн зардлын хүснэгт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НДШ-ийн хувь хэмжээ, түүний өөрчлөлт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Цахилгаан, дулаан, уур усны зардлын хүснэгт, тарифын эх үүсвэр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Түрээсийн зардлын хүснэгт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ЭХШ-ийн зардлын хүснэгт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60CD4B-307D-9185-CD5E-9FD86C8F8214}"/>
              </a:ext>
            </a:extLst>
          </p:cNvPr>
          <p:cNvSpPr txBox="1"/>
          <p:nvPr/>
        </p:nvSpPr>
        <p:spPr>
          <a:xfrm>
            <a:off x="6005687" y="1809314"/>
            <a:ext cx="54268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Харилцаа, холбооны зардлын төрлүүд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Хөдөлмөр хамгааллын зардлын хүснэгт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Зээлийн хүүгийн зардлын тооцоолол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Сав, баглаа боодлын зардлын хүснэгт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Тээврийн зардлын тооцоо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Захиргаа удирдлагын зардлын төрлүүд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Борлуулалт, маркетингийн зардлын тооцоо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Бусад зардал (хог хаягдал, судалгаа, сургалт)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00C74-77EE-7756-7199-787B7633F738}"/>
              </a:ext>
            </a:extLst>
          </p:cNvPr>
          <p:cNvSpPr txBox="1"/>
          <p:nvPr/>
        </p:nvSpPr>
        <p:spPr>
          <a:xfrm>
            <a:off x="130811" y="4756170"/>
            <a:ext cx="750443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Д.Алтанцэцэг нарын бүтээл, “Бизнесийн удирдлагын үндэс”, 2013</a:t>
            </a:r>
          </a:p>
          <a:p>
            <a:pPr algn="ctr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П.Одмаа, “Бизнес төсөл боловсруулах аргачилсан зөвлөмж”, 2009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545348-64EF-707E-8D40-9431F40FE223}"/>
              </a:ext>
            </a:extLst>
          </p:cNvPr>
          <p:cNvSpPr txBox="1"/>
          <p:nvPr/>
        </p:nvSpPr>
        <p:spPr>
          <a:xfrm>
            <a:off x="7818120" y="4537711"/>
            <a:ext cx="3840479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Зардлын тооцооны дэлгэрэнгүй аргачлалыг эдгээр номнуудаас судлана уу. 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" y="147955"/>
            <a:ext cx="11704320" cy="663575"/>
          </a:xfrm>
        </p:spPr>
        <p:txBody>
          <a:bodyPr>
            <a:normAutofit/>
          </a:bodyPr>
          <a:lstStyle/>
          <a:p>
            <a:pPr algn="just"/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EDD8-1613-543D-F2D0-9CFE5AB0E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811530"/>
            <a:ext cx="11704320" cy="4351338"/>
          </a:xfrm>
        </p:spPr>
        <p:txBody>
          <a:bodyPr>
            <a:normAutofit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бүтээгдэхүүнд ногдох дундаж зардлыг тооцох олон арга байна.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Ажлын захиалгын аргаар өртөг тооцох систем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Технологийн буюу үйлдвэрлэлийн үе шатны аргаар өртөг тооцох систем</a:t>
            </a:r>
          </a:p>
          <a:p>
            <a:pPr lvl="2" algn="just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Дундаж зардлын арга</a:t>
            </a:r>
          </a:p>
          <a:p>
            <a:pPr lvl="2" algn="just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Зардлын эквивалент тооцооны арга</a:t>
            </a:r>
          </a:p>
          <a:p>
            <a:pPr lvl="2" algn="just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жингээр тооцох арга</a:t>
            </a:r>
          </a:p>
          <a:p>
            <a:pPr lvl="1" algn="just"/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353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47956"/>
            <a:ext cx="11803380" cy="686434"/>
          </a:xfrm>
        </p:spPr>
        <p:txBody>
          <a:bodyPr>
            <a:normAutofit fontScale="90000"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Ажлын захиалгын аргаар өртөг тооцох систем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EDD8-1613-543D-F2D0-9CFE5AB0E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834390"/>
            <a:ext cx="11803380" cy="5441314"/>
          </a:xfrm>
        </p:spPr>
        <p:txBody>
          <a:bodyPr>
            <a:normAutofit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Өртгийн объект нь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тодорхой ажил, бүтээгдэхүүн, захиалга, гэрээт ажил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байна.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аргын онцлог: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Захиалгат ажил бүрээр өртгийг тооцдог тул борлуулалтын үнэ, өртгийн зөрүүгээр ашиг, алдагдлыг тооцох боломжтой.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өртөгт үйлдвэрлэлийн нэмэгдэл зардлыг урьдчилан тооцоолсон хэмжээгээр шингээдэг.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Захиалга тус бүрээр хөтлөгдөх анхан шатны баримтуудыг зааглах боломжтой.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Хэрэглэгч бүрийн захиалгаар, эсвэл тодорхой бүтээгдэхүүн, ажил үйлчилгээгээр үйл ажиллагаагаа явуулдаг ААН-үүд энэ аргыг түгээмэл ашигладаг.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Жишээ: захиалгат хувцасны үйлдвэр, хэвлэлийн үйлдвэр, зар сурталчилгааны газрууд гэх мэт ...</a:t>
            </a:r>
          </a:p>
        </p:txBody>
      </p:sp>
    </p:spTree>
    <p:extLst>
      <p:ext uri="{BB962C8B-B14F-4D97-AF65-F5344CB8AC3E}">
        <p14:creationId xmlns:p14="http://schemas.microsoft.com/office/powerpoint/2010/main" val="1430491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7955"/>
            <a:ext cx="11692890" cy="663575"/>
          </a:xfrm>
        </p:spPr>
        <p:txBody>
          <a:bodyPr>
            <a:noAutofit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Технологийн буюу үйлдвэрлэлийн үе шатны аргаар өртөг тооцох систем</a:t>
            </a:r>
            <a:endParaRPr lang="ru-RU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5B087-1992-A4C0-965F-3B87A13EB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11530"/>
            <a:ext cx="11692890" cy="5649685"/>
          </a:xfrm>
        </p:spPr>
        <p:txBody>
          <a:bodyPr>
            <a:normAutofit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аргыг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 төрлийн бүтээгдэхүүнийг бөөнөөр нь нэг болон хэд хэдэн шат дамжлагаар дамжуулан үйлдвэрлэж байгаа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Олон төрлийн бүтээгдэхүүнийг нэгэн зэрэг үйлдвэрлэн гаргаж байгаа</a:t>
            </a:r>
          </a:p>
          <a:p>
            <a:pPr marL="457200" lvl="1" indent="0" algn="just">
              <a:buNone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нөхцөлд ашиглана.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 нэг дамжлагаас нөгөө дамжлагад шилжин үйлдвэрлэгдэх 3 төрлийн хөдөлгөөн байна.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Дэс дараалсан хөдөлгөөн,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Зэрэгцээ хөдөлгөөн,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Сонгомол хөдөлгөөн.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 бүрийн хөдөлгөөнийг мэдсэнээр зардлыг хэрхэн нэгтгэж, өртөг тооцохоо тодорхойлно.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264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" y="170815"/>
            <a:ext cx="11704320" cy="1155065"/>
          </a:xfrm>
        </p:spPr>
        <p:txBody>
          <a:bodyPr>
            <a:noAutofit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Технологийн буюу үйлдвэрлэлийн үе шатны аргаар өртөг тооцох систем</a:t>
            </a:r>
            <a:r>
              <a:rPr lang="mn-M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Дундаж зардлын арга</a:t>
            </a:r>
            <a:endParaRPr lang="ru-RU" sz="2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A5B087-1992-A4C0-965F-3B87A13EB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0030" y="1325880"/>
                <a:ext cx="11704320" cy="3939949"/>
              </a:xfrm>
            </p:spPr>
            <p:txBody>
              <a:bodyPr>
                <a:normAutofit/>
              </a:bodyPr>
              <a:lstStyle/>
              <a:p>
                <a:r>
                  <a:rPr lang="mn-MN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Нэг төрлийн бүтээгдэхүүн үйлдвэрлэх үед нарийвчлан зардлыг ангилах шаардлагагүй байхад </a:t>
                </a:r>
                <a:r>
                  <a:rPr lang="mn-MN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дундаж зардлын арг</a:t>
                </a:r>
                <a:r>
                  <a:rPr lang="mn-MN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ыг ашигладаг.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mn-MN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Нийт зардал</m:t>
                          </m:r>
                        </m:num>
                        <m:den>
                          <m:r>
                            <a:rPr lang="mn-MN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Бүтээгдэхүүний тоо хэмжээ</m:t>
                          </m:r>
                        </m:den>
                      </m:f>
                    </m:oMath>
                  </m:oMathPara>
                </a14:m>
                <a:endParaRPr lang="mn-MN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9A5B087-1992-A4C0-965F-3B87A13EB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0030" y="1325880"/>
                <a:ext cx="11704320" cy="3939949"/>
              </a:xfrm>
              <a:blipFill>
                <a:blip r:embed="rId3"/>
                <a:stretch>
                  <a:fillRect l="-1198" t="-3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114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13665"/>
            <a:ext cx="11864340" cy="941161"/>
          </a:xfrm>
        </p:spPr>
        <p:txBody>
          <a:bodyPr>
            <a:noAutofit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Технологийн буюу үйлдвэрлэлийн үе шатны аргаар өртөг тооцох систем</a:t>
            </a:r>
            <a:r>
              <a:rPr lang="mn-MN" sz="25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mn-M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Дундаж зардлын арга</a:t>
            </a:r>
            <a:endParaRPr lang="ru-RU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5B087-1992-A4C0-965F-3B87A13EB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" y="1066256"/>
            <a:ext cx="11864340" cy="1498599"/>
          </a:xfrm>
        </p:spPr>
        <p:txBody>
          <a:bodyPr>
            <a:normAutofit/>
          </a:bodyPr>
          <a:lstStyle/>
          <a:p>
            <a:pPr algn="just"/>
            <a:r>
              <a:rPr lang="mn-MN" sz="2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 төрлийн бүтээгдэхүүнийг хэд хэдэн шат дамжлагаар дамжуулан үйлдвэрлэдэг, дамжлага тус бүрд завсрын бүтээгдэхүүний зарим хэсгийг борлуулж, үлдсэн хэсгийг дараагийн дамжлагад оруулдаг байж болно. Энэ тохиолдолд</a:t>
            </a:r>
          </a:p>
          <a:p>
            <a:pPr algn="just"/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4FBF250-CC4C-D593-A049-C1A459A98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6289547"/>
                  </p:ext>
                </p:extLst>
              </p:nvPr>
            </p:nvGraphicFramePr>
            <p:xfrm>
              <a:off x="114300" y="2091372"/>
              <a:ext cx="11864339" cy="46529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10583">
                      <a:extLst>
                        <a:ext uri="{9D8B030D-6E8A-4147-A177-3AD203B41FA5}">
                          <a16:colId xmlns:a16="http://schemas.microsoft.com/office/drawing/2014/main" val="425867943"/>
                        </a:ext>
                      </a:extLst>
                    </a:gridCol>
                    <a:gridCol w="2684477">
                      <a:extLst>
                        <a:ext uri="{9D8B030D-6E8A-4147-A177-3AD203B41FA5}">
                          <a16:colId xmlns:a16="http://schemas.microsoft.com/office/drawing/2014/main" val="1777396385"/>
                        </a:ext>
                      </a:extLst>
                    </a:gridCol>
                    <a:gridCol w="2891790">
                      <a:extLst>
                        <a:ext uri="{9D8B030D-6E8A-4147-A177-3AD203B41FA5}">
                          <a16:colId xmlns:a16="http://schemas.microsoft.com/office/drawing/2014/main" val="1532747937"/>
                        </a:ext>
                      </a:extLst>
                    </a:gridCol>
                    <a:gridCol w="2777489">
                      <a:extLst>
                        <a:ext uri="{9D8B030D-6E8A-4147-A177-3AD203B41FA5}">
                          <a16:colId xmlns:a16="http://schemas.microsoft.com/office/drawing/2014/main" val="31898568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Зардал </a:t>
                          </a:r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 </a:t>
                          </a:r>
                          <a:r>
                            <a:rPr lang="mn-M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дамжлага, завсрын бүтээгдэхүүн,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mn-M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II </a:t>
                          </a:r>
                          <a:r>
                            <a:rPr lang="mn-M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дамжлага, завсрын бүтээгдэхүүн,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mn-M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III </a:t>
                          </a:r>
                          <a:r>
                            <a:rPr lang="mn-M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дамжлага, эцсийн бүтээгдэхүүн,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mn-M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mn-MN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5690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Үйлдвэрлэсэн бүтээгдэхүүний хэмжээ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83967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Завсрын бүтээгдэхүүнээс худалдсан хэмжээ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  <m:sup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968752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Дараагийн дамжлагад орсон хэмжээ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mn-M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kumimoji="0" lang="en-US" sz="2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94839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Нийт зардал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4123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Нэгж бүтээгдэхүүний өөрийн өртөг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mn-MN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mn-MN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mn-MN" sz="2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800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19055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4FBF250-CC4C-D593-A049-C1A459A98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6289547"/>
                  </p:ext>
                </p:extLst>
              </p:nvPr>
            </p:nvGraphicFramePr>
            <p:xfrm>
              <a:off x="114300" y="2091372"/>
              <a:ext cx="11864339" cy="46529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10583">
                      <a:extLst>
                        <a:ext uri="{9D8B030D-6E8A-4147-A177-3AD203B41FA5}">
                          <a16:colId xmlns:a16="http://schemas.microsoft.com/office/drawing/2014/main" val="425867943"/>
                        </a:ext>
                      </a:extLst>
                    </a:gridCol>
                    <a:gridCol w="2684477">
                      <a:extLst>
                        <a:ext uri="{9D8B030D-6E8A-4147-A177-3AD203B41FA5}">
                          <a16:colId xmlns:a16="http://schemas.microsoft.com/office/drawing/2014/main" val="1777396385"/>
                        </a:ext>
                      </a:extLst>
                    </a:gridCol>
                    <a:gridCol w="2891790">
                      <a:extLst>
                        <a:ext uri="{9D8B030D-6E8A-4147-A177-3AD203B41FA5}">
                          <a16:colId xmlns:a16="http://schemas.microsoft.com/office/drawing/2014/main" val="1532747937"/>
                        </a:ext>
                      </a:extLst>
                    </a:gridCol>
                    <a:gridCol w="2777489">
                      <a:extLst>
                        <a:ext uri="{9D8B030D-6E8A-4147-A177-3AD203B41FA5}">
                          <a16:colId xmlns:a16="http://schemas.microsoft.com/office/drawing/2014/main" val="3189856869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Зардал </a:t>
                          </a:r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0839" t="-4348" r="-212018" b="-56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4768" t="-4348" r="-97257" b="-56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7193" t="-4348" r="-1096" b="-566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569078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Үйлдвэрлэсэн бүтээгдэхүүний хэмжээ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0839" t="-88889" r="-212018" b="-38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768" t="-88889" r="-97257" b="-38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7193" t="-88889" r="-1096" b="-38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839673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Завсрын бүтээгдэхүүнээс худалдсан хэмжээ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0839" t="-188889" r="-212018" b="-28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768" t="-188889" r="-97257" b="-28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7193" t="-188889" r="-1096" b="-28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687528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Дараагийн дамжлагад орсон хэмжээ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0839" t="-288889" r="-212018" b="-18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768" t="-288889" r="-97257" b="-18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94839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Нийт зардал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0839" t="-610465" r="-212018" b="-186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768" t="-610465" r="-97257" b="-1860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7193" t="-610465" r="-1096" b="-1860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4123429"/>
                      </a:ext>
                    </a:extLst>
                  </a:tr>
                  <a:tr h="964883">
                    <a:tc>
                      <a:txBody>
                        <a:bodyPr/>
                        <a:lstStyle/>
                        <a:p>
                          <a:r>
                            <a:rPr lang="mn-M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Нэгж бүтээгдэхүүний өөрийн өртөг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0839" t="-386709" r="-212018" b="-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768" t="-386709" r="-97257" b="-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7193" t="-386709" r="-1096" b="-12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19055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618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88175"/>
            <a:ext cx="11807190" cy="1325563"/>
          </a:xfrm>
        </p:spPr>
        <p:txBody>
          <a:bodyPr>
            <a:noAutofit/>
          </a:bodyPr>
          <a:lstStyle/>
          <a:p>
            <a:pPr algn="just"/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b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Технологийн буюу үйлдвэрлэлийн үе шатны аргаар өртөг тооцох систем</a:t>
            </a:r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mn-M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 тооцооны арга</a:t>
            </a:r>
            <a:endParaRPr lang="ru-RU" sz="32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5B087-1992-A4C0-965F-3B87A13EB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459864"/>
            <a:ext cx="11807190" cy="4852761"/>
          </a:xfrm>
        </p:spPr>
        <p:txBody>
          <a:bodyPr>
            <a:normAutofit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Ижил нэр төрлийн хэд хэдэн бүтээгдэхүүн үйлдвэрлэх үед ашигладаг. 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арга нь үйлдвэрлэж байгаа бүтээгдэхүүнүүдэд эквивалент зардлын коэффициент өгөх маягаар нэгж бүтээгдэхүүний өртгийг тооцдог.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Хэд хэдэн ижил нэр төрлийн бүтээгдэхүүн үйлдвэрлэдэг үед аль нэг бүтээгдэхүүндээ 1 гэсэн эквивалент коэффициент өгнө.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Бусад бүтээгдэхүүний эквивалент коэффициентийг тогтоохдоо энэхүү 1 гэсэн эквивалент коэффициент бүхий бүтээгдэхүүнтэйгээ харьцуулан тогтооно. </a:t>
            </a:r>
          </a:p>
          <a:p>
            <a:pPr algn="just"/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65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" y="136525"/>
            <a:ext cx="11852910" cy="995045"/>
          </a:xfrm>
        </p:spPr>
        <p:txBody>
          <a:bodyPr>
            <a:noAutofit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Технологийн буюу үйлдвэрлэлийн үе шатны аргаар өртөг тооцох систем</a:t>
            </a:r>
            <a:r>
              <a:rPr lang="mn-MN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mn-M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 тооцооны арга</a:t>
            </a:r>
            <a:endParaRPr lang="ru-RU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5B087-1992-A4C0-965F-3B87A13EB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" y="1223010"/>
            <a:ext cx="11852910" cy="484958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mn-MN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Харьцуулалтыг дараах хүчин зүйлүүдэд үндэслэн хийнэ: </a:t>
            </a:r>
          </a:p>
          <a:p>
            <a:pPr lvl="1" algn="just"/>
            <a:r>
              <a:rPr lang="mn-MN" sz="3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Материалын орцод үндэслэн тооцох</a:t>
            </a:r>
          </a:p>
          <a:p>
            <a:pPr lvl="2" algn="just"/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үед 1 гэсэн эквивалент тоо бүхий бүтээгдэхүүнд зарцуулсан материалтай харьцуулахад ямар хэмжээний материал зарцуулагдсанаар нь бусад бүтээгдэхүүний эквивалент коэффициентийг тооцоолно.</a:t>
            </a:r>
          </a:p>
          <a:p>
            <a:pPr lvl="1" algn="just"/>
            <a:r>
              <a:rPr lang="mn-MN" sz="3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Боловсруулалтын хугацаанд үндэслэн тооцох</a:t>
            </a:r>
          </a:p>
          <a:p>
            <a:pPr lvl="2" algn="just"/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Энэ үед 1 гэсэн эквивалент тоо бүхий бүтээгдэхүүнд зарцуулсан хугацаатай харьцуулахад хэр хэмжээний хугацаа зарцуулснаар нь бусад бүтээгдэхүүний эквивалент коэффициентийг тооцоолно.</a:t>
            </a:r>
          </a:p>
          <a:p>
            <a:pPr algn="just"/>
            <a:r>
              <a:rPr lang="mn-MN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Зарим үйлдвэрлэлийн хувьд материалын орцын ялгаа төдийлэн ажиглагдахгүй, харин хугацаа чухал байж болно. </a:t>
            </a:r>
          </a:p>
          <a:p>
            <a:pPr lvl="1" algn="just"/>
            <a:r>
              <a:rPr lang="mn-MN" sz="3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Эсвэл үүний эсрэг байж болно. </a:t>
            </a:r>
          </a:p>
          <a:p>
            <a:pPr lvl="2" algn="just"/>
            <a:r>
              <a:rPr lang="mn-MN" sz="2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Жишээлбэл: сийлбэр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115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02235"/>
            <a:ext cx="11841480" cy="1325563"/>
          </a:xfrm>
        </p:spPr>
        <p:txBody>
          <a:bodyPr>
            <a:noAutofit/>
          </a:bodyPr>
          <a:lstStyle/>
          <a:p>
            <a:pPr algn="just"/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b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Технологийн буюу үйлдвэрлэлийн үе шатны аргаар өртөг тооцох систем</a:t>
            </a:r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mn-MN" sz="32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жингээр тооцох арга</a:t>
            </a:r>
            <a:endParaRPr lang="ru-RU" sz="32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5B087-1992-A4C0-965F-3B87A13EB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427798"/>
            <a:ext cx="11841480" cy="4787446"/>
          </a:xfrm>
        </p:spPr>
        <p:txBody>
          <a:bodyPr>
            <a:normAutofit lnSpcReduction="10000"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өртгийг хамгийн өндөр нарийвчлалтай, бодит байдлаар тогтоодог арга юм.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Зардлыг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шууд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болон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шууд бус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гэж ангилах ангилал дээр тулгуурлан тооцоолдог.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Шууд зардлын хувьд бүтээгдэхүүний нэгжид ногдох зардлыг тооцоолох боломжтой.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Шууд бус зардлын хувьд бүтээгдэхүүний нэгжид ногдох зардлыг тооцоолоход төвөгтэй.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Шууд бус зардлыг бүтээгдэхүүний нэгжид хуваарилахдаа дараах үндсэн зарчмуудыг баримтална. </a:t>
            </a:r>
          </a:p>
          <a:p>
            <a:pPr marL="971550" lvl="1" indent="-514350" algn="just">
              <a:buFont typeface="+mj-lt"/>
              <a:buAutoNum type="romanUcPeriod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Тухайн шууд бус зардлын үүсч байгаа объектийг тодорхойлох,</a:t>
            </a:r>
            <a:r>
              <a:rPr lang="mn-MN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71550" lvl="1" indent="-514350" algn="just">
              <a:buFont typeface="+mj-lt"/>
              <a:buAutoNum type="romanUcPeriod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тус бүр дээр үүсэх шууд бус зардлыг хуваарилах, </a:t>
            </a:r>
          </a:p>
          <a:p>
            <a:pPr marL="971550" lvl="1" indent="-514350" algn="just">
              <a:buFont typeface="+mj-lt"/>
              <a:buAutoNum type="romanUcPeriod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тус бүр дээр үүссэн зардлын хувьд шууд бус зардлын эзлэх хувийг тогтоох,</a:t>
            </a:r>
          </a:p>
          <a:p>
            <a:pPr marL="971550" lvl="1" indent="-514350" algn="just">
              <a:buFont typeface="+mj-lt"/>
              <a:buAutoNum type="romanUcPeriod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505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60" y="172021"/>
            <a:ext cx="10875730" cy="1325563"/>
          </a:xfrm>
        </p:spPr>
        <p:txBody>
          <a:bodyPr>
            <a:noAutofit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өөрийн өртөг тооцох аргачлал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Технологийн буюу үйлдвэрлэлийн үе шатны аргаар өртөг тооцох систем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mn-M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Хувийн жингээр тооцох арга</a:t>
            </a:r>
            <a:endParaRPr lang="ru-RU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5B087-1992-A4C0-965F-3B87A13EB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890" y="1396411"/>
            <a:ext cx="11292295" cy="4787446"/>
          </a:xfrm>
        </p:spPr>
        <p:txBody>
          <a:bodyPr>
            <a:normAutofit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Шууд бус зардлыг бүтээгдэхүүний нэгжид хуваарилах үндсэн зарчим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   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Тухайн шууд бус зардлын үүсч байгаа объектийг тодорхойлно. </a:t>
            </a:r>
          </a:p>
          <a:p>
            <a:pPr marL="457200" lvl="1" indent="0">
              <a:buNone/>
            </a:pPr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romanUcPeriod"/>
            </a:pPr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romanUcPeriod"/>
            </a:pPr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AutoNum type="romanUcPeriod" startAt="2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тус бүр дээр үүсэх шууд бус зардлыг хуваарилна.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Тооцоолсон шууд бус зардлуудаа 4 үндсэн объектдоо хуваарилна.  </a:t>
            </a:r>
          </a:p>
          <a:p>
            <a:pPr marL="971550" lvl="1" indent="-514350">
              <a:buAutoNum type="romanUcPeriod" startAt="3"/>
            </a:pP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тус бүр дээр үүссэн зардлын хувьд шууд бус зардлын эзлэх хувийг тогтооно.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Үүний тулд объект тус бүрийн хувьд ялгаатай тооцоолол хийнэ. 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Тухайн объектийн шууд бус зардлыг тодорхой нэг үзүүлэлттэй харьцуулан хувь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тогтоох шаардлагатай. </a:t>
            </a:r>
          </a:p>
          <a:p>
            <a:pPr marL="971550" lvl="1" indent="-514350">
              <a:buFont typeface="+mj-lt"/>
              <a:buAutoNum type="romanUcPeriod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FE3E87-D931-E445-F239-0A19378B930C}"/>
              </a:ext>
            </a:extLst>
          </p:cNvPr>
          <p:cNvSpPr/>
          <p:nvPr/>
        </p:nvSpPr>
        <p:spPr>
          <a:xfrm>
            <a:off x="952772" y="2264128"/>
            <a:ext cx="10286455" cy="11077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ААН-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ийг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нийтлэг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байдлаар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</a:t>
            </a:r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болгон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хуваадаг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Материалын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хэсэг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Удирдлагын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хэсэг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хэсэг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Борлуулалтын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хэсэг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9EFD4D-66C3-E6CD-8211-B660434D3B6A}"/>
              </a:ext>
            </a:extLst>
          </p:cNvPr>
          <p:cNvSpPr txBox="1"/>
          <p:nvPr/>
        </p:nvSpPr>
        <p:spPr>
          <a:xfrm>
            <a:off x="5948051" y="5722192"/>
            <a:ext cx="5700564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Тооцооллын аргачлалын дэлгэрэнгүйг “П.Одмаа, “Бизнес төсөл боловсруулах аргачилсан зөвлөмж”, 2009” номоос харна уу.  </a:t>
            </a:r>
          </a:p>
        </p:txBody>
      </p:sp>
    </p:spTree>
    <p:extLst>
      <p:ext uri="{BB962C8B-B14F-4D97-AF65-F5344CB8AC3E}">
        <p14:creationId xmlns:p14="http://schemas.microsoft.com/office/powerpoint/2010/main" val="1060399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2784-E378-7AF6-BA37-FC7C0C16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B931-653A-7083-D2D6-9294C55C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97" y="67945"/>
            <a:ext cx="11607925" cy="549275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Өмнөх хичээлээс ...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Маркетингийн 4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Үнэ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A1571-BAE0-76E6-38E0-1EF214AA0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782" y="1441132"/>
            <a:ext cx="5222978" cy="4885772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Үнийн үүрэг: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Макро түвшинд дараах 3 үүрэгтэй: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 зээлийн харилцаанд оролцогчидийг идэвхжүүлэх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Нөөцийг хуваарилах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Эрэлт, нийлүүлэлтийг уялдуулах.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Микро түвшинд дараах үүрэгтэй: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Борлуулалтыг идэвхжүүлэх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чанарыг илтгэх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2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Өрсөлдөөний арга хэрэгсэл болох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2"/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A8961-FF33-1ACA-A60F-6DC5C4238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3997" y="747848"/>
            <a:ext cx="11772447" cy="69328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mn-MN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Бүтээгдэхүүнийг худалдан авахад шаардагдах төлбөрийн хэмжээг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ҮНЭ</a:t>
            </a:r>
            <a:r>
              <a:rPr lang="mn-MN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гэнэ. Өөрөөр хэлбэл, бүтээгдэхүүнийг өмчлөх, хэрэглэх эрхийг олж авахын тулд төлөгдөх мөнгөн дүн.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80226-EA01-9CFF-BD9B-078124956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42841" y="1446337"/>
            <a:ext cx="7347179" cy="4885772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Үнийг тогтоох аргууд: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3 арга байна. Хослуулах боломжтой. </a:t>
            </a:r>
          </a:p>
          <a:p>
            <a:pPr lvl="2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Зардалд тулгуурлан үнэ тогтоох арга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(Cost – based pricing approach)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Тодорхой хувийн ашиг төлөвлөн зардлаа нөхөхүйц үнэ тогтоох арга. </a:t>
            </a:r>
          </a:p>
          <a:p>
            <a:pPr lvl="3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Эрэлтийн таамаглалаа зөв хийх хэрэгтэй байдаг. </a:t>
            </a:r>
          </a:p>
          <a:p>
            <a:pPr lvl="3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Хугарлын цэгийн шинжилгээг түгээмэл ашигладаг. </a:t>
            </a:r>
          </a:p>
          <a:p>
            <a:pPr lvl="2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үнэт чанарт тулгуурлан үнэ тогтоох арга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(Buyer – based or Value – based pricing approach)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хэрэглэгчдэд төрүүлж буй сэтгэгдлийг, ашиг тусыг үнэлдэг. </a:t>
            </a:r>
          </a:p>
          <a:p>
            <a:pPr lvl="2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Өрсөлдөөнд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тулгуурлан үнэ тогтоох арга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(Competition – based pricing approach)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өрсөлдөгчөө баримжаалан үнэ тогтоох арга.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568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504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үнэ тогтоох аргууд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EEDD8-1613-543D-F2D0-9CFE5AB0E5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3630"/>
                <a:ext cx="10515600" cy="3649584"/>
              </a:xfrm>
            </p:spPr>
            <p:txBody>
              <a:bodyPr>
                <a:normAutofit fontScale="92500"/>
              </a:bodyPr>
              <a:lstStyle/>
              <a:p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Үнэ – орлогыг бий болгож, ашгийг бүтээгч гол элемент.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Ашиг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mn-M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Нийт орлого −Нийт зардал</m:t>
                      </m:r>
                    </m:oMath>
                  </m:oMathPara>
                </a14:m>
                <a:endParaRPr lang="mn-MN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𝑇𝑅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𝑑𝑒𝑚𝑎𝑛𝑑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mn-M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𝐹𝐶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𝐴𝑉𝐶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mn-MN" sz="2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ААН, байгууллагууд бүтээгдэхүүний өөрийн өртөг дээр тодорхой хувийн ашиг нэмэх замаар бүтээгдэхүүний үнийг тодорхойлох хандлагатай байдаг. </a:t>
                </a:r>
              </a:p>
              <a:p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Гэхдээ ААН, байгууллагын маркетинг, менежментийн бодлоготой холбоотойгоор ашгаас гадна хэд хэдэн үзүүлэлтийн хувийг нэмдэг: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EEDD8-1613-543D-F2D0-9CFE5AB0E5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3630"/>
                <a:ext cx="10515600" cy="3649584"/>
              </a:xfrm>
              <a:blipFill>
                <a:blip r:embed="rId3"/>
                <a:stretch>
                  <a:fillRect l="-928" t="-2504" b="-1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D92D3B0-2ABE-D2E2-AA0E-0C41374A4A04}"/>
              </a:ext>
            </a:extLst>
          </p:cNvPr>
          <p:cNvSpPr txBox="1"/>
          <p:nvPr/>
        </p:nvSpPr>
        <p:spPr>
          <a:xfrm>
            <a:off x="4947557" y="4923214"/>
            <a:ext cx="65967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Төлбөр төлөлттэй холбоотой гарах төлбөрийн хөнгөлөлтийн хувь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Тогтмол худалдан авагчдад олгох үнийн хөнгөлөлтийн хувь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FF0F9B-9AEE-B7DC-08EF-819BAB53B52A}"/>
              </a:ext>
            </a:extLst>
          </p:cNvPr>
          <p:cNvSpPr txBox="1"/>
          <p:nvPr/>
        </p:nvSpPr>
        <p:spPr>
          <a:xfrm>
            <a:off x="838200" y="4923214"/>
            <a:ext cx="4403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Ашгийн хувь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авагчдад олгох урамшуулал</a:t>
            </a:r>
          </a:p>
        </p:txBody>
      </p:sp>
    </p:spTree>
    <p:extLst>
      <p:ext uri="{BB962C8B-B14F-4D97-AF65-F5344CB8AC3E}">
        <p14:creationId xmlns:p14="http://schemas.microsoft.com/office/powerpoint/2010/main" val="1560394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үнэ тогтоох алхамууд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1173D-104A-B996-264E-3ADA33A7D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4772706"/>
          </a:xfrm>
        </p:spPr>
        <p:txBody>
          <a:bodyPr>
            <a:normAutofit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Үнэ бол маш хариуцлагатай асуудал байдаг. </a:t>
            </a:r>
          </a:p>
          <a:p>
            <a:pPr lv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алхам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үнийн зорилгыг тодорхойлж шийдвэр гаргах явдал юм. Түгээмэл хэрэглэдэг дараах зорилгууд байна. Үүнд: </a:t>
            </a:r>
          </a:p>
          <a:p>
            <a:pPr lvl="1"/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 </a:t>
            </a:r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алхам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үнийн зорилтоо тодорхойлсны дараа эрэлтээ тооцоолдог. </a:t>
            </a:r>
          </a:p>
          <a:p>
            <a:pPr lvl="1"/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 </a:t>
            </a:r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алхам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тухайн бүтээгдэхүүний өртгийг тооцоолох ёстой. Үүнийг бид өмнө үзсэн. </a:t>
            </a:r>
          </a:p>
          <a:p>
            <a:pPr lv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 </a:t>
            </a:r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алхам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өрсөлдөгчдийнхөө үнийг харьцуулна.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1DA45-E229-95C9-DA4C-0D93BD57747F}"/>
              </a:ext>
            </a:extLst>
          </p:cNvPr>
          <p:cNvSpPr txBox="1"/>
          <p:nvPr/>
        </p:nvSpPr>
        <p:spPr>
          <a:xfrm>
            <a:off x="6095999" y="2640764"/>
            <a:ext cx="56238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 зээлд эзлэх хувийг нэмэгдүүлэх;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Чанараар тэргүүлэх;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Нийгмийн хариуцлагаа биелүүлэх гэх мэт ...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F83119-F848-C28B-80EC-9334C8A165B6}"/>
              </a:ext>
            </a:extLst>
          </p:cNvPr>
          <p:cNvSpPr txBox="1"/>
          <p:nvPr/>
        </p:nvSpPr>
        <p:spPr>
          <a:xfrm>
            <a:off x="1204233" y="2640764"/>
            <a:ext cx="46413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Ашгийг нэмэгдүүлэх;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Борлуулалтын орлогыг нэмэгдүүлэх;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Амьдрах чадвараа хадгалах;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4B9D5-22B3-AEBC-58B8-2A1A8046E488}"/>
              </a:ext>
            </a:extLst>
          </p:cNvPr>
          <p:cNvSpPr txBox="1"/>
          <p:nvPr/>
        </p:nvSpPr>
        <p:spPr>
          <a:xfrm>
            <a:off x="1204233" y="4138527"/>
            <a:ext cx="46413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 зээлийн тэнцвэр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AF463-A363-9225-A539-AA354815A331}"/>
              </a:ext>
            </a:extLst>
          </p:cNvPr>
          <p:cNvSpPr txBox="1"/>
          <p:nvPr/>
        </p:nvSpPr>
        <p:spPr>
          <a:xfrm>
            <a:off x="6095999" y="4138527"/>
            <a:ext cx="46413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 зээлийн мэдрэмж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5600E-5EE6-75D4-1D35-052E7C97DE56}"/>
              </a:ext>
            </a:extLst>
          </p:cNvPr>
          <p:cNvSpPr txBox="1"/>
          <p:nvPr/>
        </p:nvSpPr>
        <p:spPr>
          <a:xfrm>
            <a:off x="1204233" y="5624721"/>
            <a:ext cx="48917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 зээл дээр байгаа хамгийн өндөр үнэ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Зах зээл дээрх хамгийн бага үнэ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3F626A-06A0-8828-042D-FDDAB3CA9FEC}"/>
              </a:ext>
            </a:extLst>
          </p:cNvPr>
          <p:cNvSpPr txBox="1"/>
          <p:nvPr/>
        </p:nvSpPr>
        <p:spPr>
          <a:xfrm>
            <a:off x="6096001" y="5621699"/>
            <a:ext cx="48917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Өрсөлдөгчдийн үнэ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Орлуулах бүтээгдэхүүний үнэ.</a:t>
            </a:r>
          </a:p>
        </p:txBody>
      </p:sp>
    </p:spTree>
    <p:extLst>
      <p:ext uri="{BB962C8B-B14F-4D97-AF65-F5344CB8AC3E}">
        <p14:creationId xmlns:p14="http://schemas.microsoft.com/office/powerpoint/2010/main" val="926972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30" y="365125"/>
            <a:ext cx="11727180" cy="843189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үнэ тогтоох гурван С – 3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загвар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1173D-104A-B996-264E-3ADA33A7D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30" y="1404257"/>
            <a:ext cx="11727180" cy="4772706"/>
          </a:xfrm>
        </p:spPr>
        <p:txBody>
          <a:bodyPr>
            <a:normAutofit/>
          </a:bodyPr>
          <a:lstStyle/>
          <a:p>
            <a:endParaRPr lang="mn-M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conomic Pricing, 3C-Pricing and Cost-Estimation Concepts | SpringerLink">
            <a:extLst>
              <a:ext uri="{FF2B5EF4-FFF2-40B4-BE49-F238E27FC236}">
                <a16:creationId xmlns:a16="http://schemas.microsoft.com/office/drawing/2014/main" id="{8486764C-EDB6-26B8-C3B1-9AE9F0E2A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682" y="1431245"/>
            <a:ext cx="8862154" cy="479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936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" y="102235"/>
            <a:ext cx="11727180" cy="503555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үнэ тогтоох алхамууд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1173D-104A-B996-264E-3ADA33A7D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" y="605790"/>
            <a:ext cx="11727180" cy="4968649"/>
          </a:xfrm>
        </p:spPr>
        <p:txBody>
          <a:bodyPr>
            <a:normAutofit/>
          </a:bodyPr>
          <a:lstStyle/>
          <a:p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Үнэ бол маш хариуцлагатай асуудал байдаг. </a:t>
            </a:r>
          </a:p>
          <a:p>
            <a:pPr lvl="1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алхам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Үнэ тогтоох аргаа сонгоно. </a:t>
            </a:r>
          </a:p>
          <a:p>
            <a:pPr lvl="2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Өртөгт суурилсан үнэ;</a:t>
            </a:r>
          </a:p>
          <a:p>
            <a:pPr lvl="2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Үнэ цэнэд суурилсан үнэ;</a:t>
            </a:r>
          </a:p>
          <a:p>
            <a:pPr lvl="2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Өрсөлдөөнд суурилсан үнэ;</a:t>
            </a:r>
          </a:p>
          <a:p>
            <a:pPr lvl="3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Өрсөлдөгчтэй ижил үнийн бодлого баримтлах, </a:t>
            </a:r>
          </a:p>
          <a:p>
            <a:pPr lvl="3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Өрсөлдөгчөөсөө дээгүүр үнийн бодлого баримтлах,</a:t>
            </a:r>
          </a:p>
          <a:p>
            <a:pPr lvl="3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Өрсөлдөгчөөсөө доогуур үнийн бодлого баримтлах.</a:t>
            </a:r>
          </a:p>
          <a:p>
            <a:pPr lvl="1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 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алхам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Эцсийн үнэ тогтооно. </a:t>
            </a:r>
          </a:p>
          <a:p>
            <a:pPr lvl="1"/>
            <a:endParaRPr lang="mn-M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mn-M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5600E-5EE6-75D4-1D35-052E7C97DE56}"/>
              </a:ext>
            </a:extLst>
          </p:cNvPr>
          <p:cNvSpPr txBox="1"/>
          <p:nvPr/>
        </p:nvSpPr>
        <p:spPr>
          <a:xfrm>
            <a:off x="425598" y="4247636"/>
            <a:ext cx="60646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амьдралын мөчлөг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чанар, өртөг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нэр, төрөл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3F626A-06A0-8828-042D-FDDAB3CA9FEC}"/>
              </a:ext>
            </a:extLst>
          </p:cNvPr>
          <p:cNvSpPr txBox="1"/>
          <p:nvPr/>
        </p:nvSpPr>
        <p:spPr>
          <a:xfrm>
            <a:off x="6305061" y="4247636"/>
            <a:ext cx="46420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Өрсөлдөөн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Зуучлагчийн нөлөө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Засгийн газрын хяналт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Компаний бодлого</a:t>
            </a:r>
          </a:p>
        </p:txBody>
      </p:sp>
    </p:spTree>
    <p:extLst>
      <p:ext uri="{BB962C8B-B14F-4D97-AF65-F5344CB8AC3E}">
        <p14:creationId xmlns:p14="http://schemas.microsoft.com/office/powerpoint/2010/main" val="1781901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үнэ тогтоох алхамууд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1173D-104A-B996-264E-3ADA33A7D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314"/>
            <a:ext cx="10515600" cy="4968649"/>
          </a:xfrm>
        </p:spPr>
        <p:txBody>
          <a:bodyPr>
            <a:normAutofit/>
          </a:bodyPr>
          <a:lstStyle/>
          <a:p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Үнэ бол маш хариуцлагатай асуудал байдаг. </a:t>
            </a:r>
          </a:p>
          <a:p>
            <a:pPr lvl="1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алхам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Үнэ тогтоох аргаа сонгоно. </a:t>
            </a:r>
          </a:p>
          <a:p>
            <a:pPr lvl="2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Өртөгт суурилсан үнэ;</a:t>
            </a:r>
          </a:p>
          <a:p>
            <a:pPr lvl="2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Үнэ цэнэд суурилсан үнэ;</a:t>
            </a:r>
          </a:p>
          <a:p>
            <a:pPr lvl="2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Өрсөлдөөнд суурилсан үнэ;</a:t>
            </a:r>
          </a:p>
          <a:p>
            <a:pPr lvl="3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Өрсөлдөгчтэй ижил үнийн бодлого баримтлах, </a:t>
            </a:r>
          </a:p>
          <a:p>
            <a:pPr lvl="3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Өрсөлдөгчөөсөө дээгүүр үнийн бодлого баримтлах,</a:t>
            </a:r>
          </a:p>
          <a:p>
            <a:pPr lvl="3"/>
            <a:r>
              <a:rPr lang="mn-M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Өрсөлдөгчөөсөө доогуур үнийн бодлого баримтлах.</a:t>
            </a:r>
          </a:p>
          <a:p>
            <a:pPr lvl="1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 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алхам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Эцсийн үнэ тогтооно. </a:t>
            </a:r>
          </a:p>
          <a:p>
            <a:pPr lvl="1"/>
            <a:endParaRPr lang="mn-M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mn-M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5600E-5EE6-75D4-1D35-052E7C97DE56}"/>
              </a:ext>
            </a:extLst>
          </p:cNvPr>
          <p:cNvSpPr txBox="1"/>
          <p:nvPr/>
        </p:nvSpPr>
        <p:spPr>
          <a:xfrm>
            <a:off x="838200" y="4864856"/>
            <a:ext cx="54380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амьдралын мөчлөг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чанар, өртөг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нэр, төрөл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3F626A-06A0-8828-042D-FDDAB3CA9FEC}"/>
              </a:ext>
            </a:extLst>
          </p:cNvPr>
          <p:cNvSpPr txBox="1"/>
          <p:nvPr/>
        </p:nvSpPr>
        <p:spPr>
          <a:xfrm>
            <a:off x="6642325" y="4864856"/>
            <a:ext cx="41624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Өрсөлдөөн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Зуучлагчийн нөлөө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Засгийн газрын хяналт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Компаний бодлого</a:t>
            </a:r>
          </a:p>
        </p:txBody>
      </p:sp>
    </p:spTree>
    <p:extLst>
      <p:ext uri="{BB962C8B-B14F-4D97-AF65-F5344CB8AC3E}">
        <p14:creationId xmlns:p14="http://schemas.microsoft.com/office/powerpoint/2010/main" val="2003592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19B2-9576-76D3-BC5F-3926C346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Бүтээгдэхүүний үнэ ба чанарын хослол, баримтлах стратеги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6FC5572-0B4B-4858-7FC9-4E01A5B93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0289699"/>
              </p:ext>
            </p:extLst>
          </p:nvPr>
        </p:nvGraphicFramePr>
        <p:xfrm>
          <a:off x="838200" y="1825625"/>
          <a:ext cx="10515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743">
                  <a:extLst>
                    <a:ext uri="{9D8B030D-6E8A-4147-A177-3AD203B41FA5}">
                      <a16:colId xmlns:a16="http://schemas.microsoft.com/office/drawing/2014/main" val="1263178930"/>
                    </a:ext>
                  </a:extLst>
                </a:gridCol>
                <a:gridCol w="1616528">
                  <a:extLst>
                    <a:ext uri="{9D8B030D-6E8A-4147-A177-3AD203B41FA5}">
                      <a16:colId xmlns:a16="http://schemas.microsoft.com/office/drawing/2014/main" val="3778331936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273185653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482202390"/>
                    </a:ext>
                  </a:extLst>
                </a:gridCol>
                <a:gridCol w="2487386">
                  <a:extLst>
                    <a:ext uri="{9D8B030D-6E8A-4147-A177-3AD203B41FA5}">
                      <a16:colId xmlns:a16="http://schemas.microsoft.com/office/drawing/2014/main" val="2601207877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mn-MN" sz="3600" dirty="0"/>
                        <a:t>Чанар</a:t>
                      </a:r>
                      <a:endParaRPr lang="en-US" sz="3200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mn-MN" sz="3600" dirty="0"/>
                        <a:t>Үнэ</a:t>
                      </a:r>
                      <a:endParaRPr lang="en-US" sz="3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80365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/>
                        <a:t>Өндөр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/>
                        <a:t>Дунд 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/>
                        <a:t>Доогуур</a:t>
                      </a:r>
                      <a:endParaRPr lang="en-US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93254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/>
                        <a:t>Өндөр 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1. Нэр төрийн стратеги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400" dirty="0"/>
                        <a:t>2. Өндөр үнэлгээний стратеги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3. Гойд сайн үнэдгээний стратеги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2245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/>
                        <a:t>Дунд 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4. Дэврүүлсэн стратеги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5. Дундаж үнэлгээний стратеги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6. Сайн үнэлгээний стратеги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7524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/>
                        <a:t>Доогуур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7. Шулах стратеги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8. Худал хэмнэлтийн стратеги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9. Хэмнэлтийн стратеги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411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6477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4E30-0343-A18A-D6B5-5A5DD5A3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636" y="144797"/>
            <a:ext cx="10515600" cy="794204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үнэ тогтоох аргачлал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AE19E3-B863-BD6A-8568-C58F84492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7071" y="939001"/>
                <a:ext cx="10836729" cy="5017633"/>
              </a:xfrm>
            </p:spPr>
            <p:txBody>
              <a:bodyPr/>
              <a:lstStyle/>
              <a:p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Аргачлалыг тайлбарлахын тулд дараах тэмдэглэгээнүүдийг ашиглая: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Бүтээгдэхүүний өөрийн өртөг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ААН-д бэлэн мөнгөөр орж ирж байгаа арилжааны үнэ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Зорилтот үнэ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Арилжааны үнэ.</a:t>
                </a:r>
              </a:p>
              <a:p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Аж ахуйн нэгжүуд зах зээл дээр бүтээгдэхүүнээ борлуулах арилжааны үнээсээ худалдан авагчдад тодорхой хэмжээний үнийн хөнгөлөлт үзүүлдэг. Арилжааны үнээсээ үнийн хөнгөлөлтийг хассанаар зорилтот үнэ гарна.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Жишээ: Үнийн хөнгөлөлтийг 10% гэвэл 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AE19E3-B863-BD6A-8568-C58F84492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7071" y="939001"/>
                <a:ext cx="10836729" cy="5017633"/>
              </a:xfrm>
              <a:blipFill>
                <a:blip r:embed="rId3"/>
                <a:stretch>
                  <a:fillRect l="-1012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D8626A-03E7-D8E9-B59B-07EB75BA5870}"/>
                  </a:ext>
                </a:extLst>
              </p:cNvPr>
              <p:cNvSpPr txBox="1"/>
              <p:nvPr/>
            </p:nvSpPr>
            <p:spPr>
              <a:xfrm>
                <a:off x="838200" y="5469076"/>
                <a:ext cx="460873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Арилжааны үнэ,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mn-M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100%</a:t>
                </a:r>
              </a:p>
              <a:p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Үнийн хөнгөлөлт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10%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D8626A-03E7-D8E9-B59B-07EB75BA5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69076"/>
                <a:ext cx="4608739" cy="954107"/>
              </a:xfrm>
              <a:prstGeom prst="rect">
                <a:avLst/>
              </a:prstGeom>
              <a:blipFill>
                <a:blip r:embed="rId4"/>
                <a:stretch>
                  <a:fillRect l="-2778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92B735-0AA4-BE7E-BA61-2AAF8E9E5F75}"/>
                  </a:ext>
                </a:extLst>
              </p:cNvPr>
              <p:cNvSpPr txBox="1"/>
              <p:nvPr/>
            </p:nvSpPr>
            <p:spPr>
              <a:xfrm>
                <a:off x="5749018" y="5731326"/>
                <a:ext cx="546326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Зорилтот үнэ: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mn-MN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mn-M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−0.1</m:t>
                    </m:r>
                    <m:sSub>
                      <m:sSubPr>
                        <m:ctrlPr>
                          <a:rPr lang="mn-M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mn-MN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92B735-0AA4-BE7E-BA61-2AAF8E9E5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018" y="5731326"/>
                <a:ext cx="5463267" cy="584775"/>
              </a:xfrm>
              <a:prstGeom prst="rect">
                <a:avLst/>
              </a:prstGeom>
              <a:blipFill>
                <a:blip r:embed="rId5"/>
                <a:stretch>
                  <a:fillRect l="-2232" t="-2083" b="-26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4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4E30-0343-A18A-D6B5-5A5DD5A3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204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үнэ тогтоох аргачлал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19E3-B863-BD6A-8568-C58F84492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89" y="1159330"/>
            <a:ext cx="11013622" cy="4702627"/>
          </a:xfrm>
        </p:spPr>
        <p:txBody>
          <a:bodyPr>
            <a:normAutofit fontScale="92500" lnSpcReduction="10000"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Уг тооцсон зорилтот үнээсээ төлбөрийн хөнгөлөлт, борлуулалтын урамшуулал олгохоор тооцдог. Эдгээр хөнгөлөлтийг хассанаар үлдэх орлого нь ААН-д бэлэн мөнгөөр орж ирэх үнэ юм. 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Борлуулалтын урамшууллыг арилжааны үнэ биш зорилтот үнээс тооцож байгаагийн гол шалтгаан бол: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 талаас, тухайн бүтээгдэхүүнд хэрэглэгчийн төлсөн үнэ нь зорилтот үнэ байдаг.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Нөгөө талаас, тухайн борлуулагчийн хувьд их хэмжээний урамшууллыг авахын тулд зорилтот үнийг өндөр байлгах сонирхолтой байна. 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Иймээс худалдан авагчдад олгох үнийн хөнгөлөлтийг аль болох бага түвшинд байлгаж чадвал тухайн борлуулагчид ирэх урамшууллын хэмжээ өндер байх болно. </a:t>
            </a:r>
          </a:p>
          <a:p>
            <a:pPr lvl="1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Жишээ: төлбөрийн хөнгөлөлт 2%, борлуулагчийн урамшуулал 5% гэж тооџвол ААН-д бэлэн мөнгөөр орж ирэх үнэ:</a:t>
            </a: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C61D17-B58B-2E5C-D057-BB0A601A2BC0}"/>
                  </a:ext>
                </a:extLst>
              </p:cNvPr>
              <p:cNvSpPr txBox="1"/>
              <p:nvPr/>
            </p:nvSpPr>
            <p:spPr>
              <a:xfrm>
                <a:off x="6429375" y="5861957"/>
                <a:ext cx="51734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mn-M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mn-M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mn-M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−0.02</m:t>
                    </m:r>
                    <m:sSub>
                      <m:sSubPr>
                        <m:ctrlPr>
                          <a:rPr lang="mn-M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−0.</m:t>
                    </m:r>
                    <m:r>
                      <a:rPr lang="mn-M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05</m:t>
                    </m:r>
                    <m:sSub>
                      <m:sSubPr>
                        <m:ctrlPr>
                          <a:rPr lang="mn-M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mn-MN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C61D17-B58B-2E5C-D057-BB0A601A2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5" y="5861957"/>
                <a:ext cx="517343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6783C35-56BC-783F-7E8B-3D683A5C50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0360696"/>
                  </p:ext>
                </p:extLst>
              </p:nvPr>
            </p:nvGraphicFramePr>
            <p:xfrm>
              <a:off x="589189" y="5596236"/>
              <a:ext cx="4808311" cy="1112520"/>
            </p:xfrm>
            <a:graphic>
              <a:graphicData uri="http://schemas.openxmlformats.org/drawingml/2006/table">
                <a:tbl>
                  <a:tblPr firstRow="1" bandRow="1">
                    <a:tableStyleId>{5FD0F851-EC5A-4D38-B0AD-8093EC10F338}</a:tableStyleId>
                  </a:tblPr>
                  <a:tblGrid>
                    <a:gridCol w="3185723">
                      <a:extLst>
                        <a:ext uri="{9D8B030D-6E8A-4147-A177-3AD203B41FA5}">
                          <a16:colId xmlns:a16="http://schemas.microsoft.com/office/drawing/2014/main" val="3544298931"/>
                        </a:ext>
                      </a:extLst>
                    </a:gridCol>
                    <a:gridCol w="784388">
                      <a:extLst>
                        <a:ext uri="{9D8B030D-6E8A-4147-A177-3AD203B41FA5}">
                          <a16:colId xmlns:a16="http://schemas.microsoft.com/office/drawing/2014/main" val="3588985718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38931391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b="0" dirty="0"/>
                            <a:t>Зорилтот үнэ,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mn-MN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mn-MN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b="0" dirty="0"/>
                            <a:t>90%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b="0" dirty="0"/>
                            <a:t>100%</a:t>
                          </a:r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9681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b="0" dirty="0">
                              <a:solidFill>
                                <a:srgbClr val="002060"/>
                              </a:solidFill>
                            </a:rPr>
                            <a:t>Төлбөрийн хөнгөлөлт 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>
                              <a:solidFill>
                                <a:srgbClr val="002060"/>
                              </a:solidFill>
                            </a:rPr>
                            <a:t>2%</a:t>
                          </a:r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706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dirty="0">
                              <a:solidFill>
                                <a:srgbClr val="002060"/>
                              </a:solidFill>
                            </a:rPr>
                            <a:t>Борлуулагчийн урамшуулал 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>
                              <a:solidFill>
                                <a:srgbClr val="002060"/>
                              </a:solidFill>
                            </a:rPr>
                            <a:t>5%</a:t>
                          </a:r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84173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6783C35-56BC-783F-7E8B-3D683A5C50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0360696"/>
                  </p:ext>
                </p:extLst>
              </p:nvPr>
            </p:nvGraphicFramePr>
            <p:xfrm>
              <a:off x="589189" y="5596236"/>
              <a:ext cx="4808311" cy="1112520"/>
            </p:xfrm>
            <a:graphic>
              <a:graphicData uri="http://schemas.openxmlformats.org/drawingml/2006/table">
                <a:tbl>
                  <a:tblPr firstRow="1" bandRow="1">
                    <a:tableStyleId>{5FD0F851-EC5A-4D38-B0AD-8093EC10F338}</a:tableStyleId>
                  </a:tblPr>
                  <a:tblGrid>
                    <a:gridCol w="3185723">
                      <a:extLst>
                        <a:ext uri="{9D8B030D-6E8A-4147-A177-3AD203B41FA5}">
                          <a16:colId xmlns:a16="http://schemas.microsoft.com/office/drawing/2014/main" val="3544298931"/>
                        </a:ext>
                      </a:extLst>
                    </a:gridCol>
                    <a:gridCol w="784388">
                      <a:extLst>
                        <a:ext uri="{9D8B030D-6E8A-4147-A177-3AD203B41FA5}">
                          <a16:colId xmlns:a16="http://schemas.microsoft.com/office/drawing/2014/main" val="3588985718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38931391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8197" r="-5124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b="0" dirty="0"/>
                            <a:t>90%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b="0" dirty="0"/>
                            <a:t>100%</a:t>
                          </a:r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96816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b="0" dirty="0">
                              <a:solidFill>
                                <a:srgbClr val="002060"/>
                              </a:solidFill>
                            </a:rPr>
                            <a:t>Төлбөрийн хөнгөлөлт 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>
                              <a:solidFill>
                                <a:srgbClr val="002060"/>
                              </a:solidFill>
                            </a:rPr>
                            <a:t>2%</a:t>
                          </a:r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706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mn-MN" dirty="0">
                              <a:solidFill>
                                <a:srgbClr val="002060"/>
                              </a:solidFill>
                            </a:rPr>
                            <a:t>Борлуулагчийн урамшуулал 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dirty="0">
                              <a:solidFill>
                                <a:srgbClr val="002060"/>
                              </a:solidFill>
                            </a:rPr>
                            <a:t>5%</a:t>
                          </a:r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84173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4114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4E30-0343-A18A-D6B5-5A5DD5A3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06"/>
            <a:ext cx="10515600" cy="823594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 бүтээгдэхүүний үнэ тогтоох аргачлал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AE19E3-B863-BD6A-8568-C58F84492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189" y="1028700"/>
                <a:ext cx="11013622" cy="3771900"/>
              </a:xfrm>
            </p:spPr>
            <p:txBody>
              <a:bodyPr>
                <a:normAutofit/>
              </a:bodyPr>
              <a:lstStyle/>
              <a:p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ААН-д бэлэн мөнгөөр орж ирэх үнийг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mn-M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mn-M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mn-M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−0.02</m:t>
                    </m:r>
                    <m:sSub>
                      <m:sSubPr>
                        <m:ctrlPr>
                          <a:rPr lang="mn-M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−0.</m:t>
                    </m:r>
                    <m:r>
                      <a:rPr lang="mn-M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05</m:t>
                    </m:r>
                    <m:sSub>
                      <m:sSubPr>
                        <m:ctrlPr>
                          <a:rPr lang="mn-M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mn-M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томъёогоор тооцохоос гадна, нөгөө талаас, энэ нь бүтээгдэхүүний өөрийн өртөг дээр нэгж бүтээгдэхүүнээс хүлээж буй ашгийг нэмсэнтэй тэнцүү байна. </a:t>
                </a:r>
              </a:p>
              <a:p>
                <a:pPr lvl="1"/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Жишээ: нэгж бүтээгдэхүүнээс хүлээж буй ашгийг 30% байхаар тооцоолсон гэвэл ААН-д бэлэн мөнгөөр орж ирэх үнийг дараах томъёогоор тодорхойлно.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n-M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mn-M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mn-M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mn-M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mn-M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+0.3</m:t>
                      </m:r>
                      <m:sSub>
                        <m:sSubPr>
                          <m:ctrlPr>
                            <a:rPr lang="mn-M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mn-M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mn-MN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Тэгвэл ААН-ийн бүтээгдэхүүний арилжааны үнийг дараах байдлаар тооцно: 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AE19E3-B863-BD6A-8568-C58F84492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189" y="1028700"/>
                <a:ext cx="11013622" cy="3771900"/>
              </a:xfrm>
              <a:blipFill>
                <a:blip r:embed="rId3"/>
                <a:stretch>
                  <a:fillRect l="-997" t="-2908" r="-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6783C35-56BC-783F-7E8B-3D683A5C50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179222"/>
                  </p:ext>
                </p:extLst>
              </p:nvPr>
            </p:nvGraphicFramePr>
            <p:xfrm>
              <a:off x="3118757" y="4275454"/>
              <a:ext cx="8881382" cy="2377440"/>
            </p:xfrm>
            <a:graphic>
              <a:graphicData uri="http://schemas.openxmlformats.org/drawingml/2006/table">
                <a:tbl>
                  <a:tblPr firstRow="1" bandRow="1">
                    <a:tableStyleId>{5FD0F851-EC5A-4D38-B0AD-8093EC10F338}</a:tableStyleId>
                  </a:tblPr>
                  <a:tblGrid>
                    <a:gridCol w="5447620">
                      <a:extLst>
                        <a:ext uri="{9D8B030D-6E8A-4147-A177-3AD203B41FA5}">
                          <a16:colId xmlns:a16="http://schemas.microsoft.com/office/drawing/2014/main" val="3544298931"/>
                        </a:ext>
                      </a:extLst>
                    </a:gridCol>
                    <a:gridCol w="2044326">
                      <a:extLst>
                        <a:ext uri="{9D8B030D-6E8A-4147-A177-3AD203B41FA5}">
                          <a16:colId xmlns:a16="http://schemas.microsoft.com/office/drawing/2014/main" val="3893139117"/>
                        </a:ext>
                      </a:extLst>
                    </a:gridCol>
                    <a:gridCol w="1389436">
                      <a:extLst>
                        <a:ext uri="{9D8B030D-6E8A-4147-A177-3AD203B41FA5}">
                          <a16:colId xmlns:a16="http://schemas.microsoft.com/office/drawing/2014/main" val="130332631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Бүтээгдэхүүний өөрийн өртөг:</a:t>
                          </a:r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96816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Нэгж бүтээгдэхүүнээс хүлээж буй ашиг:</a:t>
                          </a:r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0,3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7069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Бэлэн мөнгөөр орж ирэх арилжааны үнэ:</a:t>
                          </a:r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0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mn-MN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  <m:sSub>
                                  <m:sSubPr>
                                    <m:ctrlPr>
                                      <a:rPr lang="mn-MN" sz="20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b="0" dirty="0">
                              <a:solidFill>
                                <a:srgbClr val="002060"/>
                              </a:solidFill>
                            </a:rPr>
                            <a:t>93%</a:t>
                          </a:r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84173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Зорилтот үнэ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mn-MN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mn-MN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:</a:t>
                          </a:r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mn-MN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=?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b="0" dirty="0">
                              <a:solidFill>
                                <a:srgbClr val="002060"/>
                              </a:solidFill>
                            </a:rPr>
                            <a:t>100%</a:t>
                          </a:r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248954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Арилжааны үнэ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mn-MN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mn-MN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:</a:t>
                          </a:r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mn-MN" sz="20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b="0" dirty="0">
                              <a:solidFill>
                                <a:srgbClr val="002060"/>
                              </a:solidFill>
                            </a:rPr>
                            <a:t>90%</a:t>
                          </a:r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16877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mn-MN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mn-MN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=?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b="0" dirty="0">
                              <a:solidFill>
                                <a:srgbClr val="002060"/>
                              </a:solidFill>
                            </a:rPr>
                            <a:t>100%</a:t>
                          </a:r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0344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6783C35-56BC-783F-7E8B-3D683A5C50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179222"/>
                  </p:ext>
                </p:extLst>
              </p:nvPr>
            </p:nvGraphicFramePr>
            <p:xfrm>
              <a:off x="3118757" y="4275454"/>
              <a:ext cx="8881382" cy="2377440"/>
            </p:xfrm>
            <a:graphic>
              <a:graphicData uri="http://schemas.openxmlformats.org/drawingml/2006/table">
                <a:tbl>
                  <a:tblPr firstRow="1" bandRow="1">
                    <a:tableStyleId>{5FD0F851-EC5A-4D38-B0AD-8093EC10F338}</a:tableStyleId>
                  </a:tblPr>
                  <a:tblGrid>
                    <a:gridCol w="5447620">
                      <a:extLst>
                        <a:ext uri="{9D8B030D-6E8A-4147-A177-3AD203B41FA5}">
                          <a16:colId xmlns:a16="http://schemas.microsoft.com/office/drawing/2014/main" val="3544298931"/>
                        </a:ext>
                      </a:extLst>
                    </a:gridCol>
                    <a:gridCol w="2044326">
                      <a:extLst>
                        <a:ext uri="{9D8B030D-6E8A-4147-A177-3AD203B41FA5}">
                          <a16:colId xmlns:a16="http://schemas.microsoft.com/office/drawing/2014/main" val="3893139117"/>
                        </a:ext>
                      </a:extLst>
                    </a:gridCol>
                    <a:gridCol w="1389436">
                      <a:extLst>
                        <a:ext uri="{9D8B030D-6E8A-4147-A177-3AD203B41FA5}">
                          <a16:colId xmlns:a16="http://schemas.microsoft.com/office/drawing/2014/main" val="130332631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Бүтээгдэхүүний өөрийн өртөг:</a:t>
                          </a:r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6071" t="-7692" r="-68155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96816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Нэгж бүтээгдэхүүнээс хүлээж буй ашиг:</a:t>
                          </a:r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6071" t="-107692" r="-6815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7069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mn-MN" sz="2000" b="1" dirty="0">
                              <a:solidFill>
                                <a:srgbClr val="002060"/>
                              </a:solidFill>
                            </a:rPr>
                            <a:t>Бэлэн мөнгөөр орж ирэх арилжааны үнэ:</a:t>
                          </a:r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6071" t="-204545" r="-68155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b="0" dirty="0">
                              <a:solidFill>
                                <a:srgbClr val="002060"/>
                              </a:solidFill>
                            </a:rPr>
                            <a:t>93%</a:t>
                          </a:r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841733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9231" r="-63199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6071" t="-309231" r="-68155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b="0" dirty="0">
                              <a:solidFill>
                                <a:srgbClr val="002060"/>
                              </a:solidFill>
                            </a:rPr>
                            <a:t>100%</a:t>
                          </a:r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248954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409231" r="-63199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6071" t="-409231" r="-68155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b="0" dirty="0">
                              <a:solidFill>
                                <a:srgbClr val="002060"/>
                              </a:solidFill>
                            </a:rPr>
                            <a:t>90%</a:t>
                          </a:r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168777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 sz="20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6071" t="-509231" r="-68155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n-MN" sz="2000" b="0" dirty="0">
                              <a:solidFill>
                                <a:srgbClr val="002060"/>
                              </a:solidFill>
                            </a:rPr>
                            <a:t>100%</a:t>
                          </a:r>
                          <a:endParaRPr lang="en-US" sz="20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40344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2F7A8ED-4D4E-04EA-076B-C809F864606F}"/>
              </a:ext>
            </a:extLst>
          </p:cNvPr>
          <p:cNvSpPr txBox="1"/>
          <p:nvPr/>
        </p:nvSpPr>
        <p:spPr>
          <a:xfrm>
            <a:off x="371475" y="4621569"/>
            <a:ext cx="2529568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mn-MN">
                <a:latin typeface="Times New Roman" panose="02020603050405020304" pitchFamily="18" charset="0"/>
                <a:cs typeface="Times New Roman" panose="02020603050405020304" pitchFamily="18" charset="0"/>
              </a:rPr>
              <a:t>Дээрх тооцоололд ашигласан хувь хэмжээнүүд хийсвэрлэн авсан тоо болно. </a:t>
            </a:r>
            <a:r>
              <a:rPr lang="mn-MN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Энэ хувь хэмжээг ААН, байгууллагууд өөрсдөө тогтоодог.</a:t>
            </a:r>
          </a:p>
        </p:txBody>
      </p:sp>
    </p:spTree>
    <p:extLst>
      <p:ext uri="{BB962C8B-B14F-4D97-AF65-F5344CB8AC3E}">
        <p14:creationId xmlns:p14="http://schemas.microsoft.com/office/powerpoint/2010/main" val="527573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B9F9-7F42-5948-C083-E15663F4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546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Орлого, ашгийн тооцоо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97268-C62C-41B0-1B42-361B32296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672"/>
            <a:ext cx="10515600" cy="5050291"/>
          </a:xfrm>
        </p:spPr>
        <p:txBody>
          <a:bodyPr/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Үйлдвэрлэл, үйлчилгээний жилийн төлөвлөгөө болон нэгж бүтээгдэхүүний үнэ, нийт зардлын тооцоонд үндэслэн ААН, байгууллагын ашгийг тооцно. 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Ашгийн тооцоог хийхийн өмнө ААН-ийн борлуулалтын орлогыг дараах хүснэгтээр тооцоолно: 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CB4EA4-E3A8-08A3-0F12-B1F1987C8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521784"/>
              </p:ext>
            </p:extLst>
          </p:nvPr>
        </p:nvGraphicFramePr>
        <p:xfrm>
          <a:off x="838200" y="3266508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3735945994"/>
                    </a:ext>
                  </a:extLst>
                </a:gridCol>
                <a:gridCol w="2367643">
                  <a:extLst>
                    <a:ext uri="{9D8B030D-6E8A-4147-A177-3AD203B41FA5}">
                      <a16:colId xmlns:a16="http://schemas.microsoft.com/office/drawing/2014/main" val="2244259581"/>
                    </a:ext>
                  </a:extLst>
                </a:gridCol>
                <a:gridCol w="1649186">
                  <a:extLst>
                    <a:ext uri="{9D8B030D-6E8A-4147-A177-3AD203B41FA5}">
                      <a16:colId xmlns:a16="http://schemas.microsoft.com/office/drawing/2014/main" val="1954854888"/>
                    </a:ext>
                  </a:extLst>
                </a:gridCol>
                <a:gridCol w="1518557">
                  <a:extLst>
                    <a:ext uri="{9D8B030D-6E8A-4147-A177-3AD203B41FA5}">
                      <a16:colId xmlns:a16="http://schemas.microsoft.com/office/drawing/2014/main" val="3613615081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3250853082"/>
                    </a:ext>
                  </a:extLst>
                </a:gridCol>
                <a:gridCol w="2813957">
                  <a:extLst>
                    <a:ext uri="{9D8B030D-6E8A-4147-A177-3AD203B41FA5}">
                      <a16:colId xmlns:a16="http://schemas.microsoft.com/office/drawing/2014/main" val="222177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№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Бүтээгдэхүүний нэр төрөл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Хэмжих нэгж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Тоо хэмжээ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Нэгжийн үнэ, ₮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Нийт борлуулалтын орлого, мян.төг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38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24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24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US" sz="24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en-US" sz="24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en-US" sz="24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en-US" sz="24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1742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1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545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2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007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/>
                        <a:t>...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877681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mn-MN" sz="2400" b="1" dirty="0"/>
                        <a:t>Нийт дүн</a:t>
                      </a:r>
                      <a:endParaRPr lang="en-US" sz="24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77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069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B9F9-7F42-5948-C083-E15663F4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" y="113666"/>
            <a:ext cx="11761470" cy="745217"/>
          </a:xfrm>
        </p:spPr>
        <p:txBody>
          <a:bodyPr>
            <a:normAutofit/>
          </a:bodyPr>
          <a:lstStyle/>
          <a:p>
            <a:pPr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Орлого, ашгийн тооцоо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97268-C62C-41B0-1B42-361B32296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" y="858884"/>
            <a:ext cx="11761470" cy="5584370"/>
          </a:xfrm>
        </p:spPr>
        <p:txBody>
          <a:bodyPr>
            <a:normAutofit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Борлуулалтын орлого, үйлдвэрлэл, үйл ажиллагааны нийт зардлын зөрүүгээр ААН-ийн татвар ногдох орлого буюу </a:t>
            </a: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нийт ашг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ийг тооцоолно.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 үйл ажиллагааны зардалд нэмэлт зардал хамаарахгүй ба зөвхөн шууд болон шууд бус зардлын нийлбэрээр тооцоолно. </a:t>
            </a:r>
          </a:p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ААНОАТ-ын хуульд зааснаар татвар ногдох орлогын дүн 2 үндсэн шатлалд ангилан авч үздэг ба тухайн ААН аль ангилалд хамаарч байгаагаас хамааран ялгаатай хувь хэмжээгээр татвар төлнө.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0-6 тэрбум төгрөгийн албан татвар ногдуулах тухайн жилийн орлого олсон тохиолдолд 10 хувиар,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тэрбум төгрөгөөс дээш албан татвар ногдуулах тухайн жилийн орлого олсон тохиолдолд 600 сая төгрөг дээр 6 тэрбумаас дээш давсан орлогод 25 хувиар нэмж албан татвар ногдуулна.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5597C-0090-992B-902E-1B71D7FEF10E}"/>
              </a:ext>
            </a:extLst>
          </p:cNvPr>
          <p:cNvSpPr txBox="1"/>
          <p:nvPr/>
        </p:nvSpPr>
        <p:spPr>
          <a:xfrm>
            <a:off x="7795604" y="5796922"/>
            <a:ext cx="4237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ААНОАТ-ын тухай хууль /Шинэчилсэн найруулга/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2019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45224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B9F9-7F42-5948-C083-E15663F4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" y="136526"/>
            <a:ext cx="11746236" cy="745217"/>
          </a:xfrm>
        </p:spPr>
        <p:txBody>
          <a:bodyPr>
            <a:normAutofit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Орлого, ашгийн тооцоо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A8A479-DE2A-B1CF-40D7-4F33321540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784407"/>
              </p:ext>
            </p:extLst>
          </p:nvPr>
        </p:nvGraphicFramePr>
        <p:xfrm>
          <a:off x="175257" y="881743"/>
          <a:ext cx="11746233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778">
                  <a:extLst>
                    <a:ext uri="{9D8B030D-6E8A-4147-A177-3AD203B41FA5}">
                      <a16:colId xmlns:a16="http://schemas.microsoft.com/office/drawing/2014/main" val="2208232237"/>
                    </a:ext>
                  </a:extLst>
                </a:gridCol>
                <a:gridCol w="7806505">
                  <a:extLst>
                    <a:ext uri="{9D8B030D-6E8A-4147-A177-3AD203B41FA5}">
                      <a16:colId xmlns:a16="http://schemas.microsoft.com/office/drawing/2014/main" val="2344057573"/>
                    </a:ext>
                  </a:extLst>
                </a:gridCol>
                <a:gridCol w="3270950">
                  <a:extLst>
                    <a:ext uri="{9D8B030D-6E8A-4147-A177-3AD203B41FA5}">
                      <a16:colId xmlns:a16="http://schemas.microsoft.com/office/drawing/2014/main" val="1379393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Үзүүлэлт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Нийт дүн, мян.төг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53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Нийт борлуулалтын орлого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80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Үйлдвэрлэл үйл ажиллагааны нийт зардал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74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Нийт ашиг /татварын өмнөх ашиг/ </a:t>
                      </a:r>
                      <a:r>
                        <a:rPr lang="mn-M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/1-2/</a:t>
                      </a:r>
                      <a:endParaRPr lang="en-US" sz="24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58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Орлогын албан татвар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87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Цэвэр ашиг </a:t>
                      </a:r>
                      <a:r>
                        <a:rPr lang="mn-M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/3-4/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515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Хөрөнгө оруулалтын зардлыг нөхөх нөөц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04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Үйл ажиллагааны зардлын санхүүжилт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803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Хуримтлал </a:t>
                      </a:r>
                      <a:r>
                        <a:rPr lang="mn-MN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/5-6-7/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32949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5F95A47-0371-38A7-E507-73785130673F}"/>
              </a:ext>
            </a:extLst>
          </p:cNvPr>
          <p:cNvSpPr txBox="1"/>
          <p:nvPr/>
        </p:nvSpPr>
        <p:spPr>
          <a:xfrm>
            <a:off x="175260" y="5141595"/>
            <a:ext cx="1174623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mn-MN" sz="2400">
                <a:latin typeface="Times New Roman" panose="02020603050405020304" pitchFamily="18" charset="0"/>
                <a:cs typeface="Times New Roman" panose="02020603050405020304" pitchFamily="18" charset="0"/>
              </a:rPr>
              <a:t>Энэхүү тооцоолол болон ААН-н борлуулалтын таамаглал, инфляцийн түвшин зэрэг үзүүлэлтүүдийг үндэслэн тухайн ААН-н төсөл хэрэгжүүлзх хугацааны санхүүгийн төлөвлөлтийг хийж гүйцэтгэнэ. </a:t>
            </a:r>
          </a:p>
        </p:txBody>
      </p:sp>
    </p:spTree>
    <p:extLst>
      <p:ext uri="{BB962C8B-B14F-4D97-AF65-F5344CB8AC3E}">
        <p14:creationId xmlns:p14="http://schemas.microsoft.com/office/powerpoint/2010/main" val="3151064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40AD-7685-96B3-E577-B5873CCB2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014" y="808264"/>
            <a:ext cx="2193471" cy="5241471"/>
          </a:xfrm>
        </p:spPr>
        <p:txBody>
          <a:bodyPr>
            <a:normAutofit/>
          </a:bodyPr>
          <a:lstStyle/>
          <a:p>
            <a:pPr algn="ctr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Орлого, ашгийн тооцоо</a:t>
            </a:r>
            <a:b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ХК-н орлогын тайлан </a:t>
            </a:r>
            <a:b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/2023 оны байдлаар/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58F10B-C7E1-A094-EF87-62B9ADA3EA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6774066"/>
              </p:ext>
            </p:extLst>
          </p:nvPr>
        </p:nvGraphicFramePr>
        <p:xfrm>
          <a:off x="2525486" y="14151"/>
          <a:ext cx="9584869" cy="68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956">
                  <a:extLst>
                    <a:ext uri="{9D8B030D-6E8A-4147-A177-3AD203B41FA5}">
                      <a16:colId xmlns:a16="http://schemas.microsoft.com/office/drawing/2014/main" val="2208232237"/>
                    </a:ext>
                  </a:extLst>
                </a:gridCol>
                <a:gridCol w="6445828">
                  <a:extLst>
                    <a:ext uri="{9D8B030D-6E8A-4147-A177-3AD203B41FA5}">
                      <a16:colId xmlns:a16="http://schemas.microsoft.com/office/drawing/2014/main" val="2344057573"/>
                    </a:ext>
                  </a:extLst>
                </a:gridCol>
                <a:gridCol w="2480085">
                  <a:extLst>
                    <a:ext uri="{9D8B030D-6E8A-4147-A177-3AD203B41FA5}">
                      <a16:colId xmlns:a16="http://schemas.microsoft.com/office/drawing/2014/main" val="1379393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Үзүүлэлт 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Нийт дүн, сая.төг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53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Нийт борлуулалтын орлого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3560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807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Борлуулсан бүтээгдэхүүний өртөг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039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Нийт ашиг /татварын өмнөх ашиг/ </a:t>
                      </a:r>
                      <a:r>
                        <a:rPr lang="mn-MN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/1-2/</a:t>
                      </a:r>
                      <a:endParaRPr lang="en-US" sz="2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97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Үйл ажиллагааны нийт зард</a:t>
                      </a: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лууд: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749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93788" indent="0"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Борлуулалтын зардал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47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93788" indent="0"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Удирдлагын зардал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88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1093788"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Элэгдлийн зардал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550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Нийт үйл ажиллагааны зардал /</a:t>
                      </a:r>
                      <a:r>
                        <a:rPr lang="mn-MN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5+6+7</a:t>
                      </a: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915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Үйл ажиллагааны ашиг </a:t>
                      </a:r>
                      <a:r>
                        <a:rPr lang="mn-MN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/3-8/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941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10937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Хүүний зардал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13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Нийт ашиг /Татварын өмнөх ашиг/ </a:t>
                      </a:r>
                      <a:r>
                        <a:rPr lang="mn-MN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/9-10/</a:t>
                      </a:r>
                      <a:endParaRPr lang="en-US" sz="2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582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1093788"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Орлогын албан татвар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87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Цэвэр ашиг /Татварын дараах ашиг/ </a:t>
                      </a:r>
                      <a:r>
                        <a:rPr lang="mn-MN" sz="2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/11-12/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486</a:t>
                      </a:r>
                      <a:r>
                        <a:rPr lang="mn-M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.0</a:t>
                      </a:r>
                      <a:endParaRPr lang="en-US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515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571500"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Давуу эрхтэй хувьцааны ноогдол ашиг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04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571500" algn="l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Энгийн хувьцаанд хуваарилах боломжит ашиг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482.0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803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056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2B52-967A-D460-D113-3A567B7A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4832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</a:rPr>
              <a:t>Хугарлын цэгийн шинжилгээ </a:t>
            </a:r>
            <a:r>
              <a:rPr lang="en-US" b="1" dirty="0">
                <a:solidFill>
                  <a:srgbClr val="002060"/>
                </a:solidFill>
              </a:rPr>
              <a:t/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Breakeven Point – BEP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DF741-F130-E38E-2009-9A278BCDA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07" y="1420586"/>
            <a:ext cx="11250386" cy="5290457"/>
          </a:xfrm>
        </p:spPr>
        <p:txBody>
          <a:bodyPr>
            <a:normAutofit lnSpcReduction="10000"/>
          </a:bodyPr>
          <a:lstStyle/>
          <a:p>
            <a:r>
              <a:rPr lang="mn-MN" b="1" dirty="0">
                <a:solidFill>
                  <a:srgbClr val="002060"/>
                </a:solidFill>
              </a:rPr>
              <a:t>Хугарлын цэгийн шинжилгээ </a:t>
            </a:r>
            <a:r>
              <a:rPr lang="mn-MN" dirty="0">
                <a:solidFill>
                  <a:srgbClr val="002060"/>
                </a:solidFill>
              </a:rPr>
              <a:t>– Эдийн засгийн солилцоо тэнцвэржсэн байх шалгуур хүчин зүйлийн утгыг тодорхойлдог. </a:t>
            </a:r>
          </a:p>
          <a:p>
            <a:pPr lvl="1"/>
            <a:r>
              <a:rPr lang="mn-MN" dirty="0">
                <a:solidFill>
                  <a:srgbClr val="002060"/>
                </a:solidFill>
              </a:rPr>
              <a:t>Энэ нь зарим нөхцөлд төслийн эдийн засаг нь түүний үнэлгээнд байх анхны капитал хөрөнгө оруулалт, хүүний түвшин, үнэлгээний хугацаа болон бусад хувьсагчуудын өөрчлөлтөд хэр мэдрэмжтэй байгааг тайлбарлахад ач тустай. </a:t>
            </a:r>
          </a:p>
          <a:p>
            <a:r>
              <a:rPr lang="mn-MN" dirty="0">
                <a:solidFill>
                  <a:srgbClr val="002060"/>
                </a:solidFill>
              </a:rPr>
              <a:t>Инженерчлэлийн төслийн хоёр хувилбар (эсвэл үр дүн)-аас сонголт хийх үед нэг хүчин зүйлээс мэдэгдэхүйц хамаарч байвал энэ хүчин зүйлийн утгын шийдлийг гаргаж болох бөгөөд энэ утга дээрээ үндэслээд дүгнэлт хийнэ. </a:t>
            </a:r>
          </a:p>
          <a:p>
            <a:r>
              <a:rPr lang="mn-MN" dirty="0">
                <a:solidFill>
                  <a:srgbClr val="002060"/>
                </a:solidFill>
              </a:rPr>
              <a:t>Энэ утгыг </a:t>
            </a:r>
            <a:r>
              <a:rPr lang="mn-MN" b="1" dirty="0">
                <a:solidFill>
                  <a:srgbClr val="002060"/>
                </a:solidFill>
              </a:rPr>
              <a:t>хугарлын цэг </a:t>
            </a:r>
            <a:r>
              <a:rPr lang="mn-MN" dirty="0">
                <a:solidFill>
                  <a:srgbClr val="002060"/>
                </a:solidFill>
              </a:rPr>
              <a:t>гэх ба </a:t>
            </a:r>
            <a:r>
              <a:rPr lang="mn-MN" b="1" dirty="0">
                <a:solidFill>
                  <a:srgbClr val="002060"/>
                </a:solidFill>
              </a:rPr>
              <a:t>хоёр хувилбарын хооронд ялгаа байхгүй байх утг</a:t>
            </a:r>
            <a:r>
              <a:rPr lang="mn-MN" dirty="0">
                <a:solidFill>
                  <a:srgbClr val="002060"/>
                </a:solidFill>
              </a:rPr>
              <a:t>ыг илэрхийлнэ. </a:t>
            </a:r>
          </a:p>
          <a:p>
            <a:r>
              <a:rPr lang="mn-MN" dirty="0">
                <a:solidFill>
                  <a:srgbClr val="002060"/>
                </a:solidFill>
              </a:rPr>
              <a:t>Улмаар, </a:t>
            </a:r>
            <a:r>
              <a:rPr lang="mn-MN" b="1" dirty="0">
                <a:solidFill>
                  <a:srgbClr val="002060"/>
                </a:solidFill>
              </a:rPr>
              <a:t>хэрвээ ерөнхий хүчин зүйлийн бодит үр дүнгийн хамгийн сайн үнэлгээ хугарлын цэгээс дээшээ байвал, тэр хувилбарыг хамгийн сайн хувилбар </a:t>
            </a:r>
            <a:r>
              <a:rPr lang="mn-MN" dirty="0">
                <a:solidFill>
                  <a:srgbClr val="002060"/>
                </a:solidFill>
              </a:rPr>
              <a:t>гэж үзнэ.</a:t>
            </a:r>
          </a:p>
          <a:p>
            <a:endParaRPr lang="mn-MN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952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2B52-967A-D460-D113-3A567B7A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51402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</a:rPr>
              <a:t>Хугарлын цэгийн шинжилгээ </a:t>
            </a:r>
            <a:r>
              <a:rPr lang="en-US" b="1" dirty="0">
                <a:solidFill>
                  <a:srgbClr val="002060"/>
                </a:solidFill>
              </a:rPr>
              <a:t/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Breakeven Point – BEP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DF741-F130-E38E-2009-9A278BCDA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0807" y="1616528"/>
                <a:ext cx="11250386" cy="4876345"/>
              </a:xfrm>
            </p:spPr>
            <p:txBody>
              <a:bodyPr>
                <a:normAutofit/>
              </a:bodyPr>
              <a:lstStyle/>
              <a:p>
                <a:r>
                  <a:rPr lang="mn-MN" dirty="0">
                    <a:solidFill>
                      <a:srgbClr val="002060"/>
                    </a:solidFill>
                  </a:rPr>
                  <a:t>Хугарлын цэгийг математик томъёогоор илэрхийлбэл: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𝐸𝑊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mn-MN" sz="2800" dirty="0">
                    <a:solidFill>
                      <a:srgbClr val="002060"/>
                    </a:solidFill>
                  </a:rPr>
                  <a:t>ба</a:t>
                </a:r>
                <a:r>
                  <a:rPr lang="mn-MN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mn-MN" sz="2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𝐸𝑊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= A </a:t>
                </a:r>
                <a:r>
                  <a:rPr lang="mn-MN" dirty="0">
                    <a:solidFill>
                      <a:srgbClr val="002060"/>
                    </a:solidFill>
                  </a:rPr>
                  <a:t>хувилбарын цэвэр мөнгөн урсгалын тооцоолсон үнэ цэн</a:t>
                </a:r>
                <a:r>
                  <a:rPr lang="en-US" dirty="0">
                    <a:solidFill>
                      <a:srgbClr val="002060"/>
                    </a:solidFill>
                  </a:rPr>
                  <a:t>; </a:t>
                </a:r>
                <a:endParaRPr lang="mn-MN" dirty="0">
                  <a:solidFill>
                    <a:srgbClr val="00206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mn-MN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𝐸𝑊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= B </a:t>
                </a:r>
                <a:r>
                  <a:rPr lang="mn-MN" dirty="0">
                    <a:solidFill>
                      <a:srgbClr val="002060"/>
                    </a:solidFill>
                  </a:rPr>
                  <a:t>хувилбарын цэвэр мөнгөн урсгалын тооцоолсон үнэ цэн;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= A </a:t>
                </a:r>
                <a:r>
                  <a:rPr lang="mn-MN" dirty="0">
                    <a:solidFill>
                      <a:srgbClr val="002060"/>
                    </a:solidFill>
                  </a:rPr>
                  <a:t>болон </a:t>
                </a:r>
                <a:r>
                  <a:rPr lang="en-US" dirty="0">
                    <a:solidFill>
                      <a:srgbClr val="002060"/>
                    </a:solidFill>
                  </a:rPr>
                  <a:t>B </a:t>
                </a:r>
                <a:r>
                  <a:rPr lang="mn-MN" dirty="0">
                    <a:solidFill>
                      <a:srgbClr val="002060"/>
                    </a:solidFill>
                  </a:rPr>
                  <a:t>хувилбарын үнэ цэнэд нөлөөлөх хүүний хүчин зүйл.</a:t>
                </a:r>
              </a:p>
              <a:p>
                <a:r>
                  <a:rPr lang="mn-MN" dirty="0">
                    <a:solidFill>
                      <a:srgbClr val="002060"/>
                    </a:solidFill>
                  </a:rPr>
                  <a:t>Иймээс, </a:t>
                </a:r>
                <a:r>
                  <a:rPr lang="en-US" dirty="0">
                    <a:solidFill>
                      <a:srgbClr val="002060"/>
                    </a:solidFill>
                  </a:rPr>
                  <a:t>A </a:t>
                </a:r>
                <a:r>
                  <a:rPr lang="mn-MN" dirty="0">
                    <a:solidFill>
                      <a:srgbClr val="002060"/>
                    </a:solidFill>
                  </a:rPr>
                  <a:t>болон </a:t>
                </a:r>
                <a:r>
                  <a:rPr lang="en-US" dirty="0">
                    <a:solidFill>
                      <a:srgbClr val="002060"/>
                    </a:solidFill>
                  </a:rPr>
                  <a:t>B </a:t>
                </a:r>
                <a:r>
                  <a:rPr lang="mn-MN" dirty="0">
                    <a:solidFill>
                      <a:srgbClr val="002060"/>
                    </a:solidFill>
                  </a:rPr>
                  <a:t>хувилбарын хоорондох хугарлын цэг нь хоёр хувилбарын эквивалент үнэ цэнүүд тэнцэх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:r>
                  <a:rPr lang="mn-MN" dirty="0">
                    <a:solidFill>
                      <a:srgbClr val="002060"/>
                    </a:solidFill>
                  </a:rPr>
                  <a:t>хүчин зүйлийн утга юм. </a:t>
                </a:r>
              </a:p>
              <a:p>
                <a:r>
                  <a:rPr lang="mn-MN" dirty="0">
                    <a:solidFill>
                      <a:srgbClr val="002060"/>
                    </a:solidFill>
                  </a:rPr>
                  <a:t>Үүнийг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n-M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𝐸𝑊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mn-M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𝐸𝑊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mn-MN" dirty="0">
                  <a:solidFill>
                    <a:srgbClr val="002060"/>
                  </a:solidFill>
                </a:endParaRPr>
              </a:p>
              <a:p>
                <a:pPr marL="457200" lvl="1" indent="0">
                  <a:buNone/>
                </a:pPr>
                <a:r>
                  <a:rPr lang="mn-MN" dirty="0">
                    <a:solidFill>
                      <a:srgbClr val="002060"/>
                    </a:solidFill>
                  </a:rPr>
                  <a:t>гэж илэрхийлж болох бөгөөд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-</a:t>
                </a:r>
                <a:r>
                  <a:rPr lang="mn-MN" dirty="0">
                    <a:solidFill>
                      <a:srgbClr val="002060"/>
                    </a:solidFill>
                  </a:rPr>
                  <a:t>ийн функцийг бодож олно гэсэн үг юм. </a:t>
                </a:r>
              </a:p>
              <a:p>
                <a:endParaRPr lang="mn-MN" dirty="0">
                  <a:solidFill>
                    <a:srgbClr val="002060"/>
                  </a:solidFill>
                </a:endParaRPr>
              </a:p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DF741-F130-E38E-2009-9A278BCDA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0807" y="1616528"/>
                <a:ext cx="11250386" cy="4876345"/>
              </a:xfrm>
              <a:blipFill>
                <a:blip r:embed="rId3"/>
                <a:stretch>
                  <a:fillRect l="-975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141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2878-A0F5-19C4-3E51-C4A71A31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b="1" dirty="0">
                <a:solidFill>
                  <a:srgbClr val="002060"/>
                </a:solidFill>
              </a:rPr>
              <a:t>Уншиж судлах ном, сурах бичиг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ECD2-1478-C382-3CB4-7AE5501AC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mn-MN" sz="3200" dirty="0">
                <a:solidFill>
                  <a:srgbClr val="002060"/>
                </a:solidFill>
              </a:rPr>
              <a:t>А.Еркеш, Нягтлан бодох бүртгэл, 2016,</a:t>
            </a:r>
          </a:p>
          <a:p>
            <a:r>
              <a:rPr lang="mn-MN" sz="3200" dirty="0">
                <a:solidFill>
                  <a:srgbClr val="002060"/>
                </a:solidFill>
              </a:rPr>
              <a:t>П.Одмаа, Бизнес төсөл боловсруулах аргачилсан зөвлөмж”, 2011</a:t>
            </a:r>
          </a:p>
          <a:p>
            <a:r>
              <a:rPr lang="mn-MN" sz="3200" dirty="0">
                <a:solidFill>
                  <a:srgbClr val="002060"/>
                </a:solidFill>
              </a:rPr>
              <a:t>Д.Алтанцэцэг, Зардлын бүртгэл, 2005</a:t>
            </a:r>
          </a:p>
          <a:p>
            <a:r>
              <a:rPr lang="mn-MN" sz="3200" dirty="0">
                <a:solidFill>
                  <a:srgbClr val="002060"/>
                </a:solidFill>
              </a:rPr>
              <a:t>Г.Алтанзаяа, Г.Мөнхзул, Зардлын бүртгэл, УБ 2009</a:t>
            </a:r>
          </a:p>
          <a:p>
            <a:r>
              <a:rPr lang="mn-MN" sz="3200" dirty="0">
                <a:solidFill>
                  <a:srgbClr val="002060"/>
                </a:solidFill>
              </a:rPr>
              <a:t>А.Саранчимэг, П. Жавзмаа, Зардлын бүртгэл, </a:t>
            </a:r>
          </a:p>
          <a:p>
            <a:r>
              <a:rPr lang="mn-MN" sz="3200" dirty="0">
                <a:solidFill>
                  <a:srgbClr val="002060"/>
                </a:solidFill>
              </a:rPr>
              <a:t>Ж.Ариунболд, Өртгийн удирдлага, УБ 2019 </a:t>
            </a:r>
          </a:p>
        </p:txBody>
      </p:sp>
    </p:spTree>
    <p:extLst>
      <p:ext uri="{BB962C8B-B14F-4D97-AF65-F5344CB8AC3E}">
        <p14:creationId xmlns:p14="http://schemas.microsoft.com/office/powerpoint/2010/main" val="8375632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B99C4FA-7FF9-AF4B-1EC1-2FF43FDE8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20612"/>
            <a:ext cx="10905066" cy="3816774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642163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F8203B93-1411-4D0F-B342-9F6F1CB4E1ED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12\u001E{5CDD3A6F-82E0-49E5-B476-77BB91554EEC}&quot;,&quot;D:\\F.CN104_Print_Last2019.10.10\\S.EEM101_2023-24.B_Ts.Baljinnyam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S.EEM101_Lecture08_2023-24.B_ByTs.B_2024.03.17"/>
  <p:tag name="ISPRING_FIRST_PUBLI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4348</TotalTime>
  <Words>2890</Words>
  <Application>Microsoft Office PowerPoint</Application>
  <PresentationFormat>Widescreen</PresentationFormat>
  <Paragraphs>513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Malgun Gothic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Лекц 8. Өртөг, үнэ, ашгийн тооцоо</vt:lpstr>
      <vt:lpstr>Хичээлийн суралцахуйн үр дүнгүүд  Оюутан энэ сэдвийг судалснаар дараах ур чадваруудтай болсон байна. </vt:lpstr>
      <vt:lpstr>Хичээлийн агуулга </vt:lpstr>
      <vt:lpstr>Өмнөх хичээлээс ...</vt:lpstr>
      <vt:lpstr>Өртгийн объект</vt:lpstr>
      <vt:lpstr>Өртгийн объектийн ангилал</vt:lpstr>
      <vt:lpstr>Өртгийн объектийн ангилал</vt:lpstr>
      <vt:lpstr>Нэгж бүтээгдэхүүний өөрийн өртөг тооцох аргачлал</vt:lpstr>
      <vt:lpstr>Нэгж бүтээгдэхүүний өөрийн өртөг тооцох аргачлал</vt:lpstr>
      <vt:lpstr>Нэгж бүтээгдэхүүний өөрийн өртөг тооцох аргачлал Ажлын захиалгын аргаар өртөг тооцох систем</vt:lpstr>
      <vt:lpstr>Нэгж бүтээгдэхүүний өөрийн өртөг тооцох аргачлал Технологийн буюу үйлдвэрлэлийн үе шатны аргаар өртөг тооцох систем</vt:lpstr>
      <vt:lpstr>Нэгж бүтээгдэхүүний өөрийн өртөг тооцох аргачлал Технологийн буюу үйлдвэрлэлийн үе шатны аргаар өртөг тооцох систем –  Дундаж зардлын арга</vt:lpstr>
      <vt:lpstr>Нэгж бүтээгдэхүүний өөрийн өртөг тооцох аргачлал Технологийн буюу үйлдвэрлэлийн үе шатны аргаар өртөг тооцох систем – Дундаж зардлын арга</vt:lpstr>
      <vt:lpstr>Нэгж бүтээгдэхүүний өөрийн өртөг тооцох аргачлал Технологийн буюу үйлдвэрлэлийн үе шатны аргаар өртөг тооцох систем – Эквивалент тооцооны арга</vt:lpstr>
      <vt:lpstr>Нэгж бүтээгдэхүүний өөрийн өртөг тооцох аргачлал Технологийн буюу үйлдвэрлэлийн үе шатны аргаар өртөг тооцох систем – Эквивалент тооцооны арга</vt:lpstr>
      <vt:lpstr>Нэгж бүтээгдэхүүний өөрийн өртөг тооцох аргачлал Технологийн буюу үйлдвэрлэлийн үе шатны аргаар өртөг тооцох систем – Хувийн жингээр тооцох арга</vt:lpstr>
      <vt:lpstr>Нэгж бүтээгдэхүүний өөрийн өртөг тооцох аргачлал Технологийн буюу үйлдвэрлэлийн үе шатны аргаар өртөг тооцох систем – Хувийн жингээр тооцох арга</vt:lpstr>
      <vt:lpstr>Өмнөх хичээлээс ... Маркетингийн 4P – Үнэ</vt:lpstr>
      <vt:lpstr>Бүтээгдэхүүний үнэ тогтоох аргууд</vt:lpstr>
      <vt:lpstr>Бүтээгдэхүүний үнэ тогтоох алхамууд</vt:lpstr>
      <vt:lpstr>Бүтээгдэхүүний үнэ тогтоох гурван С – 3C загвар</vt:lpstr>
      <vt:lpstr>Бүтээгдэхүүний үнэ тогтоох алхамууд</vt:lpstr>
      <vt:lpstr>Бүтээгдэхүүний үнэ тогтоох алхамууд</vt:lpstr>
      <vt:lpstr>Бүтээгдэхүүний үнэ ба чанарын хослол, баримтлах стратеги</vt:lpstr>
      <vt:lpstr>Нэгж бүтээгдэхүүний үнэ тогтоох аргачлал</vt:lpstr>
      <vt:lpstr>Нэгж бүтээгдэхүүний үнэ тогтоох аргачлал</vt:lpstr>
      <vt:lpstr>Нэгж бүтээгдэхүүний үнэ тогтоох аргачлал</vt:lpstr>
      <vt:lpstr>Орлого, ашгийн тооцоо</vt:lpstr>
      <vt:lpstr>Орлого, ашгийн тооцоо</vt:lpstr>
      <vt:lpstr>Орлого, ашгийн тооцоо</vt:lpstr>
      <vt:lpstr>Орлого, ашгийн тооцоо “MP” ХК-н орлогын тайлан  /2023 оны байдлаар/</vt:lpstr>
      <vt:lpstr>Хугарлын цэгийн шинжилгээ  Breakeven Point – BEP</vt:lpstr>
      <vt:lpstr>Хугарлын цэгийн шинжилгээ  Breakeven Point – BEP</vt:lpstr>
      <vt:lpstr>Уншиж судлах ном, сурах бичиг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S.EEM101_Lecture08_2023-24.B_ByTs.B_2024.03.17</dc:title>
  <dc:creator>Oyu Chuluun</dc:creator>
  <cp:lastModifiedBy>131</cp:lastModifiedBy>
  <cp:revision>225</cp:revision>
  <cp:lastPrinted>2024-03-11T05:14:51Z</cp:lastPrinted>
  <dcterms:created xsi:type="dcterms:W3CDTF">2023-09-05T14:21:28Z</dcterms:created>
  <dcterms:modified xsi:type="dcterms:W3CDTF">2025-03-11T21:18:32Z</dcterms:modified>
</cp:coreProperties>
</file>