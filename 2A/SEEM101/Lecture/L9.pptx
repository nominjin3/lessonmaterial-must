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419" r:id="rId2"/>
    <p:sldId id="348" r:id="rId3"/>
    <p:sldId id="257" r:id="rId4"/>
    <p:sldId id="393" r:id="rId5"/>
    <p:sldId id="380" r:id="rId6"/>
    <p:sldId id="395" r:id="rId7"/>
    <p:sldId id="396" r:id="rId8"/>
    <p:sldId id="394" r:id="rId9"/>
    <p:sldId id="397" r:id="rId10"/>
    <p:sldId id="398" r:id="rId11"/>
    <p:sldId id="399" r:id="rId12"/>
    <p:sldId id="400" r:id="rId13"/>
    <p:sldId id="401" r:id="rId14"/>
    <p:sldId id="402" r:id="rId15"/>
    <p:sldId id="403" r:id="rId16"/>
    <p:sldId id="404" r:id="rId17"/>
    <p:sldId id="405" r:id="rId18"/>
    <p:sldId id="406" r:id="rId19"/>
    <p:sldId id="407" r:id="rId20"/>
    <p:sldId id="408" r:id="rId21"/>
    <p:sldId id="409" r:id="rId22"/>
    <p:sldId id="410" r:id="rId23"/>
    <p:sldId id="411" r:id="rId24"/>
    <p:sldId id="412" r:id="rId25"/>
    <p:sldId id="414" r:id="rId26"/>
    <p:sldId id="413" r:id="rId27"/>
    <p:sldId id="415" r:id="rId28"/>
    <p:sldId id="379" r:id="rId29"/>
    <p:sldId id="286" r:id="rId30"/>
  </p:sldIdLst>
  <p:sldSz cx="12192000" cy="6858000"/>
  <p:notesSz cx="7315200" cy="96012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1230" autoAdjust="0"/>
  </p:normalViewPr>
  <p:slideViewPr>
    <p:cSldViewPr snapToGrid="0">
      <p:cViewPr varScale="1">
        <p:scale>
          <a:sx n="66" d="100"/>
          <a:sy n="66" d="100"/>
        </p:scale>
        <p:origin x="10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C622D43-C65E-428A-89C7-8C19C0C28B05}" type="datetimeFigureOut">
              <a:rPr lang="en-US" smtClean="0"/>
              <a:t>4/1/2025</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a:t>
            </a:fld>
            <a:endParaRPr lang="en-US" dirty="0"/>
          </a:p>
        </p:txBody>
      </p:sp>
    </p:spTree>
    <p:extLst>
      <p:ext uri="{BB962C8B-B14F-4D97-AF65-F5344CB8AC3E}">
        <p14:creationId xmlns:p14="http://schemas.microsoft.com/office/powerpoint/2010/main" val="4112386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2487023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1086776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3540023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n-MN" dirty="0">
              <a:solidFill>
                <a:srgbClr val="002060"/>
              </a:solidFill>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2030268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solidFill>
                  <a:srgbClr val="002060"/>
                </a:solidFill>
              </a:rPr>
              <a:t>Энэ 2 тохиолдлын аль алинд компанийн үнэ цэнэ буурдаг тул хувь нийлүүлэгчдийн хөрөнгө баялагийг нэмэгдүүлэх гэсэн зорилгодоо хүрч чадахгүй болно. </a:t>
            </a:r>
          </a:p>
        </p:txBody>
      </p:sp>
      <p:sp>
        <p:nvSpPr>
          <p:cNvPr id="4" name="Slide Number Placeholder 3"/>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1431792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n-MN" dirty="0">
              <a:solidFill>
                <a:srgbClr val="002060"/>
              </a:solidFill>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3103852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dirty="0">
                <a:solidFill>
                  <a:srgbClr val="002060"/>
                </a:solidFill>
              </a:rPr>
              <a:t>Өөрөөр хэлбэл компанийн үйл ажиллагааны циклд оролцож буй элементүүд юм. Тухайлбал, бэлэн мөнгөөр түүхий эд материал худалдан авч түүнийг боловсруулж бэлэн бүтээгдэхүүн болгон худалдахад дансны авлага үүснэ. Авлагын мөнгө орж ирэхэд гар дээр дахин бэлэн мөнгө бий болно. Үүнийг үйл ажиллагааны нэгэн орчил буюу цикл гэж үздэг.</a:t>
            </a:r>
          </a:p>
          <a:p>
            <a:endParaRPr lang="mn-MN" dirty="0"/>
          </a:p>
          <a:p>
            <a:r>
              <a:rPr lang="mn-MN" dirty="0"/>
              <a:t>Эргэлтийн хөрөнгийг санхүүжүүлж буй эх үүсвэр болох эргэлтийн эх үүсвэрүүд нь нэг жилийн дотор төлж барагдуулах өр төлбөрүүд байна. Эдгээр нь бэлтгэн нийлүүлэгчид, банк, ажиллагсад, засгийн газарт төлөх төлбөрүүд юм.</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1913142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n-MN" dirty="0">
              <a:solidFill>
                <a:srgbClr val="002060"/>
              </a:solidFill>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2234366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n-MN" dirty="0">
              <a:solidFill>
                <a:srgbClr val="002060"/>
              </a:solidFill>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2298412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3308968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698123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b="1" dirty="0"/>
              <a:t>Релакс</a:t>
            </a:r>
            <a:r>
              <a:rPr lang="mn-MN" dirty="0"/>
              <a:t> – Борлуулалтыг дэмжих их хэмжээний мөнгөтэй, үнэт цаастай, бараа материалтай, бас зээлийн либерал (чөлөөтэй) бодлого явуулдаг учир авлага ихтэйг харуулж байна. Үүнийг эргэлтийн активт хийх хөрөнгө оруулалтын </a:t>
            </a:r>
            <a:r>
              <a:rPr lang="mn-MN" b="1" dirty="0"/>
              <a:t>релакс</a:t>
            </a:r>
            <a:r>
              <a:rPr lang="mn-MN" dirty="0"/>
              <a:t> буюу дээд хэмжээний бодлого (</a:t>
            </a:r>
            <a:r>
              <a:rPr lang="en-US" dirty="0"/>
              <a:t>relaxed current asset policy) </a:t>
            </a:r>
            <a:r>
              <a:rPr lang="mn-MN" dirty="0"/>
              <a:t>гэдэг ба зах зээлийн орнуудад “тарган муур” (</a:t>
            </a:r>
            <a:r>
              <a:rPr lang="en-US" dirty="0"/>
              <a:t>fat cat) </a:t>
            </a:r>
            <a:r>
              <a:rPr lang="mn-MN" dirty="0"/>
              <a:t>гэж бас хэлдэг. Энэ үед мөнгөн хөрөнгө, түргэн борлогдох үнэт цаас, авлага болон бараа материалын дансны үлдэгдлийн харьцангуй өндөр үзүүлэлт барьдаг. </a:t>
            </a:r>
          </a:p>
          <a:p>
            <a:r>
              <a:rPr lang="mn-MN" b="1" dirty="0"/>
              <a:t>Рестрикт</a:t>
            </a:r>
            <a:r>
              <a:rPr lang="mn-MN" dirty="0"/>
              <a:t> – Харин эргэлтийн активыг хамгийн багаар байлгах дараагийн бодлогыг эргэлтийн активт хийх хөрөнгө оруулалтын рестрикт буюу доод хэмжээний бодлого (“</a:t>
            </a:r>
            <a:r>
              <a:rPr lang="en-US" dirty="0"/>
              <a:t>lean-and-mean” (</a:t>
            </a:r>
            <a:r>
              <a:rPr lang="mn-MN" dirty="0"/>
              <a:t>туранхай ч шөрмөстэй)) (</a:t>
            </a:r>
            <a:r>
              <a:rPr lang="en-US" dirty="0"/>
              <a:t>restricted current asset policy) </a:t>
            </a:r>
            <a:r>
              <a:rPr lang="mn-MN" dirty="0"/>
              <a:t>гэдэг ба тэр үед бэлэн мөнгө, түргэн борлогдох үнэт цаас, бараа материал, авлагын дансны үлдэгдэл хамгийн бага түвшинд байлгахыг эрмэлздэг. </a:t>
            </a:r>
          </a:p>
          <a:p>
            <a:r>
              <a:rPr lang="mn-MN" b="1" dirty="0"/>
              <a:t>Модерат</a:t>
            </a:r>
            <a:r>
              <a:rPr lang="mn-MN" dirty="0"/>
              <a:t> – Эргэлтийн активт хийх хорөнгө оруулалтын модерат буюу дунд түвшний бодлого (</a:t>
            </a:r>
            <a:r>
              <a:rPr lang="en-US" dirty="0"/>
              <a:t>moderate current investment policy) - </a:t>
            </a:r>
            <a:r>
              <a:rPr lang="mn-MN" dirty="0"/>
              <a:t>релакс ба рестрикт бодлогын дундыг баримталдаг эргэлтийн активын хөрөнгө оруулалтын бодлого.</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909309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dirty="0">
                <a:solidFill>
                  <a:srgbClr val="002060"/>
                </a:solidFill>
              </a:rPr>
              <a:t>Комланид ашиглаж байсан технологийн өөрчлөлт нь оновчтой бодлогыг өөрчлөхөд хүргэж болохыг аихаарах хэрэгтэй. Жишээ нь, 10 хоног үйлдвэрлэж байсан бүтээгдэхүүнииг шинэ технологийн тусламжтайгаар 5 хоногт үйлдвэрлэдэг боллоо гэе. Энэ үед дуусаагүй үйлдвэрлэлд байсан БМ-ын хэмжээ 2 дахин багасна. </a:t>
            </a:r>
          </a:p>
          <a:p>
            <a:pPr marL="0" marR="0" lvl="0" indent="0" algn="l" defTabSz="914400" rtl="0" eaLnBrk="1" fontAlgn="auto" latinLnBrk="0" hangingPunct="1">
              <a:lnSpc>
                <a:spcPct val="100000"/>
              </a:lnSpc>
              <a:spcBef>
                <a:spcPts val="0"/>
              </a:spcBef>
              <a:spcAft>
                <a:spcPts val="0"/>
              </a:spcAft>
              <a:buClrTx/>
              <a:buSzTx/>
              <a:buFontTx/>
              <a:buNone/>
              <a:tabLst/>
              <a:defRPr/>
            </a:pPr>
            <a:r>
              <a:rPr lang="mn-MN" dirty="0">
                <a:solidFill>
                  <a:srgbClr val="002060"/>
                </a:solidFill>
              </a:rPr>
              <a:t>Өөр нэг жишээ: Бараа материалын бүртгэлийн системийг сайжруулсанаар бараа материалын аюулгүйн нөөцийн хэмжээг бууруулж, бараа материалын оновчтой түвшинг багасгаж, ашгийг нэмэгдүүлж болно. </a:t>
            </a:r>
            <a:endParaRPr lang="en-US" dirty="0">
              <a:solidFill>
                <a:srgbClr val="002060"/>
              </a:solidFill>
            </a:endParaRP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14</a:t>
            </a:fld>
            <a:endParaRPr lang="en-US" dirty="0"/>
          </a:p>
        </p:txBody>
      </p:sp>
    </p:spTree>
    <p:extLst>
      <p:ext uri="{BB962C8B-B14F-4D97-AF65-F5344CB8AC3E}">
        <p14:creationId xmlns:p14="http://schemas.microsoft.com/office/powerpoint/2010/main" val="1844387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15</a:t>
            </a:fld>
            <a:endParaRPr lang="en-US" dirty="0"/>
          </a:p>
        </p:txBody>
      </p:sp>
    </p:spTree>
    <p:extLst>
      <p:ext uri="{BB962C8B-B14F-4D97-AF65-F5344CB8AC3E}">
        <p14:creationId xmlns:p14="http://schemas.microsoft.com/office/powerpoint/2010/main" val="3557485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dirty="0">
                <a:solidFill>
                  <a:srgbClr val="002060"/>
                </a:solidFill>
              </a:rPr>
              <a:t>Жишээ нь,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mn-MN" dirty="0">
                <a:solidFill>
                  <a:srgbClr val="002060"/>
                </a:solidFill>
              </a:rPr>
              <a:t>Барилгын компаниудын үйл ажиллагааны оргил үе бол зуны улирал,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mn-MN" dirty="0">
                <a:solidFill>
                  <a:srgbClr val="002060"/>
                </a:solidFill>
              </a:rPr>
              <a:t>Бэлэг дурсгалын жижиглэнгийн худалдааны оргил үе нь шинэ жил, цагаан </a:t>
            </a:r>
            <a:r>
              <a:rPr lang="en-US" dirty="0">
                <a:solidFill>
                  <a:srgbClr val="002060"/>
                </a:solidFill>
              </a:rPr>
              <a:t>cap </a:t>
            </a:r>
            <a:r>
              <a:rPr lang="mn-MN" dirty="0">
                <a:solidFill>
                  <a:srgbClr val="002060"/>
                </a:solidFill>
              </a:rPr>
              <a:t>гэх мэт.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mn-MN" dirty="0">
                <a:solidFill>
                  <a:srgbClr val="002060"/>
                </a:solidFill>
              </a:rPr>
              <a:t>Үүнийг дагаад барилгын материалын болон бэлэг дурсгалын үйлдвэрлэл нь мөн л улирлын мөчлөгт тааруулан үйлдвэрлэл явуулдаг.</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16</a:t>
            </a:fld>
            <a:endParaRPr lang="en-US" dirty="0"/>
          </a:p>
        </p:txBody>
      </p:sp>
    </p:spTree>
    <p:extLst>
      <p:ext uri="{BB962C8B-B14F-4D97-AF65-F5344CB8AC3E}">
        <p14:creationId xmlns:p14="http://schemas.microsoft.com/office/powerpoint/2010/main" val="2367614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Өөрөөр хэлбэл, бараа материал нь 30 хоногт зарагдаад 30 хоногийн дараа банкнаас авсан зээлээ буцааж төлнө; 5 жил ашиглах хугацаатай машиныг 5 жилийн хугацаатай зээлээр, 20 жилийн хугацаатай барилга байгууламжийг 20 жилийн хугацаатай ипотекийн зээлээр эсвэл моргейжийн бондоор санхүүжүүлнэ гэсэн үг.</a:t>
            </a:r>
          </a:p>
          <a:p>
            <a:r>
              <a:rPr lang="mn-MN" dirty="0"/>
              <a:t>Зээлийн хугацааг зохицуулахад </a:t>
            </a:r>
            <a:r>
              <a:rPr lang="mn-MN" b="1" dirty="0"/>
              <a:t>хоёр хүчин зүйл саад </a:t>
            </a:r>
            <a:r>
              <a:rPr lang="mn-MN" dirty="0"/>
              <a:t>учруулдаг:</a:t>
            </a:r>
          </a:p>
          <a:p>
            <a:pPr marL="228600" indent="-228600">
              <a:buFont typeface="+mj-lt"/>
              <a:buAutoNum type="arabicPeriod"/>
            </a:pPr>
            <a:r>
              <a:rPr lang="mn-MN" b="1" dirty="0"/>
              <a:t>Активын ашиглалтын хугацааны тодорхойгүй байдал. </a:t>
            </a:r>
            <a:r>
              <a:rPr lang="mn-MN" dirty="0"/>
              <a:t>Жишээ нь компани 30 хоногт зарагдана гэж үзээд 30 хоногийн банкны зээлээр бараа авсан гэе. Гэтэл сарын хугацаанд бүх бараа зарагдаагүй болохоор банкны зээлийн хугацаа дуусах үед бүх зээлээ төлж чадахгүйд хүрнэ.</a:t>
            </a:r>
          </a:p>
          <a:p>
            <a:pPr marL="228600" indent="-228600">
              <a:buFont typeface="+mj-lt"/>
              <a:buAutoNum type="arabicPeriod"/>
            </a:pPr>
            <a:r>
              <a:rPr lang="mn-MN" b="1" dirty="0"/>
              <a:t>Хугацаа дуусах үед зээлийн төлбөрт хувь нийлүүлсэн хөрөнгө (эздийн өмч)-ийг ашиглах явдал. </a:t>
            </a:r>
            <a:r>
              <a:rPr lang="mn-MN" dirty="0"/>
              <a:t>Хувь нийлүүлсэн хөрөнгөнд хугацаа байдаггүй.</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2041853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Зураг дээр байнгын тогтмолдуу перманент активын зарим хэсгийн санхүүжилтийг богино хугацаатай өрөөр хийдэг, </a:t>
            </a:r>
            <a:r>
              <a:rPr lang="mn-MN" b="1" dirty="0"/>
              <a:t>харьцангуй агрессив </a:t>
            </a:r>
            <a:r>
              <a:rPr lang="mn-MN" dirty="0"/>
              <a:t>хандлагатай компанийн жишээг харуулав. Зургийн гарчиг дээр харьцангуй агрессив гэснийг анхаарна уу. Учир нь, агрессив байдлын түвшин янз бүр байж болно. Жишээ нь, Зураг дээрх тасархай шулууны байрлалаас харахад түр зуурын болон тогтмолдуу перманент эргэлтийн активын зарим хэсэг нь богино хугацаат өр төлбөрөөр санхүүжсэн байна. Өөрөөр хэлбэл агрессив шинж нь давамгайлсан, эрсдэлтэй, нэмж зээл авах боломж тун бага, авсан тохиолдолд өндөр хүү төлнө. Ер нь богино хугацаатай зээлийн хүү бага учир их ашиг олохын тулд зарим компаниуд аюулгүй байдлаа золиослох тохиолдол гардаг.</a:t>
            </a:r>
          </a:p>
          <a:p>
            <a:r>
              <a:rPr lang="mn-MN" dirty="0"/>
              <a:t>Харьцангуй агрессив бодлого хэрэгжүүлэх нэг шалтгаан нь ашгийн муруйн хазайлт дээш тэмүүлсэн хандлагатай, тэгэхлээр богино хугацаат зээлийн хүү нь урт хугацаат зээлийнхээс доор байршилтай. Эндээс харахад урт хугацаат активыг богино хугацаат зээлээр санхүүжүүлэх нь эрсдэл өндөртэй. Тодорхой болгох үүднээс жишээ авч үзье. Компани эхний жил $1 сая-ын зээл аваад ажиллах хүчний зардлыг 10 жилийн турш жилд $200,000-аар бууруулах тоног төхөөрөмж авлаа. Тоног төхөөрөмжөөс орж ирэх мөнгөн урсгал эхний жилийн зээлийн төлбөрийг хийхэд хүрэлцэхгүй. Тийм болохоор гэрээгээ шинэчлээд дахиад зээл авах хэрэгтэй болно. Хэрэв компанийн хувьд ямар нэгэн санхүүгийн бэрхшээл учирч, зээл олгогч гэрээгээ шинэчлэхээс татгалзвал дампуурах аюул ч ойрхон байж болох юм. Компани 10 жилийн зээлээр санхүүжилт хийж, зээлийн эргэн төлөх хугацаанд нь тохируулан зохих төлбөрийг нь хийх мөнгөн урсгалыг зохицуулж чадвал зээлийн гэрээг дахин шинэчлэх тухай асуудал гарахгүй.</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8063986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3946161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10494309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dirty="0">
                <a:solidFill>
                  <a:srgbClr val="002060"/>
                </a:solidFill>
              </a:rPr>
              <a:t>Учир нь урт хугацааны зээлийн гэрээгээр түрүүлж төлсөн зээлийн төлбөрүүд өрийг бууруулдаг ч гэсэн хугацаа хоцорч төлсөн төлбөрүүдэд гарах торгууль илүү зардал болж эхэлдэг. Бас урт хугацааны зээлээр авсан мөнгөн хөрөнгийг яг юунд, ямар хэмжээтэйгээр зарцуулах вэ гэдгийг гэрээгээр хатуу зааж өгдөг учир өөр зүйлд ашиглаж болдоггүй. Энэ нь буруу хязгаарлалт биш, зээл олгогчийн зүгээс зээлийн хөренгийг хамгаалж байгаагийн нэг хэлбэр юм. Богино хугацаат зээлийн хувьд ийм хязгаарлалт харьцангуй бага.</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604804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22631625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22912070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35324451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16706265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17968896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27</a:t>
            </a:fld>
            <a:endParaRPr lang="en-US" dirty="0"/>
          </a:p>
        </p:txBody>
      </p:sp>
    </p:spTree>
    <p:extLst>
      <p:ext uri="{BB962C8B-B14F-4D97-AF65-F5344CB8AC3E}">
        <p14:creationId xmlns:p14="http://schemas.microsoft.com/office/powerpoint/2010/main" val="35653827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28</a:t>
            </a:fld>
            <a:endParaRPr lang="en-US" dirty="0"/>
          </a:p>
        </p:txBody>
      </p:sp>
    </p:spTree>
    <p:extLst>
      <p:ext uri="{BB962C8B-B14F-4D97-AF65-F5344CB8AC3E}">
        <p14:creationId xmlns:p14="http://schemas.microsoft.com/office/powerpoint/2010/main" val="959082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29</a:t>
            </a:fld>
            <a:endParaRPr lang="en-US" dirty="0"/>
          </a:p>
        </p:txBody>
      </p:sp>
    </p:spTree>
    <p:extLst>
      <p:ext uri="{BB962C8B-B14F-4D97-AF65-F5344CB8AC3E}">
        <p14:creationId xmlns:p14="http://schemas.microsoft.com/office/powerpoint/2010/main" val="3356925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4/1/2025</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4/1/2025</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4490-C09C-F2C1-1BED-C30E9C6493C0}"/>
              </a:ext>
            </a:extLst>
          </p:cNvPr>
          <p:cNvSpPr>
            <a:spLocks noGrp="1"/>
          </p:cNvSpPr>
          <p:nvPr>
            <p:ph type="ctrTitle"/>
          </p:nvPr>
        </p:nvSpPr>
        <p:spPr>
          <a:xfrm>
            <a:off x="806824" y="1264025"/>
            <a:ext cx="10912425" cy="2415436"/>
          </a:xfrm>
        </p:spPr>
        <p:txBody>
          <a:bodyPr>
            <a:noAutofit/>
          </a:bodyPr>
          <a:lstStyle/>
          <a:p>
            <a:r>
              <a:rPr lang="mn-MN" sz="4800" b="1" dirty="0">
                <a:solidFill>
                  <a:srgbClr val="002060"/>
                </a:solidFill>
                <a:latin typeface="Times New Roman" panose="02020603050405020304" pitchFamily="18" charset="0"/>
                <a:cs typeface="Times New Roman" panose="02020603050405020304" pitchFamily="18" charset="0"/>
              </a:rPr>
              <a:t>Лекц 9.</a:t>
            </a:r>
            <a:br>
              <a:rPr lang="en-US" sz="4800" b="1" dirty="0">
                <a:solidFill>
                  <a:srgbClr val="002060"/>
                </a:solidFill>
                <a:latin typeface="Times New Roman" panose="02020603050405020304" pitchFamily="18" charset="0"/>
                <a:cs typeface="Times New Roman" panose="02020603050405020304" pitchFamily="18" charset="0"/>
              </a:rPr>
            </a:br>
            <a:r>
              <a:rPr lang="mn-MN" b="1" dirty="0">
                <a:solidFill>
                  <a:srgbClr val="002060"/>
                </a:solidFill>
                <a:latin typeface="Times New Roman" panose="02020603050405020304" pitchFamily="18" charset="0"/>
                <a:cs typeface="Times New Roman" panose="02020603050405020304" pitchFamily="18" charset="0"/>
              </a:rPr>
              <a:t>Эргэлтийн хөрөнгийн удирдлага</a:t>
            </a:r>
            <a:endParaRPr lang="en-US" sz="4800" b="1"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4687C9-0602-4AB3-C68B-47EB63DFD361}"/>
              </a:ext>
            </a:extLst>
          </p:cNvPr>
          <p:cNvSpPr>
            <a:spLocks noGrp="1"/>
          </p:cNvSpPr>
          <p:nvPr>
            <p:ph type="subTitle" idx="1"/>
          </p:nvPr>
        </p:nvSpPr>
        <p:spPr>
          <a:xfrm>
            <a:off x="1524000" y="5497475"/>
            <a:ext cx="9144000" cy="871267"/>
          </a:xfrm>
        </p:spPr>
        <p:txBody>
          <a:bodyPr>
            <a:normAutofit lnSpcReduction="10000"/>
          </a:bodyPr>
          <a:lstStyle/>
          <a:p>
            <a:r>
              <a:rPr lang="mn-MN" dirty="0">
                <a:solidFill>
                  <a:srgbClr val="002060"/>
                </a:solidFill>
                <a:latin typeface="Times New Roman" panose="02020603050405020304" pitchFamily="18" charset="0"/>
                <a:cs typeface="Times New Roman" panose="02020603050405020304" pitchFamily="18" charset="0"/>
              </a:rPr>
              <a:t>ШУТИС-ийн МХТС, холбооны салбарын багш Ц.Балжинням</a:t>
            </a:r>
          </a:p>
          <a:p>
            <a:r>
              <a:rPr lang="mn-MN" dirty="0">
                <a:solidFill>
                  <a:srgbClr val="002060"/>
                </a:solidFill>
                <a:latin typeface="Times New Roman" panose="02020603050405020304" pitchFamily="18" charset="0"/>
                <a:cs typeface="Times New Roman" panose="02020603050405020304" pitchFamily="18" charset="0"/>
              </a:rPr>
              <a:t>Улаанбаатар хот. 2023-24.Хавар.</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AB551975-1CE2-308D-D250-4B65BD2EFC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458" y="16278"/>
            <a:ext cx="4957464" cy="1363947"/>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493B6D6-2330-40E5-BEBE-D3505B39EAF9}"/>
              </a:ext>
            </a:extLst>
          </p:cNvPr>
          <p:cNvSpPr txBox="1">
            <a:spLocks/>
          </p:cNvSpPr>
          <p:nvPr/>
        </p:nvSpPr>
        <p:spPr>
          <a:xfrm>
            <a:off x="1751012" y="3905250"/>
            <a:ext cx="8689976" cy="133954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a:t>
            </a:r>
            <a:r>
              <a:rPr lang="ru-RU"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a:t>
            </a: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EEM101  </a:t>
            </a:r>
            <a:b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Инженерчлэлийн эдийн засаг</a:t>
            </a:r>
            <a:b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3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745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179293" y="107348"/>
            <a:ext cx="11775141" cy="766711"/>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Хичээлийн суралцахуйн үр дүнгүүд </a:t>
            </a:r>
            <a:br>
              <a:rPr lang="mn-MN" sz="3600" b="1" dirty="0">
                <a:solidFill>
                  <a:srgbClr val="002060"/>
                </a:solidFill>
                <a:latin typeface="Times New Roman" panose="02020603050405020304" pitchFamily="18" charset="0"/>
                <a:cs typeface="Times New Roman" panose="02020603050405020304" pitchFamily="18" charset="0"/>
              </a:rPr>
            </a:br>
            <a:r>
              <a:rPr lang="mn-MN" sz="20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986DB33-ADDE-EE1A-4291-78131A81F414}"/>
              </a:ext>
            </a:extLst>
          </p:cNvPr>
          <p:cNvSpPr>
            <a:spLocks noGrp="1"/>
          </p:cNvSpPr>
          <p:nvPr>
            <p:ph idx="1"/>
          </p:nvPr>
        </p:nvSpPr>
        <p:spPr>
          <a:xfrm>
            <a:off x="179293" y="1731495"/>
            <a:ext cx="11775141" cy="4351338"/>
          </a:xfrm>
        </p:spPr>
        <p:txBody>
          <a:bodyPr/>
          <a:lstStyle/>
          <a:p>
            <a:endParaRPr lang="en-US">
              <a:latin typeface="Times New Roman" panose="02020603050405020304" pitchFamily="18" charset="0"/>
              <a:cs typeface="Times New Roman" panose="02020603050405020304" pitchFamily="18" charset="0"/>
            </a:endParaRPr>
          </a:p>
        </p:txBody>
      </p:sp>
      <p:graphicFrame>
        <p:nvGraphicFramePr>
          <p:cNvPr id="3" name="Table 4">
            <a:extLst>
              <a:ext uri="{FF2B5EF4-FFF2-40B4-BE49-F238E27FC236}">
                <a16:creationId xmlns:a16="http://schemas.microsoft.com/office/drawing/2014/main" id="{A3111A39-998C-32DE-9BFC-8C51E7AF272F}"/>
              </a:ext>
            </a:extLst>
          </p:cNvPr>
          <p:cNvGraphicFramePr>
            <a:graphicFrameLocks/>
          </p:cNvGraphicFramePr>
          <p:nvPr>
            <p:extLst>
              <p:ext uri="{D42A27DB-BD31-4B8C-83A1-F6EECF244321}">
                <p14:modId xmlns:p14="http://schemas.microsoft.com/office/powerpoint/2010/main" val="2912088875"/>
              </p:ext>
            </p:extLst>
          </p:nvPr>
        </p:nvGraphicFramePr>
        <p:xfrm>
          <a:off x="179293" y="874059"/>
          <a:ext cx="11775142" cy="5418517"/>
        </p:xfrm>
        <a:graphic>
          <a:graphicData uri="http://schemas.openxmlformats.org/drawingml/2006/table">
            <a:tbl>
              <a:tblPr firstRow="1" bandRow="1">
                <a:tableStyleId>{5C22544A-7EE6-4342-B048-85BDC9FD1C3A}</a:tableStyleId>
              </a:tblPr>
              <a:tblGrid>
                <a:gridCol w="611511">
                  <a:extLst>
                    <a:ext uri="{9D8B030D-6E8A-4147-A177-3AD203B41FA5}">
                      <a16:colId xmlns:a16="http://schemas.microsoft.com/office/drawing/2014/main" val="78146492"/>
                    </a:ext>
                  </a:extLst>
                </a:gridCol>
                <a:gridCol w="4957890">
                  <a:extLst>
                    <a:ext uri="{9D8B030D-6E8A-4147-A177-3AD203B41FA5}">
                      <a16:colId xmlns:a16="http://schemas.microsoft.com/office/drawing/2014/main" val="2993372031"/>
                    </a:ext>
                  </a:extLst>
                </a:gridCol>
                <a:gridCol w="2811457">
                  <a:extLst>
                    <a:ext uri="{9D8B030D-6E8A-4147-A177-3AD203B41FA5}">
                      <a16:colId xmlns:a16="http://schemas.microsoft.com/office/drawing/2014/main" val="3377302877"/>
                    </a:ext>
                  </a:extLst>
                </a:gridCol>
                <a:gridCol w="2099915">
                  <a:extLst>
                    <a:ext uri="{9D8B030D-6E8A-4147-A177-3AD203B41FA5}">
                      <a16:colId xmlns:a16="http://schemas.microsoft.com/office/drawing/2014/main" val="574671118"/>
                    </a:ext>
                  </a:extLst>
                </a:gridCol>
                <a:gridCol w="1294369">
                  <a:extLst>
                    <a:ext uri="{9D8B030D-6E8A-4147-A177-3AD203B41FA5}">
                      <a16:colId xmlns:a16="http://schemas.microsoft.com/office/drawing/2014/main" val="1155244748"/>
                    </a:ext>
                  </a:extLst>
                </a:gridCol>
              </a:tblGrid>
              <a:tr h="1161540">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дүнгийн түвшин</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1172271">
                <a:tc>
                  <a:txBody>
                    <a:bodyPr/>
                    <a:lstStyle/>
                    <a:p>
                      <a:pPr algn="ctr">
                        <a:lnSpc>
                          <a:spcPct val="115000"/>
                        </a:lnSpc>
                        <a:spcAft>
                          <a:spcPts val="0"/>
                        </a:spcAft>
                      </a:pPr>
                      <a:r>
                        <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mn-MN" sz="2000" dirty="0">
                          <a:solidFill>
                            <a:srgbClr val="002060"/>
                          </a:solidFill>
                          <a:latin typeface="Times New Roman" panose="02020603050405020304" pitchFamily="18" charset="0"/>
                          <a:cs typeface="Times New Roman" panose="02020603050405020304" pitchFamily="18" charset="0"/>
                        </a:rPr>
                        <a:t>Эргэлтийн хөрөнгө ба ажлын капитал бүрэлдэхүүн хэсгүүдийн </a:t>
                      </a:r>
                      <a:r>
                        <a:rPr lang="mn-MN" sz="2000" dirty="0">
                          <a:solidFill>
                            <a:srgbClr val="002060"/>
                          </a:solidFill>
                          <a:effectLst/>
                          <a:latin typeface="Times New Roman" panose="02020603050405020304" pitchFamily="18" charset="0"/>
                          <a:cs typeface="Times New Roman" panose="02020603050405020304" pitchFamily="18" charset="0"/>
                        </a:rPr>
                        <a:t>үндсэн ойлголт,</a:t>
                      </a:r>
                      <a:r>
                        <a:rPr lang="en-US" sz="2000" dirty="0">
                          <a:solidFill>
                            <a:srgbClr val="002060"/>
                          </a:solidFill>
                          <a:effectLst/>
                          <a:latin typeface="Times New Roman" panose="02020603050405020304" pitchFamily="18" charset="0"/>
                          <a:cs typeface="Times New Roman" panose="02020603050405020304" pitchFamily="18" charset="0"/>
                        </a:rPr>
                        <a:t> </a:t>
                      </a:r>
                      <a:r>
                        <a:rPr lang="mn-MN" sz="2000" dirty="0">
                          <a:solidFill>
                            <a:srgbClr val="002060"/>
                          </a:solidFill>
                          <a:effectLst/>
                          <a:latin typeface="Times New Roman" panose="02020603050405020304" pitchFamily="18" charset="0"/>
                          <a:cs typeface="Times New Roman" panose="02020603050405020304" pitchFamily="18" charset="0"/>
                        </a:rPr>
                        <a:t>тайлбарлах, ашиглах</a:t>
                      </a:r>
                      <a:endParaRPr lang="en-US" sz="2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solidFill>
                            <a:srgbClr val="002060"/>
                          </a:solidFill>
                          <a:effectLst/>
                          <a:latin typeface="Times New Roman" panose="02020603050405020304" pitchFamily="18" charset="0"/>
                          <a:cs typeface="Times New Roman" panose="02020603050405020304" pitchFamily="18" charset="0"/>
                        </a:rPr>
                        <a:t>Тайлбарлах </a:t>
                      </a:r>
                      <a:r>
                        <a:rPr lang="en-US" sz="2000" dirty="0">
                          <a:solidFill>
                            <a:srgbClr val="002060"/>
                          </a:solidFill>
                          <a:effectLst/>
                          <a:latin typeface="Times New Roman" panose="02020603050405020304" pitchFamily="18" charset="0"/>
                          <a:cs typeface="Times New Roman" panose="02020603050405020304" pitchFamily="18" charset="0"/>
                        </a:rPr>
                        <a:t>(Explain)</a:t>
                      </a:r>
                      <a:endParaRPr lang="mn-MN" sz="2000" dirty="0">
                        <a:solidFill>
                          <a:srgbClr val="002060"/>
                        </a:solidFill>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mn-MN" sz="2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Хэрэглэх </a:t>
                      </a:r>
                      <a:r>
                        <a:rPr lang="en-US" sz="2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(Apply)</a:t>
                      </a:r>
                      <a:endParaRPr lang="en-US" sz="2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rgbClr val="002060"/>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Хэрэглэх</a:t>
                      </a:r>
                      <a:r>
                        <a:rPr lang="mn-MN" sz="2000" kern="12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2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a:solidFill>
                            <a:srgbClr val="002060"/>
                          </a:solidFill>
                          <a:effectLst/>
                          <a:latin typeface="Times New Roman" panose="02020603050405020304" pitchFamily="18" charset="0"/>
                          <a:cs typeface="Times New Roman" panose="02020603050405020304" pitchFamily="18" charset="0"/>
                        </a:rPr>
                        <a:t>1, 3</a:t>
                      </a:r>
                      <a:endParaRPr lang="en-US" sz="28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954028067"/>
                  </a:ext>
                </a:extLst>
              </a:tr>
              <a:tr h="1172271">
                <a:tc>
                  <a:txBody>
                    <a:bodyPr/>
                    <a:lstStyle/>
                    <a:p>
                      <a:pPr algn="ctr">
                        <a:lnSpc>
                          <a:spcPct val="115000"/>
                        </a:lnSpc>
                        <a:spcAft>
                          <a:spcPts val="0"/>
                        </a:spcAft>
                      </a:pPr>
                      <a:r>
                        <a:rPr lang="en-US" sz="200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p>
                  </a:txBody>
                  <a:tcPr marL="68586" marR="68586" marT="0" marB="0" anchor="ctr">
                    <a:solidFill>
                      <a:schemeClr val="accent1">
                        <a:lumMod val="20000"/>
                        <a:lumOff val="80000"/>
                      </a:schemeClr>
                    </a:solidFill>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mn-MN" sz="2000" dirty="0">
                          <a:solidFill>
                            <a:srgbClr val="002060"/>
                          </a:solidFill>
                          <a:latin typeface="Times New Roman" panose="02020603050405020304" pitchFamily="18" charset="0"/>
                          <a:cs typeface="Times New Roman" panose="02020603050405020304" pitchFamily="18" charset="0"/>
                        </a:rPr>
                        <a:t>Мөнгөн хөрөнгийн шилжилтийн мөчлөг, ажлын капиталын бодлогыг </a:t>
                      </a:r>
                      <a:r>
                        <a:rPr lang="mn-MN" sz="2000" kern="1200" dirty="0">
                          <a:solidFill>
                            <a:srgbClr val="002060"/>
                          </a:solidFill>
                          <a:effectLst/>
                          <a:latin typeface="Times New Roman" panose="02020603050405020304" pitchFamily="18" charset="0"/>
                          <a:ea typeface="+mn-ea"/>
                          <a:cs typeface="Times New Roman" panose="02020603050405020304" pitchFamily="18" charset="0"/>
                        </a:rPr>
                        <a:t>тайлбарлах, ойлгох, ашиглах</a:t>
                      </a:r>
                      <a:endParaRPr lang="en-US" sz="2000" kern="1200" dirty="0">
                        <a:solidFill>
                          <a:srgbClr val="002060"/>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solidFill>
                            <a:srgbClr val="002060"/>
                          </a:solidFill>
                          <a:effectLst/>
                          <a:latin typeface="Times New Roman" panose="02020603050405020304" pitchFamily="18" charset="0"/>
                          <a:cs typeface="Times New Roman" panose="02020603050405020304" pitchFamily="18" charset="0"/>
                        </a:rPr>
                        <a:t>Тайлбарлах </a:t>
                      </a:r>
                      <a:r>
                        <a:rPr lang="en-US" sz="2000" dirty="0">
                          <a:solidFill>
                            <a:srgbClr val="002060"/>
                          </a:solidFill>
                          <a:effectLst/>
                          <a:latin typeface="Times New Roman" panose="02020603050405020304" pitchFamily="18" charset="0"/>
                          <a:cs typeface="Times New Roman" panose="02020603050405020304" pitchFamily="18" charset="0"/>
                        </a:rPr>
                        <a:t>(Explain)</a:t>
                      </a:r>
                      <a:endParaRPr lang="mn-MN" sz="2000" dirty="0">
                        <a:solidFill>
                          <a:srgbClr val="002060"/>
                        </a:solidFill>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mn-MN" sz="2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Хэрэглэх </a:t>
                      </a:r>
                      <a:r>
                        <a:rPr lang="en-US" sz="2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(Apply)</a:t>
                      </a:r>
                      <a:endParaRPr lang="mn-MN" sz="2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15000"/>
                        </a:lnSpc>
                        <a:spcAft>
                          <a:spcPts val="0"/>
                        </a:spcAft>
                      </a:pPr>
                      <a:r>
                        <a:rPr lang="mn-MN" sz="1800" kern="1200" dirty="0">
                          <a:solidFill>
                            <a:srgbClr val="002060"/>
                          </a:solidFill>
                          <a:effectLst/>
                          <a:latin typeface="Times New Roman" panose="02020603050405020304" pitchFamily="18" charset="0"/>
                          <a:ea typeface="+mn-ea"/>
                          <a:cs typeface="Times New Roman" panose="02020603050405020304" pitchFamily="18" charset="0"/>
                        </a:rPr>
                        <a:t>Шийдэх</a:t>
                      </a:r>
                      <a:r>
                        <a:rPr lang="en-US" sz="1800" kern="1200" dirty="0">
                          <a:solidFill>
                            <a:srgbClr val="002060"/>
                          </a:solidFill>
                          <a:effectLst/>
                          <a:latin typeface="Times New Roman" panose="02020603050405020304" pitchFamily="18" charset="0"/>
                          <a:ea typeface="+mn-ea"/>
                          <a:cs typeface="Times New Roman" panose="02020603050405020304" pitchFamily="18" charset="0"/>
                        </a:rPr>
                        <a:t> /Solve/</a:t>
                      </a:r>
                      <a:endParaRPr lang="en-US" sz="2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rgbClr val="002060"/>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solidFill>
                            <a:srgbClr val="002060"/>
                          </a:solidFill>
                          <a:effectLst/>
                          <a:latin typeface="Times New Roman" panose="02020603050405020304" pitchFamily="18" charset="0"/>
                          <a:cs typeface="Times New Roman" panose="02020603050405020304" pitchFamily="18" charset="0"/>
                        </a:rPr>
                        <a:t>1, 3</a:t>
                      </a:r>
                      <a:endParaRPr lang="en-US" sz="2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1491289944"/>
                  </a:ext>
                </a:extLst>
              </a:tr>
              <a:tr h="1135070">
                <a:tc>
                  <a:txBody>
                    <a:bodyPr/>
                    <a:lstStyle/>
                    <a:p>
                      <a:pPr algn="ctr">
                        <a:lnSpc>
                          <a:spcPct val="115000"/>
                        </a:lnSpc>
                        <a:spcAft>
                          <a:spcPts val="0"/>
                        </a:spcAft>
                      </a:pPr>
                      <a:r>
                        <a:rPr lang="mn-MN"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mn-MN" sz="2000" dirty="0">
                          <a:solidFill>
                            <a:srgbClr val="002060"/>
                          </a:solidFill>
                          <a:latin typeface="Times New Roman" panose="02020603050405020304" pitchFamily="18" charset="0"/>
                          <a:cs typeface="Times New Roman" panose="02020603050405020304" pitchFamily="18" charset="0"/>
                        </a:rPr>
                        <a:t>Мөнгөн хөрөнгийн төсөв, түүний бүтцийг </a:t>
                      </a:r>
                      <a:r>
                        <a:rPr lang="mn-MN" sz="2000" kern="1200" dirty="0">
                          <a:solidFill>
                            <a:srgbClr val="002060"/>
                          </a:solidFill>
                          <a:effectLst/>
                          <a:latin typeface="Times New Roman" panose="02020603050405020304" pitchFamily="18" charset="0"/>
                          <a:ea typeface="+mn-ea"/>
                          <a:cs typeface="Times New Roman" panose="02020603050405020304" pitchFamily="18" charset="0"/>
                        </a:rPr>
                        <a:t>тайлбарлах, ойлгох, ашиглах</a:t>
                      </a:r>
                      <a:endParaRPr lang="en-US" sz="2000" kern="1200" dirty="0">
                        <a:solidFill>
                          <a:srgbClr val="002060"/>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solidFill>
                            <a:srgbClr val="002060"/>
                          </a:solidFill>
                          <a:effectLst/>
                          <a:latin typeface="Times New Roman" panose="02020603050405020304" pitchFamily="18" charset="0"/>
                          <a:cs typeface="Times New Roman" panose="02020603050405020304" pitchFamily="18" charset="0"/>
                        </a:rPr>
                        <a:t>Тайлбарлах </a:t>
                      </a:r>
                      <a:r>
                        <a:rPr lang="en-US" sz="2000" dirty="0">
                          <a:solidFill>
                            <a:srgbClr val="002060"/>
                          </a:solidFill>
                          <a:effectLst/>
                          <a:latin typeface="Times New Roman" panose="02020603050405020304" pitchFamily="18" charset="0"/>
                          <a:cs typeface="Times New Roman" panose="02020603050405020304" pitchFamily="18" charset="0"/>
                        </a:rPr>
                        <a:t>(Explain)</a:t>
                      </a:r>
                      <a:endParaRPr lang="mn-MN" sz="2000" dirty="0">
                        <a:solidFill>
                          <a:srgbClr val="002060"/>
                        </a:solidFill>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mn-MN" sz="2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Хэрэглэх </a:t>
                      </a:r>
                      <a:r>
                        <a:rPr lang="en-US" sz="2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(Apply)</a:t>
                      </a:r>
                      <a:endParaRPr lang="mn-MN" sz="2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15000"/>
                        </a:lnSpc>
                        <a:spcAft>
                          <a:spcPts val="0"/>
                        </a:spcAft>
                      </a:pPr>
                      <a:r>
                        <a:rPr lang="mn-MN" sz="1800" kern="1200" dirty="0">
                          <a:solidFill>
                            <a:srgbClr val="002060"/>
                          </a:solidFill>
                          <a:effectLst/>
                          <a:latin typeface="Times New Roman" panose="02020603050405020304" pitchFamily="18" charset="0"/>
                          <a:ea typeface="+mn-ea"/>
                          <a:cs typeface="Times New Roman" panose="02020603050405020304" pitchFamily="18" charset="0"/>
                        </a:rPr>
                        <a:t>Шийдэх</a:t>
                      </a:r>
                      <a:r>
                        <a:rPr lang="en-US" sz="1800" kern="1200" dirty="0">
                          <a:solidFill>
                            <a:srgbClr val="002060"/>
                          </a:solidFill>
                          <a:effectLst/>
                          <a:latin typeface="Times New Roman" panose="02020603050405020304" pitchFamily="18" charset="0"/>
                          <a:ea typeface="+mn-ea"/>
                          <a:cs typeface="Times New Roman" panose="02020603050405020304" pitchFamily="18" charset="0"/>
                        </a:rPr>
                        <a:t> /Solve/</a:t>
                      </a:r>
                      <a:endParaRPr lang="en-US" sz="2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rgbClr val="002060"/>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solidFill>
                            <a:srgbClr val="002060"/>
                          </a:solidFill>
                          <a:effectLst/>
                          <a:latin typeface="Times New Roman" panose="02020603050405020304" pitchFamily="18" charset="0"/>
                          <a:cs typeface="Times New Roman" panose="02020603050405020304" pitchFamily="18" charset="0"/>
                        </a:rPr>
                        <a:t>1, 3</a:t>
                      </a:r>
                      <a:endParaRPr lang="en-US" sz="2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810878109"/>
                  </a:ext>
                </a:extLst>
              </a:tr>
              <a:tr h="777365">
                <a:tc>
                  <a:txBody>
                    <a:bodyPr/>
                    <a:lstStyle/>
                    <a:p>
                      <a:pPr algn="ctr">
                        <a:lnSpc>
                          <a:spcPct val="115000"/>
                        </a:lnSpc>
                        <a:spcAft>
                          <a:spcPts val="0"/>
                        </a:spcAft>
                      </a:pPr>
                      <a:r>
                        <a:rPr lang="mn-MN"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Сэдэвтэй холбоотой материалуудыг ашиглах</a:t>
                      </a:r>
                      <a:endParaRPr lang="en-US" sz="2000" kern="1200" dirty="0">
                        <a:solidFill>
                          <a:srgbClr val="002060"/>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Гүйцэтгэх </a:t>
                      </a:r>
                      <a:r>
                        <a:rPr lang="en-US" sz="2000" kern="1200" dirty="0">
                          <a:solidFill>
                            <a:srgbClr val="002060"/>
                          </a:solidFill>
                          <a:effectLst/>
                          <a:latin typeface="Times New Roman" panose="02020603050405020304" pitchFamily="18" charset="0"/>
                          <a:ea typeface="+mn-ea"/>
                          <a:cs typeface="Times New Roman" panose="02020603050405020304" pitchFamily="18" charset="0"/>
                        </a:rPr>
                        <a:t>(Function)</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rgbClr val="002060"/>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rgbClr val="002060"/>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2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275832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208429" y="60993"/>
            <a:ext cx="11775141" cy="497541"/>
          </a:xfrm>
        </p:spPr>
        <p:txBody>
          <a:bodyPr>
            <a:noAutofit/>
          </a:bodyPr>
          <a:lstStyle/>
          <a:p>
            <a:r>
              <a:rPr lang="mn-MN" sz="5400" b="1" dirty="0">
                <a:solidFill>
                  <a:srgbClr val="0070C0"/>
                </a:solidFill>
                <a:latin typeface="Times New Roman" panose="02020603050405020304" pitchFamily="18" charset="0"/>
                <a:cs typeface="Times New Roman" panose="02020603050405020304" pitchFamily="18" charset="0"/>
              </a:rPr>
              <a:t>Хичээлийн агуулга </a:t>
            </a:r>
            <a:endParaRPr lang="en-US" sz="5400" b="1" dirty="0">
              <a:solidFill>
                <a:srgbClr val="0070C0"/>
              </a:solidFill>
              <a:latin typeface="Times New Roman" panose="02020603050405020304" pitchFamily="18" charset="0"/>
              <a:cs typeface="Times New Roman" panose="02020603050405020304" pitchFamily="18" charset="0"/>
            </a:endParaRPr>
          </a:p>
        </p:txBody>
      </p:sp>
      <p:sp>
        <p:nvSpPr>
          <p:cNvPr id="13" name="Content Placeholder 12">
            <a:extLst>
              <a:ext uri="{FF2B5EF4-FFF2-40B4-BE49-F238E27FC236}">
                <a16:creationId xmlns:a16="http://schemas.microsoft.com/office/drawing/2014/main" id="{706510C6-911A-6EC2-51D4-E93E810D0561}"/>
              </a:ext>
            </a:extLst>
          </p:cNvPr>
          <p:cNvSpPr>
            <a:spLocks noGrp="1"/>
          </p:cNvSpPr>
          <p:nvPr>
            <p:ph idx="1"/>
          </p:nvPr>
        </p:nvSpPr>
        <p:spPr>
          <a:xfrm>
            <a:off x="138951" y="558534"/>
            <a:ext cx="11775141" cy="5740932"/>
          </a:xfrm>
        </p:spPr>
        <p:txBody>
          <a:bodyPr>
            <a:normAutofit lnSpcReduction="10000"/>
          </a:bodyPr>
          <a:lstStyle/>
          <a:p>
            <a:pPr algn="just"/>
            <a:r>
              <a:rPr lang="mn-MN" sz="3600" dirty="0">
                <a:solidFill>
                  <a:srgbClr val="002060"/>
                </a:solidFill>
                <a:latin typeface="Times New Roman" panose="02020603050405020304" pitchFamily="18" charset="0"/>
                <a:cs typeface="Times New Roman" panose="02020603050405020304" pitchFamily="18" charset="0"/>
              </a:rPr>
              <a:t>Эргэлтийн хөрөнгө ба ажлын капитал бүрэлдэхүүн хэсгүүд</a:t>
            </a:r>
          </a:p>
          <a:p>
            <a:pPr lvl="1" algn="just"/>
            <a:r>
              <a:rPr lang="ru-RU" sz="3200" dirty="0">
                <a:solidFill>
                  <a:srgbClr val="002060"/>
                </a:solidFill>
                <a:latin typeface="Times New Roman" panose="02020603050405020304" pitchFamily="18" charset="0"/>
                <a:cs typeface="Times New Roman" panose="02020603050405020304" pitchFamily="18" charset="0"/>
              </a:rPr>
              <a:t>Цэвэр ажлын капитал</a:t>
            </a:r>
          </a:p>
          <a:p>
            <a:pPr lvl="1" algn="just"/>
            <a:r>
              <a:rPr lang="ru-RU" sz="3200" dirty="0">
                <a:solidFill>
                  <a:srgbClr val="002060"/>
                </a:solidFill>
                <a:latin typeface="Times New Roman" panose="02020603050405020304" pitchFamily="18" charset="0"/>
                <a:cs typeface="Times New Roman" panose="02020603050405020304" pitchFamily="18" charset="0"/>
              </a:rPr>
              <a:t>Ажлын капиталын менежмент</a:t>
            </a:r>
            <a:endParaRPr lang="mn-MN" sz="3200" dirty="0">
              <a:solidFill>
                <a:srgbClr val="002060"/>
              </a:solidFill>
              <a:latin typeface="Times New Roman" panose="02020603050405020304" pitchFamily="18" charset="0"/>
              <a:cs typeface="Times New Roman" panose="02020603050405020304" pitchFamily="18" charset="0"/>
            </a:endParaRPr>
          </a:p>
          <a:p>
            <a:pPr algn="just"/>
            <a:r>
              <a:rPr lang="mn-MN" sz="3600" dirty="0">
                <a:solidFill>
                  <a:srgbClr val="002060"/>
                </a:solidFill>
                <a:latin typeface="Times New Roman" panose="02020603050405020304" pitchFamily="18" charset="0"/>
                <a:cs typeface="Times New Roman" panose="02020603050405020304" pitchFamily="18" charset="0"/>
              </a:rPr>
              <a:t>Мөнгөн хөрөнгийн шилжилтийн мөчлөг</a:t>
            </a:r>
          </a:p>
          <a:p>
            <a:pPr lvl="1" algn="just"/>
            <a:r>
              <a:rPr lang="mn-MN" sz="3200" dirty="0">
                <a:solidFill>
                  <a:srgbClr val="002060"/>
                </a:solidFill>
                <a:latin typeface="Times New Roman" panose="02020603050405020304" pitchFamily="18" charset="0"/>
                <a:cs typeface="Times New Roman" panose="02020603050405020304" pitchFamily="18" charset="0"/>
              </a:rPr>
              <a:t>Бараа материалын шилжилт</a:t>
            </a:r>
          </a:p>
          <a:p>
            <a:pPr lvl="1" algn="just"/>
            <a:r>
              <a:rPr lang="mn-MN" sz="3200" dirty="0">
                <a:solidFill>
                  <a:srgbClr val="002060"/>
                </a:solidFill>
                <a:latin typeface="Times New Roman" panose="02020603050405020304" pitchFamily="18" charset="0"/>
                <a:cs typeface="Times New Roman" panose="02020603050405020304" pitchFamily="18" charset="0"/>
              </a:rPr>
              <a:t>Авлагын цугларалт</a:t>
            </a:r>
          </a:p>
          <a:p>
            <a:pPr lvl="1" algn="just"/>
            <a:r>
              <a:rPr lang="mn-MN" sz="3200" dirty="0">
                <a:solidFill>
                  <a:srgbClr val="002060"/>
                </a:solidFill>
                <a:latin typeface="Times New Roman" panose="02020603050405020304" pitchFamily="18" charset="0"/>
                <a:cs typeface="Times New Roman" panose="02020603050405020304" pitchFamily="18" charset="0"/>
              </a:rPr>
              <a:t>Төлбөр хойшлуулах хугацаа</a:t>
            </a:r>
          </a:p>
          <a:p>
            <a:pPr algn="just"/>
            <a:r>
              <a:rPr lang="mn-MN" sz="3600" dirty="0">
                <a:solidFill>
                  <a:srgbClr val="002060"/>
                </a:solidFill>
                <a:latin typeface="Times New Roman" panose="02020603050405020304" pitchFamily="18" charset="0"/>
                <a:cs typeface="Times New Roman" panose="02020603050405020304" pitchFamily="18" charset="0"/>
              </a:rPr>
              <a:t>Ажлын капиталын бодлого</a:t>
            </a:r>
          </a:p>
          <a:p>
            <a:pPr algn="just"/>
            <a:r>
              <a:rPr lang="mn-MN" sz="3600" dirty="0">
                <a:solidFill>
                  <a:srgbClr val="002060"/>
                </a:solidFill>
                <a:latin typeface="Times New Roman" panose="02020603050405020304" pitchFamily="18" charset="0"/>
                <a:cs typeface="Times New Roman" panose="02020603050405020304" pitchFamily="18" charset="0"/>
              </a:rPr>
              <a:t>Мөнгөн хөрөнгийн төсөв, түүний бүтэц</a:t>
            </a:r>
          </a:p>
          <a:p>
            <a:pPr algn="just"/>
            <a:r>
              <a:rPr lang="mn-MN" sz="3600" dirty="0">
                <a:solidFill>
                  <a:srgbClr val="002060"/>
                </a:solidFill>
                <a:latin typeface="Times New Roman" panose="02020603050405020304" pitchFamily="18" charset="0"/>
                <a:cs typeface="Times New Roman" panose="02020603050405020304" pitchFamily="18" charset="0"/>
              </a:rPr>
              <a:t>Богино хугацаат санхүүгийн эх үүсвэр</a:t>
            </a:r>
          </a:p>
        </p:txBody>
      </p:sp>
    </p:spTree>
    <p:extLst>
      <p:ext uri="{BB962C8B-B14F-4D97-AF65-F5344CB8AC3E}">
        <p14:creationId xmlns:p14="http://schemas.microsoft.com/office/powerpoint/2010/main" val="232091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9C871-A635-C72A-5366-CC8EA303F97C}"/>
              </a:ext>
            </a:extLst>
          </p:cNvPr>
          <p:cNvSpPr>
            <a:spLocks noGrp="1"/>
          </p:cNvSpPr>
          <p:nvPr>
            <p:ph type="title"/>
          </p:nvPr>
        </p:nvSpPr>
        <p:spPr>
          <a:xfrm>
            <a:off x="112058" y="53787"/>
            <a:ext cx="11882718" cy="551331"/>
          </a:xfrm>
        </p:spPr>
        <p:txBody>
          <a:bodyPr>
            <a:normAutofit fontScale="90000"/>
          </a:bodyPr>
          <a:lstStyle/>
          <a:p>
            <a:pPr algn="just"/>
            <a:r>
              <a:rPr lang="mn-MN" sz="4000" b="1" dirty="0">
                <a:solidFill>
                  <a:schemeClr val="accent2">
                    <a:lumMod val="75000"/>
                  </a:schemeClr>
                </a:solidFill>
                <a:latin typeface="Times New Roman" panose="02020603050405020304" pitchFamily="18" charset="0"/>
                <a:cs typeface="Times New Roman" panose="02020603050405020304" pitchFamily="18" charset="0"/>
              </a:rPr>
              <a:t>Өмнөх хичээлээс ...</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51E1F9-D8D6-526C-A096-3EC13C2BCF9E}"/>
              </a:ext>
            </a:extLst>
          </p:cNvPr>
          <p:cNvSpPr>
            <a:spLocks noGrp="1"/>
          </p:cNvSpPr>
          <p:nvPr>
            <p:ph idx="1"/>
          </p:nvPr>
        </p:nvSpPr>
        <p:spPr>
          <a:xfrm>
            <a:off x="112058" y="605118"/>
            <a:ext cx="11882718" cy="5586426"/>
          </a:xfrm>
        </p:spPr>
        <p:txBody>
          <a:bodyPr>
            <a:noAutofit/>
          </a:bodyPr>
          <a:lstStyle/>
          <a:p>
            <a:pPr algn="just"/>
            <a:r>
              <a:rPr lang="mn-MN" sz="4000" b="1" dirty="0">
                <a:solidFill>
                  <a:schemeClr val="accent2">
                    <a:lumMod val="75000"/>
                  </a:schemeClr>
                </a:solidFill>
                <a:latin typeface="Times New Roman" panose="02020603050405020304" pitchFamily="18" charset="0"/>
                <a:cs typeface="Times New Roman" panose="02020603050405020304" pitchFamily="18" charset="0"/>
              </a:rPr>
              <a:t>Эргэлтийн хөрөнгө </a:t>
            </a:r>
            <a:r>
              <a:rPr lang="mn-MN" sz="4000" dirty="0">
                <a:solidFill>
                  <a:srgbClr val="002060"/>
                </a:solidFill>
                <a:latin typeface="Times New Roman" panose="02020603050405020304" pitchFamily="18" charset="0"/>
                <a:cs typeface="Times New Roman" panose="02020603050405020304" pitchFamily="18" charset="0"/>
              </a:rPr>
              <a:t>– </a:t>
            </a:r>
          </a:p>
          <a:p>
            <a:pPr lvl="1" algn="just"/>
            <a:r>
              <a:rPr lang="mn-MN" sz="3600" dirty="0">
                <a:solidFill>
                  <a:srgbClr val="002060"/>
                </a:solidFill>
                <a:latin typeface="Times New Roman" panose="02020603050405020304" pitchFamily="18" charset="0"/>
                <a:cs typeface="Times New Roman" panose="02020603050405020304" pitchFamily="18" charset="0"/>
              </a:rPr>
              <a:t>Үйлдвэрлэлийн процесст </a:t>
            </a:r>
            <a:r>
              <a:rPr lang="en-US" sz="3600" dirty="0">
                <a:solidFill>
                  <a:srgbClr val="002060"/>
                </a:solidFill>
                <a:latin typeface="Times New Roman" panose="02020603050405020304" pitchFamily="18" charset="0"/>
                <a:cs typeface="Times New Roman" panose="02020603050405020304" pitchFamily="18" charset="0"/>
              </a:rPr>
              <a:t>(</a:t>
            </a:r>
            <a:r>
              <a:rPr lang="mn-MN" sz="3600" dirty="0">
                <a:solidFill>
                  <a:srgbClr val="002060"/>
                </a:solidFill>
                <a:latin typeface="Times New Roman" panose="02020603050405020304" pitchFamily="18" charset="0"/>
                <a:cs typeface="Times New Roman" panose="02020603050405020304" pitchFamily="18" charset="0"/>
              </a:rPr>
              <a:t>үйл явцад</a:t>
            </a:r>
            <a:r>
              <a:rPr lang="en-US" sz="3600" dirty="0">
                <a:solidFill>
                  <a:srgbClr val="002060"/>
                </a:solidFill>
                <a:latin typeface="Times New Roman" panose="02020603050405020304" pitchFamily="18" charset="0"/>
                <a:cs typeface="Times New Roman" panose="02020603050405020304" pitchFamily="18" charset="0"/>
              </a:rPr>
              <a:t>)</a:t>
            </a:r>
            <a:r>
              <a:rPr lang="mn-MN" sz="3600" dirty="0">
                <a:solidFill>
                  <a:srgbClr val="002060"/>
                </a:solidFill>
                <a:latin typeface="Times New Roman" panose="02020603050405020304" pitchFamily="18" charset="0"/>
                <a:cs typeface="Times New Roman" panose="02020603050405020304" pitchFamily="18" charset="0"/>
              </a:rPr>
              <a:t> </a:t>
            </a:r>
            <a:r>
              <a:rPr lang="mn-MN" sz="3600" b="1" i="1" dirty="0">
                <a:solidFill>
                  <a:srgbClr val="002060"/>
                </a:solidFill>
                <a:latin typeface="Times New Roman" panose="02020603050405020304" pitchFamily="18" charset="0"/>
                <a:cs typeface="Times New Roman" panose="02020603050405020304" pitchFamily="18" charset="0"/>
              </a:rPr>
              <a:t>нэг удаа </a:t>
            </a:r>
            <a:r>
              <a:rPr lang="mn-MN" sz="3600" dirty="0">
                <a:solidFill>
                  <a:srgbClr val="002060"/>
                </a:solidFill>
                <a:latin typeface="Times New Roman" panose="02020603050405020304" pitchFamily="18" charset="0"/>
                <a:cs typeface="Times New Roman" panose="02020603050405020304" pitchFamily="18" charset="0"/>
              </a:rPr>
              <a:t>оролцож өөрийн хэлбэр дүрсээ өөрчлөн, шинэ бүтээгдэхүүнд өртгөө бүрэн шингээдэг хөрөнгө. </a:t>
            </a:r>
          </a:p>
          <a:p>
            <a:pPr lvl="1" algn="just"/>
            <a:r>
              <a:rPr lang="mn-MN" sz="3600" b="1" i="1" dirty="0">
                <a:solidFill>
                  <a:srgbClr val="002060"/>
                </a:solidFill>
                <a:latin typeface="Times New Roman" panose="02020603050405020304" pitchFamily="18" charset="0"/>
                <a:cs typeface="Times New Roman" panose="02020603050405020304" pitchFamily="18" charset="0"/>
              </a:rPr>
              <a:t>Нэг жилийн дотор </a:t>
            </a:r>
            <a:r>
              <a:rPr lang="mn-MN" sz="3600" dirty="0">
                <a:solidFill>
                  <a:srgbClr val="002060"/>
                </a:solidFill>
                <a:latin typeface="Times New Roman" panose="02020603050405020304" pitchFamily="18" charset="0"/>
                <a:cs typeface="Times New Roman" panose="02020603050405020304" pitchFamily="18" charset="0"/>
              </a:rPr>
              <a:t>хэвийн үйл ажиллагаанд зарцуулах болох бусад зориулалтаар ашиглагдах мөнгөн хөрөнгө, богино хугацаат хөрөнгө оруулалт, бараа материал гэх мэт. </a:t>
            </a:r>
          </a:p>
          <a:p>
            <a:pPr algn="just"/>
            <a:r>
              <a:rPr lang="mn-MN" sz="4000" dirty="0">
                <a:solidFill>
                  <a:srgbClr val="002060"/>
                </a:solidFill>
                <a:latin typeface="Times New Roman" panose="02020603050405020304" pitchFamily="18" charset="0"/>
                <a:cs typeface="Times New Roman" panose="02020603050405020304" pitchFamily="18" charset="0"/>
              </a:rPr>
              <a:t>Эргэлтийн хөрөнгийг </a:t>
            </a:r>
            <a:r>
              <a:rPr lang="mn-MN" sz="4000" b="1" dirty="0">
                <a:solidFill>
                  <a:schemeClr val="accent2">
                    <a:lumMod val="75000"/>
                  </a:schemeClr>
                </a:solidFill>
                <a:latin typeface="Times New Roman" panose="02020603050405020304" pitchFamily="18" charset="0"/>
                <a:cs typeface="Times New Roman" panose="02020603050405020304" pitchFamily="18" charset="0"/>
              </a:rPr>
              <a:t>ажлын капитал </a:t>
            </a:r>
            <a:r>
              <a:rPr lang="en-US" sz="4000" b="1" dirty="0">
                <a:solidFill>
                  <a:srgbClr val="002060"/>
                </a:solidFill>
                <a:latin typeface="Times New Roman" panose="02020603050405020304" pitchFamily="18" charset="0"/>
                <a:cs typeface="Times New Roman" panose="02020603050405020304" pitchFamily="18" charset="0"/>
              </a:rPr>
              <a:t>(</a:t>
            </a:r>
            <a:r>
              <a:rPr lang="en-US" sz="4000" b="1" i="1" dirty="0">
                <a:solidFill>
                  <a:srgbClr val="002060"/>
                </a:solidFill>
                <a:latin typeface="Times New Roman" panose="02020603050405020304" pitchFamily="18" charset="0"/>
                <a:cs typeface="Times New Roman" panose="02020603050405020304" pitchFamily="18" charset="0"/>
              </a:rPr>
              <a:t>working capital</a:t>
            </a:r>
            <a:r>
              <a:rPr lang="en-US" sz="4000" b="1" dirty="0">
                <a:solidFill>
                  <a:srgbClr val="002060"/>
                </a:solidFill>
                <a:latin typeface="Times New Roman" panose="02020603050405020304" pitchFamily="18" charset="0"/>
                <a:cs typeface="Times New Roman" panose="02020603050405020304" pitchFamily="18" charset="0"/>
              </a:rPr>
              <a:t>) </a:t>
            </a:r>
            <a:r>
              <a:rPr lang="mn-MN" sz="4000" dirty="0">
                <a:solidFill>
                  <a:srgbClr val="002060"/>
                </a:solidFill>
                <a:latin typeface="Times New Roman" panose="02020603050405020304" pitchFamily="18" charset="0"/>
                <a:cs typeface="Times New Roman" panose="02020603050405020304" pitchFamily="18" charset="0"/>
              </a:rPr>
              <a:t>гэж нэрлэдэг. </a:t>
            </a:r>
          </a:p>
        </p:txBody>
      </p:sp>
    </p:spTree>
    <p:extLst>
      <p:ext uri="{BB962C8B-B14F-4D97-AF65-F5344CB8AC3E}">
        <p14:creationId xmlns:p14="http://schemas.microsoft.com/office/powerpoint/2010/main" val="2748149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A7CFF-4D75-2065-6A49-2C9853431767}"/>
              </a:ext>
            </a:extLst>
          </p:cNvPr>
          <p:cNvSpPr>
            <a:spLocks noGrp="1"/>
          </p:cNvSpPr>
          <p:nvPr>
            <p:ph type="title"/>
          </p:nvPr>
        </p:nvSpPr>
        <p:spPr>
          <a:xfrm>
            <a:off x="138952" y="96184"/>
            <a:ext cx="11869271" cy="455145"/>
          </a:xfrm>
        </p:spPr>
        <p:txBody>
          <a:bodyPr>
            <a:noAutofit/>
          </a:bodyPr>
          <a:lstStyle/>
          <a:p>
            <a:pPr algn="just"/>
            <a:r>
              <a:rPr lang="mn-MN" sz="3300" b="1" dirty="0">
                <a:solidFill>
                  <a:srgbClr val="0070C0"/>
                </a:solidFill>
                <a:latin typeface="Times New Roman" panose="02020603050405020304" pitchFamily="18" charset="0"/>
                <a:cs typeface="Times New Roman" panose="02020603050405020304" pitchFamily="18" charset="0"/>
              </a:rPr>
              <a:t>Эргэлтийн хөрөнгө буюу ажлын капиталын ач холбогдол</a:t>
            </a:r>
            <a:endParaRPr lang="en-US" sz="33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4A2748E-2E93-A3A3-9B0B-797A4A3A695F}"/>
              </a:ext>
            </a:extLst>
          </p:cNvPr>
          <p:cNvSpPr>
            <a:spLocks noGrp="1"/>
          </p:cNvSpPr>
          <p:nvPr>
            <p:ph idx="1"/>
          </p:nvPr>
        </p:nvSpPr>
        <p:spPr>
          <a:xfrm>
            <a:off x="161364" y="551329"/>
            <a:ext cx="11869271" cy="5153398"/>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ААН, байгууллагын тайлангаас </a:t>
            </a:r>
            <a:r>
              <a:rPr lang="mn-MN" sz="3600" b="1" dirty="0">
                <a:solidFill>
                  <a:srgbClr val="002060"/>
                </a:solidFill>
                <a:latin typeface="Times New Roman" panose="02020603050405020304" pitchFamily="18" charset="0"/>
                <a:cs typeface="Times New Roman" panose="02020603050405020304" pitchFamily="18" charset="0"/>
              </a:rPr>
              <a:t>санхүүжүүлж байгаа эх үүсвэр </a:t>
            </a:r>
            <a:r>
              <a:rPr lang="mn-MN" sz="3600" dirty="0">
                <a:solidFill>
                  <a:srgbClr val="002060"/>
                </a:solidFill>
                <a:latin typeface="Times New Roman" panose="02020603050405020304" pitchFamily="18" charset="0"/>
                <a:cs typeface="Times New Roman" panose="02020603050405020304" pitchFamily="18" charset="0"/>
              </a:rPr>
              <a:t>болон </a:t>
            </a:r>
            <a:r>
              <a:rPr lang="mn-MN" sz="3600" b="1" dirty="0">
                <a:solidFill>
                  <a:srgbClr val="002060"/>
                </a:solidFill>
                <a:latin typeface="Times New Roman" panose="02020603050405020304" pitchFamily="18" charset="0"/>
                <a:cs typeface="Times New Roman" panose="02020603050405020304" pitchFamily="18" charset="0"/>
              </a:rPr>
              <a:t>хөрөнгө оруулалт, хөрөнгийн зарцуулалт</a:t>
            </a:r>
            <a:r>
              <a:rPr lang="mn-MN" sz="3600" dirty="0">
                <a:solidFill>
                  <a:srgbClr val="002060"/>
                </a:solidFill>
                <a:latin typeface="Times New Roman" panose="02020603050405020304" pitchFamily="18" charset="0"/>
                <a:cs typeface="Times New Roman" panose="02020603050405020304" pitchFamily="18" charset="0"/>
              </a:rPr>
              <a:t>ын байдлыг харах боломжтой. </a:t>
            </a:r>
          </a:p>
          <a:p>
            <a:pPr algn="just"/>
            <a:r>
              <a:rPr lang="mn-MN" sz="3600" dirty="0">
                <a:solidFill>
                  <a:srgbClr val="002060"/>
                </a:solidFill>
                <a:latin typeface="Times New Roman" panose="02020603050405020304" pitchFamily="18" charset="0"/>
                <a:cs typeface="Times New Roman" panose="02020603050405020304" pitchFamily="18" charset="0"/>
              </a:rPr>
              <a:t>Хувь нийлүүлэгчдийн хөрөнгө баялагийг хамгийн ихээр нэмэгдүүлэх гэсэн зорилго нь </a:t>
            </a:r>
            <a:r>
              <a:rPr lang="mn-MN" sz="3600" b="1" dirty="0">
                <a:solidFill>
                  <a:srgbClr val="002060"/>
                </a:solidFill>
                <a:latin typeface="Times New Roman" panose="02020603050405020304" pitchFamily="18" charset="0"/>
                <a:cs typeface="Times New Roman" panose="02020603050405020304" pitchFamily="18" charset="0"/>
              </a:rPr>
              <a:t>дээрх бүтцийг ямар байлгах вэ </a:t>
            </a:r>
            <a:r>
              <a:rPr lang="mn-MN" sz="3600" dirty="0">
                <a:solidFill>
                  <a:srgbClr val="002060"/>
                </a:solidFill>
                <a:latin typeface="Times New Roman" panose="02020603050405020304" pitchFamily="18" charset="0"/>
                <a:cs typeface="Times New Roman" panose="02020603050405020304" pitchFamily="18" charset="0"/>
              </a:rPr>
              <a:t>гэдгийг шийдэх шалгуур болно. </a:t>
            </a:r>
          </a:p>
          <a:p>
            <a:pPr algn="just"/>
            <a:r>
              <a:rPr lang="mn-MN" sz="3600" dirty="0">
                <a:solidFill>
                  <a:srgbClr val="002060"/>
                </a:solidFill>
                <a:latin typeface="Times New Roman" panose="02020603050405020304" pitchFamily="18" charset="0"/>
                <a:cs typeface="Times New Roman" panose="02020603050405020304" pitchFamily="18" charset="0"/>
              </a:rPr>
              <a:t>Энэ шийдвэрт нөлөө үзүүлэгч нь </a:t>
            </a:r>
            <a:r>
              <a:rPr lang="mn-MN" sz="3600" b="1" dirty="0">
                <a:solidFill>
                  <a:srgbClr val="002060"/>
                </a:solidFill>
                <a:latin typeface="Times New Roman" panose="02020603050405020304" pitchFamily="18" charset="0"/>
                <a:cs typeface="Times New Roman" panose="02020603050405020304" pitchFamily="18" charset="0"/>
              </a:rPr>
              <a:t>богино хугацаат эргэлтийн хөрөнгө</a:t>
            </a:r>
            <a:r>
              <a:rPr lang="mn-MN" sz="3600" dirty="0">
                <a:solidFill>
                  <a:srgbClr val="002060"/>
                </a:solidFill>
                <a:latin typeface="Times New Roman" panose="02020603050405020304" pitchFamily="18" charset="0"/>
                <a:cs typeface="Times New Roman" panose="02020603050405020304" pitchFamily="18" charset="0"/>
              </a:rPr>
              <a:t> ба </a:t>
            </a:r>
            <a:r>
              <a:rPr lang="mn-MN" sz="3600" b="1" dirty="0">
                <a:solidFill>
                  <a:srgbClr val="002060"/>
                </a:solidFill>
                <a:latin typeface="Times New Roman" panose="02020603050405020304" pitchFamily="18" charset="0"/>
                <a:cs typeface="Times New Roman" panose="02020603050405020304" pitchFamily="18" charset="0"/>
              </a:rPr>
              <a:t>түүний эх үүсвэр </a:t>
            </a:r>
            <a:r>
              <a:rPr lang="mn-MN" sz="3600" dirty="0">
                <a:solidFill>
                  <a:srgbClr val="002060"/>
                </a:solidFill>
                <a:latin typeface="Times New Roman" panose="02020603050405020304" pitchFamily="18" charset="0"/>
                <a:cs typeface="Times New Roman" panose="02020603050405020304" pitchFamily="18" charset="0"/>
              </a:rPr>
              <a:t>байдаг. </a:t>
            </a:r>
          </a:p>
          <a:p>
            <a:pPr algn="just"/>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96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A7CFF-4D75-2065-6A49-2C9853431767}"/>
              </a:ext>
            </a:extLst>
          </p:cNvPr>
          <p:cNvSpPr>
            <a:spLocks noGrp="1"/>
          </p:cNvSpPr>
          <p:nvPr>
            <p:ph type="title"/>
          </p:nvPr>
        </p:nvSpPr>
        <p:spPr>
          <a:xfrm>
            <a:off x="165847" y="96185"/>
            <a:ext cx="11788588" cy="643404"/>
          </a:xfrm>
        </p:spPr>
        <p:txBody>
          <a:bodyPr>
            <a:noAutofit/>
          </a:bodyPr>
          <a:lstStyle/>
          <a:p>
            <a:r>
              <a:rPr lang="mn-MN" sz="3200" b="1" dirty="0">
                <a:solidFill>
                  <a:srgbClr val="0070C0"/>
                </a:solidFill>
                <a:latin typeface="Times New Roman" panose="02020603050405020304" pitchFamily="18" charset="0"/>
                <a:cs typeface="Times New Roman" panose="02020603050405020304" pitchFamily="18" charset="0"/>
              </a:rPr>
              <a:t>Эргэлтийн хөрөнгө</a:t>
            </a:r>
            <a:r>
              <a:rPr lang="en-US" sz="3200" b="1" dirty="0">
                <a:solidFill>
                  <a:srgbClr val="0070C0"/>
                </a:solidFill>
                <a:latin typeface="Times New Roman" panose="02020603050405020304" pitchFamily="18" charset="0"/>
                <a:cs typeface="Times New Roman" panose="02020603050405020304" pitchFamily="18" charset="0"/>
              </a:rPr>
              <a:t> </a:t>
            </a:r>
            <a:r>
              <a:rPr lang="mn-MN" sz="3200" b="1" dirty="0">
                <a:solidFill>
                  <a:srgbClr val="0070C0"/>
                </a:solidFill>
                <a:latin typeface="Times New Roman" panose="02020603050405020304" pitchFamily="18" charset="0"/>
                <a:cs typeface="Times New Roman" panose="02020603050405020304" pitchFamily="18" charset="0"/>
              </a:rPr>
              <a:t>ба түүний эх үүсвэрийн менежментийн гол зорилго</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4A2748E-2E93-A3A3-9B0B-797A4A3A695F}"/>
              </a:ext>
            </a:extLst>
          </p:cNvPr>
          <p:cNvSpPr>
            <a:spLocks noGrp="1"/>
          </p:cNvSpPr>
          <p:nvPr>
            <p:ph idx="1"/>
          </p:nvPr>
        </p:nvSpPr>
        <p:spPr>
          <a:xfrm>
            <a:off x="165847" y="911225"/>
            <a:ext cx="11788588" cy="5045822"/>
          </a:xfrm>
        </p:spPr>
        <p:txBody>
          <a:bodyPr>
            <a:normAutofit lnSpcReduction="1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Эргэлтийн хөрөнгө</a:t>
            </a:r>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rgbClr val="002060"/>
                </a:solidFill>
                <a:latin typeface="Times New Roman" panose="02020603050405020304" pitchFamily="18" charset="0"/>
                <a:cs typeface="Times New Roman" panose="02020603050405020304" pitchFamily="18" charset="0"/>
              </a:rPr>
              <a:t>ба түүний эх үүсвэрийн ашигт байдал ба эрсдлийн оновчтой харьцааг тодорхойлох явдал юм. </a:t>
            </a:r>
            <a:endParaRPr lang="en-US" sz="3600" b="1" dirty="0">
              <a:solidFill>
                <a:srgbClr val="002060"/>
              </a:solidFill>
              <a:latin typeface="Times New Roman" panose="02020603050405020304" pitchFamily="18" charset="0"/>
              <a:cs typeface="Times New Roman" panose="02020603050405020304" pitchFamily="18" charset="0"/>
            </a:endParaRPr>
          </a:p>
          <a:p>
            <a:pPr lvl="1" algn="just"/>
            <a:r>
              <a:rPr lang="mn-MN" sz="3200" dirty="0">
                <a:solidFill>
                  <a:srgbClr val="002060"/>
                </a:solidFill>
                <a:latin typeface="Times New Roman" panose="02020603050405020304" pitchFamily="18" charset="0"/>
                <a:cs typeface="Times New Roman" panose="02020603050405020304" pitchFamily="18" charset="0"/>
              </a:rPr>
              <a:t>Эргэлтийн хөрөнгийг хэт ихээр </a:t>
            </a:r>
            <a:r>
              <a:rPr lang="mn-MN" sz="3200" b="1" i="1" u="sng" dirty="0">
                <a:solidFill>
                  <a:srgbClr val="002060"/>
                </a:solidFill>
                <a:latin typeface="Times New Roman" panose="02020603050405020304" pitchFamily="18" charset="0"/>
                <a:cs typeface="Times New Roman" panose="02020603050405020304" pitchFamily="18" charset="0"/>
              </a:rPr>
              <a:t>нэмэгдүүлэх</a:t>
            </a:r>
            <a:r>
              <a:rPr lang="mn-MN" sz="3200" dirty="0">
                <a:solidFill>
                  <a:srgbClr val="002060"/>
                </a:solidFill>
                <a:latin typeface="Times New Roman" panose="02020603050405020304" pitchFamily="18" charset="0"/>
                <a:cs typeface="Times New Roman" panose="02020603050405020304" pitchFamily="18" charset="0"/>
              </a:rPr>
              <a:t> нь байгууллагын ашигт ажиллагааг бууруулдаг. </a:t>
            </a:r>
          </a:p>
          <a:p>
            <a:pPr lvl="1" algn="just"/>
            <a:r>
              <a:rPr lang="mn-MN" sz="3200" dirty="0">
                <a:solidFill>
                  <a:srgbClr val="002060"/>
                </a:solidFill>
                <a:latin typeface="Times New Roman" panose="02020603050405020304" pitchFamily="18" charset="0"/>
                <a:cs typeface="Times New Roman" panose="02020603050405020304" pitchFamily="18" charset="0"/>
              </a:rPr>
              <a:t>Эргэлтийн хөрөнгийг хэт ихээр </a:t>
            </a:r>
            <a:r>
              <a:rPr lang="mn-MN" sz="3200" b="1" i="1" u="sng" dirty="0">
                <a:solidFill>
                  <a:srgbClr val="002060"/>
                </a:solidFill>
                <a:latin typeface="Times New Roman" panose="02020603050405020304" pitchFamily="18" charset="0"/>
                <a:cs typeface="Times New Roman" panose="02020603050405020304" pitchFamily="18" charset="0"/>
              </a:rPr>
              <a:t>бууруулах</a:t>
            </a:r>
            <a:r>
              <a:rPr lang="mn-MN" sz="3200" dirty="0">
                <a:solidFill>
                  <a:srgbClr val="002060"/>
                </a:solidFill>
                <a:latin typeface="Times New Roman" panose="02020603050405020304" pitchFamily="18" charset="0"/>
                <a:cs typeface="Times New Roman" panose="02020603050405020304" pitchFamily="18" charset="0"/>
              </a:rPr>
              <a:t> нь байгууллагын хөрвөх чадвар буурч, эрсдэл өсдөг. </a:t>
            </a:r>
          </a:p>
          <a:p>
            <a:pPr algn="just"/>
            <a:r>
              <a:rPr lang="mn-MN" sz="3600" dirty="0">
                <a:solidFill>
                  <a:srgbClr val="002060"/>
                </a:solidFill>
                <a:latin typeface="Times New Roman" panose="02020603050405020304" pitchFamily="18" charset="0"/>
                <a:cs typeface="Times New Roman" panose="02020603050405020304" pitchFamily="18" charset="0"/>
              </a:rPr>
              <a:t>Энэ 2 тохиолдлын аль алинд компанийн үнэ цэнэ буурдаг тул хувь нийлүүлэгчдийн хөрөнгө баялагийг нэмэгдүүлэх гэсэн зорилгодоо хүрч чадахгүй болно.</a:t>
            </a:r>
          </a:p>
          <a:p>
            <a:pPr algn="just"/>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6945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A7CFF-4D75-2065-6A49-2C9853431767}"/>
              </a:ext>
            </a:extLst>
          </p:cNvPr>
          <p:cNvSpPr>
            <a:spLocks noGrp="1"/>
          </p:cNvSpPr>
          <p:nvPr>
            <p:ph type="title"/>
          </p:nvPr>
        </p:nvSpPr>
        <p:spPr>
          <a:xfrm>
            <a:off x="112059" y="136526"/>
            <a:ext cx="12688172" cy="369332"/>
          </a:xfrm>
        </p:spPr>
        <p:txBody>
          <a:bodyPr>
            <a:normAutofit fontScale="90000"/>
          </a:bodyPr>
          <a:lstStyle/>
          <a:p>
            <a:pPr algn="just"/>
            <a:r>
              <a:rPr lang="mn-MN" b="1" dirty="0">
                <a:solidFill>
                  <a:srgbClr val="0070C0"/>
                </a:solidFill>
                <a:latin typeface="Times New Roman" panose="02020603050405020304" pitchFamily="18" charset="0"/>
                <a:cs typeface="Times New Roman" panose="02020603050405020304" pitchFamily="18" charset="0"/>
              </a:rPr>
              <a:t>Цэвэр ажлын капитал</a:t>
            </a:r>
            <a:endParaRPr lang="en-US" b="1" dirty="0">
              <a:solidFill>
                <a:srgbClr val="0070C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4A2748E-2E93-A3A3-9B0B-797A4A3A695F}"/>
                  </a:ext>
                </a:extLst>
              </p:cNvPr>
              <p:cNvSpPr>
                <a:spLocks noGrp="1"/>
              </p:cNvSpPr>
              <p:nvPr>
                <p:ph idx="1"/>
              </p:nvPr>
            </p:nvSpPr>
            <p:spPr>
              <a:xfrm>
                <a:off x="109423" y="476230"/>
                <a:ext cx="11622741" cy="4935991"/>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Эргэлтийн бүх хөрөнгөөс богино хугацаат өр төлбөрийг хасахад </a:t>
                </a:r>
                <a:r>
                  <a:rPr lang="mn-MN" sz="3200" b="1" dirty="0">
                    <a:solidFill>
                      <a:srgbClr val="002060"/>
                    </a:solidFill>
                    <a:latin typeface="Times New Roman" panose="02020603050405020304" pitchFamily="18" charset="0"/>
                    <a:cs typeface="Times New Roman" panose="02020603050405020304" pitchFamily="18" charset="0"/>
                  </a:rPr>
                  <a:t>ажлын цэвэр капитал </a:t>
                </a:r>
                <a:r>
                  <a:rPr lang="en-US" sz="3200" b="1" dirty="0">
                    <a:solidFill>
                      <a:srgbClr val="002060"/>
                    </a:solidFill>
                    <a:latin typeface="Times New Roman" panose="02020603050405020304" pitchFamily="18" charset="0"/>
                    <a:cs typeface="Times New Roman" panose="02020603050405020304" pitchFamily="18" charset="0"/>
                  </a:rPr>
                  <a:t>(Net working capital) </a:t>
                </a:r>
                <a:r>
                  <a:rPr lang="mn-MN" sz="3200" dirty="0">
                    <a:solidFill>
                      <a:srgbClr val="002060"/>
                    </a:solidFill>
                    <a:latin typeface="Times New Roman" panose="02020603050405020304" pitchFamily="18" charset="0"/>
                    <a:cs typeface="Times New Roman" panose="02020603050405020304" pitchFamily="18" charset="0"/>
                  </a:rPr>
                  <a:t>гэдэг үзүүлэлт гарч ирдэг. </a:t>
                </a:r>
                <a:endParaRPr lang="en-US" sz="3200" dirty="0">
                  <a:solidFill>
                    <a:srgbClr val="002060"/>
                  </a:solidFill>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mn-MN" sz="4000" b="0" i="1" smtClean="0">
                          <a:solidFill>
                            <a:srgbClr val="FF0000"/>
                          </a:solidFill>
                          <a:latin typeface="Cambria Math" panose="02040503050406030204" pitchFamily="18" charset="0"/>
                        </a:rPr>
                        <m:t>АЦК</m:t>
                      </m:r>
                      <m:r>
                        <a:rPr lang="en-US" sz="4000" b="0" i="1" smtClean="0">
                          <a:solidFill>
                            <a:srgbClr val="FF0000"/>
                          </a:solidFill>
                          <a:latin typeface="Cambria Math" panose="02040503050406030204" pitchFamily="18" charset="0"/>
                        </a:rPr>
                        <m:t>=</m:t>
                      </m:r>
                      <m:r>
                        <a:rPr lang="mn-MN" sz="4000" b="0" i="1" smtClean="0">
                          <a:solidFill>
                            <a:srgbClr val="FF0000"/>
                          </a:solidFill>
                          <a:latin typeface="Cambria Math" panose="02040503050406030204" pitchFamily="18" charset="0"/>
                        </a:rPr>
                        <m:t>ЭХ−ЭЭҮ</m:t>
                      </m:r>
                    </m:oMath>
                  </m:oMathPara>
                </a14:m>
                <a:endParaRPr lang="mn-MN" sz="4000" dirty="0">
                  <a:solidFill>
                    <a:srgbClr val="FF0000"/>
                  </a:solidFill>
                  <a:latin typeface="Times New Roman" panose="02020603050405020304" pitchFamily="18" charset="0"/>
                  <a:cs typeface="Times New Roman" panose="02020603050405020304" pitchFamily="18" charset="0"/>
                </a:endParaRPr>
              </a:p>
              <a:p>
                <a:pPr algn="just"/>
                <a:endParaRPr lang="en-US" sz="32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5" name="Content Placeholder 4">
                <a:extLst>
                  <a:ext uri="{FF2B5EF4-FFF2-40B4-BE49-F238E27FC236}">
                    <a16:creationId xmlns:a16="http://schemas.microsoft.com/office/drawing/2014/main" id="{D4A2748E-2E93-A3A3-9B0B-797A4A3A695F}"/>
                  </a:ext>
                </a:extLst>
              </p:cNvPr>
              <p:cNvSpPr>
                <a:spLocks noGrp="1" noRot="1" noChangeAspect="1" noMove="1" noResize="1" noEditPoints="1" noAdjustHandles="1" noChangeArrowheads="1" noChangeShapeType="1" noTextEdit="1"/>
              </p:cNvSpPr>
              <p:nvPr>
                <p:ph idx="1"/>
              </p:nvPr>
            </p:nvSpPr>
            <p:spPr>
              <a:xfrm>
                <a:off x="109423" y="476230"/>
                <a:ext cx="11622741" cy="4935991"/>
              </a:xfrm>
              <a:blipFill>
                <a:blip r:embed="rId3"/>
                <a:stretch>
                  <a:fillRect l="-1206" t="-2716" r="-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E12F19B-DDC0-0837-8D46-DB29634CA94D}"/>
                  </a:ext>
                </a:extLst>
              </p:cNvPr>
              <p:cNvSpPr txBox="1"/>
              <p:nvPr/>
            </p:nvSpPr>
            <p:spPr>
              <a:xfrm>
                <a:off x="8034141" y="1526279"/>
                <a:ext cx="3743404" cy="707886"/>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mn-MN" sz="2000" b="0" i="1" smtClean="0">
                          <a:solidFill>
                            <a:srgbClr val="002060"/>
                          </a:solidFill>
                          <a:latin typeface="Cambria Math" panose="02040503050406030204" pitchFamily="18" charset="0"/>
                        </a:rPr>
                        <m:t>ЭХ −эргэлтийн хөрөнгө</m:t>
                      </m:r>
                    </m:oMath>
                  </m:oMathPara>
                </a14:m>
                <a:endParaRPr lang="mn-MN" sz="2000" b="0" dirty="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mn-MN" sz="2000" b="0" i="1" smtClean="0">
                        <a:solidFill>
                          <a:srgbClr val="002060"/>
                        </a:solidFill>
                        <a:latin typeface="Cambria Math" panose="02040503050406030204" pitchFamily="18" charset="0"/>
                      </a:rPr>
                      <m:t>ЭЭҮ</m:t>
                    </m:r>
                  </m:oMath>
                </a14:m>
                <a:r>
                  <a:rPr lang="mn-MN" sz="2000" dirty="0">
                    <a:solidFill>
                      <a:srgbClr val="002060"/>
                    </a:solidFill>
                    <a:latin typeface="Times New Roman" panose="02020603050405020304" pitchFamily="18" charset="0"/>
                    <a:cs typeface="Times New Roman" panose="02020603050405020304" pitchFamily="18" charset="0"/>
                  </a:rPr>
                  <a:t> – эргэлтийн эх үүсвэр</a:t>
                </a:r>
                <a:endParaRPr lang="en-US" sz="20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0E12F19B-DDC0-0837-8D46-DB29634CA94D}"/>
                  </a:ext>
                </a:extLst>
              </p:cNvPr>
              <p:cNvSpPr txBox="1">
                <a:spLocks noRot="1" noChangeAspect="1" noMove="1" noResize="1" noEditPoints="1" noAdjustHandles="1" noChangeArrowheads="1" noChangeShapeType="1" noTextEdit="1"/>
              </p:cNvSpPr>
              <p:nvPr/>
            </p:nvSpPr>
            <p:spPr>
              <a:xfrm>
                <a:off x="8034141" y="1526279"/>
                <a:ext cx="3743404" cy="707886"/>
              </a:xfrm>
              <a:prstGeom prst="rect">
                <a:avLst/>
              </a:prstGeom>
              <a:blipFill>
                <a:blip r:embed="rId4"/>
                <a:stretch>
                  <a:fillRect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B0304CF-5349-0DA0-5A50-5D159912EE2C}"/>
                  </a:ext>
                </a:extLst>
              </p:cNvPr>
              <p:cNvSpPr txBox="1"/>
              <p:nvPr/>
            </p:nvSpPr>
            <p:spPr>
              <a:xfrm>
                <a:off x="321448" y="4373232"/>
                <a:ext cx="3583802" cy="523220"/>
              </a:xfrm>
              <a:prstGeom prst="rect">
                <a:avLst/>
              </a:prstGeom>
              <a:noFill/>
            </p:spPr>
            <p:txBody>
              <a:bodyPr wrap="square">
                <a:spAutoFit/>
              </a:bodyPr>
              <a:lstStyle/>
              <a:p>
                <a:pPr marL="0" indent="0" algn="just">
                  <a:buNone/>
                </a:pPr>
                <a14:m>
                  <m:oMathPara xmlns:m="http://schemas.openxmlformats.org/officeDocument/2006/math">
                    <m:oMathParaPr>
                      <m:jc m:val="centerGroup"/>
                    </m:oMathParaPr>
                    <m:oMath xmlns:m="http://schemas.openxmlformats.org/officeDocument/2006/math">
                      <m:r>
                        <a:rPr lang="mn-MN" sz="2800" b="0" i="1" smtClean="0">
                          <a:solidFill>
                            <a:srgbClr val="FF0000"/>
                          </a:solidFill>
                          <a:latin typeface="Cambria Math" panose="02040503050406030204" pitchFamily="18" charset="0"/>
                        </a:rPr>
                        <m:t>АЦК</m:t>
                      </m:r>
                      <m:r>
                        <a:rPr lang="en-US" sz="2800" b="0" i="1" smtClean="0">
                          <a:solidFill>
                            <a:srgbClr val="FF0000"/>
                          </a:solidFill>
                          <a:latin typeface="Cambria Math" panose="02040503050406030204" pitchFamily="18" charset="0"/>
                        </a:rPr>
                        <m:t>=</m:t>
                      </m:r>
                      <m:r>
                        <a:rPr lang="mn-MN" sz="2800" b="0" i="1" smtClean="0">
                          <a:solidFill>
                            <a:srgbClr val="FF0000"/>
                          </a:solidFill>
                          <a:latin typeface="Cambria Math" panose="02040503050406030204" pitchFamily="18" charset="0"/>
                        </a:rPr>
                        <m:t>ЭХ−ЭЭҮ</m:t>
                      </m:r>
                      <m:r>
                        <a:rPr lang="en-US" sz="2800" b="0" i="1" smtClean="0">
                          <a:solidFill>
                            <a:srgbClr val="FF0000"/>
                          </a:solidFill>
                          <a:latin typeface="Cambria Math" panose="02040503050406030204" pitchFamily="18" charset="0"/>
                        </a:rPr>
                        <m:t>&gt;0</m:t>
                      </m:r>
                    </m:oMath>
                  </m:oMathPara>
                </a14:m>
                <a:endParaRPr lang="mn-MN" sz="28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AB0304CF-5349-0DA0-5A50-5D159912EE2C}"/>
                  </a:ext>
                </a:extLst>
              </p:cNvPr>
              <p:cNvSpPr txBox="1">
                <a:spLocks noRot="1" noChangeAspect="1" noMove="1" noResize="1" noEditPoints="1" noAdjustHandles="1" noChangeArrowheads="1" noChangeShapeType="1" noTextEdit="1"/>
              </p:cNvSpPr>
              <p:nvPr/>
            </p:nvSpPr>
            <p:spPr>
              <a:xfrm>
                <a:off x="321448" y="4373232"/>
                <a:ext cx="3583802" cy="523220"/>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B0D4A65C-476E-248D-6C81-1340247A16CB}"/>
              </a:ext>
            </a:extLst>
          </p:cNvPr>
          <p:cNvSpPr txBox="1"/>
          <p:nvPr/>
        </p:nvSpPr>
        <p:spPr>
          <a:xfrm>
            <a:off x="3802088" y="4390397"/>
            <a:ext cx="2203149" cy="646331"/>
          </a:xfrm>
          <a:prstGeom prst="rect">
            <a:avLst/>
          </a:prstGeom>
          <a:noFill/>
        </p:spPr>
        <p:txBody>
          <a:bodyPr wrap="square" rtlCol="0">
            <a:spAutoFit/>
          </a:bodyPr>
          <a:lstStyle/>
          <a:p>
            <a:pPr algn="ctr"/>
            <a:r>
              <a:rPr lang="mn-MN" dirty="0">
                <a:solidFill>
                  <a:srgbClr val="002060"/>
                </a:solidFill>
                <a:latin typeface="Times New Roman" panose="02020603050405020304" pitchFamily="18" charset="0"/>
                <a:cs typeface="Times New Roman" panose="02020603050405020304" pitchFamily="18" charset="0"/>
              </a:rPr>
              <a:t>Эерэг ажлын цэвэр капиталтай. </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E880C787-F72C-72C9-19C5-4FFAF40F7DFF}"/>
              </a:ext>
            </a:extLst>
          </p:cNvPr>
          <p:cNvPicPr>
            <a:picLocks noChangeAspect="1"/>
          </p:cNvPicPr>
          <p:nvPr/>
        </p:nvPicPr>
        <p:blipFill>
          <a:blip r:embed="rId6"/>
          <a:stretch>
            <a:fillRect/>
          </a:stretch>
        </p:blipFill>
        <p:spPr>
          <a:xfrm>
            <a:off x="321448" y="2306784"/>
            <a:ext cx="5569086" cy="2010170"/>
          </a:xfrm>
          <a:prstGeom prst="rect">
            <a:avLst/>
          </a:prstGeom>
        </p:spPr>
      </p:pic>
      <p:pic>
        <p:nvPicPr>
          <p:cNvPr id="16" name="Picture 15">
            <a:extLst>
              <a:ext uri="{FF2B5EF4-FFF2-40B4-BE49-F238E27FC236}">
                <a16:creationId xmlns:a16="http://schemas.microsoft.com/office/drawing/2014/main" id="{C676C5D9-9F7E-E476-428D-6704F357C98C}"/>
              </a:ext>
            </a:extLst>
          </p:cNvPr>
          <p:cNvPicPr>
            <a:picLocks noChangeAspect="1"/>
          </p:cNvPicPr>
          <p:nvPr/>
        </p:nvPicPr>
        <p:blipFill>
          <a:blip r:embed="rId7"/>
          <a:stretch>
            <a:fillRect/>
          </a:stretch>
        </p:blipFill>
        <p:spPr>
          <a:xfrm>
            <a:off x="6038609" y="2306784"/>
            <a:ext cx="5784317" cy="2010170"/>
          </a:xfrm>
          <a:prstGeom prst="rect">
            <a:avLst/>
          </a:prstGeom>
        </p:spPr>
      </p:pic>
      <p:sp>
        <p:nvSpPr>
          <p:cNvPr id="17" name="TextBox 16">
            <a:extLst>
              <a:ext uri="{FF2B5EF4-FFF2-40B4-BE49-F238E27FC236}">
                <a16:creationId xmlns:a16="http://schemas.microsoft.com/office/drawing/2014/main" id="{7DC951BB-1454-A0FC-36D9-4164F17FFE5E}"/>
              </a:ext>
            </a:extLst>
          </p:cNvPr>
          <p:cNvSpPr txBox="1"/>
          <p:nvPr/>
        </p:nvSpPr>
        <p:spPr>
          <a:xfrm>
            <a:off x="192409" y="5015315"/>
            <a:ext cx="4917799" cy="1569660"/>
          </a:xfrm>
          <a:prstGeom prst="rect">
            <a:avLst/>
          </a:prstGeom>
          <a:solidFill>
            <a:schemeClr val="accent6">
              <a:lumMod val="20000"/>
              <a:lumOff val="80000"/>
            </a:schemeClr>
          </a:solidFill>
        </p:spPr>
        <p:txBody>
          <a:bodyPr wrap="square" rtlCol="0">
            <a:spAutoFit/>
          </a:bodyPr>
          <a:lstStyle/>
          <a:p>
            <a:pPr algn="just"/>
            <a:r>
              <a:rPr lang="mn-MN" sz="2400" dirty="0">
                <a:solidFill>
                  <a:srgbClr val="002060"/>
                </a:solidFill>
                <a:latin typeface="Times New Roman" panose="02020603050405020304" pitchFamily="18" charset="0"/>
                <a:cs typeface="Times New Roman" panose="02020603050405020304" pitchFamily="18" charset="0"/>
              </a:rPr>
              <a:t>Энэ үед эргэлтийн хөрөнгийн зарим хэсэг богино хугацаат эх үүсвэрээр, үлдсэн хэсэг нь урт хугацаат эх үүсвэрээр санхүүжнэ.</a:t>
            </a:r>
            <a:endParaRPr lang="en-US" sz="2400"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5706C33-EC29-32B3-5857-26F91E8F703D}"/>
                  </a:ext>
                </a:extLst>
              </p:cNvPr>
              <p:cNvSpPr txBox="1"/>
              <p:nvPr/>
            </p:nvSpPr>
            <p:spPr>
              <a:xfrm>
                <a:off x="6096000" y="4374489"/>
                <a:ext cx="3583802" cy="523220"/>
              </a:xfrm>
              <a:prstGeom prst="rect">
                <a:avLst/>
              </a:prstGeom>
              <a:noFill/>
            </p:spPr>
            <p:txBody>
              <a:bodyPr wrap="square">
                <a:spAutoFit/>
              </a:bodyPr>
              <a:lstStyle/>
              <a:p>
                <a:pPr marL="0" indent="0" algn="just">
                  <a:buNone/>
                </a:pPr>
                <a14:m>
                  <m:oMathPara xmlns:m="http://schemas.openxmlformats.org/officeDocument/2006/math">
                    <m:oMathParaPr>
                      <m:jc m:val="centerGroup"/>
                    </m:oMathParaPr>
                    <m:oMath xmlns:m="http://schemas.openxmlformats.org/officeDocument/2006/math">
                      <m:r>
                        <a:rPr lang="mn-MN" sz="2800" b="0" i="1" smtClean="0">
                          <a:solidFill>
                            <a:srgbClr val="FF0000"/>
                          </a:solidFill>
                          <a:latin typeface="Cambria Math" panose="02040503050406030204" pitchFamily="18" charset="0"/>
                        </a:rPr>
                        <m:t>АЦК</m:t>
                      </m:r>
                      <m:r>
                        <a:rPr lang="en-US" sz="2800" b="0" i="1" smtClean="0">
                          <a:solidFill>
                            <a:srgbClr val="FF0000"/>
                          </a:solidFill>
                          <a:latin typeface="Cambria Math" panose="02040503050406030204" pitchFamily="18" charset="0"/>
                        </a:rPr>
                        <m:t>=</m:t>
                      </m:r>
                      <m:r>
                        <a:rPr lang="mn-MN" sz="2800" b="0" i="1" smtClean="0">
                          <a:solidFill>
                            <a:srgbClr val="FF0000"/>
                          </a:solidFill>
                          <a:latin typeface="Cambria Math" panose="02040503050406030204" pitchFamily="18" charset="0"/>
                        </a:rPr>
                        <m:t>ЭХ−ЭЭҮ</m:t>
                      </m:r>
                      <m:r>
                        <a:rPr lang="en-US" sz="2800" b="0" i="1" smtClean="0">
                          <a:solidFill>
                            <a:srgbClr val="FF0000"/>
                          </a:solidFill>
                          <a:latin typeface="Cambria Math" panose="02040503050406030204" pitchFamily="18" charset="0"/>
                        </a:rPr>
                        <m:t>&lt;0</m:t>
                      </m:r>
                    </m:oMath>
                  </m:oMathPara>
                </a14:m>
                <a:endParaRPr lang="mn-MN" sz="28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85706C33-EC29-32B3-5857-26F91E8F703D}"/>
                  </a:ext>
                </a:extLst>
              </p:cNvPr>
              <p:cNvSpPr txBox="1">
                <a:spLocks noRot="1" noChangeAspect="1" noMove="1" noResize="1" noEditPoints="1" noAdjustHandles="1" noChangeArrowheads="1" noChangeShapeType="1" noTextEdit="1"/>
              </p:cNvSpPr>
              <p:nvPr/>
            </p:nvSpPr>
            <p:spPr>
              <a:xfrm>
                <a:off x="6096000" y="4374489"/>
                <a:ext cx="3583802" cy="523220"/>
              </a:xfrm>
              <a:prstGeom prst="rect">
                <a:avLst/>
              </a:prstGeom>
              <a:blipFill>
                <a:blip r:embed="rId8"/>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5FA46FE7-BA45-7549-4064-08E3263D8271}"/>
              </a:ext>
            </a:extLst>
          </p:cNvPr>
          <p:cNvSpPr txBox="1"/>
          <p:nvPr/>
        </p:nvSpPr>
        <p:spPr>
          <a:xfrm>
            <a:off x="9739356" y="4390397"/>
            <a:ext cx="2038189" cy="646331"/>
          </a:xfrm>
          <a:prstGeom prst="rect">
            <a:avLst/>
          </a:prstGeom>
          <a:noFill/>
        </p:spPr>
        <p:txBody>
          <a:bodyPr wrap="square" rtlCol="0">
            <a:spAutoFit/>
          </a:bodyPr>
          <a:lstStyle/>
          <a:p>
            <a:pPr algn="ctr"/>
            <a:r>
              <a:rPr lang="mn-MN" dirty="0">
                <a:solidFill>
                  <a:srgbClr val="002060"/>
                </a:solidFill>
                <a:latin typeface="Times New Roman" panose="02020603050405020304" pitchFamily="18" charset="0"/>
                <a:cs typeface="Times New Roman" panose="02020603050405020304" pitchFamily="18" charset="0"/>
              </a:rPr>
              <a:t>Сөрөг ажлын цэвэр капиталтай. </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8B4F3FD8-79BE-27FD-EE8C-1535DC42BE44}"/>
              </a:ext>
            </a:extLst>
          </p:cNvPr>
          <p:cNvSpPr txBox="1"/>
          <p:nvPr/>
        </p:nvSpPr>
        <p:spPr>
          <a:xfrm>
            <a:off x="5627033" y="5036728"/>
            <a:ext cx="6195893" cy="1569660"/>
          </a:xfrm>
          <a:prstGeom prst="rect">
            <a:avLst/>
          </a:prstGeom>
          <a:solidFill>
            <a:schemeClr val="accent4">
              <a:lumMod val="20000"/>
              <a:lumOff val="80000"/>
            </a:schemeClr>
          </a:solidFill>
        </p:spPr>
        <p:txBody>
          <a:bodyPr wrap="square" rtlCol="0">
            <a:spAutoFit/>
          </a:bodyPr>
          <a:lstStyle/>
          <a:p>
            <a:pPr algn="just"/>
            <a:r>
              <a:rPr lang="mn-MN" sz="2400" dirty="0">
                <a:solidFill>
                  <a:srgbClr val="002060"/>
                </a:solidFill>
                <a:latin typeface="Times New Roman" panose="02020603050405020304" pitchFamily="18" charset="0"/>
                <a:cs typeface="Times New Roman" panose="02020603050405020304" pitchFamily="18" charset="0"/>
              </a:rPr>
              <a:t>Энэ үед урт хугацаатай буюу үндсэн хөрөнгийн зарим хэсгийг богино хугацаат эх үүсвэрээр санхүүжүүлэх бөгөөд үүнийг </a:t>
            </a:r>
            <a:r>
              <a:rPr lang="mn-MN" sz="2400" b="1" dirty="0">
                <a:solidFill>
                  <a:srgbClr val="002060"/>
                </a:solidFill>
                <a:latin typeface="Times New Roman" panose="02020603050405020304" pitchFamily="18" charset="0"/>
                <a:cs typeface="Times New Roman" panose="02020603050405020304" pitchFamily="18" charset="0"/>
              </a:rPr>
              <a:t>сөрөг ажлын цэвэр капитал </a:t>
            </a:r>
            <a:r>
              <a:rPr lang="mn-MN" sz="2400" dirty="0">
                <a:solidFill>
                  <a:srgbClr val="002060"/>
                </a:solidFill>
                <a:latin typeface="Times New Roman" panose="02020603050405020304" pitchFamily="18" charset="0"/>
                <a:cs typeface="Times New Roman" panose="02020603050405020304" pitchFamily="18" charset="0"/>
              </a:rPr>
              <a:t>гэнэ.  </a:t>
            </a:r>
          </a:p>
        </p:txBody>
      </p:sp>
    </p:spTree>
    <p:extLst>
      <p:ext uri="{BB962C8B-B14F-4D97-AF65-F5344CB8AC3E}">
        <p14:creationId xmlns:p14="http://schemas.microsoft.com/office/powerpoint/2010/main" val="2975200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A7CFF-4D75-2065-6A49-2C9853431767}"/>
              </a:ext>
            </a:extLst>
          </p:cNvPr>
          <p:cNvSpPr>
            <a:spLocks noGrp="1"/>
          </p:cNvSpPr>
          <p:nvPr>
            <p:ph type="title"/>
          </p:nvPr>
        </p:nvSpPr>
        <p:spPr>
          <a:xfrm>
            <a:off x="104774" y="79376"/>
            <a:ext cx="11934825" cy="887412"/>
          </a:xfrm>
        </p:spPr>
        <p:txBody>
          <a:bodyPr>
            <a:noAutofit/>
          </a:bodyPr>
          <a:lstStyle/>
          <a:p>
            <a:r>
              <a:rPr lang="mn-MN" sz="2800" b="1" dirty="0">
                <a:solidFill>
                  <a:srgbClr val="0070C0"/>
                </a:solidFill>
                <a:latin typeface="Times New Roman" panose="02020603050405020304" pitchFamily="18" charset="0"/>
                <a:cs typeface="Times New Roman" panose="02020603050405020304" pitchFamily="18" charset="0"/>
              </a:rPr>
              <a:t>Мөнгөн хөрөнгийн </a:t>
            </a:r>
            <a:r>
              <a:rPr lang="en-US" sz="2800" b="1" dirty="0">
                <a:solidFill>
                  <a:srgbClr val="0070C0"/>
                </a:solidFill>
                <a:latin typeface="Times New Roman" panose="02020603050405020304" pitchFamily="18" charset="0"/>
                <a:cs typeface="Times New Roman" panose="02020603050405020304" pitchFamily="18" charset="0"/>
              </a:rPr>
              <a:t>(</a:t>
            </a:r>
            <a:r>
              <a:rPr lang="mn-MN" sz="2800" b="1" dirty="0">
                <a:solidFill>
                  <a:srgbClr val="0070C0"/>
                </a:solidFill>
                <a:latin typeface="Times New Roman" panose="02020603050405020304" pitchFamily="18" charset="0"/>
                <a:cs typeface="Times New Roman" panose="02020603050405020304" pitchFamily="18" charset="0"/>
              </a:rPr>
              <a:t>эргэлтийн хөрөнгө буюу ажлын капиталын</a:t>
            </a:r>
            <a:r>
              <a:rPr lang="en-US" sz="2800" b="1" dirty="0">
                <a:solidFill>
                  <a:srgbClr val="0070C0"/>
                </a:solidFill>
                <a:latin typeface="Times New Roman" panose="02020603050405020304" pitchFamily="18" charset="0"/>
                <a:cs typeface="Times New Roman" panose="02020603050405020304" pitchFamily="18" charset="0"/>
              </a:rPr>
              <a:t>) </a:t>
            </a:r>
            <a:r>
              <a:rPr lang="mn-MN" sz="2800" b="1" dirty="0">
                <a:solidFill>
                  <a:srgbClr val="0070C0"/>
                </a:solidFill>
                <a:latin typeface="Times New Roman" panose="02020603050405020304" pitchFamily="18" charset="0"/>
                <a:cs typeface="Times New Roman" panose="02020603050405020304" pitchFamily="18" charset="0"/>
              </a:rPr>
              <a:t>шилжилтийн мөчлөг. </a:t>
            </a:r>
            <a:r>
              <a:rPr lang="en-US" sz="2800" b="1" dirty="0">
                <a:solidFill>
                  <a:schemeClr val="accent2">
                    <a:lumMod val="75000"/>
                  </a:schemeClr>
                </a:solidFill>
                <a:latin typeface="Times New Roman" panose="02020603050405020304" pitchFamily="18" charset="0"/>
                <a:cs typeface="Times New Roman" panose="02020603050405020304" pitchFamily="18" charset="0"/>
              </a:rPr>
              <a:t>Cash conversion cycle – CCC </a:t>
            </a:r>
          </a:p>
        </p:txBody>
      </p:sp>
      <p:sp>
        <p:nvSpPr>
          <p:cNvPr id="5" name="Content Placeholder 4">
            <a:extLst>
              <a:ext uri="{FF2B5EF4-FFF2-40B4-BE49-F238E27FC236}">
                <a16:creationId xmlns:a16="http://schemas.microsoft.com/office/drawing/2014/main" id="{D4A2748E-2E93-A3A3-9B0B-797A4A3A695F}"/>
              </a:ext>
            </a:extLst>
          </p:cNvPr>
          <p:cNvSpPr>
            <a:spLocks noGrp="1"/>
          </p:cNvSpPr>
          <p:nvPr>
            <p:ph idx="1"/>
          </p:nvPr>
        </p:nvSpPr>
        <p:spPr>
          <a:xfrm>
            <a:off x="104773" y="813277"/>
            <a:ext cx="11934825" cy="4351338"/>
          </a:xfrm>
        </p:spPr>
        <p:txBody>
          <a:bodyPr/>
          <a:lstStyle/>
          <a:p>
            <a:pPr algn="just"/>
            <a:r>
              <a:rPr lang="mn-MN" dirty="0">
                <a:solidFill>
                  <a:srgbClr val="002060"/>
                </a:solidFill>
                <a:latin typeface="Times New Roman" panose="02020603050405020304" pitchFamily="18" charset="0"/>
                <a:cs typeface="Times New Roman" panose="02020603050405020304" pitchFamily="18" charset="0"/>
              </a:rPr>
              <a:t>Компанийн</a:t>
            </a: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өдөр тутмын үйл ажиллагааны явцад ажлын капитал нэг хэлбэрээс нөгөөд шилжин орчиж байдаг. </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E87D8AC-5DE3-FA5D-3961-23A73EFE189F}"/>
              </a:ext>
            </a:extLst>
          </p:cNvPr>
          <p:cNvPicPr>
            <a:picLocks noChangeAspect="1"/>
          </p:cNvPicPr>
          <p:nvPr/>
        </p:nvPicPr>
        <p:blipFill>
          <a:blip r:embed="rId3"/>
          <a:stretch>
            <a:fillRect/>
          </a:stretch>
        </p:blipFill>
        <p:spPr>
          <a:xfrm>
            <a:off x="247650" y="1780099"/>
            <a:ext cx="8072534" cy="4449251"/>
          </a:xfrm>
          <a:prstGeom prst="rect">
            <a:avLst/>
          </a:prstGeom>
        </p:spPr>
      </p:pic>
      <p:sp>
        <p:nvSpPr>
          <p:cNvPr id="7" name="TextBox 6">
            <a:extLst>
              <a:ext uri="{FF2B5EF4-FFF2-40B4-BE49-F238E27FC236}">
                <a16:creationId xmlns:a16="http://schemas.microsoft.com/office/drawing/2014/main" id="{5E302F8E-79E3-068A-3E36-5509AD68ADE2}"/>
              </a:ext>
            </a:extLst>
          </p:cNvPr>
          <p:cNvSpPr txBox="1"/>
          <p:nvPr/>
        </p:nvSpPr>
        <p:spPr>
          <a:xfrm>
            <a:off x="8320184" y="1461761"/>
            <a:ext cx="3538441" cy="3046988"/>
          </a:xfrm>
          <a:prstGeom prst="rect">
            <a:avLst/>
          </a:prstGeom>
          <a:solidFill>
            <a:schemeClr val="accent4">
              <a:lumMod val="20000"/>
              <a:lumOff val="80000"/>
            </a:schemeClr>
          </a:solidFill>
        </p:spPr>
        <p:txBody>
          <a:bodyPr wrap="square" rtlCol="0">
            <a:spAutoFit/>
          </a:bodyPr>
          <a:lstStyle/>
          <a:p>
            <a:r>
              <a:rPr lang="mn-MN" sz="2400" dirty="0">
                <a:solidFill>
                  <a:srgbClr val="002060"/>
                </a:solidFill>
                <a:latin typeface="Times New Roman" panose="02020603050405020304" pitchFamily="18" charset="0"/>
                <a:cs typeface="Times New Roman" panose="02020603050405020304" pitchFamily="18" charset="0"/>
              </a:rPr>
              <a:t>Эдгээр бүрэлдэхүүнээс гадна </a:t>
            </a:r>
          </a:p>
          <a:p>
            <a:pPr marL="342900" indent="-342900">
              <a:buFont typeface="Wingdings" panose="05000000000000000000" pitchFamily="2" charset="2"/>
              <a:buChar char="ü"/>
            </a:pPr>
            <a:r>
              <a:rPr lang="mn-MN" sz="2400" b="1" dirty="0">
                <a:solidFill>
                  <a:srgbClr val="002060"/>
                </a:solidFill>
                <a:latin typeface="Times New Roman" panose="02020603050405020304" pitchFamily="18" charset="0"/>
                <a:cs typeface="Times New Roman" panose="02020603050405020304" pitchFamily="18" charset="0"/>
              </a:rPr>
              <a:t>Түргэн борлогдох чадвартай үнэт цаас</a:t>
            </a:r>
            <a:r>
              <a:rPr lang="mn-MN" sz="2400" dirty="0">
                <a:solidFill>
                  <a:srgbClr val="002060"/>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ü"/>
            </a:pPr>
            <a:r>
              <a:rPr lang="mn-MN" sz="2400" b="1" dirty="0">
                <a:solidFill>
                  <a:srgbClr val="002060"/>
                </a:solidFill>
                <a:latin typeface="Times New Roman" panose="02020603050405020304" pitchFamily="18" charset="0"/>
                <a:cs typeface="Times New Roman" panose="02020603050405020304" pitchFamily="18" charset="0"/>
              </a:rPr>
              <a:t>Урьдчилан төлөгдсөн зардлууд </a:t>
            </a:r>
          </a:p>
          <a:p>
            <a:r>
              <a:rPr lang="mn-MN" sz="2400" dirty="0">
                <a:solidFill>
                  <a:srgbClr val="002060"/>
                </a:solidFill>
                <a:latin typeface="Times New Roman" panose="02020603050405020304" pitchFamily="18" charset="0"/>
                <a:cs typeface="Times New Roman" panose="02020603050405020304" pitchFamily="18" charset="0"/>
              </a:rPr>
              <a:t>зэрэг нь ажлын запиталд орно. </a:t>
            </a: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289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A7CFF-4D75-2065-6A49-2C9853431767}"/>
              </a:ext>
            </a:extLst>
          </p:cNvPr>
          <p:cNvSpPr>
            <a:spLocks noGrp="1"/>
          </p:cNvSpPr>
          <p:nvPr>
            <p:ph type="title"/>
          </p:nvPr>
        </p:nvSpPr>
        <p:spPr>
          <a:xfrm>
            <a:off x="127803" y="98426"/>
            <a:ext cx="11725995" cy="682624"/>
          </a:xfrm>
        </p:spPr>
        <p:txBody>
          <a:bodyPr>
            <a:normAutofit fontScale="90000"/>
          </a:bodyPr>
          <a:lstStyle/>
          <a:p>
            <a:r>
              <a:rPr lang="mn-MN" sz="3200" b="1" dirty="0">
                <a:solidFill>
                  <a:srgbClr val="0070C0"/>
                </a:solidFill>
                <a:latin typeface="Times New Roman" panose="02020603050405020304" pitchFamily="18" charset="0"/>
                <a:cs typeface="Times New Roman" panose="02020603050405020304" pitchFamily="18" charset="0"/>
              </a:rPr>
              <a:t>Мөнгөн хөрөнгийн шилжилтийн мөчлөг.</a:t>
            </a:r>
            <a:br>
              <a:rPr lang="mn-MN" sz="3200" b="1" dirty="0">
                <a:solidFill>
                  <a:srgbClr val="0070C0"/>
                </a:solidFill>
                <a:latin typeface="Times New Roman" panose="02020603050405020304" pitchFamily="18" charset="0"/>
                <a:cs typeface="Times New Roman" panose="02020603050405020304" pitchFamily="18" charset="0"/>
              </a:rPr>
            </a:br>
            <a:r>
              <a:rPr lang="en-US" sz="3200" b="1" dirty="0">
                <a:solidFill>
                  <a:schemeClr val="accent2">
                    <a:lumMod val="75000"/>
                  </a:schemeClr>
                </a:solidFill>
                <a:latin typeface="Times New Roman" panose="02020603050405020304" pitchFamily="18" charset="0"/>
                <a:cs typeface="Times New Roman" panose="02020603050405020304" pitchFamily="18" charset="0"/>
              </a:rPr>
              <a:t>Cash conversion cycle – CCC </a:t>
            </a:r>
            <a:endParaRPr lang="en-US" sz="32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4A2748E-2E93-A3A3-9B0B-797A4A3A695F}"/>
              </a:ext>
            </a:extLst>
          </p:cNvPr>
          <p:cNvSpPr>
            <a:spLocks noGrp="1"/>
          </p:cNvSpPr>
          <p:nvPr>
            <p:ph idx="1"/>
          </p:nvPr>
        </p:nvSpPr>
        <p:spPr>
          <a:xfrm>
            <a:off x="0" y="781050"/>
            <a:ext cx="12011025" cy="5476875"/>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Мөнгөн хөрөнгийн шилжилтийн мөчлөг (ССС)-ийг хугацааны гурван шатлалаар хийнэ:</a:t>
            </a:r>
          </a:p>
          <a:p>
            <a:pPr marL="971550" lvl="1" indent="-514350" algn="just">
              <a:buFont typeface="+mj-lt"/>
              <a:buAutoNum type="arabicPeriod"/>
            </a:pPr>
            <a:r>
              <a:rPr lang="mn-MN" sz="2800" b="1" dirty="0">
                <a:solidFill>
                  <a:srgbClr val="002060"/>
                </a:solidFill>
                <a:latin typeface="Times New Roman" panose="02020603050405020304" pitchFamily="18" charset="0"/>
                <a:cs typeface="Times New Roman" panose="02020603050405020304" pitchFamily="18" charset="0"/>
              </a:rPr>
              <a:t>Бараа материалын шилжих хугацаа (</a:t>
            </a:r>
            <a:r>
              <a:rPr lang="en-US" sz="2800" b="1" dirty="0">
                <a:solidFill>
                  <a:srgbClr val="002060"/>
                </a:solidFill>
                <a:latin typeface="Times New Roman" panose="02020603050405020304" pitchFamily="18" charset="0"/>
                <a:cs typeface="Times New Roman" panose="02020603050405020304" pitchFamily="18" charset="0"/>
              </a:rPr>
              <a:t>Inventory conversion period</a:t>
            </a:r>
            <a:r>
              <a:rPr lang="mn-MN" sz="2800" b="1" dirty="0">
                <a:solidFill>
                  <a:srgbClr val="002060"/>
                </a:solidFill>
                <a:latin typeface="Times New Roman" panose="02020603050405020304" pitchFamily="18" charset="0"/>
                <a:cs typeface="Times New Roman" panose="02020603050405020304" pitchFamily="18" charset="0"/>
              </a:rPr>
              <a:t> – </a:t>
            </a:r>
            <a:r>
              <a:rPr lang="en-US" sz="2800" b="1" dirty="0">
                <a:solidFill>
                  <a:srgbClr val="002060"/>
                </a:solidFill>
                <a:latin typeface="Times New Roman" panose="02020603050405020304" pitchFamily="18" charset="0"/>
                <a:cs typeface="Times New Roman" panose="02020603050405020304" pitchFamily="18" charset="0"/>
              </a:rPr>
              <a:t>ICP). </a:t>
            </a:r>
            <a:r>
              <a:rPr lang="mn-MN" sz="2800" dirty="0">
                <a:solidFill>
                  <a:srgbClr val="002060"/>
                </a:solidFill>
                <a:latin typeface="Times New Roman" panose="02020603050405020304" pitchFamily="18" charset="0"/>
                <a:cs typeface="Times New Roman" panose="02020603050405020304" pitchFamily="18" charset="0"/>
              </a:rPr>
              <a:t>Түүхий эд, материалыг эцсийн бүтээгдэхүүн болгож зарахад шаардагдах дундаж хугацаа. </a:t>
            </a:r>
          </a:p>
          <a:p>
            <a:pPr marL="971550" lvl="1" indent="-514350" algn="just">
              <a:buFont typeface="+mj-lt"/>
              <a:buAutoNum type="arabicPeriod"/>
            </a:pPr>
            <a:r>
              <a:rPr lang="mn-MN" sz="2800" b="1" dirty="0">
                <a:solidFill>
                  <a:srgbClr val="002060"/>
                </a:solidFill>
                <a:latin typeface="Times New Roman" panose="02020603050405020304" pitchFamily="18" charset="0"/>
                <a:cs typeface="Times New Roman" panose="02020603050405020304" pitchFamily="18" charset="0"/>
              </a:rPr>
              <a:t>Авлага цуглуулах дундаж хугацаа (</a:t>
            </a:r>
            <a:r>
              <a:rPr lang="en-US" sz="2800" b="1" dirty="0">
                <a:solidFill>
                  <a:srgbClr val="002060"/>
                </a:solidFill>
                <a:latin typeface="Times New Roman" panose="02020603050405020304" pitchFamily="18" charset="0"/>
                <a:cs typeface="Times New Roman" panose="02020603050405020304" pitchFamily="18" charset="0"/>
              </a:rPr>
              <a:t>Average collection period – </a:t>
            </a:r>
            <a:r>
              <a:rPr lang="mn-MN" sz="2800" b="1" dirty="0">
                <a:solidFill>
                  <a:srgbClr val="002060"/>
                </a:solidFill>
                <a:latin typeface="Times New Roman" panose="02020603050405020304" pitchFamily="18" charset="0"/>
                <a:cs typeface="Times New Roman" panose="02020603050405020304" pitchFamily="18" charset="0"/>
              </a:rPr>
              <a:t>АСР). </a:t>
            </a:r>
            <a:r>
              <a:rPr lang="mn-MN" sz="2800" dirty="0">
                <a:solidFill>
                  <a:srgbClr val="002060"/>
                </a:solidFill>
                <a:latin typeface="Times New Roman" panose="02020603050405020304" pitchFamily="18" charset="0"/>
                <a:cs typeface="Times New Roman" panose="02020603050405020304" pitchFamily="18" charset="0"/>
              </a:rPr>
              <a:t>Худалдан авагчид авсан барааныхаа төлбөр төлөх хугацаа буюу Борлуулалтаар бий болсон авлага мөнгө болох дундаж хугацаа. </a:t>
            </a:r>
          </a:p>
          <a:p>
            <a:pPr lvl="2" algn="just"/>
            <a:r>
              <a:rPr lang="mn-MN" sz="2400" dirty="0">
                <a:solidFill>
                  <a:srgbClr val="002060"/>
                </a:solidFill>
                <a:latin typeface="Times New Roman" panose="02020603050405020304" pitchFamily="18" charset="0"/>
                <a:cs typeface="Times New Roman" panose="02020603050405020304" pitchFamily="18" charset="0"/>
              </a:rPr>
              <a:t>Авлага цуглуулах хугацааг өөрөөр бас </a:t>
            </a:r>
            <a:r>
              <a:rPr lang="mn-MN" sz="2400" b="1" dirty="0">
                <a:solidFill>
                  <a:srgbClr val="002060"/>
                </a:solidFill>
                <a:latin typeface="Times New Roman" panose="02020603050405020304" pitchFamily="18" charset="0"/>
                <a:cs typeface="Times New Roman" panose="02020603050405020304" pitchFamily="18" charset="0"/>
              </a:rPr>
              <a:t>борлуулалт төлөгдөөгүй өдөр (</a:t>
            </a:r>
            <a:r>
              <a:rPr lang="en-US" sz="2400" b="1" dirty="0">
                <a:solidFill>
                  <a:srgbClr val="002060"/>
                </a:solidFill>
                <a:latin typeface="Times New Roman" panose="02020603050405020304" pitchFamily="18" charset="0"/>
                <a:cs typeface="Times New Roman" panose="02020603050405020304" pitchFamily="18" charset="0"/>
              </a:rPr>
              <a:t>days’ sales outstanding (DSO)) </a:t>
            </a:r>
            <a:r>
              <a:rPr lang="mn-MN" sz="2400" dirty="0">
                <a:solidFill>
                  <a:srgbClr val="002060"/>
                </a:solidFill>
                <a:latin typeface="Times New Roman" panose="02020603050405020304" pitchFamily="18" charset="0"/>
                <a:cs typeface="Times New Roman" panose="02020603050405020304" pitchFamily="18" charset="0"/>
              </a:rPr>
              <a:t>гэдэг. </a:t>
            </a:r>
          </a:p>
          <a:p>
            <a:pPr marL="971550" lvl="1" indent="-514350" algn="just">
              <a:buFont typeface="+mj-lt"/>
              <a:buAutoNum type="arabicPeriod"/>
            </a:pPr>
            <a:r>
              <a:rPr lang="mn-MN" sz="2800" b="1" dirty="0">
                <a:solidFill>
                  <a:srgbClr val="002060"/>
                </a:solidFill>
                <a:latin typeface="Times New Roman" panose="02020603050405020304" pitchFamily="18" charset="0"/>
                <a:cs typeface="Times New Roman" panose="02020603050405020304" pitchFamily="18" charset="0"/>
              </a:rPr>
              <a:t>Төлбөр хойшлуулах хугацаа (</a:t>
            </a:r>
            <a:r>
              <a:rPr lang="en-US" sz="2800" b="1" dirty="0">
                <a:solidFill>
                  <a:srgbClr val="002060"/>
                </a:solidFill>
                <a:latin typeface="Times New Roman" panose="02020603050405020304" pitchFamily="18" charset="0"/>
                <a:cs typeface="Times New Roman" panose="02020603050405020304" pitchFamily="18" charset="0"/>
              </a:rPr>
              <a:t>Payables deferral period – PDP). </a:t>
            </a:r>
            <a:r>
              <a:rPr lang="mn-MN" sz="2800" b="1"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Түүхий эд, материал, хөдөлмөр худалдан аваад тэдгээрийн төлбөрийг хийх хоорондын хугацаа. </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0578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A7CFF-4D75-2065-6A49-2C9853431767}"/>
              </a:ext>
            </a:extLst>
          </p:cNvPr>
          <p:cNvSpPr>
            <a:spLocks noGrp="1"/>
          </p:cNvSpPr>
          <p:nvPr>
            <p:ph type="title"/>
          </p:nvPr>
        </p:nvSpPr>
        <p:spPr>
          <a:xfrm>
            <a:off x="104774" y="107951"/>
            <a:ext cx="11991975" cy="673099"/>
          </a:xfrm>
        </p:spPr>
        <p:txBody>
          <a:bodyPr>
            <a:noAutofit/>
          </a:bodyPr>
          <a:lstStyle/>
          <a:p>
            <a:r>
              <a:rPr lang="mn-MN" sz="2800" b="1" dirty="0">
                <a:solidFill>
                  <a:srgbClr val="0070C0"/>
                </a:solidFill>
                <a:latin typeface="Times New Roman" panose="02020603050405020304" pitchFamily="18" charset="0"/>
                <a:cs typeface="Times New Roman" panose="02020603050405020304" pitchFamily="18" charset="0"/>
              </a:rPr>
              <a:t>Мөнгөн хөрөнгийн шилжилтийн мөчлөг</a:t>
            </a:r>
            <a:br>
              <a:rPr lang="mn-MN" sz="2800" b="1" dirty="0">
                <a:solidFill>
                  <a:srgbClr val="002060"/>
                </a:solidFill>
                <a:latin typeface="Times New Roman" panose="02020603050405020304" pitchFamily="18" charset="0"/>
                <a:cs typeface="Times New Roman" panose="02020603050405020304" pitchFamily="18" charset="0"/>
              </a:rPr>
            </a:br>
            <a:r>
              <a:rPr lang="en-US" sz="2800" b="1" dirty="0">
                <a:solidFill>
                  <a:schemeClr val="accent2">
                    <a:lumMod val="75000"/>
                  </a:schemeClr>
                </a:solidFill>
                <a:latin typeface="Times New Roman" panose="02020603050405020304" pitchFamily="18" charset="0"/>
                <a:cs typeface="Times New Roman" panose="02020603050405020304" pitchFamily="18" charset="0"/>
              </a:rPr>
              <a:t>Cash conversion cycle – CCC </a:t>
            </a:r>
            <a:endParaRPr 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81E334F-5532-CAF4-AA86-035EC7E38B3E}"/>
                  </a:ext>
                </a:extLst>
              </p:cNvPr>
              <p:cNvSpPr>
                <a:spLocks noGrp="1"/>
              </p:cNvSpPr>
              <p:nvPr>
                <p:ph idx="1"/>
              </p:nvPr>
            </p:nvSpPr>
            <p:spPr>
              <a:xfrm>
                <a:off x="104774" y="809371"/>
                <a:ext cx="11991975" cy="6048629"/>
              </a:xfrm>
            </p:spPr>
            <p:txBody>
              <a:bodyPr>
                <a:normAutofit/>
              </a:bodyPr>
              <a:lstStyle/>
              <a:p>
                <a:r>
                  <a:rPr lang="mn-MN" dirty="0">
                    <a:solidFill>
                      <a:srgbClr val="002060"/>
                    </a:solidFill>
                    <a:latin typeface="Times New Roman" panose="02020603050405020304" pitchFamily="18" charset="0"/>
                    <a:cs typeface="Times New Roman" panose="02020603050405020304" pitchFamily="18" charset="0"/>
                  </a:rPr>
                  <a:t>Мөнгөн хөрөнгийн шилжилтийн мөчлөг: </a:t>
                </a:r>
              </a:p>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𝐶𝐶𝐶</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𝐼𝐶𝑃</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𝐴𝐶𝑃</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𝑃𝐷𝑃</m:t>
                      </m:r>
                    </m:oMath>
                  </m:oMathPara>
                </a14:m>
                <a:endParaRPr lang="mn-MN" dirty="0">
                  <a:solidFill>
                    <a:srgbClr val="FF0000"/>
                  </a:solidFill>
                  <a:latin typeface="Times New Roman" panose="02020603050405020304" pitchFamily="18" charset="0"/>
                  <a:cs typeface="Times New Roman" panose="02020603050405020304" pitchFamily="18" charset="0"/>
                </a:endParaRPr>
              </a:p>
              <a:p>
                <a:r>
                  <a:rPr lang="mn-MN" dirty="0">
                    <a:solidFill>
                      <a:srgbClr val="002060"/>
                    </a:solidFill>
                    <a:latin typeface="Times New Roman" panose="02020603050405020304" pitchFamily="18" charset="0"/>
                    <a:cs typeface="Times New Roman" panose="02020603050405020304" pitchFamily="18" charset="0"/>
                  </a:rPr>
                  <a:t>Бараа материалын шилжих хугацаа (</a:t>
                </a:r>
                <a:r>
                  <a:rPr lang="en-US" dirty="0">
                    <a:solidFill>
                      <a:srgbClr val="002060"/>
                    </a:solidFill>
                    <a:latin typeface="Times New Roman" panose="02020603050405020304" pitchFamily="18" charset="0"/>
                    <a:cs typeface="Times New Roman" panose="02020603050405020304" pitchFamily="18" charset="0"/>
                  </a:rPr>
                  <a:t>Inventory conversion period</a:t>
                </a:r>
                <a:r>
                  <a:rPr lang="mn-MN" dirty="0">
                    <a:solidFill>
                      <a:srgbClr val="002060"/>
                    </a:solidFill>
                    <a:latin typeface="Times New Roman" panose="02020603050405020304" pitchFamily="18" charset="0"/>
                    <a:cs typeface="Times New Roman" panose="02020603050405020304" pitchFamily="18" charset="0"/>
                  </a:rPr>
                  <a:t> – </a:t>
                </a:r>
                <a:r>
                  <a:rPr lang="en-US" dirty="0">
                    <a:solidFill>
                      <a:srgbClr val="002060"/>
                    </a:solidFill>
                    <a:latin typeface="Times New Roman" panose="02020603050405020304" pitchFamily="18" charset="0"/>
                    <a:cs typeface="Times New Roman" panose="02020603050405020304" pitchFamily="18" charset="0"/>
                  </a:rPr>
                  <a:t>ICP):</a:t>
                </a:r>
              </a:p>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𝐼𝐶𝑃</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𝐼𝑛𝑣𝑒𝑛𝑡𝑜𝑟𝑦</m:t>
                          </m:r>
                        </m:num>
                        <m:den>
                          <m:r>
                            <a:rPr lang="en-US" b="0" i="1" smtClean="0">
                              <a:solidFill>
                                <a:srgbClr val="FF0000"/>
                              </a:solidFill>
                              <a:latin typeface="Cambria Math" panose="02040503050406030204" pitchFamily="18" charset="0"/>
                            </a:rPr>
                            <m:t>𝐶𝑜𝑠𝑡</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𝑜𝑓</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𝑔𝑜𝑜𝑑𝑠</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𝑠𝑜𝑙𝑑</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𝑝𝑒𝑟</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𝑑𝑎𝑦</m:t>
                          </m:r>
                        </m:den>
                      </m:f>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mn-MN" b="0" i="1" smtClean="0">
                              <a:solidFill>
                                <a:srgbClr val="FF0000"/>
                              </a:solidFill>
                              <a:latin typeface="Cambria Math" panose="02040503050406030204" pitchFamily="18" charset="0"/>
                            </a:rPr>
                            <m:t>Бараа материал</m:t>
                          </m:r>
                        </m:num>
                        <m:den>
                          <m:r>
                            <a:rPr lang="mn-MN" b="0" i="1" smtClean="0">
                              <a:solidFill>
                                <a:srgbClr val="FF0000"/>
                              </a:solidFill>
                              <a:latin typeface="Cambria Math" panose="02040503050406030204" pitchFamily="18" charset="0"/>
                            </a:rPr>
                            <m:t>Нэг өдрийн ББӨ</m:t>
                          </m:r>
                        </m:den>
                      </m:f>
                    </m:oMath>
                  </m:oMathPara>
                </a14:m>
                <a:endParaRPr lang="en-US" dirty="0">
                  <a:latin typeface="Times New Roman" panose="02020603050405020304" pitchFamily="18" charset="0"/>
                  <a:cs typeface="Times New Roman" panose="02020603050405020304" pitchFamily="18" charset="0"/>
                </a:endParaRPr>
              </a:p>
              <a:p>
                <a:r>
                  <a:rPr lang="mn-MN" dirty="0">
                    <a:solidFill>
                      <a:srgbClr val="002060"/>
                    </a:solidFill>
                    <a:latin typeface="Times New Roman" panose="02020603050405020304" pitchFamily="18" charset="0"/>
                    <a:cs typeface="Times New Roman" panose="02020603050405020304" pitchFamily="18" charset="0"/>
                  </a:rPr>
                  <a:t>Авлага цуглуулах дундаж хугацаа (</a:t>
                </a:r>
                <a:r>
                  <a:rPr lang="en-US" dirty="0">
                    <a:solidFill>
                      <a:srgbClr val="002060"/>
                    </a:solidFill>
                    <a:latin typeface="Times New Roman" panose="02020603050405020304" pitchFamily="18" charset="0"/>
                    <a:cs typeface="Times New Roman" panose="02020603050405020304" pitchFamily="18" charset="0"/>
                  </a:rPr>
                  <a:t>Average collection period – </a:t>
                </a:r>
                <a:r>
                  <a:rPr lang="mn-MN" dirty="0">
                    <a:solidFill>
                      <a:srgbClr val="002060"/>
                    </a:solidFill>
                    <a:latin typeface="Times New Roman" panose="02020603050405020304" pitchFamily="18" charset="0"/>
                    <a:cs typeface="Times New Roman" panose="02020603050405020304" pitchFamily="18" charset="0"/>
                  </a:rPr>
                  <a:t>АСР):</a:t>
                </a:r>
              </a:p>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𝐴𝐶𝑃</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𝑅𝑒𝑐𝑖𝑒𝑣𝑎𝑏𝑙𝑒𝑠</m:t>
                          </m:r>
                        </m:num>
                        <m:den>
                          <m:f>
                            <m:fPr>
                              <m:type m:val="lin"/>
                              <m:ctrlPr>
                                <a:rPr lang="en-US" b="0" i="1" smtClean="0">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𝑆𝑎𝑙𝑒𝑠</m:t>
                              </m:r>
                            </m:num>
                            <m:den>
                              <m:r>
                                <a:rPr lang="en-US" b="0" i="1" smtClean="0">
                                  <a:solidFill>
                                    <a:srgbClr val="FF0000"/>
                                  </a:solidFill>
                                  <a:latin typeface="Cambria Math" panose="02040503050406030204" pitchFamily="18" charset="0"/>
                                </a:rPr>
                                <m:t>365</m:t>
                              </m:r>
                            </m:den>
                          </m:f>
                        </m:den>
                      </m:f>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mn-MN" b="0" i="1" smtClean="0">
                              <a:solidFill>
                                <a:srgbClr val="FF0000"/>
                              </a:solidFill>
                              <a:latin typeface="Cambria Math" panose="02040503050406030204" pitchFamily="18" charset="0"/>
                            </a:rPr>
                            <m:t>Авлага</m:t>
                          </m:r>
                        </m:num>
                        <m:den>
                          <m:f>
                            <m:fPr>
                              <m:type m:val="lin"/>
                              <m:ctrlPr>
                                <a:rPr lang="en-US" i="1">
                                  <a:solidFill>
                                    <a:srgbClr val="FF0000"/>
                                  </a:solidFill>
                                  <a:latin typeface="Cambria Math" panose="02040503050406030204" pitchFamily="18" charset="0"/>
                                </a:rPr>
                              </m:ctrlPr>
                            </m:fPr>
                            <m:num>
                              <m:r>
                                <a:rPr lang="mn-MN" b="0" i="1" smtClean="0">
                                  <a:solidFill>
                                    <a:srgbClr val="FF0000"/>
                                  </a:solidFill>
                                  <a:latin typeface="Cambria Math" panose="02040503050406030204" pitchFamily="18" charset="0"/>
                                </a:rPr>
                                <m:t>Борлуулалт</m:t>
                              </m:r>
                            </m:num>
                            <m:den>
                              <m:r>
                                <a:rPr lang="en-US" i="1">
                                  <a:solidFill>
                                    <a:srgbClr val="FF0000"/>
                                  </a:solidFill>
                                  <a:latin typeface="Cambria Math" panose="02040503050406030204" pitchFamily="18" charset="0"/>
                                </a:rPr>
                                <m:t>365</m:t>
                              </m:r>
                            </m:den>
                          </m:f>
                        </m:den>
                      </m:f>
                    </m:oMath>
                  </m:oMathPara>
                </a14:m>
                <a:endParaRPr lang="mn-MN" dirty="0">
                  <a:solidFill>
                    <a:srgbClr val="002060"/>
                  </a:solidFill>
                  <a:latin typeface="Times New Roman" panose="02020603050405020304" pitchFamily="18" charset="0"/>
                  <a:cs typeface="Times New Roman" panose="02020603050405020304" pitchFamily="18" charset="0"/>
                </a:endParaRPr>
              </a:p>
              <a:p>
                <a:r>
                  <a:rPr lang="mn-MN" dirty="0">
                    <a:solidFill>
                      <a:srgbClr val="002060"/>
                    </a:solidFill>
                    <a:latin typeface="Times New Roman" panose="02020603050405020304" pitchFamily="18" charset="0"/>
                    <a:cs typeface="Times New Roman" panose="02020603050405020304" pitchFamily="18" charset="0"/>
                  </a:rPr>
                  <a:t>Төлбөр хойшлуулах хугацаа (</a:t>
                </a:r>
                <a:r>
                  <a:rPr lang="en-US" dirty="0">
                    <a:solidFill>
                      <a:srgbClr val="002060"/>
                    </a:solidFill>
                    <a:latin typeface="Times New Roman" panose="02020603050405020304" pitchFamily="18" charset="0"/>
                    <a:cs typeface="Times New Roman" panose="02020603050405020304" pitchFamily="18" charset="0"/>
                  </a:rPr>
                  <a:t>Payables deferral period – PDP)</a:t>
                </a:r>
                <a:r>
                  <a:rPr lang="mn-MN" dirty="0">
                    <a:solidFill>
                      <a:srgbClr val="002060"/>
                    </a:solidFill>
                    <a:latin typeface="Times New Roman" panose="02020603050405020304" pitchFamily="18" charset="0"/>
                    <a:cs typeface="Times New Roman" panose="02020603050405020304" pitchFamily="18" charset="0"/>
                  </a:rPr>
                  <a:t>:</a:t>
                </a:r>
              </a:p>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𝑃𝐷𝑃</m:t>
                      </m:r>
                      <m:r>
                        <a:rPr lang="en-US" b="0" i="1" smtClean="0">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𝑃𝑎𝑦𝑎𝑏𝑙𝑒𝑠</m:t>
                          </m:r>
                        </m:num>
                        <m:den>
                          <m:r>
                            <a:rPr lang="en-US" b="0" i="1" smtClean="0">
                              <a:solidFill>
                                <a:srgbClr val="FF0000"/>
                              </a:solidFill>
                              <a:latin typeface="Cambria Math" panose="02040503050406030204" pitchFamily="18" charset="0"/>
                            </a:rPr>
                            <m:t>𝑃𝑢𝑟𝑐h𝑎𝑠𝑒𝑠</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𝑝𝑒𝑟</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𝑑𝑎𝑦</m:t>
                          </m:r>
                        </m:den>
                      </m:f>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𝑃𝑎𝑦𝑎𝑏𝑙𝑒𝑠</m:t>
                          </m:r>
                        </m:num>
                        <m:den>
                          <m:f>
                            <m:fPr>
                              <m:type m:val="lin"/>
                              <m:ctrlPr>
                                <a:rPr lang="en-US" i="1">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𝐶𝑜𝑠𝑡</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𝑜𝑓</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𝑔𝑜𝑜𝑑𝑠</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𝑠𝑜𝑙𝑑</m:t>
                              </m:r>
                            </m:num>
                            <m:den>
                              <m:r>
                                <a:rPr lang="en-US" i="1">
                                  <a:solidFill>
                                    <a:srgbClr val="FF0000"/>
                                  </a:solidFill>
                                  <a:latin typeface="Cambria Math" panose="02040503050406030204" pitchFamily="18" charset="0"/>
                                </a:rPr>
                                <m:t>365</m:t>
                              </m:r>
                            </m:den>
                          </m:f>
                        </m:den>
                      </m:f>
                      <m:r>
                        <a:rPr lang="en-US" b="0" i="1" smtClean="0">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mn-MN" b="0" i="1" smtClean="0">
                              <a:solidFill>
                                <a:srgbClr val="FF0000"/>
                              </a:solidFill>
                              <a:latin typeface="Cambria Math" panose="02040503050406030204" pitchFamily="18" charset="0"/>
                            </a:rPr>
                            <m:t>Төлбөр</m:t>
                          </m:r>
                        </m:num>
                        <m:den>
                          <m:r>
                            <a:rPr lang="mn-MN" b="0" i="1" smtClean="0">
                              <a:solidFill>
                                <a:srgbClr val="FF0000"/>
                              </a:solidFill>
                              <a:latin typeface="Cambria Math" panose="02040503050406030204" pitchFamily="18" charset="0"/>
                            </a:rPr>
                            <m:t>Нэг өдрийн худалдан авалт</m:t>
                          </m:r>
                        </m:den>
                      </m:f>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2" name="Content Placeholder 1">
                <a:extLst>
                  <a:ext uri="{FF2B5EF4-FFF2-40B4-BE49-F238E27FC236}">
                    <a16:creationId xmlns:a16="http://schemas.microsoft.com/office/drawing/2014/main" id="{281E334F-5532-CAF4-AA86-035EC7E38B3E}"/>
                  </a:ext>
                </a:extLst>
              </p:cNvPr>
              <p:cNvSpPr>
                <a:spLocks noGrp="1" noRot="1" noChangeAspect="1" noMove="1" noResize="1" noEditPoints="1" noAdjustHandles="1" noChangeArrowheads="1" noChangeShapeType="1" noTextEdit="1"/>
              </p:cNvSpPr>
              <p:nvPr>
                <p:ph idx="1"/>
              </p:nvPr>
            </p:nvSpPr>
            <p:spPr>
              <a:xfrm>
                <a:off x="104774" y="809371"/>
                <a:ext cx="11991975" cy="6048629"/>
              </a:xfrm>
              <a:blipFill>
                <a:blip r:embed="rId3"/>
                <a:stretch>
                  <a:fillRect l="-915" t="-1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D8082EB-121F-9DAE-3A9F-97C32709B948}"/>
                  </a:ext>
                </a:extLst>
              </p:cNvPr>
              <p:cNvSpPr txBox="1"/>
              <p:nvPr/>
            </p:nvSpPr>
            <p:spPr>
              <a:xfrm>
                <a:off x="6915151" y="5793343"/>
                <a:ext cx="4591050" cy="8224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mn-MN" sz="2400" b="0" i="1" smtClean="0">
                          <a:solidFill>
                            <a:srgbClr val="002060"/>
                          </a:solidFill>
                          <a:latin typeface="Cambria Math" panose="02040503050406030204" pitchFamily="18" charset="0"/>
                        </a:rPr>
                        <m:t>ББӨ −Борлуулсан бүтээгдэхүүний өртөг</m:t>
                      </m:r>
                    </m:oMath>
                  </m:oMathPara>
                </a14:m>
                <a:endParaRPr lang="en-US" sz="24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BD8082EB-121F-9DAE-3A9F-97C32709B948}"/>
                  </a:ext>
                </a:extLst>
              </p:cNvPr>
              <p:cNvSpPr txBox="1">
                <a:spLocks noRot="1" noChangeAspect="1" noMove="1" noResize="1" noEditPoints="1" noAdjustHandles="1" noChangeArrowheads="1" noChangeShapeType="1" noTextEdit="1"/>
              </p:cNvSpPr>
              <p:nvPr/>
            </p:nvSpPr>
            <p:spPr>
              <a:xfrm>
                <a:off x="6915151" y="5793343"/>
                <a:ext cx="4591050" cy="822469"/>
              </a:xfrm>
              <a:prstGeom prst="rect">
                <a:avLst/>
              </a:prstGeom>
              <a:blipFill>
                <a:blip r:embed="rId4"/>
                <a:stretch>
                  <a:fillRect l="-265" r="-14058" b="-10370"/>
                </a:stretch>
              </a:blipFill>
            </p:spPr>
            <p:txBody>
              <a:bodyPr/>
              <a:lstStyle/>
              <a:p>
                <a:r>
                  <a:rPr lang="en-US">
                    <a:noFill/>
                  </a:rPr>
                  <a:t> </a:t>
                </a:r>
              </a:p>
            </p:txBody>
          </p:sp>
        </mc:Fallback>
      </mc:AlternateContent>
    </p:spTree>
    <p:extLst>
      <p:ext uri="{BB962C8B-B14F-4D97-AF65-F5344CB8AC3E}">
        <p14:creationId xmlns:p14="http://schemas.microsoft.com/office/powerpoint/2010/main" val="2895418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244033" y="88901"/>
            <a:ext cx="11747942" cy="411423"/>
          </a:xfrm>
        </p:spPr>
        <p:txBody>
          <a:bodyPr>
            <a:noAutofit/>
          </a:bodyPr>
          <a:lstStyle/>
          <a:p>
            <a:pPr algn="just"/>
            <a:r>
              <a:rPr lang="mn-MN" sz="3200" b="1" dirty="0">
                <a:solidFill>
                  <a:srgbClr val="0070C0"/>
                </a:solidFill>
                <a:latin typeface="Times New Roman" panose="02020603050405020304" pitchFamily="18" charset="0"/>
                <a:cs typeface="Times New Roman" panose="02020603050405020304" pitchFamily="18" charset="0"/>
              </a:rPr>
              <a:t>Ажлын капиталын удирдлага </a:t>
            </a:r>
            <a:r>
              <a:rPr lang="en-US" sz="3200" b="1" dirty="0">
                <a:solidFill>
                  <a:srgbClr val="0070C0"/>
                </a:solidFill>
                <a:latin typeface="Times New Roman" panose="02020603050405020304" pitchFamily="18" charset="0"/>
                <a:cs typeface="Times New Roman" panose="02020603050405020304" pitchFamily="18" charset="0"/>
              </a:rPr>
              <a:t>(</a:t>
            </a:r>
            <a:r>
              <a:rPr lang="mn-MN" sz="3200" b="1" dirty="0">
                <a:solidFill>
                  <a:srgbClr val="0070C0"/>
                </a:solidFill>
                <a:latin typeface="Times New Roman" panose="02020603050405020304" pitchFamily="18" charset="0"/>
                <a:cs typeface="Times New Roman" panose="02020603050405020304" pitchFamily="18" charset="0"/>
              </a:rPr>
              <a:t>менежмент</a:t>
            </a:r>
            <a:r>
              <a:rPr lang="en-US" sz="3200" b="1" dirty="0">
                <a:solidFill>
                  <a:srgbClr val="0070C0"/>
                </a:solidFill>
                <a:latin typeface="Times New Roman" panose="02020603050405020304" pitchFamily="18" charset="0"/>
                <a:cs typeface="Times New Roman" panose="02020603050405020304" pitchFamily="18" charset="0"/>
              </a:rPr>
              <a:t>)</a:t>
            </a:r>
            <a:r>
              <a:rPr lang="mn-MN" sz="3200" b="1" dirty="0">
                <a:solidFill>
                  <a:srgbClr val="0070C0"/>
                </a:solidFill>
                <a:latin typeface="Times New Roman" panose="02020603050405020304" pitchFamily="18" charset="0"/>
                <a:cs typeface="Times New Roman" panose="02020603050405020304" pitchFamily="18" charset="0"/>
              </a:rPr>
              <a:t>, түүний онцлог</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sz="half" idx="1"/>
          </p:nvPr>
        </p:nvSpPr>
        <p:spPr>
          <a:xfrm>
            <a:off x="152399" y="486298"/>
            <a:ext cx="5425633" cy="4758802"/>
          </a:xfrm>
        </p:spPr>
        <p:txBody>
          <a:bodyPr>
            <a:noAutofit/>
          </a:bodyPr>
          <a:lstStyle/>
          <a:p>
            <a:pPr algn="just"/>
            <a:r>
              <a:rPr lang="mn-MN" sz="2600" dirty="0">
                <a:solidFill>
                  <a:srgbClr val="002060"/>
                </a:solidFill>
                <a:latin typeface="Times New Roman" panose="02020603050405020304" pitchFamily="18" charset="0"/>
                <a:cs typeface="Times New Roman" panose="02020603050405020304" pitchFamily="18" charset="0"/>
              </a:rPr>
              <a:t>Эргэлтийн хөрөнгө буюу ажлын капиталын онцлог: </a:t>
            </a:r>
          </a:p>
          <a:p>
            <a:pPr lvl="1" algn="just"/>
            <a:r>
              <a:rPr lang="mn-MN" sz="2600" dirty="0">
                <a:solidFill>
                  <a:srgbClr val="002060"/>
                </a:solidFill>
                <a:latin typeface="Times New Roman" panose="02020603050405020304" pitchFamily="18" charset="0"/>
                <a:cs typeface="Times New Roman" panose="02020603050405020304" pitchFamily="18" charset="0"/>
              </a:rPr>
              <a:t>Богино мөчлөг</a:t>
            </a:r>
            <a:r>
              <a:rPr lang="en-US" sz="2600" dirty="0">
                <a:solidFill>
                  <a:srgbClr val="002060"/>
                </a:solidFill>
                <a:latin typeface="Times New Roman" panose="02020603050405020304" pitchFamily="18" charset="0"/>
                <a:cs typeface="Times New Roman" panose="02020603050405020304" pitchFamily="18" charset="0"/>
              </a:rPr>
              <a:t>;</a:t>
            </a:r>
          </a:p>
          <a:p>
            <a:pPr lvl="1" algn="just"/>
            <a:r>
              <a:rPr lang="mn-MN" sz="2600" dirty="0">
                <a:solidFill>
                  <a:srgbClr val="002060"/>
                </a:solidFill>
                <a:latin typeface="Times New Roman" panose="02020603050405020304" pitchFamily="18" charset="0"/>
                <a:cs typeface="Times New Roman" panose="02020603050405020304" pitchFamily="18" charset="0"/>
              </a:rPr>
              <a:t>Богино хугацаанд өөр хэлбэр лүү шилждэг явдал юм.  </a:t>
            </a:r>
          </a:p>
          <a:p>
            <a:pPr algn="just"/>
            <a:r>
              <a:rPr lang="mn-MN" sz="2600" dirty="0">
                <a:solidFill>
                  <a:srgbClr val="002060"/>
                </a:solidFill>
                <a:latin typeface="Times New Roman" panose="02020603050405020304" pitchFamily="18" charset="0"/>
                <a:cs typeface="Times New Roman" panose="02020603050405020304" pitchFamily="18" charset="0"/>
              </a:rPr>
              <a:t>Энэ онцлог шинжээс хамааран ажлын капиталын удирдлага дараах онцлогтой: </a:t>
            </a:r>
          </a:p>
          <a:p>
            <a:pPr lvl="1" algn="just"/>
            <a:r>
              <a:rPr lang="mn-MN" sz="2600" dirty="0">
                <a:solidFill>
                  <a:srgbClr val="002060"/>
                </a:solidFill>
                <a:latin typeface="Times New Roman" panose="02020603050405020304" pitchFamily="18" charset="0"/>
                <a:cs typeface="Times New Roman" panose="02020603050405020304" pitchFamily="18" charset="0"/>
              </a:rPr>
              <a:t>Байнга давтагдсан шийдвэр гаргалтууд хийгдэнэ</a:t>
            </a:r>
            <a:r>
              <a:rPr lang="en-US" sz="2600" dirty="0">
                <a:solidFill>
                  <a:srgbClr val="002060"/>
                </a:solidFill>
                <a:latin typeface="Times New Roman" panose="02020603050405020304" pitchFamily="18" charset="0"/>
                <a:cs typeface="Times New Roman" panose="02020603050405020304" pitchFamily="18" charset="0"/>
              </a:rPr>
              <a:t>;</a:t>
            </a:r>
          </a:p>
          <a:p>
            <a:pPr lvl="1" algn="just"/>
            <a:r>
              <a:rPr lang="mn-MN" sz="2600" dirty="0">
                <a:solidFill>
                  <a:srgbClr val="002060"/>
                </a:solidFill>
                <a:latin typeface="Times New Roman" panose="02020603050405020304" pitchFamily="18" charset="0"/>
                <a:cs typeface="Times New Roman" panose="02020603050405020304" pitchFamily="18" charset="0"/>
              </a:rPr>
              <a:t>Цогц удирдлага шаарддаг. </a:t>
            </a:r>
          </a:p>
        </p:txBody>
      </p:sp>
      <p:sp>
        <p:nvSpPr>
          <p:cNvPr id="8" name="Content Placeholder 7">
            <a:extLst>
              <a:ext uri="{FF2B5EF4-FFF2-40B4-BE49-F238E27FC236}">
                <a16:creationId xmlns:a16="http://schemas.microsoft.com/office/drawing/2014/main" id="{2A6E3C46-52EF-8E61-0DC4-E33B930BC157}"/>
              </a:ext>
            </a:extLst>
          </p:cNvPr>
          <p:cNvSpPr>
            <a:spLocks noGrp="1"/>
          </p:cNvSpPr>
          <p:nvPr>
            <p:ph sz="half" idx="2"/>
          </p:nvPr>
        </p:nvSpPr>
        <p:spPr>
          <a:xfrm>
            <a:off x="5762625" y="557781"/>
            <a:ext cx="6229349" cy="3963589"/>
          </a:xfrm>
        </p:spPr>
        <p:txBody>
          <a:bodyPr>
            <a:normAutofit lnSpcReduction="10000"/>
          </a:bodyPr>
          <a:lstStyle/>
          <a:p>
            <a:pPr marL="285750" indent="-285750"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Мөнгөн хөрөнгийн удирдлагын шийдвэр гаргалтууд цаг тутамд, </a:t>
            </a:r>
          </a:p>
          <a:p>
            <a:pPr marL="285750" indent="-285750"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Авлага цуглуулах уйл ажиллагаа байнга хийгдэж,</a:t>
            </a:r>
          </a:p>
          <a:p>
            <a:pPr marL="285750" indent="-285750" algn="just">
              <a:buFont typeface="Wingdings" panose="05000000000000000000" pitchFamily="2" charset="2"/>
              <a:buChar char="ü"/>
            </a:pPr>
            <a:r>
              <a:rPr lang="mn-MN" dirty="0">
                <a:solidFill>
                  <a:srgbClr val="002060"/>
                </a:solidFill>
                <a:latin typeface="Times New Roman" panose="02020603050405020304" pitchFamily="18" charset="0"/>
                <a:cs typeface="Times New Roman" panose="02020603050405020304" pitchFamily="18" charset="0"/>
              </a:rPr>
              <a:t>Борлуулалт тасралтгуй явагдаж байх ёстой байдаг. </a:t>
            </a:r>
          </a:p>
          <a:p>
            <a:pPr algn="just"/>
            <a:r>
              <a:rPr lang="mn-MN" dirty="0">
                <a:solidFill>
                  <a:srgbClr val="002060"/>
                </a:solidFill>
                <a:latin typeface="Times New Roman" panose="02020603050405020304" pitchFamily="18" charset="0"/>
                <a:cs typeface="Times New Roman" panose="02020603050405020304" pitchFamily="18" charset="0"/>
              </a:rPr>
              <a:t>Энэ бүхэнд байнгын </a:t>
            </a:r>
            <a:r>
              <a:rPr lang="mn-MN" b="1" dirty="0">
                <a:solidFill>
                  <a:schemeClr val="accent2">
                    <a:lumMod val="75000"/>
                  </a:schemeClr>
                </a:solidFill>
                <a:latin typeface="Times New Roman" panose="02020603050405020304" pitchFamily="18" charset="0"/>
                <a:cs typeface="Times New Roman" panose="02020603050405020304" pitchFamily="18" charset="0"/>
              </a:rPr>
              <a:t>үр ашигтай төлөвлөлт</a:t>
            </a:r>
            <a:r>
              <a:rPr lang="mn-MN" b="1" dirty="0">
                <a:solidFill>
                  <a:srgbClr val="002060"/>
                </a:solidFill>
                <a:latin typeface="Times New Roman" panose="02020603050405020304" pitchFamily="18" charset="0"/>
                <a:cs typeface="Times New Roman" panose="02020603050405020304" pitchFamily="18" charset="0"/>
              </a:rPr>
              <a:t>, </a:t>
            </a:r>
            <a:r>
              <a:rPr lang="mn-MN" b="1" dirty="0">
                <a:solidFill>
                  <a:srgbClr val="FF0000"/>
                </a:solidFill>
                <a:latin typeface="Times New Roman" panose="02020603050405020304" pitchFamily="18" charset="0"/>
                <a:cs typeface="Times New Roman" panose="02020603050405020304" pitchFamily="18" charset="0"/>
              </a:rPr>
              <a:t>хяналт</a:t>
            </a:r>
            <a:r>
              <a:rPr lang="mn-MN" b="1" dirty="0">
                <a:solidFill>
                  <a:srgbClr val="002060"/>
                </a:solidFill>
                <a:latin typeface="Times New Roman" panose="02020603050405020304" pitchFamily="18" charset="0"/>
                <a:cs typeface="Times New Roman" panose="02020603050405020304" pitchFamily="18" charset="0"/>
              </a:rPr>
              <a:t>, </a:t>
            </a:r>
            <a:r>
              <a:rPr lang="mn-MN" b="1" dirty="0">
                <a:solidFill>
                  <a:schemeClr val="accent6">
                    <a:lumMod val="75000"/>
                  </a:schemeClr>
                </a:solidFill>
                <a:latin typeface="Times New Roman" panose="02020603050405020304" pitchFamily="18" charset="0"/>
                <a:cs typeface="Times New Roman" panose="02020603050405020304" pitchFamily="18" charset="0"/>
              </a:rPr>
              <a:t>үнэлгээ</a:t>
            </a:r>
            <a:r>
              <a:rPr lang="mn-MN" b="1" dirty="0">
                <a:solidFill>
                  <a:srgbClr val="002060"/>
                </a:solidFill>
                <a:latin typeface="Times New Roman" panose="02020603050405020304" pitchFamily="18" charset="0"/>
                <a:cs typeface="Times New Roman" panose="02020603050405020304" pitchFamily="18" charset="0"/>
              </a:rPr>
              <a:t>, </a:t>
            </a:r>
            <a:r>
              <a:rPr lang="mn-MN" b="1" dirty="0">
                <a:solidFill>
                  <a:schemeClr val="accent4">
                    <a:lumMod val="75000"/>
                  </a:schemeClr>
                </a:solidFill>
                <a:latin typeface="Times New Roman" panose="02020603050405020304" pitchFamily="18" charset="0"/>
                <a:cs typeface="Times New Roman" panose="02020603050405020304" pitchFamily="18" charset="0"/>
              </a:rPr>
              <a:t>засаж залруулах</a:t>
            </a:r>
            <a:r>
              <a:rPr lang="mn-MN" b="1" dirty="0">
                <a:solidFill>
                  <a:srgbClr val="002060"/>
                </a:solidFill>
                <a:latin typeface="Times New Roman" panose="02020603050405020304" pitchFamily="18" charset="0"/>
                <a:cs typeface="Times New Roman" panose="02020603050405020304" pitchFamily="18" charset="0"/>
              </a:rPr>
              <a:t> үйл ажиллагаа </a:t>
            </a:r>
            <a:r>
              <a:rPr lang="mn-MN" dirty="0">
                <a:solidFill>
                  <a:srgbClr val="002060"/>
                </a:solidFill>
                <a:latin typeface="Times New Roman" panose="02020603050405020304" pitchFamily="18" charset="0"/>
                <a:cs typeface="Times New Roman" panose="02020603050405020304" pitchFamily="18" charset="0"/>
              </a:rPr>
              <a:t>хийгдэх хэрэгтэй. </a:t>
            </a:r>
          </a:p>
          <a:p>
            <a:pPr algn="just"/>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74E76DA-9641-8578-91DF-7DFA0524E014}"/>
              </a:ext>
            </a:extLst>
          </p:cNvPr>
          <p:cNvSpPr txBox="1"/>
          <p:nvPr/>
        </p:nvSpPr>
        <p:spPr>
          <a:xfrm>
            <a:off x="4720782" y="4385823"/>
            <a:ext cx="7128318" cy="2062103"/>
          </a:xfrm>
          <a:prstGeom prst="rect">
            <a:avLst/>
          </a:prstGeom>
          <a:solidFill>
            <a:schemeClr val="accent6">
              <a:lumMod val="20000"/>
              <a:lumOff val="80000"/>
            </a:schemeClr>
          </a:solidFill>
        </p:spPr>
        <p:txBody>
          <a:bodyPr wrap="square">
            <a:sp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Хяналт сулрахад буруу шийдвэр гарч, асуудал үүсч эхэлнэ. Иймээс </a:t>
            </a:r>
            <a:r>
              <a:rPr lang="mn-MN" sz="3200" b="1" dirty="0">
                <a:solidFill>
                  <a:schemeClr val="accent2">
                    <a:lumMod val="75000"/>
                  </a:schemeClr>
                </a:solidFill>
                <a:latin typeface="Times New Roman" panose="02020603050405020304" pitchFamily="18" charset="0"/>
                <a:cs typeface="Times New Roman" panose="02020603050405020304" pitchFamily="18" charset="0"/>
              </a:rPr>
              <a:t>шийдвэр гаргалт бүр нь оновчтой байх хэрэгтэй.</a:t>
            </a:r>
          </a:p>
        </p:txBody>
      </p:sp>
    </p:spTree>
    <p:extLst>
      <p:ext uri="{BB962C8B-B14F-4D97-AF65-F5344CB8AC3E}">
        <p14:creationId xmlns:p14="http://schemas.microsoft.com/office/powerpoint/2010/main" val="3804840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33349" y="79376"/>
            <a:ext cx="11896725" cy="520699"/>
          </a:xfrm>
        </p:spPr>
        <p:txBody>
          <a:bodyPr>
            <a:noAutofit/>
          </a:bodyPr>
          <a:lstStyle/>
          <a:p>
            <a:pPr algn="just"/>
            <a:r>
              <a:rPr lang="mn-MN" sz="3600" b="1" dirty="0">
                <a:solidFill>
                  <a:srgbClr val="0070C0"/>
                </a:solidFill>
                <a:latin typeface="Times New Roman" panose="02020603050405020304" pitchFamily="18" charset="0"/>
                <a:cs typeface="Times New Roman" panose="02020603050405020304" pitchFamily="18" charset="0"/>
              </a:rPr>
              <a:t>Эргэлтийн хөрөнгөд хийх хөрөнгө оруулалтын бодлого</a:t>
            </a:r>
            <a:endParaRPr lang="en-US" sz="36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133349" y="600075"/>
            <a:ext cx="11896725" cy="5092861"/>
          </a:xfrm>
        </p:spPr>
        <p:txBody>
          <a:bodyPr>
            <a:normAutofit/>
          </a:bodyPr>
          <a:lstStyle/>
          <a:p>
            <a:pPr algn="just"/>
            <a:r>
              <a:rPr lang="mn-MN" dirty="0">
                <a:solidFill>
                  <a:srgbClr val="002060"/>
                </a:solidFill>
                <a:latin typeface="Times New Roman" panose="02020603050405020304" pitchFamily="18" charset="0"/>
                <a:cs typeface="Times New Roman" panose="02020603050405020304" pitchFamily="18" charset="0"/>
              </a:rPr>
              <a:t>Эргэлтийн хөрөнгөд хийх хөрөнгө оруулалтын бодлогыг </a:t>
            </a:r>
            <a:r>
              <a:rPr lang="mn-MN" b="1" dirty="0">
                <a:solidFill>
                  <a:srgbClr val="002060"/>
                </a:solidFill>
                <a:latin typeface="Times New Roman" panose="02020603050405020304" pitchFamily="18" charset="0"/>
                <a:cs typeface="Times New Roman" panose="02020603050405020304" pitchFamily="18" charset="0"/>
              </a:rPr>
              <a:t>ажлын капиталын бодлого (</a:t>
            </a:r>
            <a:r>
              <a:rPr lang="en-US" b="1" dirty="0">
                <a:solidFill>
                  <a:srgbClr val="002060"/>
                </a:solidFill>
                <a:latin typeface="Times New Roman" panose="02020603050405020304" pitchFamily="18" charset="0"/>
                <a:cs typeface="Times New Roman" panose="02020603050405020304" pitchFamily="18" charset="0"/>
              </a:rPr>
              <a:t>working capital policy) </a:t>
            </a:r>
            <a:r>
              <a:rPr lang="mn-MN" dirty="0">
                <a:solidFill>
                  <a:srgbClr val="002060"/>
                </a:solidFill>
                <a:latin typeface="Times New Roman" panose="02020603050405020304" pitchFamily="18" charset="0"/>
                <a:cs typeface="Times New Roman" panose="02020603050405020304" pitchFamily="18" charset="0"/>
              </a:rPr>
              <a:t>гэдэг. </a:t>
            </a:r>
          </a:p>
          <a:p>
            <a:pPr algn="just"/>
            <a:r>
              <a:rPr lang="mn-MN" dirty="0">
                <a:solidFill>
                  <a:srgbClr val="002060"/>
                </a:solidFill>
                <a:latin typeface="Times New Roman" panose="02020603050405020304" pitchFamily="18" charset="0"/>
                <a:cs typeface="Times New Roman" panose="02020603050405020304" pitchFamily="18" charset="0"/>
              </a:rPr>
              <a:t>Ажлын капиталын бодлого нь </a:t>
            </a:r>
            <a:r>
              <a:rPr lang="mn-MN" b="1" dirty="0">
                <a:solidFill>
                  <a:srgbClr val="002060"/>
                </a:solidFill>
                <a:latin typeface="Times New Roman" panose="02020603050405020304" pitchFamily="18" charset="0"/>
                <a:cs typeface="Times New Roman" panose="02020603050405020304" pitchFamily="18" charset="0"/>
              </a:rPr>
              <a:t>ажлын капиталын </a:t>
            </a:r>
            <a:r>
              <a:rPr lang="mn-MN" dirty="0">
                <a:solidFill>
                  <a:srgbClr val="002060"/>
                </a:solidFill>
                <a:latin typeface="Times New Roman" panose="02020603050405020304" pitchFamily="18" charset="0"/>
                <a:cs typeface="Times New Roman" panose="02020603050405020304" pitchFamily="18" charset="0"/>
              </a:rPr>
              <a:t>болон </a:t>
            </a:r>
            <a:r>
              <a:rPr lang="mn-MN" b="1" dirty="0">
                <a:solidFill>
                  <a:srgbClr val="002060"/>
                </a:solidFill>
                <a:latin typeface="Times New Roman" panose="02020603050405020304" pitchFamily="18" charset="0"/>
                <a:cs typeface="Times New Roman" panose="02020603050405020304" pitchFamily="18" charset="0"/>
              </a:rPr>
              <a:t>ажлын капиталын санхүүжилт</a:t>
            </a:r>
            <a:r>
              <a:rPr lang="mn-MN" dirty="0">
                <a:solidFill>
                  <a:srgbClr val="002060"/>
                </a:solidFill>
                <a:latin typeface="Times New Roman" panose="02020603050405020304" pitchFamily="18" charset="0"/>
                <a:cs typeface="Times New Roman" panose="02020603050405020304" pitchFamily="18" charset="0"/>
              </a:rPr>
              <a:t>ийн түвшинг тодорхойлоход чиглэнэ. </a:t>
            </a:r>
          </a:p>
          <a:p>
            <a:pPr algn="just"/>
            <a:r>
              <a:rPr lang="mn-MN" dirty="0">
                <a:solidFill>
                  <a:srgbClr val="002060"/>
                </a:solidFill>
                <a:latin typeface="Times New Roman" panose="02020603050405020304" pitchFamily="18" charset="0"/>
                <a:cs typeface="Times New Roman" panose="02020603050405020304" pitchFamily="18" charset="0"/>
              </a:rPr>
              <a:t>Компанийн зүгээс хэрэгжүүлж байгаа ажлын капиталын бодлого нь </a:t>
            </a:r>
            <a:r>
              <a:rPr lang="mn-MN" b="1" dirty="0">
                <a:solidFill>
                  <a:srgbClr val="002060"/>
                </a:solidFill>
                <a:latin typeface="Times New Roman" panose="02020603050405020304" pitchFamily="18" charset="0"/>
                <a:cs typeface="Times New Roman" panose="02020603050405020304" pitchFamily="18" charset="0"/>
              </a:rPr>
              <a:t>хатуу</a:t>
            </a:r>
            <a:r>
              <a:rPr lang="mn-MN" dirty="0">
                <a:solidFill>
                  <a:srgbClr val="002060"/>
                </a:solidFill>
                <a:latin typeface="Times New Roman" panose="02020603050405020304" pitchFamily="18" charset="0"/>
                <a:cs typeface="Times New Roman" panose="02020603050405020304" pitchFamily="18" charset="0"/>
              </a:rPr>
              <a:t> байна уу эсвэл </a:t>
            </a:r>
            <a:r>
              <a:rPr lang="mn-MN" b="1" dirty="0">
                <a:solidFill>
                  <a:srgbClr val="002060"/>
                </a:solidFill>
                <a:latin typeface="Times New Roman" panose="02020603050405020304" pitchFamily="18" charset="0"/>
                <a:cs typeface="Times New Roman" panose="02020603050405020304" pitchFamily="18" charset="0"/>
              </a:rPr>
              <a:t>сул</a:t>
            </a:r>
            <a:r>
              <a:rPr lang="mn-MN" dirty="0">
                <a:solidFill>
                  <a:srgbClr val="002060"/>
                </a:solidFill>
                <a:latin typeface="Times New Roman" panose="02020603050405020304" pitchFamily="18" charset="0"/>
                <a:cs typeface="Times New Roman" panose="02020603050405020304" pitchFamily="18" charset="0"/>
              </a:rPr>
              <a:t> байна уу гэдгийг мөнгөн хөрөнгийн шилжилтийн мөчлөг харуулдаг.</a:t>
            </a:r>
          </a:p>
          <a:p>
            <a:pPr algn="just"/>
            <a:r>
              <a:rPr lang="mn-MN" dirty="0">
                <a:solidFill>
                  <a:srgbClr val="002060"/>
                </a:solidFill>
                <a:latin typeface="Times New Roman" panose="02020603050405020304" pitchFamily="18" charset="0"/>
                <a:cs typeface="Times New Roman" panose="02020603050405020304" pitchFamily="18" charset="0"/>
              </a:rPr>
              <a:t>Эргэлтийн хөрөнгийн хэмжээний байж болох гурван хувилбар:</a:t>
            </a:r>
          </a:p>
          <a:p>
            <a:pPr lvl="1" algn="just"/>
            <a:r>
              <a:rPr lang="mn-MN" dirty="0">
                <a:solidFill>
                  <a:srgbClr val="002060"/>
                </a:solidFill>
                <a:latin typeface="Times New Roman" panose="02020603050405020304" pitchFamily="18" charset="0"/>
                <a:cs typeface="Times New Roman" panose="02020603050405020304" pitchFamily="18" charset="0"/>
              </a:rPr>
              <a:t>Релакс</a:t>
            </a:r>
          </a:p>
          <a:p>
            <a:pPr lvl="1" algn="just"/>
            <a:r>
              <a:rPr lang="mn-MN" dirty="0">
                <a:solidFill>
                  <a:srgbClr val="002060"/>
                </a:solidFill>
                <a:latin typeface="Times New Roman" panose="02020603050405020304" pitchFamily="18" charset="0"/>
                <a:cs typeface="Times New Roman" panose="02020603050405020304" pitchFamily="18" charset="0"/>
              </a:rPr>
              <a:t>Модерат</a:t>
            </a:r>
          </a:p>
          <a:p>
            <a:pPr lvl="1" algn="just"/>
            <a:r>
              <a:rPr lang="mn-MN" dirty="0">
                <a:solidFill>
                  <a:srgbClr val="002060"/>
                </a:solidFill>
                <a:latin typeface="Times New Roman" panose="02020603050405020304" pitchFamily="18" charset="0"/>
                <a:cs typeface="Times New Roman" panose="02020603050405020304" pitchFamily="18" charset="0"/>
              </a:rPr>
              <a:t>Рестрикт</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7370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52400" y="69851"/>
            <a:ext cx="11868150" cy="416408"/>
          </a:xfrm>
        </p:spPr>
        <p:txBody>
          <a:bodyPr>
            <a:noAutofit/>
          </a:bodyPr>
          <a:lstStyle/>
          <a:p>
            <a:pPr algn="just"/>
            <a:r>
              <a:rPr lang="mn-MN" sz="3600" b="1" dirty="0">
                <a:solidFill>
                  <a:srgbClr val="0070C0"/>
                </a:solidFill>
                <a:latin typeface="Times New Roman" panose="02020603050405020304" pitchFamily="18" charset="0"/>
                <a:cs typeface="Times New Roman" panose="02020603050405020304" pitchFamily="18" charset="0"/>
              </a:rPr>
              <a:t>Эргэлтийн хөрөнгөд хийх хөрөнгө оруулалтын бодлого</a:t>
            </a:r>
            <a:endParaRPr lang="en-US" sz="36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152400" y="517967"/>
            <a:ext cx="11690430" cy="504809"/>
          </a:xfrm>
        </p:spPr>
        <p:txBody>
          <a:bodyPr>
            <a:normAutofit fontScale="92500"/>
          </a:bodyPr>
          <a:lstStyle/>
          <a:p>
            <a:pPr algn="just"/>
            <a:r>
              <a:rPr lang="mn-MN" b="1" dirty="0">
                <a:solidFill>
                  <a:srgbClr val="FF0000"/>
                </a:solidFill>
                <a:latin typeface="Times New Roman" panose="02020603050405020304" pitchFamily="18" charset="0"/>
                <a:cs typeface="Times New Roman" panose="02020603050405020304" pitchFamily="18" charset="0"/>
              </a:rPr>
              <a:t>Эргэлтийн хөрөнгийн хэмжээ ямар байж болох </a:t>
            </a:r>
            <a:r>
              <a:rPr lang="mn-MN" dirty="0">
                <a:solidFill>
                  <a:srgbClr val="002060"/>
                </a:solidFill>
                <a:latin typeface="Times New Roman" panose="02020603050405020304" pitchFamily="18" charset="0"/>
                <a:cs typeface="Times New Roman" panose="02020603050405020304" pitchFamily="18" charset="0"/>
              </a:rPr>
              <a:t>талаарх гурван хувилбар:</a:t>
            </a:r>
          </a:p>
        </p:txBody>
      </p:sp>
      <p:pic>
        <p:nvPicPr>
          <p:cNvPr id="5" name="Picture 4">
            <a:extLst>
              <a:ext uri="{FF2B5EF4-FFF2-40B4-BE49-F238E27FC236}">
                <a16:creationId xmlns:a16="http://schemas.microsoft.com/office/drawing/2014/main" id="{BD4B51DC-2C43-10EE-E386-BD36672D1469}"/>
              </a:ext>
            </a:extLst>
          </p:cNvPr>
          <p:cNvPicPr>
            <a:picLocks noChangeAspect="1"/>
          </p:cNvPicPr>
          <p:nvPr/>
        </p:nvPicPr>
        <p:blipFill>
          <a:blip r:embed="rId3"/>
          <a:stretch>
            <a:fillRect/>
          </a:stretch>
        </p:blipFill>
        <p:spPr>
          <a:xfrm>
            <a:off x="5038859" y="770371"/>
            <a:ext cx="6891938" cy="5593336"/>
          </a:xfrm>
          <a:prstGeom prst="rect">
            <a:avLst/>
          </a:prstGeom>
        </p:spPr>
      </p:pic>
      <p:sp>
        <p:nvSpPr>
          <p:cNvPr id="6" name="Content Placeholder 2">
            <a:extLst>
              <a:ext uri="{FF2B5EF4-FFF2-40B4-BE49-F238E27FC236}">
                <a16:creationId xmlns:a16="http://schemas.microsoft.com/office/drawing/2014/main" id="{62DA7E2A-C8CD-6702-CF7F-E873AF09F0E9}"/>
              </a:ext>
            </a:extLst>
          </p:cNvPr>
          <p:cNvSpPr txBox="1">
            <a:spLocks/>
          </p:cNvSpPr>
          <p:nvPr/>
        </p:nvSpPr>
        <p:spPr>
          <a:xfrm>
            <a:off x="152400" y="978914"/>
            <a:ext cx="4828104" cy="370616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mn-MN" sz="2400" b="1" dirty="0">
                <a:solidFill>
                  <a:srgbClr val="002060"/>
                </a:solidFill>
                <a:latin typeface="Times New Roman" panose="02020603050405020304" pitchFamily="18" charset="0"/>
                <a:cs typeface="Times New Roman" panose="02020603050405020304" pitchFamily="18" charset="0"/>
              </a:rPr>
              <a:t>Релакс</a:t>
            </a:r>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Мөнгө, богино хугацаат үнэт цаас, дансны авлага, бараа материлыг дээд түвшинд байлгах бодлого буюу “</a:t>
            </a:r>
            <a:r>
              <a:rPr lang="en-US" sz="2400" dirty="0">
                <a:solidFill>
                  <a:srgbClr val="002060"/>
                </a:solidFill>
                <a:latin typeface="Times New Roman" panose="02020603050405020304" pitchFamily="18" charset="0"/>
                <a:cs typeface="Times New Roman" panose="02020603050405020304" pitchFamily="18" charset="0"/>
              </a:rPr>
              <a:t>Fat cat</a:t>
            </a:r>
            <a:r>
              <a:rPr lang="mn-MN" sz="2400" dirty="0">
                <a:solidFill>
                  <a:srgbClr val="002060"/>
                </a:solidFill>
                <a:latin typeface="Times New Roman" panose="02020603050405020304" pitchFamily="18" charset="0"/>
                <a:cs typeface="Times New Roman" panose="02020603050405020304" pitchFamily="18" charset="0"/>
              </a:rPr>
              <a:t>”</a:t>
            </a:r>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бодлого</a:t>
            </a:r>
          </a:p>
          <a:p>
            <a:pPr algn="just"/>
            <a:r>
              <a:rPr lang="mn-MN" sz="2400" b="1" dirty="0">
                <a:solidFill>
                  <a:srgbClr val="002060"/>
                </a:solidFill>
                <a:latin typeface="Times New Roman" panose="02020603050405020304" pitchFamily="18" charset="0"/>
                <a:cs typeface="Times New Roman" panose="02020603050405020304" pitchFamily="18" charset="0"/>
              </a:rPr>
              <a:t>Модерат</a:t>
            </a:r>
            <a:r>
              <a:rPr lang="mn-MN" sz="2400" dirty="0">
                <a:solidFill>
                  <a:srgbClr val="002060"/>
                </a:solidFill>
                <a:latin typeface="Times New Roman" panose="02020603050405020304" pitchFamily="18" charset="0"/>
                <a:cs typeface="Times New Roman" panose="02020603050405020304" pitchFamily="18" charset="0"/>
              </a:rPr>
              <a:t> – Дундыг баримтлах бодлого</a:t>
            </a:r>
          </a:p>
          <a:p>
            <a:pPr algn="just"/>
            <a:r>
              <a:rPr lang="mn-MN" sz="2400" b="1" dirty="0">
                <a:solidFill>
                  <a:srgbClr val="002060"/>
                </a:solidFill>
                <a:latin typeface="Times New Roman" panose="02020603050405020304" pitchFamily="18" charset="0"/>
                <a:cs typeface="Times New Roman" panose="02020603050405020304" pitchFamily="18" charset="0"/>
              </a:rPr>
              <a:t>Рестрикт</a:t>
            </a:r>
            <a:r>
              <a:rPr lang="mn-MN" sz="2400" dirty="0">
                <a:solidFill>
                  <a:srgbClr val="002060"/>
                </a:solidFill>
                <a:latin typeface="Times New Roman" panose="02020603050405020304" pitchFamily="18" charset="0"/>
                <a:cs typeface="Times New Roman" panose="02020603050405020304" pitchFamily="18" charset="0"/>
              </a:rPr>
              <a:t> – Мөнгө, богино хугацаат үнэт цаас, дансны авлага, бараа материлыг доод түвшинд байлгах бодлого буюу “</a:t>
            </a:r>
            <a:r>
              <a:rPr lang="en-US" sz="2400" dirty="0">
                <a:solidFill>
                  <a:srgbClr val="002060"/>
                </a:solidFill>
                <a:latin typeface="Times New Roman" panose="02020603050405020304" pitchFamily="18" charset="0"/>
                <a:cs typeface="Times New Roman" panose="02020603050405020304" pitchFamily="18" charset="0"/>
              </a:rPr>
              <a:t>lean-and-mean</a:t>
            </a:r>
            <a:r>
              <a:rPr lang="mn-MN" sz="2400" dirty="0">
                <a:solidFill>
                  <a:srgbClr val="002060"/>
                </a:solidFill>
                <a:latin typeface="Times New Roman" panose="02020603050405020304" pitchFamily="18" charset="0"/>
                <a:cs typeface="Times New Roman" panose="02020603050405020304" pitchFamily="18" charset="0"/>
              </a:rPr>
              <a:t>”</a:t>
            </a:r>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бодлого</a:t>
            </a:r>
          </a:p>
          <a:p>
            <a:pPr marL="0" indent="0" algn="just">
              <a:buNone/>
            </a:pPr>
            <a:endParaRPr lang="en-US" sz="2400"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D4AA3AE-58FC-3AFD-9F8C-222E3692269C}"/>
                  </a:ext>
                </a:extLst>
              </p:cNvPr>
              <p:cNvSpPr txBox="1"/>
              <p:nvPr/>
            </p:nvSpPr>
            <p:spPr>
              <a:xfrm>
                <a:off x="328334" y="4356336"/>
                <a:ext cx="4828104" cy="1392497"/>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a:rPr lang="mn-MN" sz="2800" b="0" i="1" smtClean="0">
                          <a:solidFill>
                            <a:srgbClr val="FF0000"/>
                          </a:solidFill>
                          <a:latin typeface="Cambria Math" panose="02040503050406030204" pitchFamily="18" charset="0"/>
                        </a:rPr>
                        <m:t>Эргэлтийн хөрөнгийн эргэц</m:t>
                      </m:r>
                      <m:r>
                        <a:rPr lang="en-US" sz="2800" b="0" i="1" smtClean="0">
                          <a:solidFill>
                            <a:srgbClr val="FF0000"/>
                          </a:solidFill>
                          <a:latin typeface="Cambria Math" panose="02040503050406030204" pitchFamily="18" charset="0"/>
                        </a:rPr>
                        <m:t>=</m:t>
                      </m:r>
                      <m:f>
                        <m:fPr>
                          <m:ctrlPr>
                            <a:rPr lang="en-US" sz="2800" i="1" smtClean="0">
                              <a:solidFill>
                                <a:srgbClr val="FF0000"/>
                              </a:solidFill>
                              <a:latin typeface="Cambria Math" panose="02040503050406030204" pitchFamily="18" charset="0"/>
                            </a:rPr>
                          </m:ctrlPr>
                        </m:fPr>
                        <m:num>
                          <m:r>
                            <a:rPr lang="mn-MN" sz="2800" b="0" i="1" smtClean="0">
                              <a:solidFill>
                                <a:srgbClr val="FF0000"/>
                              </a:solidFill>
                              <a:latin typeface="Cambria Math" panose="02040503050406030204" pitchFamily="18" charset="0"/>
                            </a:rPr>
                            <m:t>Борлуулалт</m:t>
                          </m:r>
                        </m:num>
                        <m:den>
                          <m:r>
                            <a:rPr lang="mn-MN" sz="2800" b="0" i="1" smtClean="0">
                              <a:solidFill>
                                <a:srgbClr val="FF0000"/>
                              </a:solidFill>
                              <a:latin typeface="Cambria Math" panose="02040503050406030204" pitchFamily="18" charset="0"/>
                            </a:rPr>
                            <m:t>Эргэлтийн хөрөнгө</m:t>
                          </m:r>
                        </m:den>
                      </m:f>
                    </m:oMath>
                  </m:oMathPara>
                </a14:m>
                <a:endParaRPr lang="en-US" sz="280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AD4AA3AE-58FC-3AFD-9F8C-222E3692269C}"/>
                  </a:ext>
                </a:extLst>
              </p:cNvPr>
              <p:cNvSpPr txBox="1">
                <a:spLocks noRot="1" noChangeAspect="1" noMove="1" noResize="1" noEditPoints="1" noAdjustHandles="1" noChangeArrowheads="1" noChangeShapeType="1" noTextEdit="1"/>
              </p:cNvSpPr>
              <p:nvPr/>
            </p:nvSpPr>
            <p:spPr>
              <a:xfrm>
                <a:off x="328334" y="4356336"/>
                <a:ext cx="4828104" cy="1392497"/>
              </a:xfrm>
              <a:prstGeom prst="rect">
                <a:avLst/>
              </a:prstGeom>
              <a:blipFill>
                <a:blip r:embed="rId4"/>
                <a:stretch>
                  <a:fillRect l="-253"/>
                </a:stretch>
              </a:blipFill>
            </p:spPr>
            <p:txBody>
              <a:bodyPr/>
              <a:lstStyle/>
              <a:p>
                <a:r>
                  <a:rPr lang="en-US">
                    <a:noFill/>
                  </a:rPr>
                  <a:t> </a:t>
                </a:r>
              </a:p>
            </p:txBody>
          </p:sp>
        </mc:Fallback>
      </mc:AlternateContent>
    </p:spTree>
    <p:extLst>
      <p:ext uri="{BB962C8B-B14F-4D97-AF65-F5344CB8AC3E}">
        <p14:creationId xmlns:p14="http://schemas.microsoft.com/office/powerpoint/2010/main" val="3916068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04774" y="98426"/>
            <a:ext cx="11858625" cy="492124"/>
          </a:xfrm>
        </p:spPr>
        <p:txBody>
          <a:bodyPr>
            <a:noAutofit/>
          </a:bodyPr>
          <a:lstStyle/>
          <a:p>
            <a:pPr algn="just"/>
            <a:r>
              <a:rPr lang="mn-MN" sz="3200" b="1" dirty="0">
                <a:solidFill>
                  <a:srgbClr val="0070C0"/>
                </a:solidFill>
                <a:latin typeface="Times New Roman" panose="02020603050405020304" pitchFamily="18" charset="0"/>
                <a:cs typeface="Times New Roman" panose="02020603050405020304" pitchFamily="18" charset="0"/>
              </a:rPr>
              <a:t>Эргэлтийн хөрөнгөд хийх хөрөнгө оруулалтын бодлого</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104774" y="590550"/>
            <a:ext cx="11858625" cy="5886450"/>
          </a:xfrm>
        </p:spPr>
        <p:txBody>
          <a:bodyPr>
            <a:normAutofit fontScale="92500" lnSpcReduction="10000"/>
          </a:bodyPr>
          <a:lstStyle/>
          <a:p>
            <a:pPr algn="just"/>
            <a:r>
              <a:rPr lang="mn-MN" sz="3200" u="sng" dirty="0">
                <a:solidFill>
                  <a:srgbClr val="002060"/>
                </a:solidFill>
                <a:latin typeface="Times New Roman" panose="02020603050405020304" pitchFamily="18" charset="0"/>
                <a:cs typeface="Times New Roman" panose="02020603050405020304" pitchFamily="18" charset="0"/>
              </a:rPr>
              <a:t>Релакс бодлогын үед </a:t>
            </a:r>
          </a:p>
          <a:p>
            <a:pPr lvl="1" algn="just"/>
            <a:r>
              <a:rPr lang="mn-MN" sz="2800" dirty="0">
                <a:solidFill>
                  <a:srgbClr val="002060"/>
                </a:solidFill>
                <a:latin typeface="Times New Roman" panose="02020603050405020304" pitchFamily="18" charset="0"/>
                <a:cs typeface="Times New Roman" panose="02020603050405020304" pitchFamily="18" charset="0"/>
              </a:rPr>
              <a:t>Эргэлтийн хөрөнгийг их, элбэг байлгах тал руу илүү анхаардаг, өөрөөр хэлбэл, санхүүжилт их шаарддаг тул эргэлтийн хөрөнгийн эргэц суларч (багасч) эздийн өмчийн өгөөж </a:t>
            </a:r>
            <a:r>
              <a:rPr lang="en-US" sz="2800" dirty="0">
                <a:solidFill>
                  <a:srgbClr val="002060"/>
                </a:solidFill>
                <a:latin typeface="Times New Roman" panose="02020603050405020304" pitchFamily="18" charset="0"/>
                <a:cs typeface="Times New Roman" panose="02020603050405020304" pitchFamily="18" charset="0"/>
              </a:rPr>
              <a:t>(ROE – Rate of Equity) </a:t>
            </a:r>
            <a:r>
              <a:rPr lang="mn-MN" sz="2800" dirty="0">
                <a:solidFill>
                  <a:srgbClr val="002060"/>
                </a:solidFill>
                <a:latin typeface="Times New Roman" panose="02020603050405020304" pitchFamily="18" charset="0"/>
                <a:cs typeface="Times New Roman" panose="02020603050405020304" pitchFamily="18" charset="0"/>
              </a:rPr>
              <a:t>буурдаг. </a:t>
            </a:r>
          </a:p>
          <a:p>
            <a:pPr algn="just"/>
            <a:r>
              <a:rPr lang="mn-MN" sz="3200" u="sng" dirty="0">
                <a:solidFill>
                  <a:srgbClr val="002060"/>
                </a:solidFill>
                <a:latin typeface="Times New Roman" panose="02020603050405020304" pitchFamily="18" charset="0"/>
                <a:cs typeface="Times New Roman" panose="02020603050405020304" pitchFamily="18" charset="0"/>
              </a:rPr>
              <a:t>Модерат бодлого </a:t>
            </a:r>
            <a:r>
              <a:rPr lang="mn-MN" sz="3200" dirty="0">
                <a:solidFill>
                  <a:srgbClr val="002060"/>
                </a:solidFill>
                <a:latin typeface="Times New Roman" panose="02020603050405020304" pitchFamily="18" charset="0"/>
                <a:cs typeface="Times New Roman" panose="02020603050405020304" pitchFamily="18" charset="0"/>
              </a:rPr>
              <a:t>нь энэ хоёр туйлын дунд оршино. </a:t>
            </a:r>
          </a:p>
          <a:p>
            <a:pPr algn="just"/>
            <a:r>
              <a:rPr lang="mn-MN" sz="3200" u="sng" dirty="0">
                <a:solidFill>
                  <a:srgbClr val="002060"/>
                </a:solidFill>
                <a:latin typeface="Times New Roman" panose="02020603050405020304" pitchFamily="18" charset="0"/>
                <a:cs typeface="Times New Roman" panose="02020603050405020304" pitchFamily="18" charset="0"/>
              </a:rPr>
              <a:t>Рестрикт бодлогын үед </a:t>
            </a:r>
          </a:p>
          <a:p>
            <a:pPr lvl="1" algn="just"/>
            <a:r>
              <a:rPr lang="mn-MN" sz="2800" dirty="0">
                <a:solidFill>
                  <a:srgbClr val="002060"/>
                </a:solidFill>
                <a:latin typeface="Times New Roman" panose="02020603050405020304" pitchFamily="18" charset="0"/>
                <a:cs typeface="Times New Roman" panose="02020603050405020304" pitchFamily="18" charset="0"/>
              </a:rPr>
              <a:t>Эргэлтийн хөрөнгийг бага байлгах, хэмнэх тал руу илүү анхаарсан байдаг учир хөрөнгийн эргэцийг нэмэгдүүлэх замаар эздийн өмчийн өгөөжийг </a:t>
            </a:r>
            <a:r>
              <a:rPr lang="en-US" sz="2800" dirty="0">
                <a:solidFill>
                  <a:srgbClr val="002060"/>
                </a:solidFill>
                <a:latin typeface="Times New Roman" panose="02020603050405020304" pitchFamily="18" charset="0"/>
                <a:cs typeface="Times New Roman" panose="02020603050405020304" pitchFamily="18" charset="0"/>
              </a:rPr>
              <a:t>(ROE – Rate of Equity)-r </a:t>
            </a:r>
            <a:r>
              <a:rPr lang="mn-MN" sz="2800" dirty="0">
                <a:solidFill>
                  <a:srgbClr val="002060"/>
                </a:solidFill>
                <a:latin typeface="Times New Roman" panose="02020603050405020304" pitchFamily="18" charset="0"/>
                <a:cs typeface="Times New Roman" panose="02020603050405020304" pitchFamily="18" charset="0"/>
              </a:rPr>
              <a:t>нэмэгдүүлнэ.</a:t>
            </a:r>
            <a:endParaRPr lang="en-US" sz="2800" dirty="0">
              <a:solidFill>
                <a:srgbClr val="002060"/>
              </a:solidFill>
              <a:latin typeface="Times New Roman" panose="02020603050405020304" pitchFamily="18" charset="0"/>
              <a:cs typeface="Times New Roman" panose="02020603050405020304" pitchFamily="18" charset="0"/>
            </a:endParaRPr>
          </a:p>
          <a:p>
            <a:pPr lvl="1" algn="just"/>
            <a:r>
              <a:rPr lang="mn-MN" sz="2800" dirty="0">
                <a:solidFill>
                  <a:srgbClr val="002060"/>
                </a:solidFill>
                <a:latin typeface="Times New Roman" panose="02020603050405020304" pitchFamily="18" charset="0"/>
                <a:cs typeface="Times New Roman" panose="02020603050405020304" pitchFamily="18" charset="0"/>
              </a:rPr>
              <a:t>Эрсдэл ихтэй. Учир нь, нөөцийн дутагдал гарах үед үйлдвэрлэл зогсож, үйлчлүүлэгч захиалгаа цагт нь авч чадахгүйд хүрч, урт хугацааны хэвийн үйл ажиллагаа тасалдана.</a:t>
            </a:r>
          </a:p>
          <a:p>
            <a:pPr algn="just"/>
            <a:r>
              <a:rPr lang="mn-MN" sz="3200" b="1" dirty="0">
                <a:solidFill>
                  <a:srgbClr val="002060"/>
                </a:solidFill>
                <a:latin typeface="Times New Roman" panose="02020603050405020304" pitchFamily="18" charset="0"/>
                <a:cs typeface="Times New Roman" panose="02020603050405020304" pitchFamily="18" charset="0"/>
              </a:rPr>
              <a:t>Оновчтой</a:t>
            </a:r>
            <a:r>
              <a:rPr lang="mn-MN" sz="3200" dirty="0">
                <a:solidFill>
                  <a:srgbClr val="002060"/>
                </a:solidFill>
                <a:latin typeface="Times New Roman" panose="02020603050405020304" pitchFamily="18" charset="0"/>
                <a:cs typeface="Times New Roman" panose="02020603050405020304" pitchFamily="18" charset="0"/>
              </a:rPr>
              <a:t> гэж үзэх </a:t>
            </a:r>
            <a:r>
              <a:rPr lang="mn-MN" sz="3200" b="1" dirty="0">
                <a:solidFill>
                  <a:srgbClr val="002060"/>
                </a:solidFill>
                <a:latin typeface="Times New Roman" panose="02020603050405020304" pitchFamily="18" charset="0"/>
                <a:cs typeface="Times New Roman" panose="02020603050405020304" pitchFamily="18" charset="0"/>
              </a:rPr>
              <a:t>стратеги</a:t>
            </a:r>
            <a:r>
              <a:rPr lang="mn-MN" sz="3200" dirty="0">
                <a:solidFill>
                  <a:srgbClr val="002060"/>
                </a:solidFill>
                <a:latin typeface="Times New Roman" panose="02020603050405020304" pitchFamily="18" charset="0"/>
                <a:cs typeface="Times New Roman" panose="02020603050405020304" pitchFamily="18" charset="0"/>
              </a:rPr>
              <a:t> нь хувьцааны дотоодын бодит үнэлгээ (</a:t>
            </a:r>
            <a:r>
              <a:rPr lang="en-US" sz="3200" dirty="0">
                <a:solidFill>
                  <a:srgbClr val="002060"/>
                </a:solidFill>
                <a:latin typeface="Times New Roman" panose="02020603050405020304" pitchFamily="18" charset="0"/>
                <a:cs typeface="Times New Roman" panose="02020603050405020304" pitchFamily="18" charset="0"/>
              </a:rPr>
              <a:t>intrinsic value)-r </a:t>
            </a:r>
            <a:r>
              <a:rPr lang="mn-MN" sz="3200" dirty="0">
                <a:solidFill>
                  <a:srgbClr val="002060"/>
                </a:solidFill>
                <a:latin typeface="Times New Roman" panose="02020603050405020304" pitchFamily="18" charset="0"/>
                <a:cs typeface="Times New Roman" panose="02020603050405020304" pitchFamily="18" charset="0"/>
              </a:rPr>
              <a:t>нэмэгдүүлж чадаж байгаа тэр хувилбар байна. </a:t>
            </a:r>
          </a:p>
        </p:txBody>
      </p:sp>
    </p:spTree>
    <p:extLst>
      <p:ext uri="{BB962C8B-B14F-4D97-AF65-F5344CB8AC3E}">
        <p14:creationId xmlns:p14="http://schemas.microsoft.com/office/powerpoint/2010/main" val="1271839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14299" y="98426"/>
            <a:ext cx="11934825" cy="368299"/>
          </a:xfrm>
        </p:spPr>
        <p:txBody>
          <a:bodyPr>
            <a:normAutofit fontScale="90000"/>
          </a:bodyPr>
          <a:lstStyle/>
          <a:p>
            <a:pPr algn="just"/>
            <a:r>
              <a:rPr lang="mn-MN" sz="3600" b="1" dirty="0">
                <a:solidFill>
                  <a:srgbClr val="0070C0"/>
                </a:solidFill>
                <a:latin typeface="Times New Roman" panose="02020603050405020304" pitchFamily="18" charset="0"/>
                <a:cs typeface="Times New Roman" panose="02020603050405020304" pitchFamily="18" charset="0"/>
              </a:rPr>
              <a:t>Эргэлтийн хөрөнгийн санхүүжилтийн бодлого</a:t>
            </a:r>
            <a:endParaRPr lang="en-US" sz="36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114299" y="579759"/>
            <a:ext cx="11934825" cy="5698481"/>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Эргэлтийн хөрөнгөд хийх хөрөнгө оруулалтыг санхүүжүүлэх эх үүсвэрийг бүрдүүлэх нь чухал асуудал байдаг. </a:t>
            </a:r>
          </a:p>
          <a:p>
            <a:pPr algn="just"/>
            <a:r>
              <a:rPr lang="mn-MN" sz="3200" dirty="0">
                <a:solidFill>
                  <a:srgbClr val="002060"/>
                </a:solidFill>
                <a:latin typeface="Times New Roman" panose="02020603050405020304" pitchFamily="18" charset="0"/>
                <a:cs typeface="Times New Roman" panose="02020603050405020304" pitchFamily="18" charset="0"/>
              </a:rPr>
              <a:t>Санхүүжилтийн үндсэн эх үүсвэр:</a:t>
            </a:r>
          </a:p>
          <a:p>
            <a:pPr lvl="1" algn="just"/>
            <a:r>
              <a:rPr lang="mn-MN" sz="2800" dirty="0">
                <a:solidFill>
                  <a:srgbClr val="002060"/>
                </a:solidFill>
                <a:latin typeface="Times New Roman" panose="02020603050405020304" pitchFamily="18" charset="0"/>
                <a:cs typeface="Times New Roman" panose="02020603050405020304" pitchFamily="18" charset="0"/>
              </a:rPr>
              <a:t>Банкны зээл, </a:t>
            </a:r>
          </a:p>
          <a:p>
            <a:pPr lvl="1" algn="just"/>
            <a:r>
              <a:rPr lang="mn-MN" sz="2800" dirty="0">
                <a:solidFill>
                  <a:srgbClr val="002060"/>
                </a:solidFill>
                <a:latin typeface="Times New Roman" panose="02020603050405020304" pitchFamily="18" charset="0"/>
                <a:cs typeface="Times New Roman" panose="02020603050405020304" pitchFamily="18" charset="0"/>
              </a:rPr>
              <a:t>Бэлтгэн нийлүүлэгчдийн зүгээс үзүүлж байгаа зээл (дансны өр, өглөг), </a:t>
            </a:r>
          </a:p>
          <a:p>
            <a:pPr lvl="1" algn="just"/>
            <a:r>
              <a:rPr lang="mn-MN" sz="2800" dirty="0">
                <a:solidFill>
                  <a:srgbClr val="002060"/>
                </a:solidFill>
                <a:latin typeface="Times New Roman" panose="02020603050405020304" pitchFamily="18" charset="0"/>
                <a:cs typeface="Times New Roman" panose="02020603050405020304" pitchFamily="18" charset="0"/>
              </a:rPr>
              <a:t>Хуримтлагдсан өр төлбөр, </a:t>
            </a:r>
          </a:p>
          <a:p>
            <a:pPr lvl="1" algn="just"/>
            <a:r>
              <a:rPr lang="mn-MN" sz="2800" dirty="0">
                <a:solidFill>
                  <a:srgbClr val="002060"/>
                </a:solidFill>
                <a:latin typeface="Times New Roman" panose="02020603050405020304" pitchFamily="18" charset="0"/>
                <a:cs typeface="Times New Roman" panose="02020603050405020304" pitchFamily="18" charset="0"/>
              </a:rPr>
              <a:t>Урт хугацааны өр, </a:t>
            </a:r>
          </a:p>
          <a:p>
            <a:pPr lvl="1" algn="just"/>
            <a:r>
              <a:rPr lang="mn-MN" sz="2800" dirty="0">
                <a:solidFill>
                  <a:srgbClr val="002060"/>
                </a:solidFill>
                <a:latin typeface="Times New Roman" panose="02020603050405020304" pitchFamily="18" charset="0"/>
                <a:cs typeface="Times New Roman" panose="02020603050405020304" pitchFamily="18" charset="0"/>
              </a:rPr>
              <a:t>Хувь нийлүүлсэн хөрөнгө (эздийн өмч) зэргээс бүрдэнэ. </a:t>
            </a:r>
          </a:p>
          <a:p>
            <a:pPr algn="just"/>
            <a:r>
              <a:rPr lang="mn-MN" sz="3200" dirty="0">
                <a:solidFill>
                  <a:srgbClr val="002060"/>
                </a:solidFill>
                <a:latin typeface="Times New Roman" panose="02020603050405020304" pitchFamily="18" charset="0"/>
                <a:cs typeface="Times New Roman" panose="02020603050405020304" pitchFamily="18" charset="0"/>
              </a:rPr>
              <a:t>Эдгээр эх үүсвэр бүр өөрийн гэсэн давуу болон сул талтай. </a:t>
            </a:r>
          </a:p>
          <a:p>
            <a:pPr algn="just"/>
            <a:r>
              <a:rPr lang="mn-MN" sz="3200" dirty="0">
                <a:solidFill>
                  <a:srgbClr val="002060"/>
                </a:solidFill>
                <a:latin typeface="Times New Roman" panose="02020603050405020304" pitchFamily="18" charset="0"/>
                <a:cs typeface="Times New Roman" panose="02020603050405020304" pitchFamily="18" charset="0"/>
              </a:rPr>
              <a:t>Тиймээс “</a:t>
            </a:r>
            <a:r>
              <a:rPr lang="mn-MN" sz="3200" b="1" dirty="0">
                <a:solidFill>
                  <a:srgbClr val="FF0000"/>
                </a:solidFill>
                <a:latin typeface="Times New Roman" panose="02020603050405020304" pitchFamily="18" charset="0"/>
                <a:cs typeface="Times New Roman" panose="02020603050405020304" pitchFamily="18" charset="0"/>
              </a:rPr>
              <a:t>Аль нь тухайн компанид илүү тохирох вэ?</a:t>
            </a:r>
            <a:r>
              <a:rPr lang="mn-MN" sz="3200" b="1"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гэдгийг удирдлага сонгож шийдвэрээ гаргадаг.</a:t>
            </a:r>
          </a:p>
        </p:txBody>
      </p:sp>
    </p:spTree>
    <p:extLst>
      <p:ext uri="{BB962C8B-B14F-4D97-AF65-F5344CB8AC3E}">
        <p14:creationId xmlns:p14="http://schemas.microsoft.com/office/powerpoint/2010/main" val="708781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79890" y="76682"/>
            <a:ext cx="11613676" cy="504343"/>
          </a:xfrm>
        </p:spPr>
        <p:txBody>
          <a:bodyPr>
            <a:normAutofit fontScale="90000"/>
          </a:bodyPr>
          <a:lstStyle/>
          <a:p>
            <a:pPr algn="just"/>
            <a:r>
              <a:rPr lang="mn-MN" b="1" dirty="0">
                <a:solidFill>
                  <a:srgbClr val="0070C0"/>
                </a:solidFill>
                <a:latin typeface="Times New Roman" panose="02020603050405020304" pitchFamily="18" charset="0"/>
                <a:cs typeface="Times New Roman" panose="02020603050405020304" pitchFamily="18" charset="0"/>
              </a:rPr>
              <a:t>Эргэлтийн хөрөнгийн санхүүжилтийн бодлого</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179890" y="581025"/>
            <a:ext cx="11831134" cy="6076950"/>
          </a:xfrm>
        </p:spPr>
        <p:txBody>
          <a:bodyPr>
            <a:normAutofit fontScale="92500"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Ихэнх бизнесийн байгууллага цаг улирлын мөчлөгийн хэлбэлзэлд өртөж байдаг. </a:t>
            </a:r>
          </a:p>
          <a:p>
            <a:pPr algn="just"/>
            <a:r>
              <a:rPr lang="mn-MN" dirty="0">
                <a:solidFill>
                  <a:srgbClr val="002060"/>
                </a:solidFill>
                <a:latin typeface="Times New Roman" panose="02020603050405020304" pitchFamily="18" charset="0"/>
                <a:cs typeface="Times New Roman" panose="02020603050405020304" pitchFamily="18" charset="0"/>
              </a:rPr>
              <a:t>Үүнээс гадна, улс орны эдийн засаг сайжрах үед бараг ихэнх салбарын борлуулалт өсч, эргэлтийн активын нөөц нэмэгддэг бол эдийн засаг сулрах үед нөөц багасч, авлага ч буурна. </a:t>
            </a:r>
          </a:p>
          <a:p>
            <a:pPr algn="just"/>
            <a:r>
              <a:rPr lang="mn-MN" dirty="0">
                <a:solidFill>
                  <a:srgbClr val="002060"/>
                </a:solidFill>
                <a:latin typeface="Times New Roman" panose="02020603050405020304" pitchFamily="18" charset="0"/>
                <a:cs typeface="Times New Roman" panose="02020603050405020304" pitchFamily="18" charset="0"/>
              </a:rPr>
              <a:t>Эдийн засгийн хөгжлийн ямар ч үед компанид байнгын тогтмолдуу </a:t>
            </a:r>
            <a:r>
              <a:rPr lang="mn-MN" b="1" dirty="0">
                <a:solidFill>
                  <a:schemeClr val="accent2">
                    <a:lumMod val="75000"/>
                  </a:schemeClr>
                </a:solidFill>
                <a:latin typeface="Times New Roman" panose="02020603050405020304" pitchFamily="18" charset="0"/>
                <a:cs typeface="Times New Roman" panose="02020603050405020304" pitchFamily="18" charset="0"/>
              </a:rPr>
              <a:t>перманент эргэлтийн хөрөнгө (</a:t>
            </a:r>
            <a:r>
              <a:rPr lang="en-US" b="1" dirty="0">
                <a:solidFill>
                  <a:schemeClr val="accent2">
                    <a:lumMod val="75000"/>
                  </a:schemeClr>
                </a:solidFill>
                <a:latin typeface="Times New Roman" panose="02020603050405020304" pitchFamily="18" charset="0"/>
                <a:cs typeface="Times New Roman" panose="02020603050405020304" pitchFamily="18" charset="0"/>
              </a:rPr>
              <a:t>permanent current assets) </a:t>
            </a:r>
            <a:r>
              <a:rPr lang="mn-MN" dirty="0">
                <a:solidFill>
                  <a:srgbClr val="002060"/>
                </a:solidFill>
                <a:latin typeface="Times New Roman" panose="02020603050405020304" pitchFamily="18" charset="0"/>
                <a:cs typeface="Times New Roman" panose="02020603050405020304" pitchFamily="18" charset="0"/>
              </a:rPr>
              <a:t>заавал үлддэг. Энэ бол мөчлөгийн доод цэг дээр байх ёстой эргэлтийн актив юм.</a:t>
            </a:r>
          </a:p>
          <a:p>
            <a:pPr lvl="1" algn="just"/>
            <a:r>
              <a:rPr lang="mn-MN" dirty="0">
                <a:solidFill>
                  <a:srgbClr val="002060"/>
                </a:solidFill>
                <a:latin typeface="Times New Roman" panose="02020603050405020304" pitchFamily="18" charset="0"/>
                <a:cs typeface="Times New Roman" panose="02020603050405020304" pitchFamily="18" charset="0"/>
              </a:rPr>
              <a:t>Өөрөөр хэлбэл, эргэлтийн хөрөнгө тэгтэй тэнцэнэ гэж байхгүй.</a:t>
            </a:r>
          </a:p>
          <a:p>
            <a:pPr algn="just"/>
            <a:r>
              <a:rPr lang="mn-MN" dirty="0">
                <a:solidFill>
                  <a:srgbClr val="002060"/>
                </a:solidFill>
                <a:latin typeface="Times New Roman" panose="02020603050405020304" pitchFamily="18" charset="0"/>
                <a:cs typeface="Times New Roman" panose="02020603050405020304" pitchFamily="18" charset="0"/>
              </a:rPr>
              <a:t>Үүний дараа борлуулалт нэмэгдэхийн хирээр эргэлтийн хөрөнгө аажмаар өснө. Ингэж аажмаар өсч байгаа эргэлтийн хөрөнгө (</a:t>
            </a:r>
            <a:r>
              <a:rPr lang="en-US" dirty="0">
                <a:solidFill>
                  <a:srgbClr val="002060"/>
                </a:solidFill>
                <a:latin typeface="Times New Roman" panose="02020603050405020304" pitchFamily="18" charset="0"/>
                <a:cs typeface="Times New Roman" panose="02020603050405020304" pitchFamily="18" charset="0"/>
              </a:rPr>
              <a:t>extra current assets)-</a:t>
            </a:r>
            <a:r>
              <a:rPr lang="mn-MN" dirty="0">
                <a:solidFill>
                  <a:srgbClr val="002060"/>
                </a:solidFill>
                <a:latin typeface="Times New Roman" panose="02020603050405020304" pitchFamily="18" charset="0"/>
                <a:cs typeface="Times New Roman" panose="02020603050405020304" pitchFamily="18" charset="0"/>
              </a:rPr>
              <a:t>ийг</a:t>
            </a:r>
            <a:r>
              <a:rPr lang="en-US" dirty="0">
                <a:solidFill>
                  <a:srgbClr val="002060"/>
                </a:solidFill>
                <a:latin typeface="Times New Roman" panose="02020603050405020304" pitchFamily="18" charset="0"/>
                <a:cs typeface="Times New Roman" panose="02020603050405020304" pitchFamily="18" charset="0"/>
              </a:rPr>
              <a:t> </a:t>
            </a:r>
            <a:r>
              <a:rPr lang="mn-MN" b="1" dirty="0">
                <a:solidFill>
                  <a:schemeClr val="accent2">
                    <a:lumMod val="75000"/>
                  </a:schemeClr>
                </a:solidFill>
                <a:latin typeface="Times New Roman" panose="02020603050405020304" pitchFamily="18" charset="0"/>
                <a:cs typeface="Times New Roman" panose="02020603050405020304" pitchFamily="18" charset="0"/>
              </a:rPr>
              <a:t>улирлын шинж чанартай </a:t>
            </a:r>
            <a:r>
              <a:rPr lang="mn-MN" dirty="0">
                <a:solidFill>
                  <a:srgbClr val="002060"/>
                </a:solidFill>
                <a:latin typeface="Times New Roman" panose="02020603050405020304" pitchFamily="18" charset="0"/>
                <a:cs typeface="Times New Roman" panose="02020603050405020304" pitchFamily="18" charset="0"/>
              </a:rPr>
              <a:t>буюу </a:t>
            </a:r>
            <a:r>
              <a:rPr lang="mn-MN" b="1" dirty="0">
                <a:solidFill>
                  <a:schemeClr val="accent2">
                    <a:lumMod val="75000"/>
                  </a:schemeClr>
                </a:solidFill>
                <a:latin typeface="Times New Roman" panose="02020603050405020304" pitchFamily="18" charset="0"/>
                <a:cs typeface="Times New Roman" panose="02020603050405020304" pitchFamily="18" charset="0"/>
              </a:rPr>
              <a:t>түр зуурын эргэлтийн актив (</a:t>
            </a:r>
            <a:r>
              <a:rPr lang="en-US" b="1" dirty="0">
                <a:solidFill>
                  <a:schemeClr val="accent2">
                    <a:lumMod val="75000"/>
                  </a:schemeClr>
                </a:solidFill>
                <a:latin typeface="Times New Roman" panose="02020603050405020304" pitchFamily="18" charset="0"/>
                <a:cs typeface="Times New Roman" panose="02020603050405020304" pitchFamily="18" charset="0"/>
              </a:rPr>
              <a:t>temporary current assets) </a:t>
            </a:r>
            <a:r>
              <a:rPr lang="mn-MN" dirty="0">
                <a:solidFill>
                  <a:srgbClr val="002060"/>
                </a:solidFill>
                <a:latin typeface="Times New Roman" panose="02020603050405020304" pitchFamily="18" charset="0"/>
                <a:cs typeface="Times New Roman" panose="02020603050405020304" pitchFamily="18" charset="0"/>
              </a:rPr>
              <a:t>гэдэг. </a:t>
            </a:r>
          </a:p>
          <a:p>
            <a:pPr algn="just"/>
            <a:r>
              <a:rPr lang="mn-MN" b="1" dirty="0">
                <a:solidFill>
                  <a:srgbClr val="002060"/>
                </a:solidFill>
                <a:latin typeface="Times New Roman" panose="02020603050405020304" pitchFamily="18" charset="0"/>
                <a:cs typeface="Times New Roman" panose="02020603050405020304" pitchFamily="18" charset="0"/>
              </a:rPr>
              <a:t>Эргэлтийн хөрөнгийн санхүүжилтийн бодлого (</a:t>
            </a:r>
            <a:r>
              <a:rPr lang="en-US" b="1" dirty="0">
                <a:solidFill>
                  <a:srgbClr val="002060"/>
                </a:solidFill>
                <a:latin typeface="Times New Roman" panose="02020603050405020304" pitchFamily="18" charset="0"/>
                <a:cs typeface="Times New Roman" panose="02020603050405020304" pitchFamily="18" charset="0"/>
              </a:rPr>
              <a:t>current asset financing policy)</a:t>
            </a:r>
            <a:r>
              <a:rPr lang="mn-MN" b="1" dirty="0">
                <a:solidFill>
                  <a:srgbClr val="002060"/>
                </a:solidFill>
                <a:latin typeface="Times New Roman" panose="02020603050405020304" pitchFamily="18" charset="0"/>
                <a:cs typeface="Times New Roman" panose="02020603050405020304" pitchFamily="18" charset="0"/>
              </a:rPr>
              <a:t> - </a:t>
            </a:r>
            <a:r>
              <a:rPr lang="mn-MN" dirty="0">
                <a:solidFill>
                  <a:srgbClr val="002060"/>
                </a:solidFill>
                <a:latin typeface="Times New Roman" panose="02020603050405020304" pitchFamily="18" charset="0"/>
                <a:cs typeface="Times New Roman" panose="02020603050405020304" pitchFamily="18" charset="0"/>
              </a:rPr>
              <a:t>Эргэлтийн хөрөнгийн санхүүжилтийн эх үүсвэрийг бүрдүүлж байгаа арга техник, хөгжлийн тухайн үеийн түвшинд тохируулан мөрдвөл зохих цогц үйл ажиллагаа юм.</a:t>
            </a:r>
          </a:p>
        </p:txBody>
      </p:sp>
    </p:spTree>
    <p:extLst>
      <p:ext uri="{BB962C8B-B14F-4D97-AF65-F5344CB8AC3E}">
        <p14:creationId xmlns:p14="http://schemas.microsoft.com/office/powerpoint/2010/main" val="3720630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035EC-00ED-8C79-71EF-D6E90A07945E}"/>
              </a:ext>
            </a:extLst>
          </p:cNvPr>
          <p:cNvSpPr>
            <a:spLocks noGrp="1"/>
          </p:cNvSpPr>
          <p:nvPr>
            <p:ph type="title"/>
          </p:nvPr>
        </p:nvSpPr>
        <p:spPr>
          <a:xfrm>
            <a:off x="219075" y="88901"/>
            <a:ext cx="8772525" cy="836102"/>
          </a:xfrm>
        </p:spPr>
        <p:txBody>
          <a:bodyPr>
            <a:noAutofit/>
          </a:bodyPr>
          <a:lstStyle/>
          <a:p>
            <a:r>
              <a:rPr lang="mn-MN" sz="3200" b="1" dirty="0">
                <a:solidFill>
                  <a:srgbClr val="0070C0"/>
                </a:solidFill>
                <a:latin typeface="Times New Roman" panose="02020603050405020304" pitchFamily="18" charset="0"/>
                <a:cs typeface="Times New Roman" panose="02020603050405020304" pitchFamily="18" charset="0"/>
              </a:rPr>
              <a:t>Эргэлтийн хөрөнгийг санхүүжүүлэх бодлогын хувилбарууд</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28590A-C99C-5D7C-7195-243598D47DA2}"/>
              </a:ext>
            </a:extLst>
          </p:cNvPr>
          <p:cNvSpPr>
            <a:spLocks noGrp="1"/>
          </p:cNvSpPr>
          <p:nvPr>
            <p:ph idx="1"/>
          </p:nvPr>
        </p:nvSpPr>
        <p:spPr>
          <a:xfrm>
            <a:off x="7867649" y="641349"/>
            <a:ext cx="4105275" cy="3597275"/>
          </a:xfrm>
        </p:spPr>
        <p:txBody>
          <a:bodyPr>
            <a:normAutofit/>
          </a:bodyPr>
          <a:lstStyle/>
          <a:p>
            <a:r>
              <a:rPr lang="mn-MN" b="1" dirty="0">
                <a:solidFill>
                  <a:schemeClr val="accent2">
                    <a:lumMod val="75000"/>
                  </a:schemeClr>
                </a:solidFill>
                <a:latin typeface="Times New Roman" panose="02020603050405020304" pitchFamily="18" charset="0"/>
                <a:cs typeface="Times New Roman" panose="02020603050405020304" pitchFamily="18" charset="0"/>
              </a:rPr>
              <a:t>Модерат чиг баримтлал</a:t>
            </a:r>
            <a:r>
              <a:rPr lang="mn-MN" dirty="0">
                <a:solidFill>
                  <a:schemeClr val="accent2">
                    <a:lumMod val="75000"/>
                  </a:schemeClr>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–зээлийн хугацааг тааруулах хандлага.</a:t>
            </a:r>
          </a:p>
          <a:p>
            <a:pPr lvl="1"/>
            <a:r>
              <a:rPr lang="mn-MN" dirty="0">
                <a:solidFill>
                  <a:srgbClr val="002060"/>
                </a:solidFill>
                <a:latin typeface="Times New Roman" panose="02020603050405020304" pitchFamily="18" charset="0"/>
                <a:cs typeface="Times New Roman" panose="02020603050405020304" pitchFamily="18" charset="0"/>
              </a:rPr>
              <a:t>Эргэлтийн хөрөнгө, түүнтэй холбогдох өр төлбөр зэрэг үүсээд, зэрэг алга болох зүй тогтол.</a:t>
            </a:r>
            <a:endParaRPr lang="en-US" b="1"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683AB7A-A059-6EB9-4187-2F75F3B17503}"/>
              </a:ext>
            </a:extLst>
          </p:cNvPr>
          <p:cNvPicPr>
            <a:picLocks noChangeAspect="1"/>
          </p:cNvPicPr>
          <p:nvPr/>
        </p:nvPicPr>
        <p:blipFill>
          <a:blip r:embed="rId3"/>
          <a:stretch>
            <a:fillRect/>
          </a:stretch>
        </p:blipFill>
        <p:spPr>
          <a:xfrm>
            <a:off x="118475" y="1019175"/>
            <a:ext cx="7903941" cy="4566188"/>
          </a:xfrm>
          <a:prstGeom prst="rect">
            <a:avLst/>
          </a:prstGeom>
        </p:spPr>
      </p:pic>
      <p:sp>
        <p:nvSpPr>
          <p:cNvPr id="7" name="TextBox 6">
            <a:extLst>
              <a:ext uri="{FF2B5EF4-FFF2-40B4-BE49-F238E27FC236}">
                <a16:creationId xmlns:a16="http://schemas.microsoft.com/office/drawing/2014/main" id="{B7BECE4E-586D-2180-A793-2EBD4A5F8AF3}"/>
              </a:ext>
            </a:extLst>
          </p:cNvPr>
          <p:cNvSpPr txBox="1"/>
          <p:nvPr/>
        </p:nvSpPr>
        <p:spPr>
          <a:xfrm>
            <a:off x="5534070" y="4022307"/>
            <a:ext cx="6438854" cy="2677656"/>
          </a:xfrm>
          <a:prstGeom prst="rect">
            <a:avLst/>
          </a:prstGeom>
          <a:solidFill>
            <a:schemeClr val="accent4">
              <a:lumMod val="20000"/>
              <a:lumOff val="80000"/>
            </a:schemeClr>
          </a:solid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Зурагт</a:t>
            </a:r>
            <a:r>
              <a:rPr lang="mn-MN" sz="28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mn-MN" sz="2800" dirty="0">
                <a:latin typeface="Times New Roman" panose="02020603050405020304" pitchFamily="18" charset="0"/>
                <a:cs typeface="Times New Roman" panose="02020603050405020304" pitchFamily="18" charset="0"/>
              </a:rPr>
              <a:t>Бүх үндсэн хөрөнгө ба тогтмолдуу перманент эргэлтийн актив нь урт хугацааны капиталаар, </a:t>
            </a:r>
          </a:p>
          <a:p>
            <a:pPr marL="285750" indent="-285750" algn="just">
              <a:buFont typeface="Arial" panose="020B0604020202020204" pitchFamily="34" charset="0"/>
              <a:buChar char="•"/>
            </a:pPr>
            <a:r>
              <a:rPr lang="mn-MN" sz="2800" dirty="0">
                <a:latin typeface="Times New Roman" panose="02020603050405020304" pitchFamily="18" charset="0"/>
                <a:cs typeface="Times New Roman" panose="02020603050405020304" pitchFamily="18" charset="0"/>
              </a:rPr>
              <a:t>Түр зуурын эргэлтийн актив нь богино хугацаатай өрөөр санхүүжсэн.</a:t>
            </a:r>
          </a:p>
        </p:txBody>
      </p:sp>
    </p:spTree>
    <p:extLst>
      <p:ext uri="{BB962C8B-B14F-4D97-AF65-F5344CB8AC3E}">
        <p14:creationId xmlns:p14="http://schemas.microsoft.com/office/powerpoint/2010/main" val="1127452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90E564F-15BD-E80C-3888-6AFA39A5B255}"/>
              </a:ext>
            </a:extLst>
          </p:cNvPr>
          <p:cNvPicPr>
            <a:picLocks noChangeAspect="1"/>
          </p:cNvPicPr>
          <p:nvPr/>
        </p:nvPicPr>
        <p:blipFill>
          <a:blip r:embed="rId3"/>
          <a:stretch>
            <a:fillRect/>
          </a:stretch>
        </p:blipFill>
        <p:spPr>
          <a:xfrm>
            <a:off x="76199" y="400050"/>
            <a:ext cx="6685591" cy="5105400"/>
          </a:xfrm>
          <a:prstGeom prst="rect">
            <a:avLst/>
          </a:prstGeom>
        </p:spPr>
      </p:pic>
      <p:sp>
        <p:nvSpPr>
          <p:cNvPr id="2" name="Title 1">
            <a:extLst>
              <a:ext uri="{FF2B5EF4-FFF2-40B4-BE49-F238E27FC236}">
                <a16:creationId xmlns:a16="http://schemas.microsoft.com/office/drawing/2014/main" id="{AAA035EC-00ED-8C79-71EF-D6E90A07945E}"/>
              </a:ext>
            </a:extLst>
          </p:cNvPr>
          <p:cNvSpPr>
            <a:spLocks noGrp="1"/>
          </p:cNvSpPr>
          <p:nvPr>
            <p:ph type="title"/>
          </p:nvPr>
        </p:nvSpPr>
        <p:spPr>
          <a:xfrm>
            <a:off x="76199" y="66104"/>
            <a:ext cx="11896725" cy="400621"/>
          </a:xfrm>
        </p:spPr>
        <p:txBody>
          <a:bodyPr>
            <a:normAutofit fontScale="90000"/>
          </a:bodyPr>
          <a:lstStyle/>
          <a:p>
            <a:pPr algn="just"/>
            <a:r>
              <a:rPr lang="mn-MN" sz="3200" b="1" dirty="0">
                <a:solidFill>
                  <a:srgbClr val="0070C0"/>
                </a:solidFill>
                <a:latin typeface="Times New Roman" panose="02020603050405020304" pitchFamily="18" charset="0"/>
                <a:cs typeface="Times New Roman" panose="02020603050405020304" pitchFamily="18" charset="0"/>
              </a:rPr>
              <a:t>Эргэлтийн хөрөнгийг санхүүжүүлэх бодлогын хувилбарууд</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28590A-C99C-5D7C-7195-243598D47DA2}"/>
              </a:ext>
            </a:extLst>
          </p:cNvPr>
          <p:cNvSpPr>
            <a:spLocks noGrp="1"/>
          </p:cNvSpPr>
          <p:nvPr>
            <p:ph idx="1"/>
          </p:nvPr>
        </p:nvSpPr>
        <p:spPr>
          <a:xfrm>
            <a:off x="6761790" y="651077"/>
            <a:ext cx="5354011" cy="2320723"/>
          </a:xfrm>
        </p:spPr>
        <p:txBody>
          <a:bodyPr>
            <a:normAutofit fontScale="92500" lnSpcReduction="10000"/>
          </a:bodyPr>
          <a:lstStyle/>
          <a:p>
            <a:pPr algn="ctr"/>
            <a:r>
              <a:rPr lang="mn-MN" sz="3200" b="1" dirty="0">
                <a:solidFill>
                  <a:schemeClr val="accent2">
                    <a:lumMod val="75000"/>
                  </a:schemeClr>
                </a:solidFill>
                <a:latin typeface="Times New Roman" panose="02020603050405020304" pitchFamily="18" charset="0"/>
                <a:cs typeface="Times New Roman" panose="02020603050405020304" pitchFamily="18" charset="0"/>
              </a:rPr>
              <a:t>Харьцангуй агрессив чиг баримтлал</a:t>
            </a:r>
            <a:r>
              <a:rPr lang="mn-MN" sz="3200" dirty="0">
                <a:solidFill>
                  <a:schemeClr val="accent2">
                    <a:lumMod val="75000"/>
                  </a:schemeClr>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 байнгын тогтмолдуу перманент хөрөнгийн зарим хэсгийн санхүүжилтийг богино хугацаатай өрөөр хийдэг.</a:t>
            </a:r>
          </a:p>
        </p:txBody>
      </p:sp>
      <p:sp>
        <p:nvSpPr>
          <p:cNvPr id="7" name="TextBox 6">
            <a:extLst>
              <a:ext uri="{FF2B5EF4-FFF2-40B4-BE49-F238E27FC236}">
                <a16:creationId xmlns:a16="http://schemas.microsoft.com/office/drawing/2014/main" id="{B7BECE4E-586D-2180-A793-2EBD4A5F8AF3}"/>
              </a:ext>
            </a:extLst>
          </p:cNvPr>
          <p:cNvSpPr txBox="1"/>
          <p:nvPr/>
        </p:nvSpPr>
        <p:spPr>
          <a:xfrm>
            <a:off x="5210175" y="3438525"/>
            <a:ext cx="6762749" cy="3416320"/>
          </a:xfrm>
          <a:prstGeom prst="rect">
            <a:avLst/>
          </a:prstGeom>
          <a:solidFill>
            <a:schemeClr val="accent4">
              <a:lumMod val="20000"/>
              <a:lumOff val="80000"/>
            </a:schemeClr>
          </a:solidFill>
        </p:spPr>
        <p:txBody>
          <a:bodyPr wrap="square">
            <a:spAutoFit/>
          </a:bodyPr>
          <a:lstStyle/>
          <a:p>
            <a:pPr algn="just">
              <a:lnSpc>
                <a:spcPct val="90000"/>
              </a:lnSpc>
            </a:pPr>
            <a:r>
              <a:rPr lang="en-US" sz="2400" dirty="0">
                <a:solidFill>
                  <a:srgbClr val="002060"/>
                </a:solidFill>
                <a:latin typeface="Times New Roman" panose="02020603050405020304" pitchFamily="18" charset="0"/>
                <a:cs typeface="Times New Roman" panose="02020603050405020304" pitchFamily="18" charset="0"/>
              </a:rPr>
              <a:t>Зурагт</a:t>
            </a:r>
            <a:r>
              <a:rPr lang="mn-MN" sz="2400" dirty="0">
                <a:solidFill>
                  <a:srgbClr val="002060"/>
                </a:solidFill>
                <a:latin typeface="Times New Roman" panose="02020603050405020304" pitchFamily="18" charset="0"/>
                <a:cs typeface="Times New Roman" panose="02020603050405020304" pitchFamily="18" charset="0"/>
              </a:rPr>
              <a:t>, тасархай шулууны байрлалаас харахад </a:t>
            </a:r>
          </a:p>
          <a:p>
            <a:pPr marL="285750" indent="-285750" algn="just">
              <a:lnSpc>
                <a:spcPct val="90000"/>
              </a:lnSpc>
              <a:buFont typeface="Arial" panose="020B0604020202020204" pitchFamily="34" charset="0"/>
              <a:buChar char="•"/>
            </a:pPr>
            <a:r>
              <a:rPr lang="mn-MN" sz="2400" dirty="0">
                <a:solidFill>
                  <a:srgbClr val="002060"/>
                </a:solidFill>
                <a:latin typeface="Times New Roman" panose="02020603050405020304" pitchFamily="18" charset="0"/>
                <a:cs typeface="Times New Roman" panose="02020603050405020304" pitchFamily="18" charset="0"/>
              </a:rPr>
              <a:t>Түр зуурын болон тогтмолдуу перманент эргэлтийн активын зарим хэсэг нь богино хугацаат өр төлбөрөөр санхүүжсэн. Өөрөөр хэлбэл агрессив шинж нь давамгайлсан, эрсдэлтэй, нэмж зээл авах боломж тун бага, авсан тохиолдолд өндөр хүү төлнө. </a:t>
            </a:r>
          </a:p>
          <a:p>
            <a:pPr marL="285750" indent="-285750" algn="just">
              <a:lnSpc>
                <a:spcPct val="90000"/>
              </a:lnSpc>
              <a:buFont typeface="Arial" panose="020B0604020202020204" pitchFamily="34" charset="0"/>
              <a:buChar char="•"/>
            </a:pPr>
            <a:r>
              <a:rPr lang="mn-MN" sz="2400" dirty="0">
                <a:solidFill>
                  <a:srgbClr val="002060"/>
                </a:solidFill>
                <a:latin typeface="Times New Roman" panose="02020603050405020304" pitchFamily="18" charset="0"/>
                <a:cs typeface="Times New Roman" panose="02020603050405020304" pitchFamily="18" charset="0"/>
              </a:rPr>
              <a:t>Ер нь богино хугацаатай зээлийн хүү бага учир их ашиг олохын тулд зарим компаниуд аюулгүй байдлаа золиослох тохиолдол гардаг.</a:t>
            </a:r>
          </a:p>
        </p:txBody>
      </p:sp>
    </p:spTree>
    <p:extLst>
      <p:ext uri="{BB962C8B-B14F-4D97-AF65-F5344CB8AC3E}">
        <p14:creationId xmlns:p14="http://schemas.microsoft.com/office/powerpoint/2010/main" val="247453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72260D-5917-25A4-7255-2EF9B3FEC95D}"/>
              </a:ext>
            </a:extLst>
          </p:cNvPr>
          <p:cNvPicPr>
            <a:picLocks noChangeAspect="1"/>
          </p:cNvPicPr>
          <p:nvPr/>
        </p:nvPicPr>
        <p:blipFill>
          <a:blip r:embed="rId3"/>
          <a:stretch>
            <a:fillRect/>
          </a:stretch>
        </p:blipFill>
        <p:spPr>
          <a:xfrm>
            <a:off x="0" y="395288"/>
            <a:ext cx="7759856" cy="4693770"/>
          </a:xfrm>
          <a:prstGeom prst="rect">
            <a:avLst/>
          </a:prstGeom>
        </p:spPr>
      </p:pic>
      <p:sp>
        <p:nvSpPr>
          <p:cNvPr id="2" name="Title 1">
            <a:extLst>
              <a:ext uri="{FF2B5EF4-FFF2-40B4-BE49-F238E27FC236}">
                <a16:creationId xmlns:a16="http://schemas.microsoft.com/office/drawing/2014/main" id="{AAA035EC-00ED-8C79-71EF-D6E90A07945E}"/>
              </a:ext>
            </a:extLst>
          </p:cNvPr>
          <p:cNvSpPr>
            <a:spLocks noGrp="1"/>
          </p:cNvSpPr>
          <p:nvPr>
            <p:ph type="title"/>
          </p:nvPr>
        </p:nvSpPr>
        <p:spPr>
          <a:xfrm>
            <a:off x="114300" y="69851"/>
            <a:ext cx="11987888" cy="463550"/>
          </a:xfrm>
        </p:spPr>
        <p:txBody>
          <a:bodyPr>
            <a:normAutofit fontScale="90000"/>
          </a:bodyPr>
          <a:lstStyle/>
          <a:p>
            <a:pPr algn="just"/>
            <a:r>
              <a:rPr lang="mn-MN" sz="3200" b="1" dirty="0">
                <a:solidFill>
                  <a:srgbClr val="0070C0"/>
                </a:solidFill>
                <a:latin typeface="Times New Roman" panose="02020603050405020304" pitchFamily="18" charset="0"/>
                <a:cs typeface="Times New Roman" panose="02020603050405020304" pitchFamily="18" charset="0"/>
              </a:rPr>
              <a:t>Эргэлтийн хөрөнгийг санхүүжүүлэх бодлогын хувилбарууд</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28590A-C99C-5D7C-7195-243598D47DA2}"/>
              </a:ext>
            </a:extLst>
          </p:cNvPr>
          <p:cNvSpPr>
            <a:spLocks noGrp="1"/>
          </p:cNvSpPr>
          <p:nvPr>
            <p:ph idx="1"/>
          </p:nvPr>
        </p:nvSpPr>
        <p:spPr>
          <a:xfrm>
            <a:off x="7124700" y="624029"/>
            <a:ext cx="4781550" cy="3031782"/>
          </a:xfrm>
        </p:spPr>
        <p:txBody>
          <a:bodyPr>
            <a:normAutofit fontScale="85000" lnSpcReduction="10000"/>
          </a:bodyPr>
          <a:lstStyle/>
          <a:p>
            <a:pPr algn="just"/>
            <a:r>
              <a:rPr lang="mn-MN" b="1" dirty="0">
                <a:solidFill>
                  <a:schemeClr val="accent2">
                    <a:lumMod val="75000"/>
                  </a:schemeClr>
                </a:solidFill>
                <a:latin typeface="Times New Roman" panose="02020603050405020304" pitchFamily="18" charset="0"/>
                <a:cs typeface="Times New Roman" panose="02020603050405020304" pitchFamily="18" charset="0"/>
              </a:rPr>
              <a:t>Консерватив чиг баримтлал</a:t>
            </a:r>
            <a:r>
              <a:rPr lang="mn-MN" dirty="0">
                <a:solidFill>
                  <a:schemeClr val="accent2">
                    <a:lumMod val="75000"/>
                  </a:schemeClr>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 хамгийн аюул багатай бодлого. </a:t>
            </a:r>
          </a:p>
          <a:p>
            <a:pPr algn="just"/>
            <a:r>
              <a:rPr lang="mn-MN" dirty="0">
                <a:solidFill>
                  <a:srgbClr val="002060"/>
                </a:solidFill>
                <a:latin typeface="Times New Roman" panose="02020603050405020304" pitchFamily="18" charset="0"/>
                <a:cs typeface="Times New Roman" panose="02020603050405020304" pitchFamily="18" charset="0"/>
              </a:rPr>
              <a:t>Давалгаа хэлбэртэй графикийн </a:t>
            </a:r>
          </a:p>
          <a:p>
            <a:pPr lvl="1" algn="just"/>
            <a:r>
              <a:rPr lang="mn-MN" dirty="0">
                <a:solidFill>
                  <a:srgbClr val="002060"/>
                </a:solidFill>
                <a:latin typeface="Times New Roman" panose="02020603050405020304" pitchFamily="18" charset="0"/>
                <a:cs typeface="Times New Roman" panose="02020603050405020304" pitchFamily="18" charset="0"/>
              </a:rPr>
              <a:t>Дээд хэсэг (оройнууд) нь авах шаардлагатай богино хугацаат санхүүжилтийн хэмжээг, </a:t>
            </a:r>
          </a:p>
          <a:p>
            <a:pPr lvl="1" algn="just"/>
            <a:r>
              <a:rPr lang="mn-MN" dirty="0">
                <a:solidFill>
                  <a:srgbClr val="002060"/>
                </a:solidFill>
                <a:latin typeface="Times New Roman" panose="02020603050405020304" pitchFamily="18" charset="0"/>
                <a:cs typeface="Times New Roman" panose="02020603050405020304" pitchFamily="18" charset="0"/>
              </a:rPr>
              <a:t>Доор байрлах “хонхойсон ёроолууд” нь ашиглах үнэт цаасны мөнгөн дүнг илэрхийлнэ.</a:t>
            </a:r>
          </a:p>
        </p:txBody>
      </p:sp>
      <p:sp>
        <p:nvSpPr>
          <p:cNvPr id="7" name="TextBox 6">
            <a:extLst>
              <a:ext uri="{FF2B5EF4-FFF2-40B4-BE49-F238E27FC236}">
                <a16:creationId xmlns:a16="http://schemas.microsoft.com/office/drawing/2014/main" id="{B7BECE4E-586D-2180-A793-2EBD4A5F8AF3}"/>
              </a:ext>
            </a:extLst>
          </p:cNvPr>
          <p:cNvSpPr txBox="1"/>
          <p:nvPr/>
        </p:nvSpPr>
        <p:spPr>
          <a:xfrm>
            <a:off x="4755145" y="3334732"/>
            <a:ext cx="7065380" cy="3416320"/>
          </a:xfrm>
          <a:prstGeom prst="rect">
            <a:avLst/>
          </a:prstGeom>
          <a:solidFill>
            <a:schemeClr val="accent4">
              <a:lumMod val="20000"/>
              <a:lumOff val="80000"/>
            </a:schemeClr>
          </a:solidFill>
        </p:spPr>
        <p:txBody>
          <a:bodyPr wrap="square">
            <a:spAutoFit/>
          </a:bodyPr>
          <a:lstStyle/>
          <a:p>
            <a:pPr algn="just"/>
            <a:r>
              <a:rPr lang="en-US" sz="2400" dirty="0">
                <a:solidFill>
                  <a:srgbClr val="002060"/>
                </a:solidFill>
                <a:latin typeface="Times New Roman" panose="02020603050405020304" pitchFamily="18" charset="0"/>
                <a:cs typeface="Times New Roman" panose="02020603050405020304" pitchFamily="18" charset="0"/>
              </a:rPr>
              <a:t>Зурагт</a:t>
            </a:r>
            <a:r>
              <a:rPr lang="mn-MN" sz="2400" dirty="0">
                <a:solidFill>
                  <a:srgbClr val="002060"/>
                </a:solidFill>
                <a:latin typeface="Times New Roman" panose="02020603050405020304" pitchFamily="18" charset="0"/>
                <a:cs typeface="Times New Roman" panose="02020603050405020304" pitchFamily="18" charset="0"/>
              </a:rPr>
              <a:t>, тасархай шулууны байрлалаас харахад</a:t>
            </a:r>
          </a:p>
          <a:p>
            <a:pPr marL="285750" indent="-285750" algn="just">
              <a:buFont typeface="Wingdings" panose="05000000000000000000" pitchFamily="2" charset="2"/>
              <a:buChar char="ü"/>
            </a:pPr>
            <a:r>
              <a:rPr lang="mn-MN" sz="2400" dirty="0">
                <a:solidFill>
                  <a:srgbClr val="002060"/>
                </a:solidFill>
                <a:latin typeface="Times New Roman" panose="02020603050405020304" pitchFamily="18" charset="0"/>
                <a:cs typeface="Times New Roman" panose="02020603050405020304" pitchFamily="18" charset="0"/>
              </a:rPr>
              <a:t>Урт хугацаат капиталаар үл хөдлөх хөрөнгө, тогтмолдуу перманент эргэлтийн актив, улирлын шинж чанартай түр зуурын эргэлтийн активыг санхүүжүүлэхэд ч ашиглаж байна.  </a:t>
            </a:r>
          </a:p>
          <a:p>
            <a:pPr marL="285750" indent="-285750" algn="just">
              <a:buFont typeface="Wingdings" panose="05000000000000000000" pitchFamily="2" charset="2"/>
              <a:buChar char="ü"/>
            </a:pPr>
            <a:r>
              <a:rPr lang="mn-MN" sz="2400" dirty="0">
                <a:solidFill>
                  <a:srgbClr val="002060"/>
                </a:solidFill>
                <a:latin typeface="Times New Roman" panose="02020603050405020304" pitchFamily="18" charset="0"/>
                <a:cs typeface="Times New Roman" panose="02020603050405020304" pitchFamily="18" charset="0"/>
              </a:rPr>
              <a:t>Хэрэгцээ оргил үедээ хүрэх үед авах богино хугацаатай зээлийн хэмжээ бага, бас нөөцөнд байгаа түргэн борлогдох үнэт цаасыг ч ашиглах боломжтой. </a:t>
            </a:r>
          </a:p>
        </p:txBody>
      </p:sp>
    </p:spTree>
    <p:extLst>
      <p:ext uri="{BB962C8B-B14F-4D97-AF65-F5344CB8AC3E}">
        <p14:creationId xmlns:p14="http://schemas.microsoft.com/office/powerpoint/2010/main" val="2276157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95249" y="98426"/>
            <a:ext cx="11915775" cy="324534"/>
          </a:xfrm>
        </p:spPr>
        <p:txBody>
          <a:bodyPr>
            <a:noAutofit/>
          </a:bodyPr>
          <a:lstStyle/>
          <a:p>
            <a:pPr algn="just"/>
            <a:r>
              <a:rPr lang="mn-MN" sz="3600" b="1" dirty="0">
                <a:solidFill>
                  <a:srgbClr val="0070C0"/>
                </a:solidFill>
                <a:latin typeface="Times New Roman" panose="02020603050405020304" pitchFamily="18" charset="0"/>
                <a:cs typeface="Times New Roman" panose="02020603050405020304" pitchFamily="18" charset="0"/>
              </a:rPr>
              <a:t>Эргэлтийн хөрөнгийн санхүүжилтийн бодлогын сонголт</a:t>
            </a:r>
            <a:endParaRPr lang="en-US" sz="36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95249" y="490236"/>
            <a:ext cx="11915775" cy="6072489"/>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Ашгийн шулууны хазайлт дээшээ, босоо байдал руу тэмүүлдэг учир богино хугацаат өр зээлийн өртөг урт хугацаат өр зээлийнхээс доор байрладаг. </a:t>
            </a:r>
          </a:p>
          <a:p>
            <a:pPr algn="just"/>
            <a:r>
              <a:rPr lang="mn-MN" sz="3200" dirty="0">
                <a:solidFill>
                  <a:srgbClr val="002060"/>
                </a:solidFill>
                <a:latin typeface="Times New Roman" panose="02020603050405020304" pitchFamily="18" charset="0"/>
                <a:cs typeface="Times New Roman" panose="02020603050405020304" pitchFamily="18" charset="0"/>
              </a:rPr>
              <a:t>Гэхдээ богино хугацаат зээл авч байгаа компанид ийм өр эрсдэл ихтэй байдаг:</a:t>
            </a:r>
          </a:p>
          <a:p>
            <a:pPr marL="914400" lvl="1" indent="-457200" algn="just">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Урт хугацаагаар зээл авч байгаа компанийн хувьд хүүний зардал нь удаан хугацаагаар харьцангуй тогтвортой, гэтэл богино хугацаат зээлийнх хэлбэлзэл ихтэй. Хэлбэлзэл их үед олсон ашиг ч сарниж, ашиггүй болж, санхүүгийн чадварыг ч доройтуулна.</a:t>
            </a:r>
          </a:p>
          <a:p>
            <a:pPr marL="914400" lvl="1" indent="-457200" algn="just">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Хэрэв компани их хэмжээний мөнгийг богино хугацаагаар гэрээ хийж зээлээр авбал тун богино хугацаанд гэнэт үүсч болох эдийн засгийн уналт нь санхүүгийн үзүүлэлтүүдэд сөргөөр нөлөөлж улмаар зээлээ төлөх чадваргүй болгоно. Эндээс харахад зээл авагчийн санхүүгийн чадвар суларч, зээл олгогч гэрээгээ сунгахгүй, хууль эрх зүйн байр сууринаас зарга үүсгэвэл дампуурах, татан буулгах аюул их байх болно.</a:t>
            </a:r>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4978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33350" y="79376"/>
            <a:ext cx="11611342" cy="397358"/>
          </a:xfrm>
        </p:spPr>
        <p:txBody>
          <a:bodyPr>
            <a:noAutofit/>
          </a:bodyPr>
          <a:lstStyle/>
          <a:p>
            <a:pPr algn="just"/>
            <a:r>
              <a:rPr lang="mn-MN" sz="3200" b="1" dirty="0">
                <a:solidFill>
                  <a:srgbClr val="0070C0"/>
                </a:solidFill>
                <a:latin typeface="Times New Roman" panose="02020603050405020304" pitchFamily="18" charset="0"/>
                <a:cs typeface="Times New Roman" panose="02020603050405020304" pitchFamily="18" charset="0"/>
              </a:rPr>
              <a:t>Эргэлтийн хөрөнгийн санхүүжилтийн бодлогын сонголт</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157162" y="550762"/>
            <a:ext cx="11877675" cy="6227862"/>
          </a:xfrm>
        </p:spPr>
        <p:txBody>
          <a:bodyPr>
            <a:normAutofit fontScale="92500" lnSpcReduction="20000"/>
          </a:bodyPr>
          <a:lstStyle/>
          <a:p>
            <a:pPr algn="just"/>
            <a:r>
              <a:rPr lang="mn-MN" sz="3200" dirty="0">
                <a:solidFill>
                  <a:srgbClr val="002060"/>
                </a:solidFill>
                <a:latin typeface="Times New Roman" panose="02020603050405020304" pitchFamily="18" charset="0"/>
                <a:cs typeface="Times New Roman" panose="02020603050405020304" pitchFamily="18" charset="0"/>
              </a:rPr>
              <a:t>Богино хугацаат өр, зээлийн зохицуулалтыг урт хугацаатай зээлээс илүү хурдан хийх боломжтой. </a:t>
            </a:r>
          </a:p>
          <a:p>
            <a:pPr lvl="1" algn="just"/>
            <a:r>
              <a:rPr lang="mn-MN" sz="2800" dirty="0">
                <a:solidFill>
                  <a:srgbClr val="002060"/>
                </a:solidFill>
                <a:latin typeface="Times New Roman" panose="02020603050405020304" pitchFamily="18" charset="0"/>
                <a:cs typeface="Times New Roman" panose="02020603050405020304" pitchFamily="18" charset="0"/>
              </a:rPr>
              <a:t>Урт хугацаат зээлийн гэрээг хийхээс өмнө санхүүгийн шинжээчид компанийн зээл авах чадварын үнэлгээг гаргахад нилээд урт хугацаа шаардагдана. </a:t>
            </a:r>
          </a:p>
          <a:p>
            <a:pPr algn="just"/>
            <a:r>
              <a:rPr lang="mn-MN" sz="3200" dirty="0">
                <a:solidFill>
                  <a:srgbClr val="002060"/>
                </a:solidFill>
                <a:latin typeface="Times New Roman" panose="02020603050405020304" pitchFamily="18" charset="0"/>
                <a:cs typeface="Times New Roman" panose="02020603050405020304" pitchFamily="18" charset="0"/>
              </a:rPr>
              <a:t>Богино хугацаатай өр, зээлийн санал болгох нөхцөлийн уян хатан байдал. </a:t>
            </a:r>
          </a:p>
          <a:p>
            <a:pPr lvl="1" algn="just"/>
            <a:r>
              <a:rPr lang="mn-MN" sz="2800" dirty="0">
                <a:solidFill>
                  <a:srgbClr val="002060"/>
                </a:solidFill>
                <a:latin typeface="Times New Roman" panose="02020603050405020304" pitchFamily="18" charset="0"/>
                <a:cs typeface="Times New Roman" panose="02020603050405020304" pitchFamily="18" charset="0"/>
              </a:rPr>
              <a:t>Хэрэв компани хүүний түвшинг хэтэрхий өндөр гэж үзвэл уян хатан нөхцөлтэй, явцын дунд гэрээнд өөрчлөлт оруулж болох богино хугацаатай зээлийг илүүд үздэг. Ялангуяа зээлийн хөрөнгийн хэрэгцээ улирлын, мөчлөгийн шинжтэй бол урт хугацаатай зээлийн нөхцөлийг хүлээн зөвшөөрөх хүсэлгүй байна. </a:t>
            </a:r>
          </a:p>
          <a:p>
            <a:pPr algn="just"/>
            <a:r>
              <a:rPr lang="mn-MN" sz="3200" dirty="0">
                <a:solidFill>
                  <a:srgbClr val="002060"/>
                </a:solidFill>
                <a:latin typeface="Times New Roman" panose="02020603050405020304" pitchFamily="18" charset="0"/>
                <a:cs typeface="Times New Roman" panose="02020603050405020304" pitchFamily="18" charset="0"/>
              </a:rPr>
              <a:t>Байж болох бүх нөхцөлийг авч үзсэний дараа богино хугацаатай, эсвэл урт хугацаатай өр, зээлийн аль нь илүү ашигтай талаар шийдвэр гаргана. </a:t>
            </a:r>
          </a:p>
          <a:p>
            <a:pPr algn="just"/>
            <a:r>
              <a:rPr lang="mn-MN" sz="3200" dirty="0">
                <a:solidFill>
                  <a:srgbClr val="002060"/>
                </a:solidFill>
                <a:latin typeface="Times New Roman" panose="02020603050405020304" pitchFamily="18" charset="0"/>
                <a:cs typeface="Times New Roman" panose="02020603050405020304" pitchFamily="18" charset="0"/>
              </a:rPr>
              <a:t>Компанийн үйл ажиллагааны нөхцөл байдал, менежерийн зүгээс санхүүжилтийн аль хувилбарыг илүү үзэж байгаагаас хамаарч сонголтыг хийнэ.</a:t>
            </a:r>
          </a:p>
        </p:txBody>
      </p:sp>
    </p:spTree>
    <p:extLst>
      <p:ext uri="{BB962C8B-B14F-4D97-AF65-F5344CB8AC3E}">
        <p14:creationId xmlns:p14="http://schemas.microsoft.com/office/powerpoint/2010/main" val="581381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52399" y="79375"/>
            <a:ext cx="11638767" cy="530225"/>
          </a:xfrm>
        </p:spPr>
        <p:txBody>
          <a:bodyPr>
            <a:normAutofit fontScale="90000"/>
          </a:bodyPr>
          <a:lstStyle/>
          <a:p>
            <a:pPr algn="just"/>
            <a:r>
              <a:rPr lang="mn-MN" sz="4000" b="1" dirty="0">
                <a:solidFill>
                  <a:srgbClr val="0070C0"/>
                </a:solidFill>
                <a:latin typeface="Times New Roman" panose="02020603050405020304" pitchFamily="18" charset="0"/>
                <a:cs typeface="Times New Roman" panose="02020603050405020304" pitchFamily="18" charset="0"/>
              </a:rPr>
              <a:t>Мөнгөн хөрөнгийн төсөв </a:t>
            </a:r>
            <a:r>
              <a:rPr lang="en-US" sz="4000" b="1" dirty="0">
                <a:solidFill>
                  <a:srgbClr val="0070C0"/>
                </a:solidFill>
                <a:latin typeface="Times New Roman" panose="02020603050405020304" pitchFamily="18" charset="0"/>
                <a:cs typeface="Times New Roman" panose="02020603050405020304" pitchFamily="18" charset="0"/>
              </a:rPr>
              <a:t>(The Cash Budget)</a:t>
            </a: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142874" y="572987"/>
            <a:ext cx="11906251" cy="6027838"/>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Компаниуд бизнесийн үйл ажиллагааныхаа мөнгөн урсгалын таамаглалыг байнга гаргаж байх хэрэгтэй. </a:t>
            </a:r>
            <a:endParaRPr lang="en-US" sz="3200" dirty="0">
              <a:solidFill>
                <a:srgbClr val="002060"/>
              </a:solidFill>
              <a:latin typeface="Times New Roman" panose="02020603050405020304" pitchFamily="18" charset="0"/>
              <a:cs typeface="Times New Roman" panose="02020603050405020304" pitchFamily="18" charset="0"/>
            </a:endParaRPr>
          </a:p>
          <a:p>
            <a:pPr lvl="1" algn="just"/>
            <a:r>
              <a:rPr lang="mn-MN" sz="2800" dirty="0">
                <a:solidFill>
                  <a:srgbClr val="002060"/>
                </a:solidFill>
                <a:latin typeface="Times New Roman" panose="02020603050405020304" pitchFamily="18" charset="0"/>
                <a:cs typeface="Times New Roman" panose="02020603050405020304" pitchFamily="18" charset="0"/>
              </a:rPr>
              <a:t>Хэрэв </a:t>
            </a:r>
            <a:r>
              <a:rPr lang="mn-MN" sz="2800" b="1" dirty="0">
                <a:solidFill>
                  <a:srgbClr val="002060"/>
                </a:solidFill>
                <a:latin typeface="Times New Roman" panose="02020603050405020304" pitchFamily="18" charset="0"/>
                <a:cs typeface="Times New Roman" panose="02020603050405020304" pitchFamily="18" charset="0"/>
              </a:rPr>
              <a:t>бэлэн мөнгөний хэрэгцээ нэмэгдвэл </a:t>
            </a:r>
            <a:r>
              <a:rPr lang="mn-MN" sz="2800" dirty="0">
                <a:solidFill>
                  <a:srgbClr val="002060"/>
                </a:solidFill>
                <a:latin typeface="Times New Roman" panose="02020603050405020304" pitchFamily="18" charset="0"/>
                <a:cs typeface="Times New Roman" panose="02020603050405020304" pitchFamily="18" charset="0"/>
              </a:rPr>
              <a:t>ашиглаж болох нөөц сангуудыг урьдчилан байгуулсан байх шаардлагатай. </a:t>
            </a:r>
          </a:p>
          <a:p>
            <a:pPr lvl="1" algn="just"/>
            <a:r>
              <a:rPr lang="mn-MN" sz="2800" dirty="0">
                <a:solidFill>
                  <a:srgbClr val="002060"/>
                </a:solidFill>
                <a:latin typeface="Times New Roman" panose="02020603050405020304" pitchFamily="18" charset="0"/>
                <a:cs typeface="Times New Roman" panose="02020603050405020304" pitchFamily="18" charset="0"/>
              </a:rPr>
              <a:t>Харин </a:t>
            </a:r>
            <a:r>
              <a:rPr lang="mn-MN" sz="2800" b="1" dirty="0">
                <a:solidFill>
                  <a:srgbClr val="002060"/>
                </a:solidFill>
                <a:latin typeface="Times New Roman" panose="02020603050405020304" pitchFamily="18" charset="0"/>
                <a:cs typeface="Times New Roman" panose="02020603050405020304" pitchFamily="18" charset="0"/>
              </a:rPr>
              <a:t>мөнгөн хөрөнгийн илүүдэл бий болох үед </a:t>
            </a:r>
            <a:r>
              <a:rPr lang="mn-MN" sz="2800" dirty="0">
                <a:solidFill>
                  <a:srgbClr val="002060"/>
                </a:solidFill>
                <a:latin typeface="Times New Roman" panose="02020603050405020304" pitchFamily="18" charset="0"/>
                <a:cs typeface="Times New Roman" panose="02020603050405020304" pitchFamily="18" charset="0"/>
              </a:rPr>
              <a:t>түүнийгээ үр өгөөжтэй ашиглах төлөвлөгөө боловсруулдаг. </a:t>
            </a:r>
          </a:p>
          <a:p>
            <a:pPr algn="just"/>
            <a:r>
              <a:rPr lang="mn-MN" sz="3200" dirty="0">
                <a:solidFill>
                  <a:srgbClr val="002060"/>
                </a:solidFill>
                <a:latin typeface="Times New Roman" panose="02020603050405020304" pitchFamily="18" charset="0"/>
                <a:cs typeface="Times New Roman" panose="02020603050405020304" pitchFamily="18" charset="0"/>
              </a:rPr>
              <a:t>Таамаглал хийх гол хэрэгсэл бол </a:t>
            </a:r>
            <a:r>
              <a:rPr lang="mn-MN" sz="3200" b="1" dirty="0">
                <a:solidFill>
                  <a:schemeClr val="accent2">
                    <a:lumMod val="75000"/>
                  </a:schemeClr>
                </a:solidFill>
                <a:latin typeface="Times New Roman" panose="02020603050405020304" pitchFamily="18" charset="0"/>
                <a:cs typeface="Times New Roman" panose="02020603050405020304" pitchFamily="18" charset="0"/>
              </a:rPr>
              <a:t>мөнгөн хөрөнгийн төсөв (</a:t>
            </a:r>
            <a:r>
              <a:rPr lang="en-US" sz="3200" b="1" dirty="0">
                <a:solidFill>
                  <a:schemeClr val="accent2">
                    <a:lumMod val="75000"/>
                  </a:schemeClr>
                </a:solidFill>
                <a:latin typeface="Times New Roman" panose="02020603050405020304" pitchFamily="18" charset="0"/>
                <a:cs typeface="Times New Roman" panose="02020603050405020304" pitchFamily="18" charset="0"/>
              </a:rPr>
              <a:t>cash budget)</a:t>
            </a:r>
            <a:r>
              <a:rPr lang="en-US" sz="3200" dirty="0">
                <a:solidFill>
                  <a:schemeClr val="accent2">
                    <a:lumMod val="75000"/>
                  </a:schemeClr>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юм.</a:t>
            </a:r>
          </a:p>
          <a:p>
            <a:pPr algn="just"/>
            <a:r>
              <a:rPr lang="mn-MN" sz="3200" b="1" dirty="0">
                <a:solidFill>
                  <a:srgbClr val="002060"/>
                </a:solidFill>
                <a:latin typeface="Times New Roman" panose="02020603050405020304" pitchFamily="18" charset="0"/>
                <a:cs typeface="Times New Roman" panose="02020603050405020304" pitchFamily="18" charset="0"/>
              </a:rPr>
              <a:t>Мөнгөн хөрөнгийн төсөв (</a:t>
            </a:r>
            <a:r>
              <a:rPr lang="en-US" sz="3200" b="1" dirty="0">
                <a:solidFill>
                  <a:srgbClr val="002060"/>
                </a:solidFill>
                <a:latin typeface="Times New Roman" panose="02020603050405020304" pitchFamily="18" charset="0"/>
                <a:cs typeface="Times New Roman" panose="02020603050405020304" pitchFamily="18" charset="0"/>
              </a:rPr>
              <a:t>cash budget)</a:t>
            </a:r>
            <a:r>
              <a:rPr lang="mn-MN" sz="3200" b="1"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 тодорхой хугацаагаар мөнгөн урсгалыг </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орлого, зардал, ашиг</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харуулдаг хүснэгт юм. </a:t>
            </a:r>
          </a:p>
        </p:txBody>
      </p:sp>
    </p:spTree>
    <p:extLst>
      <p:ext uri="{BB962C8B-B14F-4D97-AF65-F5344CB8AC3E}">
        <p14:creationId xmlns:p14="http://schemas.microsoft.com/office/powerpoint/2010/main" val="752089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42874" y="90830"/>
            <a:ext cx="11801475" cy="413996"/>
          </a:xfrm>
        </p:spPr>
        <p:txBody>
          <a:bodyPr>
            <a:normAutofit fontScale="90000"/>
          </a:bodyPr>
          <a:lstStyle/>
          <a:p>
            <a:pPr algn="just"/>
            <a:r>
              <a:rPr lang="mn-MN" sz="3600" b="1" dirty="0">
                <a:solidFill>
                  <a:srgbClr val="0070C0"/>
                </a:solidFill>
                <a:latin typeface="Times New Roman" panose="02020603050405020304" pitchFamily="18" charset="0"/>
                <a:cs typeface="Times New Roman" panose="02020603050405020304" pitchFamily="18" charset="0"/>
              </a:rPr>
              <a:t>Мөнгөн хөрөнгийн төсөв </a:t>
            </a:r>
            <a:r>
              <a:rPr lang="en-US" sz="3600" b="1" dirty="0">
                <a:solidFill>
                  <a:srgbClr val="0070C0"/>
                </a:solidFill>
                <a:latin typeface="Times New Roman" panose="02020603050405020304" pitchFamily="18" charset="0"/>
                <a:cs typeface="Times New Roman" panose="02020603050405020304" pitchFamily="18" charset="0"/>
              </a:rPr>
              <a:t>(The Cash Budget)</a:t>
            </a: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142874" y="504826"/>
            <a:ext cx="11801475" cy="5769980"/>
          </a:xfrm>
        </p:spPr>
        <p:txBody>
          <a:bodyPr>
            <a:normAutofit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Компаниуд бизнесийн үйл ажиллагааныхаа мөнгөн урсгалын таамаглалыг байнга гаргаж байх хэрэгтэй. </a:t>
            </a:r>
            <a:endParaRPr lang="en-US" dirty="0">
              <a:solidFill>
                <a:srgbClr val="002060"/>
              </a:solidFill>
              <a:latin typeface="Times New Roman" panose="02020603050405020304" pitchFamily="18" charset="0"/>
              <a:cs typeface="Times New Roman" panose="02020603050405020304" pitchFamily="18" charset="0"/>
            </a:endParaRPr>
          </a:p>
          <a:p>
            <a:pPr lvl="1" algn="just"/>
            <a:r>
              <a:rPr lang="mn-MN" dirty="0">
                <a:solidFill>
                  <a:srgbClr val="002060"/>
                </a:solidFill>
                <a:latin typeface="Times New Roman" panose="02020603050405020304" pitchFamily="18" charset="0"/>
                <a:cs typeface="Times New Roman" panose="02020603050405020304" pitchFamily="18" charset="0"/>
              </a:rPr>
              <a:t>Хэрэв </a:t>
            </a:r>
            <a:r>
              <a:rPr lang="mn-MN" b="1" dirty="0">
                <a:solidFill>
                  <a:srgbClr val="002060"/>
                </a:solidFill>
                <a:latin typeface="Times New Roman" panose="02020603050405020304" pitchFamily="18" charset="0"/>
                <a:cs typeface="Times New Roman" panose="02020603050405020304" pitchFamily="18" charset="0"/>
              </a:rPr>
              <a:t>бэлэн мөнгөний хэрэгцээ нэмэгдвэл </a:t>
            </a:r>
            <a:r>
              <a:rPr lang="mn-MN" dirty="0">
                <a:solidFill>
                  <a:srgbClr val="002060"/>
                </a:solidFill>
                <a:latin typeface="Times New Roman" panose="02020603050405020304" pitchFamily="18" charset="0"/>
                <a:cs typeface="Times New Roman" panose="02020603050405020304" pitchFamily="18" charset="0"/>
              </a:rPr>
              <a:t>ашиглаж болох нөөц сангуудыг урьдчилан байгуулсан байх шаардлагатай. </a:t>
            </a:r>
          </a:p>
          <a:p>
            <a:pPr lvl="1" algn="just"/>
            <a:r>
              <a:rPr lang="mn-MN" dirty="0">
                <a:solidFill>
                  <a:srgbClr val="002060"/>
                </a:solidFill>
                <a:latin typeface="Times New Roman" panose="02020603050405020304" pitchFamily="18" charset="0"/>
                <a:cs typeface="Times New Roman" panose="02020603050405020304" pitchFamily="18" charset="0"/>
              </a:rPr>
              <a:t>Харин </a:t>
            </a:r>
            <a:r>
              <a:rPr lang="mn-MN" b="1" dirty="0">
                <a:solidFill>
                  <a:srgbClr val="002060"/>
                </a:solidFill>
                <a:latin typeface="Times New Roman" panose="02020603050405020304" pitchFamily="18" charset="0"/>
                <a:cs typeface="Times New Roman" panose="02020603050405020304" pitchFamily="18" charset="0"/>
              </a:rPr>
              <a:t>мөнгөн хөрөнгийн илүүдэл бий болох үед </a:t>
            </a:r>
            <a:r>
              <a:rPr lang="mn-MN" dirty="0">
                <a:solidFill>
                  <a:srgbClr val="002060"/>
                </a:solidFill>
                <a:latin typeface="Times New Roman" panose="02020603050405020304" pitchFamily="18" charset="0"/>
                <a:cs typeface="Times New Roman" panose="02020603050405020304" pitchFamily="18" charset="0"/>
              </a:rPr>
              <a:t>түүнийгээ үр өгөөжтэй ашиглах төлөвлөгөө боловсруулдаг. </a:t>
            </a:r>
          </a:p>
          <a:p>
            <a:pPr algn="just"/>
            <a:r>
              <a:rPr lang="mn-MN" dirty="0">
                <a:solidFill>
                  <a:srgbClr val="002060"/>
                </a:solidFill>
                <a:latin typeface="Times New Roman" panose="02020603050405020304" pitchFamily="18" charset="0"/>
                <a:cs typeface="Times New Roman" panose="02020603050405020304" pitchFamily="18" charset="0"/>
              </a:rPr>
              <a:t>Таамаглал хийх гол хэрэгсэл – </a:t>
            </a:r>
            <a:r>
              <a:rPr lang="mn-MN" b="1" dirty="0">
                <a:solidFill>
                  <a:schemeClr val="accent2">
                    <a:lumMod val="75000"/>
                  </a:schemeClr>
                </a:solidFill>
                <a:latin typeface="Times New Roman" panose="02020603050405020304" pitchFamily="18" charset="0"/>
                <a:cs typeface="Times New Roman" panose="02020603050405020304" pitchFamily="18" charset="0"/>
              </a:rPr>
              <a:t>мөнгөн хөрөнгийн төсөв (</a:t>
            </a:r>
            <a:r>
              <a:rPr lang="en-US" b="1" dirty="0">
                <a:solidFill>
                  <a:schemeClr val="accent2">
                    <a:lumMod val="75000"/>
                  </a:schemeClr>
                </a:solidFill>
                <a:latin typeface="Times New Roman" panose="02020603050405020304" pitchFamily="18" charset="0"/>
                <a:cs typeface="Times New Roman" panose="02020603050405020304" pitchFamily="18" charset="0"/>
              </a:rPr>
              <a:t>cash budget)</a:t>
            </a:r>
            <a:r>
              <a:rPr lang="mn-MN" dirty="0">
                <a:solidFill>
                  <a:srgbClr val="002060"/>
                </a:solidFill>
                <a:latin typeface="Times New Roman" panose="02020603050405020304" pitchFamily="18" charset="0"/>
                <a:cs typeface="Times New Roman" panose="02020603050405020304" pitchFamily="18" charset="0"/>
              </a:rPr>
              <a:t>.</a:t>
            </a:r>
          </a:p>
          <a:p>
            <a:pPr algn="just"/>
            <a:r>
              <a:rPr lang="mn-MN" b="1" dirty="0">
                <a:solidFill>
                  <a:srgbClr val="002060"/>
                </a:solidFill>
                <a:latin typeface="Times New Roman" panose="02020603050405020304" pitchFamily="18" charset="0"/>
                <a:cs typeface="Times New Roman" panose="02020603050405020304" pitchFamily="18" charset="0"/>
              </a:rPr>
              <a:t>Мөнгөн хөрөнгийн төсөв (</a:t>
            </a:r>
            <a:r>
              <a:rPr lang="en-US" b="1" dirty="0">
                <a:solidFill>
                  <a:srgbClr val="002060"/>
                </a:solidFill>
                <a:latin typeface="Times New Roman" panose="02020603050405020304" pitchFamily="18" charset="0"/>
                <a:cs typeface="Times New Roman" panose="02020603050405020304" pitchFamily="18" charset="0"/>
              </a:rPr>
              <a:t>cash budget)</a:t>
            </a:r>
            <a:r>
              <a:rPr lang="mn-MN" b="1"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 тодорхой хугацаагаар мөнгөн урсгалыг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орлого, зардал, ашиг</a:t>
            </a: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харуулдаг хүснэгт юм. </a:t>
            </a:r>
          </a:p>
          <a:p>
            <a:pPr algn="just"/>
            <a:r>
              <a:rPr lang="mn-MN" dirty="0">
                <a:solidFill>
                  <a:srgbClr val="002060"/>
                </a:solidFill>
                <a:latin typeface="Times New Roman" panose="02020603050405020304" pitchFamily="18" charset="0"/>
                <a:cs typeface="Times New Roman" panose="02020603050405020304" pitchFamily="18" charset="0"/>
              </a:rPr>
              <a:t>Мөнгөн хөрөнгийн төсөв нь ямар ч, хэдий ч хугацааг хамарч болно, гэхдээ ихэнхдээ жилийнхийг </a:t>
            </a:r>
            <a:r>
              <a:rPr lang="en-US" dirty="0">
                <a:solidFill>
                  <a:srgbClr val="002060"/>
                </a:solidFill>
                <a:latin typeface="Times New Roman" panose="02020603050405020304" pitchFamily="18" charset="0"/>
                <a:cs typeface="Times New Roman" panose="02020603050405020304" pitchFamily="18" charset="0"/>
              </a:rPr>
              <a:t>cap </a:t>
            </a:r>
            <a:r>
              <a:rPr lang="mn-MN" dirty="0">
                <a:solidFill>
                  <a:srgbClr val="002060"/>
                </a:solidFill>
                <a:latin typeface="Times New Roman" panose="02020603050405020304" pitchFamily="18" charset="0"/>
                <a:cs typeface="Times New Roman" panose="02020603050405020304" pitchFamily="18" charset="0"/>
              </a:rPr>
              <a:t>сараар нь боловсруулдаг. </a:t>
            </a:r>
          </a:p>
          <a:p>
            <a:pPr lvl="1" algn="just"/>
            <a:r>
              <a:rPr lang="en-US" dirty="0">
                <a:solidFill>
                  <a:srgbClr val="002060"/>
                </a:solidFill>
                <a:latin typeface="Times New Roman" panose="02020603050405020304" pitchFamily="18" charset="0"/>
                <a:cs typeface="Times New Roman" panose="02020603050405020304" pitchFamily="18" charset="0"/>
              </a:rPr>
              <a:t>Cap </a:t>
            </a:r>
            <a:r>
              <a:rPr lang="mn-MN" dirty="0">
                <a:solidFill>
                  <a:srgbClr val="002060"/>
                </a:solidFill>
                <a:latin typeface="Times New Roman" panose="02020603050405020304" pitchFamily="18" charset="0"/>
                <a:cs typeface="Times New Roman" panose="02020603050405020304" pitchFamily="18" charset="0"/>
              </a:rPr>
              <a:t>бүрийн эхэнд эхний өдрийн мөнгөн хөрөнгийн төсвийг гаргана. </a:t>
            </a:r>
          </a:p>
          <a:p>
            <a:pPr lvl="1" algn="just"/>
            <a:r>
              <a:rPr lang="mn-MN" dirty="0">
                <a:solidFill>
                  <a:srgbClr val="002060"/>
                </a:solidFill>
                <a:latin typeface="Times New Roman" panose="02020603050405020304" pitchFamily="18" charset="0"/>
                <a:cs typeface="Times New Roman" panose="02020603050405020304" pitchFamily="18" charset="0"/>
              </a:rPr>
              <a:t>Сарын төсөв дээр үндэслэн урт хугацааны төлөвлөгөө боловсруулдаг. </a:t>
            </a:r>
          </a:p>
          <a:p>
            <a:pPr lvl="1" algn="just"/>
            <a:r>
              <a:rPr lang="mn-MN" dirty="0">
                <a:solidFill>
                  <a:srgbClr val="002060"/>
                </a:solidFill>
                <a:latin typeface="Times New Roman" panose="02020603050405020304" pitchFamily="18" charset="0"/>
                <a:cs typeface="Times New Roman" panose="02020603050405020304" pitchFamily="18" charset="0"/>
              </a:rPr>
              <a:t>Өдрөөр гаргасан төсөв нь мөнгөн урсгалын талаар илүү дэлгэрэнгүй бодит мэдээллийг өгдөг.</a:t>
            </a:r>
          </a:p>
        </p:txBody>
      </p:sp>
    </p:spTree>
    <p:extLst>
      <p:ext uri="{BB962C8B-B14F-4D97-AF65-F5344CB8AC3E}">
        <p14:creationId xmlns:p14="http://schemas.microsoft.com/office/powerpoint/2010/main" val="4177990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14299" y="81304"/>
            <a:ext cx="11934825" cy="480671"/>
          </a:xfrm>
        </p:spPr>
        <p:txBody>
          <a:bodyPr>
            <a:normAutofit fontScale="90000"/>
          </a:bodyPr>
          <a:lstStyle/>
          <a:p>
            <a:pPr algn="just"/>
            <a:r>
              <a:rPr lang="mn-MN" sz="3600" b="1" dirty="0">
                <a:solidFill>
                  <a:srgbClr val="0070C0"/>
                </a:solidFill>
                <a:latin typeface="Times New Roman" panose="02020603050405020304" pitchFamily="18" charset="0"/>
                <a:cs typeface="Times New Roman" panose="02020603050405020304" pitchFamily="18" charset="0"/>
              </a:rPr>
              <a:t>Мөнгөн хөрөнгийн төсөв </a:t>
            </a:r>
            <a:r>
              <a:rPr lang="en-US" sz="3600" b="1" dirty="0">
                <a:solidFill>
                  <a:srgbClr val="0070C0"/>
                </a:solidFill>
                <a:latin typeface="Times New Roman" panose="02020603050405020304" pitchFamily="18" charset="0"/>
                <a:cs typeface="Times New Roman" panose="02020603050405020304" pitchFamily="18" charset="0"/>
              </a:rPr>
              <a:t>(The Cash Budget)</a:t>
            </a:r>
          </a:p>
        </p:txBody>
      </p:sp>
      <p:sp>
        <p:nvSpPr>
          <p:cNvPr id="3" name="Content Placeholder 2">
            <a:extLst>
              <a:ext uri="{FF2B5EF4-FFF2-40B4-BE49-F238E27FC236}">
                <a16:creationId xmlns:a16="http://schemas.microsoft.com/office/drawing/2014/main" id="{FE720505-C8EE-7F00-D367-5BE290753148}"/>
              </a:ext>
            </a:extLst>
          </p:cNvPr>
          <p:cNvSpPr>
            <a:spLocks noGrp="1"/>
          </p:cNvSpPr>
          <p:nvPr>
            <p:ph idx="1"/>
          </p:nvPr>
        </p:nvSpPr>
        <p:spPr>
          <a:xfrm>
            <a:off x="142876" y="442248"/>
            <a:ext cx="11934825" cy="6225251"/>
          </a:xfrm>
        </p:spPr>
        <p:txBody>
          <a:bodyPr>
            <a:normAutofit fontScale="92500" lnSpcReduction="10000"/>
          </a:bodyPr>
          <a:lstStyle/>
          <a:p>
            <a:pPr algn="just">
              <a:lnSpc>
                <a:spcPct val="100000"/>
              </a:lnSpc>
            </a:pPr>
            <a:r>
              <a:rPr lang="mn-MN" sz="3200" dirty="0">
                <a:solidFill>
                  <a:srgbClr val="002060"/>
                </a:solidFill>
                <a:latin typeface="Times New Roman" panose="02020603050405020304" pitchFamily="18" charset="0"/>
                <a:cs typeface="Times New Roman" panose="02020603050405020304" pitchFamily="18" charset="0"/>
              </a:rPr>
              <a:t>Сараар гаргасан мөнгөн хөрөнгийн төсөв нь:</a:t>
            </a:r>
          </a:p>
          <a:p>
            <a:pPr lvl="1" algn="just">
              <a:lnSpc>
                <a:spcPct val="100000"/>
              </a:lnSpc>
            </a:pPr>
            <a:r>
              <a:rPr lang="mn-MN" sz="2800" dirty="0">
                <a:solidFill>
                  <a:srgbClr val="002060"/>
                </a:solidFill>
                <a:latin typeface="Times New Roman" panose="02020603050405020304" pitchFamily="18" charset="0"/>
                <a:cs typeface="Times New Roman" panose="02020603050405020304" pitchFamily="18" charset="0"/>
              </a:rPr>
              <a:t>Сарын борлуулалт</a:t>
            </a:r>
          </a:p>
          <a:p>
            <a:pPr lvl="1" algn="just">
              <a:lnSpc>
                <a:spcPct val="100000"/>
              </a:lnSpc>
            </a:pPr>
            <a:r>
              <a:rPr lang="mn-MN" sz="2800" dirty="0">
                <a:solidFill>
                  <a:srgbClr val="002060"/>
                </a:solidFill>
                <a:latin typeface="Times New Roman" panose="02020603050405020304" pitchFamily="18" charset="0"/>
                <a:cs typeface="Times New Roman" panose="02020603050405020304" pitchFamily="18" charset="0"/>
              </a:rPr>
              <a:t>Тэр борлуулалтын орлогыг хэзээ цуглуулж дуусах вэ гэсэн төлөвлөлтөөр эхэлнэ. </a:t>
            </a:r>
          </a:p>
          <a:p>
            <a:pPr lvl="1" algn="just">
              <a:lnSpc>
                <a:spcPct val="100000"/>
              </a:lnSpc>
            </a:pPr>
            <a:r>
              <a:rPr lang="mn-MN" sz="2800" dirty="0">
                <a:solidFill>
                  <a:srgbClr val="002060"/>
                </a:solidFill>
                <a:latin typeface="Times New Roman" panose="02020603050405020304" pitchFamily="18" charset="0"/>
                <a:cs typeface="Times New Roman" panose="02020603050405020304" pitchFamily="18" charset="0"/>
              </a:rPr>
              <a:t>Үүний дараа төлбөр хийх таамаглалыг боловсруулна. Үүнд: </a:t>
            </a:r>
          </a:p>
          <a:p>
            <a:pPr lvl="2" algn="just">
              <a:lnSpc>
                <a:spcPct val="100000"/>
              </a:lnSpc>
            </a:pPr>
            <a:r>
              <a:rPr lang="mn-MN" sz="2400" dirty="0">
                <a:solidFill>
                  <a:srgbClr val="002060"/>
                </a:solidFill>
                <a:latin typeface="Times New Roman" panose="02020603050405020304" pitchFamily="18" charset="0"/>
                <a:cs typeface="Times New Roman" panose="02020603050405020304" pitchFamily="18" charset="0"/>
              </a:rPr>
              <a:t>Материалын, </a:t>
            </a:r>
          </a:p>
          <a:p>
            <a:pPr lvl="2" algn="just">
              <a:lnSpc>
                <a:spcPct val="100000"/>
              </a:lnSpc>
            </a:pPr>
            <a:r>
              <a:rPr lang="mn-MN" sz="2400" dirty="0">
                <a:solidFill>
                  <a:srgbClr val="002060"/>
                </a:solidFill>
                <a:latin typeface="Times New Roman" panose="02020603050405020304" pitchFamily="18" charset="0"/>
                <a:cs typeface="Times New Roman" panose="02020603050405020304" pitchFamily="18" charset="0"/>
              </a:rPr>
              <a:t>Хөдөлмөрийн хөлсний, </a:t>
            </a:r>
          </a:p>
          <a:p>
            <a:pPr lvl="2" algn="just">
              <a:lnSpc>
                <a:spcPct val="100000"/>
              </a:lnSpc>
            </a:pPr>
            <a:r>
              <a:rPr lang="mn-MN" sz="2400" dirty="0">
                <a:solidFill>
                  <a:srgbClr val="002060"/>
                </a:solidFill>
                <a:latin typeface="Times New Roman" panose="02020603050405020304" pitchFamily="18" charset="0"/>
                <a:cs typeface="Times New Roman" panose="02020603050405020304" pitchFamily="18" charset="0"/>
              </a:rPr>
              <a:t>Түрээсийн, </a:t>
            </a:r>
          </a:p>
          <a:p>
            <a:pPr lvl="2" algn="just">
              <a:lnSpc>
                <a:spcPct val="100000"/>
              </a:lnSpc>
            </a:pPr>
            <a:r>
              <a:rPr lang="mn-MN" sz="2400" dirty="0">
                <a:solidFill>
                  <a:srgbClr val="002060"/>
                </a:solidFill>
                <a:latin typeface="Times New Roman" panose="02020603050405020304" pitchFamily="18" charset="0"/>
                <a:cs typeface="Times New Roman" panose="02020603050405020304" pitchFamily="18" charset="0"/>
              </a:rPr>
              <a:t>Авсан шинэ тоног төхөрөөмжийн, </a:t>
            </a:r>
          </a:p>
          <a:p>
            <a:pPr lvl="2" algn="just">
              <a:lnSpc>
                <a:spcPct val="100000"/>
              </a:lnSpc>
            </a:pPr>
            <a:r>
              <a:rPr lang="mn-MN" sz="2400" dirty="0">
                <a:solidFill>
                  <a:srgbClr val="002060"/>
                </a:solidFill>
                <a:latin typeface="Times New Roman" panose="02020603050405020304" pitchFamily="18" charset="0"/>
                <a:cs typeface="Times New Roman" panose="02020603050405020304" pitchFamily="18" charset="0"/>
              </a:rPr>
              <a:t>Татварын</a:t>
            </a:r>
          </a:p>
          <a:p>
            <a:pPr lvl="2" algn="just">
              <a:lnSpc>
                <a:spcPct val="100000"/>
              </a:lnSpc>
            </a:pPr>
            <a:r>
              <a:rPr lang="mn-MN" sz="2400" dirty="0">
                <a:solidFill>
                  <a:srgbClr val="002060"/>
                </a:solidFill>
                <a:latin typeface="Times New Roman" panose="02020603050405020304" pitchFamily="18" charset="0"/>
                <a:cs typeface="Times New Roman" panose="02020603050405020304" pitchFamily="18" charset="0"/>
              </a:rPr>
              <a:t>бусад зардлын төлбөр</a:t>
            </a:r>
          </a:p>
          <a:p>
            <a:pPr lvl="1" algn="just">
              <a:lnSpc>
                <a:spcPct val="100000"/>
              </a:lnSpc>
            </a:pPr>
            <a:r>
              <a:rPr lang="mn-MN" sz="2800" dirty="0">
                <a:solidFill>
                  <a:srgbClr val="002060"/>
                </a:solidFill>
                <a:latin typeface="Times New Roman" panose="02020603050405020304" pitchFamily="18" charset="0"/>
                <a:cs typeface="Times New Roman" panose="02020603050405020304" pitchFamily="18" charset="0"/>
              </a:rPr>
              <a:t>Таамагласан борлуулалтаас таамагласан зардлыг хассаны дараа сарын цэвэр мөнгөн ашиг (алдагдал) гарна. </a:t>
            </a:r>
          </a:p>
          <a:p>
            <a:pPr lvl="1" algn="just">
              <a:lnSpc>
                <a:spcPct val="100000"/>
              </a:lnSpc>
            </a:pPr>
            <a:r>
              <a:rPr lang="mn-MN" sz="2800" dirty="0">
                <a:solidFill>
                  <a:srgbClr val="002060"/>
                </a:solidFill>
                <a:latin typeface="Times New Roman" panose="02020603050405020304" pitchFamily="18" charset="0"/>
                <a:cs typeface="Times New Roman" panose="02020603050405020304" pitchFamily="18" charset="0"/>
              </a:rPr>
              <a:t>Мөнгөн хөрөнгийн эхний үлдэгдэл дээр ашгийг нэмж (алдагдалтай бол хасч) сарын эцэст байх мөнгөн хөрөнгийн үлдэгдлийг гаргана. Энэ үлдэгдэл нь зээл аваагүй, хөрөнгө оруулалт хийгээгүй байгаа үеийн үлдэгдэл байна.</a:t>
            </a:r>
          </a:p>
        </p:txBody>
      </p:sp>
    </p:spTree>
    <p:extLst>
      <p:ext uri="{BB962C8B-B14F-4D97-AF65-F5344CB8AC3E}">
        <p14:creationId xmlns:p14="http://schemas.microsoft.com/office/powerpoint/2010/main" val="1642203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71450" y="98426"/>
            <a:ext cx="11753850" cy="368300"/>
          </a:xfrm>
        </p:spPr>
        <p:txBody>
          <a:bodyPr>
            <a:normAutofit fontScale="90000"/>
          </a:bodyPr>
          <a:lstStyle/>
          <a:p>
            <a:pPr algn="just"/>
            <a:r>
              <a:rPr lang="mn-MN" b="1" dirty="0">
                <a:solidFill>
                  <a:srgbClr val="0070C0"/>
                </a:solidFill>
                <a:latin typeface="Times New Roman" panose="02020603050405020304" pitchFamily="18" charset="0"/>
                <a:cs typeface="Times New Roman" panose="02020603050405020304" pitchFamily="18" charset="0"/>
              </a:rPr>
              <a:t>Мөнгөн хөрөнгийн төсвийн жишээ</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EBF714F-D32B-4322-8866-C49C8342A0D1}"/>
              </a:ext>
            </a:extLst>
          </p:cNvPr>
          <p:cNvSpPr>
            <a:spLocks noGrp="1"/>
          </p:cNvSpPr>
          <p:nvPr>
            <p:ph idx="1"/>
          </p:nvPr>
        </p:nvSpPr>
        <p:spPr>
          <a:xfrm>
            <a:off x="171450" y="516068"/>
            <a:ext cx="11753850" cy="6046657"/>
          </a:xfrm>
        </p:spPr>
        <p:txBody>
          <a:bodyPr>
            <a:normAutofit lnSpcReduction="10000"/>
          </a:bodyPr>
          <a:lstStyle/>
          <a:p>
            <a:pPr algn="just"/>
            <a:r>
              <a:rPr lang="mn-MN" sz="3600" dirty="0">
                <a:solidFill>
                  <a:srgbClr val="002060"/>
                </a:solidFill>
                <a:latin typeface="Times New Roman" panose="02020603050405020304" pitchFamily="18" charset="0"/>
                <a:cs typeface="Times New Roman" panose="02020603050405020304" pitchFamily="18" charset="0"/>
              </a:rPr>
              <a:t>“Хүнс” ХК бараа бүтээгдэхүүнийг сүлжээ дэлгүүрүүдээр дамжуулан борлуулдаг. </a:t>
            </a:r>
          </a:p>
          <a:p>
            <a:pPr algn="just"/>
            <a:r>
              <a:rPr lang="mn-MN" sz="3600" dirty="0">
                <a:solidFill>
                  <a:srgbClr val="002060"/>
                </a:solidFill>
                <a:latin typeface="Times New Roman" panose="02020603050405020304" pitchFamily="18" charset="0"/>
                <a:cs typeface="Times New Roman" panose="02020603050405020304" pitchFamily="18" charset="0"/>
              </a:rPr>
              <a:t>Борлуулалтын нөхцөл: </a:t>
            </a:r>
          </a:p>
          <a:p>
            <a:pPr lvl="1" algn="just"/>
            <a:r>
              <a:rPr lang="mn-MN" sz="3200" dirty="0">
                <a:solidFill>
                  <a:srgbClr val="002060"/>
                </a:solidFill>
                <a:latin typeface="Times New Roman" panose="02020603050405020304" pitchFamily="18" charset="0"/>
                <a:cs typeface="Times New Roman" panose="02020603050405020304" pitchFamily="18" charset="0"/>
              </a:rPr>
              <a:t>Худалдан авалтын төлбөрийг 10 хоногт багтаан хийсэн худалдан авагчдад 2 хувийн хөнгөлөлт үзүүлнэ, </a:t>
            </a:r>
          </a:p>
          <a:p>
            <a:pPr lvl="1" algn="just"/>
            <a:r>
              <a:rPr lang="mn-MN" sz="3200" dirty="0">
                <a:solidFill>
                  <a:srgbClr val="002060"/>
                </a:solidFill>
                <a:latin typeface="Times New Roman" panose="02020603050405020304" pitchFamily="18" charset="0"/>
                <a:cs typeface="Times New Roman" panose="02020603050405020304" pitchFamily="18" charset="0"/>
              </a:rPr>
              <a:t>30 хоногт хийвэл хөнгөлөлт үзүүлэхгүй гэсэн нөхцөлтэй. </a:t>
            </a:r>
          </a:p>
          <a:p>
            <a:pPr lvl="1" algn="just"/>
            <a:r>
              <a:rPr lang="mn-MN" sz="3200" dirty="0">
                <a:solidFill>
                  <a:srgbClr val="002060"/>
                </a:solidFill>
                <a:latin typeface="Times New Roman" panose="02020603050405020304" pitchFamily="18" charset="0"/>
                <a:cs typeface="Times New Roman" panose="02020603050405020304" pitchFamily="18" charset="0"/>
              </a:rPr>
              <a:t>Зарим худалдан авагч янз бүрийн нөхцөлөөс хамаараад 30 хоногт багтаан төлбөр хийж чаддаггүй, илүү олон хоногийн дараа тооцоогоо нийлдэг. </a:t>
            </a:r>
          </a:p>
          <a:p>
            <a:pPr lvl="1" algn="just"/>
            <a:r>
              <a:rPr lang="mn-MN" sz="3200" dirty="0">
                <a:solidFill>
                  <a:srgbClr val="002060"/>
                </a:solidFill>
                <a:latin typeface="Times New Roman" panose="02020603050405020304" pitchFamily="18" charset="0"/>
                <a:cs typeface="Times New Roman" panose="02020603050405020304" pitchFamily="18" charset="0"/>
              </a:rPr>
              <a:t>Шинжээчдийн хийсэн судалгаагаар худалдан авагчдын 20 хувь нь 10 хоногт төлбөрөө хийж хөнгөлөлт эдэлдэг, 70 хувь нь 30 хоногт, 10 хувь нь худалдан авалтын төлбөрийг дараа сард хийдэг.</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8188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74102" y="90829"/>
            <a:ext cx="11570731" cy="404471"/>
          </a:xfrm>
        </p:spPr>
        <p:txBody>
          <a:bodyPr>
            <a:normAutofit fontScale="90000"/>
          </a:bodyPr>
          <a:lstStyle/>
          <a:p>
            <a:pPr algn="just"/>
            <a:r>
              <a:rPr lang="mn-MN" b="1" dirty="0">
                <a:solidFill>
                  <a:srgbClr val="0070C0"/>
                </a:solidFill>
                <a:latin typeface="Times New Roman" panose="02020603050405020304" pitchFamily="18" charset="0"/>
                <a:cs typeface="Times New Roman" panose="02020603050405020304" pitchFamily="18" charset="0"/>
              </a:rPr>
              <a:t>Мөнгөн хөрөнгийн төсвийн жишээ</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EBF714F-D32B-4322-8866-C49C8342A0D1}"/>
              </a:ext>
            </a:extLst>
          </p:cNvPr>
          <p:cNvSpPr>
            <a:spLocks noGrp="1"/>
          </p:cNvSpPr>
          <p:nvPr>
            <p:ph idx="1"/>
          </p:nvPr>
        </p:nvSpPr>
        <p:spPr>
          <a:xfrm>
            <a:off x="174102" y="576101"/>
            <a:ext cx="11779773" cy="5948524"/>
          </a:xfrm>
        </p:spPr>
        <p:txBody>
          <a:bodyPr>
            <a:normAutofit fontScale="92500"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Сарын бараа бүтээгдэхүүний БО-ын 70 хувийг түүхий эд материал, сав баглаа боодол худалдан авахад зарцуулдаг. Энэ нь үйлдвэрлэлийн дараагийн мөчлөгийн бүтээгдэхүүний өртөгт шингэдэг. Эдгээр материалыг хүлээгдэж байгаа борлуулалт хийхээс 1 сарын өмнө худалдан аваад, төлбөрийг нь бэлтгэн нийлүүлэгчдэд 30 хоногийн дараа өгдөг. </a:t>
            </a:r>
          </a:p>
          <a:p>
            <a:pPr algn="just"/>
            <a:r>
              <a:rPr lang="mn-MN" dirty="0">
                <a:solidFill>
                  <a:srgbClr val="002060"/>
                </a:solidFill>
                <a:latin typeface="Times New Roman" panose="02020603050405020304" pitchFamily="18" charset="0"/>
                <a:cs typeface="Times New Roman" panose="02020603050405020304" pitchFamily="18" charset="0"/>
              </a:rPr>
              <a:t>Цалин, түрээсийн төлбөрийг мөнгөн хөрөнгийн төсөвт мөн оруулсан. </a:t>
            </a:r>
          </a:p>
          <a:p>
            <a:pPr algn="just"/>
            <a:r>
              <a:rPr lang="mn-MN" dirty="0">
                <a:solidFill>
                  <a:srgbClr val="002060"/>
                </a:solidFill>
                <a:latin typeface="Times New Roman" panose="02020603050405020304" pitchFamily="18" charset="0"/>
                <a:cs typeface="Times New Roman" panose="02020603050405020304" pitchFamily="18" charset="0"/>
              </a:rPr>
              <a:t>“Хүнс” ХК 9-р сарын 15-нд 30 сая төгрөгийг, 12 сарын 15-нд 20 сая төгрөгийг татварт төлнө гэж тооцоолсон. </a:t>
            </a:r>
          </a:p>
          <a:p>
            <a:pPr algn="just"/>
            <a:r>
              <a:rPr lang="mn-MN" dirty="0">
                <a:solidFill>
                  <a:srgbClr val="002060"/>
                </a:solidFill>
                <a:latin typeface="Times New Roman" panose="02020603050405020304" pitchFamily="18" charset="0"/>
                <a:cs typeface="Times New Roman" panose="02020603050405020304" pitchFamily="18" charset="0"/>
              </a:rPr>
              <a:t>Үүнээс гадна 10 сард 100 сая төгрөгөөр шинэ үйлдвэр худалдаж авч угсарна. Төлбөрийг нь шууд хийнэ. </a:t>
            </a:r>
          </a:p>
          <a:p>
            <a:pPr algn="just"/>
            <a:r>
              <a:rPr lang="mn-MN" dirty="0">
                <a:solidFill>
                  <a:srgbClr val="002060"/>
                </a:solidFill>
                <a:latin typeface="Times New Roman" panose="02020603050405020304" pitchFamily="18" charset="0"/>
                <a:cs typeface="Times New Roman" panose="02020603050405020304" pitchFamily="18" charset="0"/>
              </a:rPr>
              <a:t>Гарч болох бусад зардлыг төсөвт мөн тусгалаа. </a:t>
            </a:r>
          </a:p>
          <a:p>
            <a:pPr algn="just"/>
            <a:r>
              <a:rPr lang="mn-MN" dirty="0">
                <a:solidFill>
                  <a:srgbClr val="002060"/>
                </a:solidFill>
                <a:latin typeface="Times New Roman" panose="02020603050405020304" pitchFamily="18" charset="0"/>
                <a:cs typeface="Times New Roman" panose="02020603050405020304" pitchFamily="18" charset="0"/>
              </a:rPr>
              <a:t>Хүнс” ХК-ийн мөнгөн хөрөнгийн зорилтот баланс (үлдэгдэл) (</a:t>
            </a:r>
            <a:r>
              <a:rPr lang="en-US" dirty="0">
                <a:solidFill>
                  <a:srgbClr val="002060"/>
                </a:solidFill>
                <a:latin typeface="Times New Roman" panose="02020603050405020304" pitchFamily="18" charset="0"/>
                <a:cs typeface="Times New Roman" panose="02020603050405020304" pitchFamily="18" charset="0"/>
              </a:rPr>
              <a:t>target cash balance) </a:t>
            </a:r>
            <a:r>
              <a:rPr lang="mn-MN" dirty="0">
                <a:solidFill>
                  <a:srgbClr val="002060"/>
                </a:solidFill>
                <a:latin typeface="Times New Roman" panose="02020603050405020304" pitchFamily="18" charset="0"/>
                <a:cs typeface="Times New Roman" panose="02020603050405020304" pitchFamily="18" charset="0"/>
              </a:rPr>
              <a:t>нь 10 сая төгрөг. </a:t>
            </a:r>
          </a:p>
          <a:p>
            <a:pPr algn="just"/>
            <a:r>
              <a:rPr lang="mn-MN" dirty="0">
                <a:solidFill>
                  <a:srgbClr val="002060"/>
                </a:solidFill>
                <a:latin typeface="Times New Roman" panose="02020603050405020304" pitchFamily="18" charset="0"/>
                <a:cs typeface="Times New Roman" panose="02020603050405020304" pitchFamily="18" charset="0"/>
              </a:rPr>
              <a:t>Мөнгөн хөрөнгийн үлдэгдэл энэ түвшинд хүрэхгүй бол зээл авна, харин илүү гарвал түүнийг хөрөнгө оруулалт хийхэд зориулна.</a:t>
            </a:r>
          </a:p>
        </p:txBody>
      </p:sp>
    </p:spTree>
    <p:extLst>
      <p:ext uri="{BB962C8B-B14F-4D97-AF65-F5344CB8AC3E}">
        <p14:creationId xmlns:p14="http://schemas.microsoft.com/office/powerpoint/2010/main" val="624407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F54A-0055-67B3-30F4-A9105DEF6D77}"/>
              </a:ext>
            </a:extLst>
          </p:cNvPr>
          <p:cNvSpPr>
            <a:spLocks noGrp="1"/>
          </p:cNvSpPr>
          <p:nvPr>
            <p:ph type="title"/>
          </p:nvPr>
        </p:nvSpPr>
        <p:spPr>
          <a:xfrm>
            <a:off x="173287" y="57151"/>
            <a:ext cx="10515600" cy="375734"/>
          </a:xfrm>
        </p:spPr>
        <p:txBody>
          <a:bodyPr>
            <a:noAutofit/>
          </a:bodyPr>
          <a:lstStyle/>
          <a:p>
            <a:pPr algn="just"/>
            <a:r>
              <a:rPr lang="mn-MN" sz="3600" b="1" dirty="0">
                <a:solidFill>
                  <a:srgbClr val="0070C0"/>
                </a:solidFill>
                <a:latin typeface="Times New Roman" panose="02020603050405020304" pitchFamily="18" charset="0"/>
                <a:cs typeface="Times New Roman" panose="02020603050405020304" pitchFamily="18" charset="0"/>
              </a:rPr>
              <a:t>Мөнгөн хөрөнгийн төсвийн жишээ</a:t>
            </a:r>
            <a:endParaRPr lang="en-US" sz="3600" b="1" dirty="0">
              <a:solidFill>
                <a:srgbClr val="0070C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2F12DB9-2990-65C2-5DD0-DEA8D6EA04BA}"/>
              </a:ext>
            </a:extLst>
          </p:cNvPr>
          <p:cNvPicPr>
            <a:picLocks noChangeAspect="1"/>
          </p:cNvPicPr>
          <p:nvPr/>
        </p:nvPicPr>
        <p:blipFill>
          <a:blip r:embed="rId3"/>
          <a:stretch>
            <a:fillRect/>
          </a:stretch>
        </p:blipFill>
        <p:spPr>
          <a:xfrm>
            <a:off x="173286" y="432885"/>
            <a:ext cx="11694863" cy="6301289"/>
          </a:xfrm>
          <a:prstGeom prst="rect">
            <a:avLst/>
          </a:prstGeom>
        </p:spPr>
      </p:pic>
    </p:spTree>
    <p:extLst>
      <p:ext uri="{BB962C8B-B14F-4D97-AF65-F5344CB8AC3E}">
        <p14:creationId xmlns:p14="http://schemas.microsoft.com/office/powerpoint/2010/main" val="2106564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2878-A0F5-19C4-3E51-C4A71A313123}"/>
              </a:ext>
            </a:extLst>
          </p:cNvPr>
          <p:cNvSpPr>
            <a:spLocks noGrp="1"/>
          </p:cNvSpPr>
          <p:nvPr>
            <p:ph type="title"/>
          </p:nvPr>
        </p:nvSpPr>
        <p:spPr>
          <a:xfrm>
            <a:off x="185737" y="79375"/>
            <a:ext cx="11820525" cy="682625"/>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Уншиж судлах ном, сурах бичиг</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D6ECD2-1478-C382-3CB4-7AE5501AC3DD}"/>
              </a:ext>
            </a:extLst>
          </p:cNvPr>
          <p:cNvSpPr>
            <a:spLocks noGrp="1"/>
          </p:cNvSpPr>
          <p:nvPr>
            <p:ph idx="1"/>
          </p:nvPr>
        </p:nvSpPr>
        <p:spPr>
          <a:xfrm>
            <a:off x="185737" y="762000"/>
            <a:ext cx="11820525" cy="4351338"/>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Б.Бүжинлхам, Санхүүгийн удирдлага, 2012</a:t>
            </a:r>
          </a:p>
          <a:p>
            <a:pPr algn="just"/>
            <a:r>
              <a:rPr lang="mn-MN" sz="3200" dirty="0">
                <a:solidFill>
                  <a:srgbClr val="002060"/>
                </a:solidFill>
                <a:latin typeface="Times New Roman" panose="02020603050405020304" pitchFamily="18" charset="0"/>
                <a:cs typeface="Times New Roman" panose="02020603050405020304" pitchFamily="18" charset="0"/>
              </a:rPr>
              <a:t>Ж.Бат-Өлзий, Санхүүгийн менежмент, 2017</a:t>
            </a:r>
          </a:p>
          <a:p>
            <a:pPr algn="just"/>
            <a:r>
              <a:rPr lang="mn-MN" sz="3200" dirty="0">
                <a:solidFill>
                  <a:srgbClr val="002060"/>
                </a:solidFill>
                <a:latin typeface="Times New Roman" panose="02020603050405020304" pitchFamily="18" charset="0"/>
                <a:cs typeface="Times New Roman" panose="02020603050405020304" pitchFamily="18" charset="0"/>
              </a:rPr>
              <a:t>М.Довууч, Санхүүгийн менежмент, 2010</a:t>
            </a:r>
          </a:p>
        </p:txBody>
      </p:sp>
    </p:spTree>
    <p:extLst>
      <p:ext uri="{BB962C8B-B14F-4D97-AF65-F5344CB8AC3E}">
        <p14:creationId xmlns:p14="http://schemas.microsoft.com/office/powerpoint/2010/main" val="837563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3416" y="177587"/>
            <a:ext cx="11439677" cy="4003888"/>
          </a:xfrm>
          <a:prstGeom prst="rect">
            <a:avLst/>
          </a:prstGeom>
          <a:ln>
            <a:noFill/>
          </a:ln>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264216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936ADD2-930C-481E-BA0A-8A0C944860E6"/>
  <p:tag name="ISPRING_CMI5_LAUNCH_METHOD" val="any window"/>
  <p:tag name="ISPRINGCLOUDFOLDERID" val="1"/>
  <p:tag name="ISPRINGONLINEFOLDERID" val="1"/>
  <p:tag name="ISPRING_OUTPUT_FOLDER" val="[[&quot;\uFFFD12\u001E{5CDD3A6F-82E0-49E5-B476-77BB91554EEC}&quot;,&quot;C:\\Users\\217\\Download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PASSING_SCORE" val="0.000000"/>
  <p:tag name="ISPRING_CURRENT_PLAYER_ID" val="universal"/>
  <p:tag name="ISPRING_PRESENTATION_TITLE" val="S.EEM101_Lecture08_2023-24.B_ByTs.B_2024.03.23"/>
  <p:tag name="ISPRING_FIRST_PUBLISH" val="1"/>
  <p:tag name="ISPRING_SCORM_ENDPOINT" val="&lt;endpoint&gt;&lt;enable&gt;0&lt;/enable&gt;&lt;lrs&gt;http://&lt;/lrs&gt;&lt;auth&gt;0&lt;/auth&gt;&lt;login&gt;&lt;/login&gt;&lt;password&gt;&lt;/password&gt;&lt;key&gt;&lt;/key&gt;&lt;name&gt;&lt;/name&gt;&lt;email&gt;&lt;/email&gt;&lt;/endpoint&gt;&#10;"/>
  <p:tag name="ISPRING_SCORM_RATE_QUIZZES"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5004</TotalTime>
  <Words>3352</Words>
  <Application>Microsoft Office PowerPoint</Application>
  <PresentationFormat>Widescreen</PresentationFormat>
  <Paragraphs>278</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Cambria Math</vt:lpstr>
      <vt:lpstr>Times New Roman</vt:lpstr>
      <vt:lpstr>Wingdings</vt:lpstr>
      <vt:lpstr>Office Theme</vt:lpstr>
      <vt:lpstr>Лекц 9. Эргэлтийн хөрөнгийн удирдлага</vt:lpstr>
      <vt:lpstr>Хичээлийн суралцахуйн үр дүнгүүд  Оюутан энэ сэдвийг судалснаар дараах ур чадваруудтай болсон байна. </vt:lpstr>
      <vt:lpstr>Хичээлийн агуулга </vt:lpstr>
      <vt:lpstr>Өмнөх хичээлээс ...</vt:lpstr>
      <vt:lpstr>Эргэлтийн хөрөнгө буюу ажлын капиталын ач холбогдол</vt:lpstr>
      <vt:lpstr>Эргэлтийн хөрөнгө ба түүний эх үүсвэрийн менежментийн гол зорилго</vt:lpstr>
      <vt:lpstr>Цэвэр ажлын капитал</vt:lpstr>
      <vt:lpstr>Мөнгөн хөрөнгийн (эргэлтийн хөрөнгө буюу ажлын капиталын) шилжилтийн мөчлөг. Cash conversion cycle – CCC </vt:lpstr>
      <vt:lpstr>Мөнгөн хөрөнгийн шилжилтийн мөчлөг. Cash conversion cycle – CCC </vt:lpstr>
      <vt:lpstr>Мөнгөн хөрөнгийн шилжилтийн мөчлөг Cash conversion cycle – CCC </vt:lpstr>
      <vt:lpstr>Ажлын капиталын удирдлага (менежмент), түүний онцлог</vt:lpstr>
      <vt:lpstr>Эргэлтийн хөрөнгөд хийх хөрөнгө оруулалтын бодлого</vt:lpstr>
      <vt:lpstr>Эргэлтийн хөрөнгөд хийх хөрөнгө оруулалтын бодлого</vt:lpstr>
      <vt:lpstr>Эргэлтийн хөрөнгөд хийх хөрөнгө оруулалтын бодлого</vt:lpstr>
      <vt:lpstr>Эргэлтийн хөрөнгийн санхүүжилтийн бодлого</vt:lpstr>
      <vt:lpstr>Эргэлтийн хөрөнгийн санхүүжилтийн бодлого</vt:lpstr>
      <vt:lpstr>Эргэлтийн хөрөнгийг санхүүжүүлэх бодлогын хувилбарууд</vt:lpstr>
      <vt:lpstr>Эргэлтийн хөрөнгийг санхүүжүүлэх бодлогын хувилбарууд</vt:lpstr>
      <vt:lpstr>Эргэлтийн хөрөнгийг санхүүжүүлэх бодлогын хувилбарууд</vt:lpstr>
      <vt:lpstr>Эргэлтийн хөрөнгийн санхүүжилтийн бодлогын сонголт</vt:lpstr>
      <vt:lpstr>Эргэлтийн хөрөнгийн санхүүжилтийн бодлогын сонголт</vt:lpstr>
      <vt:lpstr>Мөнгөн хөрөнгийн төсөв (The Cash Budget)</vt:lpstr>
      <vt:lpstr>Мөнгөн хөрөнгийн төсөв (The Cash Budget)</vt:lpstr>
      <vt:lpstr>Мөнгөн хөрөнгийн төсөв (The Cash Budget)</vt:lpstr>
      <vt:lpstr>Мөнгөн хөрөнгийн төсвийн жишээ</vt:lpstr>
      <vt:lpstr>Мөнгөн хөрөнгийн төсвийн жишээ</vt:lpstr>
      <vt:lpstr>Мөнгөн хөрөнгийн төсвийн жишээ</vt:lpstr>
      <vt:lpstr>Уншиж судлах ном, сурах бичиг</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S.EEM101_Lecture08_2023-24.B_ByTs.B_2024.03.23</dc:title>
  <dc:creator>Oyu Chuluun</dc:creator>
  <cp:lastModifiedBy>Ganaa begzsuren</cp:lastModifiedBy>
  <cp:revision>254</cp:revision>
  <cp:lastPrinted>2024-03-24T16:02:25Z</cp:lastPrinted>
  <dcterms:created xsi:type="dcterms:W3CDTF">2023-09-05T14:21:28Z</dcterms:created>
  <dcterms:modified xsi:type="dcterms:W3CDTF">2025-04-01T02:27:42Z</dcterms:modified>
</cp:coreProperties>
</file>