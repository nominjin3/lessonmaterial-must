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682" r:id="rId2"/>
    <p:sldId id="683" r:id="rId3"/>
    <p:sldId id="257" r:id="rId4"/>
    <p:sldId id="380" r:id="rId5"/>
    <p:sldId id="412" r:id="rId6"/>
    <p:sldId id="684" r:id="rId7"/>
    <p:sldId id="410" r:id="rId8"/>
    <p:sldId id="411" r:id="rId9"/>
    <p:sldId id="381" r:id="rId10"/>
    <p:sldId id="382" r:id="rId11"/>
    <p:sldId id="686" r:id="rId12"/>
    <p:sldId id="383" r:id="rId13"/>
    <p:sldId id="687" r:id="rId14"/>
    <p:sldId id="688" r:id="rId15"/>
    <p:sldId id="689" r:id="rId16"/>
    <p:sldId id="690" r:id="rId17"/>
    <p:sldId id="691" r:id="rId18"/>
    <p:sldId id="389" r:id="rId19"/>
    <p:sldId id="685" r:id="rId20"/>
    <p:sldId id="391" r:id="rId21"/>
    <p:sldId id="392" r:id="rId22"/>
    <p:sldId id="692" r:id="rId23"/>
    <p:sldId id="693" r:id="rId24"/>
    <p:sldId id="396" r:id="rId25"/>
    <p:sldId id="345" r:id="rId26"/>
    <p:sldId id="694" r:id="rId27"/>
    <p:sldId id="695" r:id="rId28"/>
    <p:sldId id="398" r:id="rId29"/>
    <p:sldId id="696" r:id="rId30"/>
    <p:sldId id="400" r:id="rId31"/>
    <p:sldId id="697" r:id="rId32"/>
    <p:sldId id="402" r:id="rId33"/>
    <p:sldId id="698" r:id="rId34"/>
    <p:sldId id="404" r:id="rId35"/>
    <p:sldId id="699" r:id="rId36"/>
    <p:sldId id="406" r:id="rId37"/>
    <p:sldId id="700" r:id="rId38"/>
    <p:sldId id="413" r:id="rId39"/>
    <p:sldId id="681" r:id="rId40"/>
    <p:sldId id="379" r:id="rId41"/>
    <p:sldId id="286" r:id="rId42"/>
  </p:sldIdLst>
  <p:sldSz cx="12192000" cy="6858000"/>
  <p:notesSz cx="7315200" cy="96012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76903" autoAdjust="0"/>
  </p:normalViewPr>
  <p:slideViewPr>
    <p:cSldViewPr snapToGrid="0">
      <p:cViewPr varScale="1">
        <p:scale>
          <a:sx n="54" d="100"/>
          <a:sy n="54" d="100"/>
        </p:scale>
        <p:origin x="78" y="7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C622D43-C65E-428A-89C7-8C19C0C28B05}" type="datetimeFigureOut">
              <a:rPr lang="en-US" smtClean="0"/>
              <a:t>3/11/2024</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a:t>
            </a:fld>
            <a:endParaRPr lang="en-US" dirty="0"/>
          </a:p>
        </p:txBody>
      </p:sp>
    </p:spTree>
    <p:extLst>
      <p:ext uri="{BB962C8B-B14F-4D97-AF65-F5344CB8AC3E}">
        <p14:creationId xmlns:p14="http://schemas.microsoft.com/office/powerpoint/2010/main" val="4112386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2081717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2195507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Өртөг болон зардал хоорондоо салшгүй холбоотой боловч бие биенээсээ ялгарах онцлогтой. </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2030268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3501690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3026926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4155820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2441384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2672507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2159039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2394611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3296116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3065054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288290" algn="just">
              <a:spcBef>
                <a:spcPts val="200"/>
              </a:spcBef>
            </a:pPr>
            <a:r>
              <a:rPr lang="mn-MN" sz="2000" b="1" i="1" dirty="0">
                <a:latin typeface="Times New Roman" panose="02020603050405020304" pitchFamily="18" charset="0"/>
                <a:ea typeface="Calibri" panose="020F0502020204030204" pitchFamily="34" charset="0"/>
                <a:cs typeface="Times New Roman" panose="02020603050405020304" pitchFamily="18" charset="0"/>
              </a:rPr>
              <a:t>Худалдан авах үе</a:t>
            </a:r>
            <a:r>
              <a:rPr lang="mn-MN" sz="2000" b="1" dirty="0">
                <a:latin typeface="Times New Roman" panose="02020603050405020304" pitchFamily="18" charset="0"/>
                <a:ea typeface="Calibri" panose="020F0502020204030204" pitchFamily="34" charset="0"/>
                <a:cs typeface="Times New Roman" panose="02020603050405020304" pitchFamily="18" charset="0"/>
              </a:rPr>
              <a:t> шат </a:t>
            </a:r>
            <a:r>
              <a:rPr lang="mn-MN" sz="2000" dirty="0">
                <a:latin typeface="Times New Roman" panose="02020603050405020304" pitchFamily="18" charset="0"/>
                <a:ea typeface="Calibri" panose="020F0502020204030204" pitchFamily="34" charset="0"/>
                <a:cs typeface="Times New Roman" panose="02020603050405020304" pitchFamily="18" charset="0"/>
              </a:rPr>
              <a:t>– </a:t>
            </a:r>
          </a:p>
          <a:p>
            <a:pPr marL="742950" lvl="1" indent="-285750" algn="just">
              <a:spcBef>
                <a:spcPts val="200"/>
              </a:spcBef>
              <a:buFont typeface="Arial" panose="020B0604020202020204" pitchFamily="34" charset="0"/>
              <a:buChar char="•"/>
            </a:pPr>
            <a:r>
              <a:rPr lang="mn-MN" sz="1800" dirty="0">
                <a:latin typeface="Times New Roman" panose="02020603050405020304" pitchFamily="18" charset="0"/>
                <a:ea typeface="Calibri" panose="020F0502020204030204" pitchFamily="34" charset="0"/>
                <a:cs typeface="Times New Roman" panose="02020603050405020304" pitchFamily="18" charset="0"/>
              </a:rPr>
              <a:t>Бүтээгдэхүүн, бүтэц, тогтолцоо, үйлчилгээ зэрэгт тавигдах шаардлагыг тодорхой болгохын тулд эдийн засгийн эрэлт хэрэгцээ, шаардлагын дүн шинжилгээнээс эхэлдэг. Дараа нь шаардлагаа нарийн тодорхойлсон үед худалдан авалтын үе шатны бусад үйл ажиллагааг логик дарааллын дагуу хийнэ. </a:t>
            </a:r>
          </a:p>
          <a:p>
            <a:pPr marL="742950" lvl="1" indent="-285750" algn="just">
              <a:spcBef>
                <a:spcPts val="200"/>
              </a:spcBef>
              <a:buFont typeface="Arial" panose="020B0604020202020204" pitchFamily="34" charset="0"/>
              <a:buChar char="•"/>
            </a:pPr>
            <a:r>
              <a:rPr lang="mn-MN" sz="1800" dirty="0">
                <a:latin typeface="Times New Roman" panose="02020603050405020304" pitchFamily="18" charset="0"/>
                <a:ea typeface="Calibri" panose="020F0502020204030204" pitchFamily="34" charset="0"/>
                <a:cs typeface="Times New Roman" panose="02020603050405020304" pitchFamily="18" charset="0"/>
              </a:rPr>
              <a:t>Үзэл баримтлалын (урьдчилсан) зохиомжийн үйл ажиллагаагаар техникийн болон үйл ажиллагааны тодорхой шаардлагыг урьдчилан таамагласан зохиомж (загвар) болгон хөрвүүлдэг. Эдгээр үйл ажиллагаа нь сонголт хийх урьдчилсан загварыг сонгоход туслах боломжит хувилбарууд болон ИЭЗ-ийн дүн шинжилгээ хийхэд оршино. Түүнчлэн энэ үе шатад урьдчилсан зохиомжийн ажлыг дэмжих зорилгоор дэвшилтэт хөгжүүлэлт болон урьдчилсан зохиомжийг турших үйл ажиллагааг хийдэг. </a:t>
            </a:r>
          </a:p>
          <a:p>
            <a:pPr marL="742950" lvl="1" indent="-285750" algn="just">
              <a:spcBef>
                <a:spcPts val="200"/>
              </a:spcBef>
              <a:buFont typeface="Arial" panose="020B0604020202020204" pitchFamily="34" charset="0"/>
              <a:buChar char="•"/>
            </a:pPr>
            <a:r>
              <a:rPr lang="mn-MN" sz="1800" dirty="0">
                <a:latin typeface="Times New Roman" panose="02020603050405020304" pitchFamily="18" charset="0"/>
                <a:ea typeface="Calibri" panose="020F0502020204030204" pitchFamily="34" charset="0"/>
                <a:cs typeface="Times New Roman" panose="02020603050405020304" pitchFamily="18" charset="0"/>
              </a:rPr>
              <a:t>Худалдан авах үе шатны дараагийн бүлэг үйл ажиллагаа нь үйлдвэрлэлийн, эсвэл барилгын нарийвчилсан зураг төсөл буюу зохиомж, төлөвлөлтийг хамарна. Энэ алхамд шаардлагатай тоног төхөөрөмж, бусад нөөцийг ашиглахад бэлтгэх, олж авах, бэлтгэхэд шаардлагатай үйл ажиллагаанууд дагалддаг. </a:t>
            </a:r>
          </a:p>
          <a:p>
            <a:pPr indent="288290" algn="just">
              <a:spcBef>
                <a:spcPts val="200"/>
              </a:spcBef>
            </a:pPr>
            <a:r>
              <a:rPr lang="mn-MN" sz="2000" b="1" i="1" dirty="0">
                <a:latin typeface="Times New Roman" panose="02020603050405020304" pitchFamily="18" charset="0"/>
                <a:ea typeface="Calibri" panose="020F0502020204030204" pitchFamily="34" charset="0"/>
                <a:cs typeface="Times New Roman" panose="02020603050405020304" pitchFamily="18" charset="0"/>
              </a:rPr>
              <a:t>Дахин хэлэхэд, ИЭЗ-ийн шинжилгээ бол хувилбаруудыг судлах, харьцуулах, улмаар эцсийн нарийвчилсан зохиомжийг тодорхойлоход туслах зорилготой зохион бүтээлтийн чухал хэсэг юм. </a:t>
            </a:r>
            <a:endParaRPr lang="mn-MN" sz="2000" b="1" dirty="0">
              <a:latin typeface="Times New Roman" panose="02020603050405020304" pitchFamily="18" charset="0"/>
              <a:ea typeface="Calibri" panose="020F0502020204030204" pitchFamily="34" charset="0"/>
              <a:cs typeface="Times New Roman" panose="02020603050405020304" pitchFamily="18" charset="0"/>
            </a:endParaRPr>
          </a:p>
          <a:p>
            <a:pPr indent="288290" algn="just">
              <a:spcBef>
                <a:spcPts val="200"/>
              </a:spcBef>
            </a:pPr>
            <a:r>
              <a:rPr lang="mn-MN" sz="2000" b="1" i="1" dirty="0">
                <a:latin typeface="Times New Roman" panose="02020603050405020304" pitchFamily="18" charset="0"/>
                <a:ea typeface="Calibri" panose="020F0502020204030204" pitchFamily="34" charset="0"/>
                <a:cs typeface="Times New Roman" panose="02020603050405020304" pitchFamily="18" charset="0"/>
              </a:rPr>
              <a:t>Үйл ажиллагааны үе шат </a:t>
            </a:r>
            <a:r>
              <a:rPr lang="mn-MN" sz="2000" i="1" dirty="0">
                <a:latin typeface="Times New Roman" panose="02020603050405020304" pitchFamily="18" charset="0"/>
                <a:ea typeface="Calibri" panose="020F0502020204030204" pitchFamily="34" charset="0"/>
                <a:cs typeface="Times New Roman" panose="02020603050405020304" pitchFamily="18" charset="0"/>
              </a:rPr>
              <a:t>- </a:t>
            </a:r>
            <a:r>
              <a:rPr lang="mn-MN" sz="2000" dirty="0">
                <a:latin typeface="Times New Roman" panose="02020603050405020304" pitchFamily="18" charset="0"/>
                <a:ea typeface="Calibri" panose="020F0502020204030204" pitchFamily="34" charset="0"/>
                <a:cs typeface="Times New Roman" panose="02020603050405020304" pitchFamily="18" charset="0"/>
              </a:rPr>
              <a:t>эцсийн бүтээгдэхүүн, үйлчилгээг үйлдвэрлэх, хүргэх үйл ажиллагаа, хэрэглэгчийн хэрэглээг хангах зэрэг асуудал багтдаг. </a:t>
            </a:r>
            <a:r>
              <a:rPr lang="mn-MN" sz="1800" b="1" dirty="0">
                <a:latin typeface="Times New Roman" panose="02020603050405020304" pitchFamily="18" charset="0"/>
                <a:ea typeface="Calibri" panose="020F0502020204030204" pitchFamily="34" charset="0"/>
                <a:cs typeface="Times New Roman" panose="02020603050405020304" pitchFamily="18" charset="0"/>
              </a:rPr>
              <a:t>Энэ үе шат нь идэвхтэй үйл ажиллагаагаар эхэлж, ашиглалтаас хасах, ихэнх тохиолдолд биет хөрөнгийг зарах үйл ажиллагаагаар дуусгавар болдог. </a:t>
            </a:r>
            <a:r>
              <a:rPr lang="mn-MN" sz="1800" dirty="0">
                <a:latin typeface="Times New Roman" panose="02020603050405020304" pitchFamily="18" charset="0"/>
                <a:ea typeface="Calibri" panose="020F0502020204030204" pitchFamily="34" charset="0"/>
                <a:cs typeface="Times New Roman" panose="02020603050405020304" pitchFamily="18" charset="0"/>
              </a:rPr>
              <a:t>Үйл ажиллагааны үе шатад инженерчлэлийн эдийн засгийн шинжилгээний тэргүүлэх чиглэлүүд бол (1) үйл ажиллагаанд үр ашигтай, үр дүнтэй дэмжлэг үзүүлэх, (2) хөрөнгийг солих, (3) зарах, устгах, ашиглалтаас (буюу данснаас) хасах үйл ажиллагааны цаг хугацааг төлөвлөх зэрэг болно.</a:t>
            </a:r>
            <a:endParaRPr lang="en-US" sz="18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14</a:t>
            </a:fld>
            <a:endParaRPr lang="en-US" dirty="0"/>
          </a:p>
        </p:txBody>
      </p:sp>
    </p:spTree>
    <p:extLst>
      <p:ext uri="{BB962C8B-B14F-4D97-AF65-F5344CB8AC3E}">
        <p14:creationId xmlns:p14="http://schemas.microsoft.com/office/powerpoint/2010/main" val="952355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15</a:t>
            </a:fld>
            <a:endParaRPr lang="en-US" dirty="0"/>
          </a:p>
        </p:txBody>
      </p:sp>
    </p:spTree>
    <p:extLst>
      <p:ext uri="{BB962C8B-B14F-4D97-AF65-F5344CB8AC3E}">
        <p14:creationId xmlns:p14="http://schemas.microsoft.com/office/powerpoint/2010/main" val="17158390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16</a:t>
            </a:fld>
            <a:endParaRPr lang="en-US" dirty="0"/>
          </a:p>
        </p:txBody>
      </p:sp>
    </p:spTree>
    <p:extLst>
      <p:ext uri="{BB962C8B-B14F-4D97-AF65-F5344CB8AC3E}">
        <p14:creationId xmlns:p14="http://schemas.microsoft.com/office/powerpoint/2010/main" val="32848728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spcBef>
                <a:spcPts val="200"/>
              </a:spcBef>
            </a:pPr>
            <a:r>
              <a:rPr lang="mn-MN" sz="2100" dirty="0">
                <a:latin typeface="Times New Roman" panose="02020603050405020304" pitchFamily="18" charset="0"/>
                <a:ea typeface="Calibri" panose="020F0502020204030204" pitchFamily="34" charset="0"/>
                <a:cs typeface="Times New Roman" panose="02020603050405020304" pitchFamily="18" charset="0"/>
              </a:rPr>
              <a:t>Ихэнх бараа, үйлчилгээ зарим хүмүүсийн хувьд энгийн хэрэглээ байдаг бол зарим хүмүүст тансаг хэрэглээ байдаг. </a:t>
            </a:r>
          </a:p>
          <a:p>
            <a:pPr lvl="2">
              <a:spcBef>
                <a:spcPts val="200"/>
              </a:spcBef>
            </a:pPr>
            <a:r>
              <a:rPr lang="mn-MN" sz="2100" dirty="0">
                <a:latin typeface="Times New Roman" panose="02020603050405020304" pitchFamily="18" charset="0"/>
                <a:ea typeface="Calibri" panose="020F0502020204030204" pitchFamily="34" charset="0"/>
                <a:cs typeface="Times New Roman" panose="02020603050405020304" pitchFamily="18" charset="0"/>
              </a:rPr>
              <a:t>Жишээлбэл, зарим хүний хувьд машин нь ажилдаа ирж, очиход зайлшгүй шаардлагатай /энгийн/ хэрэглээ байж болно. Хэрвээ тухайн хүн нийтийн тээврийн хэрэгслийн хүртээмж сайтай өөр хотод амьдарч, ажиллаж байсан бол машин түүний хувьд тансаг хэрэглээ байх болно.</a:t>
            </a:r>
            <a:endParaRPr lang="en-US" sz="21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4060257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2987893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a:t>
            </a:r>
            <a:r>
              <a:rPr lang="mn-MN" dirty="0"/>
              <a:t>үнийн тэнхлэг дээрх огтлолцлын цэг</a:t>
            </a:r>
          </a:p>
          <a:p>
            <a:r>
              <a:rPr lang="en-US" dirty="0"/>
              <a:t>b – </a:t>
            </a:r>
            <a:r>
              <a:rPr lang="mn-MN" dirty="0"/>
              <a:t>налуугийн хэмжээ</a:t>
            </a:r>
          </a:p>
          <a:p>
            <a:endParaRPr lang="mn-MN" dirty="0"/>
          </a:p>
          <a:p>
            <a:pPr algn="just"/>
            <a:r>
              <a:rPr lang="mn-MN" b="1" dirty="0">
                <a:latin typeface="Times New Roman" panose="02020603050405020304" pitchFamily="18" charset="0"/>
                <a:ea typeface="Calibri" panose="020F0502020204030204" pitchFamily="34" charset="0"/>
              </a:rPr>
              <a:t>Эдийн засгийн хуулиуд бол хүн ба эд баялгийн харилцан үйлчлэлийн талаарх нийтлэг хууль юм.</a:t>
            </a:r>
            <a:r>
              <a:rPr lang="mn-MN" dirty="0">
                <a:latin typeface="Times New Roman" panose="02020603050405020304" pitchFamily="18" charset="0"/>
                <a:ea typeface="Calibri" panose="020F0502020204030204" pitchFamily="34" charset="0"/>
              </a:rPr>
              <a:t> Иймд хүн ба баялаг оршин буй эдийн засгийн орчинд эдийн засгийн хуулиуд нөлөөлдөг. Ихэнх эдийн засгийн ерөнхий зарчмууд </a:t>
            </a:r>
            <a:r>
              <a:rPr lang="mn-MN" b="1" i="1" dirty="0">
                <a:latin typeface="Times New Roman" panose="02020603050405020304" pitchFamily="18" charset="0"/>
                <a:ea typeface="Calibri" panose="020F0502020204030204" pitchFamily="34" charset="0"/>
              </a:rPr>
              <a:t>төгс өрсөлдөө</a:t>
            </a:r>
            <a:r>
              <a:rPr lang="mn-MN" b="1" dirty="0">
                <a:latin typeface="Times New Roman" panose="02020603050405020304" pitchFamily="18" charset="0"/>
                <a:ea typeface="Calibri" panose="020F0502020204030204" pitchFamily="34" charset="0"/>
              </a:rPr>
              <a:t>ний нөхцөлд </a:t>
            </a:r>
            <a:r>
              <a:rPr lang="mn-MN" dirty="0">
                <a:latin typeface="Times New Roman" panose="02020603050405020304" pitchFamily="18" charset="0"/>
                <a:ea typeface="Calibri" panose="020F0502020204030204" pitchFamily="34" charset="0"/>
              </a:rPr>
              <a:t>үйлчлэхээр байдаг.</a:t>
            </a:r>
            <a:endParaRPr lang="en-US" dirty="0"/>
          </a:p>
          <a:p>
            <a:pPr lvl="1" algn="just"/>
            <a:r>
              <a:rPr lang="mn-MN" b="1" i="1" dirty="0">
                <a:latin typeface="Times New Roman" panose="02020603050405020304" pitchFamily="18" charset="0"/>
                <a:ea typeface="Calibri" panose="020F0502020204030204" pitchFamily="34" charset="0"/>
              </a:rPr>
              <a:t>Төгс өрсөлдөөн </a:t>
            </a:r>
            <a:r>
              <a:rPr lang="mn-MN" dirty="0">
                <a:latin typeface="Times New Roman" panose="02020603050405020304" pitchFamily="18" charset="0"/>
                <a:ea typeface="Calibri" panose="020F0502020204030204" pitchFamily="34" charset="0"/>
              </a:rPr>
              <a:t>– тухайн бүтээгдэхүүнийг олон тооны нийлүүлэгчид нийлүүлдэг бөгөөд зах зээлд орж ирж байгаа шинэ нийлүүлэгчдэд ямар нэг нэмэлт хязгаарлалт байхгүй нөхцөлийг хэлдэг. Ийм нөхцөлд худалдан авагч, худалдагчийн аль аль нь бүрэн эрхтэй байна. </a:t>
            </a:r>
            <a:endParaRPr lang="en-US" dirty="0"/>
          </a:p>
          <a:p>
            <a:pPr lvl="1" algn="just"/>
            <a:r>
              <a:rPr lang="mn-MN" b="1" i="1" dirty="0">
                <a:latin typeface="Times New Roman" panose="02020603050405020304" pitchFamily="18" charset="0"/>
                <a:ea typeface="Calibri" panose="020F0502020204030204" pitchFamily="34" charset="0"/>
              </a:rPr>
              <a:t>Монопол –</a:t>
            </a:r>
            <a:r>
              <a:rPr lang="mn-MN" dirty="0">
                <a:latin typeface="Times New Roman" panose="02020603050405020304" pitchFamily="18" charset="0"/>
                <a:ea typeface="Calibri" panose="020F0502020204030204" pitchFamily="34" charset="0"/>
              </a:rPr>
              <a:t> төгс өрсөлдөөний эсрэг туйл. Төгс монополын үед онцгой бараа, онцгой үйлчилгээ нь зөвхөн нэг нийлүүлэгчтэй байна. Тэрчлэн бусад нийлүүлэгчдийг зах зээлд нэвтрэхээс сэргийлж чадсан байдаг. Төгс монополын нөхцөлд худалдан авагч бүтээгдэхүүний бэлэн байдал, үнийн хувьд нэг нийлүүлэгчийн бүрэн эрхшээлд байна. </a:t>
            </a:r>
            <a:endParaRPr lang="en-US" dirty="0"/>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1728048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21602613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1825133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2163821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40992289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13954514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31313504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1252870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27</a:t>
            </a:fld>
            <a:endParaRPr lang="en-US" dirty="0"/>
          </a:p>
        </p:txBody>
      </p:sp>
    </p:spTree>
    <p:extLst>
      <p:ext uri="{BB962C8B-B14F-4D97-AF65-F5344CB8AC3E}">
        <p14:creationId xmlns:p14="http://schemas.microsoft.com/office/powerpoint/2010/main" val="29677379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28</a:t>
            </a:fld>
            <a:endParaRPr lang="en-US" dirty="0"/>
          </a:p>
        </p:txBody>
      </p:sp>
    </p:spTree>
    <p:extLst>
      <p:ext uri="{BB962C8B-B14F-4D97-AF65-F5344CB8AC3E}">
        <p14:creationId xmlns:p14="http://schemas.microsoft.com/office/powerpoint/2010/main" val="4106321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200" dirty="0">
                <a:latin typeface="Times New Roman" panose="02020603050405020304" pitchFamily="18" charset="0"/>
                <a:ea typeface="Times New Roman" panose="02020603050405020304" pitchFamily="18" charset="0"/>
                <a:cs typeface="Times New Roman" panose="02020603050405020304" pitchFamily="18" charset="0"/>
              </a:rPr>
              <a:t>Хувилбаруудын цэвэр мөнгөн урсгал нь төсөөлж буй хэтийн төлөвт ирээдүйн орлого, зардал ямар байгаа болон хэрхэн үнэлж байгааг илэрхийлнэ. Тиймээс,  орлого, зардлын өөрчлөлтийг харьцуулагдаж байгаа бүх хувилбарт ээлж дараалан суурь үзүүлэлттэй харьцуулах ёстой.</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29</a:t>
            </a:fld>
            <a:endParaRPr lang="en-US" dirty="0"/>
          </a:p>
        </p:txBody>
      </p:sp>
    </p:spTree>
    <p:extLst>
      <p:ext uri="{BB962C8B-B14F-4D97-AF65-F5344CB8AC3E}">
        <p14:creationId xmlns:p14="http://schemas.microsoft.com/office/powerpoint/2010/main" val="16104442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200" dirty="0">
                <a:latin typeface="Times New Roman" panose="02020603050405020304" pitchFamily="18" charset="0"/>
                <a:ea typeface="Times New Roman" panose="02020603050405020304" pitchFamily="18" charset="0"/>
                <a:cs typeface="Times New Roman" panose="02020603050405020304" pitchFamily="18" charset="0"/>
              </a:rPr>
              <a:t>Хувилбаруудын цэвэр мөнгөн урсгал нь төсөөлж буй хэтийн төлөвт ирээдүйн орлого, зардал ямар байгаа болон хэрхэн үнэлж байгааг илэрхийлнэ. Тиймээс,  орлого, зардлын өөрчлөлтийг харьцуулагдаж байгаа бүх хувилбарт ээлж дараалан суурь үзүүлэлттэй харьцуулах ёстой.</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30</a:t>
            </a:fld>
            <a:endParaRPr lang="en-US" dirty="0"/>
          </a:p>
        </p:txBody>
      </p:sp>
    </p:spTree>
    <p:extLst>
      <p:ext uri="{BB962C8B-B14F-4D97-AF65-F5344CB8AC3E}">
        <p14:creationId xmlns:p14="http://schemas.microsoft.com/office/powerpoint/2010/main" val="12591145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200" dirty="0">
                <a:latin typeface="Times New Roman" panose="02020603050405020304" pitchFamily="18" charset="0"/>
                <a:ea typeface="Times New Roman" panose="02020603050405020304" pitchFamily="18" charset="0"/>
                <a:cs typeface="Times New Roman" panose="02020603050405020304" pitchFamily="18" charset="0"/>
              </a:rPr>
              <a:t>Хувилбаруудын цэвэр мөнгөн урсгал нь төсөөлж буй хэтийн төлөвт ирээдүйн орлого, зардал ямар байгаа болон хэрхэн үнэлж байгааг илэрхийлнэ. Тиймээс,  орлого, зардлын өөрчлөлтийг харьцуулагдаж байгаа бүх хувилбарт ээлж дараалан суурь үзүүлэлттэй харьцуулах ёстой.</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31</a:t>
            </a:fld>
            <a:endParaRPr lang="en-US" dirty="0"/>
          </a:p>
        </p:txBody>
      </p:sp>
    </p:spTree>
    <p:extLst>
      <p:ext uri="{BB962C8B-B14F-4D97-AF65-F5344CB8AC3E}">
        <p14:creationId xmlns:p14="http://schemas.microsoft.com/office/powerpoint/2010/main" val="12376357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32</a:t>
            </a:fld>
            <a:endParaRPr lang="en-US" dirty="0"/>
          </a:p>
        </p:txBody>
      </p:sp>
    </p:spTree>
    <p:extLst>
      <p:ext uri="{BB962C8B-B14F-4D97-AF65-F5344CB8AC3E}">
        <p14:creationId xmlns:p14="http://schemas.microsoft.com/office/powerpoint/2010/main" val="40767583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33</a:t>
            </a:fld>
            <a:endParaRPr lang="en-US" dirty="0"/>
          </a:p>
        </p:txBody>
      </p:sp>
    </p:spTree>
    <p:extLst>
      <p:ext uri="{BB962C8B-B14F-4D97-AF65-F5344CB8AC3E}">
        <p14:creationId xmlns:p14="http://schemas.microsoft.com/office/powerpoint/2010/main" val="11659449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34</a:t>
            </a:fld>
            <a:endParaRPr lang="en-US" dirty="0"/>
          </a:p>
        </p:txBody>
      </p:sp>
    </p:spTree>
    <p:extLst>
      <p:ext uri="{BB962C8B-B14F-4D97-AF65-F5344CB8AC3E}">
        <p14:creationId xmlns:p14="http://schemas.microsoft.com/office/powerpoint/2010/main" val="14120165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 </a:t>
            </a:r>
            <a:r>
              <a:rPr lang="mn-MN" dirty="0"/>
              <a:t>тооцоолж байгаа зардал; </a:t>
            </a:r>
            <a:endParaRPr lang="en-US" dirty="0"/>
          </a:p>
          <a:p>
            <a:r>
              <a:rPr lang="en-US" dirty="0"/>
              <a:t>Cd  - </a:t>
            </a:r>
            <a:r>
              <a:rPr lang="mn-MN" dirty="0"/>
              <a:t>шууд үнэлэгдэж байгаа сонгосон бүрэлдэхүүн хэсгийн зардал; </a:t>
            </a:r>
            <a:endParaRPr lang="en-US" dirty="0"/>
          </a:p>
          <a:p>
            <a:r>
              <a:rPr lang="en-US" dirty="0" err="1"/>
              <a:t>fm</a:t>
            </a:r>
            <a:r>
              <a:rPr lang="en-US" dirty="0"/>
              <a:t>  – m </a:t>
            </a:r>
            <a:r>
              <a:rPr lang="mn-MN" dirty="0"/>
              <a:t>бүрэлдэхүүн хэсгийн нэгжийн зардал; </a:t>
            </a:r>
            <a:endParaRPr lang="en-US" dirty="0"/>
          </a:p>
          <a:p>
            <a:r>
              <a:rPr lang="en-US" dirty="0"/>
              <a:t>Um  = m </a:t>
            </a:r>
            <a:r>
              <a:rPr lang="mn-MN" dirty="0"/>
              <a:t>бүрэлдэхүүн хэсгийн нэгжийн тоо.</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35</a:t>
            </a:fld>
            <a:endParaRPr lang="en-US" dirty="0"/>
          </a:p>
        </p:txBody>
      </p:sp>
    </p:spTree>
    <p:extLst>
      <p:ext uri="{BB962C8B-B14F-4D97-AF65-F5344CB8AC3E}">
        <p14:creationId xmlns:p14="http://schemas.microsoft.com/office/powerpoint/2010/main" val="34915474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Чадал-хэмжээний </a:t>
                </a:r>
                <a:r>
                  <a:rPr lang="en-US"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(power-sizing) </a:t>
                </a:r>
                <a:r>
                  <a:rPr lang="ru-RU"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арга </a:t>
                </a:r>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үйлдвэрийн байгууламж болон тоног төхөөрөмжийн хөрөнгө оруулалтын үнэлгээг боловсруулахад ихэвчлэн ашиглагддаг.</a:t>
                </a:r>
              </a:p>
              <a:p>
                <a:pPr algn="ctr"/>
                <a:r>
                  <a:rPr lang="mn-MN"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1200" i="1" smtClean="0">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mn-MN" sz="1200" i="1">
                                <a:latin typeface="Cambria Math" panose="02040503050406030204" pitchFamily="18" charset="0"/>
                                <a:ea typeface="Times New Roman" panose="02020603050405020304" pitchFamily="18" charset="0"/>
                                <a:cs typeface="Times New Roman" panose="02020603050405020304" pitchFamily="18" charset="0"/>
                              </a:rPr>
                              <m:t>𝐶</m:t>
                            </m:r>
                          </m:e>
                          <m:sub>
                            <m:r>
                              <a:rPr lang="mn-MN" sz="1200" i="1">
                                <a:latin typeface="Cambria Math" panose="02040503050406030204" pitchFamily="18" charset="0"/>
                                <a:ea typeface="Times New Roman" panose="02020603050405020304" pitchFamily="18" charset="0"/>
                                <a:cs typeface="Times New Roman" panose="02020603050405020304" pitchFamily="18" charset="0"/>
                              </a:rPr>
                              <m:t>𝐴</m:t>
                            </m:r>
                          </m:sub>
                        </m:sSub>
                      </m:num>
                      <m:den>
                        <m:sSub>
                          <m:sSubPr>
                            <m:ctrlPr>
                              <a:rPr lang="en-US"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mn-MN" sz="1200" i="1">
                                <a:latin typeface="Cambria Math" panose="02040503050406030204" pitchFamily="18" charset="0"/>
                                <a:ea typeface="Times New Roman" panose="02020603050405020304" pitchFamily="18" charset="0"/>
                                <a:cs typeface="Times New Roman" panose="02020603050405020304" pitchFamily="18" charset="0"/>
                              </a:rPr>
                              <m:t>𝐶</m:t>
                            </m:r>
                          </m:e>
                          <m:sub>
                            <m:r>
                              <a:rPr lang="mn-MN" sz="1200" i="1">
                                <a:latin typeface="Cambria Math" panose="02040503050406030204" pitchFamily="18" charset="0"/>
                                <a:ea typeface="Times New Roman" panose="02020603050405020304" pitchFamily="18" charset="0"/>
                                <a:cs typeface="Times New Roman" panose="02020603050405020304" pitchFamily="18" charset="0"/>
                              </a:rPr>
                              <m:t>𝐵</m:t>
                            </m:r>
                          </m:sub>
                        </m:sSub>
                      </m:den>
                    </m:f>
                    <m:r>
                      <a:rPr lang="mn-MN" sz="1200" i="1">
                        <a:latin typeface="Cambria Math" panose="02040503050406030204" pitchFamily="18" charset="0"/>
                        <a:ea typeface="Calibri" panose="020F0502020204030204" pitchFamily="34" charset="0"/>
                        <a:cs typeface="Times New Roman" panose="02020603050405020304" pitchFamily="18" charset="0"/>
                      </a:rPr>
                      <m:t>=</m:t>
                    </m:r>
                    <m:sSup>
                      <m:sSupPr>
                        <m:ctrlPr>
                          <a:rPr lang="en-US" sz="1200" i="1">
                            <a:latin typeface="Cambria Math" panose="02040503050406030204" pitchFamily="18" charset="0"/>
                            <a:cs typeface="Times New Roman" panose="02020603050405020304" pitchFamily="18" charset="0"/>
                          </a:rPr>
                        </m:ctrlPr>
                      </m:sSupPr>
                      <m:e>
                        <m:d>
                          <m:dPr>
                            <m:ctrlPr>
                              <a:rPr lang="en-US" sz="1200" i="1">
                                <a:latin typeface="Cambria Math" panose="02040503050406030204" pitchFamily="18" charset="0"/>
                                <a:cs typeface="Times New Roman" panose="02020603050405020304" pitchFamily="18" charset="0"/>
                              </a:rPr>
                            </m:ctrlPr>
                          </m:dPr>
                          <m:e>
                            <m:f>
                              <m:fPr>
                                <m:ctrlPr>
                                  <a:rPr lang="en-US" sz="1200" i="1">
                                    <a:latin typeface="Cambria Math" panose="02040503050406030204" pitchFamily="18" charset="0"/>
                                    <a:cs typeface="Times New Roman" panose="02020603050405020304" pitchFamily="18" charset="0"/>
                                  </a:rPr>
                                </m:ctrlPr>
                              </m:fPr>
                              <m:num>
                                <m:sSub>
                                  <m:sSubPr>
                                    <m:ctrlPr>
                                      <a:rPr lang="en-US" sz="1200" i="1">
                                        <a:latin typeface="Cambria Math" panose="02040503050406030204" pitchFamily="18" charset="0"/>
                                        <a:cs typeface="Times New Roman" panose="02020603050405020304" pitchFamily="18" charset="0"/>
                                      </a:rPr>
                                    </m:ctrlPr>
                                  </m:sSubPr>
                                  <m:e>
                                    <m:r>
                                      <a:rPr lang="mn-MN" sz="1200" i="1">
                                        <a:latin typeface="Cambria Math" panose="02040503050406030204" pitchFamily="18" charset="0"/>
                                        <a:ea typeface="Calibri" panose="020F0502020204030204" pitchFamily="34" charset="0"/>
                                        <a:cs typeface="Times New Roman" panose="02020603050405020304" pitchFamily="18" charset="0"/>
                                      </a:rPr>
                                      <m:t>𝑆</m:t>
                                    </m:r>
                                  </m:e>
                                  <m:sub>
                                    <m:r>
                                      <a:rPr lang="mn-MN" sz="1200" i="1">
                                        <a:latin typeface="Cambria Math" panose="02040503050406030204" pitchFamily="18" charset="0"/>
                                        <a:ea typeface="Calibri" panose="020F0502020204030204" pitchFamily="34" charset="0"/>
                                        <a:cs typeface="Times New Roman" panose="02020603050405020304" pitchFamily="18" charset="0"/>
                                      </a:rPr>
                                      <m:t>𝐴</m:t>
                                    </m:r>
                                  </m:sub>
                                </m:sSub>
                              </m:num>
                              <m:den>
                                <m:sSub>
                                  <m:sSubPr>
                                    <m:ctrlPr>
                                      <a:rPr lang="en-US" sz="1200" i="1">
                                        <a:latin typeface="Cambria Math" panose="02040503050406030204" pitchFamily="18" charset="0"/>
                                        <a:cs typeface="Times New Roman" panose="02020603050405020304" pitchFamily="18" charset="0"/>
                                      </a:rPr>
                                    </m:ctrlPr>
                                  </m:sSubPr>
                                  <m:e>
                                    <m:r>
                                      <a:rPr lang="mn-MN" sz="1200" i="1">
                                        <a:latin typeface="Cambria Math" panose="02040503050406030204" pitchFamily="18" charset="0"/>
                                        <a:ea typeface="Calibri" panose="020F0502020204030204" pitchFamily="34" charset="0"/>
                                        <a:cs typeface="Times New Roman" panose="02020603050405020304" pitchFamily="18" charset="0"/>
                                      </a:rPr>
                                      <m:t>𝑆</m:t>
                                    </m:r>
                                  </m:e>
                                  <m:sub>
                                    <m:r>
                                      <a:rPr lang="mn-MN" sz="1200" i="1">
                                        <a:latin typeface="Cambria Math" panose="02040503050406030204" pitchFamily="18" charset="0"/>
                                        <a:ea typeface="Calibri" panose="020F0502020204030204" pitchFamily="34" charset="0"/>
                                        <a:cs typeface="Times New Roman" panose="02020603050405020304" pitchFamily="18" charset="0"/>
                                      </a:rPr>
                                      <m:t>𝐵</m:t>
                                    </m:r>
                                  </m:sub>
                                </m:sSub>
                              </m:den>
                            </m:f>
                          </m:e>
                        </m:d>
                      </m:e>
                      <m:sup>
                        <m:r>
                          <a:rPr lang="mn-MN" sz="1200" i="1">
                            <a:latin typeface="Cambria Math" panose="02040503050406030204" pitchFamily="18" charset="0"/>
                            <a:ea typeface="Calibri" panose="020F0502020204030204" pitchFamily="34" charset="0"/>
                            <a:cs typeface="Times New Roman" panose="02020603050405020304" pitchFamily="18" charset="0"/>
                          </a:rPr>
                          <m:t>𝑥</m:t>
                        </m:r>
                        <m:r>
                          <a:rPr lang="mn-MN" sz="1200" i="1">
                            <a:latin typeface="Cambria Math" panose="02040503050406030204" pitchFamily="18" charset="0"/>
                            <a:ea typeface="Calibri" panose="020F0502020204030204" pitchFamily="34" charset="0"/>
                            <a:cs typeface="Times New Roman" panose="02020603050405020304" pitchFamily="18" charset="0"/>
                          </a:rPr>
                          <m:t> </m:t>
                        </m:r>
                      </m:sup>
                    </m:sSup>
                  </m:oMath>
                </a14:m>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200" i="1">
                            <a:latin typeface="Cambria Math" panose="02040503050406030204" pitchFamily="18" charset="0"/>
                            <a:cs typeface="Times New Roman" panose="02020603050405020304" pitchFamily="18" charset="0"/>
                          </a:rPr>
                        </m:ctrlPr>
                      </m:sSubPr>
                      <m:e>
                        <m:r>
                          <a:rPr lang="mn-MN" sz="1200" i="1">
                            <a:latin typeface="Cambria Math" panose="02040503050406030204" pitchFamily="18" charset="0"/>
                            <a:cs typeface="Times New Roman" panose="02020603050405020304" pitchFamily="18" charset="0"/>
                          </a:rPr>
                          <m:t>𝐶</m:t>
                        </m:r>
                      </m:e>
                      <m:sub>
                        <m:r>
                          <a:rPr lang="mn-MN" sz="1200" i="1">
                            <a:latin typeface="Cambria Math" panose="02040503050406030204" pitchFamily="18" charset="0"/>
                            <a:cs typeface="Times New Roman" panose="02020603050405020304" pitchFamily="18" charset="0"/>
                          </a:rPr>
                          <m:t>𝐴</m:t>
                        </m:r>
                      </m:sub>
                    </m:sSub>
                    <m:r>
                      <a:rPr lang="mn-MN" sz="1200" i="1">
                        <a:latin typeface="Cambria Math" panose="02040503050406030204" pitchFamily="18" charset="0"/>
                        <a:cs typeface="Times New Roman" panose="02020603050405020304" pitchFamily="18" charset="0"/>
                      </a:rPr>
                      <m:t>=</m:t>
                    </m:r>
                    <m:sSub>
                      <m:sSubPr>
                        <m:ctrlPr>
                          <a:rPr lang="en-US" sz="1200" i="1">
                            <a:latin typeface="Cambria Math" panose="02040503050406030204" pitchFamily="18" charset="0"/>
                            <a:cs typeface="Times New Roman" panose="02020603050405020304" pitchFamily="18" charset="0"/>
                          </a:rPr>
                        </m:ctrlPr>
                      </m:sSubPr>
                      <m:e>
                        <m:r>
                          <a:rPr lang="mn-MN" sz="1200" i="1">
                            <a:latin typeface="Cambria Math" panose="02040503050406030204" pitchFamily="18" charset="0"/>
                            <a:cs typeface="Times New Roman" panose="02020603050405020304" pitchFamily="18" charset="0"/>
                          </a:rPr>
                          <m:t>𝐶</m:t>
                        </m:r>
                      </m:e>
                      <m:sub>
                        <m:r>
                          <a:rPr lang="mn-MN" sz="1200" i="1">
                            <a:latin typeface="Cambria Math" panose="02040503050406030204" pitchFamily="18" charset="0"/>
                            <a:cs typeface="Times New Roman" panose="02020603050405020304" pitchFamily="18" charset="0"/>
                          </a:rPr>
                          <m:t>𝐵</m:t>
                        </m:r>
                      </m:sub>
                    </m:sSub>
                    <m:sSup>
                      <m:sSupPr>
                        <m:ctrlPr>
                          <a:rPr lang="en-US" sz="1200" i="1">
                            <a:latin typeface="Cambria Math" panose="02040503050406030204" pitchFamily="18" charset="0"/>
                            <a:cs typeface="Times New Roman" panose="02020603050405020304" pitchFamily="18" charset="0"/>
                          </a:rPr>
                        </m:ctrlPr>
                      </m:sSupPr>
                      <m:e>
                        <m:d>
                          <m:dPr>
                            <m:ctrlPr>
                              <a:rPr lang="en-US" sz="1200" i="1">
                                <a:latin typeface="Cambria Math" panose="02040503050406030204" pitchFamily="18" charset="0"/>
                                <a:cs typeface="Times New Roman" panose="02020603050405020304" pitchFamily="18" charset="0"/>
                              </a:rPr>
                            </m:ctrlPr>
                          </m:dPr>
                          <m:e>
                            <m:f>
                              <m:fPr>
                                <m:ctrlPr>
                                  <a:rPr lang="en-US" sz="1200" i="1">
                                    <a:latin typeface="Cambria Math" panose="02040503050406030204" pitchFamily="18" charset="0"/>
                                    <a:cs typeface="Times New Roman" panose="02020603050405020304" pitchFamily="18" charset="0"/>
                                  </a:rPr>
                                </m:ctrlPr>
                              </m:fPr>
                              <m:num>
                                <m:sSub>
                                  <m:sSubPr>
                                    <m:ctrlPr>
                                      <a:rPr lang="en-US" sz="1200" i="1">
                                        <a:latin typeface="Cambria Math" panose="02040503050406030204" pitchFamily="18" charset="0"/>
                                        <a:cs typeface="Times New Roman" panose="02020603050405020304" pitchFamily="18" charset="0"/>
                                      </a:rPr>
                                    </m:ctrlPr>
                                  </m:sSubPr>
                                  <m:e>
                                    <m:r>
                                      <a:rPr lang="mn-MN" sz="1200" i="1">
                                        <a:latin typeface="Cambria Math" panose="02040503050406030204" pitchFamily="18" charset="0"/>
                                        <a:cs typeface="Times New Roman" panose="02020603050405020304" pitchFamily="18" charset="0"/>
                                      </a:rPr>
                                      <m:t>𝑆</m:t>
                                    </m:r>
                                  </m:e>
                                  <m:sub>
                                    <m:r>
                                      <a:rPr lang="mn-MN" sz="1200" i="1">
                                        <a:latin typeface="Cambria Math" panose="02040503050406030204" pitchFamily="18" charset="0"/>
                                        <a:cs typeface="Times New Roman" panose="02020603050405020304" pitchFamily="18" charset="0"/>
                                      </a:rPr>
                                      <m:t>𝐴</m:t>
                                    </m:r>
                                  </m:sub>
                                </m:sSub>
                              </m:num>
                              <m:den>
                                <m:sSub>
                                  <m:sSubPr>
                                    <m:ctrlPr>
                                      <a:rPr lang="en-US" sz="1200" i="1">
                                        <a:latin typeface="Cambria Math" panose="02040503050406030204" pitchFamily="18" charset="0"/>
                                        <a:cs typeface="Times New Roman" panose="02020603050405020304" pitchFamily="18" charset="0"/>
                                      </a:rPr>
                                    </m:ctrlPr>
                                  </m:sSubPr>
                                  <m:e>
                                    <m:r>
                                      <a:rPr lang="mn-MN" sz="1200" i="1">
                                        <a:latin typeface="Cambria Math" panose="02040503050406030204" pitchFamily="18" charset="0"/>
                                        <a:cs typeface="Times New Roman" panose="02020603050405020304" pitchFamily="18" charset="0"/>
                                      </a:rPr>
                                      <m:t>𝑆</m:t>
                                    </m:r>
                                  </m:e>
                                  <m:sub>
                                    <m:r>
                                      <a:rPr lang="mn-MN" sz="1200" i="1">
                                        <a:latin typeface="Cambria Math" panose="02040503050406030204" pitchFamily="18" charset="0"/>
                                        <a:cs typeface="Times New Roman" panose="02020603050405020304" pitchFamily="18" charset="0"/>
                                      </a:rPr>
                                      <m:t>𝐵</m:t>
                                    </m:r>
                                  </m:sub>
                                </m:sSub>
                              </m:den>
                            </m:f>
                          </m:e>
                        </m:d>
                      </m:e>
                      <m:sup>
                        <m:r>
                          <a:rPr lang="mn-MN" sz="1200" i="1">
                            <a:latin typeface="Cambria Math" panose="02040503050406030204" pitchFamily="18" charset="0"/>
                            <a:cs typeface="Times New Roman" panose="02020603050405020304" pitchFamily="18" charset="0"/>
                          </a:rPr>
                          <m:t>𝑥</m:t>
                        </m:r>
                        <m:r>
                          <a:rPr lang="mn-MN" sz="1200" i="1">
                            <a:latin typeface="Cambria Math" panose="02040503050406030204" pitchFamily="18" charset="0"/>
                            <a:cs typeface="Times New Roman" panose="02020603050405020304" pitchFamily="18" charset="0"/>
                          </a:rPr>
                          <m:t> </m:t>
                        </m:r>
                      </m:sup>
                    </m:sSup>
                  </m:oMath>
                </a14:m>
                <a:endParaRPr lang="mn-MN" dirty="0"/>
              </a:p>
              <a:p>
                <a:pPr lvl="1"/>
                <a:r>
                  <a:rPr lang="mn-MN" dirty="0">
                    <a:latin typeface="Times New Roman" panose="02020603050405020304" pitchFamily="18" charset="0"/>
                    <a:ea typeface="Times New Roman" panose="02020603050405020304" pitchFamily="18" charset="0"/>
                    <a:cs typeface="Times New Roman" panose="02020603050405020304" pitchFamily="18" charset="0"/>
                  </a:rPr>
                  <a:t>Энд, </a:t>
                </a:r>
                <a:r>
                  <a:rPr lang="en-US" dirty="0">
                    <a:latin typeface="Times New Roman" panose="02020603050405020304" pitchFamily="18" charset="0"/>
                    <a:ea typeface="Times New Roman" panose="02020603050405020304" pitchFamily="18" charset="0"/>
                    <a:cs typeface="Times New Roman" panose="02020603050405020304" pitchFamily="18" charset="0"/>
                  </a:rPr>
                  <a:t>C</a:t>
                </a:r>
                <a:r>
                  <a:rPr lang="en-US" baseline="-25000" dirty="0">
                    <a:latin typeface="Times New Roman" panose="02020603050405020304" pitchFamily="18" charset="0"/>
                    <a:ea typeface="Times New Roman" panose="02020603050405020304" pitchFamily="18" charset="0"/>
                    <a:cs typeface="Times New Roman" panose="02020603050405020304" pitchFamily="18" charset="0"/>
                  </a:rPr>
                  <a:t>A</a:t>
                </a:r>
                <a:r>
                  <a:rPr lang="en-US" dirty="0">
                    <a:latin typeface="Times New Roman" panose="02020603050405020304" pitchFamily="18" charset="0"/>
                    <a:ea typeface="Times New Roman" panose="02020603050405020304" pitchFamily="18" charset="0"/>
                    <a:cs typeface="Times New Roman" panose="02020603050405020304" pitchFamily="18" charset="0"/>
                  </a:rPr>
                  <a:t>  =  A </a:t>
                </a:r>
                <a:r>
                  <a:rPr lang="mn-MN" dirty="0">
                    <a:latin typeface="Times New Roman" panose="02020603050405020304" pitchFamily="18" charset="0"/>
                    <a:ea typeface="Times New Roman" panose="02020603050405020304" pitchFamily="18" charset="0"/>
                    <a:cs typeface="Times New Roman" panose="02020603050405020304" pitchFamily="18" charset="0"/>
                  </a:rPr>
                  <a:t>байгууламжийн зардал</a:t>
                </a:r>
                <a:r>
                  <a:rPr lang="en-US" dirty="0">
                    <a:latin typeface="Times New Roman" panose="02020603050405020304" pitchFamily="18" charset="0"/>
                    <a:ea typeface="Times New Roman" panose="02020603050405020304" pitchFamily="18" charset="0"/>
                    <a:cs typeface="Times New Roman" panose="02020603050405020304" pitchFamily="18" charset="0"/>
                  </a:rPr>
                  <a:t>; C</a:t>
                </a:r>
                <a:r>
                  <a:rPr lang="en-US" baseline="-25000" dirty="0">
                    <a:latin typeface="Times New Roman" panose="02020603050405020304" pitchFamily="18" charset="0"/>
                    <a:ea typeface="Times New Roman" panose="02020603050405020304" pitchFamily="18" charset="0"/>
                    <a:cs typeface="Times New Roman" panose="02020603050405020304" pitchFamily="18" charset="0"/>
                  </a:rPr>
                  <a:t>B</a:t>
                </a:r>
                <a:r>
                  <a:rPr lang="en-US" dirty="0">
                    <a:latin typeface="Times New Roman" panose="02020603050405020304" pitchFamily="18" charset="0"/>
                    <a:ea typeface="Times New Roman" panose="02020603050405020304" pitchFamily="18" charset="0"/>
                    <a:cs typeface="Times New Roman" panose="02020603050405020304" pitchFamily="18" charset="0"/>
                  </a:rPr>
                  <a:t>  = </a:t>
                </a:r>
                <a:r>
                  <a:rPr lang="mn-MN" dirty="0">
                    <a:latin typeface="Times New Roman" panose="02020603050405020304" pitchFamily="18" charset="0"/>
                    <a:ea typeface="Times New Roman" panose="02020603050405020304" pitchFamily="18" charset="0"/>
                    <a:cs typeface="Times New Roman" panose="02020603050405020304" pitchFamily="18" charset="0"/>
                  </a:rPr>
                  <a:t>В байгууламжийн зардал</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Хоёулаа мөнгөн нэгжээр тооцогдоно</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S</a:t>
                </a:r>
                <a:r>
                  <a:rPr lang="en-US" baseline="-25000" dirty="0">
                    <a:latin typeface="Times New Roman" panose="02020603050405020304" pitchFamily="18" charset="0"/>
                    <a:ea typeface="Times New Roman" panose="02020603050405020304" pitchFamily="18" charset="0"/>
                    <a:cs typeface="Times New Roman" panose="02020603050405020304" pitchFamily="18" charset="0"/>
                  </a:rPr>
                  <a:t>A</a:t>
                </a:r>
                <a:r>
                  <a:rPr lang="en-US" dirty="0">
                    <a:latin typeface="Times New Roman" panose="02020603050405020304" pitchFamily="18" charset="0"/>
                    <a:ea typeface="Times New Roman" panose="02020603050405020304" pitchFamily="18" charset="0"/>
                    <a:cs typeface="Times New Roman" panose="02020603050405020304" pitchFamily="18" charset="0"/>
                  </a:rPr>
                  <a:t>  = A </a:t>
                </a:r>
                <a:r>
                  <a:rPr lang="mn-MN" dirty="0">
                    <a:latin typeface="Times New Roman" panose="02020603050405020304" pitchFamily="18" charset="0"/>
                    <a:ea typeface="Times New Roman" panose="02020603050405020304" pitchFamily="18" charset="0"/>
                    <a:cs typeface="Times New Roman" panose="02020603050405020304" pitchFamily="18" charset="0"/>
                  </a:rPr>
                  <a:t>байгууламжийн хэмжээ</a:t>
                </a:r>
                <a:r>
                  <a:rPr lang="en-US" dirty="0">
                    <a:latin typeface="Times New Roman" panose="02020603050405020304" pitchFamily="18" charset="0"/>
                    <a:ea typeface="Times New Roman" panose="02020603050405020304" pitchFamily="18" charset="0"/>
                    <a:cs typeface="Times New Roman" panose="02020603050405020304" pitchFamily="18" charset="0"/>
                  </a:rPr>
                  <a:t>; S</a:t>
                </a:r>
                <a:r>
                  <a:rPr lang="en-US" baseline="-25000" dirty="0">
                    <a:latin typeface="Times New Roman" panose="02020603050405020304" pitchFamily="18" charset="0"/>
                    <a:ea typeface="Times New Roman" panose="02020603050405020304" pitchFamily="18" charset="0"/>
                    <a:cs typeface="Times New Roman" panose="02020603050405020304" pitchFamily="18" charset="0"/>
                  </a:rPr>
                  <a:t>B </a:t>
                </a:r>
                <a:r>
                  <a:rPr lang="en-US" dirty="0">
                    <a:latin typeface="Times New Roman" panose="02020603050405020304" pitchFamily="18" charset="0"/>
                    <a:ea typeface="Times New Roman" panose="02020603050405020304" pitchFamily="18" charset="0"/>
                    <a:cs typeface="Times New Roman" panose="02020603050405020304" pitchFamily="18" charset="0"/>
                  </a:rPr>
                  <a:t> = </a:t>
                </a:r>
                <a:r>
                  <a:rPr lang="mn-MN" dirty="0">
                    <a:latin typeface="Times New Roman" panose="02020603050405020304" pitchFamily="18" charset="0"/>
                    <a:ea typeface="Times New Roman" panose="02020603050405020304" pitchFamily="18" charset="0"/>
                    <a:cs typeface="Times New Roman" panose="02020603050405020304" pitchFamily="18" charset="0"/>
                  </a:rPr>
                  <a:t>В байгууламжийн хэмжээ (хоёулаа ижил физик нэгжээр тодорхойлогдоно)</a:t>
                </a:r>
              </a:p>
              <a:p>
                <a:r>
                  <a:rPr lang="en-US" i="1" cap="none" dirty="0">
                    <a:latin typeface="Times New Roman" panose="02020603050405020304" pitchFamily="18" charset="0"/>
                    <a:ea typeface="Times New Roman" panose="02020603050405020304" pitchFamily="18" charset="0"/>
                    <a:cs typeface="Times New Roman" panose="02020603050405020304" pitchFamily="18" charset="0"/>
                  </a:rPr>
                  <a:t>x</a:t>
                </a:r>
                <a:r>
                  <a:rPr lang="en-US" dirty="0">
                    <a:latin typeface="Times New Roman" panose="02020603050405020304" pitchFamily="18" charset="0"/>
                    <a:ea typeface="Times New Roman" panose="02020603050405020304" pitchFamily="18" charset="0"/>
                    <a:cs typeface="Times New Roman" panose="02020603050405020304" pitchFamily="18" charset="0"/>
                  </a:rPr>
                  <a:t> = </a:t>
                </a:r>
                <a:r>
                  <a:rPr lang="mn-MN" dirty="0">
                    <a:latin typeface="Times New Roman" panose="02020603050405020304" pitchFamily="18" charset="0"/>
                    <a:ea typeface="Times New Roman" panose="02020603050405020304" pitchFamily="18" charset="0"/>
                    <a:cs typeface="Times New Roman" panose="02020603050405020304" pitchFamily="18" charset="0"/>
                  </a:rPr>
                  <a:t>эдийн засгийн далайцыг тусгасан зардал – чадлын </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mn-MN" dirty="0">
                    <a:latin typeface="Times New Roman" panose="02020603050405020304" pitchFamily="18" charset="0"/>
                    <a:ea typeface="Times New Roman" panose="02020603050405020304" pitchFamily="18" charset="0"/>
                    <a:cs typeface="Times New Roman" panose="02020603050405020304" pitchFamily="18" charset="0"/>
                  </a:rPr>
                  <a:t>коэффициент</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хүчин зүйл.</a:t>
                </a:r>
              </a:p>
              <a:p>
                <a:pPr lvl="1"/>
                <a:r>
                  <a:rPr lang="en-US" i="1" cap="none" dirty="0">
                    <a:latin typeface="Times New Roman" panose="02020603050405020304" pitchFamily="18" charset="0"/>
                    <a:ea typeface="Times New Roman" panose="02020603050405020304" pitchFamily="18" charset="0"/>
                    <a:cs typeface="Times New Roman" panose="02020603050405020304" pitchFamily="18" charset="0"/>
                  </a:rPr>
                  <a:t>x </a:t>
                </a:r>
                <a:r>
                  <a:rPr lang="mn-MN" dirty="0">
                    <a:latin typeface="Times New Roman" panose="02020603050405020304" pitchFamily="18" charset="0"/>
                    <a:ea typeface="Times New Roman" panose="02020603050405020304" pitchFamily="18" charset="0"/>
                    <a:cs typeface="Times New Roman" panose="02020603050405020304" pitchFamily="18" charset="0"/>
                  </a:rPr>
                  <a:t>=1 байвал хэмжээ болон зардлын хооронд шугаман хамаарал байгааг</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mn-MN" dirty="0">
                  <a:latin typeface="Times New Roman" panose="02020603050405020304" pitchFamily="18" charset="0"/>
                  <a:ea typeface="Times New Roman" panose="02020603050405020304" pitchFamily="18" charset="0"/>
                  <a:cs typeface="Times New Roman" panose="02020603050405020304" pitchFamily="18" charset="0"/>
                </a:endParaRPr>
              </a:p>
              <a:p>
                <a:pPr lvl="1"/>
                <a:r>
                  <a:rPr lang="en-US" i="1" cap="none" dirty="0">
                    <a:latin typeface="Times New Roman" panose="02020603050405020304" pitchFamily="18" charset="0"/>
                    <a:ea typeface="Times New Roman" panose="02020603050405020304" pitchFamily="18" charset="0"/>
                    <a:cs typeface="Times New Roman" panose="02020603050405020304" pitchFamily="18" charset="0"/>
                  </a:rPr>
                  <a:t>x </a:t>
                </a:r>
                <a:r>
                  <a:rPr lang="en-US" dirty="0">
                    <a:latin typeface="Times New Roman" panose="02020603050405020304" pitchFamily="18" charset="0"/>
                    <a:ea typeface="Times New Roman" panose="02020603050405020304" pitchFamily="18" charset="0"/>
                    <a:cs typeface="Times New Roman" panose="02020603050405020304" pitchFamily="18" charset="0"/>
                  </a:rPr>
                  <a:t>&gt;1 </a:t>
                </a:r>
                <a:r>
                  <a:rPr lang="mn-MN" dirty="0">
                    <a:latin typeface="Times New Roman" panose="02020603050405020304" pitchFamily="18" charset="0"/>
                    <a:ea typeface="Times New Roman" panose="02020603050405020304" pitchFamily="18" charset="0"/>
                    <a:cs typeface="Times New Roman" panose="02020603050405020304" pitchFamily="18" charset="0"/>
                  </a:rPr>
                  <a:t>бол эдийн засгийн далайц хумигдаж байгааг </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mn-MN" dirty="0">
                    <a:latin typeface="Times New Roman" panose="02020603050405020304" pitchFamily="18" charset="0"/>
                    <a:ea typeface="Times New Roman" panose="02020603050405020304" pitchFamily="18" charset="0"/>
                    <a:cs typeface="Times New Roman" panose="02020603050405020304" pitchFamily="18" charset="0"/>
                  </a:rPr>
                  <a:t>хэмжээнээс хамаарсан зардал  өмнөхөөсөө өссөн</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mn-MN" dirty="0">
                  <a:latin typeface="Times New Roman" panose="02020603050405020304" pitchFamily="18" charset="0"/>
                  <a:ea typeface="Times New Roman" panose="02020603050405020304" pitchFamily="18" charset="0"/>
                  <a:cs typeface="Times New Roman" panose="02020603050405020304" pitchFamily="18" charset="0"/>
                </a:endParaRPr>
              </a:p>
              <a:p>
                <a:pPr lvl="1"/>
                <a:r>
                  <a:rPr lang="en-US" i="1" cap="none" dirty="0">
                    <a:latin typeface="Times New Roman" panose="02020603050405020304" pitchFamily="18" charset="0"/>
                    <a:ea typeface="Times New Roman" panose="02020603050405020304" pitchFamily="18" charset="0"/>
                    <a:cs typeface="Times New Roman" panose="02020603050405020304" pitchFamily="18" charset="0"/>
                  </a:rPr>
                  <a:t>x </a:t>
                </a:r>
                <a:r>
                  <a:rPr lang="mn-MN" dirty="0">
                    <a:latin typeface="Times New Roman" panose="02020603050405020304" pitchFamily="18" charset="0"/>
                    <a:ea typeface="Times New Roman" panose="02020603050405020304" pitchFamily="18" charset="0"/>
                    <a:cs typeface="Times New Roman" panose="02020603050405020304" pitchFamily="18" charset="0"/>
                  </a:rPr>
                  <a:t>&lt;1 бол эдийн засгийн өсөлтийг </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mn-MN" dirty="0">
                    <a:latin typeface="Times New Roman" panose="02020603050405020304" pitchFamily="18" charset="0"/>
                    <a:ea typeface="Times New Roman" panose="02020603050405020304" pitchFamily="18" charset="0"/>
                    <a:cs typeface="Times New Roman" panose="02020603050405020304" pitchFamily="18" charset="0"/>
                  </a:rPr>
                  <a:t>хэмжээнээс хамаарсан зардал өмнөхөөсөө буурсан</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харуулна.</a:t>
                </a:r>
              </a:p>
              <a:p>
                <a:pPr lvl="1"/>
                <a:endPar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endParaRPr>
              </a:p>
              <a:p>
                <a:pPr lvl="1"/>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Сургалтын муруйн </a:t>
                </a:r>
                <a:r>
                  <a:rPr lang="en-US"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(learning curves)</a:t>
                </a:r>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арга </a:t>
                </a:r>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Энэ арга нь бараа бүтээгдэхүүн, үйлчилгээний дахин давтагдах үйлдвэрлэлтэй байгууллагын гүйцэтгэлийг сайжруулах, ажиллагсдын бүтээмжийн өөрчлөлтийг харуулсан үнэлгээний математик загвар юм. </a:t>
                </a:r>
              </a:p>
              <a:p>
                <a:pPr lvl="1"/>
                <a:r>
                  <a:rPr lang="mn-MN" dirty="0">
                    <a:latin typeface="Times New Roman" panose="02020603050405020304" pitchFamily="18" charset="0"/>
                    <a:ea typeface="Times New Roman" panose="02020603050405020304" pitchFamily="18" charset="0"/>
                    <a:cs typeface="Times New Roman" panose="02020603050405020304" pitchFamily="18" charset="0"/>
                  </a:rPr>
                  <a:t>Заримдаа туршилтын муруй, эсвэл үйлдвэрлэлийн үйл явцын функц гэж нэрлэдэг ба энэ функц нь орц ба гарцын хамаарлыг үзүүлнэ. ТОМЪЁО:</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mn-MN"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cs typeface="Times New Roman" panose="02020603050405020304" pitchFamily="18" charset="0"/>
                            </a:rPr>
                            <m:t>𝑍</m:t>
                          </m:r>
                        </m:e>
                        <m:sub>
                          <m:r>
                            <a:rPr lang="en-US" sz="2600" i="1">
                              <a:latin typeface="Cambria Math" panose="02040503050406030204" pitchFamily="18" charset="0"/>
                              <a:cs typeface="Times New Roman" panose="02020603050405020304" pitchFamily="18" charset="0"/>
                            </a:rPr>
                            <m:t>𝑢</m:t>
                          </m:r>
                        </m:sub>
                      </m:sSub>
                      <m:r>
                        <a:rPr lang="mn-MN" sz="2600" i="1">
                          <a:latin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cs typeface="Times New Roman" panose="02020603050405020304" pitchFamily="18" charset="0"/>
                        </a:rPr>
                        <m:t>𝐾</m:t>
                      </m:r>
                      <m:sSup>
                        <m:sSupPr>
                          <m:ctrlPr>
                            <a:rPr lang="en-US" sz="2600" i="1">
                              <a:latin typeface="Cambria Math" panose="02040503050406030204" pitchFamily="18" charset="0"/>
                              <a:cs typeface="Times New Roman" panose="02020603050405020304" pitchFamily="18" charset="0"/>
                            </a:rPr>
                          </m:ctrlPr>
                        </m:sSupPr>
                        <m:e>
                          <m:d>
                            <m:dPr>
                              <m:ctrlPr>
                                <a:rPr lang="en-US" sz="2600" i="1">
                                  <a:latin typeface="Cambria Math" panose="02040503050406030204" pitchFamily="18" charset="0"/>
                                  <a:cs typeface="Times New Roman" panose="02020603050405020304" pitchFamily="18" charset="0"/>
                                </a:rPr>
                              </m:ctrlPr>
                            </m:dPr>
                            <m:e>
                              <m:r>
                                <a:rPr lang="en-US" sz="2600" i="1">
                                  <a:latin typeface="Cambria Math" panose="02040503050406030204" pitchFamily="18" charset="0"/>
                                  <a:cs typeface="Times New Roman" panose="02020603050405020304" pitchFamily="18" charset="0"/>
                                </a:rPr>
                                <m:t>𝑢</m:t>
                              </m:r>
                            </m:e>
                          </m:d>
                        </m:e>
                        <m:sup>
                          <m:r>
                            <a:rPr lang="en-US" sz="2600" i="1">
                              <a:latin typeface="Cambria Math" panose="02040503050406030204" pitchFamily="18" charset="0"/>
                              <a:cs typeface="Times New Roman" panose="02020603050405020304" pitchFamily="18" charset="0"/>
                            </a:rPr>
                            <m:t>𝑛</m:t>
                          </m:r>
                          <m:r>
                            <a:rPr lang="mn-MN" sz="2600" i="1">
                              <a:latin typeface="Cambria Math" panose="02040503050406030204" pitchFamily="18" charset="0"/>
                              <a:cs typeface="Times New Roman" panose="02020603050405020304" pitchFamily="18" charset="0"/>
                            </a:rPr>
                            <m:t> </m:t>
                          </m:r>
                        </m:sup>
                      </m:sSup>
                    </m:oMath>
                  </m:oMathPara>
                </a14:m>
                <a:endParaRPr lang="mn-MN" sz="2600" i="1" dirty="0">
                  <a:latin typeface="Cambria Math" panose="02040503050406030204" pitchFamily="18" charset="0"/>
                  <a:cs typeface="Times New Roman" panose="02020603050405020304" pitchFamily="18" charset="0"/>
                </a:endParaRPr>
              </a:p>
              <a:p>
                <a:pPr lvl="1"/>
                <a:r>
                  <a:rPr lang="mn-MN" dirty="0">
                    <a:latin typeface="Times New Roman" panose="02020603050405020304" pitchFamily="18" charset="0"/>
                    <a:cs typeface="Times New Roman" panose="02020603050405020304" pitchFamily="18" charset="0"/>
                  </a:rPr>
                  <a:t>энд: </a:t>
                </a:r>
                <a:r>
                  <a:rPr lang="mn-MN" i="1" cap="none"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 = </a:t>
                </a:r>
                <a:r>
                  <a:rPr lang="mn-MN" dirty="0">
                    <a:latin typeface="Times New Roman" panose="02020603050405020304" pitchFamily="18" charset="0"/>
                    <a:cs typeface="Times New Roman" panose="02020603050405020304" pitchFamily="18" charset="0"/>
                  </a:rPr>
                  <a:t>гарцын нэгж бүтээгдэхүүний дугаар; </a:t>
                </a:r>
                <a:r>
                  <a:rPr lang="mn-MN" i="1" dirty="0">
                    <a:latin typeface="Times New Roman" panose="02020603050405020304" pitchFamily="18" charset="0"/>
                    <a:cs typeface="Times New Roman" panose="02020603050405020304" pitchFamily="18" charset="0"/>
                  </a:rPr>
                  <a:t>Z</a:t>
                </a:r>
                <a:r>
                  <a:rPr lang="mn-MN" i="1" cap="none" baseline="-25000"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 гарцын </a:t>
                </a:r>
                <a:r>
                  <a:rPr lang="en-US" i="1" cap="none"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дугаар</a:t>
                </a:r>
                <a:r>
                  <a:rPr lang="en-US" dirty="0">
                    <a:latin typeface="Times New Roman" panose="02020603050405020304" pitchFamily="18" charset="0"/>
                    <a:cs typeface="Times New Roman" panose="02020603050405020304" pitchFamily="18" charset="0"/>
                  </a:rPr>
                  <a:t> </a:t>
                </a:r>
                <a:r>
                  <a:rPr lang="mn-MN" dirty="0">
                    <a:latin typeface="Times New Roman" panose="02020603050405020304" pitchFamily="18" charset="0"/>
                    <a:cs typeface="Times New Roman" panose="02020603050405020304" pitchFamily="18" charset="0"/>
                  </a:rPr>
                  <a:t>нэгж бүтээгдэхүүнийг үйлдвэрлэхэд шаардлагатай орцын нэгж нөөцийн тоо; </a:t>
                </a:r>
                <a:r>
                  <a:rPr lang="en-US" i="1" dirty="0">
                    <a:latin typeface="Times New Roman" panose="02020603050405020304" pitchFamily="18" charset="0"/>
                    <a:cs typeface="Times New Roman" panose="02020603050405020304" pitchFamily="18" charset="0"/>
                  </a:rPr>
                  <a:t>K</a:t>
                </a:r>
                <a:r>
                  <a:rPr lang="en-US" dirty="0">
                    <a:latin typeface="Times New Roman" panose="02020603050405020304" pitchFamily="18" charset="0"/>
                    <a:cs typeface="Times New Roman" panose="02020603050405020304" pitchFamily="18" charset="0"/>
                  </a:rPr>
                  <a:t> = </a:t>
                </a:r>
                <a:r>
                  <a:rPr lang="mn-MN" dirty="0">
                    <a:latin typeface="Times New Roman" panose="02020603050405020304" pitchFamily="18" charset="0"/>
                    <a:cs typeface="Times New Roman" panose="02020603050405020304" pitchFamily="18" charset="0"/>
                  </a:rPr>
                  <a:t>гарцын эхний нэгж бүтээгдэхүүнийг үйлдвэрлэхэд шаардлагатай орцын нэгж нөөцийн тоо; </a:t>
                </a:r>
                <a:r>
                  <a:rPr lang="mn-MN" i="1" cap="none"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a:t>
                </a:r>
                <a:r>
                  <a:rPr lang="mn-MN" dirty="0">
                    <a:latin typeface="Times New Roman" panose="02020603050405020304" pitchFamily="18" charset="0"/>
                    <a:cs typeface="Times New Roman" panose="02020603050405020304" pitchFamily="18" charset="0"/>
                  </a:rPr>
                  <a:t> аравтын орноор илэрхийлсэн сургалтын муруйн налуугийн үзүүлэлт (90%-ийн сургалтын муруйн хувьд </a:t>
                </a:r>
                <a:r>
                  <a:rPr lang="mn-MN" i="1" cap="none" dirty="0">
                    <a:latin typeface="Times New Roman" panose="02020603050405020304" pitchFamily="18" charset="0"/>
                    <a:cs typeface="Times New Roman" panose="02020603050405020304" pitchFamily="18" charset="0"/>
                  </a:rPr>
                  <a:t>s</a:t>
                </a:r>
                <a:r>
                  <a:rPr lang="mn-MN" dirty="0">
                    <a:latin typeface="Times New Roman" panose="02020603050405020304" pitchFamily="18" charset="0"/>
                    <a:cs typeface="Times New Roman" panose="02020603050405020304" pitchFamily="18" charset="0"/>
                  </a:rPr>
                  <a:t> = 0.9);    </a:t>
                </a:r>
                <a14:m>
                  <m:oMath xmlns:m="http://schemas.openxmlformats.org/officeDocument/2006/math">
                    <m:r>
                      <a:rPr lang="mn-MN" i="1">
                        <a:latin typeface="Cambria Math" panose="02040503050406030204" pitchFamily="18" charset="0"/>
                      </a:rPr>
                      <m:t>𝑛</m:t>
                    </m:r>
                    <m:r>
                      <a:rPr lang="mn-MN" i="1">
                        <a:latin typeface="Cambria Math" panose="02040503050406030204" pitchFamily="18" charset="0"/>
                      </a:rPr>
                      <m:t>=</m:t>
                    </m:r>
                    <m:f>
                      <m:fPr>
                        <m:ctrlPr>
                          <a:rPr lang="en-US" i="1">
                            <a:latin typeface="Cambria Math" panose="02040503050406030204" pitchFamily="18" charset="0"/>
                          </a:rPr>
                        </m:ctrlPr>
                      </m:fPr>
                      <m:num>
                        <m:func>
                          <m:funcPr>
                            <m:ctrlPr>
                              <a:rPr lang="en-US" i="1">
                                <a:latin typeface="Cambria Math" panose="02040503050406030204" pitchFamily="18" charset="0"/>
                              </a:rPr>
                            </m:ctrlPr>
                          </m:funcPr>
                          <m:fName>
                            <m:r>
                              <m:rPr>
                                <m:sty m:val="p"/>
                              </m:rPr>
                              <a:rPr lang="mn-MN" cap="none" smtClean="0">
                                <a:latin typeface="Cambria Math" panose="02040503050406030204" pitchFamily="18" charset="0"/>
                              </a:rPr>
                              <m:t>log</m:t>
                            </m:r>
                          </m:fName>
                          <m:e>
                            <m:r>
                              <a:rPr lang="mn-MN" i="1">
                                <a:latin typeface="Cambria Math" panose="02040503050406030204" pitchFamily="18" charset="0"/>
                              </a:rPr>
                              <m:t>𝑠</m:t>
                            </m:r>
                          </m:e>
                        </m:func>
                      </m:num>
                      <m:den>
                        <m:func>
                          <m:funcPr>
                            <m:ctrlPr>
                              <a:rPr lang="en-US" i="1">
                                <a:latin typeface="Cambria Math" panose="02040503050406030204" pitchFamily="18" charset="0"/>
                              </a:rPr>
                            </m:ctrlPr>
                          </m:funcPr>
                          <m:fName>
                            <m:r>
                              <m:rPr>
                                <m:sty m:val="p"/>
                              </m:rPr>
                              <a:rPr lang="mn-MN" cap="none" smtClean="0">
                                <a:latin typeface="Cambria Math" panose="02040503050406030204" pitchFamily="18" charset="0"/>
                              </a:rPr>
                              <m:t>log</m:t>
                            </m:r>
                          </m:fName>
                          <m:e>
                            <m:r>
                              <a:rPr lang="mn-MN" i="1">
                                <a:latin typeface="Cambria Math" panose="02040503050406030204" pitchFamily="18" charset="0"/>
                              </a:rPr>
                              <m:t>2</m:t>
                            </m:r>
                          </m:e>
                        </m:func>
                      </m:den>
                    </m:f>
                  </m:oMath>
                </a14:m>
                <a:r>
                  <a:rPr lang="mn-M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 сургалтын муруйн экспонент. </a:t>
                </a:r>
                <a:endParaRPr lang="en-US"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mn-MN"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dirty="0"/>
              </a:p>
            </p:txBody>
          </p:sp>
        </mc:Choice>
        <mc:Fallback xmlns="">
          <p:sp>
            <p:nvSpPr>
              <p:cNvPr id="3" name="Notes Placeholder 2"/>
              <p:cNvSpPr>
                <a:spLocks noGrp="1"/>
              </p:cNvSpPr>
              <p:nvPr>
                <p:ph type="body" idx="1"/>
              </p:nvPr>
            </p:nvSpPr>
            <p:spPr/>
            <p:txBody>
              <a:bodyPr/>
              <a:lstStyle/>
              <a:p>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Чадал-хэмжээний </a:t>
                </a:r>
                <a:r>
                  <a:rPr lang="en-US"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(power-sizing) </a:t>
                </a:r>
                <a:r>
                  <a:rPr lang="ru-RU"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арга </a:t>
                </a:r>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үйлдвэрийн байгууламж болон тоног төхөөрөмжийн хөрөнгө оруулалтын үнэлгээг боловсруулахад ихэвчлэн ашиглагддаг.</a:t>
                </a:r>
              </a:p>
              <a:p>
                <a:pPr algn="ctr"/>
                <a:r>
                  <a:rPr lang="mn-MN" dirty="0">
                    <a:latin typeface="Times New Roman" panose="02020603050405020304" pitchFamily="18" charset="0"/>
                    <a:ea typeface="Times New Roman" panose="02020603050405020304" pitchFamily="18" charset="0"/>
                    <a:cs typeface="Times New Roman" panose="02020603050405020304" pitchFamily="18" charset="0"/>
                  </a:rPr>
                  <a:t> </a:t>
                </a:r>
                <a:r>
                  <a:rPr lang="mn-MN" sz="1200" i="0">
                    <a:latin typeface="Cambria Math" panose="02040503050406030204" pitchFamily="18" charset="0"/>
                    <a:ea typeface="Times New Roman" panose="02020603050405020304" pitchFamily="18" charset="0"/>
                    <a:cs typeface="Times New Roman" panose="02020603050405020304" pitchFamily="18" charset="0"/>
                  </a:rPr>
                  <a:t>𝐶</a:t>
                </a:r>
                <a:r>
                  <a:rPr lang="en-US" sz="1200" i="0">
                    <a:latin typeface="Cambria Math" panose="02040503050406030204" pitchFamily="18" charset="0"/>
                    <a:ea typeface="Times New Roman" panose="02020603050405020304" pitchFamily="18" charset="0"/>
                    <a:cs typeface="Times New Roman" panose="02020603050405020304" pitchFamily="18" charset="0"/>
                  </a:rPr>
                  <a:t>_</a:t>
                </a:r>
                <a:r>
                  <a:rPr lang="mn-MN" sz="1200" i="0">
                    <a:latin typeface="Cambria Math" panose="02040503050406030204" pitchFamily="18" charset="0"/>
                    <a:ea typeface="Times New Roman" panose="02020603050405020304" pitchFamily="18" charset="0"/>
                    <a:cs typeface="Times New Roman" panose="02020603050405020304" pitchFamily="18" charset="0"/>
                  </a:rPr>
                  <a:t>𝐴</a:t>
                </a:r>
                <a:r>
                  <a:rPr lang="en-US" sz="1200" i="0">
                    <a:latin typeface="Cambria Math" panose="02040503050406030204" pitchFamily="18" charset="0"/>
                    <a:ea typeface="Times New Roman" panose="02020603050405020304" pitchFamily="18" charset="0"/>
                    <a:cs typeface="Times New Roman" panose="02020603050405020304" pitchFamily="18" charset="0"/>
                  </a:rPr>
                  <a:t>/</a:t>
                </a:r>
                <a:r>
                  <a:rPr lang="mn-MN" sz="1200" i="0">
                    <a:latin typeface="Cambria Math" panose="02040503050406030204" pitchFamily="18" charset="0"/>
                    <a:ea typeface="Times New Roman" panose="02020603050405020304" pitchFamily="18" charset="0"/>
                    <a:cs typeface="Times New Roman" panose="02020603050405020304" pitchFamily="18" charset="0"/>
                  </a:rPr>
                  <a:t>𝐶</a:t>
                </a:r>
                <a:r>
                  <a:rPr lang="en-US" sz="1200" i="0">
                    <a:latin typeface="Cambria Math" panose="02040503050406030204" pitchFamily="18" charset="0"/>
                    <a:ea typeface="Times New Roman" panose="02020603050405020304" pitchFamily="18" charset="0"/>
                    <a:cs typeface="Times New Roman" panose="02020603050405020304" pitchFamily="18" charset="0"/>
                  </a:rPr>
                  <a:t>_</a:t>
                </a:r>
                <a:r>
                  <a:rPr lang="mn-MN" sz="1200" i="0">
                    <a:latin typeface="Cambria Math" panose="02040503050406030204" pitchFamily="18" charset="0"/>
                    <a:ea typeface="Times New Roman" panose="02020603050405020304" pitchFamily="18" charset="0"/>
                    <a:cs typeface="Times New Roman" panose="02020603050405020304" pitchFamily="18" charset="0"/>
                  </a:rPr>
                  <a:t>𝐵 </a:t>
                </a:r>
                <a:r>
                  <a:rPr lang="mn-MN" sz="1200" i="0">
                    <a:latin typeface="Cambria Math" panose="02040503050406030204" pitchFamily="18" charset="0"/>
                    <a:ea typeface="Calibri" panose="020F0502020204030204" pitchFamily="34" charset="0"/>
                    <a:cs typeface="Times New Roman" panose="02020603050405020304" pitchFamily="18" charset="0"/>
                  </a:rPr>
                  <a:t>=</a:t>
                </a:r>
                <a:r>
                  <a:rPr lang="en-US" sz="1200" i="0">
                    <a:latin typeface="Cambria Math" panose="02040503050406030204" pitchFamily="18" charset="0"/>
                    <a:cs typeface="Times New Roman" panose="02020603050405020304" pitchFamily="18" charset="0"/>
                  </a:rPr>
                  <a:t>(</a:t>
                </a:r>
                <a:r>
                  <a:rPr lang="mn-MN" sz="1200" i="0">
                    <a:latin typeface="Cambria Math" panose="02040503050406030204" pitchFamily="18" charset="0"/>
                    <a:ea typeface="Calibri" panose="020F0502020204030204" pitchFamily="34" charset="0"/>
                    <a:cs typeface="Times New Roman" panose="02020603050405020304" pitchFamily="18" charset="0"/>
                  </a:rPr>
                  <a:t>𝑆</a:t>
                </a:r>
                <a:r>
                  <a:rPr lang="en-US" sz="1200" i="0">
                    <a:latin typeface="Cambria Math" panose="02040503050406030204" pitchFamily="18" charset="0"/>
                    <a:ea typeface="Calibri" panose="020F0502020204030204" pitchFamily="34" charset="0"/>
                    <a:cs typeface="Times New Roman" panose="02020603050405020304" pitchFamily="18" charset="0"/>
                  </a:rPr>
                  <a:t>_</a:t>
                </a:r>
                <a:r>
                  <a:rPr lang="mn-MN" sz="1200" i="0">
                    <a:latin typeface="Cambria Math" panose="02040503050406030204" pitchFamily="18" charset="0"/>
                    <a:ea typeface="Calibri" panose="020F0502020204030204" pitchFamily="34" charset="0"/>
                    <a:cs typeface="Times New Roman" panose="02020603050405020304" pitchFamily="18" charset="0"/>
                  </a:rPr>
                  <a:t>𝐴</a:t>
                </a:r>
                <a:r>
                  <a:rPr lang="en-US" sz="1200" i="0">
                    <a:latin typeface="Cambria Math" panose="02040503050406030204" pitchFamily="18" charset="0"/>
                    <a:ea typeface="Calibri" panose="020F0502020204030204" pitchFamily="34" charset="0"/>
                    <a:cs typeface="Times New Roman" panose="02020603050405020304" pitchFamily="18" charset="0"/>
                  </a:rPr>
                  <a:t>/</a:t>
                </a:r>
                <a:r>
                  <a:rPr lang="mn-MN" sz="1200" i="0">
                    <a:latin typeface="Cambria Math" panose="02040503050406030204" pitchFamily="18" charset="0"/>
                    <a:ea typeface="Calibri" panose="020F0502020204030204" pitchFamily="34" charset="0"/>
                    <a:cs typeface="Times New Roman" panose="02020603050405020304" pitchFamily="18" charset="0"/>
                  </a:rPr>
                  <a:t>𝑆</a:t>
                </a:r>
                <a:r>
                  <a:rPr lang="en-US" sz="1200" i="0">
                    <a:latin typeface="Cambria Math" panose="02040503050406030204" pitchFamily="18" charset="0"/>
                    <a:ea typeface="Calibri" panose="020F0502020204030204" pitchFamily="34" charset="0"/>
                    <a:cs typeface="Times New Roman" panose="02020603050405020304" pitchFamily="18" charset="0"/>
                  </a:rPr>
                  <a:t>_</a:t>
                </a:r>
                <a:r>
                  <a:rPr lang="mn-MN" sz="1200" i="0">
                    <a:latin typeface="Cambria Math" panose="02040503050406030204" pitchFamily="18" charset="0"/>
                    <a:ea typeface="Calibri" panose="020F0502020204030204" pitchFamily="34" charset="0"/>
                    <a:cs typeface="Times New Roman" panose="02020603050405020304" pitchFamily="18" charset="0"/>
                  </a:rPr>
                  <a:t>𝐵 )</a:t>
                </a:r>
                <a:r>
                  <a:rPr lang="en-US" sz="1200" i="0">
                    <a:latin typeface="Cambria Math" panose="02040503050406030204" pitchFamily="18" charset="0"/>
                    <a:ea typeface="Calibri" panose="020F0502020204030204" pitchFamily="34" charset="0"/>
                    <a:cs typeface="Times New Roman" panose="02020603050405020304" pitchFamily="18" charset="0"/>
                  </a:rPr>
                  <a:t>^(</a:t>
                </a:r>
                <a:r>
                  <a:rPr lang="mn-MN" sz="1200" i="0">
                    <a:latin typeface="Cambria Math" panose="02040503050406030204" pitchFamily="18" charset="0"/>
                    <a:ea typeface="Calibri" panose="020F0502020204030204" pitchFamily="34" charset="0"/>
                    <a:cs typeface="Times New Roman" panose="02020603050405020304" pitchFamily="18" charset="0"/>
                  </a:rPr>
                  <a:t>𝑥 </a:t>
                </a:r>
                <a:r>
                  <a:rPr lang="en-US" sz="1200" i="0">
                    <a:latin typeface="Cambria Math" panose="02040503050406030204" pitchFamily="18" charset="0"/>
                    <a:ea typeface="Calibri" panose="020F0502020204030204" pitchFamily="34" charset="0"/>
                    <a:cs typeface="Times New Roman" panose="02020603050405020304" pitchFamily="18" charset="0"/>
                  </a:rPr>
                  <a:t>)</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r>
                  <a:rPr lang="mn-MN" sz="1200" i="0">
                    <a:latin typeface="Cambria Math" panose="02040503050406030204" pitchFamily="18" charset="0"/>
                    <a:cs typeface="Times New Roman" panose="02020603050405020304" pitchFamily="18" charset="0"/>
                  </a:rPr>
                  <a:t>𝐶</a:t>
                </a:r>
                <a:r>
                  <a:rPr lang="en-US" sz="1200" i="0">
                    <a:latin typeface="Cambria Math" panose="02040503050406030204" pitchFamily="18" charset="0"/>
                    <a:cs typeface="Times New Roman" panose="02020603050405020304" pitchFamily="18" charset="0"/>
                  </a:rPr>
                  <a:t>_</a:t>
                </a:r>
                <a:r>
                  <a:rPr lang="mn-MN" sz="1200" i="0">
                    <a:latin typeface="Cambria Math" panose="02040503050406030204" pitchFamily="18" charset="0"/>
                    <a:cs typeface="Times New Roman" panose="02020603050405020304" pitchFamily="18" charset="0"/>
                  </a:rPr>
                  <a:t>𝐴=𝐶</a:t>
                </a:r>
                <a:r>
                  <a:rPr lang="en-US" sz="1200" i="0">
                    <a:latin typeface="Cambria Math" panose="02040503050406030204" pitchFamily="18" charset="0"/>
                    <a:cs typeface="Times New Roman" panose="02020603050405020304" pitchFamily="18" charset="0"/>
                  </a:rPr>
                  <a:t>_</a:t>
                </a:r>
                <a:r>
                  <a:rPr lang="mn-MN" sz="1200" i="0">
                    <a:latin typeface="Cambria Math" panose="02040503050406030204" pitchFamily="18" charset="0"/>
                    <a:cs typeface="Times New Roman" panose="02020603050405020304" pitchFamily="18" charset="0"/>
                  </a:rPr>
                  <a:t>𝐵</a:t>
                </a:r>
                <a:r>
                  <a:rPr lang="en-US" sz="1200" i="0">
                    <a:latin typeface="Cambria Math" panose="02040503050406030204" pitchFamily="18" charset="0"/>
                    <a:cs typeface="Times New Roman" panose="02020603050405020304" pitchFamily="18" charset="0"/>
                  </a:rPr>
                  <a:t> (</a:t>
                </a:r>
                <a:r>
                  <a:rPr lang="mn-MN" sz="1200" i="0">
                    <a:latin typeface="Cambria Math" panose="02040503050406030204" pitchFamily="18" charset="0"/>
                    <a:cs typeface="Times New Roman" panose="02020603050405020304" pitchFamily="18" charset="0"/>
                  </a:rPr>
                  <a:t>𝑆</a:t>
                </a:r>
                <a:r>
                  <a:rPr lang="en-US" sz="1200" i="0">
                    <a:latin typeface="Cambria Math" panose="02040503050406030204" pitchFamily="18" charset="0"/>
                    <a:cs typeface="Times New Roman" panose="02020603050405020304" pitchFamily="18" charset="0"/>
                  </a:rPr>
                  <a:t>_</a:t>
                </a:r>
                <a:r>
                  <a:rPr lang="mn-MN" sz="1200" i="0">
                    <a:latin typeface="Cambria Math" panose="02040503050406030204" pitchFamily="18" charset="0"/>
                    <a:cs typeface="Times New Roman" panose="02020603050405020304" pitchFamily="18" charset="0"/>
                  </a:rPr>
                  <a:t>𝐴</a:t>
                </a:r>
                <a:r>
                  <a:rPr lang="en-US" sz="1200" i="0">
                    <a:latin typeface="Cambria Math" panose="02040503050406030204" pitchFamily="18" charset="0"/>
                    <a:cs typeface="Times New Roman" panose="02020603050405020304" pitchFamily="18" charset="0"/>
                  </a:rPr>
                  <a:t>/</a:t>
                </a:r>
                <a:r>
                  <a:rPr lang="mn-MN" sz="1200" i="0">
                    <a:latin typeface="Cambria Math" panose="02040503050406030204" pitchFamily="18" charset="0"/>
                    <a:cs typeface="Times New Roman" panose="02020603050405020304" pitchFamily="18" charset="0"/>
                  </a:rPr>
                  <a:t>𝑆</a:t>
                </a:r>
                <a:r>
                  <a:rPr lang="en-US" sz="1200" i="0">
                    <a:latin typeface="Cambria Math" panose="02040503050406030204" pitchFamily="18" charset="0"/>
                    <a:cs typeface="Times New Roman" panose="02020603050405020304" pitchFamily="18" charset="0"/>
                  </a:rPr>
                  <a:t>_</a:t>
                </a:r>
                <a:r>
                  <a:rPr lang="mn-MN" sz="1200" i="0">
                    <a:latin typeface="Cambria Math" panose="02040503050406030204" pitchFamily="18" charset="0"/>
                    <a:cs typeface="Times New Roman" panose="02020603050405020304" pitchFamily="18" charset="0"/>
                  </a:rPr>
                  <a:t>𝐵 )</a:t>
                </a:r>
                <a:r>
                  <a:rPr lang="en-US" sz="1200" i="0">
                    <a:latin typeface="Cambria Math" panose="02040503050406030204" pitchFamily="18" charset="0"/>
                    <a:cs typeface="Times New Roman" panose="02020603050405020304" pitchFamily="18" charset="0"/>
                  </a:rPr>
                  <a:t>^(</a:t>
                </a:r>
                <a:r>
                  <a:rPr lang="mn-MN" sz="1200" i="0">
                    <a:latin typeface="Cambria Math" panose="02040503050406030204" pitchFamily="18" charset="0"/>
                    <a:cs typeface="Times New Roman" panose="02020603050405020304" pitchFamily="18" charset="0"/>
                  </a:rPr>
                  <a:t>𝑥 </a:t>
                </a:r>
                <a:r>
                  <a:rPr lang="en-US" sz="1200" i="0">
                    <a:latin typeface="Cambria Math" panose="02040503050406030204" pitchFamily="18" charset="0"/>
                    <a:cs typeface="Times New Roman" panose="02020603050405020304" pitchFamily="18" charset="0"/>
                  </a:rPr>
                  <a:t>)</a:t>
                </a:r>
                <a:endParaRPr lang="mn-MN" dirty="0"/>
              </a:p>
              <a:p>
                <a:pPr lvl="1"/>
                <a:r>
                  <a:rPr lang="mn-MN" dirty="0">
                    <a:latin typeface="Times New Roman" panose="02020603050405020304" pitchFamily="18" charset="0"/>
                    <a:ea typeface="Times New Roman" panose="02020603050405020304" pitchFamily="18" charset="0"/>
                    <a:cs typeface="Times New Roman" panose="02020603050405020304" pitchFamily="18" charset="0"/>
                  </a:rPr>
                  <a:t>Энд, </a:t>
                </a:r>
                <a:r>
                  <a:rPr lang="en-US" dirty="0">
                    <a:latin typeface="Times New Roman" panose="02020603050405020304" pitchFamily="18" charset="0"/>
                    <a:ea typeface="Times New Roman" panose="02020603050405020304" pitchFamily="18" charset="0"/>
                    <a:cs typeface="Times New Roman" panose="02020603050405020304" pitchFamily="18" charset="0"/>
                  </a:rPr>
                  <a:t>C</a:t>
                </a:r>
                <a:r>
                  <a:rPr lang="en-US" baseline="-25000" dirty="0">
                    <a:latin typeface="Times New Roman" panose="02020603050405020304" pitchFamily="18" charset="0"/>
                    <a:ea typeface="Times New Roman" panose="02020603050405020304" pitchFamily="18" charset="0"/>
                    <a:cs typeface="Times New Roman" panose="02020603050405020304" pitchFamily="18" charset="0"/>
                  </a:rPr>
                  <a:t>A</a:t>
                </a:r>
                <a:r>
                  <a:rPr lang="en-US" dirty="0">
                    <a:latin typeface="Times New Roman" panose="02020603050405020304" pitchFamily="18" charset="0"/>
                    <a:ea typeface="Times New Roman" panose="02020603050405020304" pitchFamily="18" charset="0"/>
                    <a:cs typeface="Times New Roman" panose="02020603050405020304" pitchFamily="18" charset="0"/>
                  </a:rPr>
                  <a:t>  =  A </a:t>
                </a:r>
                <a:r>
                  <a:rPr lang="mn-MN" dirty="0">
                    <a:latin typeface="Times New Roman" panose="02020603050405020304" pitchFamily="18" charset="0"/>
                    <a:ea typeface="Times New Roman" panose="02020603050405020304" pitchFamily="18" charset="0"/>
                    <a:cs typeface="Times New Roman" panose="02020603050405020304" pitchFamily="18" charset="0"/>
                  </a:rPr>
                  <a:t>байгууламжийн зардал</a:t>
                </a:r>
                <a:r>
                  <a:rPr lang="en-US" dirty="0">
                    <a:latin typeface="Times New Roman" panose="02020603050405020304" pitchFamily="18" charset="0"/>
                    <a:ea typeface="Times New Roman" panose="02020603050405020304" pitchFamily="18" charset="0"/>
                    <a:cs typeface="Times New Roman" panose="02020603050405020304" pitchFamily="18" charset="0"/>
                  </a:rPr>
                  <a:t>; C</a:t>
                </a:r>
                <a:r>
                  <a:rPr lang="en-US" baseline="-25000" dirty="0">
                    <a:latin typeface="Times New Roman" panose="02020603050405020304" pitchFamily="18" charset="0"/>
                    <a:ea typeface="Times New Roman" panose="02020603050405020304" pitchFamily="18" charset="0"/>
                    <a:cs typeface="Times New Roman" panose="02020603050405020304" pitchFamily="18" charset="0"/>
                  </a:rPr>
                  <a:t>B</a:t>
                </a:r>
                <a:r>
                  <a:rPr lang="en-US" dirty="0">
                    <a:latin typeface="Times New Roman" panose="02020603050405020304" pitchFamily="18" charset="0"/>
                    <a:ea typeface="Times New Roman" panose="02020603050405020304" pitchFamily="18" charset="0"/>
                    <a:cs typeface="Times New Roman" panose="02020603050405020304" pitchFamily="18" charset="0"/>
                  </a:rPr>
                  <a:t>  = </a:t>
                </a:r>
                <a:r>
                  <a:rPr lang="mn-MN" dirty="0">
                    <a:latin typeface="Times New Roman" panose="02020603050405020304" pitchFamily="18" charset="0"/>
                    <a:ea typeface="Times New Roman" panose="02020603050405020304" pitchFamily="18" charset="0"/>
                    <a:cs typeface="Times New Roman" panose="02020603050405020304" pitchFamily="18" charset="0"/>
                  </a:rPr>
                  <a:t>В байгууламжийн зардал</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Хоёулаа мөнгөн нэгжээр тооцогдоно</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ea typeface="Times New Roman" panose="02020603050405020304" pitchFamily="18" charset="0"/>
                    <a:cs typeface="Times New Roman" panose="02020603050405020304" pitchFamily="18" charset="0"/>
                  </a:rPr>
                  <a:t>S</a:t>
                </a:r>
                <a:r>
                  <a:rPr lang="en-US" baseline="-25000" dirty="0">
                    <a:latin typeface="Times New Roman" panose="02020603050405020304" pitchFamily="18" charset="0"/>
                    <a:ea typeface="Times New Roman" panose="02020603050405020304" pitchFamily="18" charset="0"/>
                    <a:cs typeface="Times New Roman" panose="02020603050405020304" pitchFamily="18" charset="0"/>
                  </a:rPr>
                  <a:t>A</a:t>
                </a:r>
                <a:r>
                  <a:rPr lang="en-US" dirty="0">
                    <a:latin typeface="Times New Roman" panose="02020603050405020304" pitchFamily="18" charset="0"/>
                    <a:ea typeface="Times New Roman" panose="02020603050405020304" pitchFamily="18" charset="0"/>
                    <a:cs typeface="Times New Roman" panose="02020603050405020304" pitchFamily="18" charset="0"/>
                  </a:rPr>
                  <a:t>  = A </a:t>
                </a:r>
                <a:r>
                  <a:rPr lang="mn-MN" dirty="0">
                    <a:latin typeface="Times New Roman" panose="02020603050405020304" pitchFamily="18" charset="0"/>
                    <a:ea typeface="Times New Roman" panose="02020603050405020304" pitchFamily="18" charset="0"/>
                    <a:cs typeface="Times New Roman" panose="02020603050405020304" pitchFamily="18" charset="0"/>
                  </a:rPr>
                  <a:t>байгууламжийн хэмжээ</a:t>
                </a:r>
                <a:r>
                  <a:rPr lang="en-US" dirty="0">
                    <a:latin typeface="Times New Roman" panose="02020603050405020304" pitchFamily="18" charset="0"/>
                    <a:ea typeface="Times New Roman" panose="02020603050405020304" pitchFamily="18" charset="0"/>
                    <a:cs typeface="Times New Roman" panose="02020603050405020304" pitchFamily="18" charset="0"/>
                  </a:rPr>
                  <a:t>; S</a:t>
                </a:r>
                <a:r>
                  <a:rPr lang="en-US" baseline="-25000" dirty="0">
                    <a:latin typeface="Times New Roman" panose="02020603050405020304" pitchFamily="18" charset="0"/>
                    <a:ea typeface="Times New Roman" panose="02020603050405020304" pitchFamily="18" charset="0"/>
                    <a:cs typeface="Times New Roman" panose="02020603050405020304" pitchFamily="18" charset="0"/>
                  </a:rPr>
                  <a:t>B </a:t>
                </a:r>
                <a:r>
                  <a:rPr lang="en-US" dirty="0">
                    <a:latin typeface="Times New Roman" panose="02020603050405020304" pitchFamily="18" charset="0"/>
                    <a:ea typeface="Times New Roman" panose="02020603050405020304" pitchFamily="18" charset="0"/>
                    <a:cs typeface="Times New Roman" panose="02020603050405020304" pitchFamily="18" charset="0"/>
                  </a:rPr>
                  <a:t> = </a:t>
                </a:r>
                <a:r>
                  <a:rPr lang="mn-MN" dirty="0">
                    <a:latin typeface="Times New Roman" panose="02020603050405020304" pitchFamily="18" charset="0"/>
                    <a:ea typeface="Times New Roman" panose="02020603050405020304" pitchFamily="18" charset="0"/>
                    <a:cs typeface="Times New Roman" panose="02020603050405020304" pitchFamily="18" charset="0"/>
                  </a:rPr>
                  <a:t>В байгууламжийн хэмжээ (хоёулаа ижил физик нэгжээр тодорхойлогдоно)</a:t>
                </a:r>
              </a:p>
              <a:p>
                <a:r>
                  <a:rPr lang="en-US" i="1" cap="none" dirty="0">
                    <a:latin typeface="Times New Roman" panose="02020603050405020304" pitchFamily="18" charset="0"/>
                    <a:ea typeface="Times New Roman" panose="02020603050405020304" pitchFamily="18" charset="0"/>
                    <a:cs typeface="Times New Roman" panose="02020603050405020304" pitchFamily="18" charset="0"/>
                  </a:rPr>
                  <a:t>x</a:t>
                </a:r>
                <a:r>
                  <a:rPr lang="en-US" dirty="0">
                    <a:latin typeface="Times New Roman" panose="02020603050405020304" pitchFamily="18" charset="0"/>
                    <a:ea typeface="Times New Roman" panose="02020603050405020304" pitchFamily="18" charset="0"/>
                    <a:cs typeface="Times New Roman" panose="02020603050405020304" pitchFamily="18" charset="0"/>
                  </a:rPr>
                  <a:t> = </a:t>
                </a:r>
                <a:r>
                  <a:rPr lang="mn-MN" dirty="0">
                    <a:latin typeface="Times New Roman" panose="02020603050405020304" pitchFamily="18" charset="0"/>
                    <a:ea typeface="Times New Roman" panose="02020603050405020304" pitchFamily="18" charset="0"/>
                    <a:cs typeface="Times New Roman" panose="02020603050405020304" pitchFamily="18" charset="0"/>
                  </a:rPr>
                  <a:t>эдийн засгийн далайцыг тусгасан зардал – чадлын </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mn-MN" dirty="0">
                    <a:latin typeface="Times New Roman" panose="02020603050405020304" pitchFamily="18" charset="0"/>
                    <a:ea typeface="Times New Roman" panose="02020603050405020304" pitchFamily="18" charset="0"/>
                    <a:cs typeface="Times New Roman" panose="02020603050405020304" pitchFamily="18" charset="0"/>
                  </a:rPr>
                  <a:t>коэффициент</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хүчин зүйл.</a:t>
                </a:r>
              </a:p>
              <a:p>
                <a:pPr lvl="1"/>
                <a:r>
                  <a:rPr lang="en-US" i="1" cap="none" dirty="0">
                    <a:latin typeface="Times New Roman" panose="02020603050405020304" pitchFamily="18" charset="0"/>
                    <a:ea typeface="Times New Roman" panose="02020603050405020304" pitchFamily="18" charset="0"/>
                    <a:cs typeface="Times New Roman" panose="02020603050405020304" pitchFamily="18" charset="0"/>
                  </a:rPr>
                  <a:t>x </a:t>
                </a:r>
                <a:r>
                  <a:rPr lang="mn-MN" dirty="0">
                    <a:latin typeface="Times New Roman" panose="02020603050405020304" pitchFamily="18" charset="0"/>
                    <a:ea typeface="Times New Roman" panose="02020603050405020304" pitchFamily="18" charset="0"/>
                    <a:cs typeface="Times New Roman" panose="02020603050405020304" pitchFamily="18" charset="0"/>
                  </a:rPr>
                  <a:t>=1 байвал хэмжээ болон зардлын хооронд шугаман хамаарал байгааг</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mn-MN" dirty="0">
                  <a:latin typeface="Times New Roman" panose="02020603050405020304" pitchFamily="18" charset="0"/>
                  <a:ea typeface="Times New Roman" panose="02020603050405020304" pitchFamily="18" charset="0"/>
                  <a:cs typeface="Times New Roman" panose="02020603050405020304" pitchFamily="18" charset="0"/>
                </a:endParaRPr>
              </a:p>
              <a:p>
                <a:pPr lvl="1"/>
                <a:r>
                  <a:rPr lang="en-US" i="1" cap="none" dirty="0">
                    <a:latin typeface="Times New Roman" panose="02020603050405020304" pitchFamily="18" charset="0"/>
                    <a:ea typeface="Times New Roman" panose="02020603050405020304" pitchFamily="18" charset="0"/>
                    <a:cs typeface="Times New Roman" panose="02020603050405020304" pitchFamily="18" charset="0"/>
                  </a:rPr>
                  <a:t>x </a:t>
                </a:r>
                <a:r>
                  <a:rPr lang="en-US" dirty="0">
                    <a:latin typeface="Times New Roman" panose="02020603050405020304" pitchFamily="18" charset="0"/>
                    <a:ea typeface="Times New Roman" panose="02020603050405020304" pitchFamily="18" charset="0"/>
                    <a:cs typeface="Times New Roman" panose="02020603050405020304" pitchFamily="18" charset="0"/>
                  </a:rPr>
                  <a:t>&gt;1 </a:t>
                </a:r>
                <a:r>
                  <a:rPr lang="mn-MN" dirty="0">
                    <a:latin typeface="Times New Roman" panose="02020603050405020304" pitchFamily="18" charset="0"/>
                    <a:ea typeface="Times New Roman" panose="02020603050405020304" pitchFamily="18" charset="0"/>
                    <a:cs typeface="Times New Roman" panose="02020603050405020304" pitchFamily="18" charset="0"/>
                  </a:rPr>
                  <a:t>бол эдийн засгийн далайц хумигдаж байгааг </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mn-MN" dirty="0">
                    <a:latin typeface="Times New Roman" panose="02020603050405020304" pitchFamily="18" charset="0"/>
                    <a:ea typeface="Times New Roman" panose="02020603050405020304" pitchFamily="18" charset="0"/>
                    <a:cs typeface="Times New Roman" panose="02020603050405020304" pitchFamily="18" charset="0"/>
                  </a:rPr>
                  <a:t>хэмжээнээс хамаарсан зардал  өмнөхөөсөө өссөн</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mn-MN" dirty="0">
                  <a:latin typeface="Times New Roman" panose="02020603050405020304" pitchFamily="18" charset="0"/>
                  <a:ea typeface="Times New Roman" panose="02020603050405020304" pitchFamily="18" charset="0"/>
                  <a:cs typeface="Times New Roman" panose="02020603050405020304" pitchFamily="18" charset="0"/>
                </a:endParaRPr>
              </a:p>
              <a:p>
                <a:pPr lvl="1"/>
                <a:r>
                  <a:rPr lang="en-US" i="1" cap="none" dirty="0">
                    <a:latin typeface="Times New Roman" panose="02020603050405020304" pitchFamily="18" charset="0"/>
                    <a:ea typeface="Times New Roman" panose="02020603050405020304" pitchFamily="18" charset="0"/>
                    <a:cs typeface="Times New Roman" panose="02020603050405020304" pitchFamily="18" charset="0"/>
                  </a:rPr>
                  <a:t>x </a:t>
                </a:r>
                <a:r>
                  <a:rPr lang="mn-MN" dirty="0">
                    <a:latin typeface="Times New Roman" panose="02020603050405020304" pitchFamily="18" charset="0"/>
                    <a:ea typeface="Times New Roman" panose="02020603050405020304" pitchFamily="18" charset="0"/>
                    <a:cs typeface="Times New Roman" panose="02020603050405020304" pitchFamily="18" charset="0"/>
                  </a:rPr>
                  <a:t>&lt;1 бол эдийн засгийн өсөлтийг </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mn-MN" dirty="0">
                    <a:latin typeface="Times New Roman" panose="02020603050405020304" pitchFamily="18" charset="0"/>
                    <a:ea typeface="Times New Roman" panose="02020603050405020304" pitchFamily="18" charset="0"/>
                    <a:cs typeface="Times New Roman" panose="02020603050405020304" pitchFamily="18" charset="0"/>
                  </a:rPr>
                  <a:t>хэмжээнээс хамаарсан зардал өмнөхөөсөө буурсан</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харуулна.</a:t>
                </a:r>
              </a:p>
              <a:p>
                <a:pPr lvl="1"/>
                <a:endPar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endParaRPr>
              </a:p>
              <a:p>
                <a:pPr lvl="1"/>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Сургалтын муруйн </a:t>
                </a:r>
                <a:r>
                  <a:rPr lang="en-US"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(learning curves)</a:t>
                </a:r>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арга </a:t>
                </a:r>
                <a:r>
                  <a:rPr lang="mn-MN" sz="12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a:t>
                </a:r>
                <a:r>
                  <a:rPr lang="mn-MN" dirty="0">
                    <a:latin typeface="Times New Roman" panose="02020603050405020304" pitchFamily="18" charset="0"/>
                    <a:ea typeface="Times New Roman" panose="02020603050405020304" pitchFamily="18" charset="0"/>
                    <a:cs typeface="Times New Roman" panose="02020603050405020304" pitchFamily="18" charset="0"/>
                  </a:rPr>
                  <a:t>Энэ арга нь бараа бүтээгдэхүүн, үйлчилгээний дахин давтагдах үйлдвэрлэлтэй байгууллагын гүйцэтгэлийг сайжруулах, ажиллагсдын бүтээмжийн өөрчлөлтийг харуулсан үнэлгээний математик загвар юм. </a:t>
                </a:r>
              </a:p>
              <a:p>
                <a:pPr lvl="1"/>
                <a:r>
                  <a:rPr lang="mn-MN" dirty="0">
                    <a:latin typeface="Times New Roman" panose="02020603050405020304" pitchFamily="18" charset="0"/>
                    <a:ea typeface="Times New Roman" panose="02020603050405020304" pitchFamily="18" charset="0"/>
                    <a:cs typeface="Times New Roman" panose="02020603050405020304" pitchFamily="18" charset="0"/>
                  </a:rPr>
                  <a:t>Заримдаа туршилтын муруй, эсвэл үйлдвэрлэлийн үйл явцын функц гэж нэрлэдэг ба энэ функц нь орц ба гарцын хамаарлыг үзүүлнэ. ТОМЪЁО:</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sz="2600" i="0">
                    <a:latin typeface="Cambria Math" panose="02040503050406030204" pitchFamily="18" charset="0"/>
                    <a:cs typeface="Times New Roman" panose="02020603050405020304" pitchFamily="18" charset="0"/>
                  </a:rPr>
                  <a:t>𝑍</a:t>
                </a:r>
                <a:r>
                  <a:rPr lang="mn-MN" sz="2600" i="0">
                    <a:latin typeface="Cambria Math" panose="02040503050406030204" pitchFamily="18" charset="0"/>
                    <a:cs typeface="Times New Roman" panose="02020603050405020304" pitchFamily="18" charset="0"/>
                  </a:rPr>
                  <a:t>_</a:t>
                </a:r>
                <a:r>
                  <a:rPr lang="en-US" sz="2600" i="0">
                    <a:latin typeface="Cambria Math" panose="02040503050406030204" pitchFamily="18" charset="0"/>
                    <a:cs typeface="Times New Roman" panose="02020603050405020304" pitchFamily="18" charset="0"/>
                  </a:rPr>
                  <a:t>𝑢</a:t>
                </a:r>
                <a:r>
                  <a:rPr lang="mn-MN" sz="2600" i="0">
                    <a:latin typeface="Cambria Math" panose="02040503050406030204" pitchFamily="18" charset="0"/>
                    <a:cs typeface="Times New Roman" panose="02020603050405020304" pitchFamily="18" charset="0"/>
                  </a:rPr>
                  <a:t>=</a:t>
                </a:r>
                <a:r>
                  <a:rPr lang="en-US" sz="2600" b="0" i="0">
                    <a:latin typeface="Cambria Math" panose="02040503050406030204" pitchFamily="18" charset="0"/>
                    <a:cs typeface="Times New Roman" panose="02020603050405020304" pitchFamily="18" charset="0"/>
                  </a:rPr>
                  <a:t>𝐾</a:t>
                </a:r>
                <a:r>
                  <a:rPr lang="en-US" sz="2600" i="0">
                    <a:latin typeface="Cambria Math" panose="02040503050406030204" pitchFamily="18" charset="0"/>
                    <a:cs typeface="Times New Roman" panose="02020603050405020304" pitchFamily="18" charset="0"/>
                  </a:rPr>
                  <a:t>(𝑢)^(𝑛</a:t>
                </a:r>
                <a:r>
                  <a:rPr lang="mn-MN" sz="2600" i="0">
                    <a:latin typeface="Cambria Math" panose="02040503050406030204" pitchFamily="18" charset="0"/>
                    <a:cs typeface="Times New Roman" panose="02020603050405020304" pitchFamily="18" charset="0"/>
                  </a:rPr>
                  <a:t> </a:t>
                </a:r>
                <a:r>
                  <a:rPr lang="en-US" sz="2600" i="0">
                    <a:latin typeface="Cambria Math" panose="02040503050406030204" pitchFamily="18" charset="0"/>
                    <a:cs typeface="Times New Roman" panose="02020603050405020304" pitchFamily="18" charset="0"/>
                  </a:rPr>
                  <a:t>)</a:t>
                </a:r>
                <a:endParaRPr lang="mn-MN" sz="2600" i="1" dirty="0">
                  <a:latin typeface="Cambria Math" panose="02040503050406030204" pitchFamily="18" charset="0"/>
                  <a:cs typeface="Times New Roman" panose="02020603050405020304" pitchFamily="18" charset="0"/>
                </a:endParaRPr>
              </a:p>
              <a:p>
                <a:pPr lvl="1"/>
                <a:r>
                  <a:rPr lang="mn-MN" dirty="0">
                    <a:latin typeface="Times New Roman" panose="02020603050405020304" pitchFamily="18" charset="0"/>
                    <a:cs typeface="Times New Roman" panose="02020603050405020304" pitchFamily="18" charset="0"/>
                  </a:rPr>
                  <a:t>энд: </a:t>
                </a:r>
                <a:r>
                  <a:rPr lang="mn-MN" i="1" cap="none"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 = </a:t>
                </a:r>
                <a:r>
                  <a:rPr lang="mn-MN" dirty="0">
                    <a:latin typeface="Times New Roman" panose="02020603050405020304" pitchFamily="18" charset="0"/>
                    <a:cs typeface="Times New Roman" panose="02020603050405020304" pitchFamily="18" charset="0"/>
                  </a:rPr>
                  <a:t>гарцын нэгж бүтээгдэхүүний дугаар; </a:t>
                </a:r>
                <a:r>
                  <a:rPr lang="mn-MN" i="1" dirty="0">
                    <a:latin typeface="Times New Roman" panose="02020603050405020304" pitchFamily="18" charset="0"/>
                    <a:cs typeface="Times New Roman" panose="02020603050405020304" pitchFamily="18" charset="0"/>
                  </a:rPr>
                  <a:t>Z</a:t>
                </a:r>
                <a:r>
                  <a:rPr lang="mn-MN" i="1" cap="none" baseline="-25000"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 гарцын </a:t>
                </a:r>
                <a:r>
                  <a:rPr lang="en-US" i="1" cap="none"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дугаар</a:t>
                </a:r>
                <a:r>
                  <a:rPr lang="en-US" dirty="0">
                    <a:latin typeface="Times New Roman" panose="02020603050405020304" pitchFamily="18" charset="0"/>
                    <a:cs typeface="Times New Roman" panose="02020603050405020304" pitchFamily="18" charset="0"/>
                  </a:rPr>
                  <a:t> </a:t>
                </a:r>
                <a:r>
                  <a:rPr lang="mn-MN" dirty="0">
                    <a:latin typeface="Times New Roman" panose="02020603050405020304" pitchFamily="18" charset="0"/>
                    <a:cs typeface="Times New Roman" panose="02020603050405020304" pitchFamily="18" charset="0"/>
                  </a:rPr>
                  <a:t>нэгж бүтээгдэхүүнийг үйлдвэрлэхэд шаардлагатай орцын нэгж нөөцийн тоо; </a:t>
                </a:r>
                <a:r>
                  <a:rPr lang="en-US" i="1" dirty="0">
                    <a:latin typeface="Times New Roman" panose="02020603050405020304" pitchFamily="18" charset="0"/>
                    <a:cs typeface="Times New Roman" panose="02020603050405020304" pitchFamily="18" charset="0"/>
                  </a:rPr>
                  <a:t>K</a:t>
                </a:r>
                <a:r>
                  <a:rPr lang="en-US" dirty="0">
                    <a:latin typeface="Times New Roman" panose="02020603050405020304" pitchFamily="18" charset="0"/>
                    <a:cs typeface="Times New Roman" panose="02020603050405020304" pitchFamily="18" charset="0"/>
                  </a:rPr>
                  <a:t> = </a:t>
                </a:r>
                <a:r>
                  <a:rPr lang="mn-MN" dirty="0">
                    <a:latin typeface="Times New Roman" panose="02020603050405020304" pitchFamily="18" charset="0"/>
                    <a:cs typeface="Times New Roman" panose="02020603050405020304" pitchFamily="18" charset="0"/>
                  </a:rPr>
                  <a:t>гарцын эхний нэгж бүтээгдэхүүнийг үйлдвэрлэхэд шаардлагатай орцын нэгж нөөцийн тоо; </a:t>
                </a:r>
                <a:r>
                  <a:rPr lang="mn-MN" i="1" cap="none"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a:t>
                </a:r>
                <a:r>
                  <a:rPr lang="mn-MN" dirty="0">
                    <a:latin typeface="Times New Roman" panose="02020603050405020304" pitchFamily="18" charset="0"/>
                    <a:cs typeface="Times New Roman" panose="02020603050405020304" pitchFamily="18" charset="0"/>
                  </a:rPr>
                  <a:t> аравтын орноор илэрхийлсэн сургалтын муруйн налуугийн үзүүлэлт (90%-ийн сургалтын муруйн хувьд </a:t>
                </a:r>
                <a:r>
                  <a:rPr lang="mn-MN" i="1" cap="none" dirty="0">
                    <a:latin typeface="Times New Roman" panose="02020603050405020304" pitchFamily="18" charset="0"/>
                    <a:cs typeface="Times New Roman" panose="02020603050405020304" pitchFamily="18" charset="0"/>
                  </a:rPr>
                  <a:t>s</a:t>
                </a:r>
                <a:r>
                  <a:rPr lang="mn-MN" dirty="0">
                    <a:latin typeface="Times New Roman" panose="02020603050405020304" pitchFamily="18" charset="0"/>
                    <a:cs typeface="Times New Roman" panose="02020603050405020304" pitchFamily="18" charset="0"/>
                  </a:rPr>
                  <a:t> = 0.9);    </a:t>
                </a:r>
                <a:r>
                  <a:rPr lang="mn-MN" i="0">
                    <a:latin typeface="Cambria Math" panose="02040503050406030204" pitchFamily="18" charset="0"/>
                  </a:rPr>
                  <a:t>𝑛=</a:t>
                </a:r>
                <a:r>
                  <a:rPr lang="mn-MN" i="0" cap="none">
                    <a:latin typeface="Cambria Math" panose="02040503050406030204" pitchFamily="18" charset="0"/>
                  </a:rPr>
                  <a:t>log</a:t>
                </a:r>
                <a:r>
                  <a:rPr lang="en-US" i="0" cap="none">
                    <a:latin typeface="Cambria Math" panose="02040503050406030204" pitchFamily="18" charset="0"/>
                  </a:rPr>
                  <a:t>⁡</a:t>
                </a:r>
                <a:r>
                  <a:rPr lang="mn-MN" i="0">
                    <a:latin typeface="Cambria Math" panose="02040503050406030204" pitchFamily="18" charset="0"/>
                  </a:rPr>
                  <a:t>𝑠</a:t>
                </a:r>
                <a:r>
                  <a:rPr lang="en-US" i="0">
                    <a:latin typeface="Cambria Math" panose="02040503050406030204" pitchFamily="18" charset="0"/>
                  </a:rPr>
                  <a:t>/</a:t>
                </a:r>
                <a:r>
                  <a:rPr lang="mn-MN" i="0" cap="none">
                    <a:latin typeface="Cambria Math" panose="02040503050406030204" pitchFamily="18" charset="0"/>
                  </a:rPr>
                  <a:t>log</a:t>
                </a:r>
                <a:r>
                  <a:rPr lang="en-US" i="0" cap="none">
                    <a:latin typeface="Cambria Math" panose="02040503050406030204" pitchFamily="18" charset="0"/>
                  </a:rPr>
                  <a:t>⁡</a:t>
                </a:r>
                <a:r>
                  <a:rPr lang="mn-MN" i="0">
                    <a:latin typeface="Cambria Math" panose="02040503050406030204" pitchFamily="18" charset="0"/>
                  </a:rPr>
                  <a:t>2 </a:t>
                </a:r>
                <a:r>
                  <a:rPr lang="mn-M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mn-MN" dirty="0">
                    <a:latin typeface="Times New Roman" panose="02020603050405020304" pitchFamily="18" charset="0"/>
                    <a:cs typeface="Times New Roman" panose="02020603050405020304" pitchFamily="18" charset="0"/>
                  </a:rPr>
                  <a:t> сургалтын муруйн экспонент. </a:t>
                </a:r>
                <a:endParaRPr lang="en-US"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mn-MN"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dirty="0"/>
              </a:p>
            </p:txBody>
          </p:sp>
        </mc:Fallback>
      </mc:AlternateContent>
      <p:sp>
        <p:nvSpPr>
          <p:cNvPr id="4" name="Slide Number Placeholder 3"/>
          <p:cNvSpPr>
            <a:spLocks noGrp="1"/>
          </p:cNvSpPr>
          <p:nvPr>
            <p:ph type="sldNum" sz="quarter" idx="5"/>
          </p:nvPr>
        </p:nvSpPr>
        <p:spPr/>
        <p:txBody>
          <a:bodyPr/>
          <a:lstStyle/>
          <a:p>
            <a:fld id="{E4CFEF27-99CE-459F-8C01-F12FB244F5E1}" type="slidenum">
              <a:rPr lang="en-US" smtClean="0"/>
              <a:t>36</a:t>
            </a:fld>
            <a:endParaRPr lang="en-US" dirty="0"/>
          </a:p>
        </p:txBody>
      </p:sp>
    </p:spTree>
    <p:extLst>
      <p:ext uri="{BB962C8B-B14F-4D97-AF65-F5344CB8AC3E}">
        <p14:creationId xmlns:p14="http://schemas.microsoft.com/office/powerpoint/2010/main" val="6466727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37</a:t>
            </a:fld>
            <a:endParaRPr lang="en-US" dirty="0"/>
          </a:p>
        </p:txBody>
      </p:sp>
    </p:spTree>
    <p:extLst>
      <p:ext uri="{BB962C8B-B14F-4D97-AF65-F5344CB8AC3E}">
        <p14:creationId xmlns:p14="http://schemas.microsoft.com/office/powerpoint/2010/main" val="37022487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38</a:t>
            </a:fld>
            <a:endParaRPr lang="en-US" dirty="0"/>
          </a:p>
        </p:txBody>
      </p:sp>
    </p:spTree>
    <p:extLst>
      <p:ext uri="{BB962C8B-B14F-4D97-AF65-F5344CB8AC3E}">
        <p14:creationId xmlns:p14="http://schemas.microsoft.com/office/powerpoint/2010/main" val="42058613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39</a:t>
            </a:fld>
            <a:endParaRPr lang="en-US" dirty="0"/>
          </a:p>
        </p:txBody>
      </p:sp>
    </p:spTree>
    <p:extLst>
      <p:ext uri="{BB962C8B-B14F-4D97-AF65-F5344CB8AC3E}">
        <p14:creationId xmlns:p14="http://schemas.microsoft.com/office/powerpoint/2010/main" val="25625482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40</a:t>
            </a:fld>
            <a:endParaRPr lang="en-US" dirty="0"/>
          </a:p>
        </p:txBody>
      </p:sp>
    </p:spTree>
    <p:extLst>
      <p:ext uri="{BB962C8B-B14F-4D97-AF65-F5344CB8AC3E}">
        <p14:creationId xmlns:p14="http://schemas.microsoft.com/office/powerpoint/2010/main" val="36643437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41</a:t>
            </a:fld>
            <a:endParaRPr lang="en-US" dirty="0"/>
          </a:p>
        </p:txBody>
      </p:sp>
    </p:spTree>
    <p:extLst>
      <p:ext uri="{BB962C8B-B14F-4D97-AF65-F5344CB8AC3E}">
        <p14:creationId xmlns:p14="http://schemas.microsoft.com/office/powerpoint/2010/main" val="1646389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3/11/2024</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3/11/2024</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tiff"/></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tiff"/></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4490-C09C-F2C1-1BED-C30E9C6493C0}"/>
              </a:ext>
            </a:extLst>
          </p:cNvPr>
          <p:cNvSpPr>
            <a:spLocks noGrp="1"/>
          </p:cNvSpPr>
          <p:nvPr>
            <p:ph type="ctrTitle"/>
          </p:nvPr>
        </p:nvSpPr>
        <p:spPr>
          <a:xfrm>
            <a:off x="1524000" y="1380225"/>
            <a:ext cx="10195249" cy="1828799"/>
          </a:xfrm>
        </p:spPr>
        <p:txBody>
          <a:bodyPr>
            <a:noAutofit/>
          </a:bodyPr>
          <a:lstStyle/>
          <a:p>
            <a:r>
              <a:rPr lang="mn-MN" sz="4800" b="1" dirty="0">
                <a:solidFill>
                  <a:srgbClr val="002060"/>
                </a:solidFill>
                <a:latin typeface="Times New Roman" panose="02020603050405020304" pitchFamily="18" charset="0"/>
                <a:cs typeface="Times New Roman" panose="02020603050405020304" pitchFamily="18" charset="0"/>
              </a:rPr>
              <a:t>Лекц 6.</a:t>
            </a:r>
            <a:br>
              <a:rPr lang="en-US" sz="4800" b="1" dirty="0">
                <a:solidFill>
                  <a:srgbClr val="002060"/>
                </a:solidFill>
                <a:latin typeface="Times New Roman" panose="02020603050405020304" pitchFamily="18" charset="0"/>
                <a:cs typeface="Times New Roman" panose="02020603050405020304" pitchFamily="18" charset="0"/>
              </a:rPr>
            </a:br>
            <a:r>
              <a:rPr lang="mn-MN" b="1" dirty="0">
                <a:solidFill>
                  <a:srgbClr val="002060"/>
                </a:solidFill>
                <a:latin typeface="Times New Roman" panose="02020603050405020304" pitchFamily="18" charset="0"/>
                <a:cs typeface="Times New Roman" panose="02020603050405020304" pitchFamily="18" charset="0"/>
              </a:rPr>
              <a:t>Зардал, зардлын ангилал</a:t>
            </a:r>
            <a:endParaRPr lang="en-US" sz="4800" b="1"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4687C9-0602-4AB3-C68B-47EB63DFD361}"/>
              </a:ext>
            </a:extLst>
          </p:cNvPr>
          <p:cNvSpPr>
            <a:spLocks noGrp="1"/>
          </p:cNvSpPr>
          <p:nvPr>
            <p:ph type="subTitle" idx="1"/>
          </p:nvPr>
        </p:nvSpPr>
        <p:spPr>
          <a:xfrm>
            <a:off x="1524000" y="5497475"/>
            <a:ext cx="9144000" cy="871267"/>
          </a:xfrm>
        </p:spPr>
        <p:txBody>
          <a:bodyPr>
            <a:normAutofit lnSpcReduction="10000"/>
          </a:bodyPr>
          <a:lstStyle/>
          <a:p>
            <a:r>
              <a:rPr lang="mn-MN" dirty="0">
                <a:solidFill>
                  <a:srgbClr val="002060"/>
                </a:solidFill>
                <a:latin typeface="Times New Roman" panose="02020603050405020304" pitchFamily="18" charset="0"/>
                <a:cs typeface="Times New Roman" panose="02020603050405020304" pitchFamily="18" charset="0"/>
              </a:rPr>
              <a:t>ШУТИС-ийн МХТС, холбооны салбарын багш Ц.Балжинням</a:t>
            </a:r>
          </a:p>
          <a:p>
            <a:r>
              <a:rPr lang="mn-MN" dirty="0">
                <a:solidFill>
                  <a:srgbClr val="002060"/>
                </a:solidFill>
                <a:latin typeface="Times New Roman" panose="02020603050405020304" pitchFamily="18" charset="0"/>
                <a:cs typeface="Times New Roman" panose="02020603050405020304" pitchFamily="18" charset="0"/>
              </a:rPr>
              <a:t>Улаанбаатар хот. 2023-24.Хавар.</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AB551975-1CE2-308D-D250-4B65BD2EFC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458" y="16278"/>
            <a:ext cx="4957464" cy="1363947"/>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493B6D6-2330-40E5-BEBE-D3505B39EAF9}"/>
              </a:ext>
            </a:extLst>
          </p:cNvPr>
          <p:cNvSpPr txBox="1">
            <a:spLocks/>
          </p:cNvSpPr>
          <p:nvPr/>
        </p:nvSpPr>
        <p:spPr>
          <a:xfrm>
            <a:off x="1751012" y="3905250"/>
            <a:ext cx="8689976" cy="133954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a:t>
            </a:r>
            <a:r>
              <a:rPr lang="ru-RU"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a:t>
            </a: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EEM101  </a:t>
            </a:r>
            <a:b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Инженерчлэлийн эдийн засаг</a:t>
            </a:r>
            <a:b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3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745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0" y="53008"/>
            <a:ext cx="10515600" cy="782823"/>
          </a:xfrm>
        </p:spPr>
        <p:txBody>
          <a:bodyPr>
            <a:normAutofit fontScale="90000"/>
          </a:bodyPr>
          <a:lstStyle/>
          <a:p>
            <a:r>
              <a:rPr lang="mn-MN" sz="3600" b="1" dirty="0">
                <a:solidFill>
                  <a:srgbClr val="002060"/>
                </a:solidFill>
                <a:latin typeface="Times New Roman" panose="02020603050405020304" pitchFamily="18" charset="0"/>
                <a:cs typeface="Times New Roman" panose="02020603050405020304" pitchFamily="18" charset="0"/>
              </a:rPr>
              <a:t>Хичээлийн суралцахуйн үр дүнгүүд </a:t>
            </a:r>
            <a:br>
              <a:rPr lang="mn-MN" sz="3600" b="1" dirty="0">
                <a:solidFill>
                  <a:srgbClr val="002060"/>
                </a:solidFill>
                <a:latin typeface="Times New Roman" panose="02020603050405020304" pitchFamily="18" charset="0"/>
                <a:cs typeface="Times New Roman" panose="02020603050405020304" pitchFamily="18" charset="0"/>
              </a:rPr>
            </a:br>
            <a:r>
              <a:rPr lang="mn-MN" sz="20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sz="3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DFE0557-5EF0-6AAF-FD86-D7A6892F3C29}"/>
              </a:ext>
            </a:extLst>
          </p:cNvPr>
          <p:cNvGraphicFramePr>
            <a:graphicFrameLocks noGrp="1"/>
          </p:cNvGraphicFramePr>
          <p:nvPr>
            <p:ph idx="1"/>
          </p:nvPr>
        </p:nvGraphicFramePr>
        <p:xfrm>
          <a:off x="72887" y="928597"/>
          <a:ext cx="12046225" cy="5110428"/>
        </p:xfrm>
        <a:graphic>
          <a:graphicData uri="http://schemas.openxmlformats.org/drawingml/2006/table">
            <a:tbl>
              <a:tblPr firstRow="1" bandRow="1">
                <a:tableStyleId>{5C22544A-7EE6-4342-B048-85BDC9FD1C3A}</a:tableStyleId>
              </a:tblPr>
              <a:tblGrid>
                <a:gridCol w="587622">
                  <a:extLst>
                    <a:ext uri="{9D8B030D-6E8A-4147-A177-3AD203B41FA5}">
                      <a16:colId xmlns:a16="http://schemas.microsoft.com/office/drawing/2014/main" val="78146492"/>
                    </a:ext>
                  </a:extLst>
                </a:gridCol>
                <a:gridCol w="5181747">
                  <a:extLst>
                    <a:ext uri="{9D8B030D-6E8A-4147-A177-3AD203B41FA5}">
                      <a16:colId xmlns:a16="http://schemas.microsoft.com/office/drawing/2014/main" val="2993372031"/>
                    </a:ext>
                  </a:extLst>
                </a:gridCol>
                <a:gridCol w="2804431">
                  <a:extLst>
                    <a:ext uri="{9D8B030D-6E8A-4147-A177-3AD203B41FA5}">
                      <a16:colId xmlns:a16="http://schemas.microsoft.com/office/drawing/2014/main" val="3377302877"/>
                    </a:ext>
                  </a:extLst>
                </a:gridCol>
                <a:gridCol w="2160461">
                  <a:extLst>
                    <a:ext uri="{9D8B030D-6E8A-4147-A177-3AD203B41FA5}">
                      <a16:colId xmlns:a16="http://schemas.microsoft.com/office/drawing/2014/main" val="574671118"/>
                    </a:ext>
                  </a:extLst>
                </a:gridCol>
                <a:gridCol w="1311964">
                  <a:extLst>
                    <a:ext uri="{9D8B030D-6E8A-4147-A177-3AD203B41FA5}">
                      <a16:colId xmlns:a16="http://schemas.microsoft.com/office/drawing/2014/main" val="1155244748"/>
                    </a:ext>
                  </a:extLst>
                </a:gridCol>
              </a:tblGrid>
              <a:tr h="1142767">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дүнгийн түвшин</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406793">
                <a:tc>
                  <a:txBody>
                    <a:bodyPr/>
                    <a:lstStyle/>
                    <a:p>
                      <a:pPr algn="ctr">
                        <a:lnSpc>
                          <a:spcPct val="115000"/>
                        </a:lnSpc>
                        <a:spcAft>
                          <a:spcPts val="0"/>
                        </a:spcAft>
                      </a:pPr>
                      <a:r>
                        <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a:lnSpc>
                          <a:spcPct val="115000"/>
                        </a:lnSpc>
                        <a:spcAft>
                          <a:spcPts val="0"/>
                        </a:spcAft>
                      </a:pPr>
                      <a:r>
                        <a:rPr lang="mn-M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Зардал, орлого, ашгийн тухай үндсэн ойлголт</a:t>
                      </a:r>
                      <a:endPar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115000"/>
                        </a:lnSpc>
                        <a:spcAft>
                          <a:spcPts val="0"/>
                        </a:spcAft>
                        <a:tabLst>
                          <a:tab pos="2343150" algn="l"/>
                        </a:tabLst>
                      </a:pPr>
                      <a:r>
                        <a:rPr lang="mn-MN"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Тайлбарлах</a:t>
                      </a:r>
                      <a:r>
                        <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 (explain)</a:t>
                      </a:r>
                      <a:endParaRPr lang="mn-MN"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Ойлгох</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lnSpc>
                          <a:spcPct val="115000"/>
                        </a:lnSpc>
                        <a:spcAft>
                          <a:spcPts val="0"/>
                        </a:spcAft>
                      </a:pPr>
                      <a:r>
                        <a:rPr lang="mn-MN"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1</a:t>
                      </a:r>
                      <a:endPar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3954028067"/>
                  </a:ext>
                </a:extLst>
              </a:tr>
              <a:tr h="631109">
                <a:tc>
                  <a:txBody>
                    <a:bodyPr/>
                    <a:lstStyle/>
                    <a:p>
                      <a:pPr algn="ctr">
                        <a:lnSpc>
                          <a:spcPct val="115000"/>
                        </a:lnSpc>
                        <a:spcAft>
                          <a:spcPts val="0"/>
                        </a:spcAft>
                      </a:pPr>
                      <a:r>
                        <a:rPr lang="en-US" sz="200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p>
                  </a:txBody>
                  <a:tcPr marL="68586" marR="68586" marT="0" marB="0" anchor="ctr">
                    <a:solidFill>
                      <a:schemeClr val="accent1">
                        <a:lumMod val="20000"/>
                        <a:lumOff val="80000"/>
                      </a:schemeClr>
                    </a:solidFill>
                  </a:tcPr>
                </a:tc>
                <a:tc>
                  <a:txBody>
                    <a:bodyPr/>
                    <a:lstStyle/>
                    <a:p>
                      <a:pPr>
                        <a:lnSpc>
                          <a:spcPct val="115000"/>
                        </a:lnSpc>
                        <a:spcAft>
                          <a:spcPts val="0"/>
                        </a:spcAft>
                      </a:pPr>
                      <a:r>
                        <a:rPr lang="mn-M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Зардлын ангилал, төрлийн талаар ойлгож тэдгээрийг харьцуулан ялгааг тодорхойлох</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mn-MN"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Тодорхойлох </a:t>
                      </a:r>
                      <a:r>
                        <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(Define)</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Хэрэглэх</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lnSpc>
                          <a:spcPct val="115000"/>
                        </a:lnSpc>
                        <a:spcAft>
                          <a:spcPts val="0"/>
                        </a:spcAft>
                      </a:pPr>
                      <a:r>
                        <a:rPr lang="mn-MN"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1</a:t>
                      </a:r>
                      <a:endPar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1491289944"/>
                  </a:ext>
                </a:extLst>
              </a:tr>
              <a:tr h="1085685">
                <a:tc>
                  <a:txBody>
                    <a:bodyPr/>
                    <a:lstStyle/>
                    <a:p>
                      <a:pPr algn="ctr">
                        <a:lnSpc>
                          <a:spcPct val="115000"/>
                        </a:lnSpc>
                        <a:spcAft>
                          <a:spcPts val="0"/>
                        </a:spcAft>
                      </a:pPr>
                      <a:r>
                        <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p>
                  </a:txBody>
                  <a:tcPr marL="68586" marR="68586" marT="0" marB="0" anchor="ctr">
                    <a:solidFill>
                      <a:schemeClr val="accent1">
                        <a:lumMod val="20000"/>
                        <a:lumOff val="80000"/>
                      </a:schemeClr>
                    </a:solidFill>
                  </a:tcPr>
                </a:tc>
                <a:tc>
                  <a:txBody>
                    <a:bodyPr/>
                    <a:lstStyle/>
                    <a:p>
                      <a:pPr>
                        <a:lnSpc>
                          <a:spcPct val="115000"/>
                        </a:lnSpc>
                        <a:spcAft>
                          <a:spcPts val="0"/>
                        </a:spcAft>
                      </a:pPr>
                      <a:r>
                        <a:rPr lang="mn-M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Бүтээгдэхүүн, үйлчилгээний  амьдралын мөчлөг ба түүний зардлын хамаарлыг дүгнэн шинжлэх </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algn="ctr">
                        <a:lnSpc>
                          <a:spcPct val="115000"/>
                        </a:lnSpc>
                        <a:spcAft>
                          <a:spcPts val="0"/>
                        </a:spcAft>
                      </a:pPr>
                      <a:r>
                        <a:rPr lang="mn-MN"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Шинжлэх </a:t>
                      </a:r>
                      <a:r>
                        <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(Analyze)</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Хэрэглэх</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lnSpc>
                          <a:spcPct val="115000"/>
                        </a:lnSpc>
                        <a:spcAft>
                          <a:spcPts val="0"/>
                        </a:spcAft>
                      </a:pPr>
                      <a:r>
                        <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3,</a:t>
                      </a:r>
                      <a:r>
                        <a:rPr lang="en-US" sz="2000" baseline="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 5</a:t>
                      </a:r>
                      <a:endPar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776309308"/>
                  </a:ext>
                </a:extLst>
              </a:tr>
              <a:tr h="716588">
                <a:tc>
                  <a:txBody>
                    <a:bodyPr/>
                    <a:lstStyle/>
                    <a:p>
                      <a:pPr algn="ctr">
                        <a:lnSpc>
                          <a:spcPct val="115000"/>
                        </a:lnSpc>
                        <a:spcAft>
                          <a:spcPts val="0"/>
                        </a:spcAft>
                      </a:pPr>
                      <a:r>
                        <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p>
                  </a:txBody>
                  <a:tcPr marL="68586" marR="68586" marT="0" marB="0" anchor="ctr">
                    <a:solidFill>
                      <a:schemeClr val="accent1">
                        <a:lumMod val="20000"/>
                        <a:lumOff val="80000"/>
                      </a:schemeClr>
                    </a:solidFill>
                  </a:tcPr>
                </a:tc>
                <a:tc>
                  <a:txBody>
                    <a:bodyPr/>
                    <a:lstStyle/>
                    <a:p>
                      <a:pPr>
                        <a:lnSpc>
                          <a:spcPct val="115000"/>
                        </a:lnSpc>
                        <a:spcAft>
                          <a:spcPts val="0"/>
                        </a:spcAft>
                      </a:pPr>
                      <a:r>
                        <a:rPr lang="mn-MN" sz="2000" kern="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Эдийн засгийн орчин, түүний бүтцийг тодорхойлох</a:t>
                      </a:r>
                      <a:endParaRPr lang="en-US" sz="2000" kern="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mn-MN"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Тодорхойлох </a:t>
                      </a:r>
                      <a:r>
                        <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(Define)</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ea typeface="Times New Roman" panose="02020603050405020304" pitchFamily="18" charset="0"/>
                          <a:cs typeface="Times New Roman" panose="02020603050405020304" pitchFamily="18" charset="0"/>
                        </a:rPr>
                        <a:t>Х</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эрэглэх</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algn="ctr">
                        <a:lnSpc>
                          <a:spcPct val="115000"/>
                        </a:lnSpc>
                        <a:spcAft>
                          <a:spcPts val="0"/>
                        </a:spcAft>
                      </a:pPr>
                      <a:r>
                        <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extLst>
                  <a:ext uri="{0D108BD9-81ED-4DB2-BD59-A6C34878D82A}">
                    <a16:rowId xmlns:a16="http://schemas.microsoft.com/office/drawing/2014/main" val="3810878109"/>
                  </a:ext>
                </a:extLst>
              </a:tr>
              <a:tr h="1085685">
                <a:tc>
                  <a:txBody>
                    <a:bodyPr/>
                    <a:lstStyle/>
                    <a:p>
                      <a:pPr algn="ctr">
                        <a:lnSpc>
                          <a:spcPct val="115000"/>
                        </a:lnSpc>
                        <a:spcAft>
                          <a:spcPts val="0"/>
                        </a:spcAft>
                      </a:pPr>
                      <a:r>
                        <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5</a:t>
                      </a:r>
                    </a:p>
                  </a:txBody>
                  <a:tcPr marL="68586" marR="68586" marT="0" marB="0" anchor="ctr">
                    <a:solidFill>
                      <a:schemeClr val="accent1">
                        <a:lumMod val="20000"/>
                        <a:lumOff val="80000"/>
                      </a:schemeClr>
                    </a:solidFill>
                  </a:tcPr>
                </a:tc>
                <a:tc>
                  <a:txBody>
                    <a:bodyPr/>
                    <a:lstStyle/>
                    <a:p>
                      <a:pPr algn="just">
                        <a:lnSpc>
                          <a:spcPct val="115000"/>
                        </a:lnSpc>
                        <a:spcAft>
                          <a:spcPts val="0"/>
                        </a:spcAft>
                      </a:pPr>
                      <a:r>
                        <a:rPr lang="mn-MN" sz="2000" kern="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Зардлыг тооцох замаар зохиомжийг оновчтой болгох ерөнхий арга замыг тодорхойлох</a:t>
                      </a:r>
                      <a:endParaRPr lang="en-US" sz="2000" kern="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1">
                        <a:lumMod val="20000"/>
                        <a:lumOff val="80000"/>
                      </a:schemeClr>
                    </a:solid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mn-MN"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Тодорхойлох </a:t>
                      </a:r>
                      <a:r>
                        <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(Define)</a:t>
                      </a: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ea typeface="Times New Roman" panose="02020603050405020304" pitchFamily="18" charset="0"/>
                          <a:cs typeface="Times New Roman" panose="02020603050405020304" pitchFamily="18" charset="0"/>
                        </a:rPr>
                        <a:t>Х</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эрэглэх</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3,</a:t>
                      </a:r>
                      <a:r>
                        <a:rPr lang="en-US" sz="2000" baseline="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 5</a:t>
                      </a:r>
                      <a:endParaRPr lang="en-US" sz="20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162539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134938" y="57150"/>
            <a:ext cx="10515600" cy="409634"/>
          </a:xfrm>
        </p:spPr>
        <p:txBody>
          <a:bodyPr>
            <a:noAutofit/>
          </a:bodyPr>
          <a:lstStyle/>
          <a:p>
            <a:r>
              <a:rPr lang="mn-MN" b="1" dirty="0">
                <a:solidFill>
                  <a:srgbClr val="002060"/>
                </a:solidFill>
                <a:latin typeface="Times New Roman" panose="02020603050405020304" pitchFamily="18" charset="0"/>
                <a:cs typeface="Times New Roman" panose="02020603050405020304" pitchFamily="18" charset="0"/>
              </a:rPr>
              <a:t>Хичээлийн агуулга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8" name="Text Placeholder 7">
            <a:extLst>
              <a:ext uri="{FF2B5EF4-FFF2-40B4-BE49-F238E27FC236}">
                <a16:creationId xmlns:a16="http://schemas.microsoft.com/office/drawing/2014/main" id="{5D83A399-B221-21B2-6218-8C53D7E67B76}"/>
              </a:ext>
            </a:extLst>
          </p:cNvPr>
          <p:cNvSpPr>
            <a:spLocks noGrp="1"/>
          </p:cNvSpPr>
          <p:nvPr>
            <p:ph type="body" idx="1"/>
          </p:nvPr>
        </p:nvSpPr>
        <p:spPr>
          <a:xfrm>
            <a:off x="134938" y="519112"/>
            <a:ext cx="4608511" cy="490537"/>
          </a:xfrm>
        </p:spPr>
        <p:txBody>
          <a:bodyPr>
            <a:noAutofit/>
          </a:bodyPr>
          <a:lstStyle/>
          <a:p>
            <a:r>
              <a:rPr lang="mn-MN" sz="2800" dirty="0">
                <a:solidFill>
                  <a:srgbClr val="002060"/>
                </a:solidFill>
                <a:latin typeface="Times New Roman" panose="02020603050405020304" pitchFamily="18" charset="0"/>
                <a:cs typeface="Times New Roman" panose="02020603050405020304" pitchFamily="18" charset="0"/>
              </a:rPr>
              <a:t>Зардал, зардлын ангилал</a:t>
            </a: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sz="half" idx="2"/>
          </p:nvPr>
        </p:nvSpPr>
        <p:spPr>
          <a:xfrm>
            <a:off x="263528" y="1061976"/>
            <a:ext cx="4041772" cy="5534143"/>
          </a:xfrm>
        </p:spPr>
        <p:txBody>
          <a:bodyPr>
            <a:normAutofit fontScale="92500" lnSpcReduction="20000"/>
          </a:bodyPr>
          <a:lstStyle/>
          <a:p>
            <a:pPr marL="0" indent="0">
              <a:buNone/>
            </a:pPr>
            <a:r>
              <a:rPr lang="ru-RU" sz="2400" dirty="0">
                <a:solidFill>
                  <a:srgbClr val="002060"/>
                </a:solidFill>
                <a:latin typeface="Times New Roman" panose="02020603050405020304" pitchFamily="18" charset="0"/>
                <a:cs typeface="Times New Roman" panose="02020603050405020304" pitchFamily="18" charset="0"/>
              </a:rPr>
              <a:t>Эдийн засгийн ерөнхий орчин</a:t>
            </a:r>
            <a:endParaRPr lang="mn-MN" sz="2400" dirty="0">
              <a:solidFill>
                <a:srgbClr val="002060"/>
              </a:solidFill>
              <a:latin typeface="Times New Roman" panose="02020603050405020304" pitchFamily="18" charset="0"/>
              <a:cs typeface="Times New Roman" panose="02020603050405020304" pitchFamily="18" charset="0"/>
            </a:endParaRPr>
          </a:p>
          <a:p>
            <a:pPr marL="342900" indent="-342900">
              <a:buAutoNum type="arabicPeriod"/>
            </a:pPr>
            <a:r>
              <a:rPr lang="mn-MN" sz="2000" dirty="0">
                <a:solidFill>
                  <a:srgbClr val="002060"/>
                </a:solidFill>
                <a:latin typeface="Times New Roman" panose="02020603050405020304" pitchFamily="18" charset="0"/>
                <a:cs typeface="Times New Roman" panose="02020603050405020304" pitchFamily="18" charset="0"/>
              </a:rPr>
              <a:t>Эдийн засгийн үнийн хэмжүүр</a:t>
            </a:r>
          </a:p>
          <a:p>
            <a:pPr marL="342900" indent="-342900">
              <a:buAutoNum type="arabicPeriod"/>
            </a:pPr>
            <a:r>
              <a:rPr lang="mn-MN" sz="1800" dirty="0">
                <a:solidFill>
                  <a:srgbClr val="002060"/>
                </a:solidFill>
                <a:latin typeface="Times New Roman" panose="02020603050405020304" pitchFamily="18" charset="0"/>
                <a:cs typeface="Times New Roman" panose="02020603050405020304" pitchFamily="18" charset="0"/>
              </a:rPr>
              <a:t>Эдийн засгийн үнэ ба эрэлт</a:t>
            </a:r>
          </a:p>
          <a:p>
            <a:pPr marL="342900" indent="-342900">
              <a:buAutoNum type="arabicPeriod"/>
            </a:pPr>
            <a:r>
              <a:rPr lang="mn-MN" sz="1800" dirty="0">
                <a:solidFill>
                  <a:srgbClr val="002060"/>
                </a:solidFill>
                <a:latin typeface="Times New Roman" panose="02020603050405020304" pitchFamily="18" charset="0"/>
                <a:cs typeface="Times New Roman" panose="02020603050405020304" pitchFamily="18" charset="0"/>
              </a:rPr>
              <a:t>Нийт орлогын функц</a:t>
            </a:r>
          </a:p>
          <a:p>
            <a:pPr marL="342900" indent="-342900">
              <a:buAutoNum type="arabicPeriod"/>
            </a:pPr>
            <a:r>
              <a:rPr lang="mn-MN" sz="1800" dirty="0">
                <a:solidFill>
                  <a:srgbClr val="002060"/>
                </a:solidFill>
                <a:latin typeface="Times New Roman" panose="02020603050405020304" pitchFamily="18" charset="0"/>
                <a:cs typeface="Times New Roman" panose="02020603050405020304" pitchFamily="18" charset="0"/>
              </a:rPr>
              <a:t>Зардал, тоо хэмжээ ба хугарлын цэгийн хамаарал</a:t>
            </a:r>
          </a:p>
          <a:p>
            <a:pPr marL="520700" lvl="1" indent="-342900">
              <a:buAutoNum type="arabicPeriod"/>
            </a:pPr>
            <a:r>
              <a:rPr lang="mn-MN" sz="1800" dirty="0">
                <a:solidFill>
                  <a:srgbClr val="002060"/>
                </a:solidFill>
                <a:latin typeface="Times New Roman" panose="02020603050405020304" pitchFamily="18" charset="0"/>
                <a:cs typeface="Times New Roman" panose="02020603050405020304" pitchFamily="18" charset="0"/>
              </a:rPr>
              <a:t>Хугарлын цэг тодорхойлох </a:t>
            </a:r>
            <a:r>
              <a:rPr lang="en-US" sz="1800" dirty="0">
                <a:solidFill>
                  <a:srgbClr val="002060"/>
                </a:solidFill>
                <a:latin typeface="Times New Roman" panose="02020603050405020304" pitchFamily="18" charset="0"/>
                <a:cs typeface="Times New Roman" panose="02020603050405020304" pitchFamily="18" charset="0"/>
              </a:rPr>
              <a:t>I </a:t>
            </a:r>
            <a:r>
              <a:rPr lang="mn-MN" sz="1800" dirty="0">
                <a:solidFill>
                  <a:srgbClr val="002060"/>
                </a:solidFill>
                <a:latin typeface="Times New Roman" panose="02020603050405020304" pitchFamily="18" charset="0"/>
                <a:cs typeface="Times New Roman" panose="02020603050405020304" pitchFamily="18" charset="0"/>
              </a:rPr>
              <a:t>хувилбар</a:t>
            </a:r>
          </a:p>
          <a:p>
            <a:pPr marL="520700" lvl="1" indent="-342900">
              <a:buAutoNum type="arabicPeriod"/>
            </a:pPr>
            <a:r>
              <a:rPr lang="mn-MN" sz="1800" dirty="0">
                <a:solidFill>
                  <a:srgbClr val="002060"/>
                </a:solidFill>
                <a:latin typeface="Times New Roman" panose="02020603050405020304" pitchFamily="18" charset="0"/>
                <a:cs typeface="Times New Roman" panose="02020603050405020304" pitchFamily="18" charset="0"/>
              </a:rPr>
              <a:t>Хугарлын цэг тодорхойлох </a:t>
            </a:r>
            <a:r>
              <a:rPr lang="en-US" sz="1800" dirty="0">
                <a:solidFill>
                  <a:srgbClr val="002060"/>
                </a:solidFill>
                <a:latin typeface="Times New Roman" panose="02020603050405020304" pitchFamily="18" charset="0"/>
                <a:cs typeface="Times New Roman" panose="02020603050405020304" pitchFamily="18" charset="0"/>
              </a:rPr>
              <a:t>II </a:t>
            </a:r>
            <a:r>
              <a:rPr lang="mn-MN" sz="1800" dirty="0">
                <a:solidFill>
                  <a:srgbClr val="002060"/>
                </a:solidFill>
                <a:latin typeface="Times New Roman" panose="02020603050405020304" pitchFamily="18" charset="0"/>
                <a:cs typeface="Times New Roman" panose="02020603050405020304" pitchFamily="18" charset="0"/>
              </a:rPr>
              <a:t>хувилбар</a:t>
            </a:r>
          </a:p>
          <a:p>
            <a:pPr marL="342900" indent="-342900">
              <a:buAutoNum type="arabicPeriod"/>
              <a:tabLst>
                <a:tab pos="342900" algn="l"/>
              </a:tabLst>
            </a:pPr>
            <a:r>
              <a:rPr lang="mn-MN" sz="2000" dirty="0">
                <a:solidFill>
                  <a:srgbClr val="002060"/>
                </a:solidFill>
                <a:latin typeface="Times New Roman" panose="02020603050405020304" pitchFamily="18" charset="0"/>
                <a:cs typeface="Times New Roman" panose="02020603050405020304" pitchFamily="18" charset="0"/>
              </a:rPr>
              <a:t>Одоогийн эдийн засгийн шинжилгээ</a:t>
            </a:r>
          </a:p>
          <a:p>
            <a:pPr marL="342900" indent="-342900">
              <a:buFont typeface="+mj-lt"/>
              <a:buAutoNum type="arabicPeriod"/>
              <a:tabLst>
                <a:tab pos="342900" algn="l"/>
              </a:tabLst>
            </a:pPr>
            <a:r>
              <a:rPr lang="mn-MN" sz="2400" dirty="0">
                <a:solidFill>
                  <a:srgbClr val="002060"/>
                </a:solidFill>
                <a:latin typeface="Times New Roman" panose="02020603050405020304" pitchFamily="18" charset="0"/>
                <a:cs typeface="Times New Roman" panose="02020603050405020304" pitchFamily="18" charset="0"/>
              </a:rPr>
              <a:t>Зардлын үнэлгээний аргууд</a:t>
            </a:r>
          </a:p>
          <a:p>
            <a:pPr marL="520700" lvl="1" indent="-342900">
              <a:buFont typeface="+mj-lt"/>
              <a:buAutoNum type="arabicPeriod"/>
            </a:pPr>
            <a:r>
              <a:rPr lang="mn-MN" sz="1800" dirty="0">
                <a:solidFill>
                  <a:srgbClr val="002060"/>
                </a:solidFill>
                <a:latin typeface="Times New Roman" panose="02020603050405020304" pitchFamily="18" charset="0"/>
                <a:cs typeface="Times New Roman" panose="02020603050405020304" pitchFamily="18" charset="0"/>
              </a:rPr>
              <a:t>Өртөг, зардлыг тооцох хандлага</a:t>
            </a:r>
          </a:p>
          <a:p>
            <a:pPr marL="520700" lvl="1" indent="-342900">
              <a:buFont typeface="+mj-lt"/>
              <a:buAutoNum type="arabicPeriod"/>
            </a:pPr>
            <a:r>
              <a:rPr lang="mn-MN" sz="2000" dirty="0">
                <a:solidFill>
                  <a:srgbClr val="002060"/>
                </a:solidFill>
                <a:latin typeface="Times New Roman" panose="02020603050405020304" pitchFamily="18" charset="0"/>
                <a:cs typeface="Times New Roman" panose="02020603050405020304" pitchFamily="18" charset="0"/>
              </a:rPr>
              <a:t>Зардлын үнэлгээний нэгдсэн арга</a:t>
            </a:r>
            <a:endParaRPr lang="en-US" sz="2000" dirty="0">
              <a:solidFill>
                <a:srgbClr val="002060"/>
              </a:solidFill>
              <a:latin typeface="Times New Roman" panose="02020603050405020304" pitchFamily="18" charset="0"/>
              <a:cs typeface="Times New Roman" panose="02020603050405020304" pitchFamily="18" charset="0"/>
            </a:endParaRPr>
          </a:p>
          <a:p>
            <a:pPr marL="914400" lvl="2" indent="-393700">
              <a:buNone/>
            </a:pPr>
            <a:r>
              <a:rPr lang="en-US" dirty="0">
                <a:solidFill>
                  <a:srgbClr val="002060"/>
                </a:solidFill>
                <a:latin typeface="Times New Roman" panose="02020603050405020304" pitchFamily="18" charset="0"/>
                <a:cs typeface="Times New Roman" panose="02020603050405020304" pitchFamily="18" charset="0"/>
              </a:rPr>
              <a:t>I. </a:t>
            </a:r>
            <a:r>
              <a:rPr lang="mn-MN" sz="1800" dirty="0">
                <a:solidFill>
                  <a:srgbClr val="002060"/>
                </a:solidFill>
                <a:latin typeface="Times New Roman" panose="02020603050405020304" pitchFamily="18" charset="0"/>
                <a:cs typeface="Times New Roman" panose="02020603050405020304" pitchFamily="18" charset="0"/>
              </a:rPr>
              <a:t>Ажлын задаргааны бүтэц (</a:t>
            </a:r>
            <a:r>
              <a:rPr lang="en-US" sz="1800" dirty="0">
                <a:solidFill>
                  <a:srgbClr val="002060"/>
                </a:solidFill>
                <a:latin typeface="Times New Roman" panose="02020603050405020304" pitchFamily="18" charset="0"/>
                <a:cs typeface="Times New Roman" panose="02020603050405020304" pitchFamily="18" charset="0"/>
              </a:rPr>
              <a:t>WBS) </a:t>
            </a:r>
          </a:p>
          <a:p>
            <a:pPr marL="914400" lvl="2" indent="-393700">
              <a:buNone/>
            </a:pPr>
            <a:r>
              <a:rPr lang="en-US" sz="1800" dirty="0">
                <a:solidFill>
                  <a:srgbClr val="002060"/>
                </a:solidFill>
                <a:latin typeface="Times New Roman" panose="02020603050405020304" pitchFamily="18" charset="0"/>
                <a:cs typeface="Times New Roman" panose="02020603050405020304" pitchFamily="18" charset="0"/>
              </a:rPr>
              <a:t>II. </a:t>
            </a:r>
            <a:r>
              <a:rPr lang="mn-MN" sz="1800" dirty="0">
                <a:solidFill>
                  <a:srgbClr val="002060"/>
                </a:solidFill>
                <a:latin typeface="Times New Roman" panose="02020603050405020304" pitchFamily="18" charset="0"/>
                <a:cs typeface="Times New Roman" panose="02020603050405020304" pitchFamily="18" charset="0"/>
              </a:rPr>
              <a:t>Зардал ба орлогын бүтэц (ангилал) </a:t>
            </a:r>
            <a:endParaRPr lang="en-US" sz="1800" dirty="0">
              <a:solidFill>
                <a:srgbClr val="002060"/>
              </a:solidFill>
              <a:latin typeface="Times New Roman" panose="02020603050405020304" pitchFamily="18" charset="0"/>
              <a:cs typeface="Times New Roman" panose="02020603050405020304" pitchFamily="18" charset="0"/>
            </a:endParaRPr>
          </a:p>
          <a:p>
            <a:pPr marL="914400" lvl="2" indent="-393700">
              <a:buNone/>
            </a:pPr>
            <a:r>
              <a:rPr lang="en-US" sz="1800" dirty="0">
                <a:solidFill>
                  <a:srgbClr val="002060"/>
                </a:solidFill>
                <a:latin typeface="Times New Roman" panose="02020603050405020304" pitchFamily="18" charset="0"/>
                <a:cs typeface="Times New Roman" panose="02020603050405020304" pitchFamily="18" charset="0"/>
              </a:rPr>
              <a:t>III. </a:t>
            </a:r>
            <a:r>
              <a:rPr lang="mn-MN" sz="1800" dirty="0">
                <a:solidFill>
                  <a:srgbClr val="002060"/>
                </a:solidFill>
                <a:latin typeface="Times New Roman" panose="02020603050405020304" pitchFamily="18" charset="0"/>
                <a:cs typeface="Times New Roman" panose="02020603050405020304" pitchFamily="18" charset="0"/>
              </a:rPr>
              <a:t>Үнэлгээний аргууд (загварууд)</a:t>
            </a:r>
            <a:endParaRPr lang="en-US" sz="1800" dirty="0">
              <a:solidFill>
                <a:srgbClr val="002060"/>
              </a:solidFill>
              <a:latin typeface="Times New Roman" panose="02020603050405020304" pitchFamily="18" charset="0"/>
              <a:cs typeface="Times New Roman" panose="02020603050405020304" pitchFamily="18" charset="0"/>
            </a:endParaRPr>
          </a:p>
        </p:txBody>
      </p:sp>
      <p:sp>
        <p:nvSpPr>
          <p:cNvPr id="9" name="Text Placeholder 8">
            <a:extLst>
              <a:ext uri="{FF2B5EF4-FFF2-40B4-BE49-F238E27FC236}">
                <a16:creationId xmlns:a16="http://schemas.microsoft.com/office/drawing/2014/main" id="{1FA2CA0F-1958-F2B4-C907-1AFB7D5059F2}"/>
              </a:ext>
            </a:extLst>
          </p:cNvPr>
          <p:cNvSpPr>
            <a:spLocks noGrp="1"/>
          </p:cNvSpPr>
          <p:nvPr>
            <p:ph type="body" sz="quarter" idx="3"/>
          </p:nvPr>
        </p:nvSpPr>
        <p:spPr>
          <a:xfrm>
            <a:off x="5392738" y="249972"/>
            <a:ext cx="6272211" cy="823912"/>
          </a:xfrm>
        </p:spPr>
        <p:txBody>
          <a:bodyPr>
            <a:normAutofit lnSpcReduction="10000"/>
          </a:bodyPr>
          <a:lstStyle/>
          <a:p>
            <a:r>
              <a:rPr lang="mn-MN" sz="2800" dirty="0">
                <a:solidFill>
                  <a:srgbClr val="002060"/>
                </a:solidFill>
                <a:latin typeface="Times New Roman" panose="02020603050405020304" pitchFamily="18" charset="0"/>
                <a:cs typeface="Times New Roman" panose="02020603050405020304" pitchFamily="18" charset="0"/>
              </a:rPr>
              <a:t>Үйлдвэрлэл, үйл ажиллагааны нийт зардлын тооцоо</a:t>
            </a:r>
            <a:endParaRPr lang="en-US" sz="28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85F75839-6B3D-DFF7-3ADF-EE2EC8A0B087}"/>
              </a:ext>
            </a:extLst>
          </p:cNvPr>
          <p:cNvSpPr>
            <a:spLocks noGrp="1"/>
          </p:cNvSpPr>
          <p:nvPr>
            <p:ph sz="quarter" idx="4"/>
          </p:nvPr>
        </p:nvSpPr>
        <p:spPr>
          <a:xfrm>
            <a:off x="4451349" y="1073884"/>
            <a:ext cx="7740651" cy="5534144"/>
          </a:xfrm>
        </p:spPr>
        <p:txBody>
          <a:bodyPr>
            <a:noAutofit/>
          </a:bodyPr>
          <a:lstStyle/>
          <a:p>
            <a:r>
              <a:rPr lang="mn-MN" sz="1800" dirty="0">
                <a:solidFill>
                  <a:srgbClr val="002060"/>
                </a:solidFill>
                <a:latin typeface="Times New Roman" panose="02020603050405020304" pitchFamily="18" charset="0"/>
                <a:cs typeface="Times New Roman" panose="02020603050405020304" pitchFamily="18" charset="0"/>
              </a:rPr>
              <a:t>Үндсэн хөрөнгө, капиталын зардлын хүснэгт</a:t>
            </a:r>
          </a:p>
          <a:p>
            <a:r>
              <a:rPr lang="mn-MN" sz="1800" dirty="0">
                <a:solidFill>
                  <a:srgbClr val="002060"/>
                </a:solidFill>
                <a:latin typeface="Times New Roman" panose="02020603050405020304" pitchFamily="18" charset="0"/>
                <a:cs typeface="Times New Roman" panose="02020603050405020304" pitchFamily="18" charset="0"/>
              </a:rPr>
              <a:t>Түүхий эд, материалын зардлын хүснэгт</a:t>
            </a:r>
          </a:p>
          <a:p>
            <a:r>
              <a:rPr lang="mn-MN" sz="1800" dirty="0">
                <a:solidFill>
                  <a:srgbClr val="002060"/>
                </a:solidFill>
                <a:latin typeface="Times New Roman" panose="02020603050405020304" pitchFamily="18" charset="0"/>
                <a:cs typeface="Times New Roman" panose="02020603050405020304" pitchFamily="18" charset="0"/>
              </a:rPr>
              <a:t>Тогтмол ба хийснээрх цалингийн зардлын хүснэгт</a:t>
            </a:r>
          </a:p>
          <a:p>
            <a:r>
              <a:rPr lang="mn-MN" sz="1800" dirty="0">
                <a:solidFill>
                  <a:srgbClr val="002060"/>
                </a:solidFill>
                <a:latin typeface="Times New Roman" panose="02020603050405020304" pitchFamily="18" charset="0"/>
                <a:cs typeface="Times New Roman" panose="02020603050405020304" pitchFamily="18" charset="0"/>
              </a:rPr>
              <a:t>НДШ-ийн хувь хэмжээ, түүний өөрчлөлт</a:t>
            </a:r>
          </a:p>
          <a:p>
            <a:r>
              <a:rPr lang="mn-MN" sz="1800" dirty="0">
                <a:solidFill>
                  <a:srgbClr val="002060"/>
                </a:solidFill>
                <a:latin typeface="Times New Roman" panose="02020603050405020304" pitchFamily="18" charset="0"/>
                <a:cs typeface="Times New Roman" panose="02020603050405020304" pitchFamily="18" charset="0"/>
              </a:rPr>
              <a:t>Цахилгаан, дулаан, уур усны зардлын хүснэгт, тарифын эх үүсвэр</a:t>
            </a:r>
          </a:p>
          <a:p>
            <a:r>
              <a:rPr lang="mn-MN" sz="1800" dirty="0">
                <a:solidFill>
                  <a:srgbClr val="002060"/>
                </a:solidFill>
                <a:latin typeface="Times New Roman" panose="02020603050405020304" pitchFamily="18" charset="0"/>
                <a:cs typeface="Times New Roman" panose="02020603050405020304" pitchFamily="18" charset="0"/>
              </a:rPr>
              <a:t>Түрээсийн зардлын хүснэгт</a:t>
            </a:r>
          </a:p>
          <a:p>
            <a:r>
              <a:rPr lang="mn-MN" sz="1800" dirty="0">
                <a:solidFill>
                  <a:srgbClr val="002060"/>
                </a:solidFill>
                <a:latin typeface="Times New Roman" panose="02020603050405020304" pitchFamily="18" charset="0"/>
                <a:cs typeface="Times New Roman" panose="02020603050405020304" pitchFamily="18" charset="0"/>
              </a:rPr>
              <a:t>ЭХШ-ийн зардлын хүснэгт</a:t>
            </a:r>
          </a:p>
          <a:p>
            <a:r>
              <a:rPr lang="mn-MN" sz="1800" dirty="0">
                <a:solidFill>
                  <a:srgbClr val="002060"/>
                </a:solidFill>
                <a:latin typeface="Times New Roman" panose="02020603050405020304" pitchFamily="18" charset="0"/>
                <a:cs typeface="Times New Roman" panose="02020603050405020304" pitchFamily="18" charset="0"/>
              </a:rPr>
              <a:t>Харилцаа, холбооны зардлын төрлүүд</a:t>
            </a:r>
          </a:p>
          <a:p>
            <a:r>
              <a:rPr lang="mn-MN" sz="1800" dirty="0">
                <a:solidFill>
                  <a:srgbClr val="002060"/>
                </a:solidFill>
                <a:latin typeface="Times New Roman" panose="02020603050405020304" pitchFamily="18" charset="0"/>
                <a:cs typeface="Times New Roman" panose="02020603050405020304" pitchFamily="18" charset="0"/>
              </a:rPr>
              <a:t>Хөдөлмөр хамгааллын зардлын хүснэгт</a:t>
            </a:r>
          </a:p>
          <a:p>
            <a:r>
              <a:rPr lang="mn-MN" sz="1800" dirty="0">
                <a:solidFill>
                  <a:srgbClr val="002060"/>
                </a:solidFill>
                <a:latin typeface="Times New Roman" panose="02020603050405020304" pitchFamily="18" charset="0"/>
                <a:cs typeface="Times New Roman" panose="02020603050405020304" pitchFamily="18" charset="0"/>
              </a:rPr>
              <a:t>Зээлийн хүүгийн зардлын тооцоолол</a:t>
            </a:r>
          </a:p>
          <a:p>
            <a:r>
              <a:rPr lang="mn-MN" sz="1800" dirty="0">
                <a:solidFill>
                  <a:srgbClr val="002060"/>
                </a:solidFill>
                <a:latin typeface="Times New Roman" panose="02020603050405020304" pitchFamily="18" charset="0"/>
                <a:cs typeface="Times New Roman" panose="02020603050405020304" pitchFamily="18" charset="0"/>
              </a:rPr>
              <a:t>Сав, баглаа боодлын зардлын хүснэгт</a:t>
            </a:r>
          </a:p>
          <a:p>
            <a:r>
              <a:rPr lang="mn-MN" sz="1800" dirty="0">
                <a:solidFill>
                  <a:srgbClr val="002060"/>
                </a:solidFill>
                <a:latin typeface="Times New Roman" panose="02020603050405020304" pitchFamily="18" charset="0"/>
                <a:cs typeface="Times New Roman" panose="02020603050405020304" pitchFamily="18" charset="0"/>
              </a:rPr>
              <a:t>Тээврийн зардлын тооцоо</a:t>
            </a:r>
          </a:p>
          <a:p>
            <a:r>
              <a:rPr lang="mn-MN" sz="1800" dirty="0">
                <a:solidFill>
                  <a:srgbClr val="002060"/>
                </a:solidFill>
                <a:latin typeface="Times New Roman" panose="02020603050405020304" pitchFamily="18" charset="0"/>
                <a:cs typeface="Times New Roman" panose="02020603050405020304" pitchFamily="18" charset="0"/>
              </a:rPr>
              <a:t>Захиргаа удирдлагын зардлын төрлүүд</a:t>
            </a:r>
          </a:p>
          <a:p>
            <a:r>
              <a:rPr lang="mn-MN" sz="1800" dirty="0">
                <a:solidFill>
                  <a:srgbClr val="002060"/>
                </a:solidFill>
                <a:latin typeface="Times New Roman" panose="02020603050405020304" pitchFamily="18" charset="0"/>
                <a:cs typeface="Times New Roman" panose="02020603050405020304" pitchFamily="18" charset="0"/>
              </a:rPr>
              <a:t>Борлуулалт, маркетингийн зардлын тооцоо</a:t>
            </a:r>
          </a:p>
          <a:p>
            <a:r>
              <a:rPr lang="mn-MN" sz="1800" dirty="0">
                <a:solidFill>
                  <a:srgbClr val="002060"/>
                </a:solidFill>
                <a:latin typeface="Times New Roman" panose="02020603050405020304" pitchFamily="18" charset="0"/>
                <a:cs typeface="Times New Roman" panose="02020603050405020304" pitchFamily="18" charset="0"/>
              </a:rPr>
              <a:t>Бусад зардал (хог хаягдал, судалгаа, сургалт)</a:t>
            </a:r>
            <a:endParaRPr lang="en-US" sz="1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905BE94-9712-B2EE-E70D-ED5DC7A65FBE}"/>
              </a:ext>
            </a:extLst>
          </p:cNvPr>
          <p:cNvSpPr txBox="1"/>
          <p:nvPr/>
        </p:nvSpPr>
        <p:spPr>
          <a:xfrm>
            <a:off x="9203532" y="3255943"/>
            <a:ext cx="2894012" cy="2862322"/>
          </a:xfrm>
          <a:prstGeom prst="rect">
            <a:avLst/>
          </a:prstGeom>
          <a:solidFill>
            <a:schemeClr val="accent6">
              <a:lumMod val="20000"/>
              <a:lumOff val="80000"/>
            </a:schemeClr>
          </a:solidFill>
        </p:spPr>
        <p:txBody>
          <a:bodyPr wrap="square">
            <a:spAutoFit/>
          </a:bodyPr>
          <a:lstStyle/>
          <a:p>
            <a:r>
              <a:rPr lang="mn-MN" dirty="0">
                <a:solidFill>
                  <a:srgbClr val="002060"/>
                </a:solidFill>
                <a:latin typeface="Times New Roman" panose="02020603050405020304" pitchFamily="18" charset="0"/>
                <a:cs typeface="Times New Roman" panose="02020603050405020304" pitchFamily="18" charset="0"/>
              </a:rPr>
              <a:t>1. Д.Алтанцэцэг нарын бүтээл, “Бизнесийн удирдлагын үндэс”, 2013</a:t>
            </a:r>
          </a:p>
          <a:p>
            <a:r>
              <a:rPr lang="mn-MN" dirty="0">
                <a:solidFill>
                  <a:srgbClr val="002060"/>
                </a:solidFill>
                <a:latin typeface="Times New Roman" panose="02020603050405020304" pitchFamily="18" charset="0"/>
                <a:cs typeface="Times New Roman" panose="02020603050405020304" pitchFamily="18" charset="0"/>
              </a:rPr>
              <a:t>2. П.Одмаа, “Бизнес төсөл боловсруулах аргачилсан зөвлөмж”, 2009.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6р бүлэг</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н хүснэгтүүдийг бичил төсөл дээрээ сайн ашиглаарай. Бодлого зохиох 146х-НДШ,   </a:t>
            </a:r>
            <a:r>
              <a:rPr lang="en-US" dirty="0">
                <a:solidFill>
                  <a:srgbClr val="002060"/>
                </a:solidFill>
                <a:latin typeface="Times New Roman" panose="02020603050405020304" pitchFamily="18" charset="0"/>
                <a:cs typeface="Times New Roman" panose="02020603050405020304" pitchFamily="18" charset="0"/>
              </a:rPr>
              <a:t>)</a:t>
            </a:r>
            <a:endParaRPr lang="mn-M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91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BF22B-BF01-3332-3992-3613EF47B6C1}"/>
              </a:ext>
            </a:extLst>
          </p:cNvPr>
          <p:cNvSpPr>
            <a:spLocks noGrp="1"/>
          </p:cNvSpPr>
          <p:nvPr>
            <p:ph type="title"/>
          </p:nvPr>
        </p:nvSpPr>
        <p:spPr>
          <a:xfrm>
            <a:off x="190500" y="98427"/>
            <a:ext cx="11715750" cy="644524"/>
          </a:xfrm>
        </p:spPr>
        <p:txBody>
          <a:bodyPr>
            <a:normAutofit/>
          </a:bodyPr>
          <a:lstStyle/>
          <a:p>
            <a:r>
              <a:rPr lang="mn-MN" sz="3600" b="1" dirty="0">
                <a:solidFill>
                  <a:srgbClr val="002060"/>
                </a:solidFill>
                <a:latin typeface="Times New Roman" panose="02020603050405020304" pitchFamily="18" charset="0"/>
                <a:cs typeface="Times New Roman" panose="02020603050405020304" pitchFamily="18" charset="0"/>
              </a:rPr>
              <a:t>Зардал, тодорхойлолт </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2402DA-F39E-B568-1D00-4B907CAB2CDA}"/>
              </a:ext>
            </a:extLst>
          </p:cNvPr>
          <p:cNvSpPr>
            <a:spLocks noGrp="1"/>
          </p:cNvSpPr>
          <p:nvPr>
            <p:ph idx="1"/>
          </p:nvPr>
        </p:nvSpPr>
        <p:spPr>
          <a:xfrm>
            <a:off x="190500" y="640896"/>
            <a:ext cx="11715750" cy="6118677"/>
          </a:xfrm>
        </p:spPr>
        <p:txBody>
          <a:bodyPr>
            <a:normAutofit lnSpcReduction="10000"/>
          </a:bodyPr>
          <a:lstStyle/>
          <a:p>
            <a:pPr algn="just"/>
            <a:r>
              <a:rPr lang="mn-MN" sz="3600" b="1" dirty="0">
                <a:solidFill>
                  <a:schemeClr val="accent2">
                    <a:lumMod val="75000"/>
                  </a:schemeClr>
                </a:solidFill>
                <a:latin typeface="Times New Roman" panose="02020603050405020304" pitchFamily="18" charset="0"/>
                <a:cs typeface="Times New Roman" panose="02020603050405020304" pitchFamily="18" charset="0"/>
              </a:rPr>
              <a:t>Зардал</a:t>
            </a:r>
            <a:r>
              <a:rPr lang="mn-MN" sz="3600" dirty="0">
                <a:solidFill>
                  <a:srgbClr val="002060"/>
                </a:solidFill>
                <a:latin typeface="Times New Roman" panose="02020603050405020304" pitchFamily="18" charset="0"/>
                <a:cs typeface="Times New Roman" panose="02020603050405020304" pitchFamily="18" charset="0"/>
              </a:rPr>
              <a:t> – </a:t>
            </a:r>
            <a:endParaRPr lang="en-US" sz="3600" dirty="0">
              <a:solidFill>
                <a:srgbClr val="002060"/>
              </a:solidFill>
              <a:latin typeface="Times New Roman" panose="02020603050405020304" pitchFamily="18" charset="0"/>
              <a:cs typeface="Times New Roman" panose="02020603050405020304" pitchFamily="18" charset="0"/>
            </a:endParaRPr>
          </a:p>
          <a:p>
            <a:pPr lvl="1" algn="just"/>
            <a:r>
              <a:rPr lang="mn-MN" sz="3200" dirty="0">
                <a:solidFill>
                  <a:srgbClr val="002060"/>
                </a:solidFill>
                <a:latin typeface="Times New Roman" panose="02020603050405020304" pitchFamily="18" charset="0"/>
                <a:cs typeface="Times New Roman" panose="02020603050405020304" pitchFamily="18" charset="0"/>
              </a:rPr>
              <a:t>Аливаа үйл ажиллагааг явуулахтай холбогдон гарч байгаа хөрөнгө, хөдөлмөрийн зарцуулалт, бас өр төлбөрийг үүсгэж өмчийг бууруулж байдаг эдийн засгийн өгөөжийн бууралт. </a:t>
            </a:r>
            <a:endParaRPr lang="en-US" sz="3200" dirty="0">
              <a:solidFill>
                <a:srgbClr val="002060"/>
              </a:solidFill>
              <a:latin typeface="Times New Roman" panose="02020603050405020304" pitchFamily="18" charset="0"/>
              <a:cs typeface="Times New Roman" panose="02020603050405020304" pitchFamily="18" charset="0"/>
            </a:endParaRPr>
          </a:p>
          <a:p>
            <a:pPr lvl="1" algn="just"/>
            <a:r>
              <a:rPr lang="mn-MN" sz="3200" dirty="0">
                <a:solidFill>
                  <a:srgbClr val="002060"/>
                </a:solidFill>
                <a:latin typeface="Times New Roman" panose="02020603050405020304" pitchFamily="18" charset="0"/>
                <a:cs typeface="Times New Roman" panose="02020603050405020304" pitchFamily="18" charset="0"/>
              </a:rPr>
              <a:t>Ирээдүйд өгөөжөө өгөх зүйлийг бий болгохын тулд зарцуулж байгаа хөрөнгө. </a:t>
            </a:r>
          </a:p>
          <a:p>
            <a:pPr lvl="1" algn="just"/>
            <a:r>
              <a:rPr lang="mn-MN" sz="3200" dirty="0">
                <a:solidFill>
                  <a:srgbClr val="002060"/>
                </a:solidFill>
                <a:latin typeface="Times New Roman" panose="02020603050405020304" pitchFamily="18" charset="0"/>
                <a:cs typeface="Times New Roman" panose="02020603050405020304" pitchFamily="18" charset="0"/>
              </a:rPr>
              <a:t>Аливаа үйл ажиллагааг явуулахтай холбогдон гарч байгаа хөрөнгө бөгөөд ашиг олохын тулд золиосолж байгаа солилцооны үнэ. </a:t>
            </a:r>
          </a:p>
          <a:p>
            <a:pPr algn="just"/>
            <a:r>
              <a:rPr lang="mn-MN" sz="3600" b="1" dirty="0">
                <a:solidFill>
                  <a:schemeClr val="accent2">
                    <a:lumMod val="75000"/>
                  </a:schemeClr>
                </a:solidFill>
                <a:latin typeface="Times New Roman" panose="02020603050405020304" pitchFamily="18" charset="0"/>
                <a:cs typeface="Times New Roman" panose="02020603050405020304" pitchFamily="18" charset="0"/>
              </a:rPr>
              <a:t>Өртөг</a:t>
            </a:r>
            <a:r>
              <a:rPr lang="mn-MN" sz="3600" dirty="0">
                <a:solidFill>
                  <a:srgbClr val="002060"/>
                </a:solidFill>
                <a:latin typeface="Times New Roman" panose="02020603050405020304" pitchFamily="18" charset="0"/>
                <a:cs typeface="Times New Roman" panose="02020603050405020304" pitchFamily="18" charset="0"/>
              </a:rPr>
              <a:t> – Бараа үйлчилгээг олж авах, үйлдвэрлэх болон засварлахын тулд гарч байгаа зардлуудыг тодорхой цаг хугацаагаар аль нэг үйл ажиллагааны объектод зааглан хуримтлуулсныг хэлнэ. </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961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55E4A-3B79-4744-C3D8-13B7C2D71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99C3B-A7EF-C49B-00AA-6D3C5813FB68}"/>
              </a:ext>
            </a:extLst>
          </p:cNvPr>
          <p:cNvSpPr>
            <a:spLocks noGrp="1"/>
          </p:cNvSpPr>
          <p:nvPr>
            <p:ph type="title"/>
          </p:nvPr>
        </p:nvSpPr>
        <p:spPr>
          <a:xfrm>
            <a:off x="209550" y="250825"/>
            <a:ext cx="11696700" cy="454025"/>
          </a:xfrm>
        </p:spPr>
        <p:txBody>
          <a:bodyPr>
            <a:noAutofit/>
          </a:bodyPr>
          <a:lstStyle/>
          <a:p>
            <a:r>
              <a:rPr lang="mn-MN" sz="4800" b="1" dirty="0">
                <a:solidFill>
                  <a:srgbClr val="002060"/>
                </a:solidFill>
                <a:latin typeface="Times New Roman" panose="02020603050405020304" pitchFamily="18" charset="0"/>
                <a:cs typeface="Times New Roman" panose="02020603050405020304" pitchFamily="18" charset="0"/>
              </a:rPr>
              <a:t>Зардал, тэдгээрийн ангилал</a:t>
            </a: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A148B84-4254-D87B-B19D-6769575B0496}"/>
              </a:ext>
            </a:extLst>
          </p:cNvPr>
          <p:cNvSpPr>
            <a:spLocks noGrp="1"/>
          </p:cNvSpPr>
          <p:nvPr>
            <p:ph idx="1"/>
          </p:nvPr>
        </p:nvSpPr>
        <p:spPr>
          <a:xfrm>
            <a:off x="209550" y="928688"/>
            <a:ext cx="11696700" cy="5148262"/>
          </a:xfrm>
        </p:spPr>
        <p:txBody>
          <a:bodyPr>
            <a:normAutofit/>
          </a:bodyPr>
          <a:lstStyle/>
          <a:p>
            <a:pPr algn="just"/>
            <a:r>
              <a:rPr lang="mn-MN" sz="4400" dirty="0">
                <a:solidFill>
                  <a:srgbClr val="002060"/>
                </a:solidFill>
                <a:latin typeface="Times New Roman" panose="02020603050405020304" pitchFamily="18" charset="0"/>
                <a:cs typeface="Times New Roman" panose="02020603050405020304" pitchFamily="18" charset="0"/>
              </a:rPr>
              <a:t>Гарсан цаг хугацаатай нь уялдуулан</a:t>
            </a:r>
          </a:p>
          <a:p>
            <a:pPr lvl="1" algn="just"/>
            <a:r>
              <a:rPr lang="mn-MN" sz="4000" b="1" dirty="0">
                <a:solidFill>
                  <a:schemeClr val="accent2">
                    <a:lumMod val="75000"/>
                  </a:schemeClr>
                </a:solidFill>
                <a:latin typeface="Times New Roman" panose="02020603050405020304" pitchFamily="18" charset="0"/>
                <a:cs typeface="Times New Roman" panose="02020603050405020304" pitchFamily="18" charset="0"/>
              </a:rPr>
              <a:t>Түүхэн зардал</a:t>
            </a:r>
            <a:r>
              <a:rPr lang="mn-MN" sz="4000" b="1" dirty="0">
                <a:solidFill>
                  <a:srgbClr val="002060"/>
                </a:solidFill>
                <a:latin typeface="Times New Roman" panose="02020603050405020304" pitchFamily="18" charset="0"/>
                <a:cs typeface="Times New Roman" panose="02020603050405020304" pitchFamily="18" charset="0"/>
              </a:rPr>
              <a:t> </a:t>
            </a:r>
            <a:r>
              <a:rPr lang="mn-MN" sz="4000" dirty="0">
                <a:solidFill>
                  <a:srgbClr val="002060"/>
                </a:solidFill>
                <a:latin typeface="Times New Roman" panose="02020603050405020304" pitchFamily="18" charset="0"/>
                <a:cs typeface="Times New Roman" panose="02020603050405020304" pitchFamily="18" charset="0"/>
              </a:rPr>
              <a:t>– Өнгөрсөн үеийн зардал. </a:t>
            </a:r>
          </a:p>
          <a:p>
            <a:pPr lvl="2" algn="just"/>
            <a:r>
              <a:rPr lang="mn-MN" sz="3600" dirty="0">
                <a:solidFill>
                  <a:srgbClr val="002060"/>
                </a:solidFill>
                <a:latin typeface="Times New Roman" panose="02020603050405020304" pitchFamily="18" charset="0"/>
                <a:cs typeface="Times New Roman" panose="02020603050405020304" pitchFamily="18" charset="0"/>
              </a:rPr>
              <a:t>Шинжилгээ хийхэд ашиглагдана. </a:t>
            </a:r>
          </a:p>
          <a:p>
            <a:pPr lvl="1" algn="just"/>
            <a:r>
              <a:rPr lang="mn-MN" sz="4000" b="1" dirty="0">
                <a:solidFill>
                  <a:schemeClr val="accent2">
                    <a:lumMod val="75000"/>
                  </a:schemeClr>
                </a:solidFill>
                <a:latin typeface="Times New Roman" panose="02020603050405020304" pitchFamily="18" charset="0"/>
                <a:cs typeface="Times New Roman" panose="02020603050405020304" pitchFamily="18" charset="0"/>
              </a:rPr>
              <a:t>Тухайн тайлангийн</a:t>
            </a:r>
            <a:r>
              <a:rPr lang="mn-MN" sz="4000" dirty="0">
                <a:solidFill>
                  <a:srgbClr val="002060"/>
                </a:solidFill>
                <a:latin typeface="Times New Roman" panose="02020603050405020304" pitchFamily="18" charset="0"/>
                <a:cs typeface="Times New Roman" panose="02020603050405020304" pitchFamily="18" charset="0"/>
              </a:rPr>
              <a:t> </a:t>
            </a:r>
            <a:r>
              <a:rPr lang="mn-MN" sz="4000" b="1" dirty="0">
                <a:solidFill>
                  <a:schemeClr val="accent2">
                    <a:lumMod val="75000"/>
                  </a:schemeClr>
                </a:solidFill>
                <a:latin typeface="Times New Roman" panose="02020603050405020304" pitchFamily="18" charset="0"/>
                <a:cs typeface="Times New Roman" panose="02020603050405020304" pitchFamily="18" charset="0"/>
              </a:rPr>
              <a:t>зардал</a:t>
            </a:r>
            <a:r>
              <a:rPr lang="mn-MN" sz="4000" dirty="0">
                <a:solidFill>
                  <a:srgbClr val="002060"/>
                </a:solidFill>
                <a:latin typeface="Times New Roman" panose="02020603050405020304" pitchFamily="18" charset="0"/>
                <a:cs typeface="Times New Roman" panose="02020603050405020304" pitchFamily="18" charset="0"/>
              </a:rPr>
              <a:t>– Одоо үеийн зардал. </a:t>
            </a:r>
          </a:p>
          <a:p>
            <a:pPr lvl="1" algn="just"/>
            <a:r>
              <a:rPr lang="mn-MN" sz="4000" b="1" dirty="0">
                <a:solidFill>
                  <a:schemeClr val="accent2">
                    <a:lumMod val="75000"/>
                  </a:schemeClr>
                </a:solidFill>
                <a:latin typeface="Times New Roman" panose="02020603050405020304" pitchFamily="18" charset="0"/>
                <a:cs typeface="Times New Roman" panose="02020603050405020304" pitchFamily="18" charset="0"/>
              </a:rPr>
              <a:t>Төсөвлөгдсөн</a:t>
            </a:r>
            <a:r>
              <a:rPr lang="mn-MN" sz="4000" b="1" dirty="0">
                <a:solidFill>
                  <a:srgbClr val="002060"/>
                </a:solidFill>
                <a:latin typeface="Times New Roman" panose="02020603050405020304" pitchFamily="18" charset="0"/>
                <a:cs typeface="Times New Roman" panose="02020603050405020304" pitchFamily="18" charset="0"/>
              </a:rPr>
              <a:t> </a:t>
            </a:r>
            <a:r>
              <a:rPr lang="mn-MN" sz="4000" b="1" dirty="0">
                <a:solidFill>
                  <a:schemeClr val="accent2">
                    <a:lumMod val="75000"/>
                  </a:schemeClr>
                </a:solidFill>
                <a:latin typeface="Times New Roman" panose="02020603050405020304" pitchFamily="18" charset="0"/>
                <a:cs typeface="Times New Roman" panose="02020603050405020304" pitchFamily="18" charset="0"/>
              </a:rPr>
              <a:t>зардал </a:t>
            </a:r>
            <a:r>
              <a:rPr lang="mn-MN" sz="4000" dirty="0">
                <a:solidFill>
                  <a:srgbClr val="002060"/>
                </a:solidFill>
                <a:latin typeface="Times New Roman" panose="02020603050405020304" pitchFamily="18" charset="0"/>
                <a:cs typeface="Times New Roman" panose="02020603050405020304" pitchFamily="18" charset="0"/>
              </a:rPr>
              <a:t>– Ирээдүй үеийн зардал. </a:t>
            </a:r>
          </a:p>
          <a:p>
            <a:pPr lvl="2" algn="just"/>
            <a:r>
              <a:rPr lang="mn-MN" sz="3600" dirty="0">
                <a:solidFill>
                  <a:srgbClr val="002060"/>
                </a:solidFill>
                <a:latin typeface="Times New Roman" panose="02020603050405020304" pitchFamily="18" charset="0"/>
                <a:cs typeface="Times New Roman" panose="02020603050405020304" pitchFamily="18" charset="0"/>
              </a:rPr>
              <a:t>Удирдлагад шийдвэр гаргахад нь дэмжих мэдээлэл болно.</a:t>
            </a:r>
          </a:p>
        </p:txBody>
      </p:sp>
    </p:spTree>
    <p:extLst>
      <p:ext uri="{BB962C8B-B14F-4D97-AF65-F5344CB8AC3E}">
        <p14:creationId xmlns:p14="http://schemas.microsoft.com/office/powerpoint/2010/main" val="1519984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9C871-A635-C72A-5366-CC8EA303F97C}"/>
              </a:ext>
            </a:extLst>
          </p:cNvPr>
          <p:cNvSpPr>
            <a:spLocks noGrp="1"/>
          </p:cNvSpPr>
          <p:nvPr>
            <p:ph type="title"/>
          </p:nvPr>
        </p:nvSpPr>
        <p:spPr>
          <a:xfrm>
            <a:off x="202095" y="166344"/>
            <a:ext cx="10515600" cy="350491"/>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1. Зардал, орлого, тэдгээрийн ангилал</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51E1F9-D8D6-526C-A096-3EC13C2BCF9E}"/>
              </a:ext>
            </a:extLst>
          </p:cNvPr>
          <p:cNvSpPr>
            <a:spLocks noGrp="1"/>
          </p:cNvSpPr>
          <p:nvPr>
            <p:ph idx="1"/>
          </p:nvPr>
        </p:nvSpPr>
        <p:spPr>
          <a:xfrm>
            <a:off x="126939" y="504309"/>
            <a:ext cx="11787810" cy="6341165"/>
          </a:xfrm>
        </p:spPr>
        <p:txBody>
          <a:bodyPr>
            <a:normAutofit fontScale="92500" lnSpcReduction="20000"/>
          </a:bodyPr>
          <a:lstStyle/>
          <a:p>
            <a:pPr algn="just">
              <a:lnSpc>
                <a:spcPct val="100000"/>
              </a:lnSpc>
              <a:spcBef>
                <a:spcPts val="0"/>
              </a:spcBef>
            </a:pPr>
            <a:r>
              <a:rPr lang="mn-MN" sz="3600" dirty="0">
                <a:solidFill>
                  <a:srgbClr val="002060"/>
                </a:solidFill>
                <a:latin typeface="Times New Roman" panose="02020603050405020304" pitchFamily="18" charset="0"/>
                <a:cs typeface="Times New Roman" panose="02020603050405020304" pitchFamily="18" charset="0"/>
              </a:rPr>
              <a:t>ИЭЗ-ийн шинжилгээнд тооцох ёстой олон төрлийн зардлууд байдаг. Эдгээр зардлууд үүсэх давтамж, харьцангуй хэмжээ, судалгаанд нөлөөлөх  байдлаараа ялгаатай.</a:t>
            </a:r>
          </a:p>
          <a:p>
            <a:pPr algn="just">
              <a:lnSpc>
                <a:spcPct val="100000"/>
              </a:lnSpc>
              <a:spcBef>
                <a:spcPts val="0"/>
              </a:spcBef>
            </a:pPr>
            <a:r>
              <a:rPr lang="mn-MN" sz="3600" dirty="0">
                <a:solidFill>
                  <a:srgbClr val="002060"/>
                </a:solidFill>
                <a:latin typeface="Times New Roman" panose="02020603050405020304" pitchFamily="18" charset="0"/>
                <a:cs typeface="Times New Roman" panose="02020603050405020304" pitchFamily="18" charset="0"/>
              </a:rPr>
              <a:t>Үйлдвэрлэлийн хэмжээтэй уялдуулан</a:t>
            </a:r>
          </a:p>
          <a:p>
            <a:pPr lvl="1" algn="just">
              <a:lnSpc>
                <a:spcPct val="100000"/>
              </a:lnSpc>
              <a:spcBef>
                <a:spcPts val="0"/>
              </a:spcBef>
            </a:pPr>
            <a:r>
              <a:rPr lang="mn-MN" sz="3200" b="1" dirty="0">
                <a:solidFill>
                  <a:schemeClr val="accent2">
                    <a:lumMod val="75000"/>
                  </a:schemeClr>
                </a:solidFill>
                <a:latin typeface="Times New Roman" panose="02020603050405020304" pitchFamily="18" charset="0"/>
                <a:cs typeface="Times New Roman" panose="02020603050405020304" pitchFamily="18" charset="0"/>
              </a:rPr>
              <a:t>Тогтмол зардал: </a:t>
            </a:r>
            <a:r>
              <a:rPr lang="mn-MN" sz="3200" dirty="0">
                <a:solidFill>
                  <a:srgbClr val="002060"/>
                </a:solidFill>
                <a:latin typeface="Times New Roman" panose="02020603050405020304" pitchFamily="18" charset="0"/>
                <a:cs typeface="Times New Roman" panose="02020603050405020304" pitchFamily="18" charset="0"/>
              </a:rPr>
              <a:t>Үйлдвэрлэлийн үйл ажиллагааны өөрчлөлтөөс хамаардаггүй зардал. </a:t>
            </a:r>
          </a:p>
          <a:p>
            <a:pPr lvl="2" algn="just">
              <a:lnSpc>
                <a:spcPct val="10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Үүнд: эд юмсын даатгал, татвар, ерөнхий удирдлага ба захиргааны зардал (цалин г.м.), лицензийн төлбөр, зээлийн хөрөнгө (капитал)-ийн хүүгийн зардал.</a:t>
            </a:r>
          </a:p>
          <a:p>
            <a:pPr lvl="1" algn="just">
              <a:lnSpc>
                <a:spcPct val="100000"/>
              </a:lnSpc>
              <a:spcBef>
                <a:spcPts val="0"/>
              </a:spcBef>
            </a:pPr>
            <a:r>
              <a:rPr lang="mn-MN" sz="3200" b="1" dirty="0">
                <a:solidFill>
                  <a:schemeClr val="accent2">
                    <a:lumMod val="75000"/>
                  </a:schemeClr>
                </a:solidFill>
                <a:latin typeface="Times New Roman" panose="02020603050405020304" pitchFamily="18" charset="0"/>
                <a:cs typeface="Times New Roman" panose="02020603050405020304" pitchFamily="18" charset="0"/>
              </a:rPr>
              <a:t>Хувьсах зардал: </a:t>
            </a:r>
            <a:r>
              <a:rPr lang="mn-MN" sz="3200" dirty="0">
                <a:solidFill>
                  <a:srgbClr val="002060"/>
                </a:solidFill>
                <a:latin typeface="Times New Roman" panose="02020603050405020304" pitchFamily="18" charset="0"/>
                <a:cs typeface="Times New Roman" panose="02020603050405020304" pitchFamily="18" charset="0"/>
              </a:rPr>
              <a:t>Бүтээгдэхүүн, үйлчилгээний тоо хэмжээнээс шууд хамаардаг зардал. Эдгээр зардлуудын хувьд нэгж бүтээгдэхүүнд зарцуулагдах зардлын хэмжээ өөрчлөгдөөгүй байсан ч эцсийн бүтээгдэхүүний тоо хэмжээнээс хамаарч, нийт зардлын хэмжээ өөрчлөгдөж байдаг.</a:t>
            </a:r>
          </a:p>
          <a:p>
            <a:pPr lvl="2" algn="just">
              <a:lnSpc>
                <a:spcPct val="10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Үүнд: бүтээгдэхүүн, үйлчилгээнд ашигласан материалын зардал, хөдөлмөрийн хөлс</a:t>
            </a:r>
          </a:p>
        </p:txBody>
      </p:sp>
    </p:spTree>
    <p:extLst>
      <p:ext uri="{BB962C8B-B14F-4D97-AF65-F5344CB8AC3E}">
        <p14:creationId xmlns:p14="http://schemas.microsoft.com/office/powerpoint/2010/main" val="1526666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5423E-A875-8155-EBD2-21481590F523}"/>
              </a:ext>
            </a:extLst>
          </p:cNvPr>
          <p:cNvSpPr>
            <a:spLocks noGrp="1"/>
          </p:cNvSpPr>
          <p:nvPr>
            <p:ph type="title"/>
          </p:nvPr>
        </p:nvSpPr>
        <p:spPr>
          <a:xfrm>
            <a:off x="152400" y="38100"/>
            <a:ext cx="11830050" cy="628650"/>
          </a:xfrm>
        </p:spPr>
        <p:txBody>
          <a:bodyPr>
            <a:norm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Зардал, тэдгээрийн ангилал</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94C382-386A-6138-D88F-9EE781C141EB}"/>
              </a:ext>
            </a:extLst>
          </p:cNvPr>
          <p:cNvSpPr>
            <a:spLocks noGrp="1"/>
          </p:cNvSpPr>
          <p:nvPr>
            <p:ph idx="1"/>
          </p:nvPr>
        </p:nvSpPr>
        <p:spPr>
          <a:xfrm>
            <a:off x="152400" y="630918"/>
            <a:ext cx="11830050" cy="5796641"/>
          </a:xfrm>
        </p:spPr>
        <p:txBody>
          <a:bodyPr>
            <a:normAutofit lnSpcReduction="10000"/>
          </a:bodyPr>
          <a:lstStyle/>
          <a:p>
            <a:pPr algn="just"/>
            <a:r>
              <a:rPr lang="mn-MN" sz="3600" dirty="0">
                <a:solidFill>
                  <a:srgbClr val="002060"/>
                </a:solidFill>
                <a:latin typeface="Times New Roman" panose="02020603050405020304" pitchFamily="18" charset="0"/>
                <a:cs typeface="Times New Roman" panose="02020603050405020304" pitchFamily="18" charset="0"/>
              </a:rPr>
              <a:t>Бүтээгдэхүүний өртөгт шингэж байгаа байдлаар нь: </a:t>
            </a:r>
          </a:p>
          <a:p>
            <a:pPr lvl="1"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Шууд зардал </a:t>
            </a:r>
            <a:r>
              <a:rPr lang="mn-MN" sz="3200" dirty="0">
                <a:solidFill>
                  <a:srgbClr val="002060"/>
                </a:solidFill>
                <a:latin typeface="Times New Roman" panose="02020603050405020304" pitchFamily="18" charset="0"/>
                <a:cs typeface="Times New Roman" panose="02020603050405020304" pitchFamily="18" charset="0"/>
              </a:rPr>
              <a:t>– тодорхой бүтээгдэхүүн, ажлын үйл явцаар хэмжиж, хуваарилж болдог зардал. </a:t>
            </a:r>
          </a:p>
          <a:p>
            <a:pPr lvl="2" algn="just"/>
            <a:r>
              <a:rPr lang="mn-MN" sz="2800" dirty="0">
                <a:solidFill>
                  <a:srgbClr val="002060"/>
                </a:solidFill>
                <a:latin typeface="Times New Roman" panose="02020603050405020304" pitchFamily="18" charset="0"/>
                <a:cs typeface="Times New Roman" panose="02020603050405020304" pitchFamily="18" charset="0"/>
              </a:rPr>
              <a:t>Жишээлбэл, хайч хийхэд шаардлагатай материалын зардал.</a:t>
            </a:r>
          </a:p>
          <a:p>
            <a:pPr lvl="1"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Шууд бус зардал </a:t>
            </a:r>
            <a:r>
              <a:rPr lang="mn-MN" sz="3200" dirty="0">
                <a:solidFill>
                  <a:srgbClr val="002060"/>
                </a:solidFill>
                <a:latin typeface="Times New Roman" panose="02020603050405020304" pitchFamily="18" charset="0"/>
                <a:cs typeface="Times New Roman" panose="02020603050405020304" pitchFamily="18" charset="0"/>
              </a:rPr>
              <a:t>– тодорхой бүтээгдэхүүн, үйл ажиллагаагаар хуваарилахад төвөгтэй байдаг зардлууд. Эдгээр зардлууд ихэвчлэн тодорхой томъёоны тусламжтай тооцоологдон хуваарилагдаж болдог. </a:t>
            </a:r>
          </a:p>
          <a:p>
            <a:pPr lvl="2" algn="just"/>
            <a:r>
              <a:rPr lang="mn-MN" sz="2800" dirty="0">
                <a:solidFill>
                  <a:srgbClr val="002060"/>
                </a:solidFill>
                <a:latin typeface="Times New Roman" panose="02020603050405020304" pitchFamily="18" charset="0"/>
                <a:cs typeface="Times New Roman" panose="02020603050405020304" pitchFamily="18" charset="0"/>
              </a:rPr>
              <a:t>Жишээлбэл, үйлдвэрт ашигладаг нийтлэг багаж хэрэгсэл, нэгдсэн хангамж, тоног төхөөрөмжийн засвар үйлчилгээний зардал г.м.</a:t>
            </a:r>
          </a:p>
          <a:p>
            <a:pPr lvl="2" algn="just"/>
            <a:r>
              <a:rPr lang="mn-MN" sz="2800" dirty="0">
                <a:solidFill>
                  <a:srgbClr val="002060"/>
                </a:solidFill>
                <a:latin typeface="Times New Roman" panose="02020603050405020304" pitchFamily="18" charset="0"/>
                <a:cs typeface="Times New Roman" panose="02020603050405020304" pitchFamily="18" charset="0"/>
              </a:rPr>
              <a:t>Шууд бус зардалд шууд бус хөдөлмөр, шууд бус материал, үйлдвэрлэлийн цахилгаан, ус, уур, түрээс, элэгдэл, засвар, даатгал гэх мэт үйлдвэрлэлд зайлшгүй шаардлагатай бусад зардлууд орно. </a:t>
            </a:r>
          </a:p>
          <a:p>
            <a:pPr lvl="1"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Холимог зардал</a:t>
            </a:r>
            <a:r>
              <a:rPr lang="mn-MN" sz="3200" dirty="0">
                <a:solidFill>
                  <a:srgbClr val="00206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03239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35E82-CF16-5C96-8FDE-673337B0C48C}"/>
              </a:ext>
            </a:extLst>
          </p:cNvPr>
          <p:cNvSpPr>
            <a:spLocks noGrp="1"/>
          </p:cNvSpPr>
          <p:nvPr>
            <p:ph type="title"/>
          </p:nvPr>
        </p:nvSpPr>
        <p:spPr>
          <a:xfrm>
            <a:off x="152400" y="38100"/>
            <a:ext cx="11849100" cy="549730"/>
          </a:xfrm>
        </p:spPr>
        <p:txBody>
          <a:bodyPr>
            <a:normAutofit fontScale="90000"/>
          </a:bodyPr>
          <a:lstStyle/>
          <a:p>
            <a:r>
              <a:rPr lang="mn-MN" sz="4000" b="1" dirty="0">
                <a:solidFill>
                  <a:srgbClr val="002060"/>
                </a:solidFill>
                <a:latin typeface="Times New Roman" panose="02020603050405020304" pitchFamily="18" charset="0"/>
                <a:cs typeface="Times New Roman" panose="02020603050405020304" pitchFamily="18" charset="0"/>
              </a:rPr>
              <a:t>Зардал, тэдгээрийн ангилал</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32B463-59D9-F75A-AA3D-7E61DB6E8617}"/>
              </a:ext>
            </a:extLst>
          </p:cNvPr>
          <p:cNvSpPr>
            <a:spLocks noGrp="1"/>
          </p:cNvSpPr>
          <p:nvPr>
            <p:ph idx="1"/>
          </p:nvPr>
        </p:nvSpPr>
        <p:spPr>
          <a:xfrm>
            <a:off x="152400" y="473529"/>
            <a:ext cx="11849100" cy="6174921"/>
          </a:xfrm>
        </p:spPr>
        <p:txBody>
          <a:bodyPr>
            <a:normAutofit lnSpcReduction="10000"/>
          </a:bodyPr>
          <a:lstStyle/>
          <a:p>
            <a:pPr algn="just"/>
            <a:r>
              <a:rPr lang="mn-MN" sz="3600" dirty="0">
                <a:solidFill>
                  <a:srgbClr val="002060"/>
                </a:solidFill>
                <a:latin typeface="Times New Roman" panose="02020603050405020304" pitchFamily="18" charset="0"/>
                <a:cs typeface="Times New Roman" panose="02020603050405020304" pitchFamily="18" charset="0"/>
              </a:rPr>
              <a:t>Үйл ажиллагаатай холбогдсон байдлаар нь: </a:t>
            </a:r>
          </a:p>
          <a:p>
            <a:pPr lvl="1"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Үйлдвэрлэлийн</a:t>
            </a:r>
            <a:r>
              <a:rPr lang="mn-MN" sz="3200" dirty="0">
                <a:solidFill>
                  <a:srgbClr val="002060"/>
                </a:solidFill>
                <a:latin typeface="Times New Roman" panose="02020603050405020304" pitchFamily="18" charset="0"/>
                <a:cs typeface="Times New Roman" panose="02020603050405020304" pitchFamily="18" charset="0"/>
              </a:rPr>
              <a:t> – бүтээгдэхүүн үйлдвэрлэлтэй холбогдон гарсан шууд материал, шууд хөдөлмөр, үйлдвэрлэлийн нэмэгдэл зардлууд орно.</a:t>
            </a:r>
          </a:p>
          <a:p>
            <a:pPr lvl="2" algn="just"/>
            <a:r>
              <a:rPr lang="mn-MN" sz="2800" dirty="0">
                <a:solidFill>
                  <a:srgbClr val="002060"/>
                </a:solidFill>
                <a:latin typeface="Times New Roman" panose="02020603050405020304" pitchFamily="18" charset="0"/>
                <a:cs typeface="Times New Roman" panose="02020603050405020304" pitchFamily="18" charset="0"/>
              </a:rPr>
              <a:t>Үндсэн зардал </a:t>
            </a:r>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 шууд материал + шууд хөдөлмөр</a:t>
            </a:r>
          </a:p>
          <a:p>
            <a:pPr lvl="2" algn="just"/>
            <a:r>
              <a:rPr lang="mn-MN" sz="2800" dirty="0">
                <a:solidFill>
                  <a:srgbClr val="002060"/>
                </a:solidFill>
                <a:latin typeface="Times New Roman" panose="02020603050405020304" pitchFamily="18" charset="0"/>
                <a:cs typeface="Times New Roman" panose="02020603050405020304" pitchFamily="18" charset="0"/>
              </a:rPr>
              <a:t>Хувиргалтын зардал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шууд хөдөлмөр</a:t>
            </a:r>
            <a:r>
              <a:rPr lang="en-US" sz="2800" dirty="0">
                <a:solidFill>
                  <a:srgbClr val="002060"/>
                </a:solidFill>
                <a:latin typeface="Times New Roman" panose="02020603050405020304" pitchFamily="18" charset="0"/>
                <a:cs typeface="Times New Roman" panose="02020603050405020304" pitchFamily="18" charset="0"/>
              </a:rPr>
              <a:t> + </a:t>
            </a:r>
            <a:r>
              <a:rPr lang="mn-MN" sz="2800" dirty="0">
                <a:solidFill>
                  <a:srgbClr val="002060"/>
                </a:solidFill>
                <a:latin typeface="Times New Roman" panose="02020603050405020304" pitchFamily="18" charset="0"/>
                <a:cs typeface="Times New Roman" panose="02020603050405020304" pitchFamily="18" charset="0"/>
              </a:rPr>
              <a:t>үйлдвэрлэлийн нэмэгдэл зардал</a:t>
            </a:r>
          </a:p>
          <a:p>
            <a:pPr lvl="1"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Борлуулалтын</a:t>
            </a:r>
            <a:r>
              <a:rPr lang="mn-MN" sz="3200" dirty="0">
                <a:solidFill>
                  <a:srgbClr val="002060"/>
                </a:solidFill>
                <a:latin typeface="Times New Roman" panose="02020603050405020304" pitchFamily="18" charset="0"/>
                <a:cs typeface="Times New Roman" panose="02020603050405020304" pitchFamily="18" charset="0"/>
              </a:rPr>
              <a:t> – бүтээгдэхүүнийг борлуулахтай холбогдон гарах зардал. </a:t>
            </a:r>
          </a:p>
          <a:p>
            <a:pPr lvl="2" algn="just"/>
            <a:r>
              <a:rPr lang="mn-MN" sz="2800" dirty="0">
                <a:solidFill>
                  <a:srgbClr val="002060"/>
                </a:solidFill>
                <a:latin typeface="Times New Roman" panose="02020603050405020304" pitchFamily="18" charset="0"/>
                <a:cs typeface="Times New Roman" panose="02020603050405020304" pitchFamily="18" charset="0"/>
              </a:rPr>
              <a:t>Бор.тээврийн зардал, сурталчилгаа, бор.ажилчдын цалин гэх мэт</a:t>
            </a:r>
          </a:p>
          <a:p>
            <a:pPr lvl="1"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Удирдлагын</a:t>
            </a:r>
            <a:r>
              <a:rPr lang="mn-MN" sz="3200" dirty="0">
                <a:solidFill>
                  <a:srgbClr val="002060"/>
                </a:solidFill>
                <a:latin typeface="Times New Roman" panose="02020603050405020304" pitchFamily="18" charset="0"/>
                <a:cs typeface="Times New Roman" panose="02020603050405020304" pitchFamily="18" charset="0"/>
              </a:rPr>
              <a:t> </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ААН, байгууллагын ерөнхий удирдлагатай холбогдож гарах зардлууд орно.</a:t>
            </a:r>
          </a:p>
          <a:p>
            <a:pPr lvl="2" algn="just"/>
            <a:r>
              <a:rPr lang="mn-MN" sz="2800" dirty="0">
                <a:solidFill>
                  <a:srgbClr val="002060"/>
                </a:solidFill>
                <a:latin typeface="Times New Roman" panose="02020603050405020304" pitchFamily="18" charset="0"/>
                <a:cs typeface="Times New Roman" panose="02020603050405020304" pitchFamily="18" charset="0"/>
              </a:rPr>
              <a:t>Бичиг хэрэг, захиргаа аж ахуйн ажилчдын цалин, НДШ, конторын элэгдэл, засвар гэх мэт. </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164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9C871-A635-C72A-5366-CC8EA303F97C}"/>
              </a:ext>
            </a:extLst>
          </p:cNvPr>
          <p:cNvSpPr>
            <a:spLocks noGrp="1"/>
          </p:cNvSpPr>
          <p:nvPr>
            <p:ph type="title"/>
          </p:nvPr>
        </p:nvSpPr>
        <p:spPr>
          <a:xfrm>
            <a:off x="185057" y="120198"/>
            <a:ext cx="11800114" cy="434974"/>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Зардал, тэдгээрийн ангилал</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51E1F9-D8D6-526C-A096-3EC13C2BCF9E}"/>
              </a:ext>
            </a:extLst>
          </p:cNvPr>
          <p:cNvSpPr>
            <a:spLocks noGrp="1"/>
          </p:cNvSpPr>
          <p:nvPr>
            <p:ph idx="1"/>
          </p:nvPr>
        </p:nvSpPr>
        <p:spPr>
          <a:xfrm>
            <a:off x="185057" y="555172"/>
            <a:ext cx="11800114" cy="6182630"/>
          </a:xfrm>
        </p:spPr>
        <p:txBody>
          <a:bodyPr>
            <a:normAutofit fontScale="92500" lnSpcReduction="10000"/>
          </a:bodyPr>
          <a:lstStyle/>
          <a:p>
            <a:pPr algn="just"/>
            <a:r>
              <a:rPr lang="mn-MN" sz="3600" b="1" dirty="0">
                <a:solidFill>
                  <a:schemeClr val="accent2">
                    <a:lumMod val="75000"/>
                  </a:schemeClr>
                </a:solidFill>
                <a:latin typeface="Times New Roman" panose="02020603050405020304" pitchFamily="18" charset="0"/>
                <a:cs typeface="Times New Roman" panose="02020603050405020304" pitchFamily="18" charset="0"/>
              </a:rPr>
              <a:t>Нэмэлт зардал </a:t>
            </a:r>
            <a:r>
              <a:rPr lang="mn-MN" sz="3600" dirty="0">
                <a:solidFill>
                  <a:srgbClr val="002060"/>
                </a:solidFill>
                <a:latin typeface="Times New Roman" panose="02020603050405020304" pitchFamily="18" charset="0"/>
                <a:cs typeface="Times New Roman" panose="02020603050405020304" pitchFamily="18" charset="0"/>
              </a:rPr>
              <a:t>– ажиллах хүч, эсвэл материалын шууд зардалд хамаарахгүй үйлдвэрийн ашиглалтын зардлаас тогтоно. </a:t>
            </a:r>
          </a:p>
          <a:p>
            <a:pPr lvl="1" algn="just"/>
            <a:r>
              <a:rPr lang="mn-MN" sz="3200" dirty="0">
                <a:solidFill>
                  <a:srgbClr val="002060"/>
                </a:solidFill>
                <a:latin typeface="Times New Roman" panose="02020603050405020304" pitchFamily="18" charset="0"/>
                <a:cs typeface="Times New Roman" panose="02020603050405020304" pitchFamily="18" charset="0"/>
              </a:rPr>
              <a:t>Энд шууд бус зардал, нэмэлт зардалууд хоорондоо төстэй. Удирдлагын болон борлуулалтын зардлыг ихэвчлэн бүтээгдэхүүн, үйлчилгээний шууд зардал дээр нэмэгддэг бол нэмэлт зардлыг нэгж бүтээгдэхүүн, үйлчилгээний борлуулах үнэ дээр нэмэгддэг. Нэмэлт зардлын жишээнд цахилгаан эрчим хүч, нийтлэг засвар үйлчилгээ, үл хөдлөх хөрөнгийн татвар болон хяналтын зардал орно.  </a:t>
            </a:r>
          </a:p>
          <a:p>
            <a:pPr algn="just"/>
            <a:r>
              <a:rPr lang="mn-MN" sz="3600" b="1" dirty="0">
                <a:solidFill>
                  <a:schemeClr val="accent2">
                    <a:lumMod val="75000"/>
                  </a:schemeClr>
                </a:solidFill>
                <a:latin typeface="Times New Roman" panose="02020603050405020304" pitchFamily="18" charset="0"/>
                <a:cs typeface="Times New Roman" panose="02020603050405020304" pitchFamily="18" charset="0"/>
              </a:rPr>
              <a:t>Өсөн нэмэгдэх зардал (орлого) </a:t>
            </a:r>
            <a:r>
              <a:rPr lang="en-US" sz="3600" b="1" dirty="0">
                <a:solidFill>
                  <a:schemeClr val="accent2">
                    <a:lumMod val="75000"/>
                  </a:schemeClr>
                </a:solidFill>
                <a:latin typeface="Times New Roman" panose="02020603050405020304" pitchFamily="18" charset="0"/>
                <a:cs typeface="Times New Roman" panose="02020603050405020304" pitchFamily="18" charset="0"/>
              </a:rPr>
              <a:t>{</a:t>
            </a:r>
            <a:r>
              <a:rPr lang="mn-MN" sz="3600" b="1" dirty="0">
                <a:solidFill>
                  <a:schemeClr val="accent2">
                    <a:lumMod val="75000"/>
                  </a:schemeClr>
                </a:solidFill>
                <a:latin typeface="Times New Roman" panose="02020603050405020304" pitchFamily="18" charset="0"/>
                <a:cs typeface="Times New Roman" panose="02020603050405020304" pitchFamily="18" charset="0"/>
              </a:rPr>
              <a:t>Ахиу зардал, орлого</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mn-MN" sz="3600" dirty="0">
                <a:solidFill>
                  <a:srgbClr val="002060"/>
                </a:solidFill>
                <a:latin typeface="Times New Roman" panose="02020603050405020304" pitchFamily="18" charset="0"/>
                <a:cs typeface="Times New Roman" panose="02020603050405020304" pitchFamily="18" charset="0"/>
              </a:rPr>
              <a:t>– нэмэлт зардал (орлого) бөгөөд системийн нэг (эсвэл түүнээс дээш) нэгжийн үйлдвэрлэл нэмэгдсэний үр дүн юм. </a:t>
            </a:r>
          </a:p>
          <a:p>
            <a:pPr lvl="1" algn="just"/>
            <a:r>
              <a:rPr lang="mn-MN" sz="3200" dirty="0">
                <a:solidFill>
                  <a:srgbClr val="002060"/>
                </a:solidFill>
                <a:latin typeface="Times New Roman" panose="02020603050405020304" pitchFamily="18" charset="0"/>
                <a:cs typeface="Times New Roman" panose="02020603050405020304" pitchFamily="18" charset="0"/>
              </a:rPr>
              <a:t>Өсөн нэмэгдэх зардал – гарц, эсвэл үйл ажиллагааны түвшинд хязгаарлагдмал өөрчлөлтийг хамарсан "болно/болохгүй" шийдвэртэй холбоотой байдаг. </a:t>
            </a:r>
            <a:endParaRPr lang="mn-M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375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9C871-A635-C72A-5366-CC8EA303F97C}"/>
              </a:ext>
            </a:extLst>
          </p:cNvPr>
          <p:cNvSpPr>
            <a:spLocks noGrp="1"/>
          </p:cNvSpPr>
          <p:nvPr>
            <p:ph type="title"/>
          </p:nvPr>
        </p:nvSpPr>
        <p:spPr>
          <a:xfrm>
            <a:off x="168727" y="136526"/>
            <a:ext cx="11800115" cy="598260"/>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Зардал, тэдгээрийн ангилал</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51E1F9-D8D6-526C-A096-3EC13C2BCF9E}"/>
              </a:ext>
            </a:extLst>
          </p:cNvPr>
          <p:cNvSpPr>
            <a:spLocks noGrp="1"/>
          </p:cNvSpPr>
          <p:nvPr>
            <p:ph idx="1"/>
          </p:nvPr>
        </p:nvSpPr>
        <p:spPr>
          <a:xfrm>
            <a:off x="168727" y="734786"/>
            <a:ext cx="11800115" cy="5213577"/>
          </a:xfrm>
        </p:spPr>
        <p:txBody>
          <a:bodyPr>
            <a:normAutofit lnSpcReduction="10000"/>
          </a:bodyPr>
          <a:lstStyle/>
          <a:p>
            <a:pPr algn="just"/>
            <a:r>
              <a:rPr lang="mn-MN" sz="4000" b="1" dirty="0">
                <a:solidFill>
                  <a:schemeClr val="accent2">
                    <a:lumMod val="75000"/>
                  </a:schemeClr>
                </a:solidFill>
                <a:latin typeface="Times New Roman" panose="02020603050405020304" pitchFamily="18" charset="0"/>
                <a:cs typeface="Times New Roman" panose="02020603050405020304" pitchFamily="18" charset="0"/>
              </a:rPr>
              <a:t>Нормчлогдсон зардал</a:t>
            </a:r>
            <a:r>
              <a:rPr lang="mn-MN" sz="4000" b="1" dirty="0">
                <a:solidFill>
                  <a:srgbClr val="002060"/>
                </a:solidFill>
                <a:latin typeface="Times New Roman" panose="02020603050405020304" pitchFamily="18" charset="0"/>
                <a:cs typeface="Times New Roman" panose="02020603050405020304" pitchFamily="18" charset="0"/>
              </a:rPr>
              <a:t> </a:t>
            </a:r>
            <a:r>
              <a:rPr lang="mn-MN" sz="4000" dirty="0">
                <a:solidFill>
                  <a:srgbClr val="002060"/>
                </a:solidFill>
                <a:latin typeface="Times New Roman" panose="02020603050405020304" pitchFamily="18" charset="0"/>
                <a:cs typeface="Times New Roman" panose="02020603050405020304" pitchFamily="18" charset="0"/>
              </a:rPr>
              <a:t>– бодит үйлдвэрлэл, үйлчилгээ үзүүлэхээс өмнө ажлын нэгжид ногдох зардал хэлбэрээр урьдчилан тогтоож, төлөвлөсөн зардал.  </a:t>
            </a:r>
          </a:p>
          <a:p>
            <a:pPr lvl="1" algn="just"/>
            <a:r>
              <a:rPr lang="mn-MN" sz="3600" dirty="0">
                <a:solidFill>
                  <a:srgbClr val="002060"/>
                </a:solidFill>
                <a:latin typeface="Times New Roman" panose="02020603050405020304" pitchFamily="18" charset="0"/>
                <a:cs typeface="Times New Roman" panose="02020603050405020304" pitchFamily="18" charset="0"/>
              </a:rPr>
              <a:t>Нормчлогдсон зардлыг үйлдвэрлэлийн төлөвлөгөөт хэмжээтэй холбоотой хөдөлмөрийн цаг, материал ба бусад дагалдах зардлуудаар тооцдог. Үйлдвэрлэлийн хэмжээ ба түвшин бол нормчилсон зардлыг тооцох маш чухал нөхцөл юм. Нормчлогдсон зардлууд удирдлагын хяналт болон чиг үүргийг хэрэгжүүлэхэд чухал үүрэг гүйцэтгэдэг.</a:t>
            </a:r>
          </a:p>
        </p:txBody>
      </p:sp>
    </p:spTree>
    <p:extLst>
      <p:ext uri="{BB962C8B-B14F-4D97-AF65-F5344CB8AC3E}">
        <p14:creationId xmlns:p14="http://schemas.microsoft.com/office/powerpoint/2010/main" val="213812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51E1F9-D8D6-526C-A096-3EC13C2BCF9E}"/>
              </a:ext>
            </a:extLst>
          </p:cNvPr>
          <p:cNvSpPr>
            <a:spLocks noGrp="1"/>
          </p:cNvSpPr>
          <p:nvPr>
            <p:ph idx="1"/>
          </p:nvPr>
        </p:nvSpPr>
        <p:spPr>
          <a:xfrm>
            <a:off x="0" y="611730"/>
            <a:ext cx="11979965" cy="6079926"/>
          </a:xfrm>
        </p:spPr>
        <p:txBody>
          <a:bodyPr>
            <a:normAutofit lnSpcReduction="10000"/>
          </a:bodyPr>
          <a:lstStyle/>
          <a:p>
            <a:pPr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Бэлэн мөнгөний зардал </a:t>
            </a:r>
            <a:r>
              <a:rPr lang="mn-MN" sz="3200" dirty="0">
                <a:solidFill>
                  <a:srgbClr val="002060"/>
                </a:solidFill>
                <a:latin typeface="Times New Roman" panose="02020603050405020304" pitchFamily="18" charset="0"/>
                <a:cs typeface="Times New Roman" panose="02020603050405020304" pitchFamily="18" charset="0"/>
              </a:rPr>
              <a:t>– Бэлэн мөнгөөр төлөгдөж байгаа зардал. </a:t>
            </a:r>
          </a:p>
          <a:p>
            <a:pPr lvl="1" algn="just"/>
            <a:r>
              <a:rPr lang="mn-MN" sz="2800" dirty="0">
                <a:solidFill>
                  <a:srgbClr val="002060"/>
                </a:solidFill>
                <a:latin typeface="Times New Roman" panose="02020603050405020304" pitchFamily="18" charset="0"/>
                <a:cs typeface="Times New Roman" panose="02020603050405020304" pitchFamily="18" charset="0"/>
              </a:rPr>
              <a:t>Бэлэн мөнгөний зардлыг шинжилгээнд зориулж гаргасан хэтийн төлөвөөс үнэлдэг (</a:t>
            </a:r>
            <a:r>
              <a:rPr lang="en-US" sz="2800" dirty="0">
                <a:solidFill>
                  <a:srgbClr val="002060"/>
                </a:solidFill>
                <a:latin typeface="Times New Roman" panose="02020603050405020304" pitchFamily="18" charset="0"/>
                <a:cs typeface="Times New Roman" panose="02020603050405020304" pitchFamily="18" charset="0"/>
              </a:rPr>
              <a:t>III </a:t>
            </a:r>
            <a:r>
              <a:rPr lang="mn-MN" sz="2800" dirty="0">
                <a:solidFill>
                  <a:srgbClr val="002060"/>
                </a:solidFill>
                <a:latin typeface="Times New Roman" panose="02020603050405020304" pitchFamily="18" charset="0"/>
                <a:cs typeface="Times New Roman" panose="02020603050405020304" pitchFamily="18" charset="0"/>
              </a:rPr>
              <a:t>зарчим) бөгөөд шинжилгээ хийх хувилбаруудын ирээдүйн зардал байна.</a:t>
            </a:r>
          </a:p>
          <a:p>
            <a:pPr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Дансны зардал </a:t>
            </a:r>
            <a:r>
              <a:rPr lang="mn-MN" sz="3200" dirty="0">
                <a:solidFill>
                  <a:srgbClr val="002060"/>
                </a:solidFill>
                <a:latin typeface="Times New Roman" panose="02020603050405020304" pitchFamily="18" charset="0"/>
                <a:cs typeface="Times New Roman" panose="02020603050405020304" pitchFamily="18" charset="0"/>
              </a:rPr>
              <a:t>– бэлэн мөнгөн гүйлгээ хийхгүйгээр нягтлан бодох бүртгэлийн системд тусгагдсан зардал. </a:t>
            </a:r>
          </a:p>
          <a:p>
            <a:pPr lvl="1" algn="just"/>
            <a:r>
              <a:rPr lang="mn-MN" sz="2800" dirty="0">
                <a:solidFill>
                  <a:srgbClr val="002060"/>
                </a:solidFill>
                <a:latin typeface="Times New Roman" panose="02020603050405020304" pitchFamily="18" charset="0"/>
                <a:cs typeface="Times New Roman" panose="02020603050405020304" pitchFamily="18" charset="0"/>
              </a:rPr>
              <a:t>Дансны зардал бэлэн мөнгөний төлбөрийн гүйлгээнд хамаардаггүй боловч хугацааны тодорхой үед өнгөрсөн зардлуудыг нөхөн төлөхийг илэрхийлдэг. Дансны зардлын хамгийн түгээмэл жишээ бол барилга байгууламж, тоног төхөөрөмж зэрэг хөрөнгийн ашиглалтад ногдуулах элэгдлийн зардал юм. Инженерчлэлийн эдийн засгийн шинжилгээнд зөвхөн бэлэн мөнгөний урсгал, эсвэл шинжилгээний хэтийн төлөвөөр тодорхойлогдох боломжит мөнгөн урсгалыг тооцож үзэх хэрэгтэй. Элэгдэл нь бэлэн мөнгөн урсгал биш боловч, мөнгөн урсгалын орлогын албан татварт нөлөөлдөг тул шинжилгээ хийхэд чухал байдаг. </a:t>
            </a:r>
            <a:endParaRPr lang="mn-MN" sz="3200" dirty="0">
              <a:solidFill>
                <a:srgbClr val="002060"/>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BF6A6EA-7676-4C7E-B1EE-04CCADB3032B}"/>
              </a:ext>
            </a:extLst>
          </p:cNvPr>
          <p:cNvSpPr txBox="1">
            <a:spLocks/>
          </p:cNvSpPr>
          <p:nvPr/>
        </p:nvSpPr>
        <p:spPr>
          <a:xfrm>
            <a:off x="202095" y="166344"/>
            <a:ext cx="10515600" cy="35049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3200" b="1" dirty="0">
                <a:solidFill>
                  <a:srgbClr val="002060"/>
                </a:solidFill>
                <a:latin typeface="Times New Roman" panose="02020603050405020304" pitchFamily="18" charset="0"/>
                <a:cs typeface="Times New Roman" panose="02020603050405020304" pitchFamily="18" charset="0"/>
              </a:rPr>
              <a:t>1. Зардал, орлого, тэдгээрийн ангилал</a:t>
            </a:r>
            <a:r>
              <a:rPr lang="en-US" sz="3200" b="1" dirty="0">
                <a:solidFill>
                  <a:srgbClr val="002060"/>
                </a:solidFill>
                <a:latin typeface="Times New Roman" panose="02020603050405020304" pitchFamily="18" charset="0"/>
                <a:cs typeface="Times New Roman" panose="02020603050405020304" pitchFamily="18" charset="0"/>
              </a:rPr>
              <a:t> (4)</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1824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51E1F9-D8D6-526C-A096-3EC13C2BCF9E}"/>
              </a:ext>
            </a:extLst>
          </p:cNvPr>
          <p:cNvSpPr>
            <a:spLocks noGrp="1"/>
          </p:cNvSpPr>
          <p:nvPr>
            <p:ph idx="1"/>
          </p:nvPr>
        </p:nvSpPr>
        <p:spPr>
          <a:xfrm>
            <a:off x="-1" y="498021"/>
            <a:ext cx="11989905" cy="6193635"/>
          </a:xfrm>
        </p:spPr>
        <p:txBody>
          <a:bodyPr>
            <a:normAutofit/>
          </a:bodyPr>
          <a:lstStyle/>
          <a:p>
            <a:pPr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Нөхөгдөшгүй зардал </a:t>
            </a:r>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Буцалтгүй зардал</a:t>
            </a:r>
            <a:r>
              <a:rPr lang="en-US" sz="3200" b="1" dirty="0">
                <a:solidFill>
                  <a:schemeClr val="accent2">
                    <a:lumMod val="75000"/>
                  </a:schemeClr>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 өнгөрсөн хугацаанд тохиолдсон зардал.</a:t>
            </a:r>
          </a:p>
          <a:p>
            <a:pPr lvl="1" algn="just"/>
            <a:r>
              <a:rPr lang="mn-MN" sz="2800" dirty="0">
                <a:solidFill>
                  <a:srgbClr val="002060"/>
                </a:solidFill>
                <a:latin typeface="Times New Roman" panose="02020603050405020304" pitchFamily="18" charset="0"/>
                <a:cs typeface="Times New Roman" panose="02020603050405020304" pitchFamily="18" charset="0"/>
              </a:rPr>
              <a:t>Жишээлбэл, паспорт авахад зарцуулсан мөнгө, байшингийн урьдчилгаа төлбөр гэх мэт буцаан олгогдохгүй бэлэн мөнгөний зардлыг нөхөгдөшгүй зардал гэнэ.</a:t>
            </a:r>
          </a:p>
          <a:p>
            <a:pPr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Алдагдсан боломжийн зардал </a:t>
            </a:r>
            <a:r>
              <a:rPr lang="mn-MN" sz="3200" dirty="0">
                <a:solidFill>
                  <a:srgbClr val="002060"/>
                </a:solidFill>
                <a:latin typeface="Times New Roman" panose="02020603050405020304" pitchFamily="18" charset="0"/>
                <a:cs typeface="Times New Roman" panose="02020603050405020304" pitchFamily="18" charset="0"/>
              </a:rPr>
              <a:t>– хязгаарлагдмал нөөцийг ашиглахтай холбоотойгоор алдагдсан боломжийн зардал үүсдэг. Мөнгөн ашиг гарган авахын тулд тэдгээр нөөцийг ашиглах боломж гардаг. </a:t>
            </a:r>
          </a:p>
          <a:p>
            <a:pPr lvl="1" algn="just"/>
            <a:r>
              <a:rPr lang="mn-MN" sz="2800" dirty="0">
                <a:solidFill>
                  <a:srgbClr val="002060"/>
                </a:solidFill>
                <a:latin typeface="Times New Roman" panose="02020603050405020304" pitchFamily="18" charset="0"/>
                <a:cs typeface="Times New Roman" panose="02020603050405020304" pitchFamily="18" charset="0"/>
              </a:rPr>
              <a:t>Жишээлбэл, ажил хийвэл жилд $20,000-ын цалин авч болох оюутныг авч үзье. Харин ажиллахын оронд сургуульд сурахаар шийдэж, үүндээ $5,000 зарцуулахаар төлөвлөв. Тухайн жилд сургуульд сурах алдагдсан боломжийн зардал $25,000 (өөрөөр хэлбэл, сургалтын төлбөр $5,000 болон ажил хийгээд олох байсан $20,000) байна. </a:t>
            </a:r>
            <a:endParaRPr lang="mn-MN" sz="3200" dirty="0">
              <a:solidFill>
                <a:srgbClr val="002060"/>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5BBC3EA-6ED1-4944-8C67-E95339D53B56}"/>
              </a:ext>
            </a:extLst>
          </p:cNvPr>
          <p:cNvSpPr txBox="1">
            <a:spLocks/>
          </p:cNvSpPr>
          <p:nvPr/>
        </p:nvSpPr>
        <p:spPr>
          <a:xfrm>
            <a:off x="202095" y="166344"/>
            <a:ext cx="10515600" cy="35049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3200" b="1" dirty="0">
                <a:solidFill>
                  <a:srgbClr val="002060"/>
                </a:solidFill>
                <a:latin typeface="Times New Roman" panose="02020603050405020304" pitchFamily="18" charset="0"/>
                <a:cs typeface="Times New Roman" panose="02020603050405020304" pitchFamily="18" charset="0"/>
              </a:rPr>
              <a:t>1. Зардал, орлого, тэдгээрийн ангилал</a:t>
            </a:r>
            <a:r>
              <a:rPr lang="en-US" sz="3200" b="1" dirty="0">
                <a:solidFill>
                  <a:srgbClr val="002060"/>
                </a:solidFill>
                <a:latin typeface="Times New Roman" panose="02020603050405020304" pitchFamily="18" charset="0"/>
                <a:cs typeface="Times New Roman" panose="02020603050405020304" pitchFamily="18" charset="0"/>
              </a:rPr>
              <a:t> (5)</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8001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51E1F9-D8D6-526C-A096-3EC13C2BCF9E}"/>
              </a:ext>
            </a:extLst>
          </p:cNvPr>
          <p:cNvSpPr>
            <a:spLocks noGrp="1"/>
          </p:cNvSpPr>
          <p:nvPr>
            <p:ph idx="1"/>
          </p:nvPr>
        </p:nvSpPr>
        <p:spPr>
          <a:xfrm>
            <a:off x="0" y="516835"/>
            <a:ext cx="11989905" cy="6161551"/>
          </a:xfrm>
        </p:spPr>
        <p:txBody>
          <a:bodyPr>
            <a:normAutofit/>
          </a:bodyPr>
          <a:lstStyle/>
          <a:p>
            <a:pPr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Амьдралын мөчлөгийн зардал </a:t>
            </a:r>
            <a:r>
              <a:rPr lang="mn-MN" sz="3200" dirty="0">
                <a:solidFill>
                  <a:srgbClr val="002060"/>
                </a:solidFill>
                <a:latin typeface="Times New Roman" panose="02020603050405020304" pitchFamily="18" charset="0"/>
                <a:cs typeface="Times New Roman" panose="02020603050405020304" pitchFamily="18" charset="0"/>
              </a:rPr>
              <a:t>– бүтээгдэхүүн, бүтэц, систем, үйлчилгээний амьдралын нийт хугацааны туршид түүнтэй холбоотой гарах бүх зардлын нийлбэр юм. </a:t>
            </a:r>
          </a:p>
          <a:p>
            <a:pPr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Амьдралын мөчлөг </a:t>
            </a:r>
            <a:r>
              <a:rPr lang="mn-MN" sz="3200" dirty="0">
                <a:solidFill>
                  <a:srgbClr val="002060"/>
                </a:solidFill>
                <a:latin typeface="Times New Roman" panose="02020603050405020304" pitchFamily="18" charset="0"/>
                <a:cs typeface="Times New Roman" panose="02020603050405020304" pitchFamily="18" charset="0"/>
              </a:rPr>
              <a:t>– эдийн засгийн эрэлт хэрэгцээг (шаардлагыг) тодорхойлохоос эхэлж, зарах, устгах үйл ажиллагаагаар дуусгавар болно. Амьдралын мөчлөгийн төгсгөлийг үйл ажиллагааны, эсвэл эдийн засгийн үндэслэлээр тооцож болно. </a:t>
            </a:r>
          </a:p>
          <a:p>
            <a:pPr algn="just"/>
            <a:r>
              <a:rPr lang="mn-MN" sz="3200" dirty="0">
                <a:solidFill>
                  <a:srgbClr val="002060"/>
                </a:solidFill>
                <a:latin typeface="Times New Roman" panose="02020603050405020304" pitchFamily="18" charset="0"/>
                <a:cs typeface="Times New Roman" panose="02020603050405020304" pitchFamily="18" charset="0"/>
              </a:rPr>
              <a:t>Амьдралын мөчлөгийг хугацаанаас хамааруулан ерөнхий хоёр интервалд хуваана. </a:t>
            </a:r>
          </a:p>
          <a:p>
            <a:pPr lvl="1" algn="just"/>
            <a:r>
              <a:rPr lang="mn-MN" sz="2800" dirty="0">
                <a:solidFill>
                  <a:srgbClr val="002060"/>
                </a:solidFill>
                <a:latin typeface="Times New Roman" panose="02020603050405020304" pitchFamily="18" charset="0"/>
                <a:cs typeface="Times New Roman" panose="02020603050405020304" pitchFamily="18" charset="0"/>
              </a:rPr>
              <a:t>Худалдан авалтын үе шат </a:t>
            </a:r>
          </a:p>
          <a:p>
            <a:pPr lvl="1" algn="just"/>
            <a:r>
              <a:rPr lang="mn-MN" sz="2800" dirty="0">
                <a:solidFill>
                  <a:srgbClr val="002060"/>
                </a:solidFill>
                <a:latin typeface="Times New Roman" panose="02020603050405020304" pitchFamily="18" charset="0"/>
                <a:cs typeface="Times New Roman" panose="02020603050405020304" pitchFamily="18" charset="0"/>
              </a:rPr>
              <a:t>Үйл ажиллагааны үе шат</a:t>
            </a:r>
            <a:endParaRPr lang="mn-MN" sz="3200" dirty="0">
              <a:solidFill>
                <a:srgbClr val="002060"/>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C44E67B1-1BD7-489B-BBCD-65B7802B16F9}"/>
              </a:ext>
            </a:extLst>
          </p:cNvPr>
          <p:cNvSpPr txBox="1">
            <a:spLocks/>
          </p:cNvSpPr>
          <p:nvPr/>
        </p:nvSpPr>
        <p:spPr>
          <a:xfrm>
            <a:off x="202095" y="166344"/>
            <a:ext cx="10515600" cy="35049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3200" b="1" dirty="0">
                <a:solidFill>
                  <a:srgbClr val="002060"/>
                </a:solidFill>
                <a:latin typeface="Times New Roman" panose="02020603050405020304" pitchFamily="18" charset="0"/>
                <a:cs typeface="Times New Roman" panose="02020603050405020304" pitchFamily="18" charset="0"/>
              </a:rPr>
              <a:t>1. Зардал, орлого, тэдгээрийн ангилал</a:t>
            </a:r>
            <a:r>
              <a:rPr lang="en-US" sz="3200" b="1" dirty="0">
                <a:solidFill>
                  <a:srgbClr val="002060"/>
                </a:solidFill>
                <a:latin typeface="Times New Roman" panose="02020603050405020304" pitchFamily="18" charset="0"/>
                <a:cs typeface="Times New Roman" panose="02020603050405020304" pitchFamily="18" charset="0"/>
              </a:rPr>
              <a:t> (6)</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6382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7CC01A-0091-2015-E809-C728D75CB572}"/>
              </a:ext>
            </a:extLst>
          </p:cNvPr>
          <p:cNvPicPr>
            <a:picLocks noChangeAspect="1"/>
          </p:cNvPicPr>
          <p:nvPr/>
        </p:nvPicPr>
        <p:blipFill>
          <a:blip r:embed="rId3"/>
          <a:stretch>
            <a:fillRect/>
          </a:stretch>
        </p:blipFill>
        <p:spPr>
          <a:xfrm>
            <a:off x="145774" y="477588"/>
            <a:ext cx="11701669" cy="6380412"/>
          </a:xfrm>
          <a:prstGeom prst="rect">
            <a:avLst/>
          </a:prstGeom>
        </p:spPr>
      </p:pic>
      <p:sp>
        <p:nvSpPr>
          <p:cNvPr id="3" name="Title 1">
            <a:extLst>
              <a:ext uri="{FF2B5EF4-FFF2-40B4-BE49-F238E27FC236}">
                <a16:creationId xmlns:a16="http://schemas.microsoft.com/office/drawing/2014/main" id="{847D4A6F-E48E-4D01-A4D5-C511F7383F26}"/>
              </a:ext>
            </a:extLst>
          </p:cNvPr>
          <p:cNvSpPr>
            <a:spLocks noGrp="1"/>
          </p:cNvSpPr>
          <p:nvPr>
            <p:ph type="title"/>
          </p:nvPr>
        </p:nvSpPr>
        <p:spPr>
          <a:xfrm>
            <a:off x="189440" y="59454"/>
            <a:ext cx="10364451" cy="365126"/>
          </a:xfrm>
        </p:spPr>
        <p:txBody>
          <a:bodyPr>
            <a:noAutofit/>
          </a:bodyPr>
          <a:lstStyle/>
          <a:p>
            <a:r>
              <a:rPr lang="mn-MN" sz="2000" dirty="0">
                <a:latin typeface="Times New Roman" panose="02020603050405020304" pitchFamily="18" charset="0"/>
                <a:ea typeface="Calibri" panose="020F0502020204030204" pitchFamily="34" charset="0"/>
              </a:rPr>
              <a:t>Амьдралын мөчлөгийн үе шатууд, тэдгээрийн зардлын хамаарал</a:t>
            </a:r>
            <a:endParaRPr lang="en-US" sz="2000" dirty="0"/>
          </a:p>
        </p:txBody>
      </p:sp>
    </p:spTree>
    <p:extLst>
      <p:ext uri="{BB962C8B-B14F-4D97-AF65-F5344CB8AC3E}">
        <p14:creationId xmlns:p14="http://schemas.microsoft.com/office/powerpoint/2010/main" val="429230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51E1F9-D8D6-526C-A096-3EC13C2BCF9E}"/>
              </a:ext>
            </a:extLst>
          </p:cNvPr>
          <p:cNvSpPr>
            <a:spLocks noGrp="1"/>
          </p:cNvSpPr>
          <p:nvPr>
            <p:ph idx="1"/>
          </p:nvPr>
        </p:nvSpPr>
        <p:spPr>
          <a:xfrm>
            <a:off x="92765" y="516835"/>
            <a:ext cx="11993218" cy="6174821"/>
          </a:xfrm>
        </p:spPr>
        <p:txBody>
          <a:bodyPr>
            <a:normAutofit fontScale="92500" lnSpcReduction="10000"/>
          </a:bodyPr>
          <a:lstStyle/>
          <a:p>
            <a:pPr algn="just"/>
            <a:r>
              <a:rPr lang="mn-MN" sz="3200" b="1" dirty="0">
                <a:solidFill>
                  <a:srgbClr val="002060"/>
                </a:solidFill>
                <a:latin typeface="Times New Roman" panose="02020603050405020304" pitchFamily="18" charset="0"/>
                <a:cs typeface="Times New Roman" panose="02020603050405020304" pitchFamily="18" charset="0"/>
              </a:rPr>
              <a:t>Амьдралын мөчлөгийн зардлын элементүүд – </a:t>
            </a:r>
            <a:r>
              <a:rPr lang="mn-MN" sz="3200" dirty="0">
                <a:solidFill>
                  <a:srgbClr val="002060"/>
                </a:solidFill>
                <a:latin typeface="Times New Roman" panose="02020603050405020304" pitchFamily="18" charset="0"/>
                <a:cs typeface="Times New Roman" panose="02020603050405020304" pitchFamily="18" charset="0"/>
              </a:rPr>
              <a:t>нөхцөл байдлаас хамаарч өөрчлөгдөж байдаг. Тэдгээрийн нийтлэг хэрэглээнээс амьдралын мөчлөгийн зардлын хэд хэдэн үндсэн ангиллыг тодорхойлж болно. Үүнд:</a:t>
            </a:r>
          </a:p>
          <a:p>
            <a:pPr lvl="1" algn="just"/>
            <a:r>
              <a:rPr lang="mn-MN" sz="2800" b="1" dirty="0">
                <a:solidFill>
                  <a:srgbClr val="002060"/>
                </a:solidFill>
                <a:latin typeface="Times New Roman" panose="02020603050405020304" pitchFamily="18" charset="0"/>
                <a:cs typeface="Times New Roman" panose="02020603050405020304" pitchFamily="18" charset="0"/>
              </a:rPr>
              <a:t>Хөрөнгө оруулалтын зардал </a:t>
            </a:r>
            <a:r>
              <a:rPr lang="mn-MN" sz="2800" dirty="0">
                <a:solidFill>
                  <a:srgbClr val="002060"/>
                </a:solidFill>
                <a:latin typeface="Times New Roman" panose="02020603050405020304" pitchFamily="18" charset="0"/>
                <a:cs typeface="Times New Roman" panose="02020603050405020304" pitchFamily="18" charset="0"/>
              </a:rPr>
              <a:t>–худалдан авалтын үе шатад хийгдэх ихэнх үйл ажиллагаанд шаардлагатай хөрөнгө. Энэ зардлыг мөн капиталын хөрөнгө оруулалт гэж нэрлэдэг.</a:t>
            </a:r>
          </a:p>
          <a:p>
            <a:pPr lvl="1" algn="just"/>
            <a:r>
              <a:rPr lang="mn-MN" sz="2800" b="1" dirty="0">
                <a:solidFill>
                  <a:srgbClr val="002060"/>
                </a:solidFill>
                <a:latin typeface="Times New Roman" panose="02020603050405020304" pitchFamily="18" charset="0"/>
                <a:cs typeface="Times New Roman" panose="02020603050405020304" pitchFamily="18" charset="0"/>
              </a:rPr>
              <a:t>Үйл ажиллагааны ба засвар үйлчилгээний зардал </a:t>
            </a:r>
            <a:r>
              <a:rPr lang="mn-MN" sz="2800" dirty="0">
                <a:solidFill>
                  <a:srgbClr val="002060"/>
                </a:solidFill>
                <a:latin typeface="Times New Roman" panose="02020603050405020304" pitchFamily="18" charset="0"/>
                <a:cs typeface="Times New Roman" panose="02020603050405020304" pitchFamily="18" charset="0"/>
              </a:rPr>
              <a:t>(О&amp;М – </a:t>
            </a:r>
            <a:r>
              <a:rPr lang="en-US" sz="2800" dirty="0">
                <a:solidFill>
                  <a:srgbClr val="002060"/>
                </a:solidFill>
                <a:latin typeface="Times New Roman" panose="02020603050405020304" pitchFamily="18" charset="0"/>
                <a:cs typeface="Times New Roman" panose="02020603050405020304" pitchFamily="18" charset="0"/>
              </a:rPr>
              <a:t>Operation and maintenance cost) – </a:t>
            </a:r>
            <a:r>
              <a:rPr lang="mn-MN" sz="2800" dirty="0">
                <a:solidFill>
                  <a:srgbClr val="002060"/>
                </a:solidFill>
                <a:latin typeface="Times New Roman" panose="02020603050405020304" pitchFamily="18" charset="0"/>
                <a:cs typeface="Times New Roman" panose="02020603050405020304" pitchFamily="18" charset="0"/>
              </a:rPr>
              <a:t>амьдралын мөчлөгийн үйл ажиллагааны үе шаттай холбоотой жил бүр дахин давтагдах зардал. </a:t>
            </a:r>
          </a:p>
          <a:p>
            <a:pPr lvl="2" algn="just"/>
            <a:r>
              <a:rPr lang="mn-MN" sz="2400" dirty="0">
                <a:solidFill>
                  <a:srgbClr val="002060"/>
                </a:solidFill>
                <a:latin typeface="Times New Roman" panose="02020603050405020304" pitchFamily="18" charset="0"/>
                <a:cs typeface="Times New Roman" panose="02020603050405020304" pitchFamily="18" charset="0"/>
              </a:rPr>
              <a:t>Хүний нөөц, тоног төхөөрөмж, материал, эрчим хүч, мэдээлэл гэсэн үндсэн 5 анхдагч нөөцтэй холбоотой үйл ажиллагааны шууд ба шууд бус зардлууд нь энэ ангиллын зардлын гол хэсэг юм.</a:t>
            </a:r>
          </a:p>
          <a:p>
            <a:pPr lvl="1" algn="just"/>
            <a:r>
              <a:rPr lang="mn-MN" sz="2800" b="1" dirty="0">
                <a:solidFill>
                  <a:srgbClr val="002060"/>
                </a:solidFill>
                <a:latin typeface="Times New Roman" panose="02020603050405020304" pitchFamily="18" charset="0"/>
                <a:cs typeface="Times New Roman" panose="02020603050405020304" pitchFamily="18" charset="0"/>
              </a:rPr>
              <a:t>Борлуулалтын зардал </a:t>
            </a:r>
            <a:r>
              <a:rPr lang="mn-MN" sz="2800" dirty="0">
                <a:solidFill>
                  <a:srgbClr val="002060"/>
                </a:solidFill>
                <a:latin typeface="Times New Roman" panose="02020603050405020304" pitchFamily="18" charset="0"/>
                <a:cs typeface="Times New Roman" panose="02020603050405020304" pitchFamily="18" charset="0"/>
              </a:rPr>
              <a:t>– тухайн үйл ажиллагааг зогсоож, хөрөнгийг зарах, данснаас хасах зэрэг нэг удаагийн зардал. </a:t>
            </a:r>
          </a:p>
          <a:p>
            <a:pPr lvl="2" algn="just"/>
            <a:r>
              <a:rPr lang="mn-MN" sz="2400" dirty="0">
                <a:solidFill>
                  <a:srgbClr val="002060"/>
                </a:solidFill>
                <a:latin typeface="Times New Roman" panose="02020603050405020304" pitchFamily="18" charset="0"/>
                <a:cs typeface="Times New Roman" panose="02020603050405020304" pitchFamily="18" charset="0"/>
              </a:rPr>
              <a:t>Ихэвчлэн боловсон хүчин, материал, тээвэрлэлт, нэг удаагийн тусгай үйл ажиллагаатай холбоотой зардлыг тооцдог. Зарим тохиолдолд эдгээр зардлыг зах зээлийн үнээр үлдсэн хөрөнгийг борлуулсан мөнгөөр нөхдөг. </a:t>
            </a:r>
            <a:endParaRPr lang="mn-MN" sz="3200" dirty="0">
              <a:solidFill>
                <a:srgbClr val="002060"/>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14EA5153-EADC-4AB3-8E94-A0839620D027}"/>
              </a:ext>
            </a:extLst>
          </p:cNvPr>
          <p:cNvSpPr txBox="1">
            <a:spLocks/>
          </p:cNvSpPr>
          <p:nvPr/>
        </p:nvSpPr>
        <p:spPr>
          <a:xfrm>
            <a:off x="202095" y="166344"/>
            <a:ext cx="10515600" cy="35049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3200" b="1" dirty="0">
                <a:solidFill>
                  <a:srgbClr val="002060"/>
                </a:solidFill>
                <a:latin typeface="Times New Roman" panose="02020603050405020304" pitchFamily="18" charset="0"/>
                <a:cs typeface="Times New Roman" panose="02020603050405020304" pitchFamily="18" charset="0"/>
              </a:rPr>
              <a:t>1. Зардал, орлого, тэдгээрийн ангилал</a:t>
            </a:r>
            <a:r>
              <a:rPr lang="en-US" sz="3200" b="1" dirty="0">
                <a:solidFill>
                  <a:srgbClr val="002060"/>
                </a:solidFill>
                <a:latin typeface="Times New Roman" panose="02020603050405020304" pitchFamily="18" charset="0"/>
                <a:cs typeface="Times New Roman" panose="02020603050405020304" pitchFamily="18" charset="0"/>
              </a:rPr>
              <a:t> (7)</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9088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78E184-F832-55B7-D6F1-732B89A9A825}"/>
              </a:ext>
            </a:extLst>
          </p:cNvPr>
          <p:cNvPicPr>
            <a:picLocks noChangeAspect="1"/>
          </p:cNvPicPr>
          <p:nvPr/>
        </p:nvPicPr>
        <p:blipFill>
          <a:blip r:embed="rId3"/>
          <a:stretch>
            <a:fillRect/>
          </a:stretch>
        </p:blipFill>
        <p:spPr>
          <a:xfrm>
            <a:off x="364435" y="13252"/>
            <a:ext cx="11463130" cy="6698558"/>
          </a:xfrm>
          <a:prstGeom prst="rect">
            <a:avLst/>
          </a:prstGeom>
        </p:spPr>
      </p:pic>
      <p:sp>
        <p:nvSpPr>
          <p:cNvPr id="6" name="Title 5">
            <a:extLst>
              <a:ext uri="{FF2B5EF4-FFF2-40B4-BE49-F238E27FC236}">
                <a16:creationId xmlns:a16="http://schemas.microsoft.com/office/drawing/2014/main" id="{0A811383-586D-211A-7D97-C7795F4E8AD4}"/>
              </a:ext>
            </a:extLst>
          </p:cNvPr>
          <p:cNvSpPr>
            <a:spLocks noGrp="1"/>
          </p:cNvSpPr>
          <p:nvPr>
            <p:ph type="title"/>
          </p:nvPr>
        </p:nvSpPr>
        <p:spPr>
          <a:xfrm>
            <a:off x="232078" y="331305"/>
            <a:ext cx="4021870" cy="954918"/>
          </a:xfrm>
        </p:spPr>
        <p:txBody>
          <a:bodyPr>
            <a:normAutofit fontScale="90000"/>
          </a:bodyPr>
          <a:lstStyle/>
          <a:p>
            <a:pPr algn="ctr"/>
            <a:r>
              <a:rPr lang="mn-MN" sz="3200" b="1" dirty="0">
                <a:solidFill>
                  <a:srgbClr val="002060"/>
                </a:solidFill>
                <a:latin typeface="Times New Roman" panose="02020603050405020304" pitchFamily="18" charset="0"/>
                <a:cs typeface="Times New Roman" panose="02020603050405020304" pitchFamily="18" charset="0"/>
              </a:rPr>
              <a:t>Зардлын өөр нэг ангилал</a:t>
            </a:r>
            <a:endParaRPr lang="en-US" sz="3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936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4298-089F-FC5C-D385-52629522C97F}"/>
              </a:ext>
            </a:extLst>
          </p:cNvPr>
          <p:cNvSpPr>
            <a:spLocks noGrp="1"/>
          </p:cNvSpPr>
          <p:nvPr>
            <p:ph type="title"/>
          </p:nvPr>
        </p:nvSpPr>
        <p:spPr>
          <a:xfrm>
            <a:off x="162339" y="113335"/>
            <a:ext cx="10515600" cy="337240"/>
          </a:xfrm>
        </p:spPr>
        <p:txBody>
          <a:bodyPr>
            <a:noAutofit/>
          </a:bodyPr>
          <a:lstStyle/>
          <a:p>
            <a:r>
              <a:rPr lang="ru-RU" sz="2800" b="1" dirty="0">
                <a:solidFill>
                  <a:srgbClr val="002060"/>
                </a:solidFill>
                <a:latin typeface="Times New Roman" panose="02020603050405020304" pitchFamily="18" charset="0"/>
                <a:cs typeface="Times New Roman" panose="02020603050405020304" pitchFamily="18" charset="0"/>
              </a:rPr>
              <a:t>Эдийн засгийн ерөнхий орчин</a:t>
            </a:r>
            <a:endParaRPr lang="en-US" sz="2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C1D5CA-D0F8-57F9-C2FF-65BB6C543AD4}"/>
              </a:ext>
            </a:extLst>
          </p:cNvPr>
          <p:cNvSpPr>
            <a:spLocks noGrp="1"/>
          </p:cNvSpPr>
          <p:nvPr>
            <p:ph idx="1"/>
          </p:nvPr>
        </p:nvSpPr>
        <p:spPr>
          <a:xfrm>
            <a:off x="162339" y="450575"/>
            <a:ext cx="11830878" cy="6029738"/>
          </a:xfrm>
        </p:spPr>
        <p:txBody>
          <a:bodyPr>
            <a:normAutofit/>
          </a:bodyPr>
          <a:lstStyle/>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Үйлдвэрлэж, ашиглаж буй бүх бараа бүтээгдэхүүн, үйлчилгээг </a:t>
            </a:r>
          </a:p>
          <a:p>
            <a:pPr lvl="1" algn="just">
              <a:spcBef>
                <a:spcPts val="200"/>
              </a:spcBef>
            </a:pPr>
            <a:r>
              <a:rPr lang="mn-MN" sz="2800" b="1" dirty="0">
                <a:solidFill>
                  <a:srgbClr val="002060"/>
                </a:solidFill>
                <a:latin typeface="Times New Roman" panose="02020603050405020304" pitchFamily="18" charset="0"/>
                <a:cs typeface="Times New Roman" panose="02020603050405020304" pitchFamily="18" charset="0"/>
              </a:rPr>
              <a:t>Хэрэглэгчийн</a:t>
            </a:r>
            <a:r>
              <a:rPr lang="mn-MN" sz="2800" dirty="0">
                <a:solidFill>
                  <a:srgbClr val="002060"/>
                </a:solidFill>
                <a:latin typeface="Times New Roman" panose="02020603050405020304" pitchFamily="18" charset="0"/>
                <a:cs typeface="Times New Roman" panose="02020603050405020304" pitchFamily="18" charset="0"/>
              </a:rPr>
              <a:t> – хүмүүс хэрэгцээгээ хангахын тулд шууд хэрэглэж буй бүтээгдэхүүн, үйлчилгээ юм. Жишээ: Хоол хүнс, хувцас, гэр, машин, телевиз, үс засалт, дуурь үзэх, эмнэлгийн үйлчилгээ</a:t>
            </a:r>
          </a:p>
          <a:p>
            <a:pPr lvl="1" algn="just">
              <a:spcBef>
                <a:spcPts val="200"/>
              </a:spcBef>
            </a:pPr>
            <a:r>
              <a:rPr lang="mn-MN" sz="2800" b="1" dirty="0">
                <a:solidFill>
                  <a:srgbClr val="002060"/>
                </a:solidFill>
                <a:latin typeface="Times New Roman" panose="02020603050405020304" pitchFamily="18" charset="0"/>
                <a:cs typeface="Times New Roman" panose="02020603050405020304" pitchFamily="18" charset="0"/>
              </a:rPr>
              <a:t>Үйлдвэрлэгчийн</a:t>
            </a:r>
            <a:r>
              <a:rPr lang="mn-MN" sz="2800" dirty="0">
                <a:solidFill>
                  <a:srgbClr val="002060"/>
                </a:solidFill>
                <a:latin typeface="Times New Roman" panose="02020603050405020304" pitchFamily="18" charset="0"/>
                <a:cs typeface="Times New Roman" panose="02020603050405020304" pitchFamily="18" charset="0"/>
              </a:rPr>
              <a:t> – хэрэглэгчийн бараа, үйлчилгээ болон бусад үйлдвэрлэгчдийн бүтээгдэхүүнийг үйлдвэрлэхэд ашигладаг бараа үйлчилгээ юм. Жишээ: Машины эд анги, үйлдвэрийн барилга, автобус, фермийн машин </a:t>
            </a:r>
          </a:p>
          <a:p>
            <a:pPr marL="0" indent="0" algn="just">
              <a:spcBef>
                <a:spcPts val="200"/>
              </a:spcBef>
              <a:buNone/>
            </a:pPr>
            <a:r>
              <a:rPr lang="mn-MN" sz="3200" dirty="0">
                <a:solidFill>
                  <a:srgbClr val="002060"/>
                </a:solidFill>
                <a:latin typeface="Times New Roman" panose="02020603050405020304" pitchFamily="18" charset="0"/>
                <a:cs typeface="Times New Roman" panose="02020603050405020304" pitchFamily="18" charset="0"/>
              </a:rPr>
              <a:t>	гэж хоёр ангилна.</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Бараа бүтээгдэхүүн, үйлчилгээг </a:t>
            </a:r>
          </a:p>
          <a:p>
            <a:pPr lvl="1" algn="just">
              <a:spcBef>
                <a:spcPts val="200"/>
              </a:spcBef>
            </a:pPr>
            <a:r>
              <a:rPr lang="mn-MN" sz="2800" b="1" dirty="0">
                <a:solidFill>
                  <a:srgbClr val="002060"/>
                </a:solidFill>
                <a:latin typeface="Times New Roman" panose="02020603050405020304" pitchFamily="18" charset="0"/>
                <a:cs typeface="Times New Roman" panose="02020603050405020304" pitchFamily="18" charset="0"/>
              </a:rPr>
              <a:t>Энгийн хэрэглээний </a:t>
            </a:r>
          </a:p>
          <a:p>
            <a:pPr lvl="1" algn="just">
              <a:spcBef>
                <a:spcPts val="200"/>
              </a:spcBef>
            </a:pPr>
            <a:r>
              <a:rPr lang="mn-MN" sz="2800" b="1" dirty="0">
                <a:solidFill>
                  <a:srgbClr val="002060"/>
                </a:solidFill>
                <a:latin typeface="Times New Roman" panose="02020603050405020304" pitchFamily="18" charset="0"/>
                <a:cs typeface="Times New Roman" panose="02020603050405020304" pitchFamily="18" charset="0"/>
              </a:rPr>
              <a:t>Тансаг хэрэглээний </a:t>
            </a:r>
            <a:r>
              <a:rPr lang="mn-MN" sz="2800" dirty="0">
                <a:solidFill>
                  <a:srgbClr val="002060"/>
                </a:solidFill>
                <a:latin typeface="Times New Roman" panose="02020603050405020304" pitchFamily="18" charset="0"/>
                <a:cs typeface="Times New Roman" panose="02020603050405020304" pitchFamily="18" charset="0"/>
              </a:rPr>
              <a:t>гэсэн хоёр төрөлд хуваадаг. </a:t>
            </a:r>
          </a:p>
          <a:p>
            <a:pPr lvl="2" algn="just">
              <a:spcBef>
                <a:spcPts val="200"/>
              </a:spcBef>
            </a:pPr>
            <a:r>
              <a:rPr lang="mn-MN" sz="2400" dirty="0">
                <a:solidFill>
                  <a:srgbClr val="002060"/>
                </a:solidFill>
                <a:latin typeface="Times New Roman" panose="02020603050405020304" pitchFamily="18" charset="0"/>
                <a:cs typeface="Times New Roman" panose="02020603050405020304" pitchFamily="18" charset="0"/>
              </a:rPr>
              <a:t>Эдгээр нэр томъёо харьцангуй ойлголт юм.</a:t>
            </a:r>
          </a:p>
        </p:txBody>
      </p:sp>
    </p:spTree>
    <p:extLst>
      <p:ext uri="{BB962C8B-B14F-4D97-AF65-F5344CB8AC3E}">
        <p14:creationId xmlns:p14="http://schemas.microsoft.com/office/powerpoint/2010/main" val="1297281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4298-089F-FC5C-D385-52629522C97F}"/>
              </a:ext>
            </a:extLst>
          </p:cNvPr>
          <p:cNvSpPr>
            <a:spLocks noGrp="1"/>
          </p:cNvSpPr>
          <p:nvPr>
            <p:ph type="title"/>
          </p:nvPr>
        </p:nvSpPr>
        <p:spPr>
          <a:xfrm>
            <a:off x="119270" y="139838"/>
            <a:ext cx="10695687" cy="681797"/>
          </a:xfrm>
        </p:spPr>
        <p:txBody>
          <a:bodyPr>
            <a:noAutofit/>
          </a:bodyPr>
          <a:lstStyle/>
          <a:p>
            <a:r>
              <a:rPr lang="ru-RU" sz="2800" b="1" dirty="0">
                <a:solidFill>
                  <a:srgbClr val="002060"/>
                </a:solidFill>
                <a:latin typeface="Times New Roman" panose="02020603050405020304" pitchFamily="18" charset="0"/>
                <a:cs typeface="Times New Roman" panose="02020603050405020304" pitchFamily="18" charset="0"/>
              </a:rPr>
              <a:t>Эдийн засгийн ерөнхий орчин</a:t>
            </a:r>
            <a:r>
              <a:rPr lang="en-US" sz="2800" b="1" dirty="0">
                <a:solidFill>
                  <a:srgbClr val="002060"/>
                </a:solidFill>
                <a:latin typeface="Times New Roman" panose="02020603050405020304" pitchFamily="18" charset="0"/>
                <a:cs typeface="Times New Roman" panose="02020603050405020304" pitchFamily="18" charset="0"/>
              </a:rPr>
              <a:t> (2)</a:t>
            </a:r>
            <a:br>
              <a:rPr lang="mn-MN" sz="2800" b="1" dirty="0">
                <a:solidFill>
                  <a:srgbClr val="002060"/>
                </a:solidFill>
                <a:latin typeface="Times New Roman" panose="02020603050405020304" pitchFamily="18" charset="0"/>
                <a:cs typeface="Times New Roman" panose="02020603050405020304" pitchFamily="18" charset="0"/>
              </a:rPr>
            </a:br>
            <a:r>
              <a:rPr lang="mn-MN" sz="2800" b="1" dirty="0">
                <a:solidFill>
                  <a:srgbClr val="002060"/>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2.1. Эдийн засгийн үнийн хэмжүүр</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C1D5CA-D0F8-57F9-C2FF-65BB6C543AD4}"/>
              </a:ext>
            </a:extLst>
          </p:cNvPr>
          <p:cNvSpPr>
            <a:spLocks noGrp="1"/>
          </p:cNvSpPr>
          <p:nvPr>
            <p:ph idx="1"/>
          </p:nvPr>
        </p:nvSpPr>
        <p:spPr>
          <a:xfrm>
            <a:off x="0" y="821634"/>
            <a:ext cx="12019722" cy="5896527"/>
          </a:xfrm>
        </p:spPr>
        <p:txBody>
          <a:bodyPr>
            <a:normAutofit fontScale="92500" lnSpcReduction="20000"/>
          </a:bodyPr>
          <a:lstStyle/>
          <a:p>
            <a:pPr algn="just"/>
            <a:r>
              <a:rPr lang="mn-MN" sz="3600" dirty="0">
                <a:solidFill>
                  <a:srgbClr val="002060"/>
                </a:solidFill>
                <a:latin typeface="Times New Roman" panose="02020603050405020304" pitchFamily="18" charset="0"/>
                <a:cs typeface="Times New Roman" panose="02020603050405020304" pitchFamily="18" charset="0"/>
              </a:rPr>
              <a:t>Бараа бүтээгдэхүүн, үйлчилгээ нь хүмүүсийн эрэлт, хэрэгцээг хангах шинж чанартай учраас ашиг тустай байдаг. Тиймээс тэдгээрийг шууд хэрэглэхээс гадна бусад бараа, үйлчилгээг үйлдвэрлэхэд хэрэглэж болно. Ашиг тусыг тодорхой нэр төрлийн бараа бүтээгдэхүүнийг авахын тулд </a:t>
            </a:r>
            <a:r>
              <a:rPr lang="mn-MN" sz="3600" b="1" dirty="0">
                <a:solidFill>
                  <a:srgbClr val="002060"/>
                </a:solidFill>
                <a:latin typeface="Times New Roman" panose="02020603050405020304" pitchFamily="18" charset="0"/>
                <a:cs typeface="Times New Roman" panose="02020603050405020304" pitchFamily="18" charset="0"/>
              </a:rPr>
              <a:t>төлөх ёстой үнээр </a:t>
            </a:r>
            <a:r>
              <a:rPr lang="mn-MN" sz="3600" dirty="0">
                <a:solidFill>
                  <a:srgbClr val="002060"/>
                </a:solidFill>
                <a:latin typeface="Times New Roman" panose="02020603050405020304" pitchFamily="18" charset="0"/>
                <a:cs typeface="Times New Roman" panose="02020603050405020304" pitchFamily="18" charset="0"/>
              </a:rPr>
              <a:t>хэмждэг. </a:t>
            </a:r>
          </a:p>
          <a:p>
            <a:pPr algn="just"/>
            <a:r>
              <a:rPr lang="mn-MN" sz="3600" dirty="0">
                <a:solidFill>
                  <a:srgbClr val="002060"/>
                </a:solidFill>
                <a:latin typeface="Times New Roman" panose="02020603050405020304" pitchFamily="18" charset="0"/>
                <a:cs typeface="Times New Roman" panose="02020603050405020304" pitchFamily="18" charset="0"/>
              </a:rPr>
              <a:t>Товчоор хэлбэл</a:t>
            </a:r>
            <a:r>
              <a:rPr lang="mn-MN" sz="3600" b="1" dirty="0">
                <a:solidFill>
                  <a:srgbClr val="002060"/>
                </a:solidFill>
                <a:latin typeface="Times New Roman" panose="02020603050405020304" pitchFamily="18" charset="0"/>
                <a:cs typeface="Times New Roman" panose="02020603050405020304" pitchFamily="18" charset="0"/>
              </a:rPr>
              <a:t>, ашиг тусыг үнээр хэмждэг. </a:t>
            </a:r>
          </a:p>
          <a:p>
            <a:pPr algn="just"/>
            <a:r>
              <a:rPr lang="mn-MN" sz="3600" dirty="0">
                <a:solidFill>
                  <a:srgbClr val="002060"/>
                </a:solidFill>
                <a:latin typeface="Times New Roman" panose="02020603050405020304" pitchFamily="18" charset="0"/>
                <a:cs typeface="Times New Roman" panose="02020603050405020304" pitchFamily="18" charset="0"/>
              </a:rPr>
              <a:t>Бизнесийн үйл ажиллагаа, тэр дундаа </a:t>
            </a:r>
            <a:r>
              <a:rPr lang="mn-MN" sz="3600" b="1" dirty="0">
                <a:solidFill>
                  <a:srgbClr val="002060"/>
                </a:solidFill>
                <a:latin typeface="Times New Roman" panose="02020603050405020304" pitchFamily="18" charset="0"/>
                <a:cs typeface="Times New Roman" panose="02020603050405020304" pitchFamily="18" charset="0"/>
              </a:rPr>
              <a:t>инженерчлэл нь </a:t>
            </a:r>
            <a:r>
              <a:rPr lang="mn-MN" sz="3600" dirty="0">
                <a:solidFill>
                  <a:srgbClr val="002060"/>
                </a:solidFill>
                <a:latin typeface="Times New Roman" panose="02020603050405020304" pitchFamily="18" charset="0"/>
                <a:cs typeface="Times New Roman" panose="02020603050405020304" pitchFamily="18" charset="0"/>
              </a:rPr>
              <a:t>материал болон бүтээгдэхүүний </a:t>
            </a:r>
            <a:r>
              <a:rPr lang="mn-MN" sz="3600" b="1" dirty="0">
                <a:solidFill>
                  <a:srgbClr val="002060"/>
                </a:solidFill>
                <a:latin typeface="Times New Roman" panose="02020603050405020304" pitchFamily="18" charset="0"/>
                <a:cs typeface="Times New Roman" panose="02020603050405020304" pitchFamily="18" charset="0"/>
              </a:rPr>
              <a:t>ашиг тусыг (үнэ цэнийг) тэдгээрийн хэлбэр, байршлыг өөрчлөх замаар нэмэгдүүлэхийг зорьдог. </a:t>
            </a:r>
          </a:p>
          <a:p>
            <a:pPr lvl="1" algn="just"/>
            <a:r>
              <a:rPr lang="mn-MN" sz="3200" dirty="0">
                <a:solidFill>
                  <a:srgbClr val="002060"/>
                </a:solidFill>
                <a:latin typeface="Times New Roman" panose="02020603050405020304" pitchFamily="18" charset="0"/>
                <a:cs typeface="Times New Roman" panose="02020603050405020304" pitchFamily="18" charset="0"/>
              </a:rPr>
              <a:t>Жишээлбэл, тонн тутамдаа хэдхэн доллароор үнэлэгддэг төмрийн хүдрийг боловсруулж, улмаар сахлын хутганы ир болгон хувиргаснаар үнэ цэнийг нэмэгдүүлэх боломжтой.</a:t>
            </a:r>
            <a:endParaRPr lang="mn-M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3320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4298-089F-FC5C-D385-52629522C97F}"/>
              </a:ext>
            </a:extLst>
          </p:cNvPr>
          <p:cNvSpPr>
            <a:spLocks noGrp="1"/>
          </p:cNvSpPr>
          <p:nvPr>
            <p:ph type="title"/>
          </p:nvPr>
        </p:nvSpPr>
        <p:spPr>
          <a:xfrm>
            <a:off x="106755" y="73579"/>
            <a:ext cx="10515600" cy="583096"/>
          </a:xfrm>
        </p:spPr>
        <p:txBody>
          <a:bodyPr>
            <a:noAutofit/>
          </a:bodyPr>
          <a:lstStyle/>
          <a:p>
            <a:r>
              <a:rPr lang="ru-RU" sz="2400" b="1" dirty="0">
                <a:solidFill>
                  <a:srgbClr val="002060"/>
                </a:solidFill>
                <a:latin typeface="Times New Roman" panose="02020603050405020304" pitchFamily="18" charset="0"/>
                <a:cs typeface="Times New Roman" panose="02020603050405020304" pitchFamily="18" charset="0"/>
              </a:rPr>
              <a:t>Эдийн засгийн ерөнхий орчин</a:t>
            </a:r>
            <a:r>
              <a:rPr lang="en-US" sz="2400" b="1" dirty="0">
                <a:solidFill>
                  <a:srgbClr val="002060"/>
                </a:solidFill>
                <a:latin typeface="Times New Roman" panose="02020603050405020304" pitchFamily="18" charset="0"/>
                <a:cs typeface="Times New Roman" panose="02020603050405020304" pitchFamily="18" charset="0"/>
              </a:rPr>
              <a:t> </a:t>
            </a:r>
            <a:br>
              <a:rPr lang="mn-MN" sz="2400" b="1" dirty="0">
                <a:solidFill>
                  <a:srgbClr val="002060"/>
                </a:solidFill>
                <a:latin typeface="Times New Roman" panose="02020603050405020304" pitchFamily="18" charset="0"/>
                <a:cs typeface="Times New Roman" panose="02020603050405020304" pitchFamily="18" charset="0"/>
              </a:rPr>
            </a:br>
            <a:r>
              <a:rPr lang="mn-MN" sz="2400" b="1" dirty="0">
                <a:solidFill>
                  <a:srgbClr val="002060"/>
                </a:solidFill>
                <a:latin typeface="Times New Roman" panose="02020603050405020304" pitchFamily="18" charset="0"/>
                <a:cs typeface="Times New Roman" panose="02020603050405020304" pitchFamily="18" charset="0"/>
              </a:rPr>
              <a:t>	</a:t>
            </a:r>
            <a:r>
              <a:rPr lang="mn-MN" sz="2400" b="1" dirty="0">
                <a:solidFill>
                  <a:schemeClr val="accent2">
                    <a:lumMod val="75000"/>
                  </a:schemeClr>
                </a:solidFill>
                <a:latin typeface="Times New Roman" panose="02020603050405020304" pitchFamily="18" charset="0"/>
                <a:cs typeface="Times New Roman" panose="02020603050405020304" pitchFamily="18" charset="0"/>
              </a:rPr>
              <a:t>2.2. Эдийн засгийн үнэ ба эрэлт</a:t>
            </a: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C1D5CA-D0F8-57F9-C2FF-65BB6C543AD4}"/>
                  </a:ext>
                </a:extLst>
              </p:cNvPr>
              <p:cNvSpPr>
                <a:spLocks noGrp="1"/>
              </p:cNvSpPr>
              <p:nvPr>
                <p:ph idx="1"/>
              </p:nvPr>
            </p:nvSpPr>
            <p:spPr>
              <a:xfrm>
                <a:off x="3900190" y="656675"/>
                <a:ext cx="8159287" cy="5704368"/>
              </a:xfrm>
            </p:spPr>
            <p:txBody>
              <a:bodyPr>
                <a:normAutofit fontScale="85000" lnSpcReduction="10000"/>
              </a:bodyPr>
              <a:lstStyle/>
              <a:p>
                <a:pPr algn="just"/>
                <a:r>
                  <a:rPr lang="mn-MN" sz="3600" dirty="0">
                    <a:solidFill>
                      <a:srgbClr val="002060"/>
                    </a:solidFill>
                    <a:latin typeface="Times New Roman" panose="02020603050405020304" pitchFamily="18" charset="0"/>
                    <a:cs typeface="Times New Roman" panose="02020603050405020304" pitchFamily="18" charset="0"/>
                  </a:rPr>
                  <a:t>Бүх бараа, үйлчилгээний хувьд төлөх ёстой үнэ, шаардагдаж буй болон худалдаж байгаа тоо хэмжээний хооронд </a:t>
                </a:r>
                <a:r>
                  <a:rPr lang="mn-MN" sz="3600" b="1" dirty="0">
                    <a:solidFill>
                      <a:srgbClr val="002060"/>
                    </a:solidFill>
                    <a:latin typeface="Times New Roman" panose="02020603050405020304" pitchFamily="18" charset="0"/>
                    <a:cs typeface="Times New Roman" panose="02020603050405020304" pitchFamily="18" charset="0"/>
                  </a:rPr>
                  <a:t>хамаарал</a:t>
                </a:r>
                <a:r>
                  <a:rPr lang="mn-MN" sz="3600" dirty="0">
                    <a:solidFill>
                      <a:srgbClr val="002060"/>
                    </a:solidFill>
                    <a:latin typeface="Times New Roman" panose="02020603050405020304" pitchFamily="18" charset="0"/>
                    <a:cs typeface="Times New Roman" panose="02020603050405020304" pitchFamily="18" charset="0"/>
                  </a:rPr>
                  <a:t> байдаг.</a:t>
                </a:r>
              </a:p>
              <a:p>
                <a:pPr algn="just"/>
                <a:r>
                  <a:rPr lang="mn-MN" sz="3600" dirty="0">
                    <a:solidFill>
                      <a:srgbClr val="002060"/>
                    </a:solidFill>
                    <a:latin typeface="Times New Roman" panose="02020603050405020304" pitchFamily="18" charset="0"/>
                    <a:cs typeface="Times New Roman" panose="02020603050405020304" pitchFamily="18" charset="0"/>
                  </a:rPr>
                  <a:t>Нэгж барааны борлуулалтын үнэ (</a:t>
                </a:r>
                <a:r>
                  <a:rPr lang="en-US" sz="3600" dirty="0">
                    <a:solidFill>
                      <a:srgbClr val="002060"/>
                    </a:solidFill>
                    <a:latin typeface="Times New Roman" panose="02020603050405020304" pitchFamily="18" charset="0"/>
                    <a:cs typeface="Times New Roman" panose="02020603050405020304" pitchFamily="18" charset="0"/>
                  </a:rPr>
                  <a:t>p) </a:t>
                </a:r>
                <a:r>
                  <a:rPr lang="mn-MN" sz="3600" dirty="0">
                    <a:solidFill>
                      <a:srgbClr val="002060"/>
                    </a:solidFill>
                    <a:latin typeface="Times New Roman" panose="02020603050405020304" pitchFamily="18" charset="0"/>
                    <a:cs typeface="Times New Roman" panose="02020603050405020304" pitchFamily="18" charset="0"/>
                  </a:rPr>
                  <a:t>өсөхийн хэрээр бүтээгдэхүүний эрэлт (</a:t>
                </a:r>
                <a:r>
                  <a:rPr lang="en-US" sz="3600" dirty="0">
                    <a:solidFill>
                      <a:srgbClr val="002060"/>
                    </a:solidFill>
                    <a:latin typeface="Times New Roman" panose="02020603050405020304" pitchFamily="18" charset="0"/>
                    <a:cs typeface="Times New Roman" panose="02020603050405020304" pitchFamily="18" charset="0"/>
                  </a:rPr>
                  <a:t>D) </a:t>
                </a:r>
                <a:r>
                  <a:rPr lang="mn-MN" sz="3600" dirty="0">
                    <a:solidFill>
                      <a:srgbClr val="002060"/>
                    </a:solidFill>
                    <a:latin typeface="Times New Roman" panose="02020603050405020304" pitchFamily="18" charset="0"/>
                    <a:cs typeface="Times New Roman" panose="02020603050405020304" pitchFamily="18" charset="0"/>
                  </a:rPr>
                  <a:t>буурах ба нэгж барааны борлуулалтын үнэ буурахад эрэлт өснө. </a:t>
                </a:r>
              </a:p>
              <a:p>
                <a:pPr marL="0" indent="0" algn="just">
                  <a:buNone/>
                </a:pPr>
                <a14:m>
                  <m:oMathPara xmlns:m="http://schemas.openxmlformats.org/officeDocument/2006/math">
                    <m:oMathParaPr>
                      <m:jc m:val="centerGroup"/>
                    </m:oMathParaPr>
                    <m:oMath xmlns:m="http://schemas.openxmlformats.org/officeDocument/2006/math">
                      <m:r>
                        <a:rPr lang="en-US" sz="3600" smtClean="0">
                          <a:latin typeface="Cambria Math" panose="02040503050406030204" pitchFamily="18" charset="0"/>
                        </a:rPr>
                        <m:t>0</m:t>
                      </m:r>
                      <m:r>
                        <a:rPr lang="en-US" sz="3600" i="0">
                          <a:latin typeface="Cambria Math" panose="02040503050406030204" pitchFamily="18" charset="0"/>
                        </a:rPr>
                        <m:t>≤</m:t>
                      </m:r>
                      <m:r>
                        <a:rPr lang="en-US" sz="3600" i="1">
                          <a:latin typeface="Cambria Math" panose="02040503050406030204" pitchFamily="18" charset="0"/>
                        </a:rPr>
                        <m:t>𝐷</m:t>
                      </m:r>
                      <m:r>
                        <a:rPr lang="en-US" sz="3600" i="0">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𝑎</m:t>
                          </m:r>
                        </m:num>
                        <m:den>
                          <m:r>
                            <a:rPr lang="en-US" sz="3600" i="1">
                              <a:latin typeface="Cambria Math" panose="02040503050406030204" pitchFamily="18" charset="0"/>
                            </a:rPr>
                            <m:t>𝑏</m:t>
                          </m:r>
                        </m:den>
                      </m:f>
                      <m:r>
                        <a:rPr lang="en-US" sz="3600" i="0">
                          <a:latin typeface="Cambria Math" panose="02040503050406030204" pitchFamily="18" charset="0"/>
                        </a:rPr>
                        <m:t> , </m:t>
                      </m:r>
                      <m:r>
                        <a:rPr lang="en-US" sz="3600" i="1">
                          <a:latin typeface="Cambria Math" panose="02040503050406030204" pitchFamily="18" charset="0"/>
                        </a:rPr>
                        <m:t>𝑎</m:t>
                      </m:r>
                      <m:r>
                        <a:rPr lang="en-US" sz="3600" i="0">
                          <a:latin typeface="Cambria Math" panose="02040503050406030204" pitchFamily="18" charset="0"/>
                        </a:rPr>
                        <m:t>&gt;0, </m:t>
                      </m:r>
                      <m:r>
                        <a:rPr lang="en-US" sz="3600" i="1">
                          <a:latin typeface="Cambria Math" panose="02040503050406030204" pitchFamily="18" charset="0"/>
                        </a:rPr>
                        <m:t>𝑏</m:t>
                      </m:r>
                      <m:r>
                        <a:rPr lang="en-US" sz="3600" i="0">
                          <a:latin typeface="Cambria Math" panose="02040503050406030204" pitchFamily="18" charset="0"/>
                        </a:rPr>
                        <m:t>&gt;0       үед     </m:t>
                      </m:r>
                    </m:oMath>
                  </m:oMathPara>
                </a14:m>
                <a:endParaRPr lang="en-US" sz="3600" i="0" dirty="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7800" i="1" smtClean="0">
                          <a:solidFill>
                            <a:srgbClr val="FF0000"/>
                          </a:solidFill>
                          <a:latin typeface="Cambria Math" panose="02040503050406030204" pitchFamily="18" charset="0"/>
                        </a:rPr>
                        <m:t>𝑝</m:t>
                      </m:r>
                      <m:r>
                        <a:rPr lang="en-US" sz="7800" i="0">
                          <a:solidFill>
                            <a:srgbClr val="FF0000"/>
                          </a:solidFill>
                          <a:latin typeface="Cambria Math" panose="02040503050406030204" pitchFamily="18" charset="0"/>
                        </a:rPr>
                        <m:t>=</m:t>
                      </m:r>
                      <m:r>
                        <a:rPr lang="en-US" sz="7800" i="1">
                          <a:solidFill>
                            <a:srgbClr val="FF0000"/>
                          </a:solidFill>
                          <a:latin typeface="Cambria Math" panose="02040503050406030204" pitchFamily="18" charset="0"/>
                        </a:rPr>
                        <m:t>𝑎</m:t>
                      </m:r>
                      <m:r>
                        <a:rPr lang="en-US" sz="7800" i="0">
                          <a:solidFill>
                            <a:srgbClr val="FF0000"/>
                          </a:solidFill>
                          <a:latin typeface="Cambria Math" panose="02040503050406030204" pitchFamily="18" charset="0"/>
                        </a:rPr>
                        <m:t>−</m:t>
                      </m:r>
                      <m:r>
                        <a:rPr lang="en-US" sz="7800" i="1">
                          <a:solidFill>
                            <a:srgbClr val="FF0000"/>
                          </a:solidFill>
                          <a:latin typeface="Cambria Math" panose="02040503050406030204" pitchFamily="18" charset="0"/>
                        </a:rPr>
                        <m:t>𝑏𝐷</m:t>
                      </m:r>
                    </m:oMath>
                  </m:oMathPara>
                </a14:m>
                <a:endParaRPr lang="en-US" sz="7800" dirty="0">
                  <a:latin typeface="Times New Roman" panose="02020603050405020304" pitchFamily="18" charset="0"/>
                  <a:cs typeface="Times New Roman" panose="02020603050405020304" pitchFamily="18" charset="0"/>
                </a:endParaRPr>
              </a:p>
              <a:p>
                <a:pPr lvl="1" algn="just"/>
                <a:r>
                  <a:rPr lang="mn-MN" sz="3200" dirty="0">
                    <a:solidFill>
                      <a:srgbClr val="002060"/>
                    </a:solidFill>
                    <a:latin typeface="Times New Roman" panose="02020603050405020304" pitchFamily="18" charset="0"/>
                    <a:cs typeface="Times New Roman" panose="02020603050405020304" pitchFamily="18" charset="0"/>
                  </a:rPr>
                  <a:t>Энд: </a:t>
                </a:r>
                <a:r>
                  <a:rPr lang="en-US" sz="3200" i="1" dirty="0">
                    <a:solidFill>
                      <a:srgbClr val="002060"/>
                    </a:solidFill>
                    <a:latin typeface="Times New Roman" panose="02020603050405020304" pitchFamily="18" charset="0"/>
                    <a:cs typeface="Times New Roman" panose="02020603050405020304" pitchFamily="18" charset="0"/>
                  </a:rPr>
                  <a:t>p</a:t>
                </a:r>
                <a:r>
                  <a:rPr lang="en-US" sz="3200" dirty="0">
                    <a:solidFill>
                      <a:srgbClr val="002060"/>
                    </a:solidFill>
                    <a:latin typeface="Times New Roman" panose="02020603050405020304" pitchFamily="18" charset="0"/>
                    <a:cs typeface="Times New Roman" panose="02020603050405020304" pitchFamily="18" charset="0"/>
                  </a:rPr>
                  <a:t> – </a:t>
                </a:r>
                <a:r>
                  <a:rPr lang="mn-MN" sz="3200" dirty="0">
                    <a:solidFill>
                      <a:srgbClr val="002060"/>
                    </a:solidFill>
                    <a:latin typeface="Times New Roman" panose="02020603050405020304" pitchFamily="18" charset="0"/>
                    <a:cs typeface="Times New Roman" panose="02020603050405020304" pitchFamily="18" charset="0"/>
                  </a:rPr>
                  <a:t>үнэ; </a:t>
                </a:r>
                <a:r>
                  <a:rPr lang="en-US" sz="3200" i="1" dirty="0">
                    <a:solidFill>
                      <a:srgbClr val="002060"/>
                    </a:solidFill>
                    <a:latin typeface="Times New Roman" panose="02020603050405020304" pitchFamily="18" charset="0"/>
                    <a:cs typeface="Times New Roman" panose="02020603050405020304" pitchFamily="18" charset="0"/>
                  </a:rPr>
                  <a:t>D</a:t>
                </a:r>
                <a:r>
                  <a:rPr lang="en-US" sz="3200" dirty="0">
                    <a:solidFill>
                      <a:srgbClr val="002060"/>
                    </a:solidFill>
                    <a:latin typeface="Times New Roman" panose="02020603050405020304" pitchFamily="18" charset="0"/>
                    <a:cs typeface="Times New Roman" panose="02020603050405020304" pitchFamily="18" charset="0"/>
                  </a:rPr>
                  <a:t> – </a:t>
                </a:r>
                <a:r>
                  <a:rPr lang="mn-MN" sz="3200" dirty="0">
                    <a:solidFill>
                      <a:srgbClr val="002060"/>
                    </a:solidFill>
                    <a:latin typeface="Times New Roman" panose="02020603050405020304" pitchFamily="18" charset="0"/>
                    <a:cs typeface="Times New Roman" panose="02020603050405020304" pitchFamily="18" charset="0"/>
                  </a:rPr>
                  <a:t>эрэлт; </a:t>
                </a:r>
                <a:r>
                  <a:rPr lang="en-US" sz="3200" i="1" dirty="0">
                    <a:solidFill>
                      <a:srgbClr val="002060"/>
                    </a:solidFill>
                    <a:latin typeface="Times New Roman" panose="02020603050405020304" pitchFamily="18" charset="0"/>
                    <a:cs typeface="Times New Roman" panose="02020603050405020304" pitchFamily="18" charset="0"/>
                  </a:rPr>
                  <a:t>a, b </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тухайн бүтээгдэхүүн, үйлчилгээнээс хамаарах тогтмол.</a:t>
                </a:r>
              </a:p>
              <a:p>
                <a:pPr algn="just"/>
                <a:endParaRPr lang="mn-MN" sz="36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E2C1D5CA-D0F8-57F9-C2FF-65BB6C543AD4}"/>
                  </a:ext>
                </a:extLst>
              </p:cNvPr>
              <p:cNvSpPr>
                <a:spLocks noGrp="1" noRot="1" noChangeAspect="1" noMove="1" noResize="1" noEditPoints="1" noAdjustHandles="1" noChangeArrowheads="1" noChangeShapeType="1" noTextEdit="1"/>
              </p:cNvSpPr>
              <p:nvPr>
                <p:ph idx="1"/>
              </p:nvPr>
            </p:nvSpPr>
            <p:spPr>
              <a:xfrm>
                <a:off x="3900190" y="656675"/>
                <a:ext cx="8159287" cy="5704368"/>
              </a:xfrm>
              <a:blipFill>
                <a:blip r:embed="rId3"/>
                <a:stretch>
                  <a:fillRect l="-1644" t="-3102" r="-1794"/>
                </a:stretch>
              </a:blipFill>
            </p:spPr>
            <p:txBody>
              <a:bodyPr/>
              <a:lstStyle/>
              <a:p>
                <a:r>
                  <a:rPr lang="en-US">
                    <a:noFill/>
                  </a:rPr>
                  <a:t> </a:t>
                </a:r>
              </a:p>
            </p:txBody>
          </p:sp>
        </mc:Fallback>
      </mc:AlternateContent>
      <p:pic>
        <p:nvPicPr>
          <p:cNvPr id="5" name="Picture 4" descr="F:\MUST\Courses\2018-2019 Autumn\CN104 - Инженерийн эдийн засаг\Ном эх бэлтгэл\Figures\Figure 2-2.tif">
            <a:extLst>
              <a:ext uri="{FF2B5EF4-FFF2-40B4-BE49-F238E27FC236}">
                <a16:creationId xmlns:a16="http://schemas.microsoft.com/office/drawing/2014/main" id="{3AFC7F51-B191-FB83-CA8F-A6705BD8AD9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690200"/>
            <a:ext cx="3900190" cy="4508581"/>
          </a:xfrm>
          <a:prstGeom prst="rect">
            <a:avLst/>
          </a:prstGeom>
          <a:noFill/>
          <a:ln>
            <a:noFill/>
          </a:ln>
        </p:spPr>
      </p:pic>
      <p:sp>
        <p:nvSpPr>
          <p:cNvPr id="7" name="TextBox 6">
            <a:extLst>
              <a:ext uri="{FF2B5EF4-FFF2-40B4-BE49-F238E27FC236}">
                <a16:creationId xmlns:a16="http://schemas.microsoft.com/office/drawing/2014/main" id="{58B36775-3AD0-7FE3-F038-48B276CE87AD}"/>
              </a:ext>
            </a:extLst>
          </p:cNvPr>
          <p:cNvSpPr txBox="1"/>
          <p:nvPr/>
        </p:nvSpPr>
        <p:spPr>
          <a:xfrm>
            <a:off x="464398" y="5092764"/>
            <a:ext cx="2844392" cy="830997"/>
          </a:xfrm>
          <a:prstGeom prst="rect">
            <a:avLst/>
          </a:prstGeom>
          <a:noFill/>
        </p:spPr>
        <p:txBody>
          <a:bodyPr wrap="square">
            <a:spAutoFit/>
          </a:bodyPr>
          <a:lstStyle/>
          <a:p>
            <a:pPr algn="ctr"/>
            <a:r>
              <a:rPr lang="mn-MN" sz="2400" b="1" dirty="0">
                <a:solidFill>
                  <a:srgbClr val="002060"/>
                </a:solidFill>
                <a:latin typeface="Times New Roman" panose="02020603050405020304" pitchFamily="18" charset="0"/>
                <a:cs typeface="Times New Roman" panose="02020603050405020304" pitchFamily="18" charset="0"/>
              </a:rPr>
              <a:t>Үнэ ба эрэлтийн ерөнхий хамаарал</a:t>
            </a:r>
          </a:p>
        </p:txBody>
      </p:sp>
    </p:spTree>
    <p:extLst>
      <p:ext uri="{BB962C8B-B14F-4D97-AF65-F5344CB8AC3E}">
        <p14:creationId xmlns:p14="http://schemas.microsoft.com/office/powerpoint/2010/main" val="3676492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4298-089F-FC5C-D385-52629522C97F}"/>
              </a:ext>
            </a:extLst>
          </p:cNvPr>
          <p:cNvSpPr>
            <a:spLocks noGrp="1"/>
          </p:cNvSpPr>
          <p:nvPr>
            <p:ph type="title"/>
          </p:nvPr>
        </p:nvSpPr>
        <p:spPr>
          <a:xfrm>
            <a:off x="161997" y="113114"/>
            <a:ext cx="10515600" cy="495073"/>
          </a:xfrm>
        </p:spPr>
        <p:txBody>
          <a:bodyPr>
            <a:noAutofit/>
          </a:bodyPr>
          <a:lstStyle/>
          <a:p>
            <a:r>
              <a:rPr lang="ru-RU" sz="2800" b="1" dirty="0">
                <a:solidFill>
                  <a:srgbClr val="002060"/>
                </a:solidFill>
                <a:latin typeface="Times New Roman" panose="02020603050405020304" pitchFamily="18" charset="0"/>
                <a:cs typeface="Times New Roman" panose="02020603050405020304" pitchFamily="18" charset="0"/>
              </a:rPr>
              <a:t>Эдийн засгийн ерөнхий орчин</a:t>
            </a:r>
            <a:br>
              <a:rPr lang="mn-MN" sz="2800" b="1" dirty="0">
                <a:solidFill>
                  <a:srgbClr val="002060"/>
                </a:solidFill>
                <a:latin typeface="Times New Roman" panose="02020603050405020304" pitchFamily="18" charset="0"/>
                <a:cs typeface="Times New Roman" panose="02020603050405020304" pitchFamily="18" charset="0"/>
              </a:rPr>
            </a:br>
            <a:r>
              <a:rPr lang="mn-MN" sz="2800" b="1" dirty="0">
                <a:solidFill>
                  <a:srgbClr val="002060"/>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2.3 Нийт орлогын функц</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C1D5CA-D0F8-57F9-C2FF-65BB6C543AD4}"/>
                  </a:ext>
                </a:extLst>
              </p:cNvPr>
              <p:cNvSpPr>
                <a:spLocks noGrp="1"/>
              </p:cNvSpPr>
              <p:nvPr>
                <p:ph idx="1"/>
              </p:nvPr>
            </p:nvSpPr>
            <p:spPr>
              <a:xfrm>
                <a:off x="4392386" y="608187"/>
                <a:ext cx="7637617" cy="5938387"/>
              </a:xfrm>
            </p:spPr>
            <p:txBody>
              <a:bodyPr>
                <a:normAutofit fontScale="92500"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Өгөгдсөн хугацааны туршид бизнесийн үйл ажиллагаанаас үүсэх нийт орлого (</a:t>
                </a:r>
                <a:r>
                  <a:rPr lang="en-US" sz="3200" b="1" dirty="0">
                    <a:solidFill>
                      <a:srgbClr val="002060"/>
                    </a:solidFill>
                    <a:latin typeface="Times New Roman" panose="02020603050405020304" pitchFamily="18" charset="0"/>
                    <a:cs typeface="Times New Roman" panose="02020603050405020304" pitchFamily="18" charset="0"/>
                  </a:rPr>
                  <a:t>TR – Total Revenue</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нь бараа бүтээгдэхүүний нэгжийн үнэ (</a:t>
                </a:r>
                <a:r>
                  <a:rPr lang="en-US" sz="3200" dirty="0">
                    <a:solidFill>
                      <a:srgbClr val="002060"/>
                    </a:solidFill>
                    <a:latin typeface="Times New Roman" panose="02020603050405020304" pitchFamily="18" charset="0"/>
                    <a:cs typeface="Times New Roman" panose="02020603050405020304" pitchFamily="18" charset="0"/>
                  </a:rPr>
                  <a:t>p) </a:t>
                </a:r>
                <a:r>
                  <a:rPr lang="mn-MN" sz="3200" dirty="0">
                    <a:solidFill>
                      <a:srgbClr val="002060"/>
                    </a:solidFill>
                    <a:latin typeface="Times New Roman" panose="02020603050405020304" pitchFamily="18" charset="0"/>
                    <a:cs typeface="Times New Roman" panose="02020603050405020304" pitchFamily="18" charset="0"/>
                  </a:rPr>
                  <a:t>болон борлуулсан бараа бүтээгдэхүүний тоо хэмжээнээс хамаарна.</a:t>
                </a:r>
              </a:p>
              <a:p>
                <a:pPr marL="0" indent="0" algn="just">
                  <a:buNone/>
                </a:pPr>
                <a14:m>
                  <m:oMathPara xmlns:m="http://schemas.openxmlformats.org/officeDocument/2006/math">
                    <m:oMathParaPr>
                      <m:jc m:val="centerGroup"/>
                    </m:oMathParaPr>
                    <m:oMath xmlns:m="http://schemas.openxmlformats.org/officeDocument/2006/math">
                      <m:r>
                        <a:rPr lang="en-US" sz="3200" smtClean="0">
                          <a:solidFill>
                            <a:srgbClr val="FF0000"/>
                          </a:solidFill>
                          <a:latin typeface="Cambria Math" panose="02040503050406030204" pitchFamily="18" charset="0"/>
                        </a:rPr>
                        <m:t>𝑇𝑅</m:t>
                      </m:r>
                      <m:r>
                        <a:rPr lang="en-US" sz="3200">
                          <a:solidFill>
                            <a:srgbClr val="FF0000"/>
                          </a:solidFill>
                          <a:latin typeface="Cambria Math" panose="02040503050406030204" pitchFamily="18" charset="0"/>
                        </a:rPr>
                        <m:t>=</m:t>
                      </m:r>
                      <m:r>
                        <a:rPr lang="en-US" sz="3200">
                          <a:solidFill>
                            <a:srgbClr val="FF0000"/>
                          </a:solidFill>
                          <a:latin typeface="Cambria Math" panose="02040503050406030204" pitchFamily="18" charset="0"/>
                        </a:rPr>
                        <m:t>𝑝𝑟𝑖𝑐𝑒</m:t>
                      </m:r>
                      <m:r>
                        <a:rPr lang="en-US" sz="3200">
                          <a:solidFill>
                            <a:srgbClr val="FF0000"/>
                          </a:solidFill>
                          <a:latin typeface="Cambria Math" panose="02040503050406030204" pitchFamily="18" charset="0"/>
                        </a:rPr>
                        <m:t>×</m:t>
                      </m:r>
                      <m:r>
                        <a:rPr lang="en-US" sz="3200">
                          <a:solidFill>
                            <a:srgbClr val="FF0000"/>
                          </a:solidFill>
                          <a:latin typeface="Cambria Math" panose="02040503050406030204" pitchFamily="18" charset="0"/>
                        </a:rPr>
                        <m:t>𝑑𝑒𝑚𝑎𝑛𝑑</m:t>
                      </m:r>
                      <m:r>
                        <a:rPr lang="en-US" sz="3200">
                          <a:solidFill>
                            <a:srgbClr val="FF0000"/>
                          </a:solidFill>
                          <a:latin typeface="Cambria Math" panose="02040503050406030204" pitchFamily="18" charset="0"/>
                        </a:rPr>
                        <m:t>=</m:t>
                      </m:r>
                      <m:r>
                        <a:rPr lang="en-US" sz="3200">
                          <a:solidFill>
                            <a:srgbClr val="FF0000"/>
                          </a:solidFill>
                          <a:latin typeface="Cambria Math" panose="02040503050406030204" pitchFamily="18" charset="0"/>
                        </a:rPr>
                        <m:t>𝑝</m:t>
                      </m:r>
                      <m:r>
                        <a:rPr lang="en-US" sz="3200">
                          <a:solidFill>
                            <a:srgbClr val="FF0000"/>
                          </a:solidFill>
                          <a:latin typeface="Cambria Math" panose="02040503050406030204" pitchFamily="18" charset="0"/>
                        </a:rPr>
                        <m:t>∙</m:t>
                      </m:r>
                      <m:r>
                        <a:rPr lang="en-US" sz="3200">
                          <a:solidFill>
                            <a:srgbClr val="FF0000"/>
                          </a:solidFill>
                          <a:latin typeface="Cambria Math" panose="02040503050406030204" pitchFamily="18" charset="0"/>
                        </a:rPr>
                        <m:t>𝐷</m:t>
                      </m:r>
                    </m:oMath>
                  </m:oMathPara>
                </a14:m>
                <a:endParaRPr lang="en-US" sz="3200" dirty="0">
                  <a:solidFill>
                    <a:srgbClr val="FF0000"/>
                  </a:solidFill>
                  <a:latin typeface="Times New Roman" panose="02020603050405020304" pitchFamily="18" charset="0"/>
                  <a:cs typeface="Times New Roman" panose="02020603050405020304" pitchFamily="18" charset="0"/>
                </a:endParaRPr>
              </a:p>
              <a:p>
                <a:pPr algn="just"/>
                <a:r>
                  <a:rPr lang="mn-MN" sz="3200" dirty="0">
                    <a:solidFill>
                      <a:srgbClr val="002060"/>
                    </a:solidFill>
                    <a:latin typeface="Times New Roman" panose="02020603050405020304" pitchFamily="18" charset="0"/>
                    <a:cs typeface="Times New Roman" panose="02020603050405020304" pitchFamily="18" charset="0"/>
                  </a:rPr>
                  <a:t>Хэрвээ өмнөх тэгшитгэлд харуулсан үнэ ба эрэлтийн хоорондох хамаарлыг орлуулвал:</a:t>
                </a:r>
              </a:p>
              <a:p>
                <a:pPr lvl="1" algn="just"/>
                <a14:m>
                  <m:oMath xmlns:m="http://schemas.openxmlformats.org/officeDocument/2006/math">
                    <m:r>
                      <a:rPr lang="en-US" sz="2800">
                        <a:solidFill>
                          <a:srgbClr val="002060"/>
                        </a:solidFill>
                        <a:latin typeface="Cambria Math" panose="02040503050406030204" pitchFamily="18" charset="0"/>
                      </a:rPr>
                      <m:t>0≤</m:t>
                    </m:r>
                    <m:r>
                      <a:rPr lang="en-US" sz="2800">
                        <a:solidFill>
                          <a:srgbClr val="002060"/>
                        </a:solidFill>
                        <a:latin typeface="Cambria Math" panose="02040503050406030204" pitchFamily="18" charset="0"/>
                      </a:rPr>
                      <m:t>𝐷</m:t>
                    </m:r>
                    <m:r>
                      <a:rPr lang="en-US" sz="2800">
                        <a:solidFill>
                          <a:srgbClr val="002060"/>
                        </a:solidFill>
                        <a:latin typeface="Cambria Math" panose="02040503050406030204" pitchFamily="18" charset="0"/>
                      </a:rPr>
                      <m:t>≤</m:t>
                    </m:r>
                    <m:f>
                      <m:fPr>
                        <m:ctrlPr>
                          <a:rPr lang="en-US"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𝑎</m:t>
                        </m:r>
                      </m:num>
                      <m:den>
                        <m:r>
                          <a:rPr lang="en-US" sz="2800">
                            <a:solidFill>
                              <a:srgbClr val="002060"/>
                            </a:solidFill>
                            <a:latin typeface="Cambria Math" panose="02040503050406030204" pitchFamily="18" charset="0"/>
                          </a:rPr>
                          <m:t>𝑏</m:t>
                        </m:r>
                      </m:den>
                    </m:f>
                    <m:r>
                      <a:rPr lang="en-US" sz="2800">
                        <a:solidFill>
                          <a:srgbClr val="002060"/>
                        </a:solidFill>
                        <a:latin typeface="Cambria Math" panose="02040503050406030204" pitchFamily="18" charset="0"/>
                      </a:rPr>
                      <m:t> , </m:t>
                    </m:r>
                    <m:r>
                      <a:rPr lang="en-US" sz="2800">
                        <a:solidFill>
                          <a:srgbClr val="002060"/>
                        </a:solidFill>
                        <a:latin typeface="Cambria Math" panose="02040503050406030204" pitchFamily="18" charset="0"/>
                      </a:rPr>
                      <m:t>𝑎</m:t>
                    </m:r>
                    <m:r>
                      <a:rPr lang="en-US" sz="2800">
                        <a:solidFill>
                          <a:srgbClr val="002060"/>
                        </a:solidFill>
                        <a:latin typeface="Cambria Math" panose="02040503050406030204" pitchFamily="18" charset="0"/>
                      </a:rPr>
                      <m:t>&gt;0, </m:t>
                    </m:r>
                    <m:r>
                      <a:rPr lang="en-US" sz="2800">
                        <a:solidFill>
                          <a:srgbClr val="002060"/>
                        </a:solidFill>
                        <a:latin typeface="Cambria Math" panose="02040503050406030204" pitchFamily="18" charset="0"/>
                      </a:rPr>
                      <m:t>𝑏</m:t>
                    </m:r>
                    <m:r>
                      <a:rPr lang="en-US" sz="2800">
                        <a:solidFill>
                          <a:srgbClr val="002060"/>
                        </a:solidFill>
                        <a:latin typeface="Cambria Math" panose="02040503050406030204" pitchFamily="18" charset="0"/>
                      </a:rPr>
                      <m:t>&gt;0    үед    </m:t>
                    </m:r>
                  </m:oMath>
                </a14:m>
                <a:endParaRPr lang="mn-MN" sz="2800" dirty="0">
                  <a:solidFill>
                    <a:srgbClr val="002060"/>
                  </a:solidFill>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3200">
                          <a:solidFill>
                            <a:srgbClr val="002060"/>
                          </a:solidFill>
                          <a:latin typeface="Cambria Math" panose="02040503050406030204" pitchFamily="18" charset="0"/>
                        </a:rPr>
                        <m:t>𝑇𝑅</m:t>
                      </m:r>
                      <m:r>
                        <a:rPr lang="en-US" sz="3200">
                          <a:solidFill>
                            <a:srgbClr val="002060"/>
                          </a:solidFill>
                          <a:latin typeface="Cambria Math" panose="02040503050406030204" pitchFamily="18" charset="0"/>
                        </a:rPr>
                        <m:t>=</m:t>
                      </m:r>
                      <m:d>
                        <m:dPr>
                          <m:ctrlPr>
                            <a:rPr lang="en-US" sz="3200" i="1">
                              <a:solidFill>
                                <a:srgbClr val="002060"/>
                              </a:solidFill>
                              <a:latin typeface="Cambria Math" panose="02040503050406030204" pitchFamily="18" charset="0"/>
                            </a:rPr>
                          </m:ctrlPr>
                        </m:dPr>
                        <m:e>
                          <m:r>
                            <a:rPr lang="en-US" sz="3200">
                              <a:solidFill>
                                <a:srgbClr val="002060"/>
                              </a:solidFill>
                              <a:latin typeface="Cambria Math" panose="02040503050406030204" pitchFamily="18" charset="0"/>
                            </a:rPr>
                            <m:t>𝑎</m:t>
                          </m:r>
                          <m:r>
                            <a:rPr lang="en-US" sz="3200">
                              <a:solidFill>
                                <a:srgbClr val="002060"/>
                              </a:solidFill>
                              <a:latin typeface="Cambria Math" panose="02040503050406030204" pitchFamily="18" charset="0"/>
                            </a:rPr>
                            <m:t>−</m:t>
                          </m:r>
                          <m:r>
                            <a:rPr lang="en-US" sz="3200">
                              <a:solidFill>
                                <a:srgbClr val="002060"/>
                              </a:solidFill>
                              <a:latin typeface="Cambria Math" panose="02040503050406030204" pitchFamily="18" charset="0"/>
                            </a:rPr>
                            <m:t>𝑏𝐷</m:t>
                          </m:r>
                        </m:e>
                      </m:d>
                      <m:r>
                        <a:rPr lang="en-US" sz="3200">
                          <a:solidFill>
                            <a:srgbClr val="002060"/>
                          </a:solidFill>
                          <a:latin typeface="Cambria Math" panose="02040503050406030204" pitchFamily="18" charset="0"/>
                        </a:rPr>
                        <m:t>∙</m:t>
                      </m:r>
                      <m:r>
                        <a:rPr lang="en-US" sz="3200">
                          <a:solidFill>
                            <a:srgbClr val="002060"/>
                          </a:solidFill>
                          <a:latin typeface="Cambria Math" panose="02040503050406030204" pitchFamily="18" charset="0"/>
                        </a:rPr>
                        <m:t>𝐷</m:t>
                      </m:r>
                      <m:r>
                        <a:rPr lang="en-US" sz="3200">
                          <a:solidFill>
                            <a:srgbClr val="002060"/>
                          </a:solidFill>
                          <a:latin typeface="Cambria Math" panose="02040503050406030204" pitchFamily="18" charset="0"/>
                        </a:rPr>
                        <m:t>=</m:t>
                      </m:r>
                      <m:r>
                        <a:rPr lang="en-US" sz="3200">
                          <a:solidFill>
                            <a:srgbClr val="002060"/>
                          </a:solidFill>
                          <a:latin typeface="Cambria Math" panose="02040503050406030204" pitchFamily="18" charset="0"/>
                        </a:rPr>
                        <m:t>𝑎𝐷</m:t>
                      </m:r>
                      <m:r>
                        <a:rPr lang="en-US" sz="3200">
                          <a:solidFill>
                            <a:srgbClr val="002060"/>
                          </a:solidFill>
                          <a:latin typeface="Cambria Math" panose="02040503050406030204" pitchFamily="18" charset="0"/>
                        </a:rPr>
                        <m:t>−</m:t>
                      </m:r>
                      <m:r>
                        <a:rPr lang="en-US" sz="3200">
                          <a:solidFill>
                            <a:srgbClr val="002060"/>
                          </a:solidFill>
                          <a:latin typeface="Cambria Math" panose="02040503050406030204" pitchFamily="18" charset="0"/>
                        </a:rPr>
                        <m:t>𝑏</m:t>
                      </m:r>
                      <m:sSup>
                        <m:sSupPr>
                          <m:ctrlPr>
                            <a:rPr lang="en-US" sz="3200" i="1">
                              <a:solidFill>
                                <a:srgbClr val="002060"/>
                              </a:solidFill>
                              <a:latin typeface="Cambria Math" panose="02040503050406030204" pitchFamily="18" charset="0"/>
                            </a:rPr>
                          </m:ctrlPr>
                        </m:sSupPr>
                        <m:e>
                          <m:r>
                            <a:rPr lang="en-US" sz="3200">
                              <a:solidFill>
                                <a:srgbClr val="002060"/>
                              </a:solidFill>
                              <a:latin typeface="Cambria Math" panose="02040503050406030204" pitchFamily="18" charset="0"/>
                            </a:rPr>
                            <m:t>𝐷</m:t>
                          </m:r>
                        </m:e>
                        <m:sup>
                          <m:r>
                            <a:rPr lang="en-US" sz="3200">
                              <a:solidFill>
                                <a:srgbClr val="002060"/>
                              </a:solidFill>
                              <a:latin typeface="Cambria Math" panose="02040503050406030204" pitchFamily="18" charset="0"/>
                            </a:rPr>
                            <m:t>2</m:t>
                          </m:r>
                        </m:sup>
                      </m:sSup>
                    </m:oMath>
                  </m:oMathPara>
                </a14:m>
                <a:endParaRPr lang="en-US" sz="3200" dirty="0">
                  <a:solidFill>
                    <a:srgbClr val="002060"/>
                  </a:solidFill>
                  <a:latin typeface="Times New Roman" panose="02020603050405020304" pitchFamily="18" charset="0"/>
                  <a:cs typeface="Times New Roman" panose="02020603050405020304" pitchFamily="18" charset="0"/>
                </a:endParaRPr>
              </a:p>
              <a:p>
                <a:pPr algn="just"/>
                <a:r>
                  <a:rPr lang="ru-RU" sz="3200" dirty="0">
                    <a:solidFill>
                      <a:srgbClr val="002060"/>
                    </a:solidFill>
                    <a:latin typeface="Times New Roman" panose="02020603050405020304" pitchFamily="18" charset="0"/>
                    <a:cs typeface="Times New Roman" panose="02020603050405020304" pitchFamily="18" charset="0"/>
                  </a:rPr>
                  <a:t>Эндээс, хамгийн их нийт орлого олж болох эрэлт </a:t>
                </a:r>
                <a14:m>
                  <m:oMath xmlns:m="http://schemas.openxmlformats.org/officeDocument/2006/math">
                    <m:acc>
                      <m:accPr>
                        <m:chr m:val="̂"/>
                        <m:ctrlPr>
                          <a:rPr lang="en-US" sz="3200" i="1">
                            <a:solidFill>
                              <a:srgbClr val="002060"/>
                            </a:solidFill>
                            <a:latin typeface="Cambria Math" panose="02040503050406030204" pitchFamily="18" charset="0"/>
                          </a:rPr>
                        </m:ctrlPr>
                      </m:accPr>
                      <m:e>
                        <m:r>
                          <a:rPr lang="mn-MN" sz="3200">
                            <a:solidFill>
                              <a:srgbClr val="002060"/>
                            </a:solidFill>
                            <a:latin typeface="Cambria Math" panose="02040503050406030204" pitchFamily="18" charset="0"/>
                          </a:rPr>
                          <m:t>𝐷</m:t>
                        </m:r>
                      </m:e>
                    </m:acc>
                    <m:r>
                      <a:rPr lang="mn-MN" sz="3200">
                        <a:solidFill>
                          <a:srgbClr val="002060"/>
                        </a:solidFill>
                        <a:latin typeface="Cambria Math" panose="02040503050406030204" pitchFamily="18" charset="0"/>
                      </a:rPr>
                      <m:t> </m:t>
                    </m:r>
                  </m:oMath>
                </a14:m>
                <a:r>
                  <a:rPr lang="ru-RU" sz="3200" dirty="0">
                    <a:solidFill>
                      <a:srgbClr val="002060"/>
                    </a:solidFill>
                    <a:latin typeface="Times New Roman" panose="02020603050405020304" pitchFamily="18" charset="0"/>
                    <a:cs typeface="Times New Roman" panose="02020603050405020304" pitchFamily="18" charset="0"/>
                  </a:rPr>
                  <a:t>:</a:t>
                </a:r>
                <a:endParaRPr lang="mn-MN" sz="3200" dirty="0">
                  <a:solidFill>
                    <a:srgbClr val="002060"/>
                  </a:solidFill>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f>
                        <m:fPr>
                          <m:ctrlPr>
                            <a:rPr lang="en-US" sz="3200" i="1">
                              <a:solidFill>
                                <a:srgbClr val="002060"/>
                              </a:solidFill>
                              <a:latin typeface="Cambria Math" panose="02040503050406030204" pitchFamily="18" charset="0"/>
                            </a:rPr>
                          </m:ctrlPr>
                        </m:fPr>
                        <m:num>
                          <m:r>
                            <a:rPr lang="en-US" sz="3200">
                              <a:solidFill>
                                <a:srgbClr val="002060"/>
                              </a:solidFill>
                              <a:latin typeface="Cambria Math" panose="02040503050406030204" pitchFamily="18" charset="0"/>
                            </a:rPr>
                            <m:t>𝑑𝑇𝑅</m:t>
                          </m:r>
                        </m:num>
                        <m:den>
                          <m:r>
                            <a:rPr lang="en-US" sz="3200">
                              <a:solidFill>
                                <a:srgbClr val="002060"/>
                              </a:solidFill>
                              <a:latin typeface="Cambria Math" panose="02040503050406030204" pitchFamily="18" charset="0"/>
                            </a:rPr>
                            <m:t>𝑑𝐷</m:t>
                          </m:r>
                        </m:den>
                      </m:f>
                      <m:r>
                        <a:rPr lang="en-US" sz="3200">
                          <a:solidFill>
                            <a:srgbClr val="002060"/>
                          </a:solidFill>
                          <a:latin typeface="Cambria Math" panose="02040503050406030204" pitchFamily="18" charset="0"/>
                        </a:rPr>
                        <m:t>=</m:t>
                      </m:r>
                      <m:r>
                        <a:rPr lang="en-US" sz="3200">
                          <a:solidFill>
                            <a:srgbClr val="002060"/>
                          </a:solidFill>
                          <a:latin typeface="Cambria Math" panose="02040503050406030204" pitchFamily="18" charset="0"/>
                        </a:rPr>
                        <m:t>𝑎</m:t>
                      </m:r>
                      <m:r>
                        <a:rPr lang="en-US" sz="3200">
                          <a:solidFill>
                            <a:srgbClr val="002060"/>
                          </a:solidFill>
                          <a:latin typeface="Cambria Math" panose="02040503050406030204" pitchFamily="18" charset="0"/>
                        </a:rPr>
                        <m:t>−2</m:t>
                      </m:r>
                      <m:r>
                        <a:rPr lang="en-US" sz="3200">
                          <a:solidFill>
                            <a:srgbClr val="002060"/>
                          </a:solidFill>
                          <a:latin typeface="Cambria Math" panose="02040503050406030204" pitchFamily="18" charset="0"/>
                        </a:rPr>
                        <m:t>𝑏𝐷</m:t>
                      </m:r>
                      <m:r>
                        <a:rPr lang="en-US" sz="3200">
                          <a:solidFill>
                            <a:srgbClr val="002060"/>
                          </a:solidFill>
                          <a:latin typeface="Cambria Math" panose="02040503050406030204" pitchFamily="18" charset="0"/>
                        </a:rPr>
                        <m:t>=0</m:t>
                      </m:r>
                      <m:r>
                        <m:rPr>
                          <m:nor/>
                        </m:rPr>
                        <a:rPr lang="mn-MN" sz="3200">
                          <a:solidFill>
                            <a:srgbClr val="002060"/>
                          </a:solidFill>
                          <a:latin typeface="Times New Roman" panose="02020603050405020304" pitchFamily="18" charset="0"/>
                          <a:cs typeface="Times New Roman" panose="02020603050405020304" pitchFamily="18" charset="0"/>
                        </a:rPr>
                        <m:t>        </m:t>
                      </m:r>
                      <m:r>
                        <m:rPr>
                          <m:nor/>
                        </m:rPr>
                        <a:rPr lang="mn-MN" sz="3200"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m:t>   </m:t>
                      </m:r>
                      <m:acc>
                        <m:accPr>
                          <m:chr m:val="̂"/>
                          <m:ctrlPr>
                            <a:rPr lang="en-US" sz="3200" i="1" smtClean="0">
                              <a:solidFill>
                                <a:srgbClr val="FF0000"/>
                              </a:solidFill>
                              <a:latin typeface="Cambria Math" panose="02040503050406030204" pitchFamily="18" charset="0"/>
                            </a:rPr>
                          </m:ctrlPr>
                        </m:accPr>
                        <m:e>
                          <m:r>
                            <a:rPr lang="en-US" sz="3200">
                              <a:solidFill>
                                <a:srgbClr val="FF0000"/>
                              </a:solidFill>
                              <a:latin typeface="Cambria Math" panose="02040503050406030204" pitchFamily="18" charset="0"/>
                            </a:rPr>
                            <m:t>𝐷</m:t>
                          </m:r>
                        </m:e>
                      </m:acc>
                      <m:r>
                        <a:rPr lang="en-US" sz="3200">
                          <a:solidFill>
                            <a:srgbClr val="FF0000"/>
                          </a:solidFill>
                          <a:latin typeface="Cambria Math" panose="02040503050406030204" pitchFamily="18" charset="0"/>
                        </a:rPr>
                        <m:t>=</m:t>
                      </m:r>
                      <m:f>
                        <m:fPr>
                          <m:ctrlPr>
                            <a:rPr lang="en-US" sz="3200" i="1">
                              <a:solidFill>
                                <a:srgbClr val="FF0000"/>
                              </a:solidFill>
                              <a:latin typeface="Cambria Math" panose="02040503050406030204" pitchFamily="18" charset="0"/>
                            </a:rPr>
                          </m:ctrlPr>
                        </m:fPr>
                        <m:num>
                          <m:r>
                            <a:rPr lang="en-US" sz="3200">
                              <a:solidFill>
                                <a:srgbClr val="FF0000"/>
                              </a:solidFill>
                              <a:latin typeface="Cambria Math" panose="02040503050406030204" pitchFamily="18" charset="0"/>
                            </a:rPr>
                            <m:t>𝑎</m:t>
                          </m:r>
                        </m:num>
                        <m:den>
                          <m:r>
                            <a:rPr lang="en-US" sz="3200">
                              <a:solidFill>
                                <a:srgbClr val="FF0000"/>
                              </a:solidFill>
                              <a:latin typeface="Cambria Math" panose="02040503050406030204" pitchFamily="18" charset="0"/>
                            </a:rPr>
                            <m:t>2</m:t>
                          </m:r>
                          <m:r>
                            <a:rPr lang="en-US" sz="3200">
                              <a:solidFill>
                                <a:srgbClr val="FF0000"/>
                              </a:solidFill>
                              <a:latin typeface="Cambria Math" panose="02040503050406030204" pitchFamily="18" charset="0"/>
                            </a:rPr>
                            <m:t>𝑏</m:t>
                          </m:r>
                        </m:den>
                      </m:f>
                    </m:oMath>
                  </m:oMathPara>
                </a14:m>
                <a:endParaRPr lang="mn-MN" sz="32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E2C1D5CA-D0F8-57F9-C2FF-65BB6C543AD4}"/>
                  </a:ext>
                </a:extLst>
              </p:cNvPr>
              <p:cNvSpPr>
                <a:spLocks noGrp="1" noRot="1" noChangeAspect="1" noMove="1" noResize="1" noEditPoints="1" noAdjustHandles="1" noChangeArrowheads="1" noChangeShapeType="1" noTextEdit="1"/>
              </p:cNvSpPr>
              <p:nvPr>
                <p:ph idx="1"/>
              </p:nvPr>
            </p:nvSpPr>
            <p:spPr>
              <a:xfrm>
                <a:off x="4392386" y="608187"/>
                <a:ext cx="7637617" cy="5938387"/>
              </a:xfrm>
              <a:blipFill>
                <a:blip r:embed="rId3"/>
                <a:stretch>
                  <a:fillRect l="-1677" t="-2875" r="-191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8B36775-3AD0-7FE3-F038-48B276CE87AD}"/>
              </a:ext>
            </a:extLst>
          </p:cNvPr>
          <p:cNvSpPr txBox="1"/>
          <p:nvPr/>
        </p:nvSpPr>
        <p:spPr>
          <a:xfrm>
            <a:off x="771774" y="5563906"/>
            <a:ext cx="2844392" cy="830997"/>
          </a:xfrm>
          <a:prstGeom prst="rect">
            <a:avLst/>
          </a:prstGeom>
          <a:noFill/>
        </p:spPr>
        <p:txBody>
          <a:bodyPr wrap="square">
            <a:spAutoFit/>
          </a:bodyPr>
          <a:lstStyle/>
          <a:p>
            <a:pPr algn="ctr"/>
            <a:r>
              <a:rPr lang="mn-MN" sz="2400" b="1" dirty="0">
                <a:solidFill>
                  <a:srgbClr val="002060"/>
                </a:solidFill>
                <a:latin typeface="Times New Roman" panose="02020603050405020304" pitchFamily="18" charset="0"/>
                <a:cs typeface="Times New Roman" panose="02020603050405020304" pitchFamily="18" charset="0"/>
              </a:rPr>
              <a:t>Нийт орлогын функц</a:t>
            </a:r>
          </a:p>
        </p:txBody>
      </p:sp>
      <p:pic>
        <p:nvPicPr>
          <p:cNvPr id="4" name="Picture 3">
            <a:extLst>
              <a:ext uri="{FF2B5EF4-FFF2-40B4-BE49-F238E27FC236}">
                <a16:creationId xmlns:a16="http://schemas.microsoft.com/office/drawing/2014/main" id="{B02C31C4-612B-E7A5-2601-90E485A4DB18}"/>
              </a:ext>
            </a:extLst>
          </p:cNvPr>
          <p:cNvPicPr/>
          <p:nvPr/>
        </p:nvPicPr>
        <p:blipFill rotWithShape="1">
          <a:blip r:embed="rId4" cstate="print">
            <a:extLst>
              <a:ext uri="{28A0092B-C50C-407E-A947-70E740481C1C}">
                <a14:useLocalDpi xmlns:a14="http://schemas.microsoft.com/office/drawing/2010/main" val="0"/>
              </a:ext>
            </a:extLst>
          </a:blip>
          <a:srcRect r="15205"/>
          <a:stretch/>
        </p:blipFill>
        <p:spPr bwMode="auto">
          <a:xfrm>
            <a:off x="161997" y="755248"/>
            <a:ext cx="4507975" cy="4808658"/>
          </a:xfrm>
          <a:prstGeom prst="rect">
            <a:avLst/>
          </a:prstGeom>
          <a:ln>
            <a:noFill/>
          </a:ln>
          <a:extLst>
            <a:ext uri="{53640926-AAD7-44D8-BBD7-CCE9431645EC}">
              <a14:shadowObscured xmlns:a14="http://schemas.microsoft.com/office/drawing/2010/main"/>
            </a:ext>
          </a:extLst>
        </p:spPr>
      </p:pic>
      <p:sp>
        <p:nvSpPr>
          <p:cNvPr id="6" name="Rectangle 5">
            <a:extLst>
              <a:ext uri="{FF2B5EF4-FFF2-40B4-BE49-F238E27FC236}">
                <a16:creationId xmlns:a16="http://schemas.microsoft.com/office/drawing/2014/main" id="{4AAD7F18-519B-490E-A15B-D19147C9E052}"/>
              </a:ext>
            </a:extLst>
          </p:cNvPr>
          <p:cNvSpPr/>
          <p:nvPr/>
        </p:nvSpPr>
        <p:spPr>
          <a:xfrm>
            <a:off x="10753455" y="2487727"/>
            <a:ext cx="895206" cy="400110"/>
          </a:xfrm>
          <a:prstGeom prst="rect">
            <a:avLst/>
          </a:prstGeom>
        </p:spPr>
        <p:txBody>
          <a:bodyPr wrap="square">
            <a:spAutoFit/>
          </a:bodyPr>
          <a:lstStyle/>
          <a:p>
            <a:r>
              <a:rPr lang="mn-MN" sz="2000" dirty="0">
                <a:latin typeface="Times New Roman" panose="02020603050405020304" pitchFamily="18" charset="0"/>
                <a:ea typeface="Calibri" panose="020F0502020204030204" pitchFamily="34" charset="0"/>
                <a:cs typeface="Times New Roman" panose="02020603050405020304" pitchFamily="18" charset="0"/>
              </a:rPr>
              <a:t>(2.3) </a:t>
            </a:r>
            <a:endParaRPr lang="en-US" sz="20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2080D08-666C-4598-98FA-5BC4B1B0DAEF}"/>
              </a:ext>
            </a:extLst>
          </p:cNvPr>
          <p:cNvSpPr/>
          <p:nvPr/>
        </p:nvSpPr>
        <p:spPr>
          <a:xfrm>
            <a:off x="11420226" y="6065147"/>
            <a:ext cx="684803" cy="369332"/>
          </a:xfrm>
          <a:prstGeom prst="rect">
            <a:avLst/>
          </a:prstGeom>
        </p:spPr>
        <p:txBody>
          <a:bodyPr wrap="none">
            <a:spAutoFit/>
          </a:bodyPr>
          <a:lstStyle/>
          <a:p>
            <a:r>
              <a:rPr lang="mn-MN" dirty="0">
                <a:latin typeface="Times New Roman" panose="02020603050405020304" pitchFamily="18" charset="0"/>
                <a:ea typeface="Calibri" panose="020F0502020204030204" pitchFamily="34" charset="0"/>
                <a:cs typeface="Times New Roman" panose="02020603050405020304" pitchFamily="18" charset="0"/>
              </a:rPr>
              <a:t>(2.6) </a:t>
            </a:r>
            <a:endParaRPr lang="en-US"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A1DD68E5-2E7B-4D72-AD83-267FD4A4E551}"/>
              </a:ext>
            </a:extLst>
          </p:cNvPr>
          <p:cNvSpPr/>
          <p:nvPr/>
        </p:nvSpPr>
        <p:spPr>
          <a:xfrm>
            <a:off x="6519053" y="4908670"/>
            <a:ext cx="684803" cy="369332"/>
          </a:xfrm>
          <a:prstGeom prst="rect">
            <a:avLst/>
          </a:prstGeom>
        </p:spPr>
        <p:txBody>
          <a:bodyPr wrap="none">
            <a:spAutoFit/>
          </a:bodyPr>
          <a:lstStyle/>
          <a:p>
            <a:r>
              <a:rPr lang="mn-MN" dirty="0">
                <a:latin typeface="Times New Roman" panose="02020603050405020304" pitchFamily="18" charset="0"/>
                <a:ea typeface="Calibri" panose="020F0502020204030204" pitchFamily="34" charset="0"/>
                <a:cs typeface="Times New Roman" panose="02020603050405020304" pitchFamily="18" charset="0"/>
              </a:rPr>
              <a:t>(2.4)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1253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C1D5CA-D0F8-57F9-C2FF-65BB6C543AD4}"/>
                  </a:ext>
                </a:extLst>
              </p:cNvPr>
              <p:cNvSpPr>
                <a:spLocks noGrp="1"/>
              </p:cNvSpPr>
              <p:nvPr>
                <p:ph idx="1"/>
              </p:nvPr>
            </p:nvSpPr>
            <p:spPr>
              <a:xfrm>
                <a:off x="66746" y="699999"/>
                <a:ext cx="11952975" cy="6044886"/>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Тогтмол зардал үйл ажиллагааны өргөн хүрээнд тогтмол хэвээр байдаг бол хувьсах зардлууд нийт гарцын хэмжээнээс хамаарч өөрчлөгддөг. Тиймээс ямар ч эрэлт (</a:t>
                </a:r>
                <a:r>
                  <a:rPr lang="en-US" sz="3200" dirty="0">
                    <a:solidFill>
                      <a:srgbClr val="002060"/>
                    </a:solidFill>
                    <a:latin typeface="Times New Roman" panose="02020603050405020304" pitchFamily="18" charset="0"/>
                    <a:cs typeface="Times New Roman" panose="02020603050405020304" pitchFamily="18" charset="0"/>
                  </a:rPr>
                  <a:t>D)-</a:t>
                </a:r>
                <a:r>
                  <a:rPr lang="mn-MN" sz="3200" dirty="0">
                    <a:solidFill>
                      <a:srgbClr val="002060"/>
                    </a:solidFill>
                    <a:latin typeface="Times New Roman" panose="02020603050405020304" pitchFamily="18" charset="0"/>
                    <a:cs typeface="Times New Roman" panose="02020603050405020304" pitchFamily="18" charset="0"/>
                  </a:rPr>
                  <a:t>ийн үед, нийт зардал:</a:t>
                </a:r>
              </a:p>
              <a:p>
                <a:pPr marL="0" indent="0" algn="just">
                  <a:buNone/>
                </a:pPr>
                <a14:m>
                  <m:oMathPara xmlns:m="http://schemas.openxmlformats.org/officeDocument/2006/math">
                    <m:oMathParaPr>
                      <m:jc m:val="centerGroup"/>
                    </m:oMathParaPr>
                    <m:oMath xmlns:m="http://schemas.openxmlformats.org/officeDocument/2006/math">
                      <m:sSub>
                        <m:sSubPr>
                          <m:ctrlPr>
                            <a:rPr lang="en-US" sz="3200" i="1" smtClean="0">
                              <a:solidFill>
                                <a:srgbClr val="FF0000"/>
                              </a:solidFill>
                              <a:latin typeface="Cambria Math" panose="02040503050406030204" pitchFamily="18" charset="0"/>
                            </a:rPr>
                          </m:ctrlPr>
                        </m:sSubPr>
                        <m:e>
                          <m:r>
                            <a:rPr lang="en-US" sz="3200">
                              <a:solidFill>
                                <a:srgbClr val="FF0000"/>
                              </a:solidFill>
                              <a:latin typeface="Cambria Math" panose="02040503050406030204" pitchFamily="18" charset="0"/>
                            </a:rPr>
                            <m:t>𝐶</m:t>
                          </m:r>
                        </m:e>
                        <m:sub>
                          <m:r>
                            <a:rPr lang="en-US" sz="3200">
                              <a:solidFill>
                                <a:srgbClr val="FF0000"/>
                              </a:solidFill>
                              <a:latin typeface="Cambria Math" panose="02040503050406030204" pitchFamily="18" charset="0"/>
                            </a:rPr>
                            <m:t>𝑇</m:t>
                          </m:r>
                        </m:sub>
                      </m:sSub>
                      <m:r>
                        <a:rPr lang="en-US" sz="3200">
                          <a:solidFill>
                            <a:srgbClr val="FF0000"/>
                          </a:solidFill>
                          <a:latin typeface="Cambria Math" panose="02040503050406030204" pitchFamily="18" charset="0"/>
                        </a:rPr>
                        <m:t>=</m:t>
                      </m:r>
                      <m:sSub>
                        <m:sSubPr>
                          <m:ctrlPr>
                            <a:rPr lang="en-US" sz="3200" i="1">
                              <a:solidFill>
                                <a:srgbClr val="FF0000"/>
                              </a:solidFill>
                              <a:latin typeface="Cambria Math" panose="02040503050406030204" pitchFamily="18" charset="0"/>
                            </a:rPr>
                          </m:ctrlPr>
                        </m:sSubPr>
                        <m:e>
                          <m:r>
                            <a:rPr lang="en-US" sz="3200">
                              <a:solidFill>
                                <a:srgbClr val="FF0000"/>
                              </a:solidFill>
                              <a:latin typeface="Cambria Math" panose="02040503050406030204" pitchFamily="18" charset="0"/>
                            </a:rPr>
                            <m:t>𝐶</m:t>
                          </m:r>
                        </m:e>
                        <m:sub>
                          <m:r>
                            <a:rPr lang="en-US" sz="3200">
                              <a:solidFill>
                                <a:srgbClr val="FF0000"/>
                              </a:solidFill>
                              <a:latin typeface="Cambria Math" panose="02040503050406030204" pitchFamily="18" charset="0"/>
                            </a:rPr>
                            <m:t>𝐹</m:t>
                          </m:r>
                        </m:sub>
                      </m:sSub>
                      <m:r>
                        <a:rPr lang="en-US" sz="3200">
                          <a:solidFill>
                            <a:srgbClr val="FF0000"/>
                          </a:solidFill>
                          <a:latin typeface="Cambria Math" panose="02040503050406030204" pitchFamily="18" charset="0"/>
                        </a:rPr>
                        <m:t>+</m:t>
                      </m:r>
                      <m:sSub>
                        <m:sSubPr>
                          <m:ctrlPr>
                            <a:rPr lang="en-US" sz="3200" i="1">
                              <a:solidFill>
                                <a:srgbClr val="FF0000"/>
                              </a:solidFill>
                              <a:latin typeface="Cambria Math" panose="02040503050406030204" pitchFamily="18" charset="0"/>
                            </a:rPr>
                          </m:ctrlPr>
                        </m:sSubPr>
                        <m:e>
                          <m:r>
                            <a:rPr lang="en-US" sz="3200">
                              <a:solidFill>
                                <a:srgbClr val="FF0000"/>
                              </a:solidFill>
                              <a:latin typeface="Cambria Math" panose="02040503050406030204" pitchFamily="18" charset="0"/>
                            </a:rPr>
                            <m:t>𝐶</m:t>
                          </m:r>
                        </m:e>
                        <m:sub>
                          <m:r>
                            <a:rPr lang="en-US" sz="3200">
                              <a:solidFill>
                                <a:srgbClr val="FF0000"/>
                              </a:solidFill>
                              <a:latin typeface="Cambria Math" panose="02040503050406030204" pitchFamily="18" charset="0"/>
                            </a:rPr>
                            <m:t>𝑉</m:t>
                          </m:r>
                        </m:sub>
                      </m:sSub>
                    </m:oMath>
                  </m:oMathPara>
                </a14:m>
                <a:endParaRPr lang="mn-MN" sz="3200" dirty="0">
                  <a:solidFill>
                    <a:srgbClr val="FF0000"/>
                  </a:solidFill>
                  <a:latin typeface="Times New Roman" panose="02020603050405020304" pitchFamily="18" charset="0"/>
                  <a:cs typeface="Times New Roman" panose="02020603050405020304" pitchFamily="18" charset="0"/>
                </a:endParaRPr>
              </a:p>
              <a:p>
                <a:pPr lvl="1" algn="just"/>
                <a14:m>
                  <m:oMath xmlns:m="http://schemas.openxmlformats.org/officeDocument/2006/math">
                    <m:sSub>
                      <m:sSubPr>
                        <m:ctrlPr>
                          <a:rPr lang="en-US" sz="2800" i="1">
                            <a:solidFill>
                              <a:srgbClr val="002060"/>
                            </a:solidFill>
                            <a:latin typeface="Cambria Math" panose="02040503050406030204" pitchFamily="18" charset="0"/>
                          </a:rPr>
                        </m:ctrlPr>
                      </m:sSubPr>
                      <m:e>
                        <m:r>
                          <a:rPr lang="en-US" sz="2800">
                            <a:solidFill>
                              <a:srgbClr val="002060"/>
                            </a:solidFill>
                            <a:latin typeface="Cambria Math" panose="02040503050406030204" pitchFamily="18" charset="0"/>
                          </a:rPr>
                          <m:t>𝐶</m:t>
                        </m:r>
                      </m:e>
                      <m:sub>
                        <m:r>
                          <a:rPr lang="en-US" sz="2800">
                            <a:solidFill>
                              <a:srgbClr val="002060"/>
                            </a:solidFill>
                            <a:latin typeface="Cambria Math" panose="02040503050406030204" pitchFamily="18" charset="0"/>
                          </a:rPr>
                          <m:t>𝐹</m:t>
                        </m:r>
                      </m:sub>
                    </m:sSub>
                    <m:r>
                      <a:rPr lang="en-US" sz="2800">
                        <a:solidFill>
                          <a:srgbClr val="002060"/>
                        </a:solidFill>
                        <a:latin typeface="Cambria Math" panose="02040503050406030204" pitchFamily="18" charset="0"/>
                      </a:rPr>
                      <m:t>,</m:t>
                    </m:r>
                    <m:r>
                      <m:rPr>
                        <m:nor/>
                      </m:rPr>
                      <a:rPr lang="en-US" sz="2800">
                        <a:solidFill>
                          <a:srgbClr val="002060"/>
                        </a:solidFill>
                        <a:latin typeface="Times New Roman" panose="02020603050405020304" pitchFamily="18" charset="0"/>
                        <a:cs typeface="Times New Roman" panose="02020603050405020304" pitchFamily="18" charset="0"/>
                      </a:rPr>
                      <m:t> </m:t>
                    </m:r>
                    <m:sSub>
                      <m:sSubPr>
                        <m:ctrlPr>
                          <a:rPr lang="en-US" sz="2800" i="1">
                            <a:solidFill>
                              <a:srgbClr val="002060"/>
                            </a:solidFill>
                            <a:latin typeface="Cambria Math" panose="02040503050406030204" pitchFamily="18" charset="0"/>
                          </a:rPr>
                        </m:ctrlPr>
                      </m:sSubPr>
                      <m:e>
                        <m:r>
                          <a:rPr lang="en-US" sz="2800">
                            <a:solidFill>
                              <a:srgbClr val="002060"/>
                            </a:solidFill>
                            <a:latin typeface="Cambria Math" panose="02040503050406030204" pitchFamily="18" charset="0"/>
                          </a:rPr>
                          <m:t>𝐶</m:t>
                        </m:r>
                      </m:e>
                      <m:sub>
                        <m:r>
                          <a:rPr lang="en-US" sz="2800">
                            <a:solidFill>
                              <a:srgbClr val="002060"/>
                            </a:solidFill>
                            <a:latin typeface="Cambria Math" panose="02040503050406030204" pitchFamily="18" charset="0"/>
                          </a:rPr>
                          <m:t>𝑉</m:t>
                        </m:r>
                      </m:sub>
                    </m:sSub>
                  </m:oMath>
                </a14:m>
                <a:r>
                  <a:rPr lang="mn-MN" sz="2800" dirty="0">
                    <a:solidFill>
                      <a:srgbClr val="002060"/>
                    </a:solidFill>
                    <a:latin typeface="Times New Roman" panose="02020603050405020304" pitchFamily="18" charset="0"/>
                    <a:cs typeface="Times New Roman" panose="02020603050405020304" pitchFamily="18" charset="0"/>
                  </a:rPr>
                  <a:t> - тогтмол ба хувьсах зардлууд.</a:t>
                </a:r>
              </a:p>
              <a:p>
                <a:pPr algn="just"/>
                <a:r>
                  <a:rPr lang="mn-MN" sz="3200" dirty="0">
                    <a:solidFill>
                      <a:srgbClr val="002060"/>
                    </a:solidFill>
                    <a:latin typeface="Times New Roman" panose="02020603050405020304" pitchFamily="18" charset="0"/>
                    <a:cs typeface="Times New Roman" panose="02020603050405020304" pitchFamily="18" charset="0"/>
                  </a:rPr>
                  <a:t>Энд авч үзсэн шугаман хамаарлын хувьд:</a:t>
                </a:r>
              </a:p>
              <a:p>
                <a:pPr marL="0" indent="0" algn="just">
                  <a:buNone/>
                </a:pPr>
                <a14:m>
                  <m:oMathPara xmlns:m="http://schemas.openxmlformats.org/officeDocument/2006/math">
                    <m:oMathParaPr>
                      <m:jc m:val="centerGroup"/>
                    </m:oMathParaPr>
                    <m:oMath xmlns:m="http://schemas.openxmlformats.org/officeDocument/2006/math">
                      <m:sSub>
                        <m:sSubPr>
                          <m:ctrlPr>
                            <a:rPr lang="en-US" sz="3200" i="1" smtClean="0">
                              <a:solidFill>
                                <a:srgbClr val="FF0000"/>
                              </a:solidFill>
                              <a:latin typeface="Cambria Math" panose="02040503050406030204" pitchFamily="18" charset="0"/>
                            </a:rPr>
                          </m:ctrlPr>
                        </m:sSubPr>
                        <m:e>
                          <m:r>
                            <a:rPr lang="en-US" sz="3200">
                              <a:solidFill>
                                <a:srgbClr val="FF0000"/>
                              </a:solidFill>
                              <a:latin typeface="Cambria Math" panose="02040503050406030204" pitchFamily="18" charset="0"/>
                            </a:rPr>
                            <m:t>𝐶</m:t>
                          </m:r>
                        </m:e>
                        <m:sub>
                          <m:r>
                            <a:rPr lang="en-US" sz="3200">
                              <a:solidFill>
                                <a:srgbClr val="FF0000"/>
                              </a:solidFill>
                              <a:latin typeface="Cambria Math" panose="02040503050406030204" pitchFamily="18" charset="0"/>
                            </a:rPr>
                            <m:t>𝑉</m:t>
                          </m:r>
                        </m:sub>
                      </m:sSub>
                      <m:r>
                        <a:rPr lang="en-US" sz="3200">
                          <a:solidFill>
                            <a:srgbClr val="FF0000"/>
                          </a:solidFill>
                          <a:latin typeface="Cambria Math" panose="02040503050406030204" pitchFamily="18" charset="0"/>
                        </a:rPr>
                        <m:t>=</m:t>
                      </m:r>
                      <m:sSub>
                        <m:sSubPr>
                          <m:ctrlPr>
                            <a:rPr lang="en-US" sz="3200" i="1">
                              <a:solidFill>
                                <a:srgbClr val="FF0000"/>
                              </a:solidFill>
                              <a:latin typeface="Cambria Math" panose="02040503050406030204" pitchFamily="18" charset="0"/>
                            </a:rPr>
                          </m:ctrlPr>
                        </m:sSubPr>
                        <m:e>
                          <m:r>
                            <a:rPr lang="en-US" sz="3200">
                              <a:solidFill>
                                <a:srgbClr val="FF0000"/>
                              </a:solidFill>
                              <a:latin typeface="Cambria Math" panose="02040503050406030204" pitchFamily="18" charset="0"/>
                            </a:rPr>
                            <m:t>𝑐</m:t>
                          </m:r>
                        </m:e>
                        <m:sub>
                          <m:r>
                            <a:rPr lang="en-US" sz="3200">
                              <a:solidFill>
                                <a:srgbClr val="FF0000"/>
                              </a:solidFill>
                              <a:latin typeface="Cambria Math" panose="02040503050406030204" pitchFamily="18" charset="0"/>
                            </a:rPr>
                            <m:t>𝜐</m:t>
                          </m:r>
                        </m:sub>
                      </m:sSub>
                      <m:r>
                        <a:rPr lang="en-US" sz="3200">
                          <a:solidFill>
                            <a:srgbClr val="FF0000"/>
                          </a:solidFill>
                          <a:latin typeface="Cambria Math" panose="02040503050406030204" pitchFamily="18" charset="0"/>
                        </a:rPr>
                        <m:t>⋅</m:t>
                      </m:r>
                      <m:r>
                        <a:rPr lang="en-US" sz="3200">
                          <a:solidFill>
                            <a:srgbClr val="FF0000"/>
                          </a:solidFill>
                          <a:latin typeface="Cambria Math" panose="02040503050406030204" pitchFamily="18" charset="0"/>
                        </a:rPr>
                        <m:t>𝐷</m:t>
                      </m:r>
                    </m:oMath>
                  </m:oMathPara>
                </a14:m>
                <a:endParaRPr lang="mn-MN" sz="3200" dirty="0">
                  <a:solidFill>
                    <a:srgbClr val="FF0000"/>
                  </a:solidFill>
                  <a:latin typeface="Times New Roman" panose="02020603050405020304" pitchFamily="18" charset="0"/>
                  <a:cs typeface="Times New Roman" panose="02020603050405020304" pitchFamily="18" charset="0"/>
                </a:endParaRPr>
              </a:p>
              <a:p>
                <a:pPr lvl="1" algn="just"/>
                <a14:m>
                  <m:oMath xmlns:m="http://schemas.openxmlformats.org/officeDocument/2006/math">
                    <m:sSub>
                      <m:sSubPr>
                        <m:ctrlPr>
                          <a:rPr lang="en-US" sz="2800" i="1" smtClean="0">
                            <a:solidFill>
                              <a:srgbClr val="002060"/>
                            </a:solidFill>
                            <a:latin typeface="Cambria Math" panose="02040503050406030204" pitchFamily="18" charset="0"/>
                          </a:rPr>
                        </m:ctrlPr>
                      </m:sSubPr>
                      <m:e>
                        <m:r>
                          <a:rPr lang="en-US" sz="2800">
                            <a:solidFill>
                              <a:srgbClr val="002060"/>
                            </a:solidFill>
                            <a:latin typeface="Cambria Math" panose="02040503050406030204" pitchFamily="18" charset="0"/>
                          </a:rPr>
                          <m:t>𝑐</m:t>
                        </m:r>
                      </m:e>
                      <m:sub>
                        <m:r>
                          <a:rPr lang="en-US" sz="2800">
                            <a:solidFill>
                              <a:srgbClr val="002060"/>
                            </a:solidFill>
                            <a:latin typeface="Cambria Math" panose="02040503050406030204" pitchFamily="18" charset="0"/>
                          </a:rPr>
                          <m:t>𝜐</m:t>
                        </m:r>
                      </m:sub>
                    </m:sSub>
                  </m:oMath>
                </a14:m>
                <a:r>
                  <a:rPr lang="mn-MN" sz="2800" dirty="0">
                    <a:solidFill>
                      <a:srgbClr val="002060"/>
                    </a:solidFill>
                    <a:latin typeface="Times New Roman" panose="02020603050405020304" pitchFamily="18" charset="0"/>
                    <a:cs typeface="Times New Roman" panose="02020603050405020304" pitchFamily="18" charset="0"/>
                  </a:rPr>
                  <a:t> - нэгжийн хувьсах зардал. </a:t>
                </a:r>
              </a:p>
              <a:p>
                <a:pPr algn="just"/>
                <a:r>
                  <a:rPr lang="mn-MN" sz="3200" b="1" dirty="0">
                    <a:solidFill>
                      <a:srgbClr val="002060"/>
                    </a:solidFill>
                    <a:latin typeface="Times New Roman" panose="02020603050405020304" pitchFamily="18" charset="0"/>
                    <a:cs typeface="Times New Roman" panose="02020603050405020304" pitchFamily="18" charset="0"/>
                  </a:rPr>
                  <a:t>Хугарлын цэгийг тодорхойлох </a:t>
                </a:r>
                <a:r>
                  <a:rPr lang="mn-MN" sz="3200" dirty="0">
                    <a:solidFill>
                      <a:srgbClr val="002060"/>
                    </a:solidFill>
                    <a:latin typeface="Times New Roman" panose="02020603050405020304" pitchFamily="18" charset="0"/>
                    <a:cs typeface="Times New Roman" panose="02020603050405020304" pitchFamily="18" charset="0"/>
                  </a:rPr>
                  <a:t>хоёр хувилбарыг авч үзье. </a:t>
                </a:r>
              </a:p>
              <a:p>
                <a:pPr lvl="1" algn="just"/>
                <a:r>
                  <a:rPr lang="mn-MN" sz="2800" dirty="0">
                    <a:solidFill>
                      <a:srgbClr val="002060"/>
                    </a:solidFill>
                    <a:latin typeface="Times New Roman" panose="02020603050405020304" pitchFamily="18" charset="0"/>
                    <a:cs typeface="Times New Roman" panose="02020603050405020304" pitchFamily="18" charset="0"/>
                  </a:rPr>
                  <a:t>Эхний хувилбарт </a:t>
                </a:r>
                <a:r>
                  <a:rPr lang="mn-MN" sz="2800" b="1" dirty="0">
                    <a:solidFill>
                      <a:srgbClr val="002060"/>
                    </a:solidFill>
                    <a:latin typeface="Times New Roman" panose="02020603050405020304" pitchFamily="18" charset="0"/>
                    <a:cs typeface="Times New Roman" panose="02020603050405020304" pitchFamily="18" charset="0"/>
                  </a:rPr>
                  <a:t>эрэлт нь үнээс хамаарсан функц байна. </a:t>
                </a:r>
              </a:p>
              <a:p>
                <a:pPr lvl="1" algn="just"/>
                <a:r>
                  <a:rPr lang="mn-MN" sz="2800" dirty="0">
                    <a:solidFill>
                      <a:srgbClr val="002060"/>
                    </a:solidFill>
                    <a:latin typeface="Times New Roman" panose="02020603050405020304" pitchFamily="18" charset="0"/>
                    <a:cs typeface="Times New Roman" panose="02020603050405020304" pitchFamily="18" charset="0"/>
                  </a:rPr>
                  <a:t>Хоёр дахь хувилбарт </a:t>
                </a:r>
                <a:r>
                  <a:rPr lang="mn-MN" sz="2800" b="1" dirty="0">
                    <a:solidFill>
                      <a:srgbClr val="002060"/>
                    </a:solidFill>
                    <a:latin typeface="Times New Roman" panose="02020603050405020304" pitchFamily="18" charset="0"/>
                    <a:cs typeface="Times New Roman" panose="02020603050405020304" pitchFamily="18" charset="0"/>
                  </a:rPr>
                  <a:t>үнэ болон эрэлтийг өөр хоорондоо хамааралгүй </a:t>
                </a:r>
                <a:r>
                  <a:rPr lang="mn-MN" sz="2800" dirty="0">
                    <a:solidFill>
                      <a:srgbClr val="002060"/>
                    </a:solidFill>
                    <a:latin typeface="Times New Roman" panose="02020603050405020304" pitchFamily="18" charset="0"/>
                    <a:cs typeface="Times New Roman" panose="02020603050405020304" pitchFamily="18" charset="0"/>
                  </a:rPr>
                  <a:t>гэж үзнэ.</a:t>
                </a:r>
                <a:endParaRPr lang="mn-MN" sz="32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E2C1D5CA-D0F8-57F9-C2FF-65BB6C543AD4}"/>
                  </a:ext>
                </a:extLst>
              </p:cNvPr>
              <p:cNvSpPr>
                <a:spLocks noGrp="1" noRot="1" noChangeAspect="1" noMove="1" noResize="1" noEditPoints="1" noAdjustHandles="1" noChangeArrowheads="1" noChangeShapeType="1" noTextEdit="1"/>
              </p:cNvSpPr>
              <p:nvPr>
                <p:ph idx="1"/>
              </p:nvPr>
            </p:nvSpPr>
            <p:spPr>
              <a:xfrm>
                <a:off x="66746" y="699999"/>
                <a:ext cx="11952975" cy="6044886"/>
              </a:xfrm>
              <a:blipFill>
                <a:blip r:embed="rId3"/>
                <a:stretch>
                  <a:fillRect l="-1173" t="-2220" r="-1275"/>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58A51682-4DD8-45B5-8727-68049312F761}"/>
              </a:ext>
            </a:extLst>
          </p:cNvPr>
          <p:cNvSpPr txBox="1">
            <a:spLocks/>
          </p:cNvSpPr>
          <p:nvPr/>
        </p:nvSpPr>
        <p:spPr>
          <a:xfrm>
            <a:off x="161997" y="211089"/>
            <a:ext cx="10515600" cy="377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800" b="1" dirty="0">
                <a:solidFill>
                  <a:srgbClr val="002060"/>
                </a:solidFill>
                <a:latin typeface="Times New Roman" panose="02020603050405020304" pitchFamily="18" charset="0"/>
                <a:cs typeface="Times New Roman" panose="02020603050405020304" pitchFamily="18" charset="0"/>
              </a:rPr>
              <a:t>2. Эдийн засгийн ерөнхий орчин</a:t>
            </a:r>
            <a:r>
              <a:rPr lang="en-US" sz="2800" b="1" dirty="0">
                <a:solidFill>
                  <a:srgbClr val="002060"/>
                </a:solidFill>
                <a:latin typeface="Times New Roman" panose="02020603050405020304" pitchFamily="18" charset="0"/>
                <a:cs typeface="Times New Roman" panose="02020603050405020304" pitchFamily="18" charset="0"/>
              </a:rPr>
              <a:t> (4)</a:t>
            </a:r>
            <a:br>
              <a:rPr lang="mn-MN" sz="2800" b="1" dirty="0">
                <a:solidFill>
                  <a:srgbClr val="002060"/>
                </a:solidFill>
                <a:latin typeface="Times New Roman" panose="02020603050405020304" pitchFamily="18" charset="0"/>
                <a:cs typeface="Times New Roman" panose="02020603050405020304" pitchFamily="18" charset="0"/>
              </a:rPr>
            </a:br>
            <a:r>
              <a:rPr lang="mn-MN" sz="2800" b="1" dirty="0">
                <a:solidFill>
                  <a:srgbClr val="002060"/>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 2.4 Зардал, тоо хэмжээ ба хугарлын цэгийн хамаарал</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8299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4298-089F-FC5C-D385-52629522C97F}"/>
              </a:ext>
            </a:extLst>
          </p:cNvPr>
          <p:cNvSpPr>
            <a:spLocks noGrp="1"/>
          </p:cNvSpPr>
          <p:nvPr>
            <p:ph type="title"/>
          </p:nvPr>
        </p:nvSpPr>
        <p:spPr>
          <a:xfrm>
            <a:off x="106017" y="0"/>
            <a:ext cx="11473070" cy="755868"/>
          </a:xfrm>
        </p:spPr>
        <p:txBody>
          <a:bodyPr>
            <a:noAutofit/>
          </a:bodyPr>
          <a:lstStyle/>
          <a:p>
            <a:r>
              <a:rPr lang="ru-RU" sz="2400" b="1" dirty="0">
                <a:solidFill>
                  <a:srgbClr val="002060"/>
                </a:solidFill>
                <a:latin typeface="Times New Roman" panose="02020603050405020304" pitchFamily="18" charset="0"/>
                <a:cs typeface="Times New Roman" panose="02020603050405020304" pitchFamily="18" charset="0"/>
              </a:rPr>
              <a:t>2. Эдийн засгийн ерөнхий орчин</a:t>
            </a:r>
            <a:br>
              <a:rPr lang="mn-MN" sz="2400" b="1" dirty="0">
                <a:solidFill>
                  <a:srgbClr val="002060"/>
                </a:solidFill>
                <a:latin typeface="Times New Roman" panose="02020603050405020304" pitchFamily="18" charset="0"/>
                <a:cs typeface="Times New Roman" panose="02020603050405020304" pitchFamily="18" charset="0"/>
              </a:rPr>
            </a:br>
            <a:r>
              <a:rPr lang="mn-MN" sz="2400" b="1" dirty="0">
                <a:solidFill>
                  <a:srgbClr val="002060"/>
                </a:solidFill>
                <a:latin typeface="Times New Roman" panose="02020603050405020304" pitchFamily="18" charset="0"/>
                <a:cs typeface="Times New Roman" panose="02020603050405020304" pitchFamily="18" charset="0"/>
              </a:rPr>
              <a:t>	</a:t>
            </a:r>
            <a:r>
              <a:rPr lang="mn-MN" sz="2400" b="1" dirty="0">
                <a:solidFill>
                  <a:schemeClr val="accent2">
                    <a:lumMod val="75000"/>
                  </a:schemeClr>
                </a:solidFill>
                <a:latin typeface="Times New Roman" panose="02020603050405020304" pitchFamily="18" charset="0"/>
                <a:cs typeface="Times New Roman" panose="02020603050405020304" pitchFamily="18" charset="0"/>
              </a:rPr>
              <a:t>2.4</a:t>
            </a:r>
            <a:r>
              <a:rPr lang="en-US" sz="2400" b="1" dirty="0">
                <a:solidFill>
                  <a:schemeClr val="accent2">
                    <a:lumMod val="75000"/>
                  </a:schemeClr>
                </a:solidFill>
                <a:latin typeface="Times New Roman" panose="02020603050405020304" pitchFamily="18" charset="0"/>
                <a:cs typeface="Times New Roman" panose="02020603050405020304" pitchFamily="18" charset="0"/>
              </a:rPr>
              <a:t>.1.</a:t>
            </a:r>
            <a:r>
              <a:rPr lang="mn-MN" sz="2400" b="1" dirty="0">
                <a:solidFill>
                  <a:schemeClr val="accent2">
                    <a:lumMod val="75000"/>
                  </a:schemeClr>
                </a:solidFill>
                <a:latin typeface="Times New Roman" panose="02020603050405020304" pitchFamily="18" charset="0"/>
                <a:cs typeface="Times New Roman" panose="02020603050405020304" pitchFamily="18" charset="0"/>
              </a:rPr>
              <a:t> Хугарлын цэг тодорхойлох </a:t>
            </a:r>
            <a:r>
              <a:rPr lang="en-US" sz="2400" b="1" dirty="0">
                <a:solidFill>
                  <a:schemeClr val="accent2">
                    <a:lumMod val="75000"/>
                  </a:schemeClr>
                </a:solidFill>
                <a:latin typeface="Times New Roman" panose="02020603050405020304" pitchFamily="18" charset="0"/>
                <a:cs typeface="Times New Roman" panose="02020603050405020304" pitchFamily="18" charset="0"/>
              </a:rPr>
              <a:t>I </a:t>
            </a:r>
            <a:r>
              <a:rPr lang="mn-MN" sz="2400" b="1" dirty="0">
                <a:solidFill>
                  <a:schemeClr val="accent2">
                    <a:lumMod val="75000"/>
                  </a:schemeClr>
                </a:solidFill>
                <a:latin typeface="Times New Roman" panose="02020603050405020304" pitchFamily="18" charset="0"/>
                <a:cs typeface="Times New Roman" panose="02020603050405020304" pitchFamily="18" charset="0"/>
              </a:rPr>
              <a:t>хувилбар</a:t>
            </a: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C1D5CA-D0F8-57F9-C2FF-65BB6C543AD4}"/>
                  </a:ext>
                </a:extLst>
              </p:cNvPr>
              <p:cNvSpPr>
                <a:spLocks noGrp="1"/>
              </p:cNvSpPr>
              <p:nvPr>
                <p:ph idx="1"/>
              </p:nvPr>
            </p:nvSpPr>
            <p:spPr>
              <a:xfrm>
                <a:off x="4360225" y="721255"/>
                <a:ext cx="7628805" cy="5653039"/>
              </a:xfrm>
            </p:spPr>
            <p:txBody>
              <a:bodyPr>
                <a:normAutofit fontScale="92500"/>
              </a:bodyPr>
              <a:lstStyle/>
              <a:p>
                <a:pPr algn="just"/>
                <a:r>
                  <a:rPr lang="mn-MN" sz="3200" dirty="0">
                    <a:solidFill>
                      <a:srgbClr val="002060"/>
                    </a:solidFill>
                    <a:latin typeface="Times New Roman" panose="02020603050405020304" pitchFamily="18" charset="0"/>
                    <a:cs typeface="Times New Roman" panose="02020603050405020304" pitchFamily="18" charset="0"/>
                  </a:rPr>
                  <a:t>Нийт орлогын график болон нийт зардлын графикуудыг нэгтгэвэл </a:t>
                </a:r>
                <a:r>
                  <a:rPr lang="mn-MN" sz="3200" b="1" dirty="0">
                    <a:solidFill>
                      <a:srgbClr val="002060"/>
                    </a:solidFill>
                    <a:latin typeface="Times New Roman" panose="02020603050405020304" pitchFamily="18" charset="0"/>
                    <a:cs typeface="Times New Roman" panose="02020603050405020304" pitchFamily="18" charset="0"/>
                  </a:rPr>
                  <a:t>ЭРЭЛТИЙН ЕРӨНХИЙ ФУНКЦ </a:t>
                </a:r>
                <a:r>
                  <a:rPr lang="mn-MN" sz="3200" dirty="0">
                    <a:solidFill>
                      <a:srgbClr val="002060"/>
                    </a:solidFill>
                    <a:latin typeface="Times New Roman" panose="02020603050405020304" pitchFamily="18" charset="0"/>
                    <a:cs typeface="Times New Roman" panose="02020603050405020304" pitchFamily="18" charset="0"/>
                  </a:rPr>
                  <a:t>гарч ирнэ. </a:t>
                </a:r>
              </a:p>
              <a:p>
                <a:pPr algn="just"/>
                <a:r>
                  <a:rPr lang="mn-MN" sz="3200" dirty="0">
                    <a:solidFill>
                      <a:srgbClr val="002060"/>
                    </a:solidFill>
                    <a:latin typeface="Times New Roman" panose="02020603050405020304" pitchFamily="18" charset="0"/>
                    <a:cs typeface="Times New Roman" panose="02020603050405020304" pitchFamily="18" charset="0"/>
                  </a:rPr>
                  <a:t>Хугарлын цэг </a:t>
                </a:r>
                <a14:m>
                  <m:oMath xmlns:m="http://schemas.openxmlformats.org/officeDocument/2006/math">
                    <m:sSub>
                      <m:sSubPr>
                        <m:ctrlPr>
                          <a:rPr lang="en-US" sz="3900" b="1" i="1" smtClean="0">
                            <a:solidFill>
                              <a:srgbClr val="0033CC"/>
                            </a:solidFill>
                            <a:latin typeface="Cambria Math" panose="02040503050406030204" pitchFamily="18" charset="0"/>
                          </a:rPr>
                        </m:ctrlPr>
                      </m:sSubPr>
                      <m:e>
                        <m:sSup>
                          <m:sSupPr>
                            <m:ctrlPr>
                              <a:rPr lang="en-US" sz="3900" b="1" i="1">
                                <a:solidFill>
                                  <a:srgbClr val="0033CC"/>
                                </a:solidFill>
                                <a:latin typeface="Cambria Math" panose="02040503050406030204" pitchFamily="18" charset="0"/>
                              </a:rPr>
                            </m:ctrlPr>
                          </m:sSupPr>
                          <m:e>
                            <m:r>
                              <a:rPr lang="en-US" sz="3900" b="1" i="1">
                                <a:solidFill>
                                  <a:srgbClr val="0033CC"/>
                                </a:solidFill>
                                <a:latin typeface="Cambria Math" panose="02040503050406030204" pitchFamily="18" charset="0"/>
                              </a:rPr>
                              <m:t>𝑫</m:t>
                            </m:r>
                          </m:e>
                          <m:sup>
                            <m:r>
                              <a:rPr lang="en-US" sz="3900" b="1">
                                <a:solidFill>
                                  <a:srgbClr val="0033CC"/>
                                </a:solidFill>
                                <a:latin typeface="Cambria Math" panose="02040503050406030204" pitchFamily="18" charset="0"/>
                              </a:rPr>
                              <m:t>′</m:t>
                            </m:r>
                          </m:sup>
                        </m:sSup>
                      </m:e>
                      <m:sub>
                        <m:r>
                          <a:rPr lang="en-US" sz="3900" b="1" i="1">
                            <a:solidFill>
                              <a:srgbClr val="0033CC"/>
                            </a:solidFill>
                            <a:latin typeface="Cambria Math" panose="02040503050406030204" pitchFamily="18" charset="0"/>
                          </a:rPr>
                          <m:t>𝟏</m:t>
                        </m:r>
                      </m:sub>
                    </m:sSub>
                    <m:r>
                      <a:rPr lang="en-US" sz="3900" b="1">
                        <a:solidFill>
                          <a:srgbClr val="0033CC"/>
                        </a:solidFill>
                        <a:latin typeface="Cambria Math" panose="02040503050406030204" pitchFamily="18" charset="0"/>
                      </a:rPr>
                      <m:t> </m:t>
                    </m:r>
                  </m:oMath>
                </a14:m>
                <a:r>
                  <a:rPr lang="mn-MN" sz="3200" dirty="0">
                    <a:solidFill>
                      <a:srgbClr val="002060"/>
                    </a:solidFill>
                    <a:latin typeface="Times New Roman" panose="02020603050405020304" pitchFamily="18" charset="0"/>
                    <a:cs typeface="Times New Roman" panose="02020603050405020304" pitchFamily="18" charset="0"/>
                  </a:rPr>
                  <a:t>-т нийт орлого нийт зардалтай тэнцүү байх бөгөөд эрэлтийн өсөлт нь үйл ажиллагааны ашгийг үүсгэнэ. </a:t>
                </a:r>
              </a:p>
              <a:p>
                <a:pPr algn="just"/>
                <a:r>
                  <a:rPr lang="mn-MN" sz="3200" dirty="0">
                    <a:solidFill>
                      <a:srgbClr val="002060"/>
                    </a:solidFill>
                    <a:latin typeface="Times New Roman" panose="02020603050405020304" pitchFamily="18" charset="0"/>
                    <a:cs typeface="Times New Roman" panose="02020603050405020304" pitchFamily="18" charset="0"/>
                  </a:rPr>
                  <a:t>Хамгийн оновчтой эрэлт </a:t>
                </a:r>
                <a14:m>
                  <m:oMath xmlns:m="http://schemas.openxmlformats.org/officeDocument/2006/math">
                    <m:r>
                      <a:rPr lang="en-US" sz="3200">
                        <a:solidFill>
                          <a:srgbClr val="002060"/>
                        </a:solidFill>
                        <a:latin typeface="Cambria Math" panose="02040503050406030204" pitchFamily="18" charset="0"/>
                      </a:rPr>
                      <m:t> </m:t>
                    </m:r>
                    <m:sSup>
                      <m:sSupPr>
                        <m:ctrlPr>
                          <a:rPr lang="en-US" sz="3200" i="1">
                            <a:solidFill>
                              <a:srgbClr val="002060"/>
                            </a:solidFill>
                            <a:latin typeface="Cambria Math" panose="02040503050406030204" pitchFamily="18" charset="0"/>
                          </a:rPr>
                        </m:ctrlPr>
                      </m:sSupPr>
                      <m:e>
                        <m:r>
                          <a:rPr lang="en-US" sz="3200">
                            <a:solidFill>
                              <a:srgbClr val="002060"/>
                            </a:solidFill>
                            <a:latin typeface="Cambria Math" panose="02040503050406030204" pitchFamily="18" charset="0"/>
                          </a:rPr>
                          <m:t>𝐷</m:t>
                        </m:r>
                      </m:e>
                      <m:sup>
                        <m:r>
                          <a:rPr lang="en-US" sz="3200">
                            <a:solidFill>
                              <a:srgbClr val="002060"/>
                            </a:solidFill>
                            <a:latin typeface="Cambria Math" panose="02040503050406030204" pitchFamily="18" charset="0"/>
                          </a:rPr>
                          <m:t>∗</m:t>
                        </m:r>
                      </m:sup>
                    </m:sSup>
                  </m:oMath>
                </a14:m>
                <a:r>
                  <a:rPr lang="mn-MN" sz="3200" dirty="0">
                    <a:solidFill>
                      <a:srgbClr val="002060"/>
                    </a:solidFill>
                    <a:latin typeface="Times New Roman" panose="02020603050405020304" pitchFamily="18" charset="0"/>
                    <a:cs typeface="Times New Roman" panose="02020603050405020304" pitchFamily="18" charset="0"/>
                  </a:rPr>
                  <a:t> -ийн үед ашиг хамгийн их байна. </a:t>
                </a:r>
              </a:p>
              <a:p>
                <a:pPr algn="just"/>
                <a:r>
                  <a:rPr lang="mn-MN" sz="3200" dirty="0">
                    <a:solidFill>
                      <a:srgbClr val="002060"/>
                    </a:solidFill>
                    <a:latin typeface="Times New Roman" panose="02020603050405020304" pitchFamily="18" charset="0"/>
                    <a:cs typeface="Times New Roman" panose="02020603050405020304" pitchFamily="18" charset="0"/>
                  </a:rPr>
                  <a:t>Хугарлын цэг </a:t>
                </a:r>
                <a14:m>
                  <m:oMath xmlns:m="http://schemas.openxmlformats.org/officeDocument/2006/math">
                    <m:sSub>
                      <m:sSubPr>
                        <m:ctrlPr>
                          <a:rPr lang="en-US" sz="3900" b="1" i="1" smtClean="0">
                            <a:solidFill>
                              <a:srgbClr val="0033CC"/>
                            </a:solidFill>
                            <a:latin typeface="Cambria Math" panose="02040503050406030204" pitchFamily="18" charset="0"/>
                          </a:rPr>
                        </m:ctrlPr>
                      </m:sSubPr>
                      <m:e>
                        <m:sSup>
                          <m:sSupPr>
                            <m:ctrlPr>
                              <a:rPr lang="en-US" sz="3900" b="1" i="1">
                                <a:solidFill>
                                  <a:srgbClr val="0033CC"/>
                                </a:solidFill>
                                <a:latin typeface="Cambria Math" panose="02040503050406030204" pitchFamily="18" charset="0"/>
                              </a:rPr>
                            </m:ctrlPr>
                          </m:sSupPr>
                          <m:e>
                            <m:r>
                              <a:rPr lang="en-US" sz="3900" b="1" i="1">
                                <a:solidFill>
                                  <a:srgbClr val="0033CC"/>
                                </a:solidFill>
                                <a:latin typeface="Cambria Math" panose="02040503050406030204" pitchFamily="18" charset="0"/>
                              </a:rPr>
                              <m:t>𝑫</m:t>
                            </m:r>
                          </m:e>
                          <m:sup>
                            <m:r>
                              <a:rPr lang="en-US" sz="3900" b="1">
                                <a:solidFill>
                                  <a:srgbClr val="0033CC"/>
                                </a:solidFill>
                                <a:latin typeface="Cambria Math" panose="02040503050406030204" pitchFamily="18" charset="0"/>
                              </a:rPr>
                              <m:t>′</m:t>
                            </m:r>
                          </m:sup>
                        </m:sSup>
                      </m:e>
                      <m:sub>
                        <m:r>
                          <a:rPr lang="en-US" sz="3900" b="1" i="1">
                            <a:solidFill>
                              <a:srgbClr val="0033CC"/>
                            </a:solidFill>
                            <a:latin typeface="Cambria Math" panose="02040503050406030204" pitchFamily="18" charset="0"/>
                          </a:rPr>
                          <m:t>𝟐</m:t>
                        </m:r>
                      </m:sub>
                    </m:sSub>
                  </m:oMath>
                </a14:m>
                <a:r>
                  <a:rPr lang="mn-MN" sz="3900" b="1" dirty="0">
                    <a:solidFill>
                      <a:srgbClr val="0033CC"/>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-т нийт орлого ба нийт зардал дахин тэнцүү болох боловч тоо хэмжээний цаашдын өсөлт нь ашгийн оронд алдагдлыг бий болгоно.</a:t>
                </a:r>
              </a:p>
            </p:txBody>
          </p:sp>
        </mc:Choice>
        <mc:Fallback xmlns="">
          <p:sp>
            <p:nvSpPr>
              <p:cNvPr id="3" name="Content Placeholder 2">
                <a:extLst>
                  <a:ext uri="{FF2B5EF4-FFF2-40B4-BE49-F238E27FC236}">
                    <a16:creationId xmlns:a16="http://schemas.microsoft.com/office/drawing/2014/main" id="{E2C1D5CA-D0F8-57F9-C2FF-65BB6C543AD4}"/>
                  </a:ext>
                </a:extLst>
              </p:cNvPr>
              <p:cNvSpPr>
                <a:spLocks noGrp="1" noRot="1" noChangeAspect="1" noMove="1" noResize="1" noEditPoints="1" noAdjustHandles="1" noChangeArrowheads="1" noChangeShapeType="1" noTextEdit="1"/>
              </p:cNvSpPr>
              <p:nvPr>
                <p:ph idx="1"/>
              </p:nvPr>
            </p:nvSpPr>
            <p:spPr>
              <a:xfrm>
                <a:off x="4360225" y="721255"/>
                <a:ext cx="7628805" cy="5653039"/>
              </a:xfrm>
              <a:blipFill>
                <a:blip r:embed="rId3"/>
                <a:stretch>
                  <a:fillRect l="-1597" t="-2155" r="-1837" b="-1724"/>
                </a:stretch>
              </a:blipFill>
            </p:spPr>
            <p:txBody>
              <a:bodyPr/>
              <a:lstStyle/>
              <a:p>
                <a:r>
                  <a:rPr lang="en-US">
                    <a:noFill/>
                  </a:rPr>
                  <a:t> </a:t>
                </a:r>
              </a:p>
            </p:txBody>
          </p:sp>
        </mc:Fallback>
      </mc:AlternateContent>
      <p:grpSp>
        <p:nvGrpSpPr>
          <p:cNvPr id="5" name="Canvas 923">
            <a:extLst>
              <a:ext uri="{FF2B5EF4-FFF2-40B4-BE49-F238E27FC236}">
                <a16:creationId xmlns:a16="http://schemas.microsoft.com/office/drawing/2014/main" id="{3EA51237-DC6B-C852-DD84-DAA601B39163}"/>
              </a:ext>
            </a:extLst>
          </p:cNvPr>
          <p:cNvGrpSpPr/>
          <p:nvPr/>
        </p:nvGrpSpPr>
        <p:grpSpPr>
          <a:xfrm>
            <a:off x="106018" y="755868"/>
            <a:ext cx="5181600" cy="4559600"/>
            <a:chOff x="0" y="0"/>
            <a:chExt cx="4572000" cy="2578099"/>
          </a:xfrm>
        </p:grpSpPr>
        <p:sp>
          <p:nvSpPr>
            <p:cNvPr id="6" name="Rectangle 5">
              <a:extLst>
                <a:ext uri="{FF2B5EF4-FFF2-40B4-BE49-F238E27FC236}">
                  <a16:creationId xmlns:a16="http://schemas.microsoft.com/office/drawing/2014/main" id="{35288D2B-86C7-C272-FCE8-4DEAF67FCEC9}"/>
                </a:ext>
              </a:extLst>
            </p:cNvPr>
            <p:cNvSpPr/>
            <p:nvPr/>
          </p:nvSpPr>
          <p:spPr>
            <a:xfrm>
              <a:off x="0" y="0"/>
              <a:ext cx="4572000" cy="2569845"/>
            </a:xfrm>
            <a:prstGeom prst="rect">
              <a:avLst/>
            </a:prstGeom>
            <a:noFill/>
          </p:spPr>
          <p:txBody>
            <a:bodyPr/>
            <a:lstStyle/>
            <a:p>
              <a:endParaRPr lang="en-US" sz="160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2E94B60-D160-FB1D-3463-52E9DD9A0432}"/>
                </a:ext>
              </a:extLst>
            </p:cNvPr>
            <p:cNvCxnSpPr>
              <a:cxnSpLocks noChangeShapeType="1"/>
            </p:cNvCxnSpPr>
            <p:nvPr/>
          </p:nvCxnSpPr>
          <p:spPr bwMode="auto">
            <a:xfrm>
              <a:off x="792283" y="0"/>
              <a:ext cx="0" cy="2284095"/>
            </a:xfrm>
            <a:prstGeom prst="line">
              <a:avLst/>
            </a:prstGeom>
            <a:noFill/>
            <a:ln w="9525">
              <a:solidFill>
                <a:srgbClr val="000000"/>
              </a:solidFill>
              <a:round/>
              <a:headEnd type="stealth" w="med" len="med"/>
              <a:tailEnd/>
            </a:ln>
            <a:extLst>
              <a:ext uri="{909E8E84-426E-40DD-AFC4-6F175D3DCCD1}">
                <a14:hiddenFill xmlns:a14="http://schemas.microsoft.com/office/drawing/2010/main">
                  <a:noFill/>
                </a14:hiddenFill>
              </a:ext>
            </a:extLst>
          </p:spPr>
        </p:cxnSp>
        <p:cxnSp>
          <p:nvCxnSpPr>
            <p:cNvPr id="9" name="Straight Connector 8">
              <a:extLst>
                <a:ext uri="{FF2B5EF4-FFF2-40B4-BE49-F238E27FC236}">
                  <a16:creationId xmlns:a16="http://schemas.microsoft.com/office/drawing/2014/main" id="{031431FF-2FE0-1D07-CA27-295C8B544F6E}"/>
                </a:ext>
              </a:extLst>
            </p:cNvPr>
            <p:cNvCxnSpPr>
              <a:cxnSpLocks noChangeShapeType="1"/>
            </p:cNvCxnSpPr>
            <p:nvPr/>
          </p:nvCxnSpPr>
          <p:spPr bwMode="auto">
            <a:xfrm>
              <a:off x="792283" y="2284095"/>
              <a:ext cx="3163570" cy="0"/>
            </a:xfrm>
            <a:prstGeom prst="line">
              <a:avLst/>
            </a:prstGeom>
            <a:noFill/>
            <a:ln w="9525">
              <a:solidFill>
                <a:srgbClr val="000000"/>
              </a:solidFill>
              <a:round/>
              <a:headEnd/>
              <a:tailEnd type="stealth" w="med" len="med"/>
            </a:ln>
            <a:extLst>
              <a:ext uri="{909E8E84-426E-40DD-AFC4-6F175D3DCCD1}">
                <a14:hiddenFill xmlns:a14="http://schemas.microsoft.com/office/drawing/2010/main">
                  <a:noFill/>
                </a14:hiddenFill>
              </a:ext>
            </a:extLst>
          </p:spPr>
        </p:cxnSp>
        <p:sp>
          <p:nvSpPr>
            <p:cNvPr id="10" name="Freeform 10">
              <a:extLst>
                <a:ext uri="{FF2B5EF4-FFF2-40B4-BE49-F238E27FC236}">
                  <a16:creationId xmlns:a16="http://schemas.microsoft.com/office/drawing/2014/main" id="{676DE5E6-62B0-96F8-FE44-66C2EE01ADD7}"/>
                </a:ext>
              </a:extLst>
            </p:cNvPr>
            <p:cNvSpPr>
              <a:spLocks/>
            </p:cNvSpPr>
            <p:nvPr/>
          </p:nvSpPr>
          <p:spPr bwMode="auto">
            <a:xfrm>
              <a:off x="1008818" y="406400"/>
              <a:ext cx="2279650" cy="1674495"/>
            </a:xfrm>
            <a:custGeom>
              <a:avLst/>
              <a:gdLst>
                <a:gd name="T0" fmla="*/ 0 w 10000"/>
                <a:gd name="T1" fmla="*/ 1866713 h 10101"/>
                <a:gd name="T2" fmla="*/ 1270540 w 10000"/>
                <a:gd name="T3" fmla="*/ 0 h 10101"/>
                <a:gd name="T4" fmla="*/ 2505007 w 10000"/>
                <a:gd name="T5" fmla="*/ 1885567 h 10101"/>
                <a:gd name="T6" fmla="*/ 0 60000 65536"/>
                <a:gd name="T7" fmla="*/ 0 60000 65536"/>
                <a:gd name="T8" fmla="*/ 0 60000 65536"/>
              </a:gdLst>
              <a:ahLst/>
              <a:cxnLst>
                <a:cxn ang="T6">
                  <a:pos x="T0" y="T1"/>
                </a:cxn>
                <a:cxn ang="T7">
                  <a:pos x="T2" y="T3"/>
                </a:cxn>
                <a:cxn ang="T8">
                  <a:pos x="T4" y="T5"/>
                </a:cxn>
              </a:cxnLst>
              <a:rect l="0" t="0" r="r" b="b"/>
              <a:pathLst>
                <a:path w="10000" h="10101">
                  <a:moveTo>
                    <a:pt x="0" y="10000"/>
                  </a:moveTo>
                  <a:cubicBezTo>
                    <a:pt x="747" y="4364"/>
                    <a:pt x="2725" y="59"/>
                    <a:pt x="5072" y="0"/>
                  </a:cubicBezTo>
                  <a:cubicBezTo>
                    <a:pt x="8253" y="452"/>
                    <a:pt x="9050" y="5883"/>
                    <a:pt x="10000" y="10101"/>
                  </a:cubicBezTo>
                </a:path>
              </a:pathLst>
            </a:custGeom>
            <a:noFill/>
            <a:ln w="12700">
              <a:solidFill>
                <a:srgbClr val="4579B8"/>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US" sz="1600">
                <a:latin typeface="Times New Roman" panose="02020603050405020304" pitchFamily="18" charset="0"/>
                <a:cs typeface="Times New Roman" panose="02020603050405020304" pitchFamily="18" charset="0"/>
              </a:endParaRPr>
            </a:p>
          </p:txBody>
        </p:sp>
        <p:sp>
          <p:nvSpPr>
            <p:cNvPr id="11" name="Text Box 2">
              <a:extLst>
                <a:ext uri="{FF2B5EF4-FFF2-40B4-BE49-F238E27FC236}">
                  <a16:creationId xmlns:a16="http://schemas.microsoft.com/office/drawing/2014/main" id="{5D00E1F0-84BE-BC28-0385-85F1894ED226}"/>
                </a:ext>
              </a:extLst>
            </p:cNvPr>
            <p:cNvSpPr txBox="1">
              <a:spLocks noChangeArrowheads="1"/>
            </p:cNvSpPr>
            <p:nvPr/>
          </p:nvSpPr>
          <p:spPr bwMode="auto">
            <a:xfrm>
              <a:off x="2699188" y="1703070"/>
              <a:ext cx="50736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80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2" name="Text Box 2">
              <a:extLst>
                <a:ext uri="{FF2B5EF4-FFF2-40B4-BE49-F238E27FC236}">
                  <a16:creationId xmlns:a16="http://schemas.microsoft.com/office/drawing/2014/main" id="{452F5B06-D208-0E46-58E5-E67FC390D388}"/>
                </a:ext>
              </a:extLst>
            </p:cNvPr>
            <p:cNvSpPr txBox="1">
              <a:spLocks noChangeArrowheads="1"/>
            </p:cNvSpPr>
            <p:nvPr/>
          </p:nvSpPr>
          <p:spPr bwMode="auto">
            <a:xfrm>
              <a:off x="1579683" y="2332990"/>
              <a:ext cx="1917700" cy="23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83210" tIns="41605" rIns="83210" bIns="41605" anchor="t" anchorCtr="0" upright="1">
              <a:noAutofit/>
            </a:bodyPr>
            <a:lstStyle/>
            <a:p>
              <a:pPr>
                <a:lnSpc>
                  <a:spcPct val="106000"/>
                </a:lnSpc>
                <a:spcAft>
                  <a:spcPts val="800"/>
                </a:spcAft>
              </a:pPr>
              <a:r>
                <a:rPr lang="mn-MN" sz="1600">
                  <a:effectLst/>
                  <a:latin typeface="Times New Roman" panose="02020603050405020304" pitchFamily="18" charset="0"/>
                  <a:ea typeface="DengXian"/>
                  <a:cs typeface="Times New Roman" panose="02020603050405020304" pitchFamily="18" charset="0"/>
                </a:rPr>
                <a:t>Тоо хэмжээ</a:t>
              </a:r>
              <a:r>
                <a:rPr lang="en-US" sz="1600">
                  <a:effectLst/>
                  <a:latin typeface="Times New Roman" panose="02020603050405020304" pitchFamily="18" charset="0"/>
                  <a:ea typeface="DengXian"/>
                  <a:cs typeface="Times New Roman" panose="02020603050405020304" pitchFamily="18" charset="0"/>
                </a:rPr>
                <a:t> (Эрэлт)</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Text Box 2">
              <a:extLst>
                <a:ext uri="{FF2B5EF4-FFF2-40B4-BE49-F238E27FC236}">
                  <a16:creationId xmlns:a16="http://schemas.microsoft.com/office/drawing/2014/main" id="{BAD2A343-70A0-B31A-E5AA-8EFF4524BEBB}"/>
                </a:ext>
              </a:extLst>
            </p:cNvPr>
            <p:cNvSpPr txBox="1">
              <a:spLocks noChangeArrowheads="1"/>
            </p:cNvSpPr>
            <p:nvPr/>
          </p:nvSpPr>
          <p:spPr bwMode="auto">
            <a:xfrm rot="16200000">
              <a:off x="-143704" y="821054"/>
              <a:ext cx="1045210" cy="685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lnSpc>
                  <a:spcPct val="106000"/>
                </a:lnSpc>
                <a:spcAft>
                  <a:spcPts val="800"/>
                </a:spcAft>
              </a:pPr>
              <a:r>
                <a:rPr lang="mn-MN" sz="1600" dirty="0">
                  <a:effectLst/>
                  <a:latin typeface="Times New Roman" panose="02020603050405020304" pitchFamily="18" charset="0"/>
                  <a:ea typeface="DengXian"/>
                  <a:cs typeface="Times New Roman" panose="02020603050405020304" pitchFamily="18" charset="0"/>
                </a:rPr>
                <a:t>Зардал ба орлого</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F519F07E-9C5D-7865-6A90-C5DFEAE75650}"/>
                </a:ext>
              </a:extLst>
            </p:cNvPr>
            <p:cNvCxnSpPr>
              <a:cxnSpLocks noChangeShapeType="1"/>
            </p:cNvCxnSpPr>
            <p:nvPr/>
          </p:nvCxnSpPr>
          <p:spPr bwMode="auto">
            <a:xfrm>
              <a:off x="1125023" y="1624330"/>
              <a:ext cx="0" cy="659765"/>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F7F8F164-A2C8-CA66-49E6-89BFF0899F6A}"/>
                </a:ext>
              </a:extLst>
            </p:cNvPr>
            <p:cNvCxnSpPr>
              <a:cxnSpLocks noChangeShapeType="1"/>
            </p:cNvCxnSpPr>
            <p:nvPr/>
          </p:nvCxnSpPr>
          <p:spPr bwMode="auto">
            <a:xfrm>
              <a:off x="1617783" y="1319530"/>
              <a:ext cx="0" cy="94742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cxnSp>
        <p:cxnSp>
          <p:nvCxnSpPr>
            <p:cNvPr id="16" name="Straight Connector 15">
              <a:extLst>
                <a:ext uri="{FF2B5EF4-FFF2-40B4-BE49-F238E27FC236}">
                  <a16:creationId xmlns:a16="http://schemas.microsoft.com/office/drawing/2014/main" id="{FA8108C1-3E2C-14E0-5694-8D4661C78CA3}"/>
                </a:ext>
              </a:extLst>
            </p:cNvPr>
            <p:cNvCxnSpPr>
              <a:cxnSpLocks noChangeShapeType="1"/>
            </p:cNvCxnSpPr>
            <p:nvPr/>
          </p:nvCxnSpPr>
          <p:spPr bwMode="auto">
            <a:xfrm flipH="1">
              <a:off x="2702363" y="685165"/>
              <a:ext cx="0" cy="160020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cxnSp>
        <p:cxnSp>
          <p:nvCxnSpPr>
            <p:cNvPr id="17" name="Straight Connector 16">
              <a:extLst>
                <a:ext uri="{FF2B5EF4-FFF2-40B4-BE49-F238E27FC236}">
                  <a16:creationId xmlns:a16="http://schemas.microsoft.com/office/drawing/2014/main" id="{87BA82FE-7D57-786A-1C31-1BC4C0FE5AF3}"/>
                </a:ext>
              </a:extLst>
            </p:cNvPr>
            <p:cNvCxnSpPr>
              <a:cxnSpLocks noChangeShapeType="1"/>
            </p:cNvCxnSpPr>
            <p:nvPr/>
          </p:nvCxnSpPr>
          <p:spPr bwMode="auto">
            <a:xfrm flipH="1">
              <a:off x="792283" y="510540"/>
              <a:ext cx="2212340" cy="1285875"/>
            </a:xfrm>
            <a:prstGeom prst="line">
              <a:avLst/>
            </a:prstGeom>
            <a:noFill/>
            <a:ln w="12700">
              <a:solidFill>
                <a:srgbClr val="4579B8"/>
              </a:solidFill>
              <a:round/>
              <a:headEnd/>
              <a:tailEnd/>
            </a:ln>
            <a:extLst>
              <a:ext uri="{909E8E84-426E-40DD-AFC4-6F175D3DCCD1}">
                <a14:hiddenFill xmlns:a14="http://schemas.microsoft.com/office/drawing/2010/main">
                  <a:noFill/>
                </a14:hiddenFill>
              </a:ext>
            </a:extLst>
          </p:spPr>
        </p:cxnSp>
        <p:cxnSp>
          <p:nvCxnSpPr>
            <p:cNvPr id="18" name="Straight Connector 17">
              <a:extLst>
                <a:ext uri="{FF2B5EF4-FFF2-40B4-BE49-F238E27FC236}">
                  <a16:creationId xmlns:a16="http://schemas.microsoft.com/office/drawing/2014/main" id="{CAAFB687-953B-154E-0EBE-BEA39EC77FE3}"/>
                </a:ext>
              </a:extLst>
            </p:cNvPr>
            <p:cNvCxnSpPr>
              <a:cxnSpLocks noChangeShapeType="1"/>
              <a:endCxn id="34" idx="2"/>
            </p:cNvCxnSpPr>
            <p:nvPr/>
          </p:nvCxnSpPr>
          <p:spPr bwMode="auto">
            <a:xfrm flipV="1">
              <a:off x="790628" y="1785950"/>
              <a:ext cx="2780665" cy="16796"/>
            </a:xfrm>
            <a:prstGeom prst="line">
              <a:avLst/>
            </a:prstGeom>
            <a:noFill/>
            <a:ln w="12700">
              <a:solidFill>
                <a:srgbClr val="4579B8"/>
              </a:solidFill>
              <a:round/>
              <a:headEnd/>
              <a:tailEnd/>
            </a:ln>
            <a:extLst>
              <a:ext uri="{909E8E84-426E-40DD-AFC4-6F175D3DCCD1}">
                <a14:hiddenFill xmlns:a14="http://schemas.microsoft.com/office/drawing/2010/main">
                  <a:noFill/>
                </a14:hiddenFill>
              </a:ext>
            </a:extLst>
          </p:spPr>
        </p:cxnSp>
        <p:cxnSp>
          <p:nvCxnSpPr>
            <p:cNvPr id="19" name="Straight Arrow Connector 18">
              <a:extLst>
                <a:ext uri="{FF2B5EF4-FFF2-40B4-BE49-F238E27FC236}">
                  <a16:creationId xmlns:a16="http://schemas.microsoft.com/office/drawing/2014/main" id="{3EB2CE1E-72AA-324A-91A9-BE2E282A38B3}"/>
                </a:ext>
              </a:extLst>
            </p:cNvPr>
            <p:cNvCxnSpPr>
              <a:cxnSpLocks noChangeShapeType="1"/>
            </p:cNvCxnSpPr>
            <p:nvPr/>
          </p:nvCxnSpPr>
          <p:spPr bwMode="auto">
            <a:xfrm flipV="1">
              <a:off x="1937188" y="1106805"/>
              <a:ext cx="0" cy="703580"/>
            </a:xfrm>
            <a:prstGeom prst="straightConnector1">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cxnSp>
        <p:sp>
          <p:nvSpPr>
            <p:cNvPr id="20" name="Text Box 2">
              <a:extLst>
                <a:ext uri="{FF2B5EF4-FFF2-40B4-BE49-F238E27FC236}">
                  <a16:creationId xmlns:a16="http://schemas.microsoft.com/office/drawing/2014/main" id="{8508C8D4-2FEF-192B-9230-3FE0A70E4CD1}"/>
                </a:ext>
              </a:extLst>
            </p:cNvPr>
            <p:cNvSpPr txBox="1">
              <a:spLocks noChangeArrowheads="1"/>
            </p:cNvSpPr>
            <p:nvPr/>
          </p:nvSpPr>
          <p:spPr bwMode="auto">
            <a:xfrm>
              <a:off x="3756842" y="2324734"/>
              <a:ext cx="167640" cy="25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5000"/>
                </a:lnSpc>
                <a:spcAft>
                  <a:spcPts val="800"/>
                </a:spcAft>
              </a:pPr>
              <a:r>
                <a:rPr lang="en-US" sz="1600" dirty="0">
                  <a:effectLst/>
                  <a:latin typeface="Times New Roman" panose="02020603050405020304" pitchFamily="18" charset="0"/>
                  <a:ea typeface="DengXian"/>
                  <a:cs typeface="Times New Roman" panose="02020603050405020304" pitchFamily="18" charset="0"/>
                </a:rPr>
                <a:t>D</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B4170A3B-3047-DA31-37D4-D7BAAFF73332}"/>
                </a:ext>
              </a:extLst>
            </p:cNvPr>
            <p:cNvSpPr txBox="1">
              <a:spLocks noChangeArrowheads="1"/>
            </p:cNvSpPr>
            <p:nvPr/>
          </p:nvSpPr>
          <p:spPr bwMode="auto">
            <a:xfrm>
              <a:off x="1184713" y="1988185"/>
              <a:ext cx="260985" cy="25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5000"/>
                </a:lnSpc>
                <a:spcAft>
                  <a:spcPts val="80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D</a:t>
              </a:r>
              <a:r>
                <a:rPr lang="en-US" sz="1600" baseline="30000">
                  <a:effectLst/>
                  <a:latin typeface="Times New Roman" panose="02020603050405020304" pitchFamily="18" charset="0"/>
                  <a:ea typeface="SimSun" panose="02010600030101010101" pitchFamily="2" charset="-122"/>
                  <a:cs typeface="Times New Roman" panose="02020603050405020304" pitchFamily="18" charset="0"/>
                </a:rPr>
                <a:t>′</a:t>
              </a:r>
              <a:r>
                <a:rPr lang="en-US" sz="1600" baseline="-250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Text Box 2">
              <a:extLst>
                <a:ext uri="{FF2B5EF4-FFF2-40B4-BE49-F238E27FC236}">
                  <a16:creationId xmlns:a16="http://schemas.microsoft.com/office/drawing/2014/main" id="{6C832752-69B6-91F9-9D54-97FDAF8DFC57}"/>
                </a:ext>
              </a:extLst>
            </p:cNvPr>
            <p:cNvSpPr txBox="1">
              <a:spLocks noChangeArrowheads="1"/>
            </p:cNvSpPr>
            <p:nvPr/>
          </p:nvSpPr>
          <p:spPr bwMode="auto">
            <a:xfrm>
              <a:off x="1676838" y="1951355"/>
              <a:ext cx="260350" cy="25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5000"/>
                </a:lnSpc>
                <a:spcAft>
                  <a:spcPts val="800"/>
                </a:spcAft>
              </a:pPr>
              <a:r>
                <a:rPr lang="en-US" sz="1600">
                  <a:effectLst/>
                  <a:latin typeface="Times New Roman" panose="02020603050405020304" pitchFamily="18" charset="0"/>
                  <a:ea typeface="DengXian"/>
                  <a:cs typeface="Times New Roman" panose="02020603050405020304" pitchFamily="18" charset="0"/>
                </a:rPr>
                <a:t>D</a:t>
              </a:r>
              <a:r>
                <a:rPr lang="en-US" sz="1600" baseline="30000">
                  <a:effectLst/>
                  <a:latin typeface="Times New Roman" panose="02020603050405020304" pitchFamily="18" charset="0"/>
                  <a:ea typeface="DengXian"/>
                  <a:cs typeface="Times New Roman" panose="02020603050405020304" pitchFamily="18" charset="0"/>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3" name="Text Box 2">
              <a:extLst>
                <a:ext uri="{FF2B5EF4-FFF2-40B4-BE49-F238E27FC236}">
                  <a16:creationId xmlns:a16="http://schemas.microsoft.com/office/drawing/2014/main" id="{FD6C427E-E219-4237-FE18-A41193130A05}"/>
                </a:ext>
              </a:extLst>
            </p:cNvPr>
            <p:cNvSpPr txBox="1">
              <a:spLocks noChangeArrowheads="1"/>
            </p:cNvSpPr>
            <p:nvPr/>
          </p:nvSpPr>
          <p:spPr bwMode="auto">
            <a:xfrm>
              <a:off x="2016563" y="1344295"/>
              <a:ext cx="26098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5000"/>
                </a:lnSpc>
                <a:spcAft>
                  <a:spcPts val="800"/>
                </a:spcAft>
              </a:pPr>
              <a:r>
                <a:rPr lang="en-US" sz="1600">
                  <a:effectLst/>
                  <a:latin typeface="Times New Roman" panose="02020603050405020304" pitchFamily="18" charset="0"/>
                  <a:ea typeface="DengXian"/>
                  <a:cs typeface="Times New Roman" panose="02020603050405020304" pitchFamily="18" charset="0"/>
                </a:rPr>
                <a:t>C</a:t>
              </a:r>
              <a:r>
                <a:rPr lang="en-US" sz="1600" baseline="-25000">
                  <a:effectLst/>
                  <a:latin typeface="Times New Roman" panose="02020603050405020304" pitchFamily="18" charset="0"/>
                  <a:ea typeface="DengXian"/>
                  <a:cs typeface="Times New Roman" panose="02020603050405020304" pitchFamily="18" charset="0"/>
                </a:rPr>
                <a:t>V</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4" name="Text Box 2">
              <a:extLst>
                <a:ext uri="{FF2B5EF4-FFF2-40B4-BE49-F238E27FC236}">
                  <a16:creationId xmlns:a16="http://schemas.microsoft.com/office/drawing/2014/main" id="{D91FF4B5-E116-0216-D690-7F606DA69C4F}"/>
                </a:ext>
              </a:extLst>
            </p:cNvPr>
            <p:cNvSpPr txBox="1">
              <a:spLocks noChangeArrowheads="1"/>
            </p:cNvSpPr>
            <p:nvPr/>
          </p:nvSpPr>
          <p:spPr bwMode="auto">
            <a:xfrm>
              <a:off x="2743638" y="2013585"/>
              <a:ext cx="242570" cy="25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5000"/>
                </a:lnSpc>
                <a:spcAft>
                  <a:spcPts val="800"/>
                </a:spcAft>
              </a:pPr>
              <a:r>
                <a:rPr lang="en-US" sz="1600">
                  <a:effectLst/>
                  <a:latin typeface="Times New Roman" panose="02020603050405020304" pitchFamily="18" charset="0"/>
                  <a:ea typeface="DengXian"/>
                  <a:cs typeface="Times New Roman" panose="02020603050405020304" pitchFamily="18" charset="0"/>
                </a:rPr>
                <a:t>D</a:t>
              </a:r>
              <a:r>
                <a:rPr lang="en-US" sz="1600" baseline="30000">
                  <a:effectLst/>
                  <a:latin typeface="Times New Roman" panose="02020603050405020304" pitchFamily="18" charset="0"/>
                  <a:ea typeface="DengXian"/>
                  <a:cs typeface="Times New Roman" panose="02020603050405020304" pitchFamily="18" charset="0"/>
                </a:rPr>
                <a:t>′</a:t>
              </a:r>
              <a:r>
                <a:rPr lang="en-US" sz="1600" baseline="-25000">
                  <a:effectLst/>
                  <a:latin typeface="Times New Roman" panose="02020603050405020304" pitchFamily="18" charset="0"/>
                  <a:ea typeface="DengXian"/>
                  <a:cs typeface="Times New Roman" panose="02020603050405020304" pitchFamily="18" charset="0"/>
                </a:rPr>
                <a:t>2</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5" name="Text Box 2">
              <a:extLst>
                <a:ext uri="{FF2B5EF4-FFF2-40B4-BE49-F238E27FC236}">
                  <a16:creationId xmlns:a16="http://schemas.microsoft.com/office/drawing/2014/main" id="{A82BFBDB-1986-C0FB-3FDC-F4815E2DF4FE}"/>
                </a:ext>
              </a:extLst>
            </p:cNvPr>
            <p:cNvSpPr txBox="1">
              <a:spLocks noChangeArrowheads="1"/>
            </p:cNvSpPr>
            <p:nvPr/>
          </p:nvSpPr>
          <p:spPr bwMode="auto">
            <a:xfrm>
              <a:off x="3091618" y="273050"/>
              <a:ext cx="2603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5000"/>
                </a:lnSpc>
                <a:spcAft>
                  <a:spcPts val="800"/>
                </a:spcAft>
              </a:pPr>
              <a:r>
                <a:rPr lang="en-US" sz="1600">
                  <a:effectLst/>
                  <a:latin typeface="Times New Roman" panose="02020603050405020304" pitchFamily="18" charset="0"/>
                  <a:ea typeface="DengXian"/>
                  <a:cs typeface="Times New Roman" panose="02020603050405020304" pitchFamily="18" charset="0"/>
                </a:rPr>
                <a:t>C</a:t>
              </a:r>
              <a:r>
                <a:rPr lang="en-US" sz="1600" baseline="-25000">
                  <a:effectLst/>
                  <a:latin typeface="Times New Roman" panose="02020603050405020304" pitchFamily="18" charset="0"/>
                  <a:ea typeface="DengXian"/>
                  <a:cs typeface="Times New Roman" panose="02020603050405020304" pitchFamily="18" charset="0"/>
                </a:rPr>
                <a:t>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6" name="Text Box 2">
              <a:extLst>
                <a:ext uri="{FF2B5EF4-FFF2-40B4-BE49-F238E27FC236}">
                  <a16:creationId xmlns:a16="http://schemas.microsoft.com/office/drawing/2014/main" id="{CB9C54DA-167E-F485-81E8-ECAA4D9BD218}"/>
                </a:ext>
              </a:extLst>
            </p:cNvPr>
            <p:cNvSpPr txBox="1">
              <a:spLocks noChangeArrowheads="1"/>
            </p:cNvSpPr>
            <p:nvPr/>
          </p:nvSpPr>
          <p:spPr bwMode="auto">
            <a:xfrm>
              <a:off x="2077522" y="0"/>
              <a:ext cx="1014093" cy="322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lnSpc>
                  <a:spcPct val="105000"/>
                </a:lnSpc>
                <a:spcAft>
                  <a:spcPts val="800"/>
                </a:spcAft>
              </a:pPr>
              <a:r>
                <a:rPr lang="en-US" sz="1600" dirty="0" err="1">
                  <a:effectLst/>
                  <a:latin typeface="Times New Roman" panose="02020603050405020304" pitchFamily="18" charset="0"/>
                  <a:ea typeface="DengXian"/>
                  <a:cs typeface="Times New Roman" panose="02020603050405020304" pitchFamily="18" charset="0"/>
                </a:rPr>
                <a:t>Нийт</a:t>
              </a:r>
              <a:r>
                <a:rPr lang="en-US" sz="1600" dirty="0">
                  <a:effectLst/>
                  <a:latin typeface="Times New Roman" panose="02020603050405020304" pitchFamily="18" charset="0"/>
                  <a:ea typeface="DengXian"/>
                  <a:cs typeface="Times New Roman" panose="02020603050405020304" pitchFamily="18" charset="0"/>
                </a:rPr>
                <a:t> </a:t>
              </a:r>
              <a:r>
                <a:rPr lang="en-US" sz="1600" dirty="0" err="1">
                  <a:effectLst/>
                  <a:latin typeface="Times New Roman" panose="02020603050405020304" pitchFamily="18" charset="0"/>
                  <a:ea typeface="DengXian"/>
                  <a:cs typeface="Times New Roman" panose="02020603050405020304" pitchFamily="18" charset="0"/>
                </a:rPr>
                <a:t>орлого</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7" name="Text Box 2">
              <a:extLst>
                <a:ext uri="{FF2B5EF4-FFF2-40B4-BE49-F238E27FC236}">
                  <a16:creationId xmlns:a16="http://schemas.microsoft.com/office/drawing/2014/main" id="{AF001FBD-80E4-19B9-6BFD-C5ED0E3727A6}"/>
                </a:ext>
              </a:extLst>
            </p:cNvPr>
            <p:cNvSpPr txBox="1">
              <a:spLocks noChangeArrowheads="1"/>
            </p:cNvSpPr>
            <p:nvPr/>
          </p:nvSpPr>
          <p:spPr bwMode="auto">
            <a:xfrm>
              <a:off x="853878" y="236220"/>
              <a:ext cx="1083310" cy="25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lnSpc>
                  <a:spcPct val="105000"/>
                </a:lnSpc>
                <a:spcAft>
                  <a:spcPts val="800"/>
                </a:spcAft>
              </a:pPr>
              <a:r>
                <a:rPr lang="mn-MN" sz="1600" dirty="0">
                  <a:effectLst/>
                  <a:latin typeface="Times New Roman" panose="02020603050405020304" pitchFamily="18" charset="0"/>
                  <a:ea typeface="DengXian"/>
                  <a:cs typeface="Times New Roman" panose="02020603050405020304" pitchFamily="18" charset="0"/>
                </a:rPr>
                <a:t>Хамгийн их ашиг</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8" name="Text Box 2">
              <a:extLst>
                <a:ext uri="{FF2B5EF4-FFF2-40B4-BE49-F238E27FC236}">
                  <a16:creationId xmlns:a16="http://schemas.microsoft.com/office/drawing/2014/main" id="{15F1D138-8134-9FCA-9490-036FAC9D4EC6}"/>
                </a:ext>
              </a:extLst>
            </p:cNvPr>
            <p:cNvSpPr txBox="1">
              <a:spLocks noChangeArrowheads="1"/>
            </p:cNvSpPr>
            <p:nvPr/>
          </p:nvSpPr>
          <p:spPr bwMode="auto">
            <a:xfrm>
              <a:off x="1748593" y="593725"/>
              <a:ext cx="6667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5000"/>
                </a:lnSpc>
                <a:spcAft>
                  <a:spcPts val="800"/>
                </a:spcAft>
              </a:pPr>
              <a:r>
                <a:rPr lang="en-US" sz="1600">
                  <a:effectLst/>
                  <a:latin typeface="Times New Roman" panose="02020603050405020304" pitchFamily="18" charset="0"/>
                  <a:ea typeface="DengXian"/>
                  <a:cs typeface="Times New Roman" panose="02020603050405020304" pitchFamily="18" charset="0"/>
                </a:rPr>
                <a:t>Ашгийн талбай</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9" name="Chord 6">
              <a:extLst>
                <a:ext uri="{FF2B5EF4-FFF2-40B4-BE49-F238E27FC236}">
                  <a16:creationId xmlns:a16="http://schemas.microsoft.com/office/drawing/2014/main" id="{19361FB1-1B5E-1C56-2F41-8DC50D674ABC}"/>
                </a:ext>
              </a:extLst>
            </p:cNvPr>
            <p:cNvSpPr>
              <a:spLocks/>
            </p:cNvSpPr>
            <p:nvPr/>
          </p:nvSpPr>
          <p:spPr bwMode="auto">
            <a:xfrm rot="5248005">
              <a:off x="1323778" y="174625"/>
              <a:ext cx="1163955" cy="1611630"/>
            </a:xfrm>
            <a:custGeom>
              <a:avLst/>
              <a:gdLst>
                <a:gd name="T0" fmla="*/ 1311153 w 1311200"/>
                <a:gd name="T1" fmla="*/ 1770505 h 1769685"/>
                <a:gd name="T2" fmla="*/ 393272 w 1311200"/>
                <a:gd name="T3" fmla="*/ 1278091 h 1769685"/>
                <a:gd name="T4" fmla="*/ 0 w 1311200"/>
                <a:gd name="T5" fmla="*/ 629292 h 1769685"/>
                <a:gd name="T6" fmla="*/ 362374 w 1311200"/>
                <a:gd name="T7" fmla="*/ 0 h 1769685"/>
                <a:gd name="T8" fmla="*/ 1311153 w 1311200"/>
                <a:gd name="T9" fmla="*/ 1770505 h 17696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1200" h="1769685">
                  <a:moveTo>
                    <a:pt x="1311200" y="1769685"/>
                  </a:moveTo>
                  <a:cubicBezTo>
                    <a:pt x="1108147" y="1704995"/>
                    <a:pt x="611819" y="1467613"/>
                    <a:pt x="393286" y="1277499"/>
                  </a:cubicBezTo>
                  <a:cubicBezTo>
                    <a:pt x="174753" y="1087385"/>
                    <a:pt x="14721" y="871451"/>
                    <a:pt x="0" y="629001"/>
                  </a:cubicBezTo>
                  <a:cubicBezTo>
                    <a:pt x="6264" y="433753"/>
                    <a:pt x="87472" y="246144"/>
                    <a:pt x="362387" y="0"/>
                  </a:cubicBezTo>
                  <a:cubicBezTo>
                    <a:pt x="508806" y="260865"/>
                    <a:pt x="1175139" y="1490218"/>
                    <a:pt x="1311200" y="1769685"/>
                  </a:cubicBezTo>
                  <a:close/>
                </a:path>
              </a:pathLst>
            </a:custGeom>
            <a:solidFill>
              <a:srgbClr val="BFBFBF"/>
            </a:solidFill>
            <a:ln w="12700">
              <a:solidFill>
                <a:srgbClr val="243F60"/>
              </a:solidFill>
              <a:round/>
              <a:headEnd/>
              <a:tailEnd/>
            </a:ln>
          </p:spPr>
          <p:txBody>
            <a:bodyPr rot="0" vert="horz" wrap="square" lIns="91440" tIns="45720" rIns="91440" bIns="45720" anchor="ctr" anchorCtr="0" upright="1">
              <a:noAutofit/>
            </a:bodyPr>
            <a:lstStyle/>
            <a:p>
              <a:endParaRPr lang="en-US" sz="1600">
                <a:latin typeface="Times New Roman" panose="02020603050405020304" pitchFamily="18" charset="0"/>
                <a:cs typeface="Times New Roman" panose="02020603050405020304" pitchFamily="18" charset="0"/>
              </a:endParaRPr>
            </a:p>
          </p:txBody>
        </p:sp>
        <p:cxnSp>
          <p:nvCxnSpPr>
            <p:cNvPr id="30" name="Straight Arrow Connector 29">
              <a:extLst>
                <a:ext uri="{FF2B5EF4-FFF2-40B4-BE49-F238E27FC236}">
                  <a16:creationId xmlns:a16="http://schemas.microsoft.com/office/drawing/2014/main" id="{CAA471F4-659D-898D-0AC6-CD7E53597ABE}"/>
                </a:ext>
              </a:extLst>
            </p:cNvPr>
            <p:cNvCxnSpPr>
              <a:cxnSpLocks noChangeShapeType="1"/>
            </p:cNvCxnSpPr>
            <p:nvPr/>
          </p:nvCxnSpPr>
          <p:spPr bwMode="auto">
            <a:xfrm flipV="1">
              <a:off x="1613338" y="658495"/>
              <a:ext cx="0" cy="643890"/>
            </a:xfrm>
            <a:prstGeom prst="straightConnector1">
              <a:avLst/>
            </a:prstGeom>
            <a:noFill/>
            <a:ln w="9525">
              <a:solidFill>
                <a:srgbClr val="000000"/>
              </a:solidFill>
              <a:round/>
              <a:headEnd type="stealth" w="med" len="med"/>
              <a:tailEnd type="stealth" w="med" len="med"/>
            </a:ln>
            <a:extLst>
              <a:ext uri="{909E8E84-426E-40DD-AFC4-6F175D3DCCD1}">
                <a14:hiddenFill xmlns:a14="http://schemas.microsoft.com/office/drawing/2010/main">
                  <a:noFill/>
                </a14:hiddenFill>
              </a:ext>
            </a:extLst>
          </p:spPr>
        </p:cxnSp>
        <p:sp>
          <p:nvSpPr>
            <p:cNvPr id="31" name="Freeform: Shape 51">
              <a:extLst>
                <a:ext uri="{FF2B5EF4-FFF2-40B4-BE49-F238E27FC236}">
                  <a16:creationId xmlns:a16="http://schemas.microsoft.com/office/drawing/2014/main" id="{A416D286-5519-E4AD-C0F6-1907A8F8B93A}"/>
                </a:ext>
              </a:extLst>
            </p:cNvPr>
            <p:cNvSpPr>
              <a:spLocks/>
            </p:cNvSpPr>
            <p:nvPr/>
          </p:nvSpPr>
          <p:spPr bwMode="auto">
            <a:xfrm>
              <a:off x="2445188" y="185420"/>
              <a:ext cx="140335" cy="304165"/>
            </a:xfrm>
            <a:custGeom>
              <a:avLst/>
              <a:gdLst>
                <a:gd name="T0" fmla="*/ 48592 w 154071"/>
                <a:gd name="T1" fmla="*/ 342774 h 342900"/>
                <a:gd name="T2" fmla="*/ 153358 w 154071"/>
                <a:gd name="T3" fmla="*/ 247559 h 342900"/>
                <a:gd name="T4" fmla="*/ 959 w 154071"/>
                <a:gd name="T5" fmla="*/ 116941 h 342900"/>
                <a:gd name="T6" fmla="*/ 86689 w 154071"/>
                <a:gd name="T7" fmla="*/ 0 h 3429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4071" h="342900">
                  <a:moveTo>
                    <a:pt x="48596" y="342900"/>
                  </a:moveTo>
                  <a:cubicBezTo>
                    <a:pt x="100190" y="309562"/>
                    <a:pt x="161311" y="285303"/>
                    <a:pt x="153371" y="247650"/>
                  </a:cubicBezTo>
                  <a:cubicBezTo>
                    <a:pt x="145432" y="209997"/>
                    <a:pt x="12071" y="158259"/>
                    <a:pt x="959" y="116984"/>
                  </a:cubicBezTo>
                  <a:cubicBezTo>
                    <a:pt x="-10153" y="75709"/>
                    <a:pt x="78759" y="26987"/>
                    <a:pt x="86696" y="0"/>
                  </a:cubicBezTo>
                </a:path>
              </a:pathLst>
            </a:custGeom>
            <a:noFill/>
            <a:ln w="9525">
              <a:solidFill>
                <a:srgbClr val="000000"/>
              </a:solidFill>
              <a:round/>
              <a:headEnd type="triangle" w="sm" len="lg"/>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ctr" anchorCtr="0" upright="1">
              <a:noAutofit/>
            </a:bodyPr>
            <a:lstStyle/>
            <a:p>
              <a:endParaRPr lang="en-US" sz="1600">
                <a:latin typeface="Times New Roman" panose="02020603050405020304" pitchFamily="18" charset="0"/>
                <a:cs typeface="Times New Roman" panose="02020603050405020304" pitchFamily="18" charset="0"/>
              </a:endParaRPr>
            </a:p>
          </p:txBody>
        </p:sp>
        <p:cxnSp>
          <p:nvCxnSpPr>
            <p:cNvPr id="32" name="Connector: Curved 52">
              <a:extLst>
                <a:ext uri="{FF2B5EF4-FFF2-40B4-BE49-F238E27FC236}">
                  <a16:creationId xmlns:a16="http://schemas.microsoft.com/office/drawing/2014/main" id="{B10DEC1B-F9F3-5B20-ADA6-1DB514B5DA23}"/>
                </a:ext>
              </a:extLst>
            </p:cNvPr>
            <p:cNvCxnSpPr>
              <a:cxnSpLocks noChangeShapeType="1"/>
            </p:cNvCxnSpPr>
            <p:nvPr/>
          </p:nvCxnSpPr>
          <p:spPr bwMode="auto">
            <a:xfrm flipH="1" flipV="1">
              <a:off x="1257738" y="489585"/>
              <a:ext cx="347980" cy="520065"/>
            </a:xfrm>
            <a:prstGeom prst="curvedConnector3">
              <a:avLst>
                <a:gd name="adj1" fmla="val 89778"/>
              </a:avLst>
            </a:prstGeom>
            <a:noFill/>
            <a:ln w="9525">
              <a:solidFill>
                <a:srgbClr val="000000"/>
              </a:solidFill>
              <a:round/>
              <a:headEnd type="stealth" w="med" len="med"/>
              <a:tailEnd/>
            </a:ln>
            <a:extLst>
              <a:ext uri="{909E8E84-426E-40DD-AFC4-6F175D3DCCD1}">
                <a14:hiddenFill xmlns:a14="http://schemas.microsoft.com/office/drawing/2010/main">
                  <a:noFill/>
                </a14:hiddenFill>
              </a:ext>
            </a:extLst>
          </p:spPr>
        </p:cxnSp>
        <p:sp>
          <p:nvSpPr>
            <p:cNvPr id="33" name="Text Box 2">
              <a:extLst>
                <a:ext uri="{FF2B5EF4-FFF2-40B4-BE49-F238E27FC236}">
                  <a16:creationId xmlns:a16="http://schemas.microsoft.com/office/drawing/2014/main" id="{B4A13146-71C3-59FD-85BA-929FBE0493FF}"/>
                </a:ext>
              </a:extLst>
            </p:cNvPr>
            <p:cNvSpPr txBox="1">
              <a:spLocks noChangeArrowheads="1"/>
            </p:cNvSpPr>
            <p:nvPr/>
          </p:nvSpPr>
          <p:spPr bwMode="auto">
            <a:xfrm>
              <a:off x="2870003" y="685165"/>
              <a:ext cx="916939"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lnSpc>
                  <a:spcPct val="105000"/>
                </a:lnSpc>
                <a:spcAft>
                  <a:spcPts val="800"/>
                </a:spcAft>
              </a:pPr>
              <a:r>
                <a:rPr lang="en-US" sz="1600" dirty="0" err="1">
                  <a:effectLst/>
                  <a:latin typeface="Times New Roman" panose="02020603050405020304" pitchFamily="18" charset="0"/>
                  <a:ea typeface="DengXian"/>
                  <a:cs typeface="Times New Roman" panose="02020603050405020304" pitchFamily="18" charset="0"/>
                </a:rPr>
                <a:t>Алдагдал</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4" name="Text Box 2">
              <a:extLst>
                <a:ext uri="{FF2B5EF4-FFF2-40B4-BE49-F238E27FC236}">
                  <a16:creationId xmlns:a16="http://schemas.microsoft.com/office/drawing/2014/main" id="{57655879-269A-D190-5C90-A7B693A127AF}"/>
                </a:ext>
              </a:extLst>
            </p:cNvPr>
            <p:cNvSpPr txBox="1">
              <a:spLocks noChangeArrowheads="1"/>
            </p:cNvSpPr>
            <p:nvPr/>
          </p:nvSpPr>
          <p:spPr bwMode="auto">
            <a:xfrm>
              <a:off x="3440801" y="1531950"/>
              <a:ext cx="26098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ct val="105000"/>
                </a:lnSpc>
                <a:spcAft>
                  <a:spcPts val="800"/>
                </a:spcAft>
              </a:pPr>
              <a:r>
                <a:rPr lang="en-US" sz="1600" dirty="0">
                  <a:effectLst/>
                  <a:latin typeface="Times New Roman" panose="02020603050405020304" pitchFamily="18" charset="0"/>
                  <a:ea typeface="DengXian"/>
                  <a:cs typeface="Times New Roman" panose="02020603050405020304" pitchFamily="18" charset="0"/>
                </a:rPr>
                <a:t>C</a:t>
              </a:r>
              <a:r>
                <a:rPr lang="en-US" sz="1600" baseline="-25000" dirty="0">
                  <a:effectLst/>
                  <a:latin typeface="Times New Roman" panose="02020603050405020304" pitchFamily="18" charset="0"/>
                  <a:ea typeface="DengXian"/>
                  <a:cs typeface="Times New Roman" panose="02020603050405020304" pitchFamily="18" charset="0"/>
                </a:rPr>
                <a:t>F</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3746345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4298-089F-FC5C-D385-52629522C97F}"/>
              </a:ext>
            </a:extLst>
          </p:cNvPr>
          <p:cNvSpPr>
            <a:spLocks noGrp="1"/>
          </p:cNvSpPr>
          <p:nvPr>
            <p:ph type="title"/>
          </p:nvPr>
        </p:nvSpPr>
        <p:spPr>
          <a:xfrm>
            <a:off x="109331" y="139838"/>
            <a:ext cx="10515600" cy="500642"/>
          </a:xfrm>
        </p:spPr>
        <p:txBody>
          <a:bodyPr>
            <a:noAutofit/>
          </a:bodyPr>
          <a:lstStyle/>
          <a:p>
            <a:r>
              <a:rPr lang="ru-RU" sz="2400" b="1" dirty="0">
                <a:solidFill>
                  <a:srgbClr val="002060"/>
                </a:solidFill>
                <a:latin typeface="Times New Roman" panose="02020603050405020304" pitchFamily="18" charset="0"/>
                <a:cs typeface="Times New Roman" panose="02020603050405020304" pitchFamily="18" charset="0"/>
              </a:rPr>
              <a:t>2. Эдийн засгийн ерөнхий орчин</a:t>
            </a:r>
            <a:br>
              <a:rPr lang="mn-MN" sz="2400" b="1" dirty="0">
                <a:solidFill>
                  <a:srgbClr val="002060"/>
                </a:solidFill>
                <a:latin typeface="Times New Roman" panose="02020603050405020304" pitchFamily="18" charset="0"/>
                <a:cs typeface="Times New Roman" panose="02020603050405020304" pitchFamily="18" charset="0"/>
              </a:rPr>
            </a:br>
            <a:r>
              <a:rPr lang="mn-MN" sz="2400" b="1" dirty="0">
                <a:solidFill>
                  <a:srgbClr val="002060"/>
                </a:solidFill>
                <a:latin typeface="Times New Roman" panose="02020603050405020304" pitchFamily="18" charset="0"/>
                <a:cs typeface="Times New Roman" panose="02020603050405020304" pitchFamily="18" charset="0"/>
              </a:rPr>
              <a:t>	</a:t>
            </a:r>
            <a:r>
              <a:rPr lang="mn-MN" sz="2400" b="1" dirty="0">
                <a:solidFill>
                  <a:schemeClr val="accent2">
                    <a:lumMod val="75000"/>
                  </a:schemeClr>
                </a:solidFill>
                <a:latin typeface="Times New Roman" panose="02020603050405020304" pitchFamily="18" charset="0"/>
                <a:cs typeface="Times New Roman" panose="02020603050405020304" pitchFamily="18" charset="0"/>
              </a:rPr>
              <a:t>2.</a:t>
            </a:r>
            <a:r>
              <a:rPr lang="en-US" sz="2400" b="1" dirty="0">
                <a:solidFill>
                  <a:schemeClr val="accent2">
                    <a:lumMod val="75000"/>
                  </a:schemeClr>
                </a:solidFill>
                <a:latin typeface="Times New Roman" panose="02020603050405020304" pitchFamily="18" charset="0"/>
                <a:cs typeface="Times New Roman" panose="02020603050405020304" pitchFamily="18" charset="0"/>
              </a:rPr>
              <a:t>4.2.</a:t>
            </a:r>
            <a:r>
              <a:rPr lang="mn-MN" sz="2400" b="1" dirty="0">
                <a:solidFill>
                  <a:schemeClr val="accent2">
                    <a:lumMod val="75000"/>
                  </a:schemeClr>
                </a:solidFill>
                <a:latin typeface="Times New Roman" panose="02020603050405020304" pitchFamily="18" charset="0"/>
                <a:cs typeface="Times New Roman" panose="02020603050405020304" pitchFamily="18" charset="0"/>
              </a:rPr>
              <a:t> Хугарлын цэг тодорхойлох </a:t>
            </a:r>
            <a:r>
              <a:rPr lang="en-US" sz="2400" b="1" dirty="0">
                <a:solidFill>
                  <a:schemeClr val="accent2">
                    <a:lumMod val="75000"/>
                  </a:schemeClr>
                </a:solidFill>
                <a:latin typeface="Times New Roman" panose="02020603050405020304" pitchFamily="18" charset="0"/>
                <a:cs typeface="Times New Roman" panose="02020603050405020304" pitchFamily="18" charset="0"/>
              </a:rPr>
              <a:t>II </a:t>
            </a:r>
            <a:r>
              <a:rPr lang="mn-MN" sz="2400" b="1" dirty="0">
                <a:solidFill>
                  <a:schemeClr val="accent2">
                    <a:lumMod val="75000"/>
                  </a:schemeClr>
                </a:solidFill>
                <a:latin typeface="Times New Roman" panose="02020603050405020304" pitchFamily="18" charset="0"/>
                <a:cs typeface="Times New Roman" panose="02020603050405020304" pitchFamily="18" charset="0"/>
              </a:rPr>
              <a:t>хувилбар</a:t>
            </a: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C1D5CA-D0F8-57F9-C2FF-65BB6C543AD4}"/>
                  </a:ext>
                </a:extLst>
              </p:cNvPr>
              <p:cNvSpPr>
                <a:spLocks noGrp="1"/>
              </p:cNvSpPr>
              <p:nvPr>
                <p:ph idx="1"/>
              </p:nvPr>
            </p:nvSpPr>
            <p:spPr>
              <a:xfrm>
                <a:off x="5718835" y="735489"/>
                <a:ext cx="6363834" cy="5784581"/>
              </a:xfrm>
            </p:spPr>
            <p:txBody>
              <a:bodyPr>
                <a:normAutofit/>
              </a:bodyPr>
              <a:lstStyle/>
              <a:p>
                <a:r>
                  <a:rPr lang="mn-MN" dirty="0">
                    <a:solidFill>
                      <a:srgbClr val="002060"/>
                    </a:solidFill>
                    <a:latin typeface="Times New Roman" panose="02020603050405020304" pitchFamily="18" charset="0"/>
                    <a:cs typeface="Times New Roman" panose="02020603050405020304" pitchFamily="18" charset="0"/>
                  </a:rPr>
                  <a:t>Бүтээгдэхүүн, үйлчилгээний нэгжийн үнэ (</a:t>
                </a:r>
                <a:r>
                  <a:rPr lang="en-US" i="1" dirty="0">
                    <a:solidFill>
                      <a:srgbClr val="002060"/>
                    </a:solidFill>
                    <a:latin typeface="Times New Roman" panose="02020603050405020304" pitchFamily="18" charset="0"/>
                    <a:cs typeface="Times New Roman" panose="02020603050405020304" pitchFamily="18" charset="0"/>
                  </a:rPr>
                  <a:t>p</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г эрэлтээс хамаарахгүй байхаар илүү хялбар илэрхийлэх боломжтой.</a:t>
                </a:r>
              </a:p>
              <a:p>
                <a:r>
                  <a:rPr lang="mn-MN" dirty="0">
                    <a:solidFill>
                      <a:srgbClr val="002060"/>
                    </a:solidFill>
                    <a:latin typeface="Times New Roman" panose="02020603050405020304" pitchFamily="18" charset="0"/>
                    <a:cs typeface="Times New Roman" panose="02020603050405020304" pitchFamily="18" charset="0"/>
                  </a:rPr>
                  <a:t>Энэ үед нэгжийн үнэ нэгжийн хувьсах зардал (</a:t>
                </a:r>
                <a14:m>
                  <m:oMath xmlns:m="http://schemas.openxmlformats.org/officeDocument/2006/math">
                    <m:sSub>
                      <m:sSubPr>
                        <m:ctrlPr>
                          <a:rPr lang="en-US" i="1" smtClean="0">
                            <a:solidFill>
                              <a:srgbClr val="002060"/>
                            </a:solidFill>
                            <a:latin typeface="Cambria Math" panose="02040503050406030204" pitchFamily="18" charset="0"/>
                          </a:rPr>
                        </m:ctrlPr>
                      </m:sSubPr>
                      <m:e>
                        <m:r>
                          <a:rPr lang="en-US">
                            <a:solidFill>
                              <a:srgbClr val="002060"/>
                            </a:solidFill>
                            <a:latin typeface="Cambria Math" panose="02040503050406030204" pitchFamily="18" charset="0"/>
                          </a:rPr>
                          <m:t>𝑐</m:t>
                        </m:r>
                      </m:e>
                      <m:sub>
                        <m:r>
                          <a:rPr lang="en-US">
                            <a:solidFill>
                              <a:srgbClr val="002060"/>
                            </a:solidFill>
                            <a:latin typeface="Cambria Math" panose="02040503050406030204" pitchFamily="18" charset="0"/>
                          </a:rPr>
                          <m:t>𝜐</m:t>
                        </m:r>
                      </m:sub>
                    </m:sSub>
                  </m:oMath>
                </a14:m>
                <a:r>
                  <a:rPr lang="mn-MN" dirty="0">
                    <a:solidFill>
                      <a:srgbClr val="002060"/>
                    </a:solidFill>
                    <a:latin typeface="Times New Roman" panose="02020603050405020304" pitchFamily="18" charset="0"/>
                    <a:cs typeface="Times New Roman" panose="02020603050405020304" pitchFamily="18" charset="0"/>
                  </a:rPr>
                  <a:t> </a:t>
                </a: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аас их байж, нэг хугарлын цэгтэй байна. </a:t>
                </a:r>
              </a:p>
              <a:p>
                <a:r>
                  <a:rPr lang="mn-MN" dirty="0">
                    <a:solidFill>
                      <a:srgbClr val="002060"/>
                    </a:solidFill>
                    <a:latin typeface="Times New Roman" panose="02020603050405020304" pitchFamily="18" charset="0"/>
                    <a:cs typeface="Times New Roman" panose="02020603050405020304" pitchFamily="18" charset="0"/>
                  </a:rPr>
                  <a:t>Улмаар хэрэгцээг нэн даруй хангана гэсэн таамаглалын дагуу нийт орлого </a:t>
                </a:r>
              </a:p>
              <a:p>
                <a:pPr marL="0" indent="0">
                  <a:buNone/>
                </a:pPr>
                <a14:m>
                  <m:oMathPara xmlns:m="http://schemas.openxmlformats.org/officeDocument/2006/math">
                    <m:oMathParaPr>
                      <m:jc m:val="centerGroup"/>
                    </m:oMathParaPr>
                    <m:oMath xmlns:m="http://schemas.openxmlformats.org/officeDocument/2006/math">
                      <m:r>
                        <a:rPr lang="mn-MN" sz="6000" dirty="0" smtClean="0">
                          <a:solidFill>
                            <a:srgbClr val="FF0000"/>
                          </a:solidFill>
                          <a:latin typeface="Cambria Math" panose="02040503050406030204" pitchFamily="18" charset="0"/>
                        </a:rPr>
                        <m:t>(</m:t>
                      </m:r>
                      <m:r>
                        <a:rPr lang="mn-MN" sz="6000" dirty="0" smtClean="0">
                          <a:solidFill>
                            <a:srgbClr val="FF0000"/>
                          </a:solidFill>
                          <a:latin typeface="Cambria Math" panose="02040503050406030204" pitchFamily="18" charset="0"/>
                        </a:rPr>
                        <m:t>𝑇𝑅</m:t>
                      </m:r>
                      <m:r>
                        <a:rPr lang="mn-MN" sz="6000" dirty="0" smtClean="0">
                          <a:solidFill>
                            <a:srgbClr val="FF0000"/>
                          </a:solidFill>
                          <a:latin typeface="Cambria Math" panose="02040503050406030204" pitchFamily="18" charset="0"/>
                        </a:rPr>
                        <m:t>)=</m:t>
                      </m:r>
                      <m:r>
                        <a:rPr lang="mn-MN" sz="6000" dirty="0" smtClean="0">
                          <a:solidFill>
                            <a:srgbClr val="FF0000"/>
                          </a:solidFill>
                          <a:latin typeface="Cambria Math" panose="02040503050406030204" pitchFamily="18" charset="0"/>
                        </a:rPr>
                        <m:t>𝑝</m:t>
                      </m:r>
                      <m:r>
                        <a:rPr lang="en-US" sz="6000" dirty="0">
                          <a:solidFill>
                            <a:srgbClr val="FF0000"/>
                          </a:solidFill>
                          <a:latin typeface="Cambria Math" panose="02040503050406030204" pitchFamily="18" charset="0"/>
                          <a:sym typeface="Symbol" panose="05050102010706020507" pitchFamily="18" charset="2"/>
                        </a:rPr>
                        <m:t></m:t>
                      </m:r>
                      <m:r>
                        <a:rPr lang="mn-MN" sz="6000" dirty="0">
                          <a:solidFill>
                            <a:srgbClr val="FF0000"/>
                          </a:solidFill>
                          <a:latin typeface="Cambria Math" panose="02040503050406030204" pitchFamily="18" charset="0"/>
                        </a:rPr>
                        <m:t>𝐷</m:t>
                      </m:r>
                      <m:r>
                        <a:rPr lang="en-US" sz="6000" dirty="0">
                          <a:solidFill>
                            <a:srgbClr val="FF0000"/>
                          </a:solidFill>
                          <a:latin typeface="Cambria Math" panose="02040503050406030204" pitchFamily="18" charset="0"/>
                        </a:rPr>
                        <m:t> </m:t>
                      </m:r>
                    </m:oMath>
                  </m:oMathPara>
                </a14:m>
                <a:endParaRPr lang="mn-MN" sz="6000" dirty="0">
                  <a:solidFill>
                    <a:srgbClr val="FF0000"/>
                  </a:solidFill>
                  <a:latin typeface="Times New Roman" panose="02020603050405020304" pitchFamily="18" charset="0"/>
                  <a:cs typeface="Times New Roman" panose="02020603050405020304" pitchFamily="18" charset="0"/>
                </a:endParaRPr>
              </a:p>
              <a:p>
                <a:pPr marL="0" indent="0">
                  <a:buNone/>
                </a:pPr>
                <a:r>
                  <a:rPr lang="mn-MN" dirty="0">
                    <a:solidFill>
                      <a:srgbClr val="002060"/>
                    </a:solidFill>
                    <a:latin typeface="Times New Roman" panose="02020603050405020304" pitchFamily="18" charset="0"/>
                    <a:cs typeface="Times New Roman" panose="02020603050405020304" pitchFamily="18" charset="0"/>
                  </a:rPr>
                  <a:t>	байна. </a:t>
                </a:r>
              </a:p>
            </p:txBody>
          </p:sp>
        </mc:Choice>
        <mc:Fallback xmlns="">
          <p:sp>
            <p:nvSpPr>
              <p:cNvPr id="3" name="Content Placeholder 2">
                <a:extLst>
                  <a:ext uri="{FF2B5EF4-FFF2-40B4-BE49-F238E27FC236}">
                    <a16:creationId xmlns:a16="http://schemas.microsoft.com/office/drawing/2014/main" id="{E2C1D5CA-D0F8-57F9-C2FF-65BB6C543AD4}"/>
                  </a:ext>
                </a:extLst>
              </p:cNvPr>
              <p:cNvSpPr>
                <a:spLocks noGrp="1" noRot="1" noChangeAspect="1" noMove="1" noResize="1" noEditPoints="1" noAdjustHandles="1" noChangeArrowheads="1" noChangeShapeType="1" noTextEdit="1"/>
              </p:cNvSpPr>
              <p:nvPr>
                <p:ph idx="1"/>
              </p:nvPr>
            </p:nvSpPr>
            <p:spPr>
              <a:xfrm>
                <a:off x="5718835" y="735489"/>
                <a:ext cx="6363834" cy="5784581"/>
              </a:xfrm>
              <a:blipFill>
                <a:blip r:embed="rId3"/>
                <a:stretch>
                  <a:fillRect l="-1724" t="-1897" r="-1628"/>
                </a:stretch>
              </a:blipFill>
            </p:spPr>
            <p:txBody>
              <a:bodyPr/>
              <a:lstStyle/>
              <a:p>
                <a:r>
                  <a:rPr lang="en-US">
                    <a:noFill/>
                  </a:rPr>
                  <a:t> </a:t>
                </a:r>
              </a:p>
            </p:txBody>
          </p:sp>
        </mc:Fallback>
      </mc:AlternateContent>
      <p:grpSp>
        <p:nvGrpSpPr>
          <p:cNvPr id="4" name="Canvas 1010">
            <a:extLst>
              <a:ext uri="{FF2B5EF4-FFF2-40B4-BE49-F238E27FC236}">
                <a16:creationId xmlns:a16="http://schemas.microsoft.com/office/drawing/2014/main" id="{1B185192-62B4-6F43-96E4-E0CA5A0BF115}"/>
              </a:ext>
            </a:extLst>
          </p:cNvPr>
          <p:cNvGrpSpPr/>
          <p:nvPr/>
        </p:nvGrpSpPr>
        <p:grpSpPr>
          <a:xfrm>
            <a:off x="109331" y="803981"/>
            <a:ext cx="5509591" cy="5337077"/>
            <a:chOff x="0" y="0"/>
            <a:chExt cx="3646170" cy="2923594"/>
          </a:xfrm>
        </p:grpSpPr>
        <p:sp>
          <p:nvSpPr>
            <p:cNvPr id="35" name="Rectangle 34">
              <a:extLst>
                <a:ext uri="{FF2B5EF4-FFF2-40B4-BE49-F238E27FC236}">
                  <a16:creationId xmlns:a16="http://schemas.microsoft.com/office/drawing/2014/main" id="{5319B0C7-C3EE-9CE5-0142-8480F6F28A27}"/>
                </a:ext>
              </a:extLst>
            </p:cNvPr>
            <p:cNvSpPr/>
            <p:nvPr/>
          </p:nvSpPr>
          <p:spPr>
            <a:xfrm>
              <a:off x="0" y="0"/>
              <a:ext cx="3646170" cy="2886075"/>
            </a:xfrm>
            <a:prstGeom prst="rect">
              <a:avLst/>
            </a:prstGeom>
            <a:noFill/>
          </p:spPr>
          <p:txBody>
            <a:bodyPr/>
            <a:lstStyle/>
            <a:p>
              <a:endParaRPr lang="en-US" sz="1600">
                <a:latin typeface="Times New Roman" panose="02020603050405020304" pitchFamily="18" charset="0"/>
                <a:cs typeface="Times New Roman" panose="02020603050405020304" pitchFamily="18" charset="0"/>
              </a:endParaRPr>
            </a:p>
          </p:txBody>
        </p:sp>
        <p:sp>
          <p:nvSpPr>
            <p:cNvPr id="36" name="Freeform: Shape 53">
              <a:extLst>
                <a:ext uri="{FF2B5EF4-FFF2-40B4-BE49-F238E27FC236}">
                  <a16:creationId xmlns:a16="http://schemas.microsoft.com/office/drawing/2014/main" id="{AA13F69E-71B9-8B43-7A16-D1B58AC6D73D}"/>
                </a:ext>
              </a:extLst>
            </p:cNvPr>
            <p:cNvSpPr>
              <a:spLocks/>
            </p:cNvSpPr>
            <p:nvPr/>
          </p:nvSpPr>
          <p:spPr bwMode="auto">
            <a:xfrm>
              <a:off x="1614967" y="213287"/>
              <a:ext cx="1709056" cy="1280009"/>
            </a:xfrm>
            <a:custGeom>
              <a:avLst/>
              <a:gdLst>
                <a:gd name="T0" fmla="*/ 1979914 w 1971924"/>
                <a:gd name="T1" fmla="*/ 0 h 1407381"/>
                <a:gd name="T2" fmla="*/ 1963947 w 1971924"/>
                <a:gd name="T3" fmla="*/ 748806 h 1407381"/>
                <a:gd name="T4" fmla="*/ 0 w 1971924"/>
                <a:gd name="T5" fmla="*/ 1425148 h 1407381"/>
                <a:gd name="T6" fmla="*/ 1979914 w 1971924"/>
                <a:gd name="T7" fmla="*/ 0 h 14073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71924" h="1407381">
                  <a:moveTo>
                    <a:pt x="1971924" y="0"/>
                  </a:moveTo>
                  <a:lnTo>
                    <a:pt x="1956021" y="739471"/>
                  </a:lnTo>
                  <a:lnTo>
                    <a:pt x="0" y="1407381"/>
                  </a:lnTo>
                  <a:lnTo>
                    <a:pt x="1971924" y="0"/>
                  </a:lnTo>
                  <a:close/>
                </a:path>
              </a:pathLst>
            </a:custGeom>
            <a:solidFill>
              <a:srgbClr val="BFBFBF"/>
            </a:solidFill>
            <a:ln w="12700">
              <a:solidFill>
                <a:srgbClr val="000000"/>
              </a:solidFill>
              <a:round/>
              <a:headEnd/>
              <a:tailEnd/>
            </a:ln>
          </p:spPr>
          <p:txBody>
            <a:bodyPr rot="0" vert="horz" wrap="square" lIns="91440" tIns="45720" rIns="91440" bIns="45720" anchor="ctr" anchorCtr="0" upright="1">
              <a:noAutofit/>
            </a:bodyPr>
            <a:lstStyle/>
            <a:p>
              <a:endParaRPr lang="en-US" sz="1600">
                <a:latin typeface="Times New Roman" panose="02020603050405020304" pitchFamily="18" charset="0"/>
                <a:cs typeface="Times New Roman" panose="02020603050405020304" pitchFamily="18" charset="0"/>
              </a:endParaRPr>
            </a:p>
          </p:txBody>
        </p:sp>
        <p:cxnSp>
          <p:nvCxnSpPr>
            <p:cNvPr id="37" name="AutoShape 68">
              <a:extLst>
                <a:ext uri="{FF2B5EF4-FFF2-40B4-BE49-F238E27FC236}">
                  <a16:creationId xmlns:a16="http://schemas.microsoft.com/office/drawing/2014/main" id="{17767625-ED7D-257B-1ED1-9AA0F7EAA49D}"/>
                </a:ext>
              </a:extLst>
            </p:cNvPr>
            <p:cNvCxnSpPr>
              <a:cxnSpLocks noChangeShapeType="1"/>
            </p:cNvCxnSpPr>
            <p:nvPr/>
          </p:nvCxnSpPr>
          <p:spPr bwMode="auto">
            <a:xfrm>
              <a:off x="1614967" y="1513414"/>
              <a:ext cx="0" cy="998985"/>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sp>
          <p:nvSpPr>
            <p:cNvPr id="38" name="Text Box 18">
              <a:extLst>
                <a:ext uri="{FF2B5EF4-FFF2-40B4-BE49-F238E27FC236}">
                  <a16:creationId xmlns:a16="http://schemas.microsoft.com/office/drawing/2014/main" id="{DA5C504F-4F76-92E4-A2B8-81DBE68547F5}"/>
                </a:ext>
              </a:extLst>
            </p:cNvPr>
            <p:cNvSpPr txBox="1">
              <a:spLocks noChangeArrowheads="1"/>
            </p:cNvSpPr>
            <p:nvPr/>
          </p:nvSpPr>
          <p:spPr bwMode="auto">
            <a:xfrm>
              <a:off x="1788937" y="2063394"/>
              <a:ext cx="1694304" cy="256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mn-MN" sz="1600" dirty="0">
                  <a:effectLst/>
                  <a:latin typeface="Times New Roman" panose="02020603050405020304" pitchFamily="18" charset="0"/>
                  <a:ea typeface="Times New Roman" panose="02020603050405020304" pitchFamily="18" charset="0"/>
                  <a:cs typeface="Times New Roman" panose="02020603050405020304" pitchFamily="18" charset="0"/>
                </a:rPr>
                <a:t>Тогтмол зардлууд</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cxnSp>
          <p:nvCxnSpPr>
            <p:cNvPr id="39" name="AutoShape 64">
              <a:extLst>
                <a:ext uri="{FF2B5EF4-FFF2-40B4-BE49-F238E27FC236}">
                  <a16:creationId xmlns:a16="http://schemas.microsoft.com/office/drawing/2014/main" id="{3E4EEB99-98FB-0CA9-0C6D-26192A9E72BD}"/>
                </a:ext>
              </a:extLst>
            </p:cNvPr>
            <p:cNvCxnSpPr>
              <a:cxnSpLocks noChangeShapeType="1"/>
            </p:cNvCxnSpPr>
            <p:nvPr/>
          </p:nvCxnSpPr>
          <p:spPr bwMode="auto">
            <a:xfrm flipH="1">
              <a:off x="239625" y="204755"/>
              <a:ext cx="3081549" cy="2306746"/>
            </a:xfrm>
            <a:prstGeom prst="straightConnector1">
              <a:avLst/>
            </a:prstGeom>
            <a:noFill/>
            <a:ln w="12700">
              <a:solidFill>
                <a:srgbClr val="4F81BD"/>
              </a:solidFill>
              <a:round/>
              <a:headEnd/>
              <a:tailEnd/>
            </a:ln>
            <a:extLst>
              <a:ext uri="{909E8E84-426E-40DD-AFC4-6F175D3DCCD1}">
                <a14:hiddenFill xmlns:a14="http://schemas.microsoft.com/office/drawing/2010/main">
                  <a:noFill/>
                </a14:hiddenFill>
              </a:ext>
            </a:extLst>
          </p:spPr>
        </p:cxnSp>
        <p:cxnSp>
          <p:nvCxnSpPr>
            <p:cNvPr id="40" name="AutoShape 65">
              <a:extLst>
                <a:ext uri="{FF2B5EF4-FFF2-40B4-BE49-F238E27FC236}">
                  <a16:creationId xmlns:a16="http://schemas.microsoft.com/office/drawing/2014/main" id="{D1AA2993-32DB-6570-793B-D5A00FD12E73}"/>
                </a:ext>
              </a:extLst>
            </p:cNvPr>
            <p:cNvCxnSpPr>
              <a:cxnSpLocks noChangeShapeType="1"/>
            </p:cNvCxnSpPr>
            <p:nvPr/>
          </p:nvCxnSpPr>
          <p:spPr bwMode="auto">
            <a:xfrm flipV="1">
              <a:off x="239625" y="1978643"/>
              <a:ext cx="3081117" cy="8712"/>
            </a:xfrm>
            <a:prstGeom prst="straightConnector1">
              <a:avLst/>
            </a:prstGeom>
            <a:noFill/>
            <a:ln w="12700">
              <a:solidFill>
                <a:srgbClr val="4F81BD"/>
              </a:solidFill>
              <a:round/>
              <a:headEnd/>
              <a:tailEnd/>
            </a:ln>
            <a:extLst>
              <a:ext uri="{909E8E84-426E-40DD-AFC4-6F175D3DCCD1}">
                <a14:hiddenFill xmlns:a14="http://schemas.microsoft.com/office/drawing/2010/main">
                  <a:noFill/>
                </a14:hiddenFill>
              </a:ext>
            </a:extLst>
          </p:spPr>
        </p:cxnSp>
        <p:cxnSp>
          <p:nvCxnSpPr>
            <p:cNvPr id="41" name="AutoShape 66">
              <a:extLst>
                <a:ext uri="{FF2B5EF4-FFF2-40B4-BE49-F238E27FC236}">
                  <a16:creationId xmlns:a16="http://schemas.microsoft.com/office/drawing/2014/main" id="{8B306480-397E-E7DB-5FEC-476ED3FCCD6D}"/>
                </a:ext>
              </a:extLst>
            </p:cNvPr>
            <p:cNvCxnSpPr>
              <a:cxnSpLocks noChangeShapeType="1"/>
            </p:cNvCxnSpPr>
            <p:nvPr/>
          </p:nvCxnSpPr>
          <p:spPr bwMode="auto">
            <a:xfrm flipV="1">
              <a:off x="239625" y="877272"/>
              <a:ext cx="3081549" cy="1110083"/>
            </a:xfrm>
            <a:prstGeom prst="straightConnector1">
              <a:avLst/>
            </a:prstGeom>
            <a:noFill/>
            <a:ln w="12700">
              <a:solidFill>
                <a:srgbClr val="4F81BD"/>
              </a:solidFill>
              <a:round/>
              <a:headEnd/>
              <a:tailEnd/>
            </a:ln>
            <a:extLst>
              <a:ext uri="{909E8E84-426E-40DD-AFC4-6F175D3DCCD1}">
                <a14:hiddenFill xmlns:a14="http://schemas.microsoft.com/office/drawing/2010/main">
                  <a:noFill/>
                </a14:hiddenFill>
              </a:ext>
            </a:extLst>
          </p:spPr>
        </p:cxnSp>
        <p:cxnSp>
          <p:nvCxnSpPr>
            <p:cNvPr id="42" name="AutoShape 67">
              <a:extLst>
                <a:ext uri="{FF2B5EF4-FFF2-40B4-BE49-F238E27FC236}">
                  <a16:creationId xmlns:a16="http://schemas.microsoft.com/office/drawing/2014/main" id="{D55EB1A3-03D0-DB40-D171-1DB63E30775A}"/>
                </a:ext>
              </a:extLst>
            </p:cNvPr>
            <p:cNvCxnSpPr>
              <a:cxnSpLocks noChangeShapeType="1"/>
            </p:cNvCxnSpPr>
            <p:nvPr/>
          </p:nvCxnSpPr>
          <p:spPr bwMode="auto">
            <a:xfrm>
              <a:off x="1410042" y="1303882"/>
              <a:ext cx="204924" cy="189415"/>
            </a:xfrm>
            <a:prstGeom prst="straightConnector1">
              <a:avLst/>
            </a:prstGeom>
            <a:noFill/>
            <a:ln w="9525">
              <a:solidFill>
                <a:srgbClr val="000000"/>
              </a:solidFill>
              <a:round/>
              <a:headEnd/>
              <a:tailEnd type="stealth" w="med" len="med"/>
            </a:ln>
            <a:extLst>
              <a:ext uri="{909E8E84-426E-40DD-AFC4-6F175D3DCCD1}">
                <a14:hiddenFill xmlns:a14="http://schemas.microsoft.com/office/drawing/2010/main">
                  <a:noFill/>
                </a14:hiddenFill>
              </a:ext>
            </a:extLst>
          </p:spPr>
        </p:cxnSp>
        <p:cxnSp>
          <p:nvCxnSpPr>
            <p:cNvPr id="43" name="AutoShape 69">
              <a:extLst>
                <a:ext uri="{FF2B5EF4-FFF2-40B4-BE49-F238E27FC236}">
                  <a16:creationId xmlns:a16="http://schemas.microsoft.com/office/drawing/2014/main" id="{A08609E3-E3E6-E23D-F4CF-C536B688FC9E}"/>
                </a:ext>
              </a:extLst>
            </p:cNvPr>
            <p:cNvCxnSpPr>
              <a:cxnSpLocks noChangeShapeType="1"/>
            </p:cNvCxnSpPr>
            <p:nvPr/>
          </p:nvCxnSpPr>
          <p:spPr bwMode="auto">
            <a:xfrm>
              <a:off x="688750" y="1535688"/>
              <a:ext cx="253782" cy="339312"/>
            </a:xfrm>
            <a:prstGeom prst="straightConnector1">
              <a:avLst/>
            </a:prstGeom>
            <a:noFill/>
            <a:ln w="9525">
              <a:solidFill>
                <a:srgbClr val="000000"/>
              </a:solidFill>
              <a:round/>
              <a:headEnd/>
              <a:tailEnd type="stealth" w="med" len="med"/>
            </a:ln>
            <a:extLst>
              <a:ext uri="{909E8E84-426E-40DD-AFC4-6F175D3DCCD1}">
                <a14:hiddenFill xmlns:a14="http://schemas.microsoft.com/office/drawing/2010/main">
                  <a:noFill/>
                </a14:hiddenFill>
              </a:ext>
            </a:extLst>
          </p:spPr>
        </p:cxnSp>
        <p:sp>
          <p:nvSpPr>
            <p:cNvPr id="44" name="Text Box 2">
              <a:extLst>
                <a:ext uri="{FF2B5EF4-FFF2-40B4-BE49-F238E27FC236}">
                  <a16:creationId xmlns:a16="http://schemas.microsoft.com/office/drawing/2014/main" id="{D7B13DC1-93D8-509F-A2D2-E0850016705E}"/>
                </a:ext>
              </a:extLst>
            </p:cNvPr>
            <p:cNvSpPr txBox="1">
              <a:spLocks noChangeArrowheads="1"/>
            </p:cNvSpPr>
            <p:nvPr/>
          </p:nvSpPr>
          <p:spPr bwMode="auto">
            <a:xfrm>
              <a:off x="0" y="204755"/>
              <a:ext cx="198709" cy="1701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vert270" wrap="square" lIns="0" tIns="0" rIns="0" bIns="0" anchor="t" anchorCtr="0" upright="1">
              <a:noAutofit/>
            </a:bodyPr>
            <a:lstStyle/>
            <a:p>
              <a:pPr>
                <a:lnSpc>
                  <a:spcPct val="107000"/>
                </a:lnSpc>
                <a:spcAft>
                  <a:spcPts val="0"/>
                </a:spcAft>
                <a:tabLst>
                  <a:tab pos="2228850" algn="l"/>
                </a:tabLst>
              </a:pPr>
              <a:r>
                <a:rPr lang="mn-MN" sz="1600" dirty="0">
                  <a:effectLst/>
                  <a:latin typeface="Times New Roman" panose="02020603050405020304" pitchFamily="18" charset="0"/>
                  <a:ea typeface="Times New Roman" panose="02020603050405020304" pitchFamily="18" charset="0"/>
                  <a:cs typeface="Times New Roman" panose="02020603050405020304" pitchFamily="18" charset="0"/>
                </a:rPr>
                <a:t>Зардал ба орлого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5" name="Text Box 9">
              <a:extLst>
                <a:ext uri="{FF2B5EF4-FFF2-40B4-BE49-F238E27FC236}">
                  <a16:creationId xmlns:a16="http://schemas.microsoft.com/office/drawing/2014/main" id="{8364B880-6256-9141-D761-C23D2C0ACFE3}"/>
                </a:ext>
              </a:extLst>
            </p:cNvPr>
            <p:cNvSpPr txBox="1">
              <a:spLocks noChangeArrowheads="1"/>
            </p:cNvSpPr>
            <p:nvPr/>
          </p:nvSpPr>
          <p:spPr bwMode="auto">
            <a:xfrm>
              <a:off x="359180" y="1349147"/>
              <a:ext cx="930360" cy="254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mn-MN"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Алдагдал</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6" name="Text Box 14">
              <a:extLst>
                <a:ext uri="{FF2B5EF4-FFF2-40B4-BE49-F238E27FC236}">
                  <a16:creationId xmlns:a16="http://schemas.microsoft.com/office/drawing/2014/main" id="{B711899D-C83A-1DFC-CE74-90B31DB7AC58}"/>
                </a:ext>
              </a:extLst>
            </p:cNvPr>
            <p:cNvSpPr txBox="1">
              <a:spLocks noChangeArrowheads="1"/>
            </p:cNvSpPr>
            <p:nvPr/>
          </p:nvSpPr>
          <p:spPr bwMode="auto">
            <a:xfrm>
              <a:off x="942532" y="853293"/>
              <a:ext cx="930359" cy="36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mn-MN" sz="1600" dirty="0">
                  <a:effectLst/>
                  <a:latin typeface="Times New Roman" panose="02020603050405020304" pitchFamily="18" charset="0"/>
                  <a:ea typeface="Times New Roman" panose="02020603050405020304" pitchFamily="18" charset="0"/>
                  <a:cs typeface="Times New Roman" panose="02020603050405020304" pitchFamily="18" charset="0"/>
                </a:rPr>
                <a:t>Хугарлын цэг</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7" name="Text Box 15">
              <a:extLst>
                <a:ext uri="{FF2B5EF4-FFF2-40B4-BE49-F238E27FC236}">
                  <a16:creationId xmlns:a16="http://schemas.microsoft.com/office/drawing/2014/main" id="{05282CAC-7234-A2D0-2216-62C9B58253B8}"/>
                </a:ext>
              </a:extLst>
            </p:cNvPr>
            <p:cNvSpPr txBox="1">
              <a:spLocks noChangeArrowheads="1"/>
            </p:cNvSpPr>
            <p:nvPr/>
          </p:nvSpPr>
          <p:spPr bwMode="auto">
            <a:xfrm>
              <a:off x="2648739" y="749918"/>
              <a:ext cx="415114" cy="127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mn-MN" sz="1600">
                  <a:effectLst/>
                  <a:latin typeface="Times New Roman" panose="02020603050405020304" pitchFamily="18" charset="0"/>
                  <a:ea typeface="Times New Roman" panose="02020603050405020304" pitchFamily="18" charset="0"/>
                  <a:cs typeface="Times New Roman" panose="02020603050405020304" pitchFamily="18" charset="0"/>
                </a:rPr>
                <a:t>Ашиг</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8" name="Text Box 17">
              <a:extLst>
                <a:ext uri="{FF2B5EF4-FFF2-40B4-BE49-F238E27FC236}">
                  <a16:creationId xmlns:a16="http://schemas.microsoft.com/office/drawing/2014/main" id="{B74B5B5A-ACAF-3A6F-3045-CB3EACA55B12}"/>
                </a:ext>
              </a:extLst>
            </p:cNvPr>
            <p:cNvSpPr txBox="1">
              <a:spLocks noChangeArrowheads="1"/>
            </p:cNvSpPr>
            <p:nvPr/>
          </p:nvSpPr>
          <p:spPr bwMode="auto">
            <a:xfrm>
              <a:off x="2045619" y="1413904"/>
              <a:ext cx="1184312" cy="292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mn-MN" sz="1600" dirty="0">
                  <a:effectLst/>
                  <a:latin typeface="Times New Roman" panose="02020603050405020304" pitchFamily="18" charset="0"/>
                  <a:ea typeface="Times New Roman" panose="02020603050405020304" pitchFamily="18" charset="0"/>
                  <a:cs typeface="Times New Roman" panose="02020603050405020304" pitchFamily="18" charset="0"/>
                </a:rPr>
                <a:t>Хувьсах зардлууд</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9" name="Text Box 19">
              <a:extLst>
                <a:ext uri="{FF2B5EF4-FFF2-40B4-BE49-F238E27FC236}">
                  <a16:creationId xmlns:a16="http://schemas.microsoft.com/office/drawing/2014/main" id="{E4B5FB53-EC4B-1D2A-F038-F1DCE8329471}"/>
                </a:ext>
              </a:extLst>
            </p:cNvPr>
            <p:cNvSpPr txBox="1">
              <a:spLocks noChangeArrowheads="1"/>
            </p:cNvSpPr>
            <p:nvPr/>
          </p:nvSpPr>
          <p:spPr bwMode="auto">
            <a:xfrm>
              <a:off x="631272" y="2748947"/>
              <a:ext cx="2233019" cy="174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gn="ctr">
                <a:lnSpc>
                  <a:spcPct val="107000"/>
                </a:lnSpc>
                <a:spcAft>
                  <a:spcPts val="0"/>
                </a:spcAft>
                <a:tabLst>
                  <a:tab pos="2228850" algn="l"/>
                </a:tabLst>
              </a:pPr>
              <a:r>
                <a:rPr lang="mn-MN" sz="1600" dirty="0">
                  <a:effectLst/>
                  <a:latin typeface="Times New Roman" panose="02020603050405020304" pitchFamily="18" charset="0"/>
                  <a:ea typeface="Times New Roman" panose="02020603050405020304" pitchFamily="18" charset="0"/>
                  <a:cs typeface="Times New Roman" panose="02020603050405020304" pitchFamily="18" charset="0"/>
                </a:rPr>
                <a:t>Тоо хэмжээ</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mn-MN" sz="1600" dirty="0">
                  <a:effectLst/>
                  <a:latin typeface="Times New Roman" panose="02020603050405020304" pitchFamily="18" charset="0"/>
                  <a:ea typeface="Times New Roman" panose="02020603050405020304" pitchFamily="18" charset="0"/>
                  <a:cs typeface="Times New Roman" panose="02020603050405020304" pitchFamily="18" charset="0"/>
                </a:rPr>
                <a:t>Эрэлт</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0" name="Text Box 20">
              <a:extLst>
                <a:ext uri="{FF2B5EF4-FFF2-40B4-BE49-F238E27FC236}">
                  <a16:creationId xmlns:a16="http://schemas.microsoft.com/office/drawing/2014/main" id="{D7A804DA-0512-962C-D610-32B8412892FA}"/>
                </a:ext>
              </a:extLst>
            </p:cNvPr>
            <p:cNvSpPr txBox="1">
              <a:spLocks noChangeArrowheads="1"/>
            </p:cNvSpPr>
            <p:nvPr/>
          </p:nvSpPr>
          <p:spPr bwMode="auto">
            <a:xfrm>
              <a:off x="3390576" y="133983"/>
              <a:ext cx="224519" cy="1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TR</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1" name="Text Box 21">
              <a:extLst>
                <a:ext uri="{FF2B5EF4-FFF2-40B4-BE49-F238E27FC236}">
                  <a16:creationId xmlns:a16="http://schemas.microsoft.com/office/drawing/2014/main" id="{C549932F-D9C3-C5E0-DE98-E8B82A0E0C6C}"/>
                </a:ext>
              </a:extLst>
            </p:cNvPr>
            <p:cNvSpPr txBox="1">
              <a:spLocks noChangeArrowheads="1"/>
            </p:cNvSpPr>
            <p:nvPr/>
          </p:nvSpPr>
          <p:spPr bwMode="auto">
            <a:xfrm>
              <a:off x="3390144" y="807038"/>
              <a:ext cx="224433" cy="192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1600" baseline="-25000">
                  <a:effectLst/>
                  <a:latin typeface="Times New Roman" panose="02020603050405020304" pitchFamily="18" charset="0"/>
                  <a:ea typeface="Times New Roman" panose="02020603050405020304" pitchFamily="18" charset="0"/>
                  <a:cs typeface="Times New Roman" panose="02020603050405020304" pitchFamily="18" charset="0"/>
                </a:rPr>
                <a:t>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2" name="Text Box 22">
              <a:extLst>
                <a:ext uri="{FF2B5EF4-FFF2-40B4-BE49-F238E27FC236}">
                  <a16:creationId xmlns:a16="http://schemas.microsoft.com/office/drawing/2014/main" id="{04561B2C-888A-2129-CA6E-CB5C66528DD6}"/>
                </a:ext>
              </a:extLst>
            </p:cNvPr>
            <p:cNvSpPr txBox="1">
              <a:spLocks noChangeArrowheads="1"/>
            </p:cNvSpPr>
            <p:nvPr/>
          </p:nvSpPr>
          <p:spPr bwMode="auto">
            <a:xfrm>
              <a:off x="3390144" y="1875539"/>
              <a:ext cx="224433" cy="208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1600" baseline="-25000">
                  <a:effectLst/>
                  <a:latin typeface="Times New Roman" panose="02020603050405020304" pitchFamily="18" charset="0"/>
                  <a:ea typeface="Times New Roman" panose="02020603050405020304" pitchFamily="18" charset="0"/>
                  <a:cs typeface="Times New Roman" panose="02020603050405020304" pitchFamily="18" charset="0"/>
                </a:rPr>
                <a:t>F</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3" name="Text Box 23">
              <a:extLst>
                <a:ext uri="{FF2B5EF4-FFF2-40B4-BE49-F238E27FC236}">
                  <a16:creationId xmlns:a16="http://schemas.microsoft.com/office/drawing/2014/main" id="{502180F8-EE00-F28D-655E-B0950FA4B25E}"/>
                </a:ext>
              </a:extLst>
            </p:cNvPr>
            <p:cNvSpPr txBox="1">
              <a:spLocks noChangeArrowheads="1"/>
            </p:cNvSpPr>
            <p:nvPr/>
          </p:nvSpPr>
          <p:spPr bwMode="auto">
            <a:xfrm>
              <a:off x="3320742" y="2533954"/>
              <a:ext cx="224433" cy="14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D</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4" name="Text Box 24">
              <a:extLst>
                <a:ext uri="{FF2B5EF4-FFF2-40B4-BE49-F238E27FC236}">
                  <a16:creationId xmlns:a16="http://schemas.microsoft.com/office/drawing/2014/main" id="{E290B50E-6166-EDAE-FA88-27A58C8CA5B8}"/>
                </a:ext>
              </a:extLst>
            </p:cNvPr>
            <p:cNvSpPr txBox="1">
              <a:spLocks noChangeArrowheads="1"/>
            </p:cNvSpPr>
            <p:nvPr/>
          </p:nvSpPr>
          <p:spPr bwMode="auto">
            <a:xfrm>
              <a:off x="1567663" y="2533954"/>
              <a:ext cx="224433" cy="14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D′</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5" name="Text Box 25">
              <a:extLst>
                <a:ext uri="{FF2B5EF4-FFF2-40B4-BE49-F238E27FC236}">
                  <a16:creationId xmlns:a16="http://schemas.microsoft.com/office/drawing/2014/main" id="{25395FD9-6625-D501-DC71-EC866334E701}"/>
                </a:ext>
              </a:extLst>
            </p:cNvPr>
            <p:cNvSpPr txBox="1">
              <a:spLocks noChangeArrowheads="1"/>
            </p:cNvSpPr>
            <p:nvPr/>
          </p:nvSpPr>
          <p:spPr bwMode="auto">
            <a:xfrm>
              <a:off x="198709" y="2533954"/>
              <a:ext cx="224519" cy="14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a:lnSpc>
                  <a:spcPct val="107000"/>
                </a:lnSpc>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6" name="Rectangle 55">
              <a:extLst>
                <a:ext uri="{FF2B5EF4-FFF2-40B4-BE49-F238E27FC236}">
                  <a16:creationId xmlns:a16="http://schemas.microsoft.com/office/drawing/2014/main" id="{EE5CE8F1-4801-ED57-8303-99B2F35EE096}"/>
                </a:ext>
              </a:extLst>
            </p:cNvPr>
            <p:cNvSpPr>
              <a:spLocks noChangeArrowheads="1"/>
            </p:cNvSpPr>
            <p:nvPr/>
          </p:nvSpPr>
          <p:spPr bwMode="auto">
            <a:xfrm>
              <a:off x="239366" y="27645"/>
              <a:ext cx="3081376" cy="248233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ctr" anchorCtr="0" upright="1">
              <a:noAutofit/>
            </a:bodyPr>
            <a:lstStyle/>
            <a:p>
              <a:endParaRPr lang="en-US" sz="16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170599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4298-089F-FC5C-D385-52629522C97F}"/>
              </a:ext>
            </a:extLst>
          </p:cNvPr>
          <p:cNvSpPr>
            <a:spLocks noGrp="1"/>
          </p:cNvSpPr>
          <p:nvPr>
            <p:ph type="title"/>
          </p:nvPr>
        </p:nvSpPr>
        <p:spPr>
          <a:xfrm>
            <a:off x="138952" y="53787"/>
            <a:ext cx="11644865" cy="735107"/>
          </a:xfrm>
        </p:spPr>
        <p:txBody>
          <a:bodyPr>
            <a:noAutofit/>
          </a:bodyPr>
          <a:lstStyle/>
          <a:p>
            <a:r>
              <a:rPr lang="ru-RU" sz="3200" b="1" dirty="0">
                <a:solidFill>
                  <a:srgbClr val="002060"/>
                </a:solidFill>
                <a:latin typeface="Times New Roman" panose="02020603050405020304" pitchFamily="18" charset="0"/>
                <a:cs typeface="Times New Roman" panose="02020603050405020304" pitchFamily="18" charset="0"/>
              </a:rPr>
              <a:t>2. Эдийн засгийн ерөнхий орчин</a:t>
            </a:r>
            <a:br>
              <a:rPr lang="mn-MN" sz="3200" b="1" dirty="0">
                <a:solidFill>
                  <a:srgbClr val="002060"/>
                </a:solidFill>
                <a:latin typeface="Times New Roman" panose="02020603050405020304" pitchFamily="18" charset="0"/>
                <a:cs typeface="Times New Roman" panose="02020603050405020304" pitchFamily="18" charset="0"/>
              </a:rPr>
            </a:br>
            <a:r>
              <a:rPr lang="mn-MN" sz="2800" b="1" dirty="0">
                <a:solidFill>
                  <a:srgbClr val="002060"/>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2.</a:t>
            </a:r>
            <a:r>
              <a:rPr lang="en-US" sz="2800" b="1" dirty="0">
                <a:solidFill>
                  <a:schemeClr val="accent2">
                    <a:lumMod val="75000"/>
                  </a:schemeClr>
                </a:solidFill>
                <a:latin typeface="Times New Roman" panose="02020603050405020304" pitchFamily="18" charset="0"/>
                <a:cs typeface="Times New Roman" panose="02020603050405020304" pitchFamily="18" charset="0"/>
              </a:rPr>
              <a:t>5</a:t>
            </a:r>
            <a:r>
              <a:rPr lang="mn-MN" sz="2800" b="1" dirty="0">
                <a:solidFill>
                  <a:schemeClr val="accent2">
                    <a:lumMod val="75000"/>
                  </a:schemeClr>
                </a:solidFill>
                <a:latin typeface="Times New Roman" panose="02020603050405020304" pitchFamily="18" charset="0"/>
                <a:cs typeface="Times New Roman" panose="02020603050405020304" pitchFamily="18" charset="0"/>
              </a:rPr>
              <a:t> Одоогийн эдийн засгийн шинжилгээ</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C1D5CA-D0F8-57F9-C2FF-65BB6C543AD4}"/>
              </a:ext>
            </a:extLst>
          </p:cNvPr>
          <p:cNvSpPr>
            <a:spLocks noGrp="1"/>
          </p:cNvSpPr>
          <p:nvPr>
            <p:ph idx="1"/>
          </p:nvPr>
        </p:nvSpPr>
        <p:spPr>
          <a:xfrm>
            <a:off x="138952" y="857250"/>
            <a:ext cx="11855823" cy="5794562"/>
          </a:xfrm>
        </p:spPr>
        <p:txBody>
          <a:bodyPr>
            <a:normAutofit fontScale="92500"/>
          </a:bodyPr>
          <a:lstStyle/>
          <a:p>
            <a:pPr algn="just"/>
            <a:r>
              <a:rPr lang="mn-MN" sz="3200" dirty="0">
                <a:solidFill>
                  <a:srgbClr val="002060"/>
                </a:solidFill>
                <a:latin typeface="Times New Roman" panose="02020603050405020304" pitchFamily="18" charset="0"/>
                <a:cs typeface="Times New Roman" panose="02020603050405020304" pitchFamily="18" charset="0"/>
              </a:rPr>
              <a:t>Тодорхой зорилтыг хэрэгжүүлэх хувилбаруудыг нэг жил, эсвэл түүнээс бага хугацааны интервалд харьцуулж, мөнгөний цаг хугацааны нөлөөллийг тооцохгүй байж болдог. Үүнийг ИЭЗ-ийн шинжилгээг </a:t>
            </a:r>
            <a:r>
              <a:rPr lang="mn-MN" sz="3200" b="1" dirty="0">
                <a:solidFill>
                  <a:srgbClr val="002060"/>
                </a:solidFill>
                <a:latin typeface="Times New Roman" panose="02020603050405020304" pitchFamily="18" charset="0"/>
                <a:cs typeface="Times New Roman" panose="02020603050405020304" pitchFamily="18" charset="0"/>
              </a:rPr>
              <a:t>одоогийн эдийн засгийн шинжилгээ </a:t>
            </a:r>
            <a:r>
              <a:rPr lang="mn-MN" sz="3200" dirty="0">
                <a:solidFill>
                  <a:srgbClr val="002060"/>
                </a:solidFill>
                <a:latin typeface="Times New Roman" panose="02020603050405020304" pitchFamily="18" charset="0"/>
                <a:cs typeface="Times New Roman" panose="02020603050405020304" pitchFamily="18" charset="0"/>
              </a:rPr>
              <a:t>гэнэ. </a:t>
            </a:r>
          </a:p>
          <a:p>
            <a:pPr algn="just"/>
            <a:r>
              <a:rPr lang="mn-MN" sz="3200" dirty="0">
                <a:solidFill>
                  <a:srgbClr val="002060"/>
                </a:solidFill>
                <a:latin typeface="Times New Roman" panose="02020603050405020304" pitchFamily="18" charset="0"/>
                <a:cs typeface="Times New Roman" panose="02020603050405020304" pitchFamily="18" charset="0"/>
              </a:rPr>
              <a:t>Дараах дүрэм буюу шалгуурыг хувилбаруудын хувьд гарц нь хувьсах, эсвэл тогтмол үед хамгийн боломжит хувилбарыг сонгоход ашиглана.</a:t>
            </a:r>
          </a:p>
          <a:p>
            <a:pPr lvl="1" algn="just"/>
            <a:r>
              <a:rPr lang="en-US" sz="2800" b="1" dirty="0">
                <a:solidFill>
                  <a:schemeClr val="accent6">
                    <a:lumMod val="75000"/>
                  </a:schemeClr>
                </a:solidFill>
                <a:latin typeface="Times New Roman" panose="02020603050405020304" pitchFamily="18" charset="0"/>
                <a:cs typeface="Times New Roman" panose="02020603050405020304" pitchFamily="18" charset="0"/>
              </a:rPr>
              <a:t>I </a:t>
            </a:r>
            <a:r>
              <a:rPr lang="mn-MN" sz="2800" b="1" dirty="0">
                <a:solidFill>
                  <a:schemeClr val="accent6">
                    <a:lumMod val="75000"/>
                  </a:schemeClr>
                </a:solidFill>
                <a:latin typeface="Times New Roman" panose="02020603050405020304" pitchFamily="18" charset="0"/>
                <a:cs typeface="Times New Roman" panose="02020603050405020304" pitchFamily="18" charset="0"/>
              </a:rPr>
              <a:t>ДҮРЭМ: </a:t>
            </a:r>
            <a:r>
              <a:rPr lang="mn-MN" sz="2800" dirty="0">
                <a:solidFill>
                  <a:schemeClr val="accent6">
                    <a:lumMod val="75000"/>
                  </a:schemeClr>
                </a:solidFill>
                <a:latin typeface="Times New Roman" panose="02020603050405020304" pitchFamily="18" charset="0"/>
                <a:cs typeface="Times New Roman" panose="02020603050405020304" pitchFamily="18" charset="0"/>
              </a:rPr>
              <a:t>Орлого болон эдийн засгийн бусад өгөөж байгаа бөгөөд хувилбаруудаас шалтгаалан өөрчлөгдөж байгаа бол үйлдвэрлэсэн бүтээгдэхүүн, үйлчилгээний гологдолгүй тоо хэмжээн дээр тулгуурлан нийт ашиг хамгийн их байх хувилбарыг сонгоно.</a:t>
            </a:r>
          </a:p>
          <a:p>
            <a:pPr lvl="1" algn="just"/>
            <a:r>
              <a:rPr lang="en-US" sz="2800" b="1" dirty="0">
                <a:solidFill>
                  <a:schemeClr val="accent6">
                    <a:lumMod val="75000"/>
                  </a:schemeClr>
                </a:solidFill>
                <a:latin typeface="Times New Roman" panose="02020603050405020304" pitchFamily="18" charset="0"/>
                <a:cs typeface="Times New Roman" panose="02020603050405020304" pitchFamily="18" charset="0"/>
              </a:rPr>
              <a:t>II </a:t>
            </a:r>
            <a:r>
              <a:rPr lang="mn-MN" sz="2800" b="1" dirty="0">
                <a:solidFill>
                  <a:schemeClr val="accent6">
                    <a:lumMod val="75000"/>
                  </a:schemeClr>
                </a:solidFill>
                <a:latin typeface="Times New Roman" panose="02020603050405020304" pitchFamily="18" charset="0"/>
                <a:cs typeface="Times New Roman" panose="02020603050405020304" pitchFamily="18" charset="0"/>
              </a:rPr>
              <a:t>ДҮРЭМ: </a:t>
            </a:r>
            <a:r>
              <a:rPr lang="mn-MN" sz="2800" dirty="0">
                <a:solidFill>
                  <a:schemeClr val="accent6">
                    <a:lumMod val="75000"/>
                  </a:schemeClr>
                </a:solidFill>
                <a:latin typeface="Times New Roman" panose="02020603050405020304" pitchFamily="18" charset="0"/>
                <a:cs typeface="Times New Roman" panose="02020603050405020304" pitchFamily="18" charset="0"/>
              </a:rPr>
              <a:t>Бүх хувилбаруудад орлого болон бусад эдийн засгийн үр өгөөж байхгүй, эсвэл тогтмол байх тохиолдолд зөвхөн зардлыг харгалзан бүтээгдэхүүний гологдолгүй нэгж тутамд, эсвэл үйлчилгээний гарц тутамд нийт зардлыг хамгийн бага байлгах хувилбарыг сонгоно.</a:t>
            </a:r>
          </a:p>
          <a:p>
            <a:pPr algn="just"/>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562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53786" y="71716"/>
            <a:ext cx="11905131" cy="753037"/>
          </a:xfrm>
        </p:spPr>
        <p:txBody>
          <a:bodyPr>
            <a:normAutofit/>
          </a:bodyPr>
          <a:lstStyle/>
          <a:p>
            <a:r>
              <a:rPr lang="mn-MN" sz="4000" b="1" dirty="0">
                <a:solidFill>
                  <a:srgbClr val="002060"/>
                </a:solidFill>
                <a:latin typeface="Times New Roman" panose="02020603050405020304" pitchFamily="18" charset="0"/>
                <a:cs typeface="Times New Roman" panose="02020603050405020304" pitchFamily="18" charset="0"/>
              </a:rPr>
              <a:t>3. Зардлын үнэлгээний аргууд</a:t>
            </a:r>
            <a:endParaRPr lang="en-US" sz="40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143434" y="808264"/>
            <a:ext cx="11905131" cy="5664254"/>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Их хэмжээний хөрөнгө оруулалт хийхээр төлөвлөж байгаа тохиолдолд  инженерчлэлийн эдийн засгийн шинжилгээ (ИЭЗШ)-ний зардлын үнэлгээ нь төлөвлөлт, зохион бүтээлтийн салшгүй чухал хэсэг болдог. </a:t>
            </a:r>
          </a:p>
          <a:p>
            <a:pPr algn="just"/>
            <a:r>
              <a:rPr lang="mn-MN" sz="3200" b="1" dirty="0">
                <a:solidFill>
                  <a:srgbClr val="002060"/>
                </a:solidFill>
                <a:latin typeface="Times New Roman" panose="02020603050405020304" pitchFamily="18" charset="0"/>
                <a:cs typeface="Times New Roman" panose="02020603050405020304" pitchFamily="18" charset="0"/>
              </a:rPr>
              <a:t>ЗАРДЛЫН ҮНЭЛГЭЭ</a:t>
            </a:r>
            <a:r>
              <a:rPr lang="mn-MN" sz="3200" dirty="0">
                <a:solidFill>
                  <a:srgbClr val="002060"/>
                </a:solidFill>
                <a:latin typeface="Times New Roman" panose="02020603050405020304" pitchFamily="18" charset="0"/>
                <a:cs typeface="Times New Roman" panose="02020603050405020304" pitchFamily="18" charset="0"/>
              </a:rPr>
              <a:t>ний зорилго:</a:t>
            </a:r>
          </a:p>
          <a:p>
            <a:pPr lvl="1" algn="just"/>
            <a:r>
              <a:rPr lang="mn-MN" sz="2800" dirty="0">
                <a:solidFill>
                  <a:srgbClr val="002060"/>
                </a:solidFill>
                <a:latin typeface="Times New Roman" panose="02020603050405020304" pitchFamily="18" charset="0"/>
                <a:cs typeface="Times New Roman" panose="02020603050405020304" pitchFamily="18" charset="0"/>
              </a:rPr>
              <a:t>Гэрээг үнэлэх, тендер шалгаруулах, худалдах үнийг тогтоох зэрэгт ашиглагдах мэдээлэл өгөх</a:t>
            </a:r>
          </a:p>
          <a:p>
            <a:pPr lvl="1" algn="just"/>
            <a:r>
              <a:rPr lang="mn-MN" sz="2800" dirty="0">
                <a:solidFill>
                  <a:srgbClr val="002060"/>
                </a:solidFill>
                <a:latin typeface="Times New Roman" panose="02020603050405020304" pitchFamily="18" charset="0"/>
                <a:cs typeface="Times New Roman" panose="02020603050405020304" pitchFamily="18" charset="0"/>
              </a:rPr>
              <a:t>Санал болгож буй бүтээгдэхүүнийг хийж, ашиг олох боломжтой эсэхийг тодорхойлох (Ө.х, үнэ = зардал + ашиг)</a:t>
            </a:r>
          </a:p>
          <a:p>
            <a:pPr lvl="1" algn="just"/>
            <a:r>
              <a:rPr lang="mn-MN" sz="2800" dirty="0">
                <a:solidFill>
                  <a:srgbClr val="002060"/>
                </a:solidFill>
                <a:latin typeface="Times New Roman" panose="02020603050405020304" pitchFamily="18" charset="0"/>
                <a:cs typeface="Times New Roman" panose="02020603050405020304" pitchFamily="18" charset="0"/>
              </a:rPr>
              <a:t>Үйл ажиллагааны өөрчлөлт, эсвэл бусад сайжруулалтад хэр хэмжээний хөрөнгө зарцуулах боломжтойг үнэлэх</a:t>
            </a:r>
          </a:p>
          <a:p>
            <a:pPr lvl="1" algn="just"/>
            <a:r>
              <a:rPr lang="mn-MN" sz="2800" dirty="0">
                <a:solidFill>
                  <a:srgbClr val="002060"/>
                </a:solidFill>
                <a:latin typeface="Times New Roman" panose="02020603050405020304" pitchFamily="18" charset="0"/>
                <a:cs typeface="Times New Roman" panose="02020603050405020304" pitchFamily="18" charset="0"/>
              </a:rPr>
              <a:t>Бүтээмжийг сайжруулах хөтөлбөрүүдэд үнэлгээ өгөх</a:t>
            </a:r>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0023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96078" y="124725"/>
            <a:ext cx="11910392" cy="569844"/>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2800" b="1" dirty="0">
                <a:solidFill>
                  <a:srgbClr val="002060"/>
                </a:solidFill>
                <a:latin typeface="Times New Roman" panose="02020603050405020304" pitchFamily="18" charset="0"/>
                <a:cs typeface="Times New Roman" panose="02020603050405020304" pitchFamily="18" charset="0"/>
              </a:rPr>
            </a:br>
            <a:r>
              <a:rPr lang="mn-MN" sz="2800" b="1" dirty="0">
                <a:solidFill>
                  <a:srgbClr val="002060"/>
                </a:solidFill>
                <a:latin typeface="Times New Roman" panose="02020603050405020304" pitchFamily="18" charset="0"/>
                <a:cs typeface="Times New Roman" panose="02020603050405020304" pitchFamily="18" charset="0"/>
              </a:rPr>
              <a:t>	</a:t>
            </a:r>
            <a:r>
              <a:rPr lang="mn-MN" sz="2800" b="1" dirty="0">
                <a:solidFill>
                  <a:schemeClr val="accent2">
                    <a:lumMod val="75000"/>
                  </a:schemeClr>
                </a:solidFill>
                <a:latin typeface="Times New Roman" panose="02020603050405020304" pitchFamily="18" charset="0"/>
                <a:cs typeface="Times New Roman" panose="02020603050405020304" pitchFamily="18" charset="0"/>
              </a:rPr>
              <a:t>3.1 Өртөг, зардлыг тооцох хандлага</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96078" y="748356"/>
            <a:ext cx="11910392" cy="5710759"/>
          </a:xfrm>
        </p:spPr>
        <p:txBody>
          <a:bodyPr>
            <a:normAutofit fontScale="92500"/>
          </a:bodyPr>
          <a:lstStyle/>
          <a:p>
            <a:pPr algn="just"/>
            <a:r>
              <a:rPr lang="mn-MN" sz="3600" dirty="0">
                <a:solidFill>
                  <a:srgbClr val="002060"/>
                </a:solidFill>
                <a:latin typeface="Times New Roman" panose="02020603050405020304" pitchFamily="18" charset="0"/>
                <a:cs typeface="Times New Roman" panose="02020603050405020304" pitchFamily="18" charset="0"/>
              </a:rPr>
              <a:t>Өртөг, зардал тооцох 2 хандлага байна: </a:t>
            </a:r>
          </a:p>
          <a:p>
            <a:pPr lvl="1" algn="just"/>
            <a:r>
              <a:rPr lang="mn-MN" sz="3200" dirty="0">
                <a:solidFill>
                  <a:srgbClr val="FF0000"/>
                </a:solidFill>
                <a:latin typeface="Times New Roman" panose="02020603050405020304" pitchFamily="18" charset="0"/>
                <a:cs typeface="Times New Roman" panose="02020603050405020304" pitchFamily="18" charset="0"/>
              </a:rPr>
              <a:t>“</a:t>
            </a:r>
            <a:r>
              <a:rPr lang="en-US" sz="3200" dirty="0">
                <a:solidFill>
                  <a:srgbClr val="FF0000"/>
                </a:solidFill>
                <a:latin typeface="Times New Roman" panose="02020603050405020304" pitchFamily="18" charset="0"/>
                <a:cs typeface="Times New Roman" panose="02020603050405020304" pitchFamily="18" charset="0"/>
              </a:rPr>
              <a:t>TOP-DOWN </a:t>
            </a:r>
            <a:r>
              <a:rPr lang="mn-MN" sz="3200" dirty="0">
                <a:solidFill>
                  <a:srgbClr val="FF0000"/>
                </a:solidFill>
                <a:latin typeface="Times New Roman" panose="02020603050405020304" pitchFamily="18" charset="0"/>
                <a:cs typeface="Times New Roman" panose="02020603050405020304" pitchFamily="18" charset="0"/>
              </a:rPr>
              <a:t>буюу ДЭЭРЭЭС ДООШ ЧИГЛЭСЭН" </a:t>
            </a:r>
          </a:p>
          <a:p>
            <a:pPr lvl="2" algn="just"/>
            <a:r>
              <a:rPr lang="mn-MN" sz="2800" dirty="0">
                <a:solidFill>
                  <a:srgbClr val="002060"/>
                </a:solidFill>
                <a:latin typeface="Times New Roman" panose="02020603050405020304" pitchFamily="18" charset="0"/>
                <a:cs typeface="Times New Roman" panose="02020603050405020304" pitchFamily="18" charset="0"/>
              </a:rPr>
              <a:t>Инфляц, дефляц, үйл ажиллагааны түвшин, жин, эрчим хүчний хэрэглээ, хэмжээ, бусад хүчин зүйлүүдийн өөрчлөлтийг тооцоолохын тулд өмнө хийгдэж байсан инженерийн төслүүдийн зардал, орлого болон бусад өгөгдлүүдийг тухайн хийгдэж байгаа төслийн үнэлгээнд ашигладаг аргыг  "дээрээс доош чиглэсэн" гэнэ.  Энэ арга нь хувилбаруудыг боловсруулАх эхний үед үнэлгээ хийхэд тохиромжтой. </a:t>
            </a:r>
          </a:p>
          <a:p>
            <a:pPr lvl="1" algn="just"/>
            <a:r>
              <a:rPr lang="mn-MN" sz="3200" dirty="0">
                <a:solidFill>
                  <a:srgbClr val="FF0000"/>
                </a:solidFill>
                <a:latin typeface="Times New Roman" panose="02020603050405020304" pitchFamily="18" charset="0"/>
                <a:cs typeface="Times New Roman" panose="02020603050405020304" pitchFamily="18" charset="0"/>
              </a:rPr>
              <a:t>“</a:t>
            </a:r>
            <a:r>
              <a:rPr lang="en-US" sz="3200" dirty="0">
                <a:solidFill>
                  <a:srgbClr val="FF0000"/>
                </a:solidFill>
                <a:latin typeface="Times New Roman" panose="02020603050405020304" pitchFamily="18" charset="0"/>
                <a:cs typeface="Times New Roman" panose="02020603050405020304" pitchFamily="18" charset="0"/>
              </a:rPr>
              <a:t>BOTTOM-UP </a:t>
            </a:r>
            <a:r>
              <a:rPr lang="mn-MN" sz="3200" dirty="0">
                <a:solidFill>
                  <a:srgbClr val="FF0000"/>
                </a:solidFill>
                <a:latin typeface="Times New Roman" panose="02020603050405020304" pitchFamily="18" charset="0"/>
                <a:cs typeface="Times New Roman" panose="02020603050405020304" pitchFamily="18" charset="0"/>
              </a:rPr>
              <a:t>буюу ДООРООС ДЭЭШ ЧИГЛЭСЭН”</a:t>
            </a:r>
          </a:p>
          <a:p>
            <a:pPr lvl="2" algn="just"/>
            <a:r>
              <a:rPr lang="mn-MN" sz="2800" dirty="0">
                <a:solidFill>
                  <a:srgbClr val="002060"/>
                </a:solidFill>
                <a:latin typeface="Times New Roman" panose="02020603050405020304" pitchFamily="18" charset="0"/>
                <a:cs typeface="Times New Roman" panose="02020603050405020304" pitchFamily="18" charset="0"/>
              </a:rPr>
              <a:t>Төслийг жижиг, удирдахуйц нэгж болгон хувааж, нэгж тус бүрийн эдийн засгийн үр дагаврыг тооцоолдог. Зардлын нийт үнэлгээг хийхийн тулд эдгээр жижиг нэгжүүдийн зардлыг бусад төрлийн зардлуудтай нэгтгэж тооцоолно. Энэ арга нь хүссэн гарц (бүтээгдэхүүн, эсвэл үйлчилгээ)-тай холбоотой асуудлыг нарийвчлан тодруулахад илүү тохиромжтой.</a:t>
            </a:r>
            <a:endParaRPr lang="mn-M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468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109329" y="173835"/>
            <a:ext cx="11870635" cy="577396"/>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en-US" sz="3200" b="1" dirty="0">
                <a:solidFill>
                  <a:srgbClr val="002060"/>
                </a:solidFill>
                <a:latin typeface="Times New Roman" panose="02020603050405020304" pitchFamily="18" charset="0"/>
                <a:cs typeface="Times New Roman" panose="02020603050405020304" pitchFamily="18" charset="0"/>
              </a:rPr>
            </a:br>
            <a:r>
              <a:rPr lang="mn-MN" sz="3200" b="1" dirty="0">
                <a:solidFill>
                  <a:srgbClr val="002060"/>
                </a:solidFill>
                <a:latin typeface="Times New Roman" panose="02020603050405020304" pitchFamily="18" charset="0"/>
                <a:cs typeface="Times New Roman" panose="02020603050405020304" pitchFamily="18" charset="0"/>
              </a:rPr>
              <a:t>	</a:t>
            </a:r>
            <a:r>
              <a:rPr lang="mn-MN" sz="3200" b="1" dirty="0">
                <a:solidFill>
                  <a:schemeClr val="accent2">
                    <a:lumMod val="75000"/>
                  </a:schemeClr>
                </a:solidFill>
                <a:latin typeface="Times New Roman" panose="02020603050405020304" pitchFamily="18" charset="0"/>
                <a:cs typeface="Times New Roman" panose="02020603050405020304" pitchFamily="18" charset="0"/>
              </a:rPr>
              <a:t>3.</a:t>
            </a:r>
            <a:r>
              <a:rPr lang="en-US" sz="3200" b="1" dirty="0">
                <a:solidFill>
                  <a:schemeClr val="accent2">
                    <a:lumMod val="75000"/>
                  </a:schemeClr>
                </a:solidFill>
                <a:latin typeface="Times New Roman" panose="02020603050405020304" pitchFamily="18" charset="0"/>
                <a:cs typeface="Times New Roman" panose="02020603050405020304" pitchFamily="18" charset="0"/>
              </a:rPr>
              <a:t>2</a:t>
            </a:r>
            <a:r>
              <a:rPr lang="mn-MN" sz="3200" b="1" dirty="0">
                <a:solidFill>
                  <a:schemeClr val="accent2">
                    <a:lumMod val="75000"/>
                  </a:schemeClr>
                </a:solidFill>
                <a:latin typeface="Times New Roman" panose="02020603050405020304" pitchFamily="18" charset="0"/>
                <a:cs typeface="Times New Roman" panose="02020603050405020304" pitchFamily="18" charset="0"/>
              </a:rPr>
              <a:t> Зардлын үнэлгээний нэгдсэн арга</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109329" y="862559"/>
            <a:ext cx="11870635" cy="5843038"/>
          </a:xfrm>
        </p:spPr>
        <p:txBody>
          <a:bodyPr>
            <a:normAutofit lnSpcReduction="10000"/>
          </a:bodyPr>
          <a:lstStyle/>
          <a:p>
            <a:pPr algn="just"/>
            <a:r>
              <a:rPr lang="mn-MN" sz="3600" dirty="0">
                <a:solidFill>
                  <a:srgbClr val="002060"/>
                </a:solidFill>
                <a:latin typeface="Times New Roman" panose="02020603050405020304" pitchFamily="18" charset="0"/>
                <a:cs typeface="Times New Roman" panose="02020603050405020304" pitchFamily="18" charset="0"/>
              </a:rPr>
              <a:t>Зардлын үнэлгээний нэгдсэн арга 3 үндсэн бүрэлдэхүүн хэсэгтэй: </a:t>
            </a:r>
          </a:p>
          <a:p>
            <a:pPr lvl="1" algn="just"/>
            <a:r>
              <a:rPr lang="en-US" sz="3200" b="1" dirty="0">
                <a:solidFill>
                  <a:srgbClr val="002060"/>
                </a:solidFill>
                <a:latin typeface="Times New Roman" panose="02020603050405020304" pitchFamily="18" charset="0"/>
                <a:cs typeface="Times New Roman" panose="02020603050405020304" pitchFamily="18" charset="0"/>
              </a:rPr>
              <a:t>I. </a:t>
            </a:r>
            <a:r>
              <a:rPr lang="mn-MN" sz="3200" b="1" dirty="0">
                <a:solidFill>
                  <a:srgbClr val="002060"/>
                </a:solidFill>
                <a:latin typeface="Times New Roman" panose="02020603050405020304" pitchFamily="18" charset="0"/>
                <a:cs typeface="Times New Roman" panose="02020603050405020304" pitchFamily="18" charset="0"/>
              </a:rPr>
              <a:t>Ажлын задаргааны бүтэц (</a:t>
            </a:r>
            <a:r>
              <a:rPr lang="en-US" sz="3200" b="1" dirty="0">
                <a:solidFill>
                  <a:srgbClr val="002060"/>
                </a:solidFill>
                <a:latin typeface="Times New Roman" panose="02020603050405020304" pitchFamily="18" charset="0"/>
                <a:cs typeface="Times New Roman" panose="02020603050405020304" pitchFamily="18" charset="0"/>
              </a:rPr>
              <a:t>WBS) </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Энэ нь төслийн нарийвчилсан өгөгдлийн дарааллын түвшинг тодорхойлдог. Түүнчлэн тэдгээрийн хоорондын харилцан хамаарлыг (заримдаа ажлын элементийн бүтэц гэж нэрлэдэг) тодорхойлдог.</a:t>
            </a:r>
          </a:p>
          <a:p>
            <a:pPr lvl="1" algn="just"/>
            <a:r>
              <a:rPr lang="en-US" sz="3200" b="1" dirty="0">
                <a:solidFill>
                  <a:srgbClr val="002060"/>
                </a:solidFill>
                <a:latin typeface="Times New Roman" panose="02020603050405020304" pitchFamily="18" charset="0"/>
                <a:cs typeface="Times New Roman" panose="02020603050405020304" pitchFamily="18" charset="0"/>
              </a:rPr>
              <a:t>II. </a:t>
            </a:r>
            <a:r>
              <a:rPr lang="mn-MN" sz="3200" b="1" dirty="0">
                <a:solidFill>
                  <a:srgbClr val="002060"/>
                </a:solidFill>
                <a:latin typeface="Times New Roman" panose="02020603050405020304" pitchFamily="18" charset="0"/>
                <a:cs typeface="Times New Roman" panose="02020603050405020304" pitchFamily="18" charset="0"/>
              </a:rPr>
              <a:t>Зардал ба орлогын бүтэц (ангилал) </a:t>
            </a:r>
            <a:r>
              <a:rPr lang="mn-MN" sz="3200" dirty="0">
                <a:solidFill>
                  <a:srgbClr val="002060"/>
                </a:solidFill>
                <a:latin typeface="Times New Roman" panose="02020603050405020304" pitchFamily="18" charset="0"/>
                <a:cs typeface="Times New Roman" panose="02020603050405020304" pitchFamily="18" charset="0"/>
              </a:rPr>
              <a:t>– </a:t>
            </a:r>
            <a:r>
              <a:rPr lang="en-US" sz="3200" dirty="0">
                <a:solidFill>
                  <a:srgbClr val="002060"/>
                </a:solidFill>
                <a:latin typeface="Times New Roman" panose="02020603050405020304" pitchFamily="18" charset="0"/>
                <a:cs typeface="Times New Roman" panose="02020603050405020304" pitchFamily="18" charset="0"/>
              </a:rPr>
              <a:t>WBS-</a:t>
            </a:r>
            <a:r>
              <a:rPr lang="mn-MN" sz="3200" dirty="0">
                <a:solidFill>
                  <a:srgbClr val="002060"/>
                </a:solidFill>
                <a:latin typeface="Times New Roman" panose="02020603050405020304" pitchFamily="18" charset="0"/>
                <a:cs typeface="Times New Roman" panose="02020603050405020304" pitchFamily="18" charset="0"/>
              </a:rPr>
              <a:t>ийн түвшин бүрт мөнгөн гүйлгээг тооцоолохын тулд зардал ба орлогын ангилал болон элементүүдийг тодорхойлдог.</a:t>
            </a:r>
          </a:p>
          <a:p>
            <a:pPr lvl="1" algn="just"/>
            <a:r>
              <a:rPr lang="en-US" sz="3200" b="1" dirty="0">
                <a:solidFill>
                  <a:srgbClr val="002060"/>
                </a:solidFill>
                <a:latin typeface="Times New Roman" panose="02020603050405020304" pitchFamily="18" charset="0"/>
                <a:cs typeface="Times New Roman" panose="02020603050405020304" pitchFamily="18" charset="0"/>
              </a:rPr>
              <a:t>III. </a:t>
            </a:r>
            <a:r>
              <a:rPr lang="mn-MN" sz="3200" b="1" dirty="0">
                <a:solidFill>
                  <a:srgbClr val="002060"/>
                </a:solidFill>
                <a:latin typeface="Times New Roman" panose="02020603050405020304" pitchFamily="18" charset="0"/>
                <a:cs typeface="Times New Roman" panose="02020603050405020304" pitchFamily="18" charset="0"/>
              </a:rPr>
              <a:t>Үнэлгээний аргууд (загварууд) </a:t>
            </a:r>
            <a:r>
              <a:rPr lang="mn-MN" sz="3200" dirty="0">
                <a:solidFill>
                  <a:srgbClr val="002060"/>
                </a:solidFill>
                <a:latin typeface="Times New Roman" panose="02020603050405020304" pitchFamily="18" charset="0"/>
                <a:cs typeface="Times New Roman" panose="02020603050405020304" pitchFamily="18" charset="0"/>
              </a:rPr>
              <a:t>– Шинжилгээний хугацаанд сонгосон математик загварыг ирээдүйн зардал ба орлогыг тооцоолоход ашигладаг.</a:t>
            </a:r>
            <a:endParaRPr lang="mn-M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3185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0" y="56245"/>
            <a:ext cx="11570147" cy="526852"/>
          </a:xfrm>
        </p:spPr>
        <p:txBody>
          <a:bodyPr>
            <a:noAutofit/>
          </a:bodyPr>
          <a:lstStyle/>
          <a:p>
            <a:r>
              <a:rPr lang="mn-MN" sz="20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2000" b="1" dirty="0">
                <a:solidFill>
                  <a:srgbClr val="002060"/>
                </a:solidFill>
                <a:latin typeface="Times New Roman" panose="02020603050405020304" pitchFamily="18" charset="0"/>
                <a:cs typeface="Times New Roman" panose="02020603050405020304" pitchFamily="18" charset="0"/>
              </a:rPr>
            </a:br>
            <a:r>
              <a:rPr lang="mn-MN" sz="2000" b="1" dirty="0">
                <a:solidFill>
                  <a:srgbClr val="002060"/>
                </a:solidFill>
                <a:latin typeface="Times New Roman" panose="02020603050405020304" pitchFamily="18" charset="0"/>
                <a:cs typeface="Times New Roman" panose="02020603050405020304" pitchFamily="18" charset="0"/>
              </a:rPr>
              <a:t>	</a:t>
            </a:r>
            <a:r>
              <a:rPr lang="mn-MN" sz="2000" b="1" dirty="0">
                <a:solidFill>
                  <a:schemeClr val="accent2">
                    <a:lumMod val="75000"/>
                  </a:schemeClr>
                </a:solidFill>
                <a:latin typeface="Times New Roman" panose="02020603050405020304" pitchFamily="18" charset="0"/>
                <a:cs typeface="Times New Roman" panose="02020603050405020304" pitchFamily="18" charset="0"/>
              </a:rPr>
              <a:t>3.</a:t>
            </a:r>
            <a:r>
              <a:rPr lang="en-US" sz="2000" b="1" dirty="0">
                <a:solidFill>
                  <a:schemeClr val="accent2">
                    <a:lumMod val="75000"/>
                  </a:schemeClr>
                </a:solidFill>
                <a:latin typeface="Times New Roman" panose="02020603050405020304" pitchFamily="18" charset="0"/>
                <a:cs typeface="Times New Roman" panose="02020603050405020304" pitchFamily="18" charset="0"/>
              </a:rPr>
              <a:t>2</a:t>
            </a:r>
            <a:r>
              <a:rPr lang="mn-MN" sz="2000" b="1" dirty="0">
                <a:solidFill>
                  <a:schemeClr val="accent2">
                    <a:lumMod val="75000"/>
                  </a:schemeClr>
                </a:solidFill>
                <a:latin typeface="Times New Roman" panose="02020603050405020304" pitchFamily="18" charset="0"/>
                <a:cs typeface="Times New Roman" panose="02020603050405020304" pitchFamily="18" charset="0"/>
              </a:rPr>
              <a:t> Зардлын үнэлгээний нэгдсэн аргын бүтэц</a:t>
            </a:r>
            <a:endParaRPr lang="en-US" sz="20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1E5EB71-6A48-6F0C-53E6-C34C1ECA247A}"/>
              </a:ext>
            </a:extLst>
          </p:cNvPr>
          <p:cNvSpPr>
            <a:spLocks noGrp="1"/>
          </p:cNvSpPr>
          <p:nvPr>
            <p:ph idx="1"/>
          </p:nvPr>
        </p:nvSpPr>
        <p:spPr/>
        <p:txBody>
          <a:bodyPr/>
          <a:lstStyle/>
          <a:p>
            <a:endParaRPr lang="en-US">
              <a:latin typeface="Times New Roman" panose="02020603050405020304" pitchFamily="18" charset="0"/>
              <a:cs typeface="Times New Roman" panose="02020603050405020304" pitchFamily="18" charset="0"/>
            </a:endParaRPr>
          </a:p>
        </p:txBody>
      </p:sp>
      <p:pic>
        <p:nvPicPr>
          <p:cNvPr id="7" name="Content Placeholder 4">
            <a:extLst>
              <a:ext uri="{FF2B5EF4-FFF2-40B4-BE49-F238E27FC236}">
                <a16:creationId xmlns:a16="http://schemas.microsoft.com/office/drawing/2014/main" id="{C8F6F39A-E858-28E4-9A4A-3435BF4A18B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rot="5400000">
            <a:off x="2980392" y="-2278026"/>
            <a:ext cx="6088624" cy="11810869"/>
          </a:xfrm>
          <a:prstGeom prst="rect">
            <a:avLst/>
          </a:prstGeom>
        </p:spPr>
      </p:pic>
    </p:spTree>
    <p:extLst>
      <p:ext uri="{BB962C8B-B14F-4D97-AF65-F5344CB8AC3E}">
        <p14:creationId xmlns:p14="http://schemas.microsoft.com/office/powerpoint/2010/main" val="3672842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119269" y="139837"/>
            <a:ext cx="11860696" cy="668545"/>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2800" b="1" dirty="0">
                <a:solidFill>
                  <a:srgbClr val="002060"/>
                </a:solidFill>
                <a:latin typeface="Times New Roman" panose="02020603050405020304" pitchFamily="18" charset="0"/>
                <a:cs typeface="Times New Roman" panose="02020603050405020304" pitchFamily="18" charset="0"/>
              </a:rPr>
            </a:br>
            <a:r>
              <a:rPr lang="mn-MN" sz="2800" b="1" dirty="0">
                <a:solidFill>
                  <a:srgbClr val="002060"/>
                </a:solidFill>
                <a:latin typeface="Times New Roman" panose="02020603050405020304" pitchFamily="18" charset="0"/>
                <a:cs typeface="Times New Roman" panose="02020603050405020304" pitchFamily="18" charset="0"/>
              </a:rPr>
              <a:t>	</a:t>
            </a:r>
            <a:r>
              <a:rPr lang="en-US" sz="2800" b="1" dirty="0">
                <a:solidFill>
                  <a:schemeClr val="accent2">
                    <a:lumMod val="75000"/>
                  </a:schemeClr>
                </a:solidFill>
                <a:latin typeface="Times New Roman" panose="02020603050405020304" pitchFamily="18" charset="0"/>
                <a:cs typeface="Times New Roman" panose="02020603050405020304" pitchFamily="18" charset="0"/>
              </a:rPr>
              <a:t>I. </a:t>
            </a:r>
            <a:r>
              <a:rPr lang="en-US" sz="1800" b="1" dirty="0">
                <a:solidFill>
                  <a:schemeClr val="accent2">
                    <a:lumMod val="75000"/>
                  </a:schemeClr>
                </a:solidFill>
                <a:latin typeface="Times New Roman" panose="02020603050405020304" pitchFamily="18" charset="0"/>
                <a:cs typeface="Times New Roman" panose="02020603050405020304" pitchFamily="18" charset="0"/>
              </a:rPr>
              <a:t>Work Breakdown Structure (WBS)-</a:t>
            </a:r>
            <a:r>
              <a:rPr lang="mn-MN" sz="1800" b="1" dirty="0">
                <a:solidFill>
                  <a:schemeClr val="accent2">
                    <a:lumMod val="75000"/>
                  </a:schemeClr>
                </a:solidFill>
                <a:latin typeface="Times New Roman" panose="02020603050405020304" pitchFamily="18" charset="0"/>
                <a:cs typeface="Times New Roman" panose="02020603050405020304" pitchFamily="18" charset="0"/>
              </a:rPr>
              <a:t>Ажлын задаргааны бүтэц </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119269" y="808382"/>
            <a:ext cx="11860696" cy="5909781"/>
          </a:xfrm>
        </p:spPr>
        <p:txBody>
          <a:bodyPr>
            <a:normAutofit fontScale="92500" lnSpcReduction="20000"/>
          </a:bodyPr>
          <a:lstStyle/>
          <a:p>
            <a:pPr algn="just"/>
            <a:r>
              <a:rPr lang="en-US" sz="3200" dirty="0">
                <a:solidFill>
                  <a:srgbClr val="002060"/>
                </a:solidFill>
                <a:latin typeface="Times New Roman" panose="02020603050405020304" pitchFamily="18" charset="0"/>
                <a:cs typeface="Times New Roman" panose="02020603050405020304" pitchFamily="18" charset="0"/>
              </a:rPr>
              <a:t>WBS-</a:t>
            </a:r>
            <a:r>
              <a:rPr lang="mn-MN" sz="3200" dirty="0">
                <a:solidFill>
                  <a:srgbClr val="002060"/>
                </a:solidFill>
                <a:latin typeface="Times New Roman" panose="02020603050405020304" pitchFamily="18" charset="0"/>
                <a:cs typeface="Times New Roman" panose="02020603050405020304" pitchFamily="18" charset="0"/>
              </a:rPr>
              <a:t>ийг төсөл болон хувилбар бүрийн онцлог шинж чанарыг загвар, хөдөлмөр, материалын шаардлага гэх мэт өнцгөөс тодорхойлоход хэрэглэдэг. Улмаар тухайн хувилбарын хувьд загвар, нөөцийн шаардлага, бусад шинж чанаруудын эдгээр өөрчлөлтүүд ирээдүйд тооцоолсон зардал, орлогын (цэвэр мөнгөн урсгал) тооцоололд тусгагддаг.</a:t>
            </a:r>
          </a:p>
          <a:p>
            <a:pPr algn="just"/>
            <a:r>
              <a:rPr lang="en-US" sz="3200" dirty="0">
                <a:solidFill>
                  <a:srgbClr val="002060"/>
                </a:solidFill>
                <a:latin typeface="Times New Roman" panose="02020603050405020304" pitchFamily="18" charset="0"/>
                <a:cs typeface="Times New Roman" panose="02020603050405020304" pitchFamily="18" charset="0"/>
              </a:rPr>
              <a:t>WBS </a:t>
            </a:r>
            <a:r>
              <a:rPr lang="mn-MN" sz="3200" dirty="0">
                <a:solidFill>
                  <a:srgbClr val="002060"/>
                </a:solidFill>
                <a:latin typeface="Times New Roman" panose="02020603050405020304" pitchFamily="18" charset="0"/>
                <a:cs typeface="Times New Roman" panose="02020603050405020304" pitchFamily="18" charset="0"/>
              </a:rPr>
              <a:t>нь төслийн бүх үйл ажиллагааны элементүүдийг болон тэдгээрийн харилцан уялдаа холбоог тодорхойлох, мэдээлэл цуглуулж, зохион байгуулах, холбогдох зардал, орлогын өгөгдлийг боловсруулах, төслийн менежментийн үйл ажиллагааг нэгтгэх зэрэг хүрээг хамардаг.</a:t>
            </a:r>
          </a:p>
          <a:p>
            <a:pPr algn="just"/>
            <a:r>
              <a:rPr lang="mn-MN" sz="3200" dirty="0">
                <a:solidFill>
                  <a:srgbClr val="002060"/>
                </a:solidFill>
                <a:latin typeface="Times New Roman" panose="02020603050405020304" pitchFamily="18" charset="0"/>
                <a:cs typeface="Times New Roman" panose="02020603050405020304" pitchFamily="18" charset="0"/>
              </a:rPr>
              <a:t>Хувилбаруудын ирээдүйн зардал болон орлогыг тооцоолохын тулд мөнгөн урсгалын хэтийн төлөв (үзэл баримтлал)-ийг тогтоож, тооцоо хийх суурь болон дүн шинжилгээний хугацааг тодорхойлно. Ер нь мөнгөн урсгалыг хөрөнгө эзэмшигчдийн үзэл бодлын байр сууринаас боловсруулдаг. </a:t>
            </a:r>
          </a:p>
        </p:txBody>
      </p:sp>
    </p:spTree>
    <p:extLst>
      <p:ext uri="{BB962C8B-B14F-4D97-AF65-F5344CB8AC3E}">
        <p14:creationId xmlns:p14="http://schemas.microsoft.com/office/powerpoint/2010/main" val="1159543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109330" y="116992"/>
            <a:ext cx="6470764" cy="636043"/>
          </a:xfrm>
        </p:spPr>
        <p:txBody>
          <a:bodyPr>
            <a:noAutofit/>
          </a:bodyPr>
          <a:lstStyle/>
          <a:p>
            <a:r>
              <a:rPr lang="mn-MN" sz="24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2400" b="1" dirty="0">
                <a:solidFill>
                  <a:srgbClr val="002060"/>
                </a:solidFill>
                <a:latin typeface="Times New Roman" panose="02020603050405020304" pitchFamily="18" charset="0"/>
                <a:cs typeface="Times New Roman" panose="02020603050405020304" pitchFamily="18" charset="0"/>
              </a:rPr>
            </a:br>
            <a:r>
              <a:rPr lang="en-US" sz="2400" b="1" dirty="0">
                <a:solidFill>
                  <a:schemeClr val="accent2">
                    <a:lumMod val="75000"/>
                  </a:schemeClr>
                </a:solidFill>
                <a:latin typeface="Times New Roman" panose="02020603050405020304" pitchFamily="18" charset="0"/>
                <a:cs typeface="Times New Roman" panose="02020603050405020304" pitchFamily="18" charset="0"/>
              </a:rPr>
              <a:t>I. </a:t>
            </a:r>
            <a:r>
              <a:rPr lang="mn-MN" sz="1800" b="1" dirty="0">
                <a:solidFill>
                  <a:schemeClr val="accent2">
                    <a:lumMod val="75000"/>
                  </a:schemeClr>
                </a:solidFill>
                <a:latin typeface="Times New Roman" panose="02020603050405020304" pitchFamily="18" charset="0"/>
                <a:cs typeface="Times New Roman" panose="02020603050405020304" pitchFamily="18" charset="0"/>
              </a:rPr>
              <a:t>Ажлын задаргааны бүтэц </a:t>
            </a:r>
            <a:r>
              <a:rPr lang="en-US" sz="1800" b="1" dirty="0">
                <a:solidFill>
                  <a:schemeClr val="accent2">
                    <a:lumMod val="75000"/>
                  </a:schemeClr>
                </a:solidFill>
                <a:latin typeface="Times New Roman" panose="02020603050405020304" pitchFamily="18" charset="0"/>
                <a:cs typeface="Times New Roman" panose="02020603050405020304" pitchFamily="18" charset="0"/>
              </a:rPr>
              <a:t>(WBS)-</a:t>
            </a:r>
            <a:r>
              <a:rPr lang="mn-MN" sz="1800" b="1" dirty="0">
                <a:solidFill>
                  <a:schemeClr val="accent2">
                    <a:lumMod val="75000"/>
                  </a:schemeClr>
                </a:solidFill>
                <a:latin typeface="Times New Roman" panose="02020603050405020304" pitchFamily="18" charset="0"/>
                <a:cs typeface="Times New Roman" panose="02020603050405020304" pitchFamily="18" charset="0"/>
              </a:rPr>
              <a:t>ийн шинж чанарууд</a:t>
            </a:r>
            <a:endParaRPr lang="en-US" sz="1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6095999" y="116992"/>
            <a:ext cx="5986670" cy="6624015"/>
          </a:xfrm>
        </p:spPr>
        <p:txBody>
          <a:bodyPr>
            <a:normAutofit lnSpcReduction="10000"/>
          </a:bodyPr>
          <a:lstStyle/>
          <a:p>
            <a:pPr algn="just"/>
            <a:r>
              <a:rPr lang="mn-MN" sz="2400" dirty="0">
                <a:solidFill>
                  <a:srgbClr val="002060"/>
                </a:solidFill>
                <a:latin typeface="Times New Roman" panose="02020603050405020304" pitchFamily="18" charset="0"/>
                <a:cs typeface="Times New Roman" panose="02020603050405020304" pitchFamily="18" charset="0"/>
              </a:rPr>
              <a:t>1. </a:t>
            </a:r>
            <a:r>
              <a:rPr lang="mn-MN" sz="2400" b="1" dirty="0">
                <a:solidFill>
                  <a:srgbClr val="002060"/>
                </a:solidFill>
                <a:latin typeface="Times New Roman" panose="02020603050405020304" pitchFamily="18" charset="0"/>
                <a:cs typeface="Times New Roman" panose="02020603050405020304" pitchFamily="18" charset="0"/>
              </a:rPr>
              <a:t>Ердийн үйл ажиллагааны </a:t>
            </a:r>
            <a:r>
              <a:rPr lang="mn-MN" sz="2400" dirty="0">
                <a:solidFill>
                  <a:srgbClr val="002060"/>
                </a:solidFill>
                <a:latin typeface="Times New Roman" panose="02020603050405020304" pitchFamily="18" charset="0"/>
                <a:cs typeface="Times New Roman" panose="02020603050405020304" pitchFamily="18" charset="0"/>
              </a:rPr>
              <a:t>(ж.нь, төлөвлөлт) болон </a:t>
            </a:r>
            <a:r>
              <a:rPr lang="mn-MN" sz="2400" b="1" dirty="0">
                <a:solidFill>
                  <a:srgbClr val="002060"/>
                </a:solidFill>
                <a:latin typeface="Times New Roman" panose="02020603050405020304" pitchFamily="18" charset="0"/>
                <a:cs typeface="Times New Roman" panose="02020603050405020304" pitchFamily="18" charset="0"/>
              </a:rPr>
              <a:t>биет</a:t>
            </a:r>
            <a:r>
              <a:rPr lang="mn-MN" sz="2400" dirty="0">
                <a:solidFill>
                  <a:srgbClr val="002060"/>
                </a:solidFill>
                <a:latin typeface="Times New Roman" panose="02020603050405020304" pitchFamily="18" charset="0"/>
                <a:cs typeface="Times New Roman" panose="02020603050405020304" pitchFamily="18" charset="0"/>
              </a:rPr>
              <a:t> (ж.нь, фонд) ажлын элементүүд агуулагдсан байна:</a:t>
            </a:r>
          </a:p>
          <a:p>
            <a:pPr lvl="1" algn="just"/>
            <a:r>
              <a:rPr lang="mn-MN" b="1" dirty="0">
                <a:solidFill>
                  <a:srgbClr val="002060"/>
                </a:solidFill>
                <a:latin typeface="Times New Roman" panose="02020603050405020304" pitchFamily="18" charset="0"/>
                <a:cs typeface="Times New Roman" panose="02020603050405020304" pitchFamily="18" charset="0"/>
              </a:rPr>
              <a:t>Ердийн ажлын элементүүд </a:t>
            </a:r>
            <a:r>
              <a:rPr lang="mn-MN" dirty="0">
                <a:solidFill>
                  <a:srgbClr val="002060"/>
                </a:solidFill>
                <a:latin typeface="Times New Roman" panose="02020603050405020304" pitchFamily="18" charset="0"/>
                <a:cs typeface="Times New Roman" panose="02020603050405020304" pitchFamily="18" charset="0"/>
              </a:rPr>
              <a:t>нь техникийн дэмжлэг, төслийн менежмент, маркетинг, инженерчлэл, системийг нэгтгэх үйл ажиллагаа юм.</a:t>
            </a:r>
          </a:p>
          <a:p>
            <a:pPr lvl="1" algn="just"/>
            <a:r>
              <a:rPr lang="mn-MN" b="1" dirty="0">
                <a:solidFill>
                  <a:srgbClr val="002060"/>
                </a:solidFill>
                <a:latin typeface="Times New Roman" panose="02020603050405020304" pitchFamily="18" charset="0"/>
                <a:cs typeface="Times New Roman" panose="02020603050405020304" pitchFamily="18" charset="0"/>
              </a:rPr>
              <a:t>Бодит ажлын элементүүд </a:t>
            </a:r>
            <a:r>
              <a:rPr lang="mn-MN" dirty="0">
                <a:solidFill>
                  <a:srgbClr val="002060"/>
                </a:solidFill>
                <a:latin typeface="Times New Roman" panose="02020603050405020304" pitchFamily="18" charset="0"/>
                <a:cs typeface="Times New Roman" panose="02020603050405020304" pitchFamily="18" charset="0"/>
              </a:rPr>
              <a:t>нь бүтэц, бүтээгдэхүүн, тоног төхөөрөмж, түүнтэй төстэй зүйлсийг бүрдүүлэх хэсгүүд юм. Эдгээр нь үйлдвэрлэх, барихад хөдөлмөр, материал, бусад нөөцийг шаарддаг.</a:t>
            </a:r>
          </a:p>
          <a:p>
            <a:pPr algn="just"/>
            <a:r>
              <a:rPr lang="mn-MN" sz="2400" dirty="0">
                <a:solidFill>
                  <a:srgbClr val="002060"/>
                </a:solidFill>
                <a:latin typeface="Times New Roman" panose="02020603050405020304" pitchFamily="18" charset="0"/>
                <a:cs typeface="Times New Roman" panose="02020603050405020304" pitchFamily="18" charset="0"/>
              </a:rPr>
              <a:t>2. Ажлын элементийн </a:t>
            </a:r>
            <a:r>
              <a:rPr lang="mn-MN" sz="2400" b="1" dirty="0">
                <a:solidFill>
                  <a:srgbClr val="002060"/>
                </a:solidFill>
                <a:latin typeface="Times New Roman" panose="02020603050405020304" pitchFamily="18" charset="0"/>
                <a:cs typeface="Times New Roman" panose="02020603050405020304" pitchFamily="18" charset="0"/>
              </a:rPr>
              <a:t>агуулгын</a:t>
            </a:r>
            <a:r>
              <a:rPr lang="mn-MN" sz="2400" dirty="0">
                <a:solidFill>
                  <a:srgbClr val="002060"/>
                </a:solidFill>
                <a:latin typeface="Times New Roman" panose="02020603050405020304" pitchFamily="18" charset="0"/>
                <a:cs typeface="Times New Roman" panose="02020603050405020304" pitchFamily="18" charset="0"/>
              </a:rPr>
              <a:t> болон </a:t>
            </a:r>
            <a:r>
              <a:rPr lang="mn-MN" sz="2400" b="1" dirty="0">
                <a:solidFill>
                  <a:srgbClr val="002060"/>
                </a:solidFill>
                <a:latin typeface="Times New Roman" panose="02020603050405020304" pitchFamily="18" charset="0"/>
                <a:cs typeface="Times New Roman" panose="02020603050405020304" pitchFamily="18" charset="0"/>
              </a:rPr>
              <a:t>нөөцийн</a:t>
            </a:r>
            <a:r>
              <a:rPr lang="mn-MN" sz="2400" dirty="0">
                <a:solidFill>
                  <a:srgbClr val="002060"/>
                </a:solidFill>
                <a:latin typeface="Times New Roman" panose="02020603050405020304" pitchFamily="18" charset="0"/>
                <a:cs typeface="Times New Roman" panose="02020603050405020304" pitchFamily="18" charset="0"/>
              </a:rPr>
              <a:t> шаардлага гэдэг нь үйл ажиллагаа болон нөөцүүдийн нийлбэр юм.</a:t>
            </a:r>
          </a:p>
          <a:p>
            <a:pPr algn="just"/>
            <a:r>
              <a:rPr lang="mn-MN" sz="2400" dirty="0">
                <a:solidFill>
                  <a:srgbClr val="002060"/>
                </a:solidFill>
                <a:latin typeface="Times New Roman" panose="02020603050405020304" pitchFamily="18" charset="0"/>
                <a:cs typeface="Times New Roman" panose="02020603050405020304" pitchFamily="18" charset="0"/>
              </a:rPr>
              <a:t>3. Төслийн </a:t>
            </a:r>
            <a:r>
              <a:rPr lang="en-US" sz="2400" dirty="0">
                <a:solidFill>
                  <a:srgbClr val="002060"/>
                </a:solidFill>
                <a:latin typeface="Times New Roman" panose="02020603050405020304" pitchFamily="18" charset="0"/>
                <a:cs typeface="Times New Roman" panose="02020603050405020304" pitchFamily="18" charset="0"/>
              </a:rPr>
              <a:t>WBS-</a:t>
            </a:r>
            <a:r>
              <a:rPr lang="mn-MN" sz="2400" dirty="0">
                <a:solidFill>
                  <a:srgbClr val="002060"/>
                </a:solidFill>
                <a:latin typeface="Times New Roman" panose="02020603050405020304" pitchFamily="18" charset="0"/>
                <a:cs typeface="Times New Roman" panose="02020603050405020304" pitchFamily="18" charset="0"/>
              </a:rPr>
              <a:t>д ихэвчлэн </a:t>
            </a:r>
            <a:r>
              <a:rPr lang="mn-MN" sz="2400" b="1" dirty="0">
                <a:solidFill>
                  <a:srgbClr val="002060"/>
                </a:solidFill>
                <a:latin typeface="Times New Roman" panose="02020603050405020304" pitchFamily="18" charset="0"/>
                <a:cs typeface="Times New Roman" panose="02020603050405020304" pitchFamily="18" charset="0"/>
              </a:rPr>
              <a:t>дахин давтагдах </a:t>
            </a:r>
            <a:r>
              <a:rPr lang="mn-MN" sz="2400" dirty="0">
                <a:solidFill>
                  <a:srgbClr val="002060"/>
                </a:solidFill>
                <a:latin typeface="Times New Roman" panose="02020603050405020304" pitchFamily="18" charset="0"/>
                <a:cs typeface="Times New Roman" panose="02020603050405020304" pitchFamily="18" charset="0"/>
              </a:rPr>
              <a:t>(жишээ нь, засвар үйлчилгээ), </a:t>
            </a:r>
            <a:r>
              <a:rPr lang="mn-MN" sz="2400" b="1" dirty="0">
                <a:solidFill>
                  <a:srgbClr val="002060"/>
                </a:solidFill>
                <a:latin typeface="Times New Roman" panose="02020603050405020304" pitchFamily="18" charset="0"/>
                <a:cs typeface="Times New Roman" panose="02020603050405020304" pitchFamily="18" charset="0"/>
              </a:rPr>
              <a:t>дахин ашиглах </a:t>
            </a:r>
            <a:r>
              <a:rPr lang="mn-MN" sz="2400" dirty="0">
                <a:solidFill>
                  <a:srgbClr val="002060"/>
                </a:solidFill>
                <a:latin typeface="Times New Roman" panose="02020603050405020304" pitchFamily="18" charset="0"/>
                <a:cs typeface="Times New Roman" panose="02020603050405020304" pitchFamily="18" charset="0"/>
              </a:rPr>
              <a:t>(жишээ нь, анхлан байгуулах) ажлын элементүүд ордог.</a:t>
            </a:r>
          </a:p>
        </p:txBody>
      </p:sp>
      <p:pic>
        <p:nvPicPr>
          <p:cNvPr id="4" name="Content Placeholder 4">
            <a:extLst>
              <a:ext uri="{FF2B5EF4-FFF2-40B4-BE49-F238E27FC236}">
                <a16:creationId xmlns:a16="http://schemas.microsoft.com/office/drawing/2014/main" id="{46B4A7BB-3B69-183F-6E1A-832CFE885C69}"/>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09330" y="950259"/>
            <a:ext cx="5986670" cy="5790748"/>
          </a:xfrm>
          <a:prstGeom prst="rect">
            <a:avLst/>
          </a:prstGeom>
        </p:spPr>
      </p:pic>
    </p:spTree>
    <p:extLst>
      <p:ext uri="{BB962C8B-B14F-4D97-AF65-F5344CB8AC3E}">
        <p14:creationId xmlns:p14="http://schemas.microsoft.com/office/powerpoint/2010/main" val="1875837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145188" y="196440"/>
            <a:ext cx="10515600" cy="503583"/>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3200" b="1" dirty="0">
                <a:solidFill>
                  <a:srgbClr val="002060"/>
                </a:solidFill>
                <a:latin typeface="Times New Roman" panose="02020603050405020304" pitchFamily="18" charset="0"/>
                <a:cs typeface="Times New Roman" panose="02020603050405020304" pitchFamily="18" charset="0"/>
              </a:rPr>
            </a:br>
            <a:r>
              <a:rPr lang="mn-MN" sz="3200" b="1" dirty="0">
                <a:solidFill>
                  <a:srgbClr val="002060"/>
                </a:solidFill>
                <a:latin typeface="Times New Roman" panose="02020603050405020304" pitchFamily="18" charset="0"/>
                <a:cs typeface="Times New Roman" panose="02020603050405020304" pitchFamily="18" charset="0"/>
              </a:rPr>
              <a:t>	</a:t>
            </a:r>
            <a:r>
              <a:rPr lang="en-US" sz="3200" b="1" dirty="0">
                <a:solidFill>
                  <a:schemeClr val="accent2">
                    <a:lumMod val="75000"/>
                  </a:schemeClr>
                </a:solidFill>
                <a:latin typeface="Times New Roman" panose="02020603050405020304" pitchFamily="18" charset="0"/>
                <a:cs typeface="Times New Roman" panose="02020603050405020304" pitchFamily="18" charset="0"/>
              </a:rPr>
              <a:t>II. </a:t>
            </a:r>
            <a:r>
              <a:rPr lang="mn-MN" sz="3200" b="1" dirty="0">
                <a:solidFill>
                  <a:schemeClr val="accent2">
                    <a:lumMod val="75000"/>
                  </a:schemeClr>
                </a:solidFill>
                <a:latin typeface="Times New Roman" panose="02020603050405020304" pitchFamily="18" charset="0"/>
                <a:cs typeface="Times New Roman" panose="02020603050405020304" pitchFamily="18" charset="0"/>
              </a:rPr>
              <a:t>Зардал ба орлогын бүтэц </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127259" y="950258"/>
            <a:ext cx="11759941" cy="5785115"/>
          </a:xfrm>
        </p:spPr>
        <p:txBody>
          <a:bodyPr>
            <a:normAutofit/>
          </a:bodyPr>
          <a:lstStyle/>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Мөнгөн урсгалыг хөгжүүлэх нэгдсэн аргын хоёр дахь бүрэлдэхүүн хэсэг юм.</a:t>
            </a:r>
          </a:p>
          <a:p>
            <a:pPr algn="just">
              <a:spcBef>
                <a:spcPts val="200"/>
              </a:spcBef>
            </a:pPr>
            <a:r>
              <a:rPr lang="mn-MN" sz="3200" dirty="0">
                <a:solidFill>
                  <a:srgbClr val="002060"/>
                </a:solidFill>
                <a:latin typeface="Times New Roman" panose="02020603050405020304" pitchFamily="18" charset="0"/>
                <a:cs typeface="Times New Roman" panose="02020603050405020304" pitchFamily="18" charset="0"/>
              </a:rPr>
              <a:t>ИЭЗС-нд өргөн хэрэглэгддэг зардал, орлогын ангиллын товч жагсаалтыг дор үзүүлэв. Үүнд: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Хөрөнгө оруулалт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Хөдөлмөрийн хөлс,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Материалын зардал,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Засвар үйлчилгээний зардал,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Эд хөрөнгийн татвар ба даатгал</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нэмэлт зардал, </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Борлуулалтын зардал, орлого</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Чанар (ба хаягдал)-ын зардал</a:t>
            </a:r>
          </a:p>
          <a:p>
            <a:pPr lvl="1" algn="just">
              <a:spcBef>
                <a:spcPts val="200"/>
              </a:spcBef>
            </a:pPr>
            <a:r>
              <a:rPr lang="mn-MN" sz="2800" dirty="0">
                <a:solidFill>
                  <a:srgbClr val="002060"/>
                </a:solidFill>
                <a:latin typeface="Times New Roman" panose="02020603050405020304" pitchFamily="18" charset="0"/>
                <a:cs typeface="Times New Roman" panose="02020603050405020304" pitchFamily="18" charset="0"/>
              </a:rPr>
              <a:t>Зах зээлийн үнэ цэнэ</a:t>
            </a:r>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74450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127260" y="111472"/>
            <a:ext cx="11883886" cy="675861"/>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3200" b="1" dirty="0">
                <a:solidFill>
                  <a:srgbClr val="002060"/>
                </a:solidFill>
                <a:latin typeface="Times New Roman" panose="02020603050405020304" pitchFamily="18" charset="0"/>
                <a:cs typeface="Times New Roman" panose="02020603050405020304" pitchFamily="18" charset="0"/>
              </a:rPr>
            </a:br>
            <a:r>
              <a:rPr lang="mn-MN" sz="3200" b="1" dirty="0">
                <a:solidFill>
                  <a:srgbClr val="002060"/>
                </a:solidFill>
                <a:latin typeface="Times New Roman" panose="02020603050405020304" pitchFamily="18" charset="0"/>
                <a:cs typeface="Times New Roman" panose="02020603050405020304" pitchFamily="18" charset="0"/>
              </a:rPr>
              <a:t>	</a:t>
            </a:r>
            <a:r>
              <a:rPr lang="en-US" sz="3200" b="1" dirty="0">
                <a:solidFill>
                  <a:schemeClr val="accent2">
                    <a:lumMod val="75000"/>
                  </a:schemeClr>
                </a:solidFill>
                <a:latin typeface="Times New Roman" panose="02020603050405020304" pitchFamily="18" charset="0"/>
                <a:cs typeface="Times New Roman" panose="02020603050405020304" pitchFamily="18" charset="0"/>
              </a:rPr>
              <a:t>III. </a:t>
            </a:r>
            <a:r>
              <a:rPr lang="mn-MN" sz="3200" b="1" dirty="0">
                <a:solidFill>
                  <a:schemeClr val="accent2">
                    <a:lumMod val="75000"/>
                  </a:schemeClr>
                </a:solidFill>
                <a:latin typeface="Times New Roman" panose="02020603050405020304" pitchFamily="18" charset="0"/>
                <a:cs typeface="Times New Roman" panose="02020603050405020304" pitchFamily="18" charset="0"/>
              </a:rPr>
              <a:t>Үнэлгээний аргууд </a:t>
            </a:r>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загварууд</a:t>
            </a:r>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 </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109331" y="912836"/>
            <a:ext cx="11883886" cy="5564987"/>
          </a:xfrm>
        </p:spPr>
        <p:txBody>
          <a:bodyPr>
            <a:normAutofit lnSpcReduction="10000"/>
          </a:bodyPr>
          <a:lstStyle/>
          <a:p>
            <a:pPr algn="just">
              <a:spcBef>
                <a:spcPts val="200"/>
              </a:spcBef>
            </a:pPr>
            <a:r>
              <a:rPr lang="mn-MN" sz="4000" dirty="0">
                <a:solidFill>
                  <a:srgbClr val="002060"/>
                </a:solidFill>
                <a:latin typeface="Times New Roman" panose="02020603050405020304" pitchFamily="18" charset="0"/>
                <a:cs typeface="Times New Roman" panose="02020603050405020304" pitchFamily="18" charset="0"/>
              </a:rPr>
              <a:t>Нэгдсэн аргын гурав дахь үндсэн бүрэлдэхүүн хэсэг юм. Эдгээр арга техникүүдийг өртөг, орлогын нарийвчилсан өгөгдөл, мөнгөн урсгал ын тооцоолол, хувилбар бүрийн цэвэр мөнгөн </a:t>
            </a:r>
            <a:r>
              <a:rPr lang="en-US" sz="4000" dirty="0" err="1">
                <a:solidFill>
                  <a:srgbClr val="002060"/>
                </a:solidFill>
                <a:latin typeface="Times New Roman" panose="02020603050405020304" pitchFamily="18" charset="0"/>
                <a:cs typeface="Times New Roman" panose="02020603050405020304" pitchFamily="18" charset="0"/>
              </a:rPr>
              <a:t>ejvuglsy</a:t>
            </a:r>
            <a:r>
              <a:rPr lang="mn-MN" sz="4000" dirty="0">
                <a:solidFill>
                  <a:srgbClr val="002060"/>
                </a:solidFill>
                <a:latin typeface="Times New Roman" panose="02020603050405020304" pitchFamily="18" charset="0"/>
                <a:cs typeface="Times New Roman" panose="02020603050405020304" pitchFamily="18" charset="0"/>
              </a:rPr>
              <a:t> нийт дүнг гаргахад хэрэглэдэг.</a:t>
            </a:r>
          </a:p>
          <a:p>
            <a:pPr algn="just">
              <a:spcBef>
                <a:spcPts val="200"/>
              </a:spcBef>
            </a:pPr>
            <a:r>
              <a:rPr lang="mn-MN" sz="4000" b="1" dirty="0">
                <a:solidFill>
                  <a:srgbClr val="002060"/>
                </a:solidFill>
                <a:latin typeface="Times New Roman" panose="02020603050405020304" pitchFamily="18" charset="0"/>
                <a:cs typeface="Times New Roman" panose="02020603050405020304" pitchFamily="18" charset="0"/>
              </a:rPr>
              <a:t>Үнэлгээний зорилго нь мөнгөн урсгалын урьдчилсан төсөөллийг боловсруулах явдал юм. </a:t>
            </a:r>
          </a:p>
          <a:p>
            <a:pPr lvl="1"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Энэ нь заавал нарийн тооцоо, өгөгдөл байх албагүй. </a:t>
            </a:r>
            <a:endParaRPr lang="en-US" sz="3600" dirty="0">
              <a:solidFill>
                <a:srgbClr val="002060"/>
              </a:solidFill>
              <a:latin typeface="Times New Roman" panose="02020603050405020304" pitchFamily="18" charset="0"/>
              <a:cs typeface="Times New Roman" panose="02020603050405020304" pitchFamily="18" charset="0"/>
            </a:endParaRPr>
          </a:p>
          <a:p>
            <a:pPr lvl="1" algn="just">
              <a:spcBef>
                <a:spcPts val="200"/>
              </a:spcBef>
            </a:pPr>
            <a:r>
              <a:rPr lang="mn-MN" sz="3600" dirty="0">
                <a:solidFill>
                  <a:srgbClr val="002060"/>
                </a:solidFill>
                <a:latin typeface="Times New Roman" panose="02020603050405020304" pitchFamily="18" charset="0"/>
                <a:cs typeface="Times New Roman" panose="02020603050405020304" pitchFamily="18" charset="0"/>
              </a:rPr>
              <a:t>Харин </a:t>
            </a:r>
            <a:r>
              <a:rPr lang="mn-MN" sz="3600" b="1" dirty="0">
                <a:solidFill>
                  <a:srgbClr val="002060"/>
                </a:solidFill>
                <a:latin typeface="Times New Roman" panose="02020603050405020304" pitchFamily="18" charset="0"/>
                <a:cs typeface="Times New Roman" panose="02020603050405020304" pitchFamily="18" charset="0"/>
              </a:rPr>
              <a:t>тодорхой шаардлагыг боломжийн зардлаар хангах боломжийг харуулах ёстой. </a:t>
            </a:r>
            <a:r>
              <a:rPr lang="mn-MN" sz="3600" dirty="0">
                <a:solidFill>
                  <a:srgbClr val="002060"/>
                </a:solidFill>
                <a:latin typeface="Times New Roman" panose="02020603050405020304" pitchFamily="18" charset="0"/>
                <a:cs typeface="Times New Roman" panose="02020603050405020304" pitchFamily="18" charset="0"/>
              </a:rPr>
              <a:t>Тодорхой мөнгөний хэмжээгээр илэрхийлэгддэг. </a:t>
            </a:r>
            <a:endParaRPr lang="mn-MN" sz="4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64623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126480" y="176413"/>
            <a:ext cx="5933662" cy="533627"/>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2800" b="1" dirty="0">
                <a:solidFill>
                  <a:srgbClr val="002060"/>
                </a:solidFill>
                <a:latin typeface="Times New Roman" panose="02020603050405020304" pitchFamily="18" charset="0"/>
                <a:cs typeface="Times New Roman" panose="02020603050405020304" pitchFamily="18" charset="0"/>
              </a:rPr>
            </a:br>
            <a:r>
              <a:rPr lang="en-US" sz="2800" b="1" dirty="0">
                <a:solidFill>
                  <a:schemeClr val="accent2">
                    <a:lumMod val="75000"/>
                  </a:schemeClr>
                </a:solidFill>
                <a:latin typeface="Times New Roman" panose="02020603050405020304" pitchFamily="18" charset="0"/>
                <a:cs typeface="Times New Roman" panose="02020603050405020304" pitchFamily="18" charset="0"/>
              </a:rPr>
              <a:t>III. </a:t>
            </a:r>
            <a:r>
              <a:rPr lang="mn-MN" sz="2800" b="1" dirty="0">
                <a:solidFill>
                  <a:schemeClr val="accent2">
                    <a:lumMod val="75000"/>
                  </a:schemeClr>
                </a:solidFill>
                <a:latin typeface="Times New Roman" panose="02020603050405020304" pitchFamily="18" charset="0"/>
                <a:cs typeface="Times New Roman" panose="02020603050405020304" pitchFamily="18" charset="0"/>
              </a:rPr>
              <a:t>Үнэлгээний аргууд </a:t>
            </a:r>
            <a:r>
              <a:rPr lang="en-US" sz="2800" b="1" dirty="0">
                <a:solidFill>
                  <a:schemeClr val="accent2">
                    <a:lumMod val="75000"/>
                  </a:schemeClr>
                </a:solidFill>
                <a:latin typeface="Times New Roman" panose="02020603050405020304" pitchFamily="18" charset="0"/>
                <a:cs typeface="Times New Roman" panose="02020603050405020304" pitchFamily="18" charset="0"/>
              </a:rPr>
              <a:t>(</a:t>
            </a:r>
            <a:r>
              <a:rPr lang="mn-MN" sz="2800" b="1" dirty="0">
                <a:solidFill>
                  <a:schemeClr val="accent2">
                    <a:lumMod val="75000"/>
                  </a:schemeClr>
                </a:solidFill>
                <a:latin typeface="Times New Roman" panose="02020603050405020304" pitchFamily="18" charset="0"/>
                <a:cs typeface="Times New Roman" panose="02020603050405020304" pitchFamily="18" charset="0"/>
              </a:rPr>
              <a:t>загварууд</a:t>
            </a:r>
            <a:r>
              <a:rPr lang="en-US" sz="2800" b="1" dirty="0">
                <a:solidFill>
                  <a:schemeClr val="accent2">
                    <a:lumMod val="75000"/>
                  </a:schemeClr>
                </a:solidFill>
                <a:latin typeface="Times New Roman" panose="02020603050405020304" pitchFamily="18" charset="0"/>
                <a:cs typeface="Times New Roman" panose="02020603050405020304" pitchFamily="18" charset="0"/>
              </a:rPr>
              <a:t>)</a:t>
            </a:r>
            <a:r>
              <a:rPr lang="mn-MN" sz="2800" b="1" dirty="0">
                <a:solidFill>
                  <a:schemeClr val="accent2">
                    <a:lumMod val="75000"/>
                  </a:schemeClr>
                </a:solidFill>
                <a:latin typeface="Times New Roman" panose="02020603050405020304" pitchFamily="18" charset="0"/>
                <a:cs typeface="Times New Roman" panose="02020603050405020304" pitchFamily="18" charset="0"/>
              </a:rPr>
              <a:t> </a:t>
            </a:r>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5360894" y="202794"/>
            <a:ext cx="6499802" cy="6442935"/>
          </a:xfrm>
        </p:spPr>
        <p:txBody>
          <a:bodyPr>
            <a:normAutofit fontScale="92500" lnSpcReduction="10000"/>
          </a:bodyPr>
          <a:lstStyle/>
          <a:p>
            <a:pPr algn="just"/>
            <a:r>
              <a:rPr lang="mn-MN" sz="3600" dirty="0">
                <a:solidFill>
                  <a:srgbClr val="002060"/>
                </a:solidFill>
                <a:latin typeface="Times New Roman" panose="02020603050405020304" pitchFamily="18" charset="0"/>
                <a:cs typeface="Times New Roman" panose="02020603050405020304" pitchFamily="18" charset="0"/>
              </a:rPr>
              <a:t>Зардал ба орлогын үнэлгээг дараах байдлаар ангилж болно:</a:t>
            </a:r>
          </a:p>
          <a:p>
            <a:pPr lvl="1" algn="just"/>
            <a:r>
              <a:rPr lang="mn-MN" sz="3200" b="1" dirty="0">
                <a:solidFill>
                  <a:srgbClr val="002060"/>
                </a:solidFill>
                <a:latin typeface="Times New Roman" panose="02020603050405020304" pitchFamily="18" charset="0"/>
                <a:cs typeface="Times New Roman" panose="02020603050405020304" pitchFamily="18" charset="0"/>
              </a:rPr>
              <a:t>Хамгийн их эрэмбийн үнэлгээ: </a:t>
            </a:r>
            <a:r>
              <a:rPr lang="mn-MN" sz="3200" dirty="0">
                <a:solidFill>
                  <a:srgbClr val="002060"/>
                </a:solidFill>
                <a:latin typeface="Times New Roman" panose="02020603050405020304" pitchFamily="18" charset="0"/>
                <a:cs typeface="Times New Roman" panose="02020603050405020304" pitchFamily="18" charset="0"/>
              </a:rPr>
              <a:t>төлөвлөлтийн болон төслийн үнэлгээний эхний шатанд ашигладаг.</a:t>
            </a:r>
          </a:p>
          <a:p>
            <a:pPr lvl="1" algn="just"/>
            <a:r>
              <a:rPr lang="mn-MN" sz="3200" b="1" dirty="0">
                <a:solidFill>
                  <a:srgbClr val="002060"/>
                </a:solidFill>
                <a:latin typeface="Times New Roman" panose="02020603050405020304" pitchFamily="18" charset="0"/>
                <a:cs typeface="Times New Roman" panose="02020603050405020304" pitchFamily="18" charset="0"/>
              </a:rPr>
              <a:t>Хагас дэлгэрэнгүй буюу төсвийн үнэлгээ: </a:t>
            </a:r>
            <a:r>
              <a:rPr lang="mn-MN" sz="3200" dirty="0">
                <a:solidFill>
                  <a:srgbClr val="002060"/>
                </a:solidFill>
                <a:latin typeface="Times New Roman" panose="02020603050405020304" pitchFamily="18" charset="0"/>
                <a:cs typeface="Times New Roman" panose="02020603050405020304" pitchFamily="18" charset="0"/>
              </a:rPr>
              <a:t>Төслийн урьдчилсан, эсвэл бодлогын зохион байгуулалтын үед ашигладаг.</a:t>
            </a:r>
          </a:p>
          <a:p>
            <a:pPr lvl="1" algn="just"/>
            <a:r>
              <a:rPr lang="mn-MN" sz="3200" b="1" dirty="0">
                <a:solidFill>
                  <a:srgbClr val="002060"/>
                </a:solidFill>
                <a:latin typeface="Times New Roman" panose="02020603050405020304" pitchFamily="18" charset="0"/>
                <a:cs typeface="Times New Roman" panose="02020603050405020304" pitchFamily="18" charset="0"/>
              </a:rPr>
              <a:t>Нарийвчилсан (дэлгэрэнгүй) үнэлгээ: </a:t>
            </a:r>
            <a:r>
              <a:rPr lang="mn-MN" sz="3200" dirty="0">
                <a:solidFill>
                  <a:srgbClr val="002060"/>
                </a:solidFill>
                <a:latin typeface="Times New Roman" panose="02020603050405020304" pitchFamily="18" charset="0"/>
                <a:cs typeface="Times New Roman" panose="02020603050405020304" pitchFamily="18" charset="0"/>
              </a:rPr>
              <a:t>төслийн нарийвчилсан инженерчлэл/ боловсруулалтын үе шатанд ашигладаг.</a:t>
            </a:r>
            <a:endParaRPr lang="mn-MN" sz="3600" dirty="0">
              <a:solidFill>
                <a:srgbClr val="002060"/>
              </a:solidFill>
              <a:latin typeface="Times New Roman" panose="02020603050405020304" pitchFamily="18" charset="0"/>
              <a:cs typeface="Times New Roman" panose="02020603050405020304" pitchFamily="18" charset="0"/>
            </a:endParaRPr>
          </a:p>
        </p:txBody>
      </p:sp>
      <p:pic>
        <p:nvPicPr>
          <p:cNvPr id="4" name="Content Placeholder 4">
            <a:extLst>
              <a:ext uri="{FF2B5EF4-FFF2-40B4-BE49-F238E27FC236}">
                <a16:creationId xmlns:a16="http://schemas.microsoft.com/office/drawing/2014/main" id="{61AB93B1-E41D-C35A-9968-9A5551A27102}"/>
              </a:ext>
            </a:extLst>
          </p:cNvPr>
          <p:cNvPicPr>
            <a:picLocks/>
          </p:cNvPicPr>
          <p:nvPr/>
        </p:nvPicPr>
        <p:blipFill rotWithShape="1">
          <a:blip r:embed="rId3" cstate="print">
            <a:extLst>
              <a:ext uri="{28A0092B-C50C-407E-A947-70E740481C1C}">
                <a14:useLocalDpi xmlns:a14="http://schemas.microsoft.com/office/drawing/2010/main" val="0"/>
              </a:ext>
            </a:extLst>
          </a:blip>
          <a:srcRect/>
          <a:stretch/>
        </p:blipFill>
        <p:spPr bwMode="auto">
          <a:xfrm>
            <a:off x="89948" y="822098"/>
            <a:ext cx="4965130" cy="5366204"/>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BDFF06EA-BADF-4B11-BA0F-FDF17EEBA183}"/>
              </a:ext>
            </a:extLst>
          </p:cNvPr>
          <p:cNvSpPr txBox="1">
            <a:spLocks/>
          </p:cNvSpPr>
          <p:nvPr/>
        </p:nvSpPr>
        <p:spPr>
          <a:xfrm>
            <a:off x="89948" y="6254100"/>
            <a:ext cx="5626916" cy="365125"/>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mn-MN" sz="2800" b="1" dirty="0">
                <a:solidFill>
                  <a:schemeClr val="accent5"/>
                </a:solidFill>
                <a:latin typeface="Times New Roman" pitchFamily="18" charset="0"/>
                <a:cs typeface="Times New Roman" pitchFamily="18" charset="0"/>
              </a:rPr>
              <a:t>Орлого зардлын үнэлгээний нарийвчлал</a:t>
            </a:r>
            <a:endParaRPr lang="en-US" sz="2800" dirty="0"/>
          </a:p>
        </p:txBody>
      </p:sp>
    </p:spTree>
    <p:extLst>
      <p:ext uri="{BB962C8B-B14F-4D97-AF65-F5344CB8AC3E}">
        <p14:creationId xmlns:p14="http://schemas.microsoft.com/office/powerpoint/2010/main" val="1129534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131936" y="304794"/>
            <a:ext cx="10515600" cy="577396"/>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3200" b="1" dirty="0">
                <a:solidFill>
                  <a:srgbClr val="002060"/>
                </a:solidFill>
                <a:latin typeface="Times New Roman" panose="02020603050405020304" pitchFamily="18" charset="0"/>
                <a:cs typeface="Times New Roman" panose="02020603050405020304" pitchFamily="18" charset="0"/>
              </a:rPr>
            </a:br>
            <a:r>
              <a:rPr lang="mn-MN" sz="3200" b="1" dirty="0">
                <a:solidFill>
                  <a:srgbClr val="002060"/>
                </a:solidFill>
                <a:latin typeface="Times New Roman" panose="02020603050405020304" pitchFamily="18" charset="0"/>
                <a:cs typeface="Times New Roman" panose="02020603050405020304" pitchFamily="18" charset="0"/>
              </a:rPr>
              <a:t>	</a:t>
            </a:r>
            <a:r>
              <a:rPr lang="en-US" sz="3200" b="1" dirty="0">
                <a:solidFill>
                  <a:schemeClr val="accent2">
                    <a:lumMod val="75000"/>
                  </a:schemeClr>
                </a:solidFill>
                <a:latin typeface="Times New Roman" panose="02020603050405020304" pitchFamily="18" charset="0"/>
                <a:cs typeface="Times New Roman" panose="02020603050405020304" pitchFamily="18" charset="0"/>
              </a:rPr>
              <a:t>III. </a:t>
            </a:r>
            <a:r>
              <a:rPr lang="mn-MN" sz="3200" b="1" dirty="0">
                <a:solidFill>
                  <a:schemeClr val="accent2">
                    <a:lumMod val="75000"/>
                  </a:schemeClr>
                </a:solidFill>
                <a:latin typeface="Times New Roman" panose="02020603050405020304" pitchFamily="18" charset="0"/>
                <a:cs typeface="Times New Roman" panose="02020603050405020304" pitchFamily="18" charset="0"/>
              </a:rPr>
              <a:t>Үнэлгээний аргууд </a:t>
            </a:r>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загварууд</a:t>
            </a:r>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 </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179290" y="1025945"/>
            <a:ext cx="11672051" cy="5092974"/>
          </a:xfrm>
        </p:spPr>
        <p:txBody>
          <a:bodyPr>
            <a:normAutofit/>
          </a:bodyPr>
          <a:lstStyle/>
          <a:p>
            <a:pPr marL="742950" indent="-455613" algn="just">
              <a:buFont typeface="+mj-lt"/>
              <a:buAutoNum type="arabicPeriod"/>
            </a:pPr>
            <a:r>
              <a:rPr lang="mn-MN" sz="3200" b="1" dirty="0">
                <a:solidFill>
                  <a:srgbClr val="002060"/>
                </a:solidFill>
                <a:latin typeface="Times New Roman" panose="02020603050405020304" pitchFamily="18" charset="0"/>
                <a:cs typeface="Times New Roman" panose="02020603050405020304" pitchFamily="18" charset="0"/>
              </a:rPr>
              <a:t>Индексийн арга</a:t>
            </a:r>
            <a:r>
              <a:rPr lang="en-US" sz="3200" b="1" dirty="0">
                <a:solidFill>
                  <a:srgbClr val="002060"/>
                </a:solidFill>
                <a:latin typeface="Times New Roman" panose="02020603050405020304" pitchFamily="18" charset="0"/>
                <a:cs typeface="Times New Roman" panose="02020603050405020304" pitchFamily="18" charset="0"/>
              </a:rPr>
              <a:t> </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зардал, эсвэл үнэ нь суурь жилтэй харьцангуйгаар хугацааны хувьд хэрхэн өөрчлөгдөж байгааг (ихэвчлэн өссөн байдаг) харуулдаг. </a:t>
            </a:r>
            <a:endParaRPr lang="en-US" sz="3200" dirty="0">
              <a:solidFill>
                <a:srgbClr val="002060"/>
              </a:solidFill>
              <a:latin typeface="Times New Roman" panose="02020603050405020304" pitchFamily="18" charset="0"/>
              <a:cs typeface="Times New Roman" panose="02020603050405020304" pitchFamily="18" charset="0"/>
            </a:endParaRPr>
          </a:p>
          <a:p>
            <a:pPr lvl="2" algn="just"/>
            <a:r>
              <a:rPr lang="mn-MN" sz="2400" dirty="0">
                <a:solidFill>
                  <a:srgbClr val="002060"/>
                </a:solidFill>
                <a:latin typeface="Times New Roman" panose="02020603050405020304" pitchFamily="18" charset="0"/>
                <a:cs typeface="Times New Roman" panose="02020603050405020304" pitchFamily="18" charset="0"/>
              </a:rPr>
              <a:t>Индекс нь түүхэн өгөгдлүүдээс одоогийн болон ирээдүйн зардал, үнийн таамгийг боловсруулахад тохиромжтой хэрэгсэл болдог. </a:t>
            </a:r>
            <a:endParaRPr lang="en-US" sz="2400" dirty="0">
              <a:solidFill>
                <a:srgbClr val="002060"/>
              </a:solidFill>
              <a:latin typeface="Times New Roman" panose="02020603050405020304" pitchFamily="18" charset="0"/>
              <a:cs typeface="Times New Roman" panose="02020603050405020304" pitchFamily="18" charset="0"/>
            </a:endParaRPr>
          </a:p>
          <a:p>
            <a:pPr marL="742950" indent="-401638" algn="just">
              <a:buFont typeface="+mj-lt"/>
              <a:buAutoNum type="arabicPeriod"/>
            </a:pPr>
            <a:r>
              <a:rPr lang="mn-MN" sz="3200" b="1" dirty="0">
                <a:solidFill>
                  <a:srgbClr val="002060"/>
                </a:solidFill>
                <a:latin typeface="Times New Roman" panose="02020603050405020304" pitchFamily="18" charset="0"/>
                <a:cs typeface="Times New Roman" panose="02020603050405020304" pitchFamily="18" charset="0"/>
              </a:rPr>
              <a:t>Нэгжийн арга</a:t>
            </a:r>
            <a:r>
              <a:rPr lang="en-US" sz="3200" b="1" dirty="0">
                <a:solidFill>
                  <a:srgbClr val="002060"/>
                </a:solidFill>
                <a:latin typeface="Times New Roman" panose="02020603050405020304" pitchFamily="18" charset="0"/>
                <a:cs typeface="Times New Roman" panose="02020603050405020304" pitchFamily="18" charset="0"/>
              </a:rPr>
              <a:t> </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Нэгжийн аргаар үр ашигтай үнэлж болох нэгж хүчин зүйлийг тооцох боломжтой. Хүчин зүйлсийг тохирох утгаар үржүүлснээр зардал, хэмнэлт, орлогын нийт тооцоо гарна.</a:t>
            </a:r>
            <a:endParaRPr lang="en-US" sz="3200" dirty="0">
              <a:solidFill>
                <a:srgbClr val="002060"/>
              </a:solidFill>
              <a:latin typeface="Times New Roman" panose="02020603050405020304" pitchFamily="18" charset="0"/>
              <a:cs typeface="Times New Roman" panose="02020603050405020304" pitchFamily="18" charset="0"/>
            </a:endParaRPr>
          </a:p>
          <a:p>
            <a:pPr lvl="2" algn="just"/>
            <a:r>
              <a:rPr lang="mn-MN" sz="2400" dirty="0">
                <a:solidFill>
                  <a:srgbClr val="002060"/>
                </a:solidFill>
                <a:latin typeface="Times New Roman" panose="02020603050405020304" pitchFamily="18" charset="0"/>
                <a:cs typeface="Times New Roman" panose="02020603050405020304" pitchFamily="18" charset="0"/>
              </a:rPr>
              <a:t>Жишээ:</a:t>
            </a:r>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Үйлдвэрийн газрын нэг киловатт хүчин чадалд зарцуулах капитал зардал</a:t>
            </a:r>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нэгж талбайгаас олох орлого</a:t>
            </a:r>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790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190986" y="71716"/>
            <a:ext cx="10903225" cy="1039131"/>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3200" b="1" dirty="0">
                <a:solidFill>
                  <a:srgbClr val="002060"/>
                </a:solidFill>
                <a:latin typeface="Times New Roman" panose="02020603050405020304" pitchFamily="18" charset="0"/>
                <a:cs typeface="Times New Roman" panose="02020603050405020304" pitchFamily="18" charset="0"/>
              </a:rPr>
            </a:br>
            <a:r>
              <a:rPr lang="mn-MN" sz="3200" b="1" dirty="0">
                <a:solidFill>
                  <a:srgbClr val="002060"/>
                </a:solidFill>
                <a:latin typeface="Times New Roman" panose="02020603050405020304" pitchFamily="18" charset="0"/>
                <a:cs typeface="Times New Roman" panose="02020603050405020304" pitchFamily="18" charset="0"/>
              </a:rPr>
              <a:t>	</a:t>
            </a:r>
            <a:r>
              <a:rPr lang="en-US" sz="3200" b="1" dirty="0">
                <a:solidFill>
                  <a:schemeClr val="accent2">
                    <a:lumMod val="75000"/>
                  </a:schemeClr>
                </a:solidFill>
                <a:latin typeface="Times New Roman" panose="02020603050405020304" pitchFamily="18" charset="0"/>
                <a:cs typeface="Times New Roman" panose="02020603050405020304" pitchFamily="18" charset="0"/>
              </a:rPr>
              <a:t>III. </a:t>
            </a:r>
            <a:r>
              <a:rPr lang="mn-MN" sz="3200" b="1" dirty="0">
                <a:solidFill>
                  <a:schemeClr val="accent2">
                    <a:lumMod val="75000"/>
                  </a:schemeClr>
                </a:solidFill>
                <a:latin typeface="Times New Roman" panose="02020603050405020304" pitchFamily="18" charset="0"/>
                <a:cs typeface="Times New Roman" panose="02020603050405020304" pitchFamily="18" charset="0"/>
              </a:rPr>
              <a:t>Үнэлгээний аргууд </a:t>
            </a:r>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загварууд</a:t>
            </a:r>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 </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215347" y="918370"/>
                <a:ext cx="11751365" cy="5796583"/>
              </a:xfrm>
            </p:spPr>
            <p:txBody>
              <a:bodyPr>
                <a:normAutofit lnSpcReduction="10000"/>
              </a:bodyPr>
              <a:lstStyle/>
              <a:p>
                <a:pPr marL="0" indent="0" algn="just">
                  <a:buNone/>
                </a:pPr>
                <a:r>
                  <a:rPr lang="mn-MN" sz="3600" b="1" dirty="0">
                    <a:solidFill>
                      <a:srgbClr val="002060"/>
                    </a:solidFill>
                    <a:latin typeface="Times New Roman" panose="02020603050405020304" pitchFamily="18" charset="0"/>
                    <a:cs typeface="Times New Roman" panose="02020603050405020304" pitchFamily="18" charset="0"/>
                  </a:rPr>
                  <a:t>3. Хүчин зүйлийн арга </a:t>
                </a:r>
                <a:r>
                  <a:rPr lang="mn-MN" sz="3600" dirty="0">
                    <a:solidFill>
                      <a:srgbClr val="002060"/>
                    </a:solidFill>
                    <a:latin typeface="Times New Roman" panose="02020603050405020304" pitchFamily="18" charset="0"/>
                    <a:cs typeface="Times New Roman" panose="02020603050405020304" pitchFamily="18" charset="0"/>
                  </a:rPr>
                  <a:t>– нэгжийн аргын өргөтгөсөн хувилбар юм. Хэд хэдэн хэмжигдэхүүн ба бүрэлдэхүүн хэсгүүдийн үр дүнг нэгтгэж, тэдгээрийг дурын бүрэлдэхүүн хэсгүүд дээр шууд нэмэн тооцоолдог.</a:t>
                </a:r>
              </a:p>
              <a:p>
                <a:pPr marL="0" indent="0" algn="just">
                  <a:buNone/>
                </a:pPr>
                <a14:m>
                  <m:oMathPara xmlns:m="http://schemas.openxmlformats.org/officeDocument/2006/math">
                    <m:oMathParaPr>
                      <m:jc m:val="centerGroup"/>
                    </m:oMathParaPr>
                    <m:oMath xmlns:m="http://schemas.openxmlformats.org/officeDocument/2006/math">
                      <m:r>
                        <a:rPr lang="en-US" sz="3600" b="0" i="1" smtClean="0">
                          <a:solidFill>
                            <a:srgbClr val="002060"/>
                          </a:solidFill>
                          <a:latin typeface="Cambria Math" panose="02040503050406030204" pitchFamily="18" charset="0"/>
                        </a:rPr>
                        <m:t>𝐶</m:t>
                      </m:r>
                      <m:r>
                        <a:rPr lang="en-US" sz="3600" b="0" i="1" smtClean="0">
                          <a:solidFill>
                            <a:srgbClr val="002060"/>
                          </a:solidFill>
                          <a:latin typeface="Cambria Math" panose="02040503050406030204" pitchFamily="18" charset="0"/>
                        </a:rPr>
                        <m:t>=</m:t>
                      </m:r>
                      <m:nary>
                        <m:naryPr>
                          <m:chr m:val="∑"/>
                          <m:supHide m:val="on"/>
                          <m:ctrlPr>
                            <a:rPr lang="en-US" sz="3600" b="0" i="1" smtClean="0">
                              <a:solidFill>
                                <a:srgbClr val="002060"/>
                              </a:solidFill>
                              <a:latin typeface="Cambria Math" panose="02040503050406030204" pitchFamily="18" charset="0"/>
                            </a:rPr>
                          </m:ctrlPr>
                        </m:naryPr>
                        <m:sub>
                          <m:r>
                            <m:rPr>
                              <m:brk m:alnAt="7"/>
                            </m:rPr>
                            <a:rPr lang="en-US" sz="3600" b="0" i="1" smtClean="0">
                              <a:solidFill>
                                <a:srgbClr val="002060"/>
                              </a:solidFill>
                              <a:latin typeface="Cambria Math" panose="02040503050406030204" pitchFamily="18" charset="0"/>
                            </a:rPr>
                            <m:t>𝑑</m:t>
                          </m:r>
                        </m:sub>
                        <m:sup/>
                        <m:e>
                          <m:sSub>
                            <m:sSubPr>
                              <m:ctrlPr>
                                <a:rPr lang="en-US" sz="3600" b="0" i="1" smtClean="0">
                                  <a:solidFill>
                                    <a:srgbClr val="002060"/>
                                  </a:solidFill>
                                  <a:latin typeface="Cambria Math" panose="02040503050406030204" pitchFamily="18" charset="0"/>
                                </a:rPr>
                              </m:ctrlPr>
                            </m:sSubPr>
                            <m:e>
                              <m:r>
                                <a:rPr lang="en-US" sz="3600" b="0" i="1" smtClean="0">
                                  <a:solidFill>
                                    <a:srgbClr val="002060"/>
                                  </a:solidFill>
                                  <a:latin typeface="Cambria Math" panose="02040503050406030204" pitchFamily="18" charset="0"/>
                                </a:rPr>
                                <m:t>𝐶</m:t>
                              </m:r>
                            </m:e>
                            <m:sub>
                              <m:r>
                                <a:rPr lang="en-US" sz="3600" b="0" i="1" smtClean="0">
                                  <a:solidFill>
                                    <a:srgbClr val="002060"/>
                                  </a:solidFill>
                                  <a:latin typeface="Cambria Math" panose="02040503050406030204" pitchFamily="18" charset="0"/>
                                </a:rPr>
                                <m:t>𝑑</m:t>
                              </m:r>
                            </m:sub>
                          </m:sSub>
                        </m:e>
                      </m:nary>
                      <m:r>
                        <a:rPr lang="en-US" sz="3600" b="0" i="1" smtClean="0">
                          <a:solidFill>
                            <a:srgbClr val="002060"/>
                          </a:solidFill>
                          <a:latin typeface="Cambria Math" panose="02040503050406030204" pitchFamily="18" charset="0"/>
                        </a:rPr>
                        <m:t>+</m:t>
                      </m:r>
                      <m:nary>
                        <m:naryPr>
                          <m:chr m:val="∑"/>
                          <m:supHide m:val="on"/>
                          <m:ctrlPr>
                            <a:rPr lang="en-US" sz="3600" b="0" i="1" smtClean="0">
                              <a:solidFill>
                                <a:srgbClr val="002060"/>
                              </a:solidFill>
                              <a:latin typeface="Cambria Math" panose="02040503050406030204" pitchFamily="18" charset="0"/>
                            </a:rPr>
                          </m:ctrlPr>
                        </m:naryPr>
                        <m:sub>
                          <m:r>
                            <m:rPr>
                              <m:brk m:alnAt="7"/>
                            </m:rPr>
                            <a:rPr lang="en-US" sz="3600" b="0" i="1" smtClean="0">
                              <a:solidFill>
                                <a:srgbClr val="002060"/>
                              </a:solidFill>
                              <a:latin typeface="Cambria Math" panose="02040503050406030204" pitchFamily="18" charset="0"/>
                            </a:rPr>
                            <m:t>𝑚</m:t>
                          </m:r>
                        </m:sub>
                        <m:sup/>
                        <m:e>
                          <m:sSub>
                            <m:sSubPr>
                              <m:ctrlPr>
                                <a:rPr lang="en-US" sz="3600" i="1">
                                  <a:solidFill>
                                    <a:srgbClr val="002060"/>
                                  </a:solidFill>
                                  <a:latin typeface="Cambria Math" panose="02040503050406030204" pitchFamily="18" charset="0"/>
                                </a:rPr>
                              </m:ctrlPr>
                            </m:sSubPr>
                            <m:e>
                              <m:r>
                                <a:rPr lang="en-US" sz="3600" b="0" i="1" smtClean="0">
                                  <a:solidFill>
                                    <a:srgbClr val="002060"/>
                                  </a:solidFill>
                                  <a:latin typeface="Cambria Math" panose="02040503050406030204" pitchFamily="18" charset="0"/>
                                </a:rPr>
                                <m:t>𝑓</m:t>
                              </m:r>
                            </m:e>
                            <m:sub>
                              <m:r>
                                <a:rPr lang="en-US" sz="3600" b="0" i="1" smtClean="0">
                                  <a:solidFill>
                                    <a:srgbClr val="002060"/>
                                  </a:solidFill>
                                  <a:latin typeface="Cambria Math" panose="02040503050406030204" pitchFamily="18" charset="0"/>
                                </a:rPr>
                                <m:t>𝑚</m:t>
                              </m:r>
                            </m:sub>
                          </m:sSub>
                          <m:sSub>
                            <m:sSubPr>
                              <m:ctrlPr>
                                <a:rPr lang="en-US" sz="3600" i="1">
                                  <a:solidFill>
                                    <a:srgbClr val="002060"/>
                                  </a:solidFill>
                                  <a:latin typeface="Cambria Math" panose="02040503050406030204" pitchFamily="18" charset="0"/>
                                </a:rPr>
                              </m:ctrlPr>
                            </m:sSubPr>
                            <m:e>
                              <m:r>
                                <a:rPr lang="en-US" sz="3600" b="0" i="1" smtClean="0">
                                  <a:solidFill>
                                    <a:srgbClr val="002060"/>
                                  </a:solidFill>
                                  <a:latin typeface="Cambria Math" panose="02040503050406030204" pitchFamily="18" charset="0"/>
                                </a:rPr>
                                <m:t>𝑈</m:t>
                              </m:r>
                            </m:e>
                            <m:sub>
                              <m:r>
                                <a:rPr lang="en-US" sz="3600" b="0" i="1" smtClean="0">
                                  <a:solidFill>
                                    <a:srgbClr val="002060"/>
                                  </a:solidFill>
                                  <a:latin typeface="Cambria Math" panose="02040503050406030204" pitchFamily="18" charset="0"/>
                                </a:rPr>
                                <m:t>𝑚</m:t>
                              </m:r>
                            </m:sub>
                          </m:sSub>
                        </m:e>
                      </m:nary>
                    </m:oMath>
                  </m:oMathPara>
                </a14:m>
                <a:endParaRPr lang="mn-MN" sz="3600" dirty="0">
                  <a:solidFill>
                    <a:srgbClr val="002060"/>
                  </a:solidFill>
                  <a:latin typeface="Times New Roman" panose="02020603050405020304" pitchFamily="18" charset="0"/>
                  <a:cs typeface="Times New Roman" panose="02020603050405020304" pitchFamily="18" charset="0"/>
                </a:endParaRPr>
              </a:p>
              <a:p>
                <a:pPr algn="just"/>
                <a:r>
                  <a:rPr lang="mn-MN" sz="3600" dirty="0">
                    <a:solidFill>
                      <a:srgbClr val="002060"/>
                    </a:solidFill>
                    <a:latin typeface="Times New Roman" panose="02020603050405020304" pitchFamily="18" charset="0"/>
                    <a:cs typeface="Times New Roman" panose="02020603050405020304" pitchFamily="18" charset="0"/>
                  </a:rPr>
                  <a:t>Жишээ: 2000 м</a:t>
                </a:r>
                <a:r>
                  <a:rPr lang="mn-MN" sz="3600" baseline="30000" dirty="0">
                    <a:solidFill>
                      <a:srgbClr val="002060"/>
                    </a:solidFill>
                    <a:latin typeface="Times New Roman" panose="02020603050405020304" pitchFamily="18" charset="0"/>
                    <a:cs typeface="Times New Roman" panose="02020603050405020304" pitchFamily="18" charset="0"/>
                  </a:rPr>
                  <a:t>2</a:t>
                </a:r>
                <a:r>
                  <a:rPr lang="mn-MN" sz="3600" dirty="0">
                    <a:solidFill>
                      <a:srgbClr val="002060"/>
                    </a:solidFill>
                    <a:latin typeface="Times New Roman" panose="02020603050405020304" pitchFamily="18" charset="0"/>
                    <a:cs typeface="Times New Roman" panose="02020603050405020304" pitchFamily="18" charset="0"/>
                  </a:rPr>
                  <a:t>, хоёр орц, гарааш зэргээс бүрдэх байшингийн зардлын үнэлгээг хийх хэрэгтэй гэж үзье. м</a:t>
                </a:r>
                <a:r>
                  <a:rPr lang="mn-MN" sz="3600" baseline="30000" dirty="0">
                    <a:solidFill>
                      <a:srgbClr val="002060"/>
                    </a:solidFill>
                    <a:latin typeface="Times New Roman" panose="02020603050405020304" pitchFamily="18" charset="0"/>
                    <a:cs typeface="Times New Roman" panose="02020603050405020304" pitchFamily="18" charset="0"/>
                  </a:rPr>
                  <a:t>2 </a:t>
                </a:r>
                <a:r>
                  <a:rPr lang="mn-MN" sz="3600" dirty="0">
                    <a:solidFill>
                      <a:srgbClr val="002060"/>
                    </a:solidFill>
                    <a:latin typeface="Times New Roman" panose="02020603050405020304" pitchFamily="18" charset="0"/>
                    <a:cs typeface="Times New Roman" panose="02020603050405020304" pitchFamily="18" charset="0"/>
                  </a:rPr>
                  <a:t>тутамд $85, орц тутамд $10,000, гаражид $8000-ын зардал гэвэл, бүрэлдэхүүн хэсгүүдээр шууд тооцоолох боломжтой:</a:t>
                </a:r>
              </a:p>
              <a:p>
                <a:pPr marL="0" indent="0" algn="just">
                  <a:buNone/>
                </a:pPr>
                <a14:m>
                  <m:oMathPara xmlns:m="http://schemas.openxmlformats.org/officeDocument/2006/math">
                    <m:oMathParaPr>
                      <m:jc m:val="centerGroup"/>
                    </m:oMathParaPr>
                    <m:oMath xmlns:m="http://schemas.openxmlformats.org/officeDocument/2006/math">
                      <m:r>
                        <a:rPr lang="mn-MN" dirty="0">
                          <a:solidFill>
                            <a:srgbClr val="002060"/>
                          </a:solidFill>
                          <a:latin typeface="Cambria Math" panose="02040503050406030204" pitchFamily="18" charset="0"/>
                        </a:rPr>
                        <m:t>($10,000</m:t>
                      </m:r>
                      <m:r>
                        <a:rPr lang="mn-MN" i="1" dirty="0" smtClean="0">
                          <a:solidFill>
                            <a:srgbClr val="002060"/>
                          </a:solidFill>
                          <a:latin typeface="Cambria Math" panose="02040503050406030204" pitchFamily="18" charset="0"/>
                          <a:ea typeface="Cambria Math" panose="02040503050406030204" pitchFamily="18" charset="0"/>
                        </a:rPr>
                        <m:t>×</m:t>
                      </m:r>
                      <m:r>
                        <a:rPr lang="en-US" dirty="0">
                          <a:solidFill>
                            <a:srgbClr val="002060"/>
                          </a:solidFill>
                          <a:latin typeface="Cambria Math" panose="02040503050406030204" pitchFamily="18" charset="0"/>
                        </a:rPr>
                        <m:t>2)+$8,000+($85</m:t>
                      </m:r>
                      <m:r>
                        <a:rPr lang="mn-MN" i="1" dirty="0">
                          <a:solidFill>
                            <a:srgbClr val="002060"/>
                          </a:solidFill>
                          <a:latin typeface="Cambria Math" panose="02040503050406030204" pitchFamily="18" charset="0"/>
                          <a:ea typeface="Cambria Math" panose="02040503050406030204" pitchFamily="18" charset="0"/>
                        </a:rPr>
                        <m:t>×</m:t>
                      </m:r>
                      <m:r>
                        <a:rPr lang="en-US" dirty="0">
                          <a:solidFill>
                            <a:srgbClr val="002060"/>
                          </a:solidFill>
                          <a:latin typeface="Cambria Math" panose="02040503050406030204" pitchFamily="18" charset="0"/>
                        </a:rPr>
                        <m:t>2,000)=$198,000.</m:t>
                      </m:r>
                    </m:oMath>
                  </m:oMathPara>
                </a14:m>
                <a:endParaRPr lang="en-US"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mn-MN" sz="36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3926E7B8-5142-C186-F75C-BEAAEDEB0162}"/>
                  </a:ext>
                </a:extLst>
              </p:cNvPr>
              <p:cNvSpPr>
                <a:spLocks noGrp="1" noRot="1" noChangeAspect="1" noMove="1" noResize="1" noEditPoints="1" noAdjustHandles="1" noChangeArrowheads="1" noChangeShapeType="1" noTextEdit="1"/>
              </p:cNvSpPr>
              <p:nvPr>
                <p:ph idx="1"/>
              </p:nvPr>
            </p:nvSpPr>
            <p:spPr>
              <a:xfrm>
                <a:off x="215347" y="918370"/>
                <a:ext cx="11751365" cy="5796583"/>
              </a:xfrm>
              <a:blipFill>
                <a:blip r:embed="rId3"/>
                <a:stretch>
                  <a:fillRect l="-1556" t="-3680" r="-1608" b="-1262"/>
                </a:stretch>
              </a:blipFill>
            </p:spPr>
            <p:txBody>
              <a:bodyPr/>
              <a:lstStyle/>
              <a:p>
                <a:r>
                  <a:rPr lang="en-US">
                    <a:noFill/>
                  </a:rPr>
                  <a:t> </a:t>
                </a:r>
              </a:p>
            </p:txBody>
          </p:sp>
        </mc:Fallback>
      </mc:AlternateContent>
    </p:spTree>
    <p:extLst>
      <p:ext uri="{BB962C8B-B14F-4D97-AF65-F5344CB8AC3E}">
        <p14:creationId xmlns:p14="http://schemas.microsoft.com/office/powerpoint/2010/main" val="2197601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340657" y="153091"/>
            <a:ext cx="11349319" cy="602284"/>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3200" b="1" dirty="0">
                <a:solidFill>
                  <a:srgbClr val="002060"/>
                </a:solidFill>
                <a:latin typeface="Times New Roman" panose="02020603050405020304" pitchFamily="18" charset="0"/>
                <a:cs typeface="Times New Roman" panose="02020603050405020304" pitchFamily="18" charset="0"/>
              </a:rPr>
            </a:br>
            <a:r>
              <a:rPr lang="mn-MN" sz="3200" b="1" dirty="0">
                <a:solidFill>
                  <a:srgbClr val="002060"/>
                </a:solidFill>
                <a:latin typeface="Times New Roman" panose="02020603050405020304" pitchFamily="18" charset="0"/>
                <a:cs typeface="Times New Roman" panose="02020603050405020304" pitchFamily="18" charset="0"/>
              </a:rPr>
              <a:t>	</a:t>
            </a:r>
            <a:r>
              <a:rPr lang="en-US" sz="3200" b="1" dirty="0">
                <a:solidFill>
                  <a:schemeClr val="accent2">
                    <a:lumMod val="75000"/>
                  </a:schemeClr>
                </a:solidFill>
                <a:latin typeface="Times New Roman" panose="02020603050405020304" pitchFamily="18" charset="0"/>
                <a:cs typeface="Times New Roman" panose="02020603050405020304" pitchFamily="18" charset="0"/>
              </a:rPr>
              <a:t>III. </a:t>
            </a:r>
            <a:r>
              <a:rPr lang="mn-MN" sz="3200" b="1" dirty="0">
                <a:solidFill>
                  <a:schemeClr val="accent2">
                    <a:lumMod val="75000"/>
                  </a:schemeClr>
                </a:solidFill>
                <a:latin typeface="Times New Roman" panose="02020603050405020304" pitchFamily="18" charset="0"/>
                <a:cs typeface="Times New Roman" panose="02020603050405020304" pitchFamily="18" charset="0"/>
              </a:rPr>
              <a:t>Үнэлгээний аргууд </a:t>
            </a:r>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загварууд</a:t>
            </a:r>
            <a:r>
              <a:rPr lang="en-US" sz="3200" b="1" dirty="0">
                <a:solidFill>
                  <a:schemeClr val="accent2">
                    <a:lumMod val="75000"/>
                  </a:schemeClr>
                </a:solidFill>
                <a:latin typeface="Times New Roman" panose="02020603050405020304" pitchFamily="18" charset="0"/>
                <a:cs typeface="Times New Roman" panose="02020603050405020304" pitchFamily="18" charset="0"/>
              </a:rPr>
              <a:t>)</a:t>
            </a:r>
            <a:r>
              <a:rPr lang="mn-MN" sz="3200" b="1" dirty="0">
                <a:solidFill>
                  <a:schemeClr val="accent2">
                    <a:lumMod val="75000"/>
                  </a:schemeClr>
                </a:solidFill>
                <a:latin typeface="Times New Roman" panose="02020603050405020304" pitchFamily="18" charset="0"/>
                <a:cs typeface="Times New Roman" panose="02020603050405020304" pitchFamily="18" charset="0"/>
              </a:rPr>
              <a:t> </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233082" y="861391"/>
            <a:ext cx="11826396" cy="5843518"/>
          </a:xfrm>
        </p:spPr>
        <p:txBody>
          <a:bodyPr>
            <a:normAutofit lnSpcReduction="10000"/>
          </a:bodyPr>
          <a:lstStyle/>
          <a:p>
            <a:pPr marL="0" indent="0" algn="just">
              <a:buNone/>
            </a:pPr>
            <a:r>
              <a:rPr lang="en-US" sz="3600" b="1" dirty="0">
                <a:solidFill>
                  <a:srgbClr val="002060"/>
                </a:solidFill>
                <a:latin typeface="Times New Roman" panose="02020603050405020304" pitchFamily="18" charset="0"/>
                <a:cs typeface="Times New Roman" panose="02020603050405020304" pitchFamily="18" charset="0"/>
              </a:rPr>
              <a:t>4</a:t>
            </a:r>
            <a:r>
              <a:rPr lang="mn-MN" sz="3600" b="1" dirty="0">
                <a:solidFill>
                  <a:srgbClr val="002060"/>
                </a:solidFill>
                <a:latin typeface="Times New Roman" panose="02020603050405020304" pitchFamily="18" charset="0"/>
                <a:cs typeface="Times New Roman" panose="02020603050405020304" pitchFamily="18" charset="0"/>
              </a:rPr>
              <a:t>. Зардлын параметрик үнэлгээ </a:t>
            </a:r>
            <a:r>
              <a:rPr lang="mn-MN" sz="3600" dirty="0">
                <a:solidFill>
                  <a:srgbClr val="002060"/>
                </a:solidFill>
                <a:latin typeface="Times New Roman" panose="02020603050405020304" pitchFamily="18" charset="0"/>
                <a:cs typeface="Times New Roman" panose="02020603050405020304" pitchFamily="18" charset="0"/>
              </a:rPr>
              <a:t>– өнгөрсөн болон одоогийн хугацааны зардлын өгөгдлүүд болон </a:t>
            </a:r>
            <a:r>
              <a:rPr lang="mn-MN" sz="3600" b="1" dirty="0">
                <a:solidFill>
                  <a:srgbClr val="002060"/>
                </a:solidFill>
                <a:latin typeface="Times New Roman" panose="02020603050405020304" pitchFamily="18" charset="0"/>
                <a:cs typeface="Times New Roman" panose="02020603050405020304" pitchFamily="18" charset="0"/>
              </a:rPr>
              <a:t>статистик аргыг </a:t>
            </a:r>
            <a:r>
              <a:rPr lang="mn-MN" sz="3600" dirty="0">
                <a:solidFill>
                  <a:srgbClr val="002060"/>
                </a:solidFill>
                <a:latin typeface="Times New Roman" panose="02020603050405020304" pitchFamily="18" charset="0"/>
                <a:cs typeface="Times New Roman" panose="02020603050405020304" pitchFamily="18" charset="0"/>
              </a:rPr>
              <a:t>(өөрөөр хэлбэл, шугаман регресс) ашиглан ирээдүйН зардлыг </a:t>
            </a:r>
            <a:r>
              <a:rPr lang="mn-MN" sz="3600" b="1" dirty="0">
                <a:solidFill>
                  <a:srgbClr val="002060"/>
                </a:solidFill>
                <a:latin typeface="Times New Roman" panose="02020603050405020304" pitchFamily="18" charset="0"/>
                <a:cs typeface="Times New Roman" panose="02020603050405020304" pitchFamily="18" charset="0"/>
              </a:rPr>
              <a:t>урьдчилан тодорхойлох загвар </a:t>
            </a:r>
            <a:r>
              <a:rPr lang="mn-MN" sz="3600" dirty="0">
                <a:solidFill>
                  <a:srgbClr val="002060"/>
                </a:solidFill>
                <a:latin typeface="Times New Roman" panose="02020603050405020304" pitchFamily="18" charset="0"/>
                <a:cs typeface="Times New Roman" panose="02020603050405020304" pitchFamily="18" charset="0"/>
              </a:rPr>
              <a:t>юм. </a:t>
            </a:r>
          </a:p>
          <a:p>
            <a:pPr lvl="1" algn="just"/>
            <a:r>
              <a:rPr lang="mn-MN" sz="3200" dirty="0">
                <a:solidFill>
                  <a:srgbClr val="002060"/>
                </a:solidFill>
                <a:latin typeface="Times New Roman" panose="02020603050405020304" pitchFamily="18" charset="0"/>
                <a:cs typeface="Times New Roman" panose="02020603050405020304" pitchFamily="18" charset="0"/>
              </a:rPr>
              <a:t>Энэ загвар нь загвар боловсруулалтын эхний шатанд ашиглагдах бөгөөд жин, хэмжээ, хүчин чадал зэрэг физик шинж чанарууд дээр үндэслэн бүтээгдэхүүн (эсвэл, төсөл) хичнээн хэмжээний өртөгтэй байх асуудлыг шийдэх санаа олж авах зорилготой. </a:t>
            </a:r>
          </a:p>
          <a:p>
            <a:pPr algn="just"/>
            <a:r>
              <a:rPr lang="mn-MN" sz="3600" dirty="0">
                <a:solidFill>
                  <a:srgbClr val="002060"/>
                </a:solidFill>
                <a:latin typeface="Times New Roman" panose="02020603050405020304" pitchFamily="18" charset="0"/>
                <a:cs typeface="Times New Roman" panose="02020603050405020304" pitchFamily="18" charset="0"/>
              </a:rPr>
              <a:t>Энэ загварт үнэлгээний хоёр хамаарлыг голлон ашигладаг. Үүнд:</a:t>
            </a:r>
          </a:p>
          <a:p>
            <a:pPr lvl="1" algn="just"/>
            <a:r>
              <a:rPr lang="en-US" sz="3200" dirty="0">
                <a:solidFill>
                  <a:srgbClr val="002060"/>
                </a:solidFill>
                <a:latin typeface="Times New Roman" panose="02020603050405020304" pitchFamily="18" charset="0"/>
                <a:cs typeface="Times New Roman" panose="02020603050405020304" pitchFamily="18" charset="0"/>
              </a:rPr>
              <a:t>Power-sizing </a:t>
            </a:r>
            <a:r>
              <a:rPr lang="mn-MN" sz="3200" dirty="0">
                <a:solidFill>
                  <a:srgbClr val="002060"/>
                </a:solidFill>
                <a:latin typeface="Times New Roman" panose="02020603050405020304" pitchFamily="18" charset="0"/>
                <a:cs typeface="Times New Roman" panose="02020603050405020304" pitchFamily="18" charset="0"/>
              </a:rPr>
              <a:t>арга </a:t>
            </a:r>
          </a:p>
          <a:p>
            <a:pPr lvl="1" algn="just"/>
            <a:r>
              <a:rPr lang="en-US" sz="3200" dirty="0">
                <a:solidFill>
                  <a:srgbClr val="002060"/>
                </a:solidFill>
                <a:latin typeface="Times New Roman" panose="02020603050405020304" pitchFamily="18" charset="0"/>
                <a:cs typeface="Times New Roman" panose="02020603050405020304" pitchFamily="18" charset="0"/>
              </a:rPr>
              <a:t>Learning curve </a:t>
            </a:r>
            <a:r>
              <a:rPr lang="mn-MN" sz="3200" dirty="0">
                <a:solidFill>
                  <a:srgbClr val="002060"/>
                </a:solidFill>
                <a:latin typeface="Times New Roman" panose="02020603050405020304" pitchFamily="18" charset="0"/>
                <a:cs typeface="Times New Roman" panose="02020603050405020304" pitchFamily="18" charset="0"/>
              </a:rPr>
              <a:t>арга</a:t>
            </a:r>
          </a:p>
        </p:txBody>
      </p:sp>
    </p:spTree>
    <p:extLst>
      <p:ext uri="{BB962C8B-B14F-4D97-AF65-F5344CB8AC3E}">
        <p14:creationId xmlns:p14="http://schemas.microsoft.com/office/powerpoint/2010/main" val="1078127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01A8-19EC-869C-3ACB-59656F465B59}"/>
              </a:ext>
            </a:extLst>
          </p:cNvPr>
          <p:cNvSpPr>
            <a:spLocks noGrp="1"/>
          </p:cNvSpPr>
          <p:nvPr>
            <p:ph type="title"/>
          </p:nvPr>
        </p:nvSpPr>
        <p:spPr>
          <a:xfrm>
            <a:off x="230752" y="161361"/>
            <a:ext cx="11587544" cy="689113"/>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3. Зардлын үнэлгээний аргууд</a:t>
            </a:r>
            <a:br>
              <a:rPr lang="mn-MN" sz="3200" b="1" dirty="0">
                <a:solidFill>
                  <a:srgbClr val="002060"/>
                </a:solidFill>
                <a:latin typeface="Times New Roman" panose="02020603050405020304" pitchFamily="18" charset="0"/>
                <a:cs typeface="Times New Roman" panose="02020603050405020304" pitchFamily="18" charset="0"/>
              </a:rPr>
            </a:br>
            <a:r>
              <a:rPr lang="mn-MN" sz="3200" b="1" dirty="0">
                <a:solidFill>
                  <a:srgbClr val="002060"/>
                </a:solidFill>
                <a:latin typeface="Times New Roman" panose="02020603050405020304" pitchFamily="18" charset="0"/>
                <a:cs typeface="Times New Roman" panose="02020603050405020304" pitchFamily="18" charset="0"/>
              </a:rPr>
              <a:t>	</a:t>
            </a:r>
            <a:r>
              <a:rPr lang="en-US" sz="3200" b="1" dirty="0">
                <a:solidFill>
                  <a:schemeClr val="accent2">
                    <a:lumMod val="75000"/>
                  </a:schemeClr>
                </a:solidFill>
                <a:latin typeface="Times New Roman" panose="02020603050405020304" pitchFamily="18" charset="0"/>
                <a:cs typeface="Times New Roman" panose="02020603050405020304" pitchFamily="18" charset="0"/>
              </a:rPr>
              <a:t>III. </a:t>
            </a:r>
            <a:r>
              <a:rPr lang="mn-MN" sz="3200" b="1" dirty="0">
                <a:solidFill>
                  <a:schemeClr val="accent2">
                    <a:lumMod val="75000"/>
                  </a:schemeClr>
                </a:solidFill>
                <a:latin typeface="Times New Roman" panose="02020603050405020304" pitchFamily="18" charset="0"/>
                <a:cs typeface="Times New Roman" panose="02020603050405020304" pitchFamily="18" charset="0"/>
              </a:rPr>
              <a:t>Үнэлгээний өгөгдлийн эх үүсвэр</a:t>
            </a:r>
            <a:endParaRPr lang="en-US" sz="32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26E7B8-5142-C186-F75C-BEAAEDEB0162}"/>
              </a:ext>
            </a:extLst>
          </p:cNvPr>
          <p:cNvSpPr>
            <a:spLocks noGrp="1"/>
          </p:cNvSpPr>
          <p:nvPr>
            <p:ph idx="1"/>
          </p:nvPr>
        </p:nvSpPr>
        <p:spPr>
          <a:xfrm>
            <a:off x="230752" y="956491"/>
            <a:ext cx="11802222" cy="5485474"/>
          </a:xfrm>
        </p:spPr>
        <p:txBody>
          <a:bodyPr>
            <a:normAutofit fontScale="85000" lnSpcReduction="10000"/>
          </a:bodyPr>
          <a:lstStyle/>
          <a:p>
            <a:pPr marL="401638" indent="-401638" algn="just">
              <a:buFont typeface="+mj-lt"/>
              <a:buAutoNum type="arabicPeriod"/>
            </a:pPr>
            <a:r>
              <a:rPr lang="mn-MN" b="1" dirty="0">
                <a:solidFill>
                  <a:srgbClr val="002060"/>
                </a:solidFill>
                <a:latin typeface="Times New Roman" panose="02020603050405020304" pitchFamily="18" charset="0"/>
                <a:cs typeface="Times New Roman" panose="02020603050405020304" pitchFamily="18" charset="0"/>
              </a:rPr>
              <a:t>Нягтлан бодох бүртгэл (НББ).</a:t>
            </a:r>
            <a:r>
              <a:rPr lang="mn-MN" dirty="0">
                <a:solidFill>
                  <a:srgbClr val="002060"/>
                </a:solidFill>
                <a:latin typeface="Times New Roman" panose="02020603050405020304" pitchFamily="18" charset="0"/>
                <a:cs typeface="Times New Roman" panose="02020603050405020304" pitchFamily="18" charset="0"/>
              </a:rPr>
              <a:t> Энэ нь эдийн засгийн шинжилгээний мэдээллийн гол эх үүсвэр болдог. Гэхдээ үүнийг шууд авч хэрэглэхэд тохиромжгүй байдаг. </a:t>
            </a:r>
            <a:endParaRPr lang="en-US" dirty="0">
              <a:solidFill>
                <a:srgbClr val="002060"/>
              </a:solidFill>
              <a:latin typeface="Times New Roman" panose="02020603050405020304" pitchFamily="18" charset="0"/>
              <a:cs typeface="Times New Roman" panose="02020603050405020304" pitchFamily="18" charset="0"/>
            </a:endParaRPr>
          </a:p>
          <a:p>
            <a:pPr marL="401638" indent="-401638" algn="just">
              <a:buFont typeface="+mj-lt"/>
              <a:buAutoNum type="arabicPeriod"/>
            </a:pPr>
            <a:r>
              <a:rPr lang="mn-MN" b="1" dirty="0">
                <a:solidFill>
                  <a:srgbClr val="002060"/>
                </a:solidFill>
                <a:latin typeface="Times New Roman" panose="02020603050405020304" pitchFamily="18" charset="0"/>
                <a:cs typeface="Times New Roman" panose="02020603050405020304" pitchFamily="18" charset="0"/>
              </a:rPr>
              <a:t>Компаний бусад эх үүсвэр. </a:t>
            </a:r>
            <a:r>
              <a:rPr lang="mn-MN" dirty="0">
                <a:solidFill>
                  <a:srgbClr val="002060"/>
                </a:solidFill>
                <a:latin typeface="Times New Roman" panose="02020603050405020304" pitchFamily="18" charset="0"/>
                <a:cs typeface="Times New Roman" panose="02020603050405020304" pitchFamily="18" charset="0"/>
              </a:rPr>
              <a:t>Ямар ч компани үнэлгээний мэдээллийн маш сайн эх сурвалж байж болох олон тооны хүмүүс, бичиг баримттай байдаг. Эдийн засгийн шинжилгээнд ашиг тустай бүртгэл хөтлөлтийн жишээ бол инженерчлэл, борлуулалт, үйлдвэрлэл, чанар, худалдан авалт, ажилтнуудын талаархи бүртгэл юм.</a:t>
            </a:r>
            <a:endParaRPr lang="en-US" dirty="0">
              <a:solidFill>
                <a:srgbClr val="002060"/>
              </a:solidFill>
              <a:latin typeface="Times New Roman" panose="02020603050405020304" pitchFamily="18" charset="0"/>
              <a:cs typeface="Times New Roman" panose="02020603050405020304" pitchFamily="18" charset="0"/>
            </a:endParaRPr>
          </a:p>
          <a:p>
            <a:pPr marL="401638" indent="-401638" algn="just">
              <a:buFont typeface="+mj-lt"/>
              <a:buAutoNum type="arabicPeriod"/>
            </a:pPr>
            <a:r>
              <a:rPr lang="mn-MN" b="1" dirty="0">
                <a:solidFill>
                  <a:srgbClr val="002060"/>
                </a:solidFill>
                <a:latin typeface="Times New Roman" panose="02020603050405020304" pitchFamily="18" charset="0"/>
                <a:cs typeface="Times New Roman" panose="02020603050405020304" pitchFamily="18" charset="0"/>
              </a:rPr>
              <a:t>Компаний гадаад эх сурвалж. </a:t>
            </a:r>
            <a:r>
              <a:rPr lang="mn-MN" dirty="0">
                <a:solidFill>
                  <a:srgbClr val="002060"/>
                </a:solidFill>
                <a:latin typeface="Times New Roman" panose="02020603050405020304" pitchFamily="18" charset="0"/>
                <a:cs typeface="Times New Roman" panose="02020603050405020304" pitchFamily="18" charset="0"/>
              </a:rPr>
              <a:t>Туслах мэдээллээр хангаж чадах олон тооны эх сурвалж компаний гадаад орчинд бий. Жишээ нь::</a:t>
            </a:r>
          </a:p>
          <a:p>
            <a:pPr marL="457200" lvl="1" indent="0" algn="just">
              <a:buNone/>
            </a:pPr>
            <a:r>
              <a:rPr lang="en-US" b="1" dirty="0">
                <a:solidFill>
                  <a:srgbClr val="002060"/>
                </a:solidFill>
                <a:latin typeface="Times New Roman" panose="02020603050405020304" pitchFamily="18" charset="0"/>
                <a:cs typeface="Times New Roman" panose="02020603050405020304" pitchFamily="18" charset="0"/>
              </a:rPr>
              <a:t>A. </a:t>
            </a:r>
            <a:r>
              <a:rPr lang="mn-MN" b="1" dirty="0">
                <a:solidFill>
                  <a:srgbClr val="002060"/>
                </a:solidFill>
                <a:latin typeface="Times New Roman" panose="02020603050405020304" pitchFamily="18" charset="0"/>
                <a:cs typeface="Times New Roman" panose="02020603050405020304" pitchFamily="18" charset="0"/>
              </a:rPr>
              <a:t>Хэвлэмэл мэдээлэл.</a:t>
            </a:r>
            <a:r>
              <a:rPr lang="mn-MN" dirty="0">
                <a:solidFill>
                  <a:srgbClr val="002060"/>
                </a:solidFill>
                <a:latin typeface="Times New Roman" panose="02020603050405020304" pitchFamily="18" charset="0"/>
                <a:cs typeface="Times New Roman" panose="02020603050405020304" pitchFamily="18" charset="0"/>
              </a:rPr>
              <a:t> Техникийн сангууд, худалдан авагчийн индексүүд, засгийн газрын хэвлэл, лавлах толь, каталог зэрэг нь их хэмжээний мэдээлэл өгдөг. </a:t>
            </a:r>
            <a:endParaRPr lang="en-US" dirty="0">
              <a:solidFill>
                <a:srgbClr val="002060"/>
              </a:solidFill>
              <a:latin typeface="Times New Roman" panose="02020603050405020304" pitchFamily="18" charset="0"/>
              <a:cs typeface="Times New Roman" panose="02020603050405020304" pitchFamily="18" charset="0"/>
            </a:endParaRPr>
          </a:p>
          <a:p>
            <a:pPr marL="457200" lvl="1" indent="0" algn="just">
              <a:buNone/>
            </a:pPr>
            <a:r>
              <a:rPr lang="en-US" b="1" dirty="0">
                <a:solidFill>
                  <a:srgbClr val="002060"/>
                </a:solidFill>
                <a:latin typeface="Times New Roman" panose="02020603050405020304" pitchFamily="18" charset="0"/>
                <a:cs typeface="Times New Roman" panose="02020603050405020304" pitchFamily="18" charset="0"/>
              </a:rPr>
              <a:t>B. </a:t>
            </a:r>
            <a:r>
              <a:rPr lang="mn-MN" b="1" dirty="0">
                <a:solidFill>
                  <a:srgbClr val="002060"/>
                </a:solidFill>
                <a:latin typeface="Times New Roman" panose="02020603050405020304" pitchFamily="18" charset="0"/>
                <a:cs typeface="Times New Roman" panose="02020603050405020304" pitchFamily="18" charset="0"/>
              </a:rPr>
              <a:t>Хувийн харилцаа холбоо</a:t>
            </a:r>
            <a:r>
              <a:rPr lang="mn-MN" dirty="0">
                <a:solidFill>
                  <a:srgbClr val="002060"/>
                </a:solidFill>
                <a:latin typeface="Times New Roman" panose="02020603050405020304" pitchFamily="18" charset="0"/>
                <a:cs typeface="Times New Roman" panose="02020603050405020304" pitchFamily="18" charset="0"/>
              </a:rPr>
              <a:t> бол боломжит эх үүсвэр юм. Нийлүүлэгчид, борлуулагч, мэргэжлийн танил, хэрэглэгч, банк, засгийн газрын агентлаг, худалдааны танхим, тэр ч байтугай өрсөлдөгчид шаардлагатай мэдээллээр хангах боломжтой.</a:t>
            </a:r>
            <a:endParaRPr lang="en-US" dirty="0">
              <a:solidFill>
                <a:srgbClr val="002060"/>
              </a:solidFill>
              <a:latin typeface="Times New Roman" panose="02020603050405020304" pitchFamily="18" charset="0"/>
              <a:cs typeface="Times New Roman" panose="02020603050405020304" pitchFamily="18" charset="0"/>
            </a:endParaRPr>
          </a:p>
          <a:p>
            <a:pPr marL="512763" lvl="1" indent="-512763" algn="just">
              <a:buNone/>
            </a:pPr>
            <a:r>
              <a:rPr lang="en-US" b="1" dirty="0">
                <a:solidFill>
                  <a:srgbClr val="002060"/>
                </a:solidFill>
                <a:latin typeface="Times New Roman" panose="02020603050405020304" pitchFamily="18" charset="0"/>
                <a:cs typeface="Times New Roman" panose="02020603050405020304" pitchFamily="18" charset="0"/>
              </a:rPr>
              <a:t>4. </a:t>
            </a:r>
            <a:r>
              <a:rPr lang="mn-MN" sz="2800" b="1" dirty="0">
                <a:solidFill>
                  <a:srgbClr val="002060"/>
                </a:solidFill>
                <a:latin typeface="Times New Roman" panose="02020603050405020304" pitchFamily="18" charset="0"/>
                <a:cs typeface="Times New Roman" panose="02020603050405020304" pitchFamily="18" charset="0"/>
              </a:rPr>
              <a:t>Судалгаа ба хөгжүүлэлт (</a:t>
            </a:r>
            <a:r>
              <a:rPr lang="en-US" sz="2800" b="1" dirty="0">
                <a:solidFill>
                  <a:srgbClr val="002060"/>
                </a:solidFill>
                <a:latin typeface="Times New Roman" panose="02020603050405020304" pitchFamily="18" charset="0"/>
                <a:cs typeface="Times New Roman" panose="02020603050405020304" pitchFamily="18" charset="0"/>
              </a:rPr>
              <a:t>R&amp;D). </a:t>
            </a:r>
            <a:r>
              <a:rPr lang="mn-MN" sz="2800" dirty="0">
                <a:solidFill>
                  <a:srgbClr val="002060"/>
                </a:solidFill>
                <a:latin typeface="Times New Roman" panose="02020603050405020304" pitchFamily="18" charset="0"/>
                <a:cs typeface="Times New Roman" panose="02020603050405020304" pitchFamily="18" charset="0"/>
              </a:rPr>
              <a:t>Хэрвээ мэдээлэл нь хэвлэгдээгүй бөгөөд хэн нэгэнтэй зөвлөлдөх боломжгүй бол түүнийг бий болгох хэрэгтэй. Жишээ, туршилтын станцыг хөгжүүлж, туршилтын зах зээлийн хөтөлбөрийг хэрэгжүүлэх гэх мэт.</a:t>
            </a:r>
          </a:p>
        </p:txBody>
      </p:sp>
    </p:spTree>
    <p:extLst>
      <p:ext uri="{BB962C8B-B14F-4D97-AF65-F5344CB8AC3E}">
        <p14:creationId xmlns:p14="http://schemas.microsoft.com/office/powerpoint/2010/main" val="1556992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6F398-5B87-D2C2-26CA-FA9CCFFAB46D}"/>
              </a:ext>
            </a:extLst>
          </p:cNvPr>
          <p:cNvSpPr>
            <a:spLocks noGrp="1"/>
          </p:cNvSpPr>
          <p:nvPr>
            <p:ph type="title"/>
          </p:nvPr>
        </p:nvSpPr>
        <p:spPr>
          <a:xfrm>
            <a:off x="354106" y="167903"/>
            <a:ext cx="11723108" cy="692710"/>
          </a:xfrm>
        </p:spPr>
        <p:txBody>
          <a:bodyPr>
            <a:normAutofit/>
          </a:bodyPr>
          <a:lstStyle/>
          <a:p>
            <a:r>
              <a:rPr lang="mn-MN" sz="3600" b="1" dirty="0">
                <a:solidFill>
                  <a:srgbClr val="002060"/>
                </a:solidFill>
                <a:latin typeface="Times New Roman" panose="02020603050405020304" pitchFamily="18" charset="0"/>
                <a:cs typeface="Times New Roman" panose="02020603050405020304" pitchFamily="18" charset="0"/>
              </a:rPr>
              <a:t>Үйлдвэрлэл, үйл ажиллагааны нийт зардлын тооцоо</a:t>
            </a:r>
            <a:endParaRPr lang="en-US" sz="36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A51CE96-F7C2-C80A-3BC9-3A79DBA682D1}"/>
              </a:ext>
            </a:extLst>
          </p:cNvPr>
          <p:cNvPicPr>
            <a:picLocks noChangeAspect="1"/>
          </p:cNvPicPr>
          <p:nvPr/>
        </p:nvPicPr>
        <p:blipFill>
          <a:blip r:embed="rId3"/>
          <a:stretch>
            <a:fillRect/>
          </a:stretch>
        </p:blipFill>
        <p:spPr>
          <a:xfrm>
            <a:off x="121025" y="878929"/>
            <a:ext cx="11794741" cy="5829097"/>
          </a:xfrm>
          <a:prstGeom prst="rect">
            <a:avLst/>
          </a:prstGeom>
        </p:spPr>
      </p:pic>
    </p:spTree>
    <p:extLst>
      <p:ext uri="{BB962C8B-B14F-4D97-AF65-F5344CB8AC3E}">
        <p14:creationId xmlns:p14="http://schemas.microsoft.com/office/powerpoint/2010/main" val="889512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91DE2-803C-F597-78F8-2075D6345698}"/>
              </a:ext>
            </a:extLst>
          </p:cNvPr>
          <p:cNvSpPr>
            <a:spLocks noGrp="1"/>
          </p:cNvSpPr>
          <p:nvPr>
            <p:ph type="title"/>
          </p:nvPr>
        </p:nvSpPr>
        <p:spPr>
          <a:xfrm>
            <a:off x="552972" y="1752350"/>
            <a:ext cx="3403601" cy="2887133"/>
          </a:xfrm>
        </p:spPr>
        <p:txBody>
          <a:bodyPr>
            <a:noAutofit/>
          </a:bodyPr>
          <a:lstStyle/>
          <a:p>
            <a:pPr algn="ctr"/>
            <a:r>
              <a:rPr lang="mn-MN" sz="3600" b="1" dirty="0">
                <a:solidFill>
                  <a:srgbClr val="002060"/>
                </a:solidFill>
                <a:latin typeface="Times New Roman" panose="02020603050405020304" pitchFamily="18" charset="0"/>
                <a:cs typeface="Times New Roman" panose="02020603050405020304" pitchFamily="18" charset="0"/>
              </a:rPr>
              <a:t>Бүтээгдэхүүн үйлдвэрлэлийн н</a:t>
            </a:r>
            <a:r>
              <a:rPr lang="ru-RU" sz="3600" b="1" dirty="0">
                <a:solidFill>
                  <a:srgbClr val="002060"/>
                </a:solidFill>
                <a:latin typeface="Times New Roman" panose="02020603050405020304" pitchFamily="18" charset="0"/>
                <a:cs typeface="Times New Roman" panose="02020603050405020304" pitchFamily="18" charset="0"/>
              </a:rPr>
              <a:t>ийт зардлын </a:t>
            </a:r>
            <a:r>
              <a:rPr lang="mn-MN" sz="3600" b="1" dirty="0">
                <a:solidFill>
                  <a:srgbClr val="002060"/>
                </a:solidFill>
                <a:latin typeface="Times New Roman" panose="02020603050405020304" pitchFamily="18" charset="0"/>
                <a:cs typeface="Times New Roman" panose="02020603050405020304" pitchFamily="18" charset="0"/>
              </a:rPr>
              <a:t>тооцоо</a:t>
            </a:r>
            <a:endParaRPr lang="en-US" sz="36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F38236D-CC10-DFCD-6135-52515BF37D4A}"/>
              </a:ext>
            </a:extLst>
          </p:cNvPr>
          <p:cNvGraphicFramePr>
            <a:graphicFrameLocks noGrp="1"/>
          </p:cNvGraphicFramePr>
          <p:nvPr>
            <p:extLst>
              <p:ext uri="{D42A27DB-BD31-4B8C-83A1-F6EECF244321}">
                <p14:modId xmlns:p14="http://schemas.microsoft.com/office/powerpoint/2010/main" val="486458377"/>
              </p:ext>
            </p:extLst>
          </p:nvPr>
        </p:nvGraphicFramePr>
        <p:xfrm>
          <a:off x="4143935" y="91440"/>
          <a:ext cx="6668845" cy="6675120"/>
        </p:xfrm>
        <a:graphic>
          <a:graphicData uri="http://schemas.openxmlformats.org/drawingml/2006/table">
            <a:tbl>
              <a:tblPr firstRow="1" bandRow="1">
                <a:tableStyleId>{5C22544A-7EE6-4342-B048-85BDC9FD1C3A}</a:tableStyleId>
              </a:tblPr>
              <a:tblGrid>
                <a:gridCol w="653546">
                  <a:extLst>
                    <a:ext uri="{9D8B030D-6E8A-4147-A177-3AD203B41FA5}">
                      <a16:colId xmlns:a16="http://schemas.microsoft.com/office/drawing/2014/main" val="732032829"/>
                    </a:ext>
                  </a:extLst>
                </a:gridCol>
                <a:gridCol w="4026479">
                  <a:extLst>
                    <a:ext uri="{9D8B030D-6E8A-4147-A177-3AD203B41FA5}">
                      <a16:colId xmlns:a16="http://schemas.microsoft.com/office/drawing/2014/main" val="3985208349"/>
                    </a:ext>
                  </a:extLst>
                </a:gridCol>
                <a:gridCol w="1988820">
                  <a:extLst>
                    <a:ext uri="{9D8B030D-6E8A-4147-A177-3AD203B41FA5}">
                      <a16:colId xmlns:a16="http://schemas.microsoft.com/office/drawing/2014/main" val="122378052"/>
                    </a:ext>
                  </a:extLst>
                </a:gridCol>
              </a:tblGrid>
              <a:tr h="0">
                <a:tc>
                  <a:txBody>
                    <a:bodyPr/>
                    <a:lstStyle/>
                    <a:p>
                      <a:r>
                        <a:rPr lang="mn-MN" sz="1700" dirty="0">
                          <a:latin typeface="Times New Roman" panose="02020603050405020304" pitchFamily="18" charset="0"/>
                          <a:cs typeface="Times New Roman" panose="02020603050405020304" pitchFamily="18" charset="0"/>
                        </a:rPr>
                        <a:t>№</a:t>
                      </a:r>
                      <a:endParaRPr lang="en-US" sz="1700" dirty="0">
                        <a:latin typeface="Times New Roman" panose="02020603050405020304" pitchFamily="18" charset="0"/>
                        <a:cs typeface="Times New Roman" panose="02020603050405020304" pitchFamily="18" charset="0"/>
                      </a:endParaRPr>
                    </a:p>
                  </a:txBody>
                  <a:tcPr/>
                </a:tc>
                <a:tc>
                  <a:txBody>
                    <a:bodyPr/>
                    <a:lstStyle/>
                    <a:p>
                      <a:r>
                        <a:rPr lang="mn-MN" sz="1700" dirty="0">
                          <a:latin typeface="Times New Roman" panose="02020603050405020304" pitchFamily="18" charset="0"/>
                          <a:cs typeface="Times New Roman" panose="02020603050405020304" pitchFamily="18" charset="0"/>
                        </a:rPr>
                        <a:t>Зардлын төрөл</a:t>
                      </a:r>
                      <a:endParaRPr lang="en-US" sz="1700" dirty="0">
                        <a:latin typeface="Times New Roman" panose="02020603050405020304" pitchFamily="18" charset="0"/>
                        <a:cs typeface="Times New Roman" panose="02020603050405020304" pitchFamily="18" charset="0"/>
                      </a:endParaRPr>
                    </a:p>
                  </a:txBody>
                  <a:tcPr/>
                </a:tc>
                <a:tc>
                  <a:txBody>
                    <a:bodyPr/>
                    <a:lstStyle/>
                    <a:p>
                      <a:r>
                        <a:rPr lang="mn-MN" sz="1700" dirty="0">
                          <a:latin typeface="Times New Roman" panose="02020603050405020304" pitchFamily="18" charset="0"/>
                          <a:cs typeface="Times New Roman" panose="02020603050405020304" pitchFamily="18" charset="0"/>
                        </a:rPr>
                        <a:t>Зардлын ангилал</a:t>
                      </a:r>
                      <a:endParaRPr lang="en-US" sz="17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96441841"/>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Материалын зардал</a:t>
                      </a:r>
                      <a:endParaRPr lang="en-US" sz="1700" dirty="0">
                        <a:latin typeface="Times New Roman" panose="02020603050405020304" pitchFamily="18" charset="0"/>
                        <a:cs typeface="Times New Roman" panose="02020603050405020304" pitchFamily="18" charset="0"/>
                      </a:endParaRPr>
                    </a:p>
                  </a:txBody>
                  <a:tcPr anchor="ctr"/>
                </a:tc>
                <a:tc rowSpan="2">
                  <a:txBody>
                    <a:bodyPr/>
                    <a:lstStyle/>
                    <a:p>
                      <a:r>
                        <a:rPr lang="mn-MN" sz="1700" dirty="0">
                          <a:latin typeface="Times New Roman" panose="02020603050405020304" pitchFamily="18" charset="0"/>
                          <a:cs typeface="Times New Roman" panose="02020603050405020304" pitchFamily="18" charset="0"/>
                        </a:rPr>
                        <a:t>Шууд зардал</a:t>
                      </a:r>
                      <a:endParaRPr lang="en-US" sz="17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16232763"/>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2</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Хийснээрх хөдөлмөрийн зардал </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1197970793"/>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3</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Тогтмол цалингийн зардал</a:t>
                      </a:r>
                      <a:endParaRPr lang="en-US" sz="1700" dirty="0">
                        <a:latin typeface="Times New Roman" panose="02020603050405020304" pitchFamily="18" charset="0"/>
                        <a:cs typeface="Times New Roman" panose="02020603050405020304" pitchFamily="18" charset="0"/>
                      </a:endParaRPr>
                    </a:p>
                  </a:txBody>
                  <a:tcPr/>
                </a:tc>
                <a:tc rowSpan="13">
                  <a:txBody>
                    <a:bodyPr/>
                    <a:lstStyle/>
                    <a:p>
                      <a:r>
                        <a:rPr lang="mn-MN" sz="1700" dirty="0">
                          <a:latin typeface="Times New Roman" panose="02020603050405020304" pitchFamily="18" charset="0"/>
                          <a:cs typeface="Times New Roman" panose="02020603050405020304" pitchFamily="18" charset="0"/>
                        </a:rPr>
                        <a:t>Шууд бус зардал</a:t>
                      </a:r>
                      <a:endParaRPr lang="en-US" sz="17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60892856"/>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4</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НДШ-ийн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2595247696"/>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5</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Эрчим хүчний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a:p>
                  </a:txBody>
                  <a:tcPr/>
                </a:tc>
                <a:extLst>
                  <a:ext uri="{0D108BD9-81ED-4DB2-BD59-A6C34878D82A}">
                    <a16:rowId xmlns:a16="http://schemas.microsoft.com/office/drawing/2014/main" val="1707988923"/>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6</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Түрээсийн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3754122106"/>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7</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Элэгдэл, хорогдлын шимтгэлийн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2899666104"/>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8</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Борлуулалт, маркетингийн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2237514471"/>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9</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Харилцаа холбооны зардал </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2833153989"/>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10</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Хөдөлмөр хамгааллын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3902088659"/>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11</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Зээлийн хүүний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927799242"/>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12</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Сав баглаа боодлын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1807469421"/>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13</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Тээврийн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2310808505"/>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14</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Гаалийн татварын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2269431117"/>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15</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НӨАТ-ын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662083052"/>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16</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Эрсдлийн зардал</a:t>
                      </a:r>
                      <a:endParaRPr lang="en-US" sz="1700" dirty="0">
                        <a:latin typeface="Times New Roman" panose="02020603050405020304" pitchFamily="18" charset="0"/>
                        <a:cs typeface="Times New Roman" panose="02020603050405020304" pitchFamily="18" charset="0"/>
                      </a:endParaRPr>
                    </a:p>
                  </a:txBody>
                  <a:tcPr/>
                </a:tc>
                <a:tc rowSpan="5">
                  <a:txBody>
                    <a:bodyPr/>
                    <a:lstStyle/>
                    <a:p>
                      <a:r>
                        <a:rPr lang="mn-MN" sz="1700" dirty="0">
                          <a:latin typeface="Times New Roman" panose="02020603050405020304" pitchFamily="18" charset="0"/>
                          <a:cs typeface="Times New Roman" panose="02020603050405020304" pitchFamily="18" charset="0"/>
                        </a:rPr>
                        <a:t>Нэмэлт зардал</a:t>
                      </a:r>
                      <a:endParaRPr lang="en-US" sz="17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46510826"/>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17</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Эзний орлого</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434198261"/>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18</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Өөрийн хөрөнгийн хүүний хэмжээ</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3149785498"/>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19</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Өөрийн байрны түрээсийн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559090388"/>
                  </a:ext>
                </a:extLst>
              </a:tr>
              <a:tr h="0">
                <a:tc>
                  <a:txBody>
                    <a:bodyPr/>
                    <a:lstStyle/>
                    <a:p>
                      <a:pPr>
                        <a:lnSpc>
                          <a:spcPct val="80000"/>
                        </a:lnSpc>
                      </a:pPr>
                      <a:r>
                        <a:rPr lang="mn-MN" sz="1700" dirty="0">
                          <a:latin typeface="Times New Roman" panose="02020603050405020304" pitchFamily="18" charset="0"/>
                          <a:cs typeface="Times New Roman" panose="02020603050405020304" pitchFamily="18" charset="0"/>
                        </a:rPr>
                        <a:t>20</a:t>
                      </a: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Бусад зардал</a:t>
                      </a:r>
                      <a:endParaRPr lang="en-US" sz="1700" dirty="0">
                        <a:latin typeface="Times New Roman" panose="02020603050405020304" pitchFamily="18" charset="0"/>
                        <a:cs typeface="Times New Roman" panose="02020603050405020304" pitchFamily="18" charset="0"/>
                      </a:endParaRPr>
                    </a:p>
                  </a:txBody>
                  <a:tcPr/>
                </a:tc>
                <a:tc vMerge="1">
                  <a:txBody>
                    <a:bodyPr/>
                    <a:lstStyle/>
                    <a:p>
                      <a:endParaRPr lang="en-US" dirty="0"/>
                    </a:p>
                  </a:txBody>
                  <a:tcPr/>
                </a:tc>
                <a:extLst>
                  <a:ext uri="{0D108BD9-81ED-4DB2-BD59-A6C34878D82A}">
                    <a16:rowId xmlns:a16="http://schemas.microsoft.com/office/drawing/2014/main" val="3239549170"/>
                  </a:ext>
                </a:extLst>
              </a:tr>
              <a:tr h="0">
                <a:tc>
                  <a:txBody>
                    <a:bodyPr/>
                    <a:lstStyle/>
                    <a:p>
                      <a:pPr>
                        <a:lnSpc>
                          <a:spcPct val="80000"/>
                        </a:lnSpc>
                      </a:pPr>
                      <a:endParaRPr lang="en-US" sz="1700" dirty="0">
                        <a:latin typeface="Times New Roman" panose="02020603050405020304" pitchFamily="18" charset="0"/>
                        <a:cs typeface="Times New Roman" panose="02020603050405020304" pitchFamily="18" charset="0"/>
                      </a:endParaRPr>
                    </a:p>
                  </a:txBody>
                  <a:tcPr/>
                </a:tc>
                <a:tc>
                  <a:txBody>
                    <a:bodyPr/>
                    <a:lstStyle/>
                    <a:p>
                      <a:pPr>
                        <a:lnSpc>
                          <a:spcPct val="80000"/>
                        </a:lnSpc>
                      </a:pPr>
                      <a:r>
                        <a:rPr lang="mn-MN" sz="1700" dirty="0">
                          <a:latin typeface="Times New Roman" panose="02020603050405020304" pitchFamily="18" charset="0"/>
                          <a:cs typeface="Times New Roman" panose="02020603050405020304" pitchFamily="18" charset="0"/>
                        </a:rPr>
                        <a:t>Нийт зардлын дүн</a:t>
                      </a:r>
                      <a:endParaRPr lang="en-US" sz="1700" dirty="0">
                        <a:latin typeface="Times New Roman" panose="02020603050405020304" pitchFamily="18" charset="0"/>
                        <a:cs typeface="Times New Roman" panose="02020603050405020304" pitchFamily="18" charset="0"/>
                      </a:endParaRPr>
                    </a:p>
                  </a:txBody>
                  <a:tcPr/>
                </a:tc>
                <a:tc>
                  <a:txBody>
                    <a:bodyPr/>
                    <a:lstStyle/>
                    <a:p>
                      <a:endParaRPr lang="en-US" sz="17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3669501"/>
                  </a:ext>
                </a:extLst>
              </a:tr>
            </a:tbl>
          </a:graphicData>
        </a:graphic>
      </p:graphicFrame>
    </p:spTree>
    <p:extLst>
      <p:ext uri="{BB962C8B-B14F-4D97-AF65-F5344CB8AC3E}">
        <p14:creationId xmlns:p14="http://schemas.microsoft.com/office/powerpoint/2010/main" val="26706685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2878-A0F5-19C4-3E51-C4A71A313123}"/>
              </a:ext>
            </a:extLst>
          </p:cNvPr>
          <p:cNvSpPr>
            <a:spLocks noGrp="1"/>
          </p:cNvSpPr>
          <p:nvPr>
            <p:ph type="title"/>
          </p:nvPr>
        </p:nvSpPr>
        <p:spPr>
          <a:xfrm>
            <a:off x="605790" y="365125"/>
            <a:ext cx="10748010" cy="1325563"/>
          </a:xfrm>
        </p:spPr>
        <p:txBody>
          <a:bodyPr/>
          <a:lstStyle/>
          <a:p>
            <a:pPr algn="just"/>
            <a:r>
              <a:rPr lang="mn-MN" b="1" dirty="0">
                <a:solidFill>
                  <a:srgbClr val="002060"/>
                </a:solidFill>
                <a:latin typeface="Times New Roman" panose="02020603050405020304" pitchFamily="18" charset="0"/>
                <a:cs typeface="Times New Roman" panose="02020603050405020304" pitchFamily="18" charset="0"/>
              </a:rPr>
              <a:t>Уншиж судлах ном, сурах бичиг</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D6ECD2-1478-C382-3CB4-7AE5501AC3DD}"/>
              </a:ext>
            </a:extLst>
          </p:cNvPr>
          <p:cNvSpPr>
            <a:spLocks noGrp="1"/>
          </p:cNvSpPr>
          <p:nvPr>
            <p:ph idx="1"/>
          </p:nvPr>
        </p:nvSpPr>
        <p:spPr>
          <a:xfrm>
            <a:off x="605790" y="1825625"/>
            <a:ext cx="10748010" cy="4351338"/>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Д.Энх-Отгон, “Бизнес төлөвлөлт”, 2017</a:t>
            </a:r>
          </a:p>
          <a:p>
            <a:pPr algn="just"/>
            <a:r>
              <a:rPr lang="mn-MN" sz="3200" dirty="0">
                <a:solidFill>
                  <a:srgbClr val="002060"/>
                </a:solidFill>
                <a:latin typeface="Times New Roman" panose="02020603050405020304" pitchFamily="18" charset="0"/>
                <a:cs typeface="Times New Roman" panose="02020603050405020304" pitchFamily="18" charset="0"/>
              </a:rPr>
              <a:t>Г.Алтанзаяа, Г.Мөнхзул, Зардлын бүртгэл, 2009</a:t>
            </a:r>
          </a:p>
          <a:p>
            <a:pPr algn="just"/>
            <a:r>
              <a:rPr lang="mn-MN" sz="3200" dirty="0">
                <a:solidFill>
                  <a:srgbClr val="002060"/>
                </a:solidFill>
                <a:latin typeface="Times New Roman" panose="02020603050405020304" pitchFamily="18" charset="0"/>
                <a:cs typeface="Times New Roman" panose="02020603050405020304" pitchFamily="18" charset="0"/>
              </a:rPr>
              <a:t>А.Саранчимэг, П. Жавзмаа, Зардлын бүртгэл, </a:t>
            </a:r>
          </a:p>
          <a:p>
            <a:pPr algn="just"/>
            <a:r>
              <a:rPr lang="mn-MN" sz="3200" dirty="0">
                <a:solidFill>
                  <a:srgbClr val="002060"/>
                </a:solidFill>
                <a:latin typeface="Times New Roman" panose="02020603050405020304" pitchFamily="18" charset="0"/>
                <a:cs typeface="Times New Roman" panose="02020603050405020304" pitchFamily="18" charset="0"/>
              </a:rPr>
              <a:t>П.Одмаа, Бизнес төсөл боловсруулах аргачилсан зөвлөмж”, 2011</a:t>
            </a:r>
          </a:p>
        </p:txBody>
      </p:sp>
    </p:spTree>
    <p:extLst>
      <p:ext uri="{BB962C8B-B14F-4D97-AF65-F5344CB8AC3E}">
        <p14:creationId xmlns:p14="http://schemas.microsoft.com/office/powerpoint/2010/main" val="8375632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3467" y="1520612"/>
            <a:ext cx="10905066" cy="3816774"/>
          </a:xfrm>
          <a:prstGeom prst="rect">
            <a:avLst/>
          </a:prstGeom>
          <a:ln>
            <a:noFill/>
          </a:ln>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264216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7E96AE3-8A83-4486-8BBA-BC67CB768C82"/>
  <p:tag name="ISPRING_CMI5_LAUNCH_METHOD" val="any window"/>
  <p:tag name="ISPRINGCLOUDFOLDERID" val="1"/>
  <p:tag name="ISPRINGONLINEFOLDERID" val="1"/>
  <p:tag name="ISPRING_OUTPUT_FOLDER" val="[[&quot;\uFFFD12\u001E{5CDD3A6F-82E0-49E5-B476-77BB91554EEC}&quot;,&quot;C:\\Users\\217\\Download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PASSING_SCORE" val="0.000000"/>
  <p:tag name="ISPRING_CURRENT_PLAYER_ID" val="universal"/>
  <p:tag name="ISPRING_FIRST_PUBLISH" val="1"/>
  <p:tag name="ISPRING_ULTRA_SCORM_COURCE_TITLE" val="S.EEM101_Lecture06_2023-24.B_ByTs.B_2024.03.03"/>
  <p:tag name="ISPRING_PRESENTATION_TITLE" val="S.EEM101_Lecture06_2023-24.B_ByTs.B_2024.03.03"/>
  <p:tag name="ISPRING_SCORM_ENDPOINT" val="&lt;endpoint&gt;&lt;enable&gt;0&lt;/enable&gt;&lt;lrs&gt;http://&lt;/lrs&gt;&lt;auth&gt;0&lt;/auth&gt;&lt;login&gt;&lt;/login&gt;&lt;password&gt;&lt;/password&gt;&lt;key&gt;&lt;/key&gt;&lt;name&gt;&lt;/name&gt;&lt;email&gt;&lt;/email&gt;&lt;/endpoint&gt;&#10;"/>
  <p:tag name="ISPRING_SCORM_RATE_QUIZZES"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3609</TotalTime>
  <Words>4879</Words>
  <Application>Microsoft Office PowerPoint</Application>
  <PresentationFormat>Widescreen</PresentationFormat>
  <Paragraphs>433</Paragraphs>
  <Slides>41</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Calibri Light</vt:lpstr>
      <vt:lpstr>Cambria Math</vt:lpstr>
      <vt:lpstr>Times New Roman</vt:lpstr>
      <vt:lpstr>Office Theme</vt:lpstr>
      <vt:lpstr>Лекц 6. Зардал, зардлын ангилал</vt:lpstr>
      <vt:lpstr>Хичээлийн суралцахуйн үр дүнгүүд  Оюутан энэ сэдвийг судалснаар дараах ур чадваруудтай болсон байна. </vt:lpstr>
      <vt:lpstr>Хичээлийн агуулга </vt:lpstr>
      <vt:lpstr>Зардал, тодорхойлолт </vt:lpstr>
      <vt:lpstr>Зардал, тэдгээрийн ангилал</vt:lpstr>
      <vt:lpstr>1. Зардал, орлого, тэдгээрийн ангилал</vt:lpstr>
      <vt:lpstr>Зардал, тэдгээрийн ангилал</vt:lpstr>
      <vt:lpstr>Зардал, тэдгээрийн ангилал</vt:lpstr>
      <vt:lpstr>Зардал, тэдгээрийн ангилал</vt:lpstr>
      <vt:lpstr>Зардал, тэдгээрийн ангилал</vt:lpstr>
      <vt:lpstr>PowerPoint Presentation</vt:lpstr>
      <vt:lpstr>PowerPoint Presentation</vt:lpstr>
      <vt:lpstr>PowerPoint Presentation</vt:lpstr>
      <vt:lpstr>Амьдралын мөчлөгийн үе шатууд, тэдгээрийн зардлын хамаарал</vt:lpstr>
      <vt:lpstr>PowerPoint Presentation</vt:lpstr>
      <vt:lpstr>Зардлын өөр нэг ангилал</vt:lpstr>
      <vt:lpstr>Эдийн засгийн ерөнхий орчин</vt:lpstr>
      <vt:lpstr>Эдийн засгийн ерөнхий орчин (2)  2.1. Эдийн засгийн үнийн хэмжүүр</vt:lpstr>
      <vt:lpstr>Эдийн засгийн ерөнхий орчин   2.2. Эдийн засгийн үнэ ба эрэлт</vt:lpstr>
      <vt:lpstr>Эдийн засгийн ерөнхий орчин  2.3 Нийт орлогын функц</vt:lpstr>
      <vt:lpstr>PowerPoint Presentation</vt:lpstr>
      <vt:lpstr>2. Эдийн засгийн ерөнхий орчин  2.4.1. Хугарлын цэг тодорхойлох I хувилбар</vt:lpstr>
      <vt:lpstr>2. Эдийн засгийн ерөнхий орчин  2.4.2. Хугарлын цэг тодорхойлох II хувилбар</vt:lpstr>
      <vt:lpstr>2. Эдийн засгийн ерөнхий орчин  2.5 Одоогийн эдийн засгийн шинжилгээ</vt:lpstr>
      <vt:lpstr>3. Зардлын үнэлгээний аргууд</vt:lpstr>
      <vt:lpstr>3. Зардлын үнэлгээний аргууд  3.1 Өртөг, зардлыг тооцох хандлага</vt:lpstr>
      <vt:lpstr>3. Зардлын үнэлгээний аргууд  3.2 Зардлын үнэлгээний нэгдсэн арга</vt:lpstr>
      <vt:lpstr>3. Зардлын үнэлгээний аргууд  3.2 Зардлын үнэлгээний нэгдсэн аргын бүтэц</vt:lpstr>
      <vt:lpstr>3. Зардлын үнэлгээний аргууд  I. Work Breakdown Structure (WBS)-Ажлын задаргааны бүтэц </vt:lpstr>
      <vt:lpstr>3. Зардлын үнэлгээний аргууд I. Ажлын задаргааны бүтэц (WBS)-ийн шинж чанарууд</vt:lpstr>
      <vt:lpstr>3. Зардлын үнэлгээний аргууд  II. Зардал ба орлогын бүтэц </vt:lpstr>
      <vt:lpstr>3. Зардлын үнэлгээний аргууд  III. Үнэлгээний аргууд (загварууд) </vt:lpstr>
      <vt:lpstr>3. Зардлын үнэлгээний аргууд III. Үнэлгээний аргууд (загварууд) </vt:lpstr>
      <vt:lpstr>3. Зардлын үнэлгээний аргууд  III. Үнэлгээний аргууд (загварууд) </vt:lpstr>
      <vt:lpstr>3. Зардлын үнэлгээний аргууд  III. Үнэлгээний аргууд (загварууд) </vt:lpstr>
      <vt:lpstr>3. Зардлын үнэлгээний аргууд  III. Үнэлгээний аргууд (загварууд) </vt:lpstr>
      <vt:lpstr>3. Зардлын үнэлгээний аргууд  III. Үнэлгээний өгөгдлийн эх үүсвэр</vt:lpstr>
      <vt:lpstr>Үйлдвэрлэл, үйл ажиллагааны нийт зардлын тооцоо</vt:lpstr>
      <vt:lpstr>Бүтээгдэхүүн үйлдвэрлэлийн нийт зардлын тооцоо</vt:lpstr>
      <vt:lpstr>Уншиж судлах ном, сурах бичиг</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S.EEM101_Lecture06_2023-24.B_ByTs.B_2024.03.03</dc:title>
  <dc:creator>Oyu Chuluun</dc:creator>
  <cp:lastModifiedBy>Baljinnyam Ts</cp:lastModifiedBy>
  <cp:revision>163</cp:revision>
  <cp:lastPrinted>2024-02-18T13:02:50Z</cp:lastPrinted>
  <dcterms:created xsi:type="dcterms:W3CDTF">2023-09-05T14:21:28Z</dcterms:created>
  <dcterms:modified xsi:type="dcterms:W3CDTF">2024-03-11T13:32:24Z</dcterms:modified>
</cp:coreProperties>
</file>