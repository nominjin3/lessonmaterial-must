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408" r:id="rId2"/>
    <p:sldId id="348" r:id="rId3"/>
    <p:sldId id="257" r:id="rId4"/>
    <p:sldId id="381" r:id="rId5"/>
    <p:sldId id="382" r:id="rId6"/>
    <p:sldId id="409" r:id="rId7"/>
    <p:sldId id="385" r:id="rId8"/>
    <p:sldId id="384" r:id="rId9"/>
    <p:sldId id="383" r:id="rId10"/>
    <p:sldId id="386" r:id="rId11"/>
    <p:sldId id="387" r:id="rId12"/>
    <p:sldId id="388" r:id="rId13"/>
    <p:sldId id="389" r:id="rId14"/>
    <p:sldId id="390" r:id="rId15"/>
    <p:sldId id="391" r:id="rId16"/>
    <p:sldId id="406" r:id="rId17"/>
    <p:sldId id="405" r:id="rId18"/>
    <p:sldId id="392" r:id="rId19"/>
    <p:sldId id="393" r:id="rId20"/>
    <p:sldId id="394" r:id="rId21"/>
    <p:sldId id="395" r:id="rId22"/>
    <p:sldId id="397" r:id="rId23"/>
    <p:sldId id="396" r:id="rId24"/>
    <p:sldId id="398" r:id="rId25"/>
    <p:sldId id="399" r:id="rId26"/>
    <p:sldId id="400" r:id="rId27"/>
    <p:sldId id="401" r:id="rId28"/>
    <p:sldId id="403" r:id="rId29"/>
    <p:sldId id="402" r:id="rId30"/>
    <p:sldId id="404" r:id="rId31"/>
    <p:sldId id="407" r:id="rId32"/>
    <p:sldId id="379" r:id="rId33"/>
    <p:sldId id="286" r:id="rId34"/>
  </p:sldIdLst>
  <p:sldSz cx="12192000" cy="6858000"/>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69423" autoAdjust="0"/>
  </p:normalViewPr>
  <p:slideViewPr>
    <p:cSldViewPr snapToGrid="0">
      <p:cViewPr varScale="1">
        <p:scale>
          <a:sx n="77" d="100"/>
          <a:sy n="77" d="100"/>
        </p:scale>
        <p:origin x="19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622D43-C65E-428A-89C7-8C19C0C28B05}" type="datetimeFigureOut">
              <a:rPr lang="en-US" smtClean="0"/>
              <a:t>3/19/2025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a:t>
            </a:fld>
            <a:endParaRPr lang="en-US" dirty="0"/>
          </a:p>
        </p:txBody>
      </p:sp>
    </p:spTree>
    <p:extLst>
      <p:ext uri="{BB962C8B-B14F-4D97-AF65-F5344CB8AC3E}">
        <p14:creationId xmlns:p14="http://schemas.microsoft.com/office/powerpoint/2010/main" val="411238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995809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229705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“Маркетинг” гэх нэр томъёог анх 20-р зууны эхээр АНУ-ийн их сургуулиудын хичээлийн хөтөлбөрт хэрэглэж эхэлсэнийг тэмдэглэсэн байдаг </a:t>
            </a:r>
            <a:r>
              <a:rPr lang="en-US" dirty="0"/>
              <a:t>(1905 </a:t>
            </a:r>
            <a:r>
              <a:rPr lang="mn-MN" dirty="0"/>
              <a:t>онд Пенсильваний их сургуульд “Компаний бүтээгдэхүүний маркетинг” нэртэй хичээл орж байсан</a:t>
            </a:r>
            <a:r>
              <a:rPr lang="en-US" dirty="0"/>
              <a:t>)</a:t>
            </a:r>
            <a:r>
              <a:rPr lang="mn-MN" dirty="0"/>
              <a:t>. Энэ үеэс эхлэн компаниудад зах зээл судлах нэгжүүд байгуулагдаж ажиллаж эхэлжээ. </a:t>
            </a:r>
          </a:p>
          <a:p>
            <a:r>
              <a:rPr lang="mn-MN" dirty="0"/>
              <a:t>Монгол улсад 1990-ээд оны зах зээлийн нийгэмд шилжсэн үеэс эхлэн маркетинг гэсэн нэр томъёог ашигласан.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1111060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386040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386040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Зах зээлээ судалсанаар хэрэглэгчдийнхээ хэрэгцээ, хүсэл, эрэлтийг тодорхойлж чадна.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506727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Маркетингийн менежмент – байнга, тасралтгүй хийгдэх үйл ажиллагаа.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2134924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1151901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2207458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635193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466082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3355757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3073369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249101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4206726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3588614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1039018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20785521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9842210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1612898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1492599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1000"/>
              </a:spcBef>
              <a:spcAft>
                <a:spcPts val="0"/>
              </a:spcAft>
              <a:buClrTx/>
              <a:buSzPct val="80000"/>
              <a:buFontTx/>
              <a:buNone/>
              <a:tabLst/>
              <a:defRPr/>
            </a:pPr>
            <a:r>
              <a:rPr lang="mn-MN" dirty="0">
                <a:solidFill>
                  <a:srgbClr val="800000"/>
                </a:solidFill>
              </a:rPr>
              <a:t>ӨРСӨЛДӨГЧИД:</a:t>
            </a:r>
          </a:p>
          <a:p>
            <a:pPr marL="0" marR="0" lvl="0" indent="0" algn="just" defTabSz="914400" rtl="0" eaLnBrk="1" fontAlgn="auto" latinLnBrk="0" hangingPunct="1">
              <a:lnSpc>
                <a:spcPct val="100000"/>
              </a:lnSpc>
              <a:spcBef>
                <a:spcPts val="1000"/>
              </a:spcBef>
              <a:spcAft>
                <a:spcPts val="0"/>
              </a:spcAft>
              <a:buClrTx/>
              <a:buSzPct val="80000"/>
              <a:buFontTx/>
              <a:buNone/>
              <a:tabLst/>
              <a:defRPr/>
            </a:pPr>
            <a:r>
              <a:rPr lang="mn-MN" dirty="0"/>
              <a:t>Зах зээлийн эдийн засагт ижил төрлийн бүтээгдэхүүн, үйлчилгээг зах зээлд нийлүүлэх болон нөөцийг бэлтгэхтэй холбогдсон өрсөлдөөн үүсдэг. Өрсөлдөгчид нь худалдан авагчдаас гарах зардлыг бусдаас түрүүлж авахын төлөө үйл ажиллагаагаа чиглүүлдэг. Өрсөлдөөн бол бүтээгдэхүүн, үйлчилгээний янз бүрийн чиглэлээр явагддаг. </a:t>
            </a:r>
          </a:p>
          <a:p>
            <a:pPr marL="0" lvl="0" indent="0" algn="just" rtl="0">
              <a:spcBef>
                <a:spcPts val="1000"/>
              </a:spcBef>
              <a:spcAft>
                <a:spcPts val="0"/>
              </a:spcAft>
              <a:buSzPct val="80000"/>
              <a:buNone/>
            </a:pPr>
            <a:r>
              <a:rPr lang="mn-MN" dirty="0"/>
              <a:t>Нэг ижил төрлийн бүтээгдэхүүн, үйлчилгээ эрхлэгчид өрсөлдөгчийн зах зээлд эзлэх хувь, бүтээгдэхүүний стандарт, баримталж буй стратеги зэргийг судалж, өөрийн зах зээлийн бодлого, үйл ажиллагааны тактик боловсруулдаг. Иймээс байгууллага, компаниуд өрсөлдөөний орчны судалгаа, шинжилгээ хийдэг. Шинжилгээний гол зүйл нь мэдээлэл юм. Менежерүүд олон сувгаар мэдээлэл эрэн сурвалжилж, түүнд боловсруулалт хийж нууц стратеги, төлөвлөгөө хийдэг. Ингэсэнээрээ өрсөлдөөнд ялахын төлөө бүтээгдэхүүний чанарыг сайжруулж, өнгө дизайн, үйлчилгээний өөрийн гэсэн үзэл баримтлал,  хэрэглэгчээ татах онцлог шинжийг бүрдүүлдэг.</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3645009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Байгууллагын</a:t>
            </a:r>
            <a:r>
              <a:rPr lang="en-US" sz="1200" dirty="0"/>
              <a:t> </a:t>
            </a:r>
            <a:r>
              <a:rPr lang="en-US" sz="1200" dirty="0" err="1"/>
              <a:t>харилцааны</a:t>
            </a:r>
            <a:r>
              <a:rPr lang="en-US" sz="1200" dirty="0"/>
              <a:t> </a:t>
            </a:r>
            <a:r>
              <a:rPr lang="en-US" sz="1200" dirty="0" err="1"/>
              <a:t>маркетингийн</a:t>
            </a:r>
            <a:r>
              <a:rPr lang="en-US" sz="1200" dirty="0"/>
              <a:t> </a:t>
            </a:r>
            <a:r>
              <a:rPr lang="en-US" sz="1200" dirty="0" err="1"/>
              <a:t>бүрэлдэхүүнд</a:t>
            </a:r>
            <a:r>
              <a:rPr lang="en-US" sz="1200" dirty="0"/>
              <a:t> </a:t>
            </a:r>
            <a:r>
              <a:rPr lang="en-US" sz="1200" dirty="0" err="1"/>
              <a:t>төрөл</a:t>
            </a:r>
            <a:r>
              <a:rPr lang="en-US" sz="1200" dirty="0"/>
              <a:t> </a:t>
            </a:r>
            <a:r>
              <a:rPr lang="en-US" sz="1200" dirty="0" err="1"/>
              <a:t>бүрийн</a:t>
            </a:r>
            <a:r>
              <a:rPr lang="en-US" sz="1200" dirty="0"/>
              <a:t> </a:t>
            </a:r>
            <a:r>
              <a:rPr lang="en-US" sz="1200" dirty="0" err="1"/>
              <a:t>харилцагч</a:t>
            </a:r>
            <a:r>
              <a:rPr lang="en-US" sz="1200" dirty="0"/>
              <a:t> </a:t>
            </a:r>
            <a:r>
              <a:rPr lang="en-US" sz="1200" dirty="0" err="1"/>
              <a:t>байгууллага</a:t>
            </a:r>
            <a:r>
              <a:rPr lang="en-US" sz="1200" dirty="0"/>
              <a:t> </a:t>
            </a:r>
            <a:r>
              <a:rPr lang="en-US" sz="1200" dirty="0" err="1"/>
              <a:t>хүмүүс</a:t>
            </a:r>
            <a:r>
              <a:rPr lang="en-US" sz="1200" dirty="0"/>
              <a:t> </a:t>
            </a:r>
            <a:r>
              <a:rPr lang="en-US" sz="1200" dirty="0" err="1"/>
              <a:t>орно</a:t>
            </a:r>
            <a:r>
              <a:rPr lang="en-US" sz="1200" dirty="0"/>
              <a:t>. </a:t>
            </a:r>
            <a:endParaRPr lang="mn-MN" sz="1200" dirty="0"/>
          </a:p>
          <a:p>
            <a:r>
              <a:rPr lang="mn-MN" dirty="0"/>
              <a:t>Санхүүгийн түнш. Энд байгууллагын санхүүгийн байдалд дэмжлэг туслалцаа үзүүлж чадах банк хөрөнгө оруулалтын байгууллага, хөрөнгийн бирж, хувь нийлүүлэгчид зэрэг харилцагчид ордог. </a:t>
            </a:r>
          </a:p>
          <a:p>
            <a:r>
              <a:rPr lang="mn-MN" dirty="0"/>
              <a:t>Мэдээллийн хэрэгслийн харилцагч. </a:t>
            </a:r>
            <a:r>
              <a:rPr lang="en-US" dirty="0"/>
              <a:t>Y</a:t>
            </a:r>
            <a:r>
              <a:rPr lang="mn-MN" dirty="0"/>
              <a:t>үнд: радио, телевиз, сонин, сэтгүүлийн байгууллагууд хамаарагдана. </a:t>
            </a:r>
          </a:p>
          <a:p>
            <a:r>
              <a:rPr lang="mn-MN" dirty="0"/>
              <a:t>Улсын байгууллагын түншийн харилцаатай бүлгүүд. </a:t>
            </a:r>
            <a:r>
              <a:rPr lang="en-US" dirty="0"/>
              <a:t>Y</a:t>
            </a:r>
            <a:r>
              <a:rPr lang="mn-MN" dirty="0"/>
              <a:t>үнд: татвар, санхүү, гаалийн алба, хууль хяналтын байгууллагууд багтана. </a:t>
            </a:r>
          </a:p>
          <a:p>
            <a:r>
              <a:rPr lang="mn-MN" dirty="0"/>
              <a:t>Харилцагч иргэд. Энэ нь бэлтгэн нийлүүлэгчид, худалдан авагчид, дэмжигчдээс бүрдэнэ. </a:t>
            </a:r>
          </a:p>
          <a:p>
            <a:r>
              <a:rPr lang="mn-MN" dirty="0"/>
              <a:t>Түншийн харилцаатай орон нутгийн бүлгүүд. Бизнесийн болон бизнесийн бус бүх байгууллагууд орон нутгийн оршин суугчидтай нягт холбоотой байх ёстой.</a:t>
            </a:r>
          </a:p>
          <a:p>
            <a:r>
              <a:rPr lang="mn-MN" dirty="0"/>
              <a:t>Хэрэглэгчидээ өргөжүүлэх. Байгууллагууд өөрийн бараа үйлчилгээнд хэрэглэгчид хэрхэн хандаж байгаад байнга хяналт тавьж байх ёстой.</a:t>
            </a:r>
          </a:p>
          <a:p>
            <a:r>
              <a:rPr lang="mn-MN" dirty="0"/>
              <a:t>Түншийн харилцаатай дотоод бүлгүүд. </a:t>
            </a:r>
            <a:r>
              <a:rPr lang="en-US" dirty="0"/>
              <a:t>Y</a:t>
            </a:r>
            <a:r>
              <a:rPr lang="mn-MN" dirty="0"/>
              <a:t>үнд байгууллагын ажилчин албан хаагчид, хамт олны зөвлөл, захиралын зөвлөлийн гишүүд ордог. </a:t>
            </a:r>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3249320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41249783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en-US" sz="1200" b="1" dirty="0">
                <a:solidFill>
                  <a:srgbClr val="0000CC"/>
                </a:solidFill>
                <a:latin typeface="Times New Roman" panose="02020603050405020304" pitchFamily="18" charset="0"/>
                <a:cs typeface="Times New Roman" panose="02020603050405020304" pitchFamily="18" charset="0"/>
              </a:rPr>
              <a:t>P</a:t>
            </a:r>
            <a:r>
              <a:rPr lang="en-US" sz="1200" dirty="0">
                <a:latin typeface="Times New Roman" panose="02020603050405020304" pitchFamily="18" charset="0"/>
                <a:cs typeface="Times New Roman" panose="02020603050405020304" pitchFamily="18" charset="0"/>
              </a:rPr>
              <a:t>- </a:t>
            </a:r>
            <a:r>
              <a:rPr lang="mn-MN" sz="1200" dirty="0">
                <a:latin typeface="Times New Roman" panose="02020603050405020304" pitchFamily="18" charset="0"/>
                <a:cs typeface="Times New Roman" panose="02020603050405020304" pitchFamily="18" charset="0"/>
              </a:rPr>
              <a:t>Улс төрийн хүчин зүйл </a:t>
            </a:r>
            <a:r>
              <a:rPr lang="en-US" sz="1200" dirty="0">
                <a:latin typeface="Times New Roman" panose="02020603050405020304" pitchFamily="18" charset="0"/>
                <a:cs typeface="Times New Roman" panose="02020603050405020304" pitchFamily="18" charset="0"/>
              </a:rPr>
              <a:t>(</a:t>
            </a:r>
            <a:r>
              <a:rPr lang="mn-MN" sz="1200" dirty="0">
                <a:latin typeface="Times New Roman" panose="02020603050405020304" pitchFamily="18" charset="0"/>
                <a:cs typeface="Times New Roman" panose="02020603050405020304" pitchFamily="18" charset="0"/>
              </a:rPr>
              <a:t>ЗГ-ын тогтвортой байдал, ЗГ-ын бодлого, хүнд суртал, авлигын түвшин, улс төрийн лобби бүлгийн үйл ажиллагаа, үйл явц г.м.</a:t>
            </a:r>
            <a:r>
              <a:rPr lang="en-US" sz="1200" dirty="0">
                <a:latin typeface="Times New Roman" panose="02020603050405020304" pitchFamily="18" charset="0"/>
                <a:cs typeface="Times New Roman" panose="02020603050405020304" pitchFamily="18" charset="0"/>
              </a:rPr>
              <a:t>)</a:t>
            </a:r>
            <a:endParaRPr lang="mn-MN" sz="1200" dirty="0">
              <a:latin typeface="Times New Roman" panose="02020603050405020304" pitchFamily="18" charset="0"/>
              <a:cs typeface="Times New Roman" panose="02020603050405020304" pitchFamily="18" charset="0"/>
            </a:endParaRPr>
          </a:p>
          <a:p>
            <a:pPr>
              <a:lnSpc>
                <a:spcPct val="100000"/>
              </a:lnSpc>
            </a:pPr>
            <a:r>
              <a:rPr lang="en-US" sz="1200" b="1" dirty="0">
                <a:solidFill>
                  <a:srgbClr val="0000CC"/>
                </a:solidFill>
                <a:latin typeface="Times New Roman" panose="02020603050405020304" pitchFamily="18" charset="0"/>
                <a:cs typeface="Times New Roman" panose="02020603050405020304" pitchFamily="18" charset="0"/>
              </a:rPr>
              <a:t>E</a:t>
            </a:r>
            <a:r>
              <a:rPr lang="en-US" sz="1200" dirty="0">
                <a:latin typeface="Times New Roman" panose="02020603050405020304" pitchFamily="18" charset="0"/>
                <a:cs typeface="Times New Roman" panose="02020603050405020304" pitchFamily="18" charset="0"/>
              </a:rPr>
              <a:t>- </a:t>
            </a:r>
            <a:r>
              <a:rPr lang="mn-MN" sz="1200" dirty="0">
                <a:latin typeface="Times New Roman" panose="02020603050405020304" pitchFamily="18" charset="0"/>
                <a:cs typeface="Times New Roman" panose="02020603050405020304" pitchFamily="18" charset="0"/>
              </a:rPr>
              <a:t>Эдийн засгийн хүчин зүйл </a:t>
            </a:r>
            <a:r>
              <a:rPr lang="en-US" sz="1200" dirty="0">
                <a:latin typeface="Times New Roman" panose="02020603050405020304" pitchFamily="18" charset="0"/>
                <a:cs typeface="Times New Roman" panose="02020603050405020304" pitchFamily="18" charset="0"/>
              </a:rPr>
              <a:t>(</a:t>
            </a:r>
            <a:r>
              <a:rPr lang="mn-MN" sz="1200" dirty="0">
                <a:latin typeface="Times New Roman" panose="02020603050405020304" pitchFamily="18" charset="0"/>
                <a:cs typeface="Times New Roman" panose="02020603050405020304" pitchFamily="18" charset="0"/>
              </a:rPr>
              <a:t>ЭЗ-ийн ерөнхий чиг хандлага, ДНБ-ний өсөлт, ажилгүйдэл, инфляци, экспорт, импорт, татвар, мөнгөний бодлого, хүүгийн түвшин, ОУ-ын худалдаа, вальютын бодлого г.м.</a:t>
            </a:r>
            <a:r>
              <a:rPr lang="en-US" sz="1200" dirty="0">
                <a:latin typeface="Times New Roman" panose="02020603050405020304" pitchFamily="18" charset="0"/>
                <a:cs typeface="Times New Roman" panose="02020603050405020304" pitchFamily="18" charset="0"/>
              </a:rPr>
              <a:t>)</a:t>
            </a:r>
            <a:endParaRPr lang="mn-MN" sz="1200" dirty="0">
              <a:latin typeface="Times New Roman" panose="02020603050405020304" pitchFamily="18" charset="0"/>
              <a:cs typeface="Times New Roman" panose="02020603050405020304" pitchFamily="18" charset="0"/>
            </a:endParaRPr>
          </a:p>
          <a:p>
            <a:pPr>
              <a:lnSpc>
                <a:spcPct val="100000"/>
              </a:lnSpc>
            </a:pPr>
            <a:r>
              <a:rPr lang="en-US" sz="1200" b="1" dirty="0">
                <a:solidFill>
                  <a:srgbClr val="0000CC"/>
                </a:solidFill>
                <a:latin typeface="Times New Roman" panose="02020603050405020304" pitchFamily="18" charset="0"/>
                <a:cs typeface="Times New Roman" panose="02020603050405020304" pitchFamily="18" charset="0"/>
              </a:rPr>
              <a:t>S</a:t>
            </a:r>
            <a:r>
              <a:rPr lang="en-US" sz="1200" dirty="0">
                <a:latin typeface="Times New Roman" panose="02020603050405020304" pitchFamily="18" charset="0"/>
                <a:cs typeface="Times New Roman" panose="02020603050405020304" pitchFamily="18" charset="0"/>
              </a:rPr>
              <a:t>- </a:t>
            </a:r>
            <a:r>
              <a:rPr lang="mn-MN" sz="1200" dirty="0">
                <a:latin typeface="Times New Roman" panose="02020603050405020304" pitchFamily="18" charset="0"/>
                <a:cs typeface="Times New Roman" panose="02020603050405020304" pitchFamily="18" charset="0"/>
              </a:rPr>
              <a:t>Нийгэм, соёлын хүчин зүйл </a:t>
            </a:r>
            <a:r>
              <a:rPr lang="en-US" sz="1200" dirty="0">
                <a:latin typeface="Times New Roman" panose="02020603050405020304" pitchFamily="18" charset="0"/>
                <a:cs typeface="Times New Roman" panose="02020603050405020304" pitchFamily="18" charset="0"/>
              </a:rPr>
              <a:t>(</a:t>
            </a:r>
            <a:r>
              <a:rPr lang="mn-MN" sz="1200" dirty="0">
                <a:latin typeface="Times New Roman" panose="02020603050405020304" pitchFamily="18" charset="0"/>
                <a:cs typeface="Times New Roman" panose="02020603050405020304" pitchFamily="18" charset="0"/>
              </a:rPr>
              <a:t>хүн ам зүй, хүн ам зүйн бүтцийн өөрчлөлт, амьдралын хэв маяг, чиг хандлага, дундаж наслалт, эрүүл мэндийн статистик, боловсролын түвшин, нийгмийн шилжилт хөдөлгөөн, хотжилт, хөдөлмөрийн зах зээл г.м.</a:t>
            </a:r>
            <a:r>
              <a:rPr lang="en-US" sz="1200" dirty="0">
                <a:latin typeface="Times New Roman" panose="02020603050405020304" pitchFamily="18" charset="0"/>
                <a:cs typeface="Times New Roman" panose="02020603050405020304" pitchFamily="18" charset="0"/>
              </a:rPr>
              <a:t>)</a:t>
            </a:r>
            <a:endParaRPr lang="mn-MN" sz="1200" dirty="0">
              <a:latin typeface="Times New Roman" panose="02020603050405020304" pitchFamily="18" charset="0"/>
              <a:cs typeface="Times New Roman" panose="02020603050405020304" pitchFamily="18" charset="0"/>
            </a:endParaRPr>
          </a:p>
          <a:p>
            <a:pPr>
              <a:lnSpc>
                <a:spcPct val="100000"/>
              </a:lnSpc>
            </a:pPr>
            <a:r>
              <a:rPr lang="en-US" sz="1200" b="1" dirty="0">
                <a:solidFill>
                  <a:srgbClr val="0000CC"/>
                </a:solidFill>
                <a:latin typeface="Times New Roman" panose="02020603050405020304" pitchFamily="18" charset="0"/>
                <a:cs typeface="Times New Roman" panose="02020603050405020304" pitchFamily="18" charset="0"/>
              </a:rPr>
              <a:t>T</a:t>
            </a:r>
            <a:r>
              <a:rPr lang="en-US" sz="1200" dirty="0">
                <a:latin typeface="Times New Roman" panose="02020603050405020304" pitchFamily="18" charset="0"/>
                <a:cs typeface="Times New Roman" panose="02020603050405020304" pitchFamily="18" charset="0"/>
              </a:rPr>
              <a:t>- </a:t>
            </a:r>
            <a:r>
              <a:rPr lang="mn-MN" sz="1200" dirty="0">
                <a:latin typeface="Times New Roman" panose="02020603050405020304" pitchFamily="18" charset="0"/>
                <a:cs typeface="Times New Roman" panose="02020603050405020304" pitchFamily="18" charset="0"/>
              </a:rPr>
              <a:t>Техник, технологийн хүчин зүйл </a:t>
            </a:r>
            <a:r>
              <a:rPr lang="en-US" sz="1200" dirty="0">
                <a:latin typeface="Times New Roman" panose="02020603050405020304" pitchFamily="18" charset="0"/>
                <a:cs typeface="Times New Roman" panose="02020603050405020304" pitchFamily="18" charset="0"/>
              </a:rPr>
              <a:t>(</a:t>
            </a:r>
            <a:r>
              <a:rPr lang="mn-MN" sz="1200" dirty="0">
                <a:latin typeface="Times New Roman" panose="02020603050405020304" pitchFamily="18" charset="0"/>
                <a:cs typeface="Times New Roman" panose="02020603050405020304" pitchFamily="18" charset="0"/>
              </a:rPr>
              <a:t>Технологийн хууль тогтоомж, тусгай зөвшөөрөл олголт, оюуны өмчийн асуудал, технологийн санхүүжилт, технологийн шинэ чиг хандлагын нутагшуулалт, шинээр гарч ирж буй технологийн нөлөө г.м.</a:t>
            </a:r>
            <a:r>
              <a:rPr lang="en-US" sz="1200" dirty="0">
                <a:latin typeface="Times New Roman" panose="02020603050405020304" pitchFamily="18" charset="0"/>
                <a:cs typeface="Times New Roman" panose="02020603050405020304" pitchFamily="18" charset="0"/>
              </a:rPr>
              <a:t>)</a:t>
            </a:r>
            <a:endParaRPr lang="mn-MN"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458199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9CD3F-6A89-C96C-5716-BE47878B7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08D14-D1CB-3459-03FD-0AF3CD720C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E5A18A-B2E8-2B36-2917-6E893B6682E6}"/>
              </a:ext>
            </a:extLst>
          </p:cNvPr>
          <p:cNvSpPr>
            <a:spLocks noGrp="1"/>
          </p:cNvSpPr>
          <p:nvPr>
            <p:ph type="body" idx="1"/>
          </p:nvPr>
        </p:nvSpPr>
        <p:spPr/>
        <p:txBody>
          <a:bodyPr/>
          <a:lstStyle/>
          <a:p>
            <a:pPr>
              <a:lnSpc>
                <a:spcPct val="100000"/>
              </a:lnSpc>
            </a:pPr>
            <a:endParaRPr lang="mn-MN"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8833347-2877-FC64-0616-B726E602DD08}"/>
              </a:ext>
            </a:extLst>
          </p:cNvPr>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41695988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C3C37-067F-6D9A-EE33-D3F17C55F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0383B-A5B1-F82D-5955-48A4D67E8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5B6EE-473B-159A-89C1-F0DC46D27C59}"/>
              </a:ext>
            </a:extLst>
          </p:cNvPr>
          <p:cNvSpPr>
            <a:spLocks noGrp="1"/>
          </p:cNvSpPr>
          <p:nvPr>
            <p:ph type="body" idx="1"/>
          </p:nvPr>
        </p:nvSpPr>
        <p:spPr/>
        <p:txBody>
          <a:bodyPr/>
          <a:lstStyle/>
          <a:p>
            <a:pPr>
              <a:lnSpc>
                <a:spcPct val="100000"/>
              </a:lnSpc>
            </a:pPr>
            <a:endParaRPr lang="mn-MN"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E4DA99-B404-6D8F-23E1-49BE2F2EE801}"/>
              </a:ext>
            </a:extLst>
          </p:cNvPr>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11191347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F7CE0-8DAC-C8FC-C64A-60E76D968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6AE2F-8D51-953D-CCF9-60854A226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F04F1-7B9C-D960-D1E9-FE937891E465}"/>
              </a:ext>
            </a:extLst>
          </p:cNvPr>
          <p:cNvSpPr>
            <a:spLocks noGrp="1"/>
          </p:cNvSpPr>
          <p:nvPr>
            <p:ph type="body" idx="1"/>
          </p:nvPr>
        </p:nvSpPr>
        <p:spPr/>
        <p:txBody>
          <a:bodyPr/>
          <a:lstStyle/>
          <a:p>
            <a:pPr>
              <a:lnSpc>
                <a:spcPct val="100000"/>
              </a:lnSpc>
            </a:pPr>
            <a:endParaRPr lang="mn-MN"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34C325-B000-3CDE-10C9-7B4819CBEE44}"/>
              </a:ext>
            </a:extLst>
          </p:cNvPr>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33215071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30</a:t>
            </a:fld>
            <a:endParaRPr lang="en-US" dirty="0"/>
          </a:p>
        </p:txBody>
      </p:sp>
    </p:spTree>
    <p:extLst>
      <p:ext uri="{BB962C8B-B14F-4D97-AF65-F5344CB8AC3E}">
        <p14:creationId xmlns:p14="http://schemas.microsoft.com/office/powerpoint/2010/main" val="12187049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31</a:t>
            </a:fld>
            <a:endParaRPr lang="en-US" dirty="0"/>
          </a:p>
        </p:txBody>
      </p:sp>
    </p:spTree>
    <p:extLst>
      <p:ext uri="{BB962C8B-B14F-4D97-AF65-F5344CB8AC3E}">
        <p14:creationId xmlns:p14="http://schemas.microsoft.com/office/powerpoint/2010/main" val="23475079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32</a:t>
            </a:fld>
            <a:endParaRPr lang="en-US" dirty="0"/>
          </a:p>
        </p:txBody>
      </p:sp>
    </p:spTree>
    <p:extLst>
      <p:ext uri="{BB962C8B-B14F-4D97-AF65-F5344CB8AC3E}">
        <p14:creationId xmlns:p14="http://schemas.microsoft.com/office/powerpoint/2010/main" val="35228526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33</a:t>
            </a:fld>
            <a:endParaRPr lang="en-US" dirty="0"/>
          </a:p>
        </p:txBody>
      </p:sp>
    </p:spTree>
    <p:extLst>
      <p:ext uri="{BB962C8B-B14F-4D97-AF65-F5344CB8AC3E}">
        <p14:creationId xmlns:p14="http://schemas.microsoft.com/office/powerpoint/2010/main" val="357678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3/19/2025</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3/19/2025</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4490-C09C-F2C1-1BED-C30E9C6493C0}"/>
              </a:ext>
            </a:extLst>
          </p:cNvPr>
          <p:cNvSpPr>
            <a:spLocks noGrp="1"/>
          </p:cNvSpPr>
          <p:nvPr>
            <p:ph type="ctrTitle"/>
          </p:nvPr>
        </p:nvSpPr>
        <p:spPr>
          <a:xfrm>
            <a:off x="1523999" y="1823767"/>
            <a:ext cx="10195249" cy="1828799"/>
          </a:xfrm>
        </p:spPr>
        <p:txBody>
          <a:bodyPr>
            <a:noAutofit/>
          </a:bodyPr>
          <a:lstStyle/>
          <a:p>
            <a:r>
              <a:rPr lang="mn-MN" sz="4800" b="1" dirty="0">
                <a:solidFill>
                  <a:srgbClr val="002060"/>
                </a:solidFill>
                <a:latin typeface="Times New Roman" panose="02020603050405020304" pitchFamily="18" charset="0"/>
                <a:cs typeface="Times New Roman" panose="02020603050405020304" pitchFamily="18" charset="0"/>
              </a:rPr>
              <a:t>Лекц 3.</a:t>
            </a:r>
            <a:br>
              <a:rPr lang="en-US" sz="4800" b="1" dirty="0">
                <a:solidFill>
                  <a:srgbClr val="002060"/>
                </a:solidFill>
                <a:latin typeface="Times New Roman" panose="02020603050405020304" pitchFamily="18" charset="0"/>
                <a:cs typeface="Times New Roman" panose="02020603050405020304" pitchFamily="18" charset="0"/>
              </a:rPr>
            </a:br>
            <a:r>
              <a:rPr lang="mn-MN" b="1" dirty="0">
                <a:solidFill>
                  <a:srgbClr val="002060"/>
                </a:solidFill>
                <a:latin typeface="Times New Roman" panose="02020603050405020304" pitchFamily="18" charset="0"/>
                <a:cs typeface="Times New Roman" panose="02020603050405020304" pitchFamily="18" charset="0"/>
              </a:rPr>
              <a:t>Зах зээл ба нөхцөл байдлын судалгаа, шинжилгээ</a:t>
            </a:r>
            <a:endParaRPr lang="en-US" sz="4800" b="1"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4687C9-0602-4AB3-C68B-47EB63DFD361}"/>
              </a:ext>
            </a:extLst>
          </p:cNvPr>
          <p:cNvSpPr>
            <a:spLocks noGrp="1"/>
          </p:cNvSpPr>
          <p:nvPr>
            <p:ph type="subTitle" idx="1"/>
          </p:nvPr>
        </p:nvSpPr>
        <p:spPr>
          <a:xfrm>
            <a:off x="1524000" y="5497475"/>
            <a:ext cx="9144000" cy="871267"/>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ШУТИС-ийн МХТС, холбооны салбарын багш Ц.Балжинням</a:t>
            </a:r>
          </a:p>
          <a:p>
            <a:r>
              <a:rPr lang="mn-MN" dirty="0">
                <a:solidFill>
                  <a:srgbClr val="002060"/>
                </a:solidFill>
                <a:latin typeface="Times New Roman" panose="02020603050405020304" pitchFamily="18" charset="0"/>
                <a:cs typeface="Times New Roman" panose="02020603050405020304" pitchFamily="18" charset="0"/>
              </a:rPr>
              <a:t>Улаанбаатар хот. 2023-24.Хавар.</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AB551975-1CE2-308D-D250-4B65BD2EFC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458" y="16278"/>
            <a:ext cx="4957464" cy="136394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493B6D6-2330-40E5-BEBE-D3505B39EAF9}"/>
              </a:ext>
            </a:extLst>
          </p:cNvPr>
          <p:cNvSpPr txBox="1">
            <a:spLocks/>
          </p:cNvSpPr>
          <p:nvPr/>
        </p:nvSpPr>
        <p:spPr>
          <a:xfrm>
            <a:off x="1751012" y="3905250"/>
            <a:ext cx="8689976" cy="133954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745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67951" y="182817"/>
            <a:ext cx="11812555" cy="880874"/>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b="1" dirty="0">
                <a:solidFill>
                  <a:srgbClr val="002060"/>
                </a:solidFill>
                <a:latin typeface="Times New Roman" panose="02020603050405020304" pitchFamily="18" charset="0"/>
                <a:cs typeface="Times New Roman" panose="02020603050405020304" pitchFamily="18" charset="0"/>
              </a:rPr>
            </a:br>
            <a:r>
              <a:rPr lang="mn-MN" sz="27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3557357447"/>
              </p:ext>
            </p:extLst>
          </p:nvPr>
        </p:nvGraphicFramePr>
        <p:xfrm>
          <a:off x="167951" y="1082351"/>
          <a:ext cx="11812555" cy="5563917"/>
        </p:xfrm>
        <a:graphic>
          <a:graphicData uri="http://schemas.openxmlformats.org/drawingml/2006/table">
            <a:tbl>
              <a:tblPr firstRow="1" bandRow="1">
                <a:tableStyleId>{5C22544A-7EE6-4342-B048-85BDC9FD1C3A}</a:tableStyleId>
              </a:tblPr>
              <a:tblGrid>
                <a:gridCol w="729761">
                  <a:extLst>
                    <a:ext uri="{9D8B030D-6E8A-4147-A177-3AD203B41FA5}">
                      <a16:colId xmlns:a16="http://schemas.microsoft.com/office/drawing/2014/main" val="78146492"/>
                    </a:ext>
                  </a:extLst>
                </a:gridCol>
                <a:gridCol w="5428443">
                  <a:extLst>
                    <a:ext uri="{9D8B030D-6E8A-4147-A177-3AD203B41FA5}">
                      <a16:colId xmlns:a16="http://schemas.microsoft.com/office/drawing/2014/main" val="2993372031"/>
                    </a:ext>
                  </a:extLst>
                </a:gridCol>
                <a:gridCol w="2249283">
                  <a:extLst>
                    <a:ext uri="{9D8B030D-6E8A-4147-A177-3AD203B41FA5}">
                      <a16:colId xmlns:a16="http://schemas.microsoft.com/office/drawing/2014/main" val="3377302877"/>
                    </a:ext>
                  </a:extLst>
                </a:gridCol>
                <a:gridCol w="2106587">
                  <a:extLst>
                    <a:ext uri="{9D8B030D-6E8A-4147-A177-3AD203B41FA5}">
                      <a16:colId xmlns:a16="http://schemas.microsoft.com/office/drawing/2014/main" val="574671118"/>
                    </a:ext>
                  </a:extLst>
                </a:gridCol>
                <a:gridCol w="1298481">
                  <a:extLst>
                    <a:ext uri="{9D8B030D-6E8A-4147-A177-3AD203B41FA5}">
                      <a16:colId xmlns:a16="http://schemas.microsoft.com/office/drawing/2014/main" val="1155244748"/>
                    </a:ext>
                  </a:extLst>
                </a:gridCol>
              </a:tblGrid>
              <a:tr h="1269510">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834709">
                <a:tc>
                  <a:txBody>
                    <a:bodyPr/>
                    <a:lstStyle/>
                    <a:p>
                      <a:pPr algn="ctr">
                        <a:lnSpc>
                          <a:spcPct val="115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Маркетинг, түүний үндсэн ойлголтуудыг ойлгох, </a:t>
                      </a:r>
                      <a:r>
                        <a:rPr lang="mn-MN" altLang="en-US" sz="2400" kern="1200" dirty="0">
                          <a:solidFill>
                            <a:srgbClr val="002060"/>
                          </a:solidFill>
                          <a:latin typeface="Times New Roman" panose="02020603050405020304" pitchFamily="18" charset="0"/>
                          <a:ea typeface="+mn-ea"/>
                          <a:cs typeface="Times New Roman" panose="02020603050405020304" pitchFamily="18" charset="0"/>
                        </a:rPr>
                        <a:t>тайлбарлах, хэрэглэх. </a:t>
                      </a:r>
                      <a:endParaRPr lang="en-US" sz="2400" kern="1200" dirty="0">
                        <a:solidFill>
                          <a:srgbClr val="002060"/>
                        </a:solidFill>
                        <a:latin typeface="Times New Roman" panose="02020603050405020304" pitchFamily="18" charset="0"/>
                        <a:ea typeface="+mn-ea"/>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3954028067"/>
                  </a:ext>
                </a:extLst>
              </a:tr>
              <a:tr h="834709">
                <a:tc>
                  <a:txBody>
                    <a:bodyPr/>
                    <a:lstStyle/>
                    <a:p>
                      <a:pPr algn="ctr">
                        <a:lnSpc>
                          <a:spcPct val="115000"/>
                        </a:lnSpc>
                        <a:spcAft>
                          <a:spcPts val="0"/>
                        </a:spcAft>
                      </a:pPr>
                      <a:r>
                        <a:rPr lang="en-US" sz="240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Зах зээл, түүний үндсэн ойлголт болон оролцогчдыг ойлгох, </a:t>
                      </a:r>
                      <a:r>
                        <a:rPr lang="mn-MN" altLang="en-US" sz="2400" kern="1200" dirty="0">
                          <a:solidFill>
                            <a:srgbClr val="002060"/>
                          </a:solidFill>
                          <a:latin typeface="Times New Roman" panose="02020603050405020304" pitchFamily="18" charset="0"/>
                          <a:ea typeface="+mn-ea"/>
                          <a:cs typeface="Times New Roman" panose="02020603050405020304" pitchFamily="18" charset="0"/>
                        </a:rPr>
                        <a:t>тайлбарлах, хэрэглэх. </a:t>
                      </a:r>
                      <a:endParaRPr lang="en-US" sz="2400" kern="1200" dirty="0">
                        <a:solidFill>
                          <a:srgbClr val="002060"/>
                        </a:solidFill>
                        <a:latin typeface="Times New Roman" panose="02020603050405020304" pitchFamily="18" charset="0"/>
                        <a:ea typeface="+mn-ea"/>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 </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491289944"/>
                  </a:ext>
                </a:extLst>
              </a:tr>
              <a:tr h="1134264">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100000"/>
                        </a:lnSpc>
                      </a:pPr>
                      <a:r>
                        <a:rPr lang="mn-MN" sz="2400" dirty="0">
                          <a:solidFill>
                            <a:srgbClr val="002060"/>
                          </a:solidFill>
                          <a:latin typeface="Times New Roman" panose="02020603050405020304" pitchFamily="18" charset="0"/>
                          <a:cs typeface="Times New Roman" panose="02020603050405020304" pitchFamily="18" charset="0"/>
                        </a:rPr>
                        <a:t>Маркетингийн судалгааны бүрэлдэхүүн хэсгүүдийг ойлгох </a:t>
                      </a:r>
                      <a:r>
                        <a:rPr lang="mn-MN" altLang="en-US" sz="2400" dirty="0">
                          <a:solidFill>
                            <a:srgbClr val="002060"/>
                          </a:solidFill>
                          <a:latin typeface="Times New Roman" panose="02020603050405020304" pitchFamily="18" charset="0"/>
                          <a:cs typeface="Times New Roman" panose="02020603050405020304" pitchFamily="18" charset="0"/>
                        </a:rPr>
                        <a:t>тайлбарлах, хэрэглэх, тооцоолох.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Тооцоолох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(Compute)</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Шинжлэх</a:t>
                      </a: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p>
                  </a:txBody>
                  <a:tcPr marL="68586" marR="68586" marT="0" marB="0" anchor="ctr">
                    <a:solidFill>
                      <a:schemeClr val="accent1">
                        <a:lumMod val="20000"/>
                        <a:lumOff val="80000"/>
                      </a:schemeClr>
                    </a:solidFill>
                  </a:tcPr>
                </a:tc>
                <a:extLst>
                  <a:ext uri="{0D108BD9-81ED-4DB2-BD59-A6C34878D82A}">
                    <a16:rowId xmlns:a16="http://schemas.microsoft.com/office/drawing/2014/main" val="3810878109"/>
                  </a:ext>
                </a:extLst>
              </a:tr>
              <a:tr h="834709">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Нөхцөл, байдлын шинжилгээний аргуудыг ойлгох, тайлбарлах, </a:t>
                      </a:r>
                      <a:r>
                        <a:rPr lang="mn-MN" altLang="en-US" sz="2400" dirty="0">
                          <a:solidFill>
                            <a:srgbClr val="002060"/>
                          </a:solidFill>
                          <a:latin typeface="Times New Roman" panose="02020603050405020304" pitchFamily="18" charset="0"/>
                          <a:cs typeface="Times New Roman" panose="02020603050405020304" pitchFamily="18" charset="0"/>
                        </a:rPr>
                        <a:t>хэрэглэх</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66395" y="141191"/>
            <a:ext cx="11795450" cy="530614"/>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Хичээлийн агуулга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98275" y="671805"/>
            <a:ext cx="11795450" cy="6045004"/>
          </a:xfrm>
        </p:spPr>
        <p:txBody>
          <a:bodyPr>
            <a:normAutofit fontScale="92500"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Маркетинг болон зах зээлийн тухай үндсэн ойлголт</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Маркетингийн судалгаа</a:t>
            </a:r>
            <a:endParaRPr lang="en-US" sz="3200" dirty="0">
              <a:solidFill>
                <a:srgbClr val="002060"/>
              </a:solidFill>
              <a:latin typeface="Times New Roman" panose="02020603050405020304" pitchFamily="18" charset="0"/>
              <a:cs typeface="Times New Roman" panose="02020603050405020304" pitchFamily="18" charset="0"/>
            </a:endParaRPr>
          </a:p>
          <a:p>
            <a:pPr lvl="1" algn="just"/>
            <a:r>
              <a:rPr lang="mn-MN" sz="2800" dirty="0">
                <a:solidFill>
                  <a:srgbClr val="002060"/>
                </a:solidFill>
                <a:latin typeface="Times New Roman" panose="02020603050405020304" pitchFamily="18" charset="0"/>
                <a:cs typeface="Times New Roman" panose="02020603050405020304" pitchFamily="18" charset="0"/>
              </a:rPr>
              <a:t>Маркетингийн судалгааны эх үүсвэр (анхдагч, хоёрдогч)</a:t>
            </a:r>
          </a:p>
          <a:p>
            <a:pPr lvl="1" algn="just"/>
            <a:r>
              <a:rPr lang="mn-MN" sz="2800" dirty="0">
                <a:solidFill>
                  <a:srgbClr val="002060"/>
                </a:solidFill>
                <a:latin typeface="Times New Roman" panose="02020603050405020304" pitchFamily="18" charset="0"/>
                <a:cs typeface="Times New Roman" panose="02020603050405020304" pitchFamily="18" charset="0"/>
              </a:rPr>
              <a:t>Маркетингийн судалгааны аргууд (баримт бичгийн судалгаа, анкет, ярилцлага - ганцаарчилсан болон фокус)</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Маркетингийн судалгааны бүрэлдэхүүн хэсгүүд</a:t>
            </a:r>
            <a:endParaRPr lang="en-US" sz="3200" dirty="0">
              <a:solidFill>
                <a:srgbClr val="002060"/>
              </a:solidFill>
              <a:latin typeface="Times New Roman" panose="02020603050405020304" pitchFamily="18" charset="0"/>
              <a:cs typeface="Times New Roman" panose="02020603050405020304" pitchFamily="18" charset="0"/>
            </a:endParaRPr>
          </a:p>
          <a:p>
            <a:pPr lvl="1" algn="just"/>
            <a:r>
              <a:rPr lang="mn-MN" sz="2800" dirty="0">
                <a:solidFill>
                  <a:srgbClr val="002060"/>
                </a:solidFill>
                <a:latin typeface="Times New Roman" panose="02020603050405020304" pitchFamily="18" charset="0"/>
                <a:cs typeface="Times New Roman" panose="02020603050405020304" pitchFamily="18" charset="0"/>
              </a:rPr>
              <a:t>Бизнесийн орчны судалгаа</a:t>
            </a:r>
          </a:p>
          <a:p>
            <a:pPr lvl="2" algn="just"/>
            <a:r>
              <a:rPr lang="mn-MN" sz="2400" dirty="0">
                <a:solidFill>
                  <a:srgbClr val="002060"/>
                </a:solidFill>
                <a:latin typeface="Times New Roman" panose="02020603050405020304" pitchFamily="18" charset="0"/>
                <a:cs typeface="Times New Roman" panose="02020603050405020304" pitchFamily="18" charset="0"/>
              </a:rPr>
              <a:t>Макро орчин (Улс төр, эдийн засаг, нийгэм, технологи, хүрээлэн буй орчин, хууль эрх зүйн судалгаа)</a:t>
            </a:r>
          </a:p>
          <a:p>
            <a:pPr lvl="2" algn="just"/>
            <a:r>
              <a:rPr lang="mn-MN" sz="2400" dirty="0">
                <a:solidFill>
                  <a:srgbClr val="002060"/>
                </a:solidFill>
                <a:latin typeface="Times New Roman" panose="02020603050405020304" pitchFamily="18" charset="0"/>
                <a:cs typeface="Times New Roman" panose="02020603050405020304" pitchFamily="18" charset="0"/>
              </a:rPr>
              <a:t>Микро орчин (хэрэглэгч, өрсөлдөгч, бэлтгэн нийлүүлэгч, зуучлагч, харилцагчдын судалгаа)</a:t>
            </a:r>
            <a:endParaRPr lang="mn-MN" sz="2800" dirty="0">
              <a:solidFill>
                <a:srgbClr val="002060"/>
              </a:solidFill>
              <a:latin typeface="Times New Roman" panose="02020603050405020304" pitchFamily="18" charset="0"/>
              <a:cs typeface="Times New Roman" panose="02020603050405020304" pitchFamily="18" charset="0"/>
            </a:endParaRPr>
          </a:p>
          <a:p>
            <a:pPr algn="just"/>
            <a:r>
              <a:rPr lang="mn-MN" sz="3200" dirty="0">
                <a:solidFill>
                  <a:srgbClr val="002060"/>
                </a:solidFill>
                <a:latin typeface="Times New Roman" panose="02020603050405020304" pitchFamily="18" charset="0"/>
                <a:cs typeface="Times New Roman" panose="02020603050405020304" pitchFamily="18" charset="0"/>
              </a:rPr>
              <a:t>Нөхцөл байдлын судалгаа, шинжилгээ</a:t>
            </a:r>
            <a:endParaRPr lang="en-US" sz="3200" dirty="0">
              <a:solidFill>
                <a:srgbClr val="002060"/>
              </a:solidFill>
              <a:latin typeface="Times New Roman" panose="02020603050405020304" pitchFamily="18" charset="0"/>
              <a:cs typeface="Times New Roman" panose="02020603050405020304" pitchFamily="18" charset="0"/>
            </a:endParaRPr>
          </a:p>
          <a:p>
            <a:pPr lvl="1" algn="just"/>
            <a:r>
              <a:rPr lang="mn-MN" sz="2800" dirty="0">
                <a:solidFill>
                  <a:srgbClr val="002060"/>
                </a:solidFill>
                <a:latin typeface="Times New Roman" panose="02020603050405020304" pitchFamily="18" charset="0"/>
                <a:cs typeface="Times New Roman" panose="02020603050405020304" pitchFamily="18" charset="0"/>
              </a:rPr>
              <a:t>Бизнесийн орчны шинжилгээ</a:t>
            </a:r>
          </a:p>
          <a:p>
            <a:pPr lvl="2" algn="just"/>
            <a:r>
              <a:rPr lang="en-US" sz="2400" dirty="0">
                <a:solidFill>
                  <a:srgbClr val="002060"/>
                </a:solidFill>
                <a:latin typeface="Times New Roman" panose="02020603050405020304" pitchFamily="18" charset="0"/>
                <a:cs typeface="Times New Roman" panose="02020603050405020304" pitchFamily="18" charset="0"/>
              </a:rPr>
              <a:t>PEST, PESTEL</a:t>
            </a:r>
            <a:r>
              <a:rPr lang="mn-MN" sz="2400" dirty="0">
                <a:solidFill>
                  <a:srgbClr val="002060"/>
                </a:solidFill>
                <a:latin typeface="Times New Roman" panose="02020603050405020304" pitchFamily="18" charset="0"/>
                <a:cs typeface="Times New Roman" panose="02020603050405020304" pitchFamily="18" charset="0"/>
              </a:rPr>
              <a:t> шинжилгээ</a:t>
            </a:r>
            <a:endParaRPr lang="en-US" sz="2400" dirty="0">
              <a:solidFill>
                <a:srgbClr val="002060"/>
              </a:solidFill>
              <a:latin typeface="Times New Roman" panose="02020603050405020304" pitchFamily="18" charset="0"/>
              <a:cs typeface="Times New Roman" panose="02020603050405020304" pitchFamily="18" charset="0"/>
            </a:endParaRPr>
          </a:p>
          <a:p>
            <a:pPr lvl="2" algn="just"/>
            <a:r>
              <a:rPr lang="en-US" sz="2400" dirty="0">
                <a:solidFill>
                  <a:srgbClr val="002060"/>
                </a:solidFill>
                <a:latin typeface="Times New Roman" panose="02020603050405020304" pitchFamily="18" charset="0"/>
                <a:cs typeface="Times New Roman" panose="02020603050405020304" pitchFamily="18" charset="0"/>
              </a:rPr>
              <a:t>SWOT, TOWS</a:t>
            </a:r>
            <a:r>
              <a:rPr lang="mn-MN" sz="2400" dirty="0">
                <a:solidFill>
                  <a:srgbClr val="002060"/>
                </a:solidFill>
                <a:latin typeface="Times New Roman" panose="02020603050405020304" pitchFamily="18" charset="0"/>
                <a:cs typeface="Times New Roman" panose="02020603050405020304" pitchFamily="18" charset="0"/>
              </a:rPr>
              <a:t> шинжилгээ</a:t>
            </a:r>
            <a:endParaRPr lang="en-US" sz="2400" dirty="0">
              <a:solidFill>
                <a:srgbClr val="002060"/>
              </a:solidFill>
              <a:latin typeface="Times New Roman" panose="02020603050405020304" pitchFamily="18" charset="0"/>
              <a:cs typeface="Times New Roman" panose="02020603050405020304" pitchFamily="18" charset="0"/>
            </a:endParaRPr>
          </a:p>
          <a:p>
            <a:pPr lvl="2" algn="just"/>
            <a:r>
              <a:rPr lang="mn-MN" sz="2400" dirty="0">
                <a:solidFill>
                  <a:srgbClr val="002060"/>
                </a:solidFill>
                <a:latin typeface="Times New Roman" panose="02020603050405020304" pitchFamily="18" charset="0"/>
                <a:cs typeface="Times New Roman" panose="02020603050405020304" pitchFamily="18" charset="0"/>
              </a:rPr>
              <a:t>Бостоны зөвлөх группын матриц</a:t>
            </a: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D325-E679-6AC6-5414-E31C66B27DEB}"/>
              </a:ext>
            </a:extLst>
          </p:cNvPr>
          <p:cNvSpPr>
            <a:spLocks noGrp="1"/>
          </p:cNvSpPr>
          <p:nvPr>
            <p:ph type="title"/>
          </p:nvPr>
        </p:nvSpPr>
        <p:spPr>
          <a:xfrm>
            <a:off x="203718" y="85208"/>
            <a:ext cx="11342351" cy="679903"/>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Маркетингийн үндсэн ойлголт</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3B3DC-78F3-B6DC-1883-C2CCC26D6319}"/>
              </a:ext>
            </a:extLst>
          </p:cNvPr>
          <p:cNvSpPr>
            <a:spLocks noGrp="1"/>
          </p:cNvSpPr>
          <p:nvPr>
            <p:ph idx="1"/>
          </p:nvPr>
        </p:nvSpPr>
        <p:spPr>
          <a:xfrm>
            <a:off x="192833" y="783772"/>
            <a:ext cx="11776788" cy="5933037"/>
          </a:xfrm>
        </p:spPr>
        <p:txBody>
          <a:bodyPr>
            <a:normAutofit fontScale="92500"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Маркетинг – </a:t>
            </a:r>
            <a:r>
              <a:rPr lang="en-US" sz="3200" dirty="0">
                <a:solidFill>
                  <a:srgbClr val="002060"/>
                </a:solidFill>
                <a:latin typeface="Times New Roman" panose="02020603050405020304" pitchFamily="18" charset="0"/>
                <a:cs typeface="Times New Roman" panose="02020603050405020304" pitchFamily="18" charset="0"/>
              </a:rPr>
              <a:t>Market – </a:t>
            </a:r>
            <a:r>
              <a:rPr lang="mn-MN" sz="3200" dirty="0">
                <a:solidFill>
                  <a:srgbClr val="002060"/>
                </a:solidFill>
                <a:latin typeface="Times New Roman" panose="02020603050405020304" pitchFamily="18" charset="0"/>
                <a:cs typeface="Times New Roman" panose="02020603050405020304" pitchFamily="18" charset="0"/>
              </a:rPr>
              <a:t>зах зээл, арилжаа наймаа хийгдэх газар. </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 – Зах зээлийг эзэмдэх ухаан. </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 – Хэрэглэгчийг өөртөө татах, хадгалж үлдээх ухаан. </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 – Зах зээлд хөтлөх, зах зээлийг эзэмдэх, удирдан жолоодох түлхүүр ухаан. </a:t>
            </a:r>
            <a:r>
              <a:rPr lang="mn-MN" sz="2000" dirty="0">
                <a:solidFill>
                  <a:srgbClr val="002060"/>
                </a:solidFill>
                <a:latin typeface="Times New Roman" panose="02020603050405020304" pitchFamily="18" charset="0"/>
                <a:cs typeface="Times New Roman" panose="02020603050405020304" pitchFamily="18" charset="0"/>
              </a:rPr>
              <a:t>/Монголын Маркетингийн холбооны ерөнхийлөгч Д.Дагвадорж/ </a:t>
            </a:r>
            <a:endParaRPr lang="mn-MN" sz="3600" dirty="0">
              <a:solidFill>
                <a:srgbClr val="002060"/>
              </a:solidFill>
              <a:latin typeface="Times New Roman" panose="02020603050405020304" pitchFamily="18" charset="0"/>
              <a:cs typeface="Times New Roman" panose="02020603050405020304" pitchFamily="18" charset="0"/>
            </a:endParaRPr>
          </a:p>
          <a:p>
            <a:pPr algn="just"/>
            <a:r>
              <a:rPr lang="mn-MN" sz="3200" dirty="0">
                <a:solidFill>
                  <a:srgbClr val="002060"/>
                </a:solidFill>
                <a:latin typeface="Times New Roman" panose="02020603050405020304" pitchFamily="18" charset="0"/>
                <a:cs typeface="Times New Roman" panose="02020603050405020304" pitchFamily="18" charset="0"/>
              </a:rPr>
              <a:t>Маркетинг </a:t>
            </a:r>
            <a:r>
              <a:rPr lang="mn-MN" sz="2000" dirty="0">
                <a:solidFill>
                  <a:srgbClr val="002060"/>
                </a:solidFill>
                <a:latin typeface="Times New Roman" panose="02020603050405020304" pitchFamily="18" charset="0"/>
                <a:cs typeface="Times New Roman" panose="02020603050405020304" pitchFamily="18" charset="0"/>
              </a:rPr>
              <a:t>/Ф.Котлер/ </a:t>
            </a:r>
            <a:r>
              <a:rPr lang="mn-MN" sz="3200" dirty="0">
                <a:solidFill>
                  <a:srgbClr val="002060"/>
                </a:solidFill>
                <a:latin typeface="Times New Roman" panose="02020603050405020304" pitchFamily="18" charset="0"/>
                <a:cs typeface="Times New Roman" panose="02020603050405020304" pitchFamily="18" charset="0"/>
              </a:rPr>
              <a:t>– </a:t>
            </a:r>
          </a:p>
          <a:p>
            <a:pPr lvl="1" algn="just"/>
            <a:r>
              <a:rPr lang="mn-MN" sz="2800" dirty="0">
                <a:solidFill>
                  <a:srgbClr val="002060"/>
                </a:solidFill>
                <a:latin typeface="Times New Roman" panose="02020603050405020304" pitchFamily="18" charset="0"/>
                <a:cs typeface="Times New Roman" panose="02020603050405020304" pitchFamily="18" charset="0"/>
              </a:rPr>
              <a:t>Нийгмийн хувьд – хувь хүн, бүлэг хүмүүсийн хүсэл хэрэгцээг хангахад чиглэсэн үнэт чанар бүхий бүтээгдэхүүн бүтээх, арилжан солилцох нийгмийн болон удирдлагын үйл явц. </a:t>
            </a:r>
          </a:p>
          <a:p>
            <a:pPr lvl="1" algn="just"/>
            <a:r>
              <a:rPr lang="mn-MN" sz="2800" dirty="0">
                <a:solidFill>
                  <a:srgbClr val="002060"/>
                </a:solidFill>
                <a:latin typeface="Times New Roman" panose="02020603050405020304" pitchFamily="18" charset="0"/>
                <a:cs typeface="Times New Roman" panose="02020603050405020304" pitchFamily="18" charset="0"/>
              </a:rPr>
              <a:t>Бизнесийн хувьд – хэрэглэгчдэд үнэт чанар бүхий бүтээгдэхүүн бий болгож хүргэх, тэдэнтэй харилцан ашигтай, тогтвортой харилцах үйл явц. </a:t>
            </a:r>
            <a:endParaRPr lang="mn-MN" sz="2000" dirty="0">
              <a:solidFill>
                <a:srgbClr val="002060"/>
              </a:solidFill>
              <a:latin typeface="Times New Roman" panose="02020603050405020304" pitchFamily="18" charset="0"/>
              <a:cs typeface="Times New Roman" panose="02020603050405020304" pitchFamily="18" charset="0"/>
            </a:endParaRPr>
          </a:p>
          <a:p>
            <a:pPr algn="just"/>
            <a:r>
              <a:rPr lang="mn-MN" sz="3200" b="1" i="1" dirty="0">
                <a:solidFill>
                  <a:srgbClr val="002060"/>
                </a:solidFill>
                <a:latin typeface="Times New Roman" panose="02020603050405020304" pitchFamily="18" charset="0"/>
                <a:cs typeface="Times New Roman" panose="02020603050405020304" pitchFamily="18" charset="0"/>
              </a:rPr>
              <a:t>Маркетинг – Хэрэглэгчдийн эрэлт хэрэгцээг хангах замаар, тэднийг сэтгэл хангалуун болгосноор ашиг олоход чиглэсэн үйл ажиллагаа. </a:t>
            </a:r>
          </a:p>
        </p:txBody>
      </p:sp>
    </p:spTree>
    <p:extLst>
      <p:ext uri="{BB962C8B-B14F-4D97-AF65-F5344CB8AC3E}">
        <p14:creationId xmlns:p14="http://schemas.microsoft.com/office/powerpoint/2010/main" val="3790811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pic>
        <p:nvPicPr>
          <p:cNvPr id="1026" name="Picture 2" descr="Ил тод соёлыг бий болгох нь - BUSINESS.MN">
            <a:extLst>
              <a:ext uri="{FF2B5EF4-FFF2-40B4-BE49-F238E27FC236}">
                <a16:creationId xmlns:a16="http://schemas.microsoft.com/office/drawing/2014/main" id="{C57ECDE9-EAA5-AB70-0858-8E5D906834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533" b="2"/>
          <a:stretch/>
        </p:blipFill>
        <p:spPr bwMode="auto">
          <a:xfrm>
            <a:off x="1" y="10"/>
            <a:ext cx="8322905"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8D580E-12F9-7CF1-4ACA-0F8D426FB9C2}"/>
              </a:ext>
            </a:extLst>
          </p:cNvPr>
          <p:cNvSpPr>
            <a:spLocks noGrp="1"/>
          </p:cNvSpPr>
          <p:nvPr>
            <p:ph idx="1"/>
          </p:nvPr>
        </p:nvSpPr>
        <p:spPr>
          <a:xfrm>
            <a:off x="5271264" y="429208"/>
            <a:ext cx="6727900" cy="5728705"/>
          </a:xfrm>
        </p:spPr>
        <p:txBody>
          <a:bodyPr>
            <a:noAutofit/>
          </a:bodyPr>
          <a:lstStyle/>
          <a:p>
            <a:pPr marL="0" indent="0" algn="just">
              <a:buNone/>
            </a:pPr>
            <a:r>
              <a:rPr lang="mn-MN" dirty="0">
                <a:latin typeface="Times New Roman" panose="02020603050405020304" pitchFamily="18" charset="0"/>
                <a:cs typeface="Times New Roman" panose="02020603050405020304" pitchFamily="18" charset="0"/>
              </a:rPr>
              <a:t>Зар, сурталчилгаа, олон нийтийн харилцаа</a:t>
            </a:r>
          </a:p>
          <a:p>
            <a:pPr marL="0" indent="0" algn="just">
              <a:buNone/>
            </a:pPr>
            <a:endParaRPr lang="mn-MN" sz="300" dirty="0">
              <a:latin typeface="Times New Roman" panose="02020603050405020304" pitchFamily="18" charset="0"/>
              <a:cs typeface="Times New Roman" panose="02020603050405020304" pitchFamily="18" charset="0"/>
            </a:endParaRPr>
          </a:p>
          <a:p>
            <a:pPr marL="0" indent="0" algn="just">
              <a:buNone/>
            </a:pPr>
            <a:r>
              <a:rPr lang="mn-MN" dirty="0">
                <a:latin typeface="Times New Roman" panose="02020603050405020304" pitchFamily="18" charset="0"/>
                <a:cs typeface="Times New Roman" panose="02020603050405020304" pitchFamily="18" charset="0"/>
              </a:rPr>
              <a:t>Борлуулалтын урамшуулал</a:t>
            </a:r>
          </a:p>
          <a:p>
            <a:pPr marL="0" indent="0" algn="just">
              <a:buNone/>
            </a:pPr>
            <a:endParaRPr lang="mn-MN" sz="3200" dirty="0">
              <a:latin typeface="Times New Roman" panose="02020603050405020304" pitchFamily="18" charset="0"/>
              <a:cs typeface="Times New Roman" panose="02020603050405020304" pitchFamily="18" charset="0"/>
            </a:endParaRPr>
          </a:p>
          <a:p>
            <a:pPr marL="0" indent="0" algn="just">
              <a:buNone/>
            </a:pPr>
            <a:r>
              <a:rPr lang="mn-MN" dirty="0">
                <a:latin typeface="Times New Roman" panose="02020603050405020304" pitchFamily="18" charset="0"/>
                <a:cs typeface="Times New Roman" panose="02020603050405020304" pitchFamily="18" charset="0"/>
              </a:rPr>
              <a:t>Хяналтын үйл ажиллагаа</a:t>
            </a:r>
          </a:p>
          <a:p>
            <a:pPr marL="0" indent="0" algn="just">
              <a:buNone/>
            </a:pPr>
            <a:endParaRPr lang="mn-MN" sz="1100" dirty="0">
              <a:latin typeface="Times New Roman" panose="02020603050405020304" pitchFamily="18" charset="0"/>
              <a:cs typeface="Times New Roman" panose="02020603050405020304" pitchFamily="18" charset="0"/>
            </a:endParaRPr>
          </a:p>
          <a:p>
            <a:pPr marL="0" indent="0" algn="just">
              <a:buNone/>
            </a:pPr>
            <a:r>
              <a:rPr lang="mn-MN" dirty="0">
                <a:latin typeface="Times New Roman" panose="02020603050405020304" pitchFamily="18" charset="0"/>
                <a:cs typeface="Times New Roman" panose="02020603050405020304" pitchFamily="18" charset="0"/>
              </a:rPr>
              <a:t>Маркетингийн төлөвлөлт: </a:t>
            </a:r>
          </a:p>
          <a:p>
            <a:pPr marL="0" indent="0" algn="r">
              <a:buNone/>
            </a:pPr>
            <a:r>
              <a:rPr lang="mn-MN" i="1" dirty="0">
                <a:latin typeface="Times New Roman" panose="02020603050405020304" pitchFamily="18" charset="0"/>
                <a:cs typeface="Times New Roman" panose="02020603050405020304" pitchFamily="18" charset="0"/>
              </a:rPr>
              <a:t>Маркетингийн стратеги, бодлого, хөтөлбөр боловсруулалт, өдөр тутмын үйл ажиллагааны төлөвлөлт</a:t>
            </a:r>
          </a:p>
          <a:p>
            <a:pPr marL="0" indent="0" algn="just">
              <a:buNone/>
            </a:pPr>
            <a:endParaRPr lang="mn-MN" sz="100" dirty="0">
              <a:latin typeface="Times New Roman" panose="02020603050405020304" pitchFamily="18" charset="0"/>
              <a:cs typeface="Times New Roman" panose="02020603050405020304" pitchFamily="18" charset="0"/>
            </a:endParaRPr>
          </a:p>
          <a:p>
            <a:pPr marL="0" indent="0" algn="just">
              <a:buNone/>
            </a:pPr>
            <a:r>
              <a:rPr lang="mn-MN" dirty="0">
                <a:latin typeface="Times New Roman" panose="02020603050405020304" pitchFamily="18" charset="0"/>
                <a:cs typeface="Times New Roman" panose="02020603050405020304" pitchFamily="18" charset="0"/>
              </a:rPr>
              <a:t>Өрсөлдөгчийн судалгаа</a:t>
            </a:r>
          </a:p>
          <a:p>
            <a:pPr marL="0" indent="0" algn="just">
              <a:buNone/>
            </a:pPr>
            <a:r>
              <a:rPr lang="mn-MN" dirty="0">
                <a:latin typeface="Times New Roman" panose="02020603050405020304" pitchFamily="18" charset="0"/>
                <a:cs typeface="Times New Roman" panose="02020603050405020304" pitchFamily="18" charset="0"/>
              </a:rPr>
              <a:t>Хэрэглэгчдийн судалгаа</a:t>
            </a:r>
          </a:p>
          <a:p>
            <a:pPr marL="0" indent="0" algn="just">
              <a:buNone/>
            </a:pPr>
            <a:r>
              <a:rPr lang="mn-MN" dirty="0">
                <a:latin typeface="Times New Roman" panose="02020603050405020304" pitchFamily="18" charset="0"/>
                <a:cs typeface="Times New Roman" panose="02020603050405020304" pitchFamily="18" charset="0"/>
              </a:rPr>
              <a:t>Зах зээлийн судалгаа</a:t>
            </a:r>
            <a:endParaRPr lang="en-US" dirty="0">
              <a:latin typeface="Times New Roman" panose="02020603050405020304" pitchFamily="18" charset="0"/>
              <a:cs typeface="Times New Roman" panose="02020603050405020304" pitchFamily="18" charset="0"/>
            </a:endParaRPr>
          </a:p>
        </p:txBody>
      </p:sp>
      <p:sp>
        <p:nvSpPr>
          <p:cNvPr id="4" name="Arrow: Right 3">
            <a:extLst>
              <a:ext uri="{FF2B5EF4-FFF2-40B4-BE49-F238E27FC236}">
                <a16:creationId xmlns:a16="http://schemas.microsoft.com/office/drawing/2014/main" id="{A816502C-2C92-D87B-5ACE-448B7550D50E}"/>
              </a:ext>
            </a:extLst>
          </p:cNvPr>
          <p:cNvSpPr/>
          <p:nvPr/>
        </p:nvSpPr>
        <p:spPr>
          <a:xfrm>
            <a:off x="4061493" y="436782"/>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5" name="Arrow: Right 4">
            <a:extLst>
              <a:ext uri="{FF2B5EF4-FFF2-40B4-BE49-F238E27FC236}">
                <a16:creationId xmlns:a16="http://schemas.microsoft.com/office/drawing/2014/main" id="{95116073-9E7B-EFD0-F7A0-0C6D85F3FB8F}"/>
              </a:ext>
            </a:extLst>
          </p:cNvPr>
          <p:cNvSpPr/>
          <p:nvPr/>
        </p:nvSpPr>
        <p:spPr>
          <a:xfrm>
            <a:off x="4015373" y="1145901"/>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6" name="Arrow: Right 5">
            <a:extLst>
              <a:ext uri="{FF2B5EF4-FFF2-40B4-BE49-F238E27FC236}">
                <a16:creationId xmlns:a16="http://schemas.microsoft.com/office/drawing/2014/main" id="{BA444AEC-7B55-8A26-800D-7D632B8E099D}"/>
              </a:ext>
            </a:extLst>
          </p:cNvPr>
          <p:cNvSpPr/>
          <p:nvPr/>
        </p:nvSpPr>
        <p:spPr>
          <a:xfrm>
            <a:off x="4015375" y="2253137"/>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7" name="Arrow: Right 6">
            <a:extLst>
              <a:ext uri="{FF2B5EF4-FFF2-40B4-BE49-F238E27FC236}">
                <a16:creationId xmlns:a16="http://schemas.microsoft.com/office/drawing/2014/main" id="{8123266C-5910-BA98-88F1-3B1984440E0D}"/>
              </a:ext>
            </a:extLst>
          </p:cNvPr>
          <p:cNvSpPr/>
          <p:nvPr/>
        </p:nvSpPr>
        <p:spPr>
          <a:xfrm>
            <a:off x="4015374" y="3042364"/>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8" name="Arrow: Right 7">
            <a:extLst>
              <a:ext uri="{FF2B5EF4-FFF2-40B4-BE49-F238E27FC236}">
                <a16:creationId xmlns:a16="http://schemas.microsoft.com/office/drawing/2014/main" id="{CF08A21B-F2F7-3C7B-6F79-A664DB401EB2}"/>
              </a:ext>
            </a:extLst>
          </p:cNvPr>
          <p:cNvSpPr/>
          <p:nvPr/>
        </p:nvSpPr>
        <p:spPr>
          <a:xfrm>
            <a:off x="4015372" y="4979230"/>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9" name="Arrow: Right 8">
            <a:extLst>
              <a:ext uri="{FF2B5EF4-FFF2-40B4-BE49-F238E27FC236}">
                <a16:creationId xmlns:a16="http://schemas.microsoft.com/office/drawing/2014/main" id="{BD2F7E83-A687-0A77-DB8C-1A3E95D38995}"/>
              </a:ext>
            </a:extLst>
          </p:cNvPr>
          <p:cNvSpPr/>
          <p:nvPr/>
        </p:nvSpPr>
        <p:spPr>
          <a:xfrm>
            <a:off x="4015370" y="5471416"/>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10" name="Arrow: Right 9">
            <a:extLst>
              <a:ext uri="{FF2B5EF4-FFF2-40B4-BE49-F238E27FC236}">
                <a16:creationId xmlns:a16="http://schemas.microsoft.com/office/drawing/2014/main" id="{AA1C8587-6ECA-5C96-8EA1-22DBC1F8AF62}"/>
              </a:ext>
            </a:extLst>
          </p:cNvPr>
          <p:cNvSpPr/>
          <p:nvPr/>
        </p:nvSpPr>
        <p:spPr>
          <a:xfrm>
            <a:off x="4015369" y="5982263"/>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185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Ил тод соёлыг бий болгох нь - BUSINESS.MN">
            <a:extLst>
              <a:ext uri="{FF2B5EF4-FFF2-40B4-BE49-F238E27FC236}">
                <a16:creationId xmlns:a16="http://schemas.microsoft.com/office/drawing/2014/main" id="{C57ECDE9-EAA5-AB70-0858-8E5D906834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533" b="2"/>
          <a:stretch/>
        </p:blipFill>
        <p:spPr bwMode="auto">
          <a:xfrm>
            <a:off x="2" y="10"/>
            <a:ext cx="11925298" cy="6857990"/>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p:spPr>
      </p:pic>
      <p:sp>
        <p:nvSpPr>
          <p:cNvPr id="3" name="Content Placeholder 2">
            <a:extLst>
              <a:ext uri="{FF2B5EF4-FFF2-40B4-BE49-F238E27FC236}">
                <a16:creationId xmlns:a16="http://schemas.microsoft.com/office/drawing/2014/main" id="{588D580E-12F9-7CF1-4ACA-0F8D426FB9C2}"/>
              </a:ext>
            </a:extLst>
          </p:cNvPr>
          <p:cNvSpPr>
            <a:spLocks noGrp="1"/>
          </p:cNvSpPr>
          <p:nvPr>
            <p:ph idx="1"/>
          </p:nvPr>
        </p:nvSpPr>
        <p:spPr>
          <a:xfrm>
            <a:off x="5271264" y="309966"/>
            <a:ext cx="6553944" cy="5847947"/>
          </a:xfrm>
        </p:spPr>
        <p:txBody>
          <a:bodyPr>
            <a:noAutofit/>
          </a:bodyPr>
          <a:lstStyle/>
          <a:p>
            <a:pPr marL="0" indent="0" algn="just">
              <a:buNone/>
            </a:pPr>
            <a:r>
              <a:rPr lang="mn-MN" b="1" dirty="0">
                <a:solidFill>
                  <a:srgbClr val="FF0000"/>
                </a:solidFill>
                <a:latin typeface="Times New Roman" panose="02020603050405020304" pitchFamily="18" charset="0"/>
                <a:cs typeface="Times New Roman" panose="02020603050405020304" pitchFamily="18" charset="0"/>
              </a:rPr>
              <a:t>Зар, сурталчилгаа, олон нийтийн харилцаа</a:t>
            </a:r>
          </a:p>
          <a:p>
            <a:pPr marL="0" indent="0" algn="just">
              <a:buNone/>
            </a:pPr>
            <a:endParaRPr lang="mn-MN" sz="300" b="1" dirty="0">
              <a:solidFill>
                <a:srgbClr val="FF0000"/>
              </a:solidFill>
              <a:latin typeface="Times New Roman" panose="02020603050405020304" pitchFamily="18" charset="0"/>
              <a:cs typeface="Times New Roman" panose="02020603050405020304" pitchFamily="18" charset="0"/>
            </a:endParaRPr>
          </a:p>
          <a:p>
            <a:pPr marL="0" indent="0" algn="just">
              <a:buNone/>
            </a:pPr>
            <a:r>
              <a:rPr lang="mn-MN" b="1" dirty="0">
                <a:solidFill>
                  <a:srgbClr val="FF0000"/>
                </a:solidFill>
                <a:latin typeface="Times New Roman" panose="02020603050405020304" pitchFamily="18" charset="0"/>
                <a:cs typeface="Times New Roman" panose="02020603050405020304" pitchFamily="18" charset="0"/>
              </a:rPr>
              <a:t>Борлуулалтын урамшуулал</a:t>
            </a:r>
          </a:p>
          <a:p>
            <a:pPr marL="0" indent="0" algn="just">
              <a:buNone/>
            </a:pPr>
            <a:endParaRPr lang="mn-MN" sz="3200" b="1" dirty="0">
              <a:solidFill>
                <a:srgbClr val="FFFF00"/>
              </a:solidFill>
              <a:latin typeface="Times New Roman" panose="02020603050405020304" pitchFamily="18" charset="0"/>
              <a:cs typeface="Times New Roman" panose="02020603050405020304" pitchFamily="18" charset="0"/>
            </a:endParaRPr>
          </a:p>
          <a:p>
            <a:pPr marL="0" indent="0" algn="just">
              <a:buNone/>
            </a:pPr>
            <a:r>
              <a:rPr lang="mn-MN" b="1" dirty="0">
                <a:solidFill>
                  <a:srgbClr val="FFFF00"/>
                </a:solidFill>
                <a:latin typeface="Times New Roman" panose="02020603050405020304" pitchFamily="18" charset="0"/>
                <a:cs typeface="Times New Roman" panose="02020603050405020304" pitchFamily="18" charset="0"/>
              </a:rPr>
              <a:t>Хяналтын үйл ажиллагаа</a:t>
            </a:r>
          </a:p>
          <a:p>
            <a:pPr marL="0" indent="0" algn="just">
              <a:buNone/>
            </a:pPr>
            <a:endParaRPr lang="mn-MN" sz="1100" b="1" dirty="0">
              <a:solidFill>
                <a:srgbClr val="FFFF00"/>
              </a:solidFill>
              <a:latin typeface="Times New Roman" panose="02020603050405020304" pitchFamily="18" charset="0"/>
              <a:cs typeface="Times New Roman" panose="02020603050405020304" pitchFamily="18" charset="0"/>
            </a:endParaRPr>
          </a:p>
          <a:p>
            <a:pPr marL="0" indent="0" algn="just">
              <a:buNone/>
            </a:pPr>
            <a:r>
              <a:rPr lang="mn-MN" b="1" dirty="0">
                <a:solidFill>
                  <a:srgbClr val="FFFF00"/>
                </a:solidFill>
                <a:latin typeface="Times New Roman" panose="02020603050405020304" pitchFamily="18" charset="0"/>
                <a:cs typeface="Times New Roman" panose="02020603050405020304" pitchFamily="18" charset="0"/>
              </a:rPr>
              <a:t>Маркетингийн төлөвлөлт: </a:t>
            </a:r>
          </a:p>
          <a:p>
            <a:pPr marL="0" indent="0" algn="r">
              <a:buNone/>
            </a:pPr>
            <a:r>
              <a:rPr lang="mn-MN" b="1" i="1" dirty="0">
                <a:solidFill>
                  <a:srgbClr val="FFFF00"/>
                </a:solidFill>
                <a:latin typeface="Times New Roman" panose="02020603050405020304" pitchFamily="18" charset="0"/>
                <a:cs typeface="Times New Roman" panose="02020603050405020304" pitchFamily="18" charset="0"/>
              </a:rPr>
              <a:t>Маркетингийн стратеги, бодлого, хөтөлбөр боловсруулалт, өдөр тутмын үйл ажиллагааны төлөвлөлт</a:t>
            </a:r>
          </a:p>
          <a:p>
            <a:pPr marL="0" indent="0" algn="just">
              <a:buNone/>
            </a:pPr>
            <a:endParaRPr lang="mn-MN" sz="100" b="1" dirty="0">
              <a:solidFill>
                <a:srgbClr val="FFFF00"/>
              </a:solidFill>
              <a:latin typeface="Times New Roman" panose="02020603050405020304" pitchFamily="18" charset="0"/>
              <a:cs typeface="Times New Roman" panose="02020603050405020304" pitchFamily="18" charset="0"/>
            </a:endParaRPr>
          </a:p>
          <a:p>
            <a:pPr marL="0" indent="0" algn="just">
              <a:buNone/>
            </a:pPr>
            <a:r>
              <a:rPr lang="mn-MN" b="1" dirty="0">
                <a:solidFill>
                  <a:srgbClr val="FFFF00"/>
                </a:solidFill>
                <a:latin typeface="Times New Roman" panose="02020603050405020304" pitchFamily="18" charset="0"/>
                <a:cs typeface="Times New Roman" panose="02020603050405020304" pitchFamily="18" charset="0"/>
              </a:rPr>
              <a:t>Өрсөлдөгчийн судалгаа</a:t>
            </a:r>
          </a:p>
          <a:p>
            <a:pPr marL="0" indent="0" algn="just">
              <a:buNone/>
            </a:pPr>
            <a:r>
              <a:rPr lang="mn-MN" b="1" dirty="0">
                <a:solidFill>
                  <a:srgbClr val="FFFF00"/>
                </a:solidFill>
                <a:latin typeface="Times New Roman" panose="02020603050405020304" pitchFamily="18" charset="0"/>
                <a:cs typeface="Times New Roman" panose="02020603050405020304" pitchFamily="18" charset="0"/>
              </a:rPr>
              <a:t>Хэрэглэгчдийн судалгаа</a:t>
            </a:r>
          </a:p>
          <a:p>
            <a:pPr marL="0" indent="0" algn="just">
              <a:buNone/>
            </a:pPr>
            <a:r>
              <a:rPr lang="mn-MN" b="1" dirty="0">
                <a:solidFill>
                  <a:srgbClr val="FFFF00"/>
                </a:solidFill>
                <a:latin typeface="Times New Roman" panose="02020603050405020304" pitchFamily="18" charset="0"/>
                <a:cs typeface="Times New Roman" panose="02020603050405020304" pitchFamily="18" charset="0"/>
              </a:rPr>
              <a:t>Зах зээлийн судалгаа</a:t>
            </a:r>
            <a:endParaRPr lang="en-US" b="1" dirty="0">
              <a:solidFill>
                <a:srgbClr val="FFFF00"/>
              </a:solidFill>
              <a:latin typeface="Times New Roman" panose="02020603050405020304" pitchFamily="18" charset="0"/>
              <a:cs typeface="Times New Roman" panose="02020603050405020304" pitchFamily="18" charset="0"/>
            </a:endParaRPr>
          </a:p>
        </p:txBody>
      </p:sp>
      <p:sp>
        <p:nvSpPr>
          <p:cNvPr id="4" name="Arrow: Right 3">
            <a:extLst>
              <a:ext uri="{FF2B5EF4-FFF2-40B4-BE49-F238E27FC236}">
                <a16:creationId xmlns:a16="http://schemas.microsoft.com/office/drawing/2014/main" id="{A816502C-2C92-D87B-5ACE-448B7550D50E}"/>
              </a:ext>
            </a:extLst>
          </p:cNvPr>
          <p:cNvSpPr/>
          <p:nvPr/>
        </p:nvSpPr>
        <p:spPr>
          <a:xfrm>
            <a:off x="4061493" y="436782"/>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5" name="Arrow: Right 4">
            <a:extLst>
              <a:ext uri="{FF2B5EF4-FFF2-40B4-BE49-F238E27FC236}">
                <a16:creationId xmlns:a16="http://schemas.microsoft.com/office/drawing/2014/main" id="{95116073-9E7B-EFD0-F7A0-0C6D85F3FB8F}"/>
              </a:ext>
            </a:extLst>
          </p:cNvPr>
          <p:cNvSpPr/>
          <p:nvPr/>
        </p:nvSpPr>
        <p:spPr>
          <a:xfrm>
            <a:off x="4015373" y="1145901"/>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6" name="Arrow: Right 5">
            <a:extLst>
              <a:ext uri="{FF2B5EF4-FFF2-40B4-BE49-F238E27FC236}">
                <a16:creationId xmlns:a16="http://schemas.microsoft.com/office/drawing/2014/main" id="{BA444AEC-7B55-8A26-800D-7D632B8E099D}"/>
              </a:ext>
            </a:extLst>
          </p:cNvPr>
          <p:cNvSpPr/>
          <p:nvPr/>
        </p:nvSpPr>
        <p:spPr>
          <a:xfrm>
            <a:off x="4015375" y="2253137"/>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7" name="Arrow: Right 6">
            <a:extLst>
              <a:ext uri="{FF2B5EF4-FFF2-40B4-BE49-F238E27FC236}">
                <a16:creationId xmlns:a16="http://schemas.microsoft.com/office/drawing/2014/main" id="{8123266C-5910-BA98-88F1-3B1984440E0D}"/>
              </a:ext>
            </a:extLst>
          </p:cNvPr>
          <p:cNvSpPr/>
          <p:nvPr/>
        </p:nvSpPr>
        <p:spPr>
          <a:xfrm>
            <a:off x="4015374" y="3042364"/>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8" name="Arrow: Right 7">
            <a:extLst>
              <a:ext uri="{FF2B5EF4-FFF2-40B4-BE49-F238E27FC236}">
                <a16:creationId xmlns:a16="http://schemas.microsoft.com/office/drawing/2014/main" id="{CF08A21B-F2F7-3C7B-6F79-A664DB401EB2}"/>
              </a:ext>
            </a:extLst>
          </p:cNvPr>
          <p:cNvSpPr/>
          <p:nvPr/>
        </p:nvSpPr>
        <p:spPr>
          <a:xfrm>
            <a:off x="4015372" y="4979230"/>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9" name="Arrow: Right 8">
            <a:extLst>
              <a:ext uri="{FF2B5EF4-FFF2-40B4-BE49-F238E27FC236}">
                <a16:creationId xmlns:a16="http://schemas.microsoft.com/office/drawing/2014/main" id="{BD2F7E83-A687-0A77-DB8C-1A3E95D38995}"/>
              </a:ext>
            </a:extLst>
          </p:cNvPr>
          <p:cNvSpPr/>
          <p:nvPr/>
        </p:nvSpPr>
        <p:spPr>
          <a:xfrm>
            <a:off x="4015370" y="5471416"/>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10" name="Arrow: Right 9">
            <a:extLst>
              <a:ext uri="{FF2B5EF4-FFF2-40B4-BE49-F238E27FC236}">
                <a16:creationId xmlns:a16="http://schemas.microsoft.com/office/drawing/2014/main" id="{AA1C8587-6ECA-5C96-8EA1-22DBC1F8AF62}"/>
              </a:ext>
            </a:extLst>
          </p:cNvPr>
          <p:cNvSpPr/>
          <p:nvPr/>
        </p:nvSpPr>
        <p:spPr>
          <a:xfrm>
            <a:off x="4015369" y="5982263"/>
            <a:ext cx="1097280" cy="322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513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5656F7-B3D6-42B7-452C-F9A3E05F4069}"/>
              </a:ext>
            </a:extLst>
          </p:cNvPr>
          <p:cNvSpPr txBox="1"/>
          <p:nvPr/>
        </p:nvSpPr>
        <p:spPr>
          <a:xfrm>
            <a:off x="6096000" y="210523"/>
            <a:ext cx="5962649" cy="1631216"/>
          </a:xfrm>
          <a:prstGeom prst="rect">
            <a:avLst/>
          </a:prstGeom>
          <a:solidFill>
            <a:schemeClr val="accent4">
              <a:lumMod val="20000"/>
              <a:lumOff val="80000"/>
            </a:schemeClr>
          </a:solidFill>
        </p:spPr>
        <p:txBody>
          <a:bodyPr wrap="square" rtlCol="0">
            <a:spAutoFit/>
          </a:bodyPr>
          <a:lstStyle/>
          <a:p>
            <a:pPr algn="just"/>
            <a:r>
              <a:rPr lang="mn-MN" sz="2000" b="1" dirty="0">
                <a:solidFill>
                  <a:srgbClr val="002060"/>
                </a:solidFill>
                <a:latin typeface="Times New Roman" panose="02020603050405020304" pitchFamily="18" charset="0"/>
                <a:cs typeface="Times New Roman" panose="02020603050405020304" pitchFamily="18" charset="0"/>
              </a:rPr>
              <a:t>Хэрэгцээ</a:t>
            </a:r>
            <a:r>
              <a:rPr lang="mn-MN" sz="2000" dirty="0">
                <a:solidFill>
                  <a:srgbClr val="002060"/>
                </a:solidFill>
                <a:latin typeface="Times New Roman" panose="02020603050405020304" pitchFamily="18" charset="0"/>
                <a:cs typeface="Times New Roman" panose="02020603050405020304" pitchFamily="18" charset="0"/>
              </a:rPr>
              <a:t> – Хүнд аливаа зүйл хэрэгтэй болох нь мэдрэгдэж, санаанд буухыг хэлнэ. </a:t>
            </a:r>
          </a:p>
          <a:p>
            <a:pPr algn="just"/>
            <a:r>
              <a:rPr lang="mn-MN" sz="2000" b="1" dirty="0">
                <a:solidFill>
                  <a:srgbClr val="002060"/>
                </a:solidFill>
                <a:latin typeface="Times New Roman" panose="02020603050405020304" pitchFamily="18" charset="0"/>
                <a:cs typeface="Times New Roman" panose="02020603050405020304" pitchFamily="18" charset="0"/>
              </a:rPr>
              <a:t>Хүсэл</a:t>
            </a:r>
            <a:r>
              <a:rPr lang="mn-MN" sz="2000" dirty="0">
                <a:solidFill>
                  <a:srgbClr val="002060"/>
                </a:solidFill>
                <a:latin typeface="Times New Roman" panose="02020603050405020304" pitchFamily="18" charset="0"/>
                <a:cs typeface="Times New Roman" panose="02020603050405020304" pitchFamily="18" charset="0"/>
              </a:rPr>
              <a:t> – Хувь хүний зан чанар, соёлын онцлогоор тодорхойлогдох хэрэгцээгээ хангах тэмүүлэл. </a:t>
            </a:r>
          </a:p>
          <a:p>
            <a:pPr algn="just"/>
            <a:r>
              <a:rPr lang="mn-MN" sz="2000" b="1" dirty="0">
                <a:solidFill>
                  <a:srgbClr val="002060"/>
                </a:solidFill>
                <a:latin typeface="Times New Roman" panose="02020603050405020304" pitchFamily="18" charset="0"/>
                <a:cs typeface="Times New Roman" panose="02020603050405020304" pitchFamily="18" charset="0"/>
              </a:rPr>
              <a:t>Эрэлт</a:t>
            </a:r>
            <a:r>
              <a:rPr lang="mn-MN" sz="2000" dirty="0">
                <a:solidFill>
                  <a:srgbClr val="002060"/>
                </a:solidFill>
                <a:latin typeface="Times New Roman" panose="02020603050405020304" pitchFamily="18" charset="0"/>
                <a:cs typeface="Times New Roman" panose="02020603050405020304" pitchFamily="18" charset="0"/>
              </a:rPr>
              <a:t> – Төлбөрийн чадвартай хүсэл. </a:t>
            </a: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71FBAB0-3EFD-36FC-D5AC-1821C5936B36}"/>
              </a:ext>
            </a:extLst>
          </p:cNvPr>
          <p:cNvSpPr txBox="1"/>
          <p:nvPr/>
        </p:nvSpPr>
        <p:spPr>
          <a:xfrm>
            <a:off x="133351" y="210523"/>
            <a:ext cx="5962649" cy="1631216"/>
          </a:xfrm>
          <a:prstGeom prst="rect">
            <a:avLst/>
          </a:prstGeom>
          <a:solidFill>
            <a:schemeClr val="accent5">
              <a:lumMod val="20000"/>
              <a:lumOff val="80000"/>
            </a:schemeClr>
          </a:solidFill>
        </p:spPr>
        <p:txBody>
          <a:bodyPr wrap="square" rtlCol="0">
            <a:spAutoFit/>
          </a:bodyPr>
          <a:lstStyle/>
          <a:p>
            <a:pPr algn="just"/>
            <a:r>
              <a:rPr lang="mn-MN" sz="2000" b="1" dirty="0">
                <a:solidFill>
                  <a:srgbClr val="002060"/>
                </a:solidFill>
                <a:latin typeface="Times New Roman" panose="02020603050405020304" pitchFamily="18" charset="0"/>
                <a:cs typeface="Times New Roman" panose="02020603050405020304" pitchFamily="18" charset="0"/>
              </a:rPr>
              <a:t>Зах зээл </a:t>
            </a:r>
            <a:r>
              <a:rPr lang="mn-MN" sz="2000" dirty="0">
                <a:solidFill>
                  <a:srgbClr val="002060"/>
                </a:solidFill>
                <a:latin typeface="Times New Roman" panose="02020603050405020304" pitchFamily="18" charset="0"/>
                <a:cs typeface="Times New Roman" panose="02020603050405020304" pitchFamily="18" charset="0"/>
              </a:rPr>
              <a:t>– Хэрэглэгч хэрэгцээт бараа/бүт/үйлчилгээг худалдаж авах, харин үйлдвэрлэгч үйлдвэрлэсэн бараа/бүтээгдэхүүн/үйлчилгээгээ худалдах газар. </a:t>
            </a:r>
          </a:p>
          <a:p>
            <a:pPr algn="just"/>
            <a:r>
              <a:rPr lang="mn-MN" sz="2000" b="1" dirty="0">
                <a:solidFill>
                  <a:srgbClr val="002060"/>
                </a:solidFill>
                <a:latin typeface="Times New Roman" panose="02020603050405020304" pitchFamily="18" charset="0"/>
                <a:cs typeface="Times New Roman" panose="02020603050405020304" pitchFamily="18" charset="0"/>
              </a:rPr>
              <a:t>Зах зээл </a:t>
            </a:r>
            <a:r>
              <a:rPr lang="mn-MN" sz="2000" dirty="0">
                <a:solidFill>
                  <a:srgbClr val="002060"/>
                </a:solidFill>
                <a:latin typeface="Times New Roman" panose="02020603050405020304" pitchFamily="18" charset="0"/>
                <a:cs typeface="Times New Roman" panose="02020603050405020304" pitchFamily="18" charset="0"/>
              </a:rPr>
              <a:t>– Хоорондоо тодорхой төрлийн арилжаа хийх худалдагч, худалдан авагчдын нийлбэр. </a:t>
            </a:r>
          </a:p>
        </p:txBody>
      </p:sp>
      <p:pic>
        <p:nvPicPr>
          <p:cNvPr id="18" name="Picture 17">
            <a:extLst>
              <a:ext uri="{FF2B5EF4-FFF2-40B4-BE49-F238E27FC236}">
                <a16:creationId xmlns:a16="http://schemas.microsoft.com/office/drawing/2014/main" id="{D6FDB069-2604-CE76-5C80-1EEA020A87BC}"/>
              </a:ext>
            </a:extLst>
          </p:cNvPr>
          <p:cNvPicPr>
            <a:picLocks noChangeAspect="1"/>
          </p:cNvPicPr>
          <p:nvPr/>
        </p:nvPicPr>
        <p:blipFill>
          <a:blip r:embed="rId3"/>
          <a:stretch>
            <a:fillRect/>
          </a:stretch>
        </p:blipFill>
        <p:spPr>
          <a:xfrm>
            <a:off x="2686972" y="1785935"/>
            <a:ext cx="6818053" cy="2815986"/>
          </a:xfrm>
          <a:prstGeom prst="rect">
            <a:avLst/>
          </a:prstGeom>
        </p:spPr>
      </p:pic>
      <p:sp>
        <p:nvSpPr>
          <p:cNvPr id="19" name="TextBox 18">
            <a:extLst>
              <a:ext uri="{FF2B5EF4-FFF2-40B4-BE49-F238E27FC236}">
                <a16:creationId xmlns:a16="http://schemas.microsoft.com/office/drawing/2014/main" id="{A24EF0A7-ECC2-9F6D-CFD3-BAC1F34B7380}"/>
              </a:ext>
            </a:extLst>
          </p:cNvPr>
          <p:cNvSpPr txBox="1"/>
          <p:nvPr/>
        </p:nvSpPr>
        <p:spPr>
          <a:xfrm>
            <a:off x="9401172" y="2206008"/>
            <a:ext cx="2657474" cy="2246769"/>
          </a:xfrm>
          <a:prstGeom prst="rect">
            <a:avLst/>
          </a:prstGeom>
          <a:solidFill>
            <a:schemeClr val="accent6">
              <a:lumMod val="20000"/>
              <a:lumOff val="80000"/>
            </a:schemeClr>
          </a:solidFill>
        </p:spPr>
        <p:txBody>
          <a:bodyPr wrap="square" rtlCol="0">
            <a:spAutoFit/>
          </a:bodyPr>
          <a:lstStyle/>
          <a:p>
            <a:r>
              <a:rPr lang="mn-MN" sz="2000" b="1" dirty="0">
                <a:latin typeface="Times New Roman" panose="02020603050405020304" pitchFamily="18" charset="0"/>
                <a:cs typeface="Times New Roman" panose="02020603050405020304" pitchFamily="18" charset="0"/>
              </a:rPr>
              <a:t>Бүтээгдэхүүн</a:t>
            </a:r>
            <a:r>
              <a:rPr lang="mn-MN" sz="2000" dirty="0">
                <a:latin typeface="Times New Roman" panose="02020603050405020304" pitchFamily="18" charset="0"/>
                <a:cs typeface="Times New Roman" panose="02020603050405020304" pitchFamily="18" charset="0"/>
              </a:rPr>
              <a:t> – зах зээлд нийлүүлж байгаа бүх зүйлс: </a:t>
            </a:r>
          </a:p>
          <a:p>
            <a:pPr marL="285750" indent="-285750">
              <a:buFont typeface="Wingdings" panose="05000000000000000000" pitchFamily="2" charset="2"/>
              <a:buChar char="ü"/>
            </a:pPr>
            <a:r>
              <a:rPr lang="mn-MN" sz="2000" dirty="0">
                <a:latin typeface="Times New Roman" panose="02020603050405020304" pitchFamily="18" charset="0"/>
                <a:cs typeface="Times New Roman" panose="02020603050405020304" pitchFamily="18" charset="0"/>
              </a:rPr>
              <a:t>Материаллаг </a:t>
            </a:r>
            <a:r>
              <a:rPr lang="en-US" sz="2000" dirty="0">
                <a:latin typeface="Times New Roman" panose="02020603050405020304" pitchFamily="18" charset="0"/>
                <a:cs typeface="Times New Roman" panose="02020603050405020304" pitchFamily="18" charset="0"/>
              </a:rPr>
              <a:t>= </a:t>
            </a:r>
            <a:r>
              <a:rPr lang="mn-MN" sz="2000" b="1" dirty="0">
                <a:latin typeface="Times New Roman" panose="02020603050405020304" pitchFamily="18" charset="0"/>
                <a:cs typeface="Times New Roman" panose="02020603050405020304" pitchFamily="18" charset="0"/>
              </a:rPr>
              <a:t>Бараа</a:t>
            </a:r>
            <a:endParaRPr lang="en-US"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mn-MN" sz="2000" dirty="0">
                <a:latin typeface="Times New Roman" panose="02020603050405020304" pitchFamily="18" charset="0"/>
                <a:cs typeface="Times New Roman" panose="02020603050405020304" pitchFamily="18" charset="0"/>
              </a:rPr>
              <a:t>Материаллаг</a:t>
            </a:r>
            <a:r>
              <a:rPr lang="en-US" sz="2000" dirty="0">
                <a:latin typeface="Times New Roman" panose="02020603050405020304" pitchFamily="18" charset="0"/>
                <a:cs typeface="Times New Roman" panose="02020603050405020304" pitchFamily="18" charset="0"/>
              </a:rPr>
              <a:t> </a:t>
            </a:r>
            <a:r>
              <a:rPr lang="mn-MN" sz="2000" dirty="0">
                <a:latin typeface="Times New Roman" panose="02020603050405020304" pitchFamily="18" charset="0"/>
                <a:cs typeface="Times New Roman" panose="02020603050405020304" pitchFamily="18" charset="0"/>
              </a:rPr>
              <a:t>бус </a:t>
            </a:r>
            <a:r>
              <a:rPr lang="en-US" sz="2000" dirty="0">
                <a:latin typeface="Times New Roman" panose="02020603050405020304" pitchFamily="18" charset="0"/>
                <a:cs typeface="Times New Roman" panose="02020603050405020304" pitchFamily="18" charset="0"/>
              </a:rPr>
              <a:t>= </a:t>
            </a:r>
            <a:r>
              <a:rPr lang="mn-MN" sz="2000" b="1" dirty="0">
                <a:latin typeface="Times New Roman" panose="02020603050405020304" pitchFamily="18" charset="0"/>
                <a:cs typeface="Times New Roman" panose="02020603050405020304" pitchFamily="18" charset="0"/>
              </a:rPr>
              <a:t>Үйлчилгээ</a:t>
            </a:r>
          </a:p>
        </p:txBody>
      </p:sp>
      <p:sp>
        <p:nvSpPr>
          <p:cNvPr id="20" name="TextBox 19">
            <a:extLst>
              <a:ext uri="{FF2B5EF4-FFF2-40B4-BE49-F238E27FC236}">
                <a16:creationId xmlns:a16="http://schemas.microsoft.com/office/drawing/2014/main" id="{1E43F274-A451-BCE9-A8A4-71C2490B576A}"/>
              </a:ext>
            </a:extLst>
          </p:cNvPr>
          <p:cNvSpPr txBox="1"/>
          <p:nvPr/>
        </p:nvSpPr>
        <p:spPr>
          <a:xfrm>
            <a:off x="133351" y="4432977"/>
            <a:ext cx="11925297" cy="2369880"/>
          </a:xfrm>
          <a:prstGeom prst="rect">
            <a:avLst/>
          </a:prstGeom>
          <a:solidFill>
            <a:schemeClr val="accent2">
              <a:lumMod val="20000"/>
              <a:lumOff val="80000"/>
            </a:schemeClr>
          </a:solidFill>
        </p:spPr>
        <p:txBody>
          <a:bodyPr wrap="square" rtlCol="0">
            <a:spAutoFit/>
          </a:bodyPr>
          <a:lstStyle/>
          <a:p>
            <a:pPr algn="just"/>
            <a:r>
              <a:rPr lang="mn-MN" sz="2000" dirty="0">
                <a:solidFill>
                  <a:srgbClr val="002060"/>
                </a:solidFill>
                <a:latin typeface="Times New Roman" panose="02020603050405020304" pitchFamily="18" charset="0"/>
                <a:cs typeface="Times New Roman" panose="02020603050405020304" pitchFamily="18" charset="0"/>
              </a:rPr>
              <a:t>Хэрэглэгч ижил төстэй бүтээгдэхүүн дотроос сонголт хийхдээ бүтээгдэхүүний үнийг ашиг тустай харьцуулдаг. </a:t>
            </a:r>
          </a:p>
          <a:p>
            <a:pPr algn="just"/>
            <a:r>
              <a:rPr lang="mn-MN" sz="2800" b="1" dirty="0">
                <a:solidFill>
                  <a:srgbClr val="002060"/>
                </a:solidFill>
                <a:latin typeface="Times New Roman" panose="02020603050405020304" pitchFamily="18" charset="0"/>
                <a:cs typeface="Times New Roman" panose="02020603050405020304" pitchFamily="18" charset="0"/>
              </a:rPr>
              <a:t>Үнэ бол ашиг тусын хэмжүүр</a:t>
            </a:r>
          </a:p>
          <a:p>
            <a:pPr algn="just"/>
            <a:r>
              <a:rPr lang="mn-MN" sz="2000" b="1" dirty="0">
                <a:solidFill>
                  <a:srgbClr val="002060"/>
                </a:solidFill>
                <a:latin typeface="Times New Roman" panose="02020603050405020304" pitchFamily="18" charset="0"/>
                <a:cs typeface="Times New Roman" panose="02020603050405020304" pitchFamily="18" charset="0"/>
              </a:rPr>
              <a:t>Бүтээгдэхүүний үнэт чанар</a:t>
            </a:r>
            <a:r>
              <a:rPr lang="mn-MN" sz="2000" dirty="0">
                <a:solidFill>
                  <a:srgbClr val="002060"/>
                </a:solidFill>
                <a:latin typeface="Times New Roman" panose="02020603050405020304" pitchFamily="18" charset="0"/>
                <a:cs typeface="Times New Roman" panose="02020603050405020304" pitchFamily="18" charset="0"/>
              </a:rPr>
              <a:t> – хэрэглэгчийн хувьд илэрхийлэх үнэ цэн /хэрэглэгчийн бүтээгдэхүүнээс  хүлээж байгаа ашиг тус/.</a:t>
            </a:r>
          </a:p>
          <a:p>
            <a:pPr algn="just"/>
            <a:r>
              <a:rPr lang="mn-MN" sz="2000" b="1" dirty="0">
                <a:solidFill>
                  <a:srgbClr val="002060"/>
                </a:solidFill>
                <a:latin typeface="Times New Roman" panose="02020603050405020304" pitchFamily="18" charset="0"/>
                <a:cs typeface="Times New Roman" panose="02020603050405020304" pitchFamily="18" charset="0"/>
              </a:rPr>
              <a:t>Хэрэглэгчийн сэтгэл ханамж </a:t>
            </a:r>
            <a:r>
              <a:rPr lang="mn-MN" sz="2000" dirty="0">
                <a:solidFill>
                  <a:srgbClr val="002060"/>
                </a:solidFill>
                <a:latin typeface="Times New Roman" panose="02020603050405020304" pitchFamily="18" charset="0"/>
                <a:cs typeface="Times New Roman" panose="02020603050405020304" pitchFamily="18" charset="0"/>
              </a:rPr>
              <a:t>– бүтээгдэхүүний бодит ашиг тус хэрэглэгчийн хүлээлтэд нийцэх, эсвэл давахад бий болох сэтгэл хангалуун мэдрэмж. </a:t>
            </a: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DEF9BD23-36D5-C9E6-CADC-EB82A3A58DF6}"/>
              </a:ext>
            </a:extLst>
          </p:cNvPr>
          <p:cNvSpPr txBox="1"/>
          <p:nvPr/>
        </p:nvSpPr>
        <p:spPr>
          <a:xfrm>
            <a:off x="133349" y="2613392"/>
            <a:ext cx="2657474" cy="1631216"/>
          </a:xfrm>
          <a:prstGeom prst="rect">
            <a:avLst/>
          </a:prstGeom>
          <a:solidFill>
            <a:schemeClr val="accent6">
              <a:lumMod val="20000"/>
              <a:lumOff val="80000"/>
            </a:schemeClr>
          </a:solidFill>
        </p:spPr>
        <p:txBody>
          <a:bodyPr wrap="square" rtlCol="0">
            <a:spAutoFit/>
          </a:bodyPr>
          <a:lstStyle/>
          <a:p>
            <a:r>
              <a:rPr lang="mn-MN" sz="2000" b="1" dirty="0">
                <a:latin typeface="Times New Roman" panose="02020603050405020304" pitchFamily="18" charset="0"/>
                <a:cs typeface="Times New Roman" panose="02020603050405020304" pitchFamily="18" charset="0"/>
              </a:rPr>
              <a:t>Арилжаа, солилцоо </a:t>
            </a:r>
            <a:r>
              <a:rPr lang="mn-MN" sz="2000" dirty="0">
                <a:latin typeface="Times New Roman" panose="02020603050405020304" pitchFamily="18" charset="0"/>
                <a:cs typeface="Times New Roman" panose="02020603050405020304" pitchFamily="18" charset="0"/>
              </a:rPr>
              <a:t>– нэг нэгэндээ хэрэгцээтэй байгаа зүйлсийг хоорондоо солилцох үйл явц. </a:t>
            </a:r>
          </a:p>
        </p:txBody>
      </p:sp>
    </p:spTree>
    <p:extLst>
      <p:ext uri="{BB962C8B-B14F-4D97-AF65-F5344CB8AC3E}">
        <p14:creationId xmlns:p14="http://schemas.microsoft.com/office/powerpoint/2010/main" val="4238978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Down Arrow 57">
            <a:extLst>
              <a:ext uri="{FF2B5EF4-FFF2-40B4-BE49-F238E27FC236}">
                <a16:creationId xmlns:a16="http://schemas.microsoft.com/office/drawing/2014/main" id="{2967826A-7992-632C-5041-58F522095287}"/>
              </a:ext>
            </a:extLst>
          </p:cNvPr>
          <p:cNvSpPr/>
          <p:nvPr/>
        </p:nvSpPr>
        <p:spPr>
          <a:xfrm>
            <a:off x="4584307" y="2313417"/>
            <a:ext cx="609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0" name="Down Arrow 59">
            <a:extLst>
              <a:ext uri="{FF2B5EF4-FFF2-40B4-BE49-F238E27FC236}">
                <a16:creationId xmlns:a16="http://schemas.microsoft.com/office/drawing/2014/main" id="{EF036B79-054A-68B1-C16A-F0E536F59AD8}"/>
              </a:ext>
            </a:extLst>
          </p:cNvPr>
          <p:cNvSpPr/>
          <p:nvPr/>
        </p:nvSpPr>
        <p:spPr>
          <a:xfrm>
            <a:off x="4584307" y="4139307"/>
            <a:ext cx="609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 name="Rounded Rectangle 6">
            <a:extLst>
              <a:ext uri="{FF2B5EF4-FFF2-40B4-BE49-F238E27FC236}">
                <a16:creationId xmlns:a16="http://schemas.microsoft.com/office/drawing/2014/main" id="{D34EF0C8-BA9C-4210-51A4-9665F4A2A061}"/>
              </a:ext>
            </a:extLst>
          </p:cNvPr>
          <p:cNvSpPr/>
          <p:nvPr/>
        </p:nvSpPr>
        <p:spPr>
          <a:xfrm>
            <a:off x="1590205" y="823923"/>
            <a:ext cx="1447800" cy="304800"/>
          </a:xfrm>
          <a:prstGeom prst="roundRect">
            <a:avLst/>
          </a:prstGeom>
          <a:gradFill>
            <a:gsLst>
              <a:gs pos="0">
                <a:srgbClr val="00B050"/>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төлөвлөлт</a:t>
            </a:r>
            <a:endParaRPr lang="en-US" dirty="0">
              <a:latin typeface="Times New Roman" panose="02020603050405020304" pitchFamily="18" charset="0"/>
              <a:cs typeface="Times New Roman" panose="02020603050405020304" pitchFamily="18" charset="0"/>
            </a:endParaRPr>
          </a:p>
        </p:txBody>
      </p:sp>
      <p:sp>
        <p:nvSpPr>
          <p:cNvPr id="5" name="Rounded Rectangle 7">
            <a:extLst>
              <a:ext uri="{FF2B5EF4-FFF2-40B4-BE49-F238E27FC236}">
                <a16:creationId xmlns:a16="http://schemas.microsoft.com/office/drawing/2014/main" id="{C9D8C1FC-4AB8-599F-541F-86A8D90868B5}"/>
              </a:ext>
            </a:extLst>
          </p:cNvPr>
          <p:cNvSpPr/>
          <p:nvPr/>
        </p:nvSpPr>
        <p:spPr>
          <a:xfrm>
            <a:off x="4066705" y="823923"/>
            <a:ext cx="1447800" cy="304800"/>
          </a:xfrm>
          <a:prstGeom prst="roundRect">
            <a:avLst/>
          </a:prstGeom>
          <a:gradFill>
            <a:gsLst>
              <a:gs pos="0">
                <a:srgbClr val="00B050"/>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хэрэгжилт</a:t>
            </a:r>
            <a:endParaRPr lang="en-US" dirty="0">
              <a:latin typeface="Times New Roman" panose="02020603050405020304" pitchFamily="18" charset="0"/>
              <a:cs typeface="Times New Roman" panose="02020603050405020304" pitchFamily="18" charset="0"/>
            </a:endParaRPr>
          </a:p>
        </p:txBody>
      </p:sp>
      <p:sp>
        <p:nvSpPr>
          <p:cNvPr id="6" name="Rounded Rectangle 8">
            <a:extLst>
              <a:ext uri="{FF2B5EF4-FFF2-40B4-BE49-F238E27FC236}">
                <a16:creationId xmlns:a16="http://schemas.microsoft.com/office/drawing/2014/main" id="{9E9D7EF5-7564-4121-88CC-1D395C5064C4}"/>
              </a:ext>
            </a:extLst>
          </p:cNvPr>
          <p:cNvSpPr/>
          <p:nvPr/>
        </p:nvSpPr>
        <p:spPr>
          <a:xfrm>
            <a:off x="6554356" y="823923"/>
            <a:ext cx="1447800" cy="304800"/>
          </a:xfrm>
          <a:prstGeom prst="roundRect">
            <a:avLst/>
          </a:prstGeom>
          <a:gradFill>
            <a:gsLst>
              <a:gs pos="0">
                <a:srgbClr val="00B050"/>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хяналт</a:t>
            </a:r>
            <a:endParaRPr lang="en-US" dirty="0">
              <a:latin typeface="Times New Roman" panose="02020603050405020304" pitchFamily="18" charset="0"/>
              <a:cs typeface="Times New Roman" panose="02020603050405020304" pitchFamily="18" charset="0"/>
            </a:endParaRPr>
          </a:p>
        </p:txBody>
      </p:sp>
      <p:sp>
        <p:nvSpPr>
          <p:cNvPr id="7" name="Rounded Rectangle 9">
            <a:extLst>
              <a:ext uri="{FF2B5EF4-FFF2-40B4-BE49-F238E27FC236}">
                <a16:creationId xmlns:a16="http://schemas.microsoft.com/office/drawing/2014/main" id="{A2F43443-C18D-6C39-3735-1E49A2922AB8}"/>
              </a:ext>
            </a:extLst>
          </p:cNvPr>
          <p:cNvSpPr/>
          <p:nvPr/>
        </p:nvSpPr>
        <p:spPr>
          <a:xfrm>
            <a:off x="1688707" y="1357323"/>
            <a:ext cx="6270702" cy="304800"/>
          </a:xfrm>
          <a:prstGeom prst="roundRect">
            <a:avLst/>
          </a:prstGeom>
          <a:gradFill>
            <a:gsLst>
              <a:gs pos="0">
                <a:srgbClr val="00B050"/>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Судалгаа, шинжилгээ</a:t>
            </a:r>
            <a:endParaRPr lang="en-US" dirty="0">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7396BD92-7FBE-3A26-6515-22EA66A13356}"/>
              </a:ext>
            </a:extLst>
          </p:cNvPr>
          <p:cNvCxnSpPr>
            <a:stCxn id="4" idx="3"/>
            <a:endCxn id="5" idx="1"/>
          </p:cNvCxnSpPr>
          <p:nvPr/>
        </p:nvCxnSpPr>
        <p:spPr>
          <a:xfrm>
            <a:off x="3038005" y="976323"/>
            <a:ext cx="1028700" cy="1588"/>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C37F21A-ED79-331C-A893-7FDF4A22898C}"/>
              </a:ext>
            </a:extLst>
          </p:cNvPr>
          <p:cNvCxnSpPr/>
          <p:nvPr/>
        </p:nvCxnSpPr>
        <p:spPr>
          <a:xfrm>
            <a:off x="5514505" y="976323"/>
            <a:ext cx="1028700" cy="1588"/>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F0490BB-E890-6C69-3CC7-C6D5158A07ED}"/>
              </a:ext>
            </a:extLst>
          </p:cNvPr>
          <p:cNvCxnSpPr/>
          <p:nvPr/>
        </p:nvCxnSpPr>
        <p:spPr>
          <a:xfrm rot="5400000">
            <a:off x="4687456" y="1243023"/>
            <a:ext cx="228600" cy="0"/>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702751A-456E-8CE8-D4BE-F2CBB923E087}"/>
              </a:ext>
            </a:extLst>
          </p:cNvPr>
          <p:cNvCxnSpPr/>
          <p:nvPr/>
        </p:nvCxnSpPr>
        <p:spPr>
          <a:xfrm rot="5400000">
            <a:off x="7202056" y="1243023"/>
            <a:ext cx="228600" cy="0"/>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67B2CB6-6069-D6A0-9D88-E21455742A0D}"/>
              </a:ext>
            </a:extLst>
          </p:cNvPr>
          <p:cNvCxnSpPr>
            <a:stCxn id="6" idx="3"/>
          </p:cNvCxnSpPr>
          <p:nvPr/>
        </p:nvCxnSpPr>
        <p:spPr>
          <a:xfrm>
            <a:off x="8002156" y="976323"/>
            <a:ext cx="3048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73EF54-3030-34C3-6ED0-BA40F528FDB1}"/>
              </a:ext>
            </a:extLst>
          </p:cNvPr>
          <p:cNvCxnSpPr/>
          <p:nvPr/>
        </p:nvCxnSpPr>
        <p:spPr>
          <a:xfrm rot="16200000" flipV="1">
            <a:off x="8133446" y="824319"/>
            <a:ext cx="30400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3BB9373-F38C-857E-0EA5-29A96E7ACDBF}"/>
              </a:ext>
            </a:extLst>
          </p:cNvPr>
          <p:cNvCxnSpPr/>
          <p:nvPr/>
        </p:nvCxnSpPr>
        <p:spPr>
          <a:xfrm rot="10800000">
            <a:off x="1372756" y="671523"/>
            <a:ext cx="69342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9E226F-61B3-E62B-398F-8042E15AA147}"/>
              </a:ext>
            </a:extLst>
          </p:cNvPr>
          <p:cNvCxnSpPr/>
          <p:nvPr/>
        </p:nvCxnSpPr>
        <p:spPr>
          <a:xfrm rot="5400000">
            <a:off x="972427" y="1083003"/>
            <a:ext cx="82296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29F9FCA-98CF-E03C-623F-613284DF3391}"/>
              </a:ext>
            </a:extLst>
          </p:cNvPr>
          <p:cNvCxnSpPr>
            <a:endCxn id="7" idx="1"/>
          </p:cNvCxnSpPr>
          <p:nvPr/>
        </p:nvCxnSpPr>
        <p:spPr>
          <a:xfrm flipV="1">
            <a:off x="1372757" y="1509723"/>
            <a:ext cx="315951"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54F6B0C-D49C-4B82-2BDC-D6E3F9119183}"/>
              </a:ext>
            </a:extLst>
          </p:cNvPr>
          <p:cNvCxnSpPr>
            <a:endCxn id="4" idx="0"/>
          </p:cNvCxnSpPr>
          <p:nvPr/>
        </p:nvCxnSpPr>
        <p:spPr>
          <a:xfrm rot="16200000" flipH="1">
            <a:off x="2224429" y="734248"/>
            <a:ext cx="152402" cy="26949"/>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D3CB75D-42F4-9E0B-893B-08C1013010AE}"/>
              </a:ext>
            </a:extLst>
          </p:cNvPr>
          <p:cNvCxnSpPr/>
          <p:nvPr/>
        </p:nvCxnSpPr>
        <p:spPr>
          <a:xfrm rot="16200000" flipH="1">
            <a:off x="4725556" y="747723"/>
            <a:ext cx="1524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6A0612B-2A7C-1B05-78AA-1FE09DC0C3F8}"/>
              </a:ext>
            </a:extLst>
          </p:cNvPr>
          <p:cNvSpPr/>
          <p:nvPr/>
        </p:nvSpPr>
        <p:spPr>
          <a:xfrm>
            <a:off x="1067956" y="442923"/>
            <a:ext cx="7467600" cy="13716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AA29A216-D66B-E7E7-5758-B7E9586E71A1}"/>
              </a:ext>
            </a:extLst>
          </p:cNvPr>
          <p:cNvSpPr txBox="1"/>
          <p:nvPr/>
        </p:nvSpPr>
        <p:spPr>
          <a:xfrm>
            <a:off x="3967270" y="389025"/>
            <a:ext cx="1828800" cy="338554"/>
          </a:xfrm>
          <a:prstGeom prst="rect">
            <a:avLst/>
          </a:prstGeom>
          <a:noFill/>
        </p:spPr>
        <p:txBody>
          <a:bodyPr wrap="square" rtlCol="0">
            <a:spAutoFit/>
          </a:bodyPr>
          <a:lstStyle/>
          <a:p>
            <a:pPr algn="ctr"/>
            <a:r>
              <a:rPr lang="mn-MN" sz="1600" dirty="0">
                <a:latin typeface="Times New Roman" panose="02020603050405020304" pitchFamily="18" charset="0"/>
                <a:cs typeface="Times New Roman" panose="02020603050405020304" pitchFamily="18" charset="0"/>
              </a:rPr>
              <a:t>БУЦАХ ХОЛБОО</a:t>
            </a:r>
            <a:endParaRPr lang="en-US" sz="1600" dirty="0">
              <a:latin typeface="Times New Roman" panose="02020603050405020304" pitchFamily="18" charset="0"/>
              <a:cs typeface="Times New Roman" panose="02020603050405020304" pitchFamily="18" charset="0"/>
            </a:endParaRPr>
          </a:p>
        </p:txBody>
      </p:sp>
      <p:cxnSp>
        <p:nvCxnSpPr>
          <p:cNvPr id="21" name="Straight Arrow Connector 20">
            <a:extLst>
              <a:ext uri="{FF2B5EF4-FFF2-40B4-BE49-F238E27FC236}">
                <a16:creationId xmlns:a16="http://schemas.microsoft.com/office/drawing/2014/main" id="{B850BA72-A202-15FF-B7D2-3D823A984EE2}"/>
              </a:ext>
            </a:extLst>
          </p:cNvPr>
          <p:cNvCxnSpPr/>
          <p:nvPr/>
        </p:nvCxnSpPr>
        <p:spPr>
          <a:xfrm rot="5400000">
            <a:off x="2172856" y="1243023"/>
            <a:ext cx="228600" cy="0"/>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Down Arrow 40">
            <a:extLst>
              <a:ext uri="{FF2B5EF4-FFF2-40B4-BE49-F238E27FC236}">
                <a16:creationId xmlns:a16="http://schemas.microsoft.com/office/drawing/2014/main" id="{58C78A19-B207-92D4-87DE-934604C942FB}"/>
              </a:ext>
            </a:extLst>
          </p:cNvPr>
          <p:cNvSpPr/>
          <p:nvPr/>
        </p:nvSpPr>
        <p:spPr>
          <a:xfrm>
            <a:off x="4584307" y="1662123"/>
            <a:ext cx="6096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3" name="Rounded Rectangle 41">
            <a:extLst>
              <a:ext uri="{FF2B5EF4-FFF2-40B4-BE49-F238E27FC236}">
                <a16:creationId xmlns:a16="http://schemas.microsoft.com/office/drawing/2014/main" id="{C47AE50C-D75A-9E05-EC4C-D036CE211FF3}"/>
              </a:ext>
            </a:extLst>
          </p:cNvPr>
          <p:cNvSpPr/>
          <p:nvPr/>
        </p:nvSpPr>
        <p:spPr>
          <a:xfrm>
            <a:off x="1798745" y="2017310"/>
            <a:ext cx="6270702" cy="304800"/>
          </a:xfrm>
          <a:prstGeom prst="roundRect">
            <a:avLst/>
          </a:prstGeom>
          <a:gradFill>
            <a:gsLst>
              <a:gs pos="0">
                <a:schemeClr val="accent2">
                  <a:lumMod val="110000"/>
                  <a:satMod val="105000"/>
                  <a:tint val="67000"/>
                </a:schemeClr>
              </a:gs>
              <a:gs pos="80000">
                <a:schemeClr val="accent2">
                  <a:lumMod val="105000"/>
                  <a:satMod val="103000"/>
                  <a:tint val="73000"/>
                </a:schemeClr>
              </a:gs>
              <a:gs pos="100000">
                <a:schemeClr val="accent2">
                  <a:lumMod val="105000"/>
                  <a:satMod val="109000"/>
                  <a:tint val="81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2400" dirty="0">
                <a:latin typeface="Times New Roman" panose="02020603050405020304" pitchFamily="18" charset="0"/>
                <a:cs typeface="Times New Roman" panose="02020603050405020304" pitchFamily="18" charset="0"/>
              </a:rPr>
              <a:t>Мэдээллийн хэрэгцээг тодорхойлох</a:t>
            </a:r>
            <a:endParaRPr lang="en-US" sz="2400" dirty="0">
              <a:latin typeface="Times New Roman" panose="02020603050405020304" pitchFamily="18" charset="0"/>
              <a:cs typeface="Times New Roman" panose="02020603050405020304" pitchFamily="18" charset="0"/>
            </a:endParaRPr>
          </a:p>
        </p:txBody>
      </p:sp>
      <p:sp>
        <p:nvSpPr>
          <p:cNvPr id="25" name="Rounded Rectangle 43">
            <a:extLst>
              <a:ext uri="{FF2B5EF4-FFF2-40B4-BE49-F238E27FC236}">
                <a16:creationId xmlns:a16="http://schemas.microsoft.com/office/drawing/2014/main" id="{2EC884EF-2536-0107-B675-3B1584EFA652}"/>
              </a:ext>
            </a:extLst>
          </p:cNvPr>
          <p:cNvSpPr/>
          <p:nvPr/>
        </p:nvSpPr>
        <p:spPr>
          <a:xfrm>
            <a:off x="2842858" y="3663768"/>
            <a:ext cx="4092498" cy="533400"/>
          </a:xfrm>
          <a:prstGeom prst="roundRect">
            <a:avLst/>
          </a:prstGeom>
          <a:gradFill>
            <a:gsLst>
              <a:gs pos="0">
                <a:schemeClr val="accent2">
                  <a:lumMod val="110000"/>
                  <a:satMod val="105000"/>
                  <a:tint val="67000"/>
                </a:schemeClr>
              </a:gs>
              <a:gs pos="80000">
                <a:schemeClr val="accent2">
                  <a:lumMod val="105000"/>
                  <a:satMod val="103000"/>
                  <a:tint val="73000"/>
                </a:schemeClr>
              </a:gs>
              <a:gs pos="100000">
                <a:schemeClr val="accent2">
                  <a:lumMod val="105000"/>
                  <a:satMod val="109000"/>
                  <a:tint val="81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2800" dirty="0">
                <a:latin typeface="Times New Roman" panose="02020603050405020304" pitchFamily="18" charset="0"/>
                <a:cs typeface="Times New Roman" panose="02020603050405020304" pitchFamily="18" charset="0"/>
              </a:rPr>
              <a:t>Мэдээлэл цуглуулах</a:t>
            </a:r>
            <a:endParaRPr lang="en-US" sz="2800" dirty="0">
              <a:latin typeface="Times New Roman" panose="02020603050405020304" pitchFamily="18" charset="0"/>
              <a:cs typeface="Times New Roman" panose="02020603050405020304" pitchFamily="18" charset="0"/>
            </a:endParaRPr>
          </a:p>
        </p:txBody>
      </p:sp>
      <p:sp>
        <p:nvSpPr>
          <p:cNvPr id="26" name="Rounded Rectangle 44">
            <a:extLst>
              <a:ext uri="{FF2B5EF4-FFF2-40B4-BE49-F238E27FC236}">
                <a16:creationId xmlns:a16="http://schemas.microsoft.com/office/drawing/2014/main" id="{C09D820E-74A9-C791-693D-68D1BD7AB2F2}"/>
              </a:ext>
            </a:extLst>
          </p:cNvPr>
          <p:cNvSpPr/>
          <p:nvPr/>
        </p:nvSpPr>
        <p:spPr>
          <a:xfrm>
            <a:off x="2842858" y="4596507"/>
            <a:ext cx="4092498" cy="533400"/>
          </a:xfrm>
          <a:prstGeom prst="roundRect">
            <a:avLst/>
          </a:prstGeom>
          <a:gradFill>
            <a:gsLst>
              <a:gs pos="0">
                <a:schemeClr val="accent2">
                  <a:lumMod val="110000"/>
                  <a:satMod val="105000"/>
                  <a:tint val="67000"/>
                </a:schemeClr>
              </a:gs>
              <a:gs pos="80000">
                <a:schemeClr val="accent2">
                  <a:lumMod val="105000"/>
                  <a:satMod val="103000"/>
                  <a:tint val="73000"/>
                </a:schemeClr>
              </a:gs>
              <a:gs pos="100000">
                <a:schemeClr val="accent2">
                  <a:lumMod val="105000"/>
                  <a:satMod val="109000"/>
                  <a:tint val="81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2800" dirty="0">
                <a:latin typeface="Times New Roman" panose="02020603050405020304" pitchFamily="18" charset="0"/>
                <a:cs typeface="Times New Roman" panose="02020603050405020304" pitchFamily="18" charset="0"/>
              </a:rPr>
              <a:t>Мэдээллийг шинжлэх</a:t>
            </a:r>
            <a:endParaRPr lang="en-US" sz="2800" dirty="0">
              <a:latin typeface="Times New Roman" panose="02020603050405020304" pitchFamily="18" charset="0"/>
              <a:cs typeface="Times New Roman" panose="02020603050405020304" pitchFamily="18" charset="0"/>
            </a:endParaRPr>
          </a:p>
        </p:txBody>
      </p:sp>
      <p:sp>
        <p:nvSpPr>
          <p:cNvPr id="27" name="Rounded Rectangle 45">
            <a:extLst>
              <a:ext uri="{FF2B5EF4-FFF2-40B4-BE49-F238E27FC236}">
                <a16:creationId xmlns:a16="http://schemas.microsoft.com/office/drawing/2014/main" id="{3911121F-0A4C-EC39-C537-C0A3B62689F5}"/>
              </a:ext>
            </a:extLst>
          </p:cNvPr>
          <p:cNvSpPr/>
          <p:nvPr/>
        </p:nvSpPr>
        <p:spPr>
          <a:xfrm>
            <a:off x="2842858" y="5586942"/>
            <a:ext cx="4092498" cy="865616"/>
          </a:xfrm>
          <a:prstGeom prst="roundRect">
            <a:avLst/>
          </a:prstGeom>
          <a:gradFill>
            <a:gsLst>
              <a:gs pos="0">
                <a:schemeClr val="accent2">
                  <a:lumMod val="110000"/>
                  <a:satMod val="105000"/>
                  <a:tint val="67000"/>
                </a:schemeClr>
              </a:gs>
              <a:gs pos="80000">
                <a:schemeClr val="accent2">
                  <a:lumMod val="105000"/>
                  <a:satMod val="103000"/>
                  <a:tint val="73000"/>
                </a:schemeClr>
              </a:gs>
              <a:gs pos="100000">
                <a:schemeClr val="accent2">
                  <a:lumMod val="105000"/>
                  <a:satMod val="109000"/>
                  <a:tint val="81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2800" dirty="0">
                <a:latin typeface="Times New Roman" panose="02020603050405020304" pitchFamily="18" charset="0"/>
                <a:cs typeface="Times New Roman" panose="02020603050405020304" pitchFamily="18" charset="0"/>
              </a:rPr>
              <a:t>Үр дүнг тайлагнах танилцуулах</a:t>
            </a:r>
            <a:endParaRPr lang="en-US" sz="2800" dirty="0">
              <a:latin typeface="Times New Roman" panose="02020603050405020304" pitchFamily="18" charset="0"/>
              <a:cs typeface="Times New Roman" panose="02020603050405020304" pitchFamily="18" charset="0"/>
            </a:endParaRPr>
          </a:p>
        </p:txBody>
      </p:sp>
      <p:sp>
        <p:nvSpPr>
          <p:cNvPr id="28" name="Rounded Rectangle 47">
            <a:extLst>
              <a:ext uri="{FF2B5EF4-FFF2-40B4-BE49-F238E27FC236}">
                <a16:creationId xmlns:a16="http://schemas.microsoft.com/office/drawing/2014/main" id="{72EDD5B6-9302-1BF1-E911-7FB0104AEE6B}"/>
              </a:ext>
            </a:extLst>
          </p:cNvPr>
          <p:cNvSpPr/>
          <p:nvPr/>
        </p:nvSpPr>
        <p:spPr>
          <a:xfrm>
            <a:off x="610756" y="2652723"/>
            <a:ext cx="1981200" cy="6096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rtlCol="0" anchor="ctr"/>
          <a:lstStyle/>
          <a:p>
            <a:pPr algn="ctr"/>
            <a:r>
              <a:rPr lang="mn-MN" sz="2400" dirty="0">
                <a:latin typeface="Times New Roman" panose="02020603050405020304" pitchFamily="18" charset="0"/>
                <a:cs typeface="Times New Roman" panose="02020603050405020304" pitchFamily="18" charset="0"/>
              </a:rPr>
              <a:t>Хоёрдогч мэдээлэл</a:t>
            </a:r>
            <a:endParaRPr lang="en-US" sz="2400" dirty="0">
              <a:latin typeface="Times New Roman" panose="02020603050405020304" pitchFamily="18" charset="0"/>
              <a:cs typeface="Times New Roman" panose="02020603050405020304" pitchFamily="18" charset="0"/>
            </a:endParaRPr>
          </a:p>
        </p:txBody>
      </p:sp>
      <p:sp>
        <p:nvSpPr>
          <p:cNvPr id="29" name="Rounded Rectangle 48">
            <a:extLst>
              <a:ext uri="{FF2B5EF4-FFF2-40B4-BE49-F238E27FC236}">
                <a16:creationId xmlns:a16="http://schemas.microsoft.com/office/drawing/2014/main" id="{B9217218-2E0F-0576-08E5-4F5CFB97D554}"/>
              </a:ext>
            </a:extLst>
          </p:cNvPr>
          <p:cNvSpPr/>
          <p:nvPr/>
        </p:nvSpPr>
        <p:spPr>
          <a:xfrm>
            <a:off x="7163956" y="2652723"/>
            <a:ext cx="1981200" cy="6096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mn-MN" sz="2400" dirty="0">
                <a:latin typeface="Times New Roman" panose="02020603050405020304" pitchFamily="18" charset="0"/>
                <a:cs typeface="Times New Roman" panose="02020603050405020304" pitchFamily="18" charset="0"/>
              </a:rPr>
              <a:t>Анхдагч мэдээлэл</a:t>
            </a:r>
            <a:endParaRPr lang="en-US" sz="2400" dirty="0">
              <a:latin typeface="Times New Roman" panose="02020603050405020304" pitchFamily="18" charset="0"/>
              <a:cs typeface="Times New Roman" panose="02020603050405020304" pitchFamily="18" charset="0"/>
            </a:endParaRPr>
          </a:p>
        </p:txBody>
      </p:sp>
      <p:sp>
        <p:nvSpPr>
          <p:cNvPr id="30" name="Rounded Rectangle 49">
            <a:extLst>
              <a:ext uri="{FF2B5EF4-FFF2-40B4-BE49-F238E27FC236}">
                <a16:creationId xmlns:a16="http://schemas.microsoft.com/office/drawing/2014/main" id="{A18E1C1D-E608-3262-B061-5FBB795BEF3C}"/>
              </a:ext>
            </a:extLst>
          </p:cNvPr>
          <p:cNvSpPr/>
          <p:nvPr/>
        </p:nvSpPr>
        <p:spPr>
          <a:xfrm>
            <a:off x="7188115" y="3576416"/>
            <a:ext cx="1981200" cy="6096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Маркетингийн судалгаа</a:t>
            </a:r>
            <a:endParaRPr lang="en-US" dirty="0">
              <a:latin typeface="Times New Roman" panose="02020603050405020304" pitchFamily="18" charset="0"/>
              <a:cs typeface="Times New Roman" panose="02020603050405020304" pitchFamily="18" charset="0"/>
            </a:endParaRPr>
          </a:p>
        </p:txBody>
      </p:sp>
      <p:sp>
        <p:nvSpPr>
          <p:cNvPr id="31" name="Rounded Rectangle 50">
            <a:extLst>
              <a:ext uri="{FF2B5EF4-FFF2-40B4-BE49-F238E27FC236}">
                <a16:creationId xmlns:a16="http://schemas.microsoft.com/office/drawing/2014/main" id="{835632C4-C6D2-0F0F-6AC5-FBD9510EFAFD}"/>
              </a:ext>
            </a:extLst>
          </p:cNvPr>
          <p:cNvSpPr/>
          <p:nvPr/>
        </p:nvSpPr>
        <p:spPr>
          <a:xfrm rot="16200000">
            <a:off x="6744856" y="4986116"/>
            <a:ext cx="1524000" cy="3810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Асуулга </a:t>
            </a:r>
            <a:endParaRPr lang="en-US" dirty="0">
              <a:latin typeface="Times New Roman" panose="02020603050405020304" pitchFamily="18" charset="0"/>
              <a:cs typeface="Times New Roman" panose="02020603050405020304" pitchFamily="18" charset="0"/>
            </a:endParaRPr>
          </a:p>
        </p:txBody>
      </p:sp>
      <p:sp>
        <p:nvSpPr>
          <p:cNvPr id="32" name="Rounded Rectangle 51">
            <a:extLst>
              <a:ext uri="{FF2B5EF4-FFF2-40B4-BE49-F238E27FC236}">
                <a16:creationId xmlns:a16="http://schemas.microsoft.com/office/drawing/2014/main" id="{AF8AF6F2-8721-AD50-021F-2BE0D0C4BF73}"/>
              </a:ext>
            </a:extLst>
          </p:cNvPr>
          <p:cNvSpPr/>
          <p:nvPr/>
        </p:nvSpPr>
        <p:spPr>
          <a:xfrm rot="16200000">
            <a:off x="7430655" y="4986116"/>
            <a:ext cx="1524000" cy="3810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Ажиглалт </a:t>
            </a:r>
            <a:endParaRPr lang="en-US" dirty="0">
              <a:latin typeface="Times New Roman" panose="02020603050405020304" pitchFamily="18" charset="0"/>
              <a:cs typeface="Times New Roman" panose="02020603050405020304" pitchFamily="18" charset="0"/>
            </a:endParaRPr>
          </a:p>
        </p:txBody>
      </p:sp>
      <p:sp>
        <p:nvSpPr>
          <p:cNvPr id="33" name="Rounded Rectangle 52">
            <a:extLst>
              <a:ext uri="{FF2B5EF4-FFF2-40B4-BE49-F238E27FC236}">
                <a16:creationId xmlns:a16="http://schemas.microsoft.com/office/drawing/2014/main" id="{2C1FF475-249C-D9A3-F892-3C0E084F1E46}"/>
              </a:ext>
            </a:extLst>
          </p:cNvPr>
          <p:cNvSpPr/>
          <p:nvPr/>
        </p:nvSpPr>
        <p:spPr>
          <a:xfrm rot="16200000">
            <a:off x="8116456" y="4986116"/>
            <a:ext cx="1524000" cy="3810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Туршилт </a:t>
            </a:r>
            <a:endParaRPr lang="en-US" dirty="0">
              <a:latin typeface="Times New Roman" panose="02020603050405020304" pitchFamily="18" charset="0"/>
              <a:cs typeface="Times New Roman" panose="02020603050405020304" pitchFamily="18" charset="0"/>
            </a:endParaRPr>
          </a:p>
        </p:txBody>
      </p:sp>
      <p:sp>
        <p:nvSpPr>
          <p:cNvPr id="34" name="Rounded Rectangle 53">
            <a:extLst>
              <a:ext uri="{FF2B5EF4-FFF2-40B4-BE49-F238E27FC236}">
                <a16:creationId xmlns:a16="http://schemas.microsoft.com/office/drawing/2014/main" id="{7F02A5B7-9FE2-DC19-CDAA-E3CA98253720}"/>
              </a:ext>
            </a:extLst>
          </p:cNvPr>
          <p:cNvSpPr/>
          <p:nvPr/>
        </p:nvSpPr>
        <p:spPr>
          <a:xfrm rot="16200000">
            <a:off x="305958" y="3795723"/>
            <a:ext cx="1524000" cy="914401"/>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Дотоод мэдээллийн сан</a:t>
            </a:r>
            <a:endParaRPr lang="en-US" dirty="0">
              <a:latin typeface="Times New Roman" panose="02020603050405020304" pitchFamily="18" charset="0"/>
              <a:cs typeface="Times New Roman" panose="02020603050405020304" pitchFamily="18" charset="0"/>
            </a:endParaRPr>
          </a:p>
        </p:txBody>
      </p:sp>
      <p:sp>
        <p:nvSpPr>
          <p:cNvPr id="35" name="Rounded Rectangle 54">
            <a:extLst>
              <a:ext uri="{FF2B5EF4-FFF2-40B4-BE49-F238E27FC236}">
                <a16:creationId xmlns:a16="http://schemas.microsoft.com/office/drawing/2014/main" id="{F76A5EC2-A0F4-079D-C852-9A57FECD823A}"/>
              </a:ext>
            </a:extLst>
          </p:cNvPr>
          <p:cNvSpPr/>
          <p:nvPr/>
        </p:nvSpPr>
        <p:spPr>
          <a:xfrm rot="16200000">
            <a:off x="1372756" y="3795723"/>
            <a:ext cx="1524000" cy="9144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mn-MN" dirty="0">
                <a:latin typeface="Times New Roman" panose="02020603050405020304" pitchFamily="18" charset="0"/>
                <a:cs typeface="Times New Roman" panose="02020603050405020304" pitchFamily="18" charset="0"/>
              </a:rPr>
              <a:t>Маркетингийн тандалт</a:t>
            </a:r>
            <a:endParaRPr lang="en-US" dirty="0">
              <a:latin typeface="Times New Roman" panose="02020603050405020304" pitchFamily="18" charset="0"/>
              <a:cs typeface="Times New Roman" panose="02020603050405020304" pitchFamily="18" charset="0"/>
            </a:endParaRPr>
          </a:p>
        </p:txBody>
      </p:sp>
      <p:sp>
        <p:nvSpPr>
          <p:cNvPr id="36" name="Rounded Rectangle 55">
            <a:extLst>
              <a:ext uri="{FF2B5EF4-FFF2-40B4-BE49-F238E27FC236}">
                <a16:creationId xmlns:a16="http://schemas.microsoft.com/office/drawing/2014/main" id="{341B7E18-6AF1-AE59-78DF-F2DA69F6E21F}"/>
              </a:ext>
            </a:extLst>
          </p:cNvPr>
          <p:cNvSpPr/>
          <p:nvPr/>
        </p:nvSpPr>
        <p:spPr>
          <a:xfrm rot="16200000">
            <a:off x="544787" y="5233301"/>
            <a:ext cx="1046356" cy="914401"/>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lIns="0" rtlCol="0" anchor="ctr"/>
          <a:lstStyle/>
          <a:p>
            <a:pPr algn="ctr"/>
            <a:r>
              <a:rPr lang="mn-MN" dirty="0">
                <a:latin typeface="Times New Roman" panose="02020603050405020304" pitchFamily="18" charset="0"/>
                <a:cs typeface="Times New Roman" panose="02020603050405020304" pitchFamily="18" charset="0"/>
              </a:rPr>
              <a:t>Дотоод эх сурвалж</a:t>
            </a:r>
            <a:endParaRPr lang="en-US" dirty="0">
              <a:latin typeface="Times New Roman" panose="02020603050405020304" pitchFamily="18" charset="0"/>
              <a:cs typeface="Times New Roman" panose="02020603050405020304" pitchFamily="18" charset="0"/>
            </a:endParaRPr>
          </a:p>
        </p:txBody>
      </p:sp>
      <p:sp>
        <p:nvSpPr>
          <p:cNvPr id="37" name="Rounded Rectangle 56">
            <a:extLst>
              <a:ext uri="{FF2B5EF4-FFF2-40B4-BE49-F238E27FC236}">
                <a16:creationId xmlns:a16="http://schemas.microsoft.com/office/drawing/2014/main" id="{15833A3F-2FDC-84EA-162B-727FE80BB624}"/>
              </a:ext>
            </a:extLst>
          </p:cNvPr>
          <p:cNvSpPr/>
          <p:nvPr/>
        </p:nvSpPr>
        <p:spPr>
          <a:xfrm rot="16200000">
            <a:off x="1611578" y="5233301"/>
            <a:ext cx="1046356" cy="914400"/>
          </a:xfrm>
          <a:prstGeom prst="roundRect">
            <a:avLst/>
          </a:prstGeom>
          <a:gradFill>
            <a:gsLst>
              <a:gs pos="0">
                <a:srgbClr val="FFFFCC"/>
              </a:gs>
              <a:gs pos="84000">
                <a:schemeClr val="accent4">
                  <a:lumMod val="105000"/>
                  <a:satMod val="103000"/>
                  <a:tint val="73000"/>
                </a:schemeClr>
              </a:gs>
              <a:gs pos="100000">
                <a:schemeClr val="accent4">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lIns="0" tIns="0" rIns="0" bIns="0" rtlCol="0" anchor="ctr"/>
          <a:lstStyle/>
          <a:p>
            <a:pPr algn="ctr"/>
            <a:r>
              <a:rPr lang="mn-MN" dirty="0">
                <a:latin typeface="Times New Roman" panose="02020603050405020304" pitchFamily="18" charset="0"/>
                <a:cs typeface="Times New Roman" panose="02020603050405020304" pitchFamily="18" charset="0"/>
              </a:rPr>
              <a:t>Гаднах эх сурвалж</a:t>
            </a:r>
            <a:endParaRPr lang="en-US" dirty="0">
              <a:latin typeface="Times New Roman" panose="02020603050405020304" pitchFamily="18" charset="0"/>
              <a:cs typeface="Times New Roman" panose="02020603050405020304" pitchFamily="18" charset="0"/>
            </a:endParaRPr>
          </a:p>
        </p:txBody>
      </p:sp>
      <p:sp>
        <p:nvSpPr>
          <p:cNvPr id="39" name="Down Arrow 58">
            <a:extLst>
              <a:ext uri="{FF2B5EF4-FFF2-40B4-BE49-F238E27FC236}">
                <a16:creationId xmlns:a16="http://schemas.microsoft.com/office/drawing/2014/main" id="{B9BFF70D-33C5-085B-1411-E7422E096711}"/>
              </a:ext>
            </a:extLst>
          </p:cNvPr>
          <p:cNvSpPr/>
          <p:nvPr/>
        </p:nvSpPr>
        <p:spPr>
          <a:xfrm>
            <a:off x="4584307" y="3197274"/>
            <a:ext cx="609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1" name="Down Arrow 60">
            <a:extLst>
              <a:ext uri="{FF2B5EF4-FFF2-40B4-BE49-F238E27FC236}">
                <a16:creationId xmlns:a16="http://schemas.microsoft.com/office/drawing/2014/main" id="{5D1AE0C8-FC6A-02DD-E44D-1954EAD57695}"/>
              </a:ext>
            </a:extLst>
          </p:cNvPr>
          <p:cNvSpPr/>
          <p:nvPr/>
        </p:nvSpPr>
        <p:spPr>
          <a:xfrm>
            <a:off x="4584307" y="5221221"/>
            <a:ext cx="609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2" name="Straight Arrow Connector 41">
            <a:extLst>
              <a:ext uri="{FF2B5EF4-FFF2-40B4-BE49-F238E27FC236}">
                <a16:creationId xmlns:a16="http://schemas.microsoft.com/office/drawing/2014/main" id="{933F3B14-3485-1345-3DB1-A3B498CD9943}"/>
              </a:ext>
            </a:extLst>
          </p:cNvPr>
          <p:cNvCxnSpPr>
            <a:cxnSpLocks/>
            <a:stCxn id="24" idx="1"/>
            <a:endCxn id="28" idx="3"/>
          </p:cNvCxnSpPr>
          <p:nvPr/>
        </p:nvCxnSpPr>
        <p:spPr>
          <a:xfrm flipH="1" flipV="1">
            <a:off x="2591956" y="2957523"/>
            <a:ext cx="250902" cy="38099"/>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60CE5DA-BC57-9486-8175-B5ABA20F0B28}"/>
              </a:ext>
            </a:extLst>
          </p:cNvPr>
          <p:cNvCxnSpPr/>
          <p:nvPr/>
        </p:nvCxnSpPr>
        <p:spPr>
          <a:xfrm rot="10800000" flipV="1">
            <a:off x="6935356" y="2957523"/>
            <a:ext cx="250902" cy="0"/>
          </a:xfrm>
          <a:prstGeom prst="straightConnector1">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7482ADA-6424-22BB-F22A-629359D11B55}"/>
              </a:ext>
            </a:extLst>
          </p:cNvPr>
          <p:cNvCxnSpPr>
            <a:stCxn id="29" idx="2"/>
            <a:endCxn id="30" idx="0"/>
          </p:cNvCxnSpPr>
          <p:nvPr/>
        </p:nvCxnSpPr>
        <p:spPr>
          <a:xfrm rot="16200000" flipH="1">
            <a:off x="7997511" y="3419368"/>
            <a:ext cx="314093"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0E3D8B3-7CCC-1FAB-EADF-899E8804EA41}"/>
              </a:ext>
            </a:extLst>
          </p:cNvPr>
          <p:cNvCxnSpPr/>
          <p:nvPr/>
        </p:nvCxnSpPr>
        <p:spPr>
          <a:xfrm rot="16200000" flipH="1">
            <a:off x="7430656" y="4300316"/>
            <a:ext cx="2286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8BB88C4-B271-1CB9-9BAD-088EFD691928}"/>
              </a:ext>
            </a:extLst>
          </p:cNvPr>
          <p:cNvCxnSpPr/>
          <p:nvPr/>
        </p:nvCxnSpPr>
        <p:spPr>
          <a:xfrm rot="16200000" flipH="1">
            <a:off x="8040256" y="4300316"/>
            <a:ext cx="2286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EA3D067-CDCC-8F92-3FA6-27C262F9D87E}"/>
              </a:ext>
            </a:extLst>
          </p:cNvPr>
          <p:cNvCxnSpPr/>
          <p:nvPr/>
        </p:nvCxnSpPr>
        <p:spPr>
          <a:xfrm rot="16200000" flipH="1">
            <a:off x="8726056" y="4300316"/>
            <a:ext cx="2286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440F317-CB38-2FEC-E95F-02FA0BF0B29C}"/>
              </a:ext>
            </a:extLst>
          </p:cNvPr>
          <p:cNvCxnSpPr>
            <a:endCxn id="34" idx="3"/>
          </p:cNvCxnSpPr>
          <p:nvPr/>
        </p:nvCxnSpPr>
        <p:spPr>
          <a:xfrm rot="16200000" flipH="1">
            <a:off x="953657" y="3376622"/>
            <a:ext cx="228600" cy="2"/>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0809D08-BF24-CBA3-59C2-DC8C13A6F336}"/>
              </a:ext>
            </a:extLst>
          </p:cNvPr>
          <p:cNvCxnSpPr/>
          <p:nvPr/>
        </p:nvCxnSpPr>
        <p:spPr>
          <a:xfrm rot="16200000" flipH="1">
            <a:off x="2020457" y="3376622"/>
            <a:ext cx="228600" cy="2"/>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7F98DC7-762F-169D-6789-73280FE7C7E8}"/>
              </a:ext>
            </a:extLst>
          </p:cNvPr>
          <p:cNvCxnSpPr/>
          <p:nvPr/>
        </p:nvCxnSpPr>
        <p:spPr>
          <a:xfrm rot="16200000" flipH="1">
            <a:off x="999377" y="5108036"/>
            <a:ext cx="137160" cy="2"/>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2030153-627F-C57F-4045-AEA21683D380}"/>
              </a:ext>
            </a:extLst>
          </p:cNvPr>
          <p:cNvCxnSpPr/>
          <p:nvPr/>
        </p:nvCxnSpPr>
        <p:spPr>
          <a:xfrm rot="16200000" flipH="1">
            <a:off x="2066177" y="5108036"/>
            <a:ext cx="137160" cy="2"/>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1582B5B-ECA3-6D1D-8BF7-34A8D44E9EEC}"/>
              </a:ext>
            </a:extLst>
          </p:cNvPr>
          <p:cNvCxnSpPr>
            <a:stCxn id="35" idx="0"/>
            <a:endCxn id="34" idx="2"/>
          </p:cNvCxnSpPr>
          <p:nvPr/>
        </p:nvCxnSpPr>
        <p:spPr>
          <a:xfrm rot="10800000">
            <a:off x="1525161" y="4252923"/>
            <a:ext cx="152397" cy="1588"/>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4EE1210-6DA7-A2AC-B089-DF454CEED3C9}"/>
              </a:ext>
            </a:extLst>
          </p:cNvPr>
          <p:cNvCxnSpPr>
            <a:stCxn id="25" idx="1"/>
          </p:cNvCxnSpPr>
          <p:nvPr/>
        </p:nvCxnSpPr>
        <p:spPr>
          <a:xfrm rot="10800000" flipV="1">
            <a:off x="2591956" y="3948121"/>
            <a:ext cx="250902" cy="0"/>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D271ECA-0FFA-E2D8-C9E8-F04563C4AA43}"/>
              </a:ext>
            </a:extLst>
          </p:cNvPr>
          <p:cNvCxnSpPr/>
          <p:nvPr/>
        </p:nvCxnSpPr>
        <p:spPr>
          <a:xfrm rot="10800000" flipV="1">
            <a:off x="6935356" y="3871923"/>
            <a:ext cx="250902" cy="0"/>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1E6CDCBA-68CC-2BBA-9796-641FE0409BF4}"/>
              </a:ext>
            </a:extLst>
          </p:cNvPr>
          <p:cNvSpPr/>
          <p:nvPr/>
        </p:nvSpPr>
        <p:spPr>
          <a:xfrm>
            <a:off x="504817" y="1966922"/>
            <a:ext cx="8763000" cy="4433877"/>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8EED7CEA-F0F6-48D5-63BC-2D088B53C4B2}"/>
              </a:ext>
            </a:extLst>
          </p:cNvPr>
          <p:cNvSpPr txBox="1"/>
          <p:nvPr/>
        </p:nvSpPr>
        <p:spPr>
          <a:xfrm>
            <a:off x="7972417" y="1128723"/>
            <a:ext cx="762000" cy="369332"/>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mn-MN"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ММ</a:t>
            </a:r>
            <a:endParaRPr lang="en-US"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8BE9D463-A184-8C15-4273-68A93C28412D}"/>
              </a:ext>
            </a:extLst>
          </p:cNvPr>
          <p:cNvSpPr txBox="1"/>
          <p:nvPr/>
        </p:nvSpPr>
        <p:spPr>
          <a:xfrm>
            <a:off x="8277217" y="2043123"/>
            <a:ext cx="838200" cy="369332"/>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mn-MN"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ММС</a:t>
            </a:r>
            <a:endParaRPr lang="en-US"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0012F609-37BF-5651-6B35-49CC2D3206A4}"/>
              </a:ext>
            </a:extLst>
          </p:cNvPr>
          <p:cNvSpPr txBox="1"/>
          <p:nvPr/>
        </p:nvSpPr>
        <p:spPr>
          <a:xfrm>
            <a:off x="3372357" y="6400800"/>
            <a:ext cx="8268995" cy="369332"/>
          </a:xfrm>
          <a:prstGeom prst="rect">
            <a:avLst/>
          </a:prstGeom>
          <a:noFill/>
        </p:spPr>
        <p:txBody>
          <a:bodyPr wrap="none" rtlCol="0">
            <a:spAutoFit/>
          </a:bodyPr>
          <a:lstStyle/>
          <a:p>
            <a:r>
              <a:rPr lang="mn-MN" dirty="0">
                <a:solidFill>
                  <a:srgbClr val="002060"/>
                </a:solidFill>
                <a:latin typeface="Times New Roman" panose="02020603050405020304" pitchFamily="18" charset="0"/>
                <a:cs typeface="Times New Roman" panose="02020603050405020304" pitchFamily="18" charset="0"/>
              </a:rPr>
              <a:t>ММ – Маркетингийн менежмент</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ММС – Маркетингийн менежментийн судалгаа </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AF8CC133-73CA-B654-6161-C15892BC7034}"/>
              </a:ext>
            </a:extLst>
          </p:cNvPr>
          <p:cNvSpPr txBox="1"/>
          <p:nvPr/>
        </p:nvSpPr>
        <p:spPr>
          <a:xfrm>
            <a:off x="9329664" y="208488"/>
            <a:ext cx="2764989" cy="4832092"/>
          </a:xfrm>
          <a:prstGeom prst="rect">
            <a:avLst/>
          </a:prstGeom>
          <a:solidFill>
            <a:schemeClr val="accent4">
              <a:lumMod val="20000"/>
              <a:lumOff val="80000"/>
              <a:alpha val="54000"/>
            </a:schemeClr>
          </a:solidFill>
        </p:spPr>
        <p:txBody>
          <a:bodyPr wrap="square">
            <a:spAutoFit/>
          </a:bodyPr>
          <a:lstStyle/>
          <a:p>
            <a:r>
              <a:rPr lang="mn-MN" sz="2000" b="1" dirty="0">
                <a:solidFill>
                  <a:srgbClr val="002060"/>
                </a:solidFill>
                <a:latin typeface="Times New Roman" panose="02020603050405020304" pitchFamily="18" charset="0"/>
                <a:cs typeface="Times New Roman" panose="02020603050405020304" pitchFamily="18" charset="0"/>
              </a:rPr>
              <a:t>Маркетингийн менежмент </a:t>
            </a:r>
            <a:r>
              <a:rPr lang="mn-MN" sz="2000" dirty="0">
                <a:solidFill>
                  <a:srgbClr val="002060"/>
                </a:solidFill>
                <a:latin typeface="Times New Roman" panose="02020603050405020304" pitchFamily="18" charset="0"/>
                <a:cs typeface="Times New Roman" panose="02020603050405020304" pitchFamily="18" charset="0"/>
              </a:rPr>
              <a:t>– Өөрчлөгдөн хувьсах зах зээлийн нөхцөлд байгууллагын дотоод нөөц бололцоог харгалзан маркетингийн үйл ажиллагааг </a:t>
            </a:r>
            <a:r>
              <a:rPr lang="mn-MN" sz="2000" b="1" dirty="0">
                <a:solidFill>
                  <a:schemeClr val="accent2">
                    <a:lumMod val="75000"/>
                  </a:schemeClr>
                </a:solidFill>
                <a:latin typeface="Times New Roman" panose="02020603050405020304" pitchFamily="18" charset="0"/>
                <a:cs typeface="Times New Roman" panose="02020603050405020304" pitchFamily="18" charset="0"/>
              </a:rPr>
              <a:t>төлөвлөх</a:t>
            </a:r>
            <a:r>
              <a:rPr lang="mn-MN" sz="2000" b="1" dirty="0">
                <a:solidFill>
                  <a:srgbClr val="002060"/>
                </a:solidFill>
                <a:latin typeface="Times New Roman" panose="02020603050405020304" pitchFamily="18" charset="0"/>
                <a:cs typeface="Times New Roman" panose="02020603050405020304" pitchFamily="18" charset="0"/>
              </a:rPr>
              <a:t>, </a:t>
            </a:r>
            <a:r>
              <a:rPr lang="mn-MN" sz="2000" b="1" dirty="0">
                <a:solidFill>
                  <a:srgbClr val="00B050"/>
                </a:solidFill>
                <a:latin typeface="Times New Roman" panose="02020603050405020304" pitchFamily="18" charset="0"/>
                <a:cs typeface="Times New Roman" panose="02020603050405020304" pitchFamily="18" charset="0"/>
              </a:rPr>
              <a:t>гүйцэтгэх</a:t>
            </a:r>
            <a:r>
              <a:rPr lang="mn-MN" sz="2000" b="1" dirty="0">
                <a:solidFill>
                  <a:srgbClr val="002060"/>
                </a:solidFill>
                <a:latin typeface="Times New Roman" panose="02020603050405020304" pitchFamily="18" charset="0"/>
                <a:cs typeface="Times New Roman" panose="02020603050405020304" pitchFamily="18" charset="0"/>
              </a:rPr>
              <a:t>, гүйцэтгэлд </a:t>
            </a:r>
            <a:r>
              <a:rPr lang="mn-MN" sz="2000" b="1" dirty="0">
                <a:solidFill>
                  <a:srgbClr val="FF0000"/>
                </a:solidFill>
                <a:latin typeface="Times New Roman" panose="02020603050405020304" pitchFamily="18" charset="0"/>
                <a:cs typeface="Times New Roman" panose="02020603050405020304" pitchFamily="18" charset="0"/>
              </a:rPr>
              <a:t>хяналт тавих</a:t>
            </a:r>
            <a:r>
              <a:rPr lang="mn-MN" sz="2000" b="1" dirty="0">
                <a:solidFill>
                  <a:srgbClr val="002060"/>
                </a:solidFill>
                <a:latin typeface="Times New Roman" panose="02020603050405020304" pitchFamily="18" charset="0"/>
                <a:cs typeface="Times New Roman" panose="02020603050405020304" pitchFamily="18" charset="0"/>
              </a:rPr>
              <a:t>, </a:t>
            </a:r>
            <a:r>
              <a:rPr lang="mn-MN" sz="2000" b="1" dirty="0">
                <a:solidFill>
                  <a:schemeClr val="accent6">
                    <a:lumMod val="75000"/>
                  </a:schemeClr>
                </a:solidFill>
                <a:latin typeface="Times New Roman" panose="02020603050405020304" pitchFamily="18" charset="0"/>
                <a:cs typeface="Times New Roman" panose="02020603050405020304" pitchFamily="18" charset="0"/>
              </a:rPr>
              <a:t>холбогдох судалгаа шинжилгээг хийх</a:t>
            </a:r>
            <a:r>
              <a:rPr lang="mn-MN" sz="2000" dirty="0">
                <a:solidFill>
                  <a:schemeClr val="accent6">
                    <a:lumMod val="75000"/>
                  </a:schemeClr>
                </a:solidFill>
                <a:latin typeface="Times New Roman" panose="02020603050405020304" pitchFamily="18" charset="0"/>
                <a:cs typeface="Times New Roman" panose="02020603050405020304" pitchFamily="18" charset="0"/>
              </a:rPr>
              <a:t> </a:t>
            </a:r>
            <a:r>
              <a:rPr lang="mn-MN" sz="2000" dirty="0">
                <a:solidFill>
                  <a:srgbClr val="002060"/>
                </a:solidFill>
                <a:latin typeface="Times New Roman" panose="02020603050405020304" pitchFamily="18" charset="0"/>
                <a:cs typeface="Times New Roman" panose="02020603050405020304" pitchFamily="18" charset="0"/>
              </a:rPr>
              <a:t>үйл ажиллагааны цогц.</a:t>
            </a:r>
          </a:p>
          <a:p>
            <a:endParaRPr lang="mn-MN" sz="1400" dirty="0">
              <a:solidFill>
                <a:srgbClr val="002060"/>
              </a:solidFill>
              <a:latin typeface="Times New Roman" panose="02020603050405020304" pitchFamily="18" charset="0"/>
              <a:cs typeface="Times New Roman" panose="02020603050405020304" pitchFamily="18" charset="0"/>
            </a:endParaRPr>
          </a:p>
          <a:p>
            <a:pPr algn="r"/>
            <a:r>
              <a:rPr lang="mn-MN" sz="1400" dirty="0">
                <a:solidFill>
                  <a:srgbClr val="002060"/>
                </a:solidFill>
                <a:latin typeface="Times New Roman" panose="02020603050405020304" pitchFamily="18" charset="0"/>
                <a:cs typeface="Times New Roman" panose="02020603050405020304" pitchFamily="18" charset="0"/>
              </a:rPr>
              <a:t>/АНУ-ын Маркетингийн холбоо/</a:t>
            </a: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24" name="Rounded Rectangle 42">
            <a:extLst>
              <a:ext uri="{FF2B5EF4-FFF2-40B4-BE49-F238E27FC236}">
                <a16:creationId xmlns:a16="http://schemas.microsoft.com/office/drawing/2014/main" id="{95FC5F91-3D11-3FB4-A704-949DBADD6F5B}"/>
              </a:ext>
            </a:extLst>
          </p:cNvPr>
          <p:cNvSpPr/>
          <p:nvPr/>
        </p:nvSpPr>
        <p:spPr>
          <a:xfrm>
            <a:off x="2842858" y="2652723"/>
            <a:ext cx="4092498" cy="685798"/>
          </a:xfrm>
          <a:prstGeom prst="roundRect">
            <a:avLst/>
          </a:prstGeom>
          <a:gradFill>
            <a:gsLst>
              <a:gs pos="0">
                <a:schemeClr val="accent2">
                  <a:lumMod val="110000"/>
                  <a:satMod val="105000"/>
                  <a:tint val="67000"/>
                </a:schemeClr>
              </a:gs>
              <a:gs pos="80000">
                <a:schemeClr val="accent2">
                  <a:lumMod val="105000"/>
                  <a:satMod val="103000"/>
                  <a:tint val="73000"/>
                </a:schemeClr>
              </a:gs>
              <a:gs pos="100000">
                <a:schemeClr val="accent2">
                  <a:lumMod val="105000"/>
                  <a:satMod val="109000"/>
                  <a:tint val="81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2400" dirty="0">
                <a:latin typeface="Times New Roman" panose="02020603050405020304" pitchFamily="18" charset="0"/>
                <a:cs typeface="Times New Roman" panose="02020603050405020304" pitchFamily="18" charset="0"/>
              </a:rPr>
              <a:t>Мэдээллийн эх сурвалжийгтодорхойлох</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480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4FDBB-46FD-B1FB-2C90-E0AF610ACB43}"/>
              </a:ext>
            </a:extLst>
          </p:cNvPr>
          <p:cNvSpPr>
            <a:spLocks noGrp="1"/>
          </p:cNvSpPr>
          <p:nvPr>
            <p:ph type="title"/>
          </p:nvPr>
        </p:nvSpPr>
        <p:spPr>
          <a:xfrm>
            <a:off x="199845" y="192598"/>
            <a:ext cx="11704608" cy="876646"/>
          </a:xfrm>
        </p:spPr>
        <p:txBody>
          <a:bodyPr>
            <a:noAutofit/>
          </a:bodyPr>
          <a:lstStyle/>
          <a:p>
            <a:pPr algn="ctr"/>
            <a:r>
              <a:rPr lang="mn-MN" sz="3600" dirty="0">
                <a:solidFill>
                  <a:srgbClr val="002060"/>
                </a:solidFill>
                <a:latin typeface="Times New Roman" panose="02020603050405020304" pitchFamily="18" charset="0"/>
                <a:cs typeface="Times New Roman" panose="02020603050405020304" pitchFamily="18" charset="0"/>
              </a:rPr>
              <a:t>Аливаа маркетингийн үйл ажиллагаа зах зээлийн судалгаанаас эхэлдэг. </a:t>
            </a:r>
            <a:endParaRPr lang="ru-RU" sz="3600" b="1" dirty="0">
              <a:solidFill>
                <a:srgbClr val="002060"/>
              </a:solidFill>
              <a:latin typeface="Times New Roman" panose="02020603050405020304" pitchFamily="18" charset="0"/>
              <a:cs typeface="Times New Roman" panose="02020603050405020304" pitchFamily="18" charset="0"/>
            </a:endParaRPr>
          </a:p>
        </p:txBody>
      </p:sp>
      <p:grpSp>
        <p:nvGrpSpPr>
          <p:cNvPr id="27" name="Group 7">
            <a:extLst>
              <a:ext uri="{FF2B5EF4-FFF2-40B4-BE49-F238E27FC236}">
                <a16:creationId xmlns:a16="http://schemas.microsoft.com/office/drawing/2014/main" id="{D101151E-3B66-4983-9CD8-C6325A48B1FD}"/>
              </a:ext>
            </a:extLst>
          </p:cNvPr>
          <p:cNvGrpSpPr/>
          <p:nvPr/>
        </p:nvGrpSpPr>
        <p:grpSpPr>
          <a:xfrm>
            <a:off x="346382" y="1241317"/>
            <a:ext cx="4813162" cy="4568898"/>
            <a:chOff x="539552" y="1772816"/>
            <a:chExt cx="2088232" cy="3960440"/>
          </a:xfrm>
        </p:grpSpPr>
        <p:sp>
          <p:nvSpPr>
            <p:cNvPr id="28" name="Rounded Rectangle 3">
              <a:extLst>
                <a:ext uri="{FF2B5EF4-FFF2-40B4-BE49-F238E27FC236}">
                  <a16:creationId xmlns:a16="http://schemas.microsoft.com/office/drawing/2014/main" id="{C29CADAD-05C0-E8DF-8493-55DF628AE369}"/>
                </a:ext>
              </a:extLst>
            </p:cNvPr>
            <p:cNvSpPr/>
            <p:nvPr/>
          </p:nvSpPr>
          <p:spPr>
            <a:xfrm>
              <a:off x="539552" y="1772816"/>
              <a:ext cx="2088232" cy="3960440"/>
            </a:xfrm>
            <a:prstGeom prst="roundRect">
              <a:avLst>
                <a:gd name="adj" fmla="val 3866"/>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Times New Roman" panose="02020603050405020304" pitchFamily="18" charset="0"/>
                <a:cs typeface="Times New Roman" panose="02020603050405020304" pitchFamily="18" charset="0"/>
              </a:endParaRPr>
            </a:p>
          </p:txBody>
        </p:sp>
        <p:sp>
          <p:nvSpPr>
            <p:cNvPr id="29" name="Rounded Rectangle 4">
              <a:extLst>
                <a:ext uri="{FF2B5EF4-FFF2-40B4-BE49-F238E27FC236}">
                  <a16:creationId xmlns:a16="http://schemas.microsoft.com/office/drawing/2014/main" id="{A63E6B02-E5C6-CB13-F649-8A5D97CFB7E1}"/>
                </a:ext>
              </a:extLst>
            </p:cNvPr>
            <p:cNvSpPr/>
            <p:nvPr/>
          </p:nvSpPr>
          <p:spPr>
            <a:xfrm>
              <a:off x="539552" y="1772816"/>
              <a:ext cx="2088232" cy="956295"/>
            </a:xfrm>
            <a:custGeom>
              <a:avLst/>
              <a:gdLst/>
              <a:ahLst/>
              <a:cxnLst/>
              <a:rect l="l" t="t" r="r" b="b"/>
              <a:pathLst>
                <a:path w="2232248" h="956295">
                  <a:moveTo>
                    <a:pt x="86299" y="0"/>
                  </a:moveTo>
                  <a:lnTo>
                    <a:pt x="2145949" y="0"/>
                  </a:lnTo>
                  <a:cubicBezTo>
                    <a:pt x="2193611" y="0"/>
                    <a:pt x="2232248" y="38637"/>
                    <a:pt x="2232248" y="86299"/>
                  </a:cubicBezTo>
                  <a:lnTo>
                    <a:pt x="2232248" y="956295"/>
                  </a:lnTo>
                  <a:lnTo>
                    <a:pt x="0" y="956295"/>
                  </a:lnTo>
                  <a:lnTo>
                    <a:pt x="0" y="86299"/>
                  </a:lnTo>
                  <a:cubicBezTo>
                    <a:pt x="0" y="38637"/>
                    <a:pt x="38637" y="0"/>
                    <a:pt x="86299"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Times New Roman" panose="02020603050405020304" pitchFamily="18" charset="0"/>
                <a:cs typeface="Times New Roman" panose="02020603050405020304" pitchFamily="18" charset="0"/>
              </a:endParaRPr>
            </a:p>
          </p:txBody>
        </p:sp>
      </p:grpSp>
      <p:sp>
        <p:nvSpPr>
          <p:cNvPr id="30" name="Oval 6">
            <a:extLst>
              <a:ext uri="{FF2B5EF4-FFF2-40B4-BE49-F238E27FC236}">
                <a16:creationId xmlns:a16="http://schemas.microsoft.com/office/drawing/2014/main" id="{0408C875-E686-C166-7670-DDF6CF2A5A63}"/>
              </a:ext>
            </a:extLst>
          </p:cNvPr>
          <p:cNvSpPr/>
          <p:nvPr/>
        </p:nvSpPr>
        <p:spPr>
          <a:xfrm>
            <a:off x="451388" y="1702227"/>
            <a:ext cx="972108" cy="972108"/>
          </a:xfrm>
          <a:prstGeom prst="ellipse">
            <a:avLst/>
          </a:prstGeom>
          <a:solidFill>
            <a:schemeClr val="accent1"/>
          </a:solid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Times New Roman" panose="02020603050405020304" pitchFamily="18" charset="0"/>
              <a:cs typeface="Times New Roman" panose="02020603050405020304" pitchFamily="18" charset="0"/>
            </a:endParaRPr>
          </a:p>
        </p:txBody>
      </p:sp>
      <p:grpSp>
        <p:nvGrpSpPr>
          <p:cNvPr id="31" name="그룹 6">
            <a:extLst>
              <a:ext uri="{FF2B5EF4-FFF2-40B4-BE49-F238E27FC236}">
                <a16:creationId xmlns:a16="http://schemas.microsoft.com/office/drawing/2014/main" id="{091EC416-45AA-E9EE-4C53-EDFB3F902806}"/>
              </a:ext>
            </a:extLst>
          </p:cNvPr>
          <p:cNvGrpSpPr/>
          <p:nvPr/>
        </p:nvGrpSpPr>
        <p:grpSpPr>
          <a:xfrm>
            <a:off x="603734" y="2410225"/>
            <a:ext cx="4555809" cy="3373259"/>
            <a:chOff x="1250430" y="3013742"/>
            <a:chExt cx="4298456" cy="3373259"/>
          </a:xfrm>
        </p:grpSpPr>
        <p:sp>
          <p:nvSpPr>
            <p:cNvPr id="32" name="TextBox 31">
              <a:extLst>
                <a:ext uri="{FF2B5EF4-FFF2-40B4-BE49-F238E27FC236}">
                  <a16:creationId xmlns:a16="http://schemas.microsoft.com/office/drawing/2014/main" id="{4F5C1C6E-F2F4-82DC-1DE8-3DB5F25AB84A}"/>
                </a:ext>
              </a:extLst>
            </p:cNvPr>
            <p:cNvSpPr txBox="1"/>
            <p:nvPr/>
          </p:nvSpPr>
          <p:spPr>
            <a:xfrm>
              <a:off x="1250430" y="3770900"/>
              <a:ext cx="4298456" cy="261610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Зах зээлийн хэмжээг тогтоох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Хэрэглэгчийн хэрэгцээг ойлгох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Боломжуудыг тодорхойлох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Өрсөлдөгчдийг судлах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Бусад</a:t>
              </a:r>
            </a:p>
          </p:txBody>
        </p:sp>
        <p:sp>
          <p:nvSpPr>
            <p:cNvPr id="33" name="TextBox 32">
              <a:extLst>
                <a:ext uri="{FF2B5EF4-FFF2-40B4-BE49-F238E27FC236}">
                  <a16:creationId xmlns:a16="http://schemas.microsoft.com/office/drawing/2014/main" id="{ADA839EC-89CD-75ED-DB47-C583ECD165A5}"/>
                </a:ext>
              </a:extLst>
            </p:cNvPr>
            <p:cNvSpPr txBox="1"/>
            <p:nvPr/>
          </p:nvSpPr>
          <p:spPr>
            <a:xfrm>
              <a:off x="1717841" y="3013742"/>
              <a:ext cx="3815639" cy="830997"/>
            </a:xfrm>
            <a:prstGeom prst="rect">
              <a:avLst/>
            </a:prstGeom>
            <a:noFill/>
          </p:spPr>
          <p:txBody>
            <a:bodyPr wrap="square" lIns="108000" rIns="108000" rtlCol="0">
              <a:spAutoFit/>
            </a:bodyPr>
            <a:lstStyle/>
            <a:p>
              <a:pPr algn="ctr"/>
              <a:r>
                <a:rPr lang="mn-MN" sz="2400" b="1" dirty="0">
                  <a:solidFill>
                    <a:srgbClr val="0000CC"/>
                  </a:solidFill>
                  <a:latin typeface="Times New Roman" panose="02020603050405020304" pitchFamily="18" charset="0"/>
                  <a:cs typeface="Times New Roman" panose="02020603050405020304" pitchFamily="18" charset="0"/>
                </a:rPr>
                <a:t>Зах зээлийг бүхэлд нь ойлгоход чиглэдэг</a:t>
              </a:r>
              <a:endParaRPr lang="ko-KR" altLang="en-US" sz="1600" b="1" dirty="0">
                <a:solidFill>
                  <a:srgbClr val="0000CC"/>
                </a:solidFill>
                <a:latin typeface="Times New Roman" panose="02020603050405020304" pitchFamily="18" charset="0"/>
                <a:cs typeface="Times New Roman" panose="02020603050405020304" pitchFamily="18" charset="0"/>
              </a:endParaRPr>
            </a:p>
          </p:txBody>
        </p:sp>
      </p:grpSp>
      <p:sp>
        <p:nvSpPr>
          <p:cNvPr id="34" name="TextBox 33">
            <a:extLst>
              <a:ext uri="{FF2B5EF4-FFF2-40B4-BE49-F238E27FC236}">
                <a16:creationId xmlns:a16="http://schemas.microsoft.com/office/drawing/2014/main" id="{74CA16CF-3C97-7879-8D21-3B431BA3CFDC}"/>
              </a:ext>
            </a:extLst>
          </p:cNvPr>
          <p:cNvSpPr txBox="1"/>
          <p:nvPr/>
        </p:nvSpPr>
        <p:spPr>
          <a:xfrm>
            <a:off x="702047" y="1361778"/>
            <a:ext cx="3955499" cy="954107"/>
          </a:xfrm>
          <a:prstGeom prst="rect">
            <a:avLst/>
          </a:prstGeom>
          <a:noFill/>
        </p:spPr>
        <p:txBody>
          <a:bodyPr wrap="square" lIns="108000" rIns="108000" rtlCol="0">
            <a:spAutoFit/>
          </a:bodyPr>
          <a:lstStyle/>
          <a:p>
            <a:pPr algn="ctr"/>
            <a:r>
              <a:rPr lang="mn-MN" altLang="ko-KR" sz="2800" b="1" dirty="0">
                <a:solidFill>
                  <a:schemeClr val="bg1"/>
                </a:solidFill>
                <a:latin typeface="Times New Roman" panose="02020603050405020304" pitchFamily="18" charset="0"/>
                <a:cs typeface="Times New Roman" panose="02020603050405020304" pitchFamily="18" charset="0"/>
              </a:rPr>
              <a:t>ЗАХ ЗЭЭЛИЙН СУДАЛГАА</a:t>
            </a:r>
            <a:endParaRPr lang="ko-KR" altLang="en-US" sz="2800" b="1" dirty="0">
              <a:solidFill>
                <a:schemeClr val="bg1"/>
              </a:solidFill>
              <a:latin typeface="Times New Roman" panose="02020603050405020304" pitchFamily="18" charset="0"/>
              <a:cs typeface="Times New Roman" panose="02020603050405020304" pitchFamily="18" charset="0"/>
            </a:endParaRPr>
          </a:p>
        </p:txBody>
      </p:sp>
      <p:grpSp>
        <p:nvGrpSpPr>
          <p:cNvPr id="35" name="Group 71">
            <a:extLst>
              <a:ext uri="{FF2B5EF4-FFF2-40B4-BE49-F238E27FC236}">
                <a16:creationId xmlns:a16="http://schemas.microsoft.com/office/drawing/2014/main" id="{1DC8A3A6-77CA-8B74-B35B-187BF6E0925F}"/>
              </a:ext>
            </a:extLst>
          </p:cNvPr>
          <p:cNvGrpSpPr/>
          <p:nvPr/>
        </p:nvGrpSpPr>
        <p:grpSpPr>
          <a:xfrm>
            <a:off x="6106256" y="1241316"/>
            <a:ext cx="4813161" cy="4568899"/>
            <a:chOff x="539552" y="1772816"/>
            <a:chExt cx="2088232" cy="3960440"/>
          </a:xfrm>
        </p:grpSpPr>
        <p:sp>
          <p:nvSpPr>
            <p:cNvPr id="36" name="Rounded Rectangle 73">
              <a:extLst>
                <a:ext uri="{FF2B5EF4-FFF2-40B4-BE49-F238E27FC236}">
                  <a16:creationId xmlns:a16="http://schemas.microsoft.com/office/drawing/2014/main" id="{122A32CC-BEFA-2C5F-BB65-D8B48F968D39}"/>
                </a:ext>
              </a:extLst>
            </p:cNvPr>
            <p:cNvSpPr/>
            <p:nvPr/>
          </p:nvSpPr>
          <p:spPr>
            <a:xfrm>
              <a:off x="539552" y="1772816"/>
              <a:ext cx="2088232" cy="3960440"/>
            </a:xfrm>
            <a:prstGeom prst="roundRect">
              <a:avLst>
                <a:gd name="adj" fmla="val 3866"/>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Times New Roman" panose="02020603050405020304" pitchFamily="18" charset="0"/>
                <a:cs typeface="Times New Roman" panose="02020603050405020304" pitchFamily="18" charset="0"/>
              </a:endParaRPr>
            </a:p>
          </p:txBody>
        </p:sp>
        <p:sp>
          <p:nvSpPr>
            <p:cNvPr id="37" name="Rounded Rectangle 4">
              <a:extLst>
                <a:ext uri="{FF2B5EF4-FFF2-40B4-BE49-F238E27FC236}">
                  <a16:creationId xmlns:a16="http://schemas.microsoft.com/office/drawing/2014/main" id="{8C82278F-F529-9291-613F-E5DF958254CA}"/>
                </a:ext>
              </a:extLst>
            </p:cNvPr>
            <p:cNvSpPr/>
            <p:nvPr/>
          </p:nvSpPr>
          <p:spPr>
            <a:xfrm>
              <a:off x="539552" y="1772816"/>
              <a:ext cx="2088232" cy="956295"/>
            </a:xfrm>
            <a:custGeom>
              <a:avLst/>
              <a:gdLst/>
              <a:ahLst/>
              <a:cxnLst/>
              <a:rect l="l" t="t" r="r" b="b"/>
              <a:pathLst>
                <a:path w="2232248" h="956295">
                  <a:moveTo>
                    <a:pt x="86299" y="0"/>
                  </a:moveTo>
                  <a:lnTo>
                    <a:pt x="2145949" y="0"/>
                  </a:lnTo>
                  <a:cubicBezTo>
                    <a:pt x="2193611" y="0"/>
                    <a:pt x="2232248" y="38637"/>
                    <a:pt x="2232248" y="86299"/>
                  </a:cubicBezTo>
                  <a:lnTo>
                    <a:pt x="2232248" y="956295"/>
                  </a:lnTo>
                  <a:lnTo>
                    <a:pt x="0" y="956295"/>
                  </a:lnTo>
                  <a:lnTo>
                    <a:pt x="0" y="86299"/>
                  </a:lnTo>
                  <a:cubicBezTo>
                    <a:pt x="0" y="38637"/>
                    <a:pt x="38637" y="0"/>
                    <a:pt x="86299"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Times New Roman" panose="02020603050405020304" pitchFamily="18" charset="0"/>
                <a:cs typeface="Times New Roman" panose="02020603050405020304" pitchFamily="18" charset="0"/>
              </a:endParaRPr>
            </a:p>
          </p:txBody>
        </p:sp>
      </p:grpSp>
      <p:sp>
        <p:nvSpPr>
          <p:cNvPr id="38" name="Oval 72">
            <a:extLst>
              <a:ext uri="{FF2B5EF4-FFF2-40B4-BE49-F238E27FC236}">
                <a16:creationId xmlns:a16="http://schemas.microsoft.com/office/drawing/2014/main" id="{B7A6877D-C767-0A93-9932-AB13870632EA}"/>
              </a:ext>
            </a:extLst>
          </p:cNvPr>
          <p:cNvSpPr/>
          <p:nvPr/>
        </p:nvSpPr>
        <p:spPr>
          <a:xfrm>
            <a:off x="9638858" y="1728824"/>
            <a:ext cx="972108" cy="972108"/>
          </a:xfrm>
          <a:prstGeom prst="ellipse">
            <a:avLst/>
          </a:prstGeom>
          <a:solidFill>
            <a:schemeClr val="accent4"/>
          </a:solid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D8D9F13A-3D07-C536-EED7-0A0DE98B5ED3}"/>
              </a:ext>
            </a:extLst>
          </p:cNvPr>
          <p:cNvSpPr txBox="1"/>
          <p:nvPr/>
        </p:nvSpPr>
        <p:spPr>
          <a:xfrm>
            <a:off x="6305625" y="1313326"/>
            <a:ext cx="4414425" cy="954107"/>
          </a:xfrm>
          <a:prstGeom prst="rect">
            <a:avLst/>
          </a:prstGeom>
          <a:noFill/>
        </p:spPr>
        <p:txBody>
          <a:bodyPr wrap="square" lIns="108000" rIns="108000" rtlCol="0">
            <a:spAutoFit/>
          </a:bodyPr>
          <a:lstStyle/>
          <a:p>
            <a:pPr algn="ctr"/>
            <a:r>
              <a:rPr lang="mn-MN" altLang="ko-KR" sz="2800" b="1" dirty="0">
                <a:latin typeface="Times New Roman" panose="02020603050405020304" pitchFamily="18" charset="0"/>
                <a:cs typeface="Times New Roman" panose="02020603050405020304" pitchFamily="18" charset="0"/>
              </a:rPr>
              <a:t>МАРКЕТИНГИЙН СУДАЛГАА</a:t>
            </a:r>
            <a:endParaRPr lang="ko-KR" altLang="en-US" sz="2800" b="1" dirty="0">
              <a:latin typeface="Times New Roman" panose="02020603050405020304" pitchFamily="18" charset="0"/>
              <a:cs typeface="Times New Roman" panose="02020603050405020304" pitchFamily="18" charset="0"/>
            </a:endParaRPr>
          </a:p>
        </p:txBody>
      </p:sp>
      <p:grpSp>
        <p:nvGrpSpPr>
          <p:cNvPr id="40" name="그룹 31">
            <a:extLst>
              <a:ext uri="{FF2B5EF4-FFF2-40B4-BE49-F238E27FC236}">
                <a16:creationId xmlns:a16="http://schemas.microsoft.com/office/drawing/2014/main" id="{195EFFF1-DC83-23ED-2B9F-FBA0813F077E}"/>
              </a:ext>
            </a:extLst>
          </p:cNvPr>
          <p:cNvGrpSpPr/>
          <p:nvPr/>
        </p:nvGrpSpPr>
        <p:grpSpPr>
          <a:xfrm>
            <a:off x="6207645" y="2389197"/>
            <a:ext cx="4711772" cy="3423763"/>
            <a:chOff x="-1515017" y="2981687"/>
            <a:chExt cx="4475251" cy="3038415"/>
          </a:xfrm>
        </p:grpSpPr>
        <p:sp>
          <p:nvSpPr>
            <p:cNvPr id="41" name="TextBox 40">
              <a:extLst>
                <a:ext uri="{FF2B5EF4-FFF2-40B4-BE49-F238E27FC236}">
                  <a16:creationId xmlns:a16="http://schemas.microsoft.com/office/drawing/2014/main" id="{B398BA64-6F67-BF4E-0B2D-18176ADF9BDC}"/>
                </a:ext>
              </a:extLst>
            </p:cNvPr>
            <p:cNvSpPr txBox="1"/>
            <p:nvPr/>
          </p:nvSpPr>
          <p:spPr>
            <a:xfrm>
              <a:off x="-1469326" y="3698445"/>
              <a:ext cx="4429560" cy="2321657"/>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Бүтээгдэхүүн санал болгох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Зохистой  үнийг тогтоох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Түгээлтийн сувгуудыг сонгох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Маркетингийн кампанит ажил зохион байгуулах</a:t>
              </a:r>
            </a:p>
            <a:p>
              <a:pPr marL="171450" indent="-171450">
                <a:spcBef>
                  <a:spcPts val="600"/>
                </a:spcBef>
                <a:buFont typeface="Arial" panose="020B0604020202020204" pitchFamily="34" charset="0"/>
                <a:buChar char="•"/>
              </a:pPr>
              <a:r>
                <a:rPr lang="mn-MN" altLang="ko-KR" sz="2400" b="1" dirty="0">
                  <a:latin typeface="Times New Roman" panose="02020603050405020304" pitchFamily="18" charset="0"/>
                  <a:cs typeface="Times New Roman" panose="02020603050405020304" pitchFamily="18" charset="0"/>
                </a:rPr>
                <a:t>Бусад</a:t>
              </a:r>
              <a:endParaRPr lang="en-US" altLang="ko-KR" sz="2400" b="1"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4EF5A83A-761A-55B1-8D1D-3365033C0E77}"/>
                </a:ext>
              </a:extLst>
            </p:cNvPr>
            <p:cNvSpPr txBox="1"/>
            <p:nvPr/>
          </p:nvSpPr>
          <p:spPr>
            <a:xfrm>
              <a:off x="-1515017" y="2981687"/>
              <a:ext cx="3898287" cy="737467"/>
            </a:xfrm>
            <a:prstGeom prst="rect">
              <a:avLst/>
            </a:prstGeom>
            <a:noFill/>
          </p:spPr>
          <p:txBody>
            <a:bodyPr wrap="square" lIns="108000" rIns="108000" rtlCol="0">
              <a:spAutoFit/>
            </a:bodyPr>
            <a:lstStyle/>
            <a:p>
              <a:pPr algn="ctr"/>
              <a:r>
                <a:rPr lang="mn-MN" sz="2400" b="1" dirty="0">
                  <a:solidFill>
                    <a:srgbClr val="006600"/>
                  </a:solidFill>
                  <a:latin typeface="Times New Roman" panose="02020603050405020304" pitchFamily="18" charset="0"/>
                  <a:cs typeface="Times New Roman" panose="02020603050405020304" pitchFamily="18" charset="0"/>
                </a:rPr>
                <a:t>Хэрэглэгчдийн хэрэгцээ, хүслийг ойлгоход чиглэдэг</a:t>
              </a:r>
              <a:endParaRPr lang="ko-KR" altLang="en-US" sz="1600" b="1" dirty="0">
                <a:solidFill>
                  <a:srgbClr val="006600"/>
                </a:solidFill>
                <a:latin typeface="Times New Roman" panose="02020603050405020304" pitchFamily="18" charset="0"/>
                <a:cs typeface="Times New Roman" panose="02020603050405020304" pitchFamily="18" charset="0"/>
              </a:endParaRPr>
            </a:p>
          </p:txBody>
        </p:sp>
      </p:grpSp>
      <p:sp>
        <p:nvSpPr>
          <p:cNvPr id="43" name="Rounded Rectangle 10">
            <a:extLst>
              <a:ext uri="{FF2B5EF4-FFF2-40B4-BE49-F238E27FC236}">
                <a16:creationId xmlns:a16="http://schemas.microsoft.com/office/drawing/2014/main" id="{1AFD8DEE-2312-B9D6-3F3E-93F6EB53DFB8}"/>
              </a:ext>
            </a:extLst>
          </p:cNvPr>
          <p:cNvSpPr/>
          <p:nvPr/>
        </p:nvSpPr>
        <p:spPr>
          <a:xfrm>
            <a:off x="844969" y="202380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latin typeface="Times New Roman" panose="02020603050405020304" pitchFamily="18" charset="0"/>
              <a:cs typeface="Times New Roman" panose="02020603050405020304" pitchFamily="18" charset="0"/>
            </a:endParaRPr>
          </a:p>
        </p:txBody>
      </p:sp>
      <p:sp>
        <p:nvSpPr>
          <p:cNvPr id="44" name="Rectangle 16">
            <a:extLst>
              <a:ext uri="{FF2B5EF4-FFF2-40B4-BE49-F238E27FC236}">
                <a16:creationId xmlns:a16="http://schemas.microsoft.com/office/drawing/2014/main" id="{A69E7565-EBEC-0B6E-F5A5-64AD8AC75D47}"/>
              </a:ext>
            </a:extLst>
          </p:cNvPr>
          <p:cNvSpPr/>
          <p:nvPr/>
        </p:nvSpPr>
        <p:spPr>
          <a:xfrm rot="2700000">
            <a:off x="7042292" y="2003257"/>
            <a:ext cx="265920" cy="476745"/>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latin typeface="Times New Roman" panose="02020603050405020304" pitchFamily="18" charset="0"/>
              <a:cs typeface="Times New Roman" panose="02020603050405020304" pitchFamily="18" charset="0"/>
            </a:endParaRPr>
          </a:p>
        </p:txBody>
      </p:sp>
      <p:sp>
        <p:nvSpPr>
          <p:cNvPr id="45" name="Oval 7">
            <a:extLst>
              <a:ext uri="{FF2B5EF4-FFF2-40B4-BE49-F238E27FC236}">
                <a16:creationId xmlns:a16="http://schemas.microsoft.com/office/drawing/2014/main" id="{61E6353F-E872-146A-481D-BCF866BFE865}"/>
              </a:ext>
            </a:extLst>
          </p:cNvPr>
          <p:cNvSpPr/>
          <p:nvPr/>
        </p:nvSpPr>
        <p:spPr>
          <a:xfrm>
            <a:off x="9950683" y="2034239"/>
            <a:ext cx="361277" cy="361277"/>
          </a:xfrm>
          <a:custGeom>
            <a:avLst/>
            <a:gdLst/>
            <a:ahLst/>
            <a:cxnLst/>
            <a:rect l="l" t="t" r="r" b="b"/>
            <a:pathLst>
              <a:path w="3240000" h="324000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latin typeface="Times New Roman" panose="02020603050405020304" pitchFamily="18" charset="0"/>
              <a:cs typeface="Times New Roman" panose="02020603050405020304" pitchFamily="18" charset="0"/>
            </a:endParaRPr>
          </a:p>
        </p:txBody>
      </p:sp>
      <p:sp>
        <p:nvSpPr>
          <p:cNvPr id="46" name="Rounded Rectangle 27">
            <a:extLst>
              <a:ext uri="{FF2B5EF4-FFF2-40B4-BE49-F238E27FC236}">
                <a16:creationId xmlns:a16="http://schemas.microsoft.com/office/drawing/2014/main" id="{AAE42387-9D58-5147-539D-643EA73A8779}"/>
              </a:ext>
            </a:extLst>
          </p:cNvPr>
          <p:cNvSpPr/>
          <p:nvPr/>
        </p:nvSpPr>
        <p:spPr>
          <a:xfrm>
            <a:off x="3936096" y="2073453"/>
            <a:ext cx="346396" cy="26607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85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82A87-66E0-A36B-71E9-4E860CE8EB70}"/>
              </a:ext>
            </a:extLst>
          </p:cNvPr>
          <p:cNvSpPr>
            <a:spLocks noGrp="1"/>
          </p:cNvSpPr>
          <p:nvPr>
            <p:ph type="title"/>
          </p:nvPr>
        </p:nvSpPr>
        <p:spPr>
          <a:xfrm>
            <a:off x="838200" y="140839"/>
            <a:ext cx="10515600" cy="704088"/>
          </a:xfrm>
        </p:spPr>
        <p:txBody>
          <a:bodyPr/>
          <a:lstStyle/>
          <a:p>
            <a:r>
              <a:rPr lang="mn-MN" b="1" dirty="0">
                <a:solidFill>
                  <a:srgbClr val="002060"/>
                </a:solidFill>
                <a:latin typeface="Times New Roman" panose="02020603050405020304" pitchFamily="18" charset="0"/>
                <a:cs typeface="Times New Roman" panose="02020603050405020304" pitchFamily="18" charset="0"/>
              </a:rPr>
              <a:t>Мэдээллийн ангилал ба эх сурвалж</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12" name="Rounded Rectangle 4">
            <a:extLst>
              <a:ext uri="{FF2B5EF4-FFF2-40B4-BE49-F238E27FC236}">
                <a16:creationId xmlns:a16="http://schemas.microsoft.com/office/drawing/2014/main" id="{DAF9DEF7-0E9D-3205-71B4-A3E0A3902B5A}"/>
              </a:ext>
            </a:extLst>
          </p:cNvPr>
          <p:cNvSpPr/>
          <p:nvPr/>
        </p:nvSpPr>
        <p:spPr>
          <a:xfrm>
            <a:off x="745296" y="2074567"/>
            <a:ext cx="5290646" cy="9144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АНХДАГЧ</a:t>
            </a:r>
            <a:endPar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3" name="Rounded Rectangle 5">
            <a:extLst>
              <a:ext uri="{FF2B5EF4-FFF2-40B4-BE49-F238E27FC236}">
                <a16:creationId xmlns:a16="http://schemas.microsoft.com/office/drawing/2014/main" id="{21DA3AD8-93B9-C754-19E6-84A8170A8D5B}"/>
              </a:ext>
            </a:extLst>
          </p:cNvPr>
          <p:cNvSpPr/>
          <p:nvPr/>
        </p:nvSpPr>
        <p:spPr>
          <a:xfrm>
            <a:off x="6328587" y="2074567"/>
            <a:ext cx="5322925" cy="9144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ХОЁРДОГЧ</a:t>
            </a:r>
            <a:endPar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4" name="Rounded Rectangle 6">
            <a:extLst>
              <a:ext uri="{FF2B5EF4-FFF2-40B4-BE49-F238E27FC236}">
                <a16:creationId xmlns:a16="http://schemas.microsoft.com/office/drawing/2014/main" id="{1157E4CE-D620-1EE5-92B4-0A4ECFF4A170}"/>
              </a:ext>
            </a:extLst>
          </p:cNvPr>
          <p:cNvSpPr/>
          <p:nvPr/>
        </p:nvSpPr>
        <p:spPr>
          <a:xfrm>
            <a:off x="769627" y="3075607"/>
            <a:ext cx="5290648" cy="322167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2800" dirty="0">
                <a:latin typeface="Times New Roman" panose="02020603050405020304" pitchFamily="18" charset="0"/>
                <a:cs typeface="Times New Roman" panose="02020603050405020304" pitchFamily="18" charset="0"/>
              </a:rPr>
              <a:t>Маркетингийн байгууллага үйл явдал болсон юмуу, сонгосон объект дээр анхдагч материал олж авахаар ажиглалт хийсэн мэдээнүүдийг цуглуулж, нэгтгэхийг хэлнэ. </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15" name="Rounded Rectangle 7">
            <a:extLst>
              <a:ext uri="{FF2B5EF4-FFF2-40B4-BE49-F238E27FC236}">
                <a16:creationId xmlns:a16="http://schemas.microsoft.com/office/drawing/2014/main" id="{411DE385-F10E-2F29-1FB7-D5BA31D6DA3E}"/>
              </a:ext>
            </a:extLst>
          </p:cNvPr>
          <p:cNvSpPr/>
          <p:nvPr/>
        </p:nvSpPr>
        <p:spPr>
          <a:xfrm>
            <a:off x="6321613" y="3075606"/>
            <a:ext cx="5322926" cy="32216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mn-MN" sz="2800" dirty="0">
                <a:latin typeface="Times New Roman" panose="02020603050405020304" pitchFamily="18" charset="0"/>
                <a:cs typeface="Times New Roman" panose="02020603050405020304" pitchFamily="18" charset="0"/>
              </a:rPr>
              <a:t>Өмнө цуглуулсан болон боловсруулсан статистик, бусад тоон мэдээллийг шууд ашиглахыг хэлнэ. Энд өмнөх судалгааны тайлангийн тоо, материал ашиглах асуудал хамаарна</a:t>
            </a:r>
            <a:r>
              <a:rPr lang="mn-MN" sz="2800" dirty="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4F7C9D54-DCDC-4C58-5551-88502A6A610F}"/>
              </a:ext>
            </a:extLst>
          </p:cNvPr>
          <p:cNvCxnSpPr>
            <a:cxnSpLocks/>
            <a:stCxn id="11" idx="2"/>
            <a:endCxn id="12" idx="0"/>
          </p:cNvCxnSpPr>
          <p:nvPr/>
        </p:nvCxnSpPr>
        <p:spPr>
          <a:xfrm flipH="1">
            <a:off x="3390619" y="1626649"/>
            <a:ext cx="2705381" cy="4479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8C01952-FDCA-5D1A-7734-C61AB55577DB}"/>
              </a:ext>
            </a:extLst>
          </p:cNvPr>
          <p:cNvCxnSpPr>
            <a:cxnSpLocks/>
            <a:stCxn id="11" idx="2"/>
            <a:endCxn id="13" idx="0"/>
          </p:cNvCxnSpPr>
          <p:nvPr/>
        </p:nvCxnSpPr>
        <p:spPr>
          <a:xfrm>
            <a:off x="6096000" y="1626649"/>
            <a:ext cx="2894050" cy="4479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ounded Rectangle 3">
            <a:extLst>
              <a:ext uri="{FF2B5EF4-FFF2-40B4-BE49-F238E27FC236}">
                <a16:creationId xmlns:a16="http://schemas.microsoft.com/office/drawing/2014/main" id="{F892F903-BCF5-7DE2-494D-1D10D1FDD09F}"/>
              </a:ext>
            </a:extLst>
          </p:cNvPr>
          <p:cNvSpPr/>
          <p:nvPr/>
        </p:nvSpPr>
        <p:spPr>
          <a:xfrm>
            <a:off x="3733800" y="844927"/>
            <a:ext cx="4724400" cy="78172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mn-MN" sz="54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мэдээлэл</a:t>
            </a:r>
            <a:endParaRPr lang="en-US" sz="54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954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0C18E-ED3A-3FB5-2226-BC48CF7D7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7EB37-C12D-C987-77A1-BDBBFBD2C0B8}"/>
              </a:ext>
            </a:extLst>
          </p:cNvPr>
          <p:cNvSpPr>
            <a:spLocks noGrp="1"/>
          </p:cNvSpPr>
          <p:nvPr>
            <p:ph type="title"/>
          </p:nvPr>
        </p:nvSpPr>
        <p:spPr>
          <a:xfrm>
            <a:off x="786441" y="106331"/>
            <a:ext cx="10515600" cy="756107"/>
          </a:xfrm>
        </p:spPr>
        <p:txBody>
          <a:bodyPr/>
          <a:lstStyle/>
          <a:p>
            <a:r>
              <a:rPr lang="mn-MN" b="1" dirty="0">
                <a:solidFill>
                  <a:srgbClr val="002060"/>
                </a:solidFill>
                <a:latin typeface="Times New Roman" panose="02020603050405020304" pitchFamily="18" charset="0"/>
                <a:cs typeface="Times New Roman" panose="02020603050405020304" pitchFamily="18" charset="0"/>
              </a:rPr>
              <a:t>Мэдээллийн ангилал ба эх сурвалж</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Rounded Rectangle 6">
            <a:extLst>
              <a:ext uri="{FF2B5EF4-FFF2-40B4-BE49-F238E27FC236}">
                <a16:creationId xmlns:a16="http://schemas.microsoft.com/office/drawing/2014/main" id="{840F879A-80D6-DE98-2E47-EC8D9BE89794}"/>
              </a:ext>
            </a:extLst>
          </p:cNvPr>
          <p:cNvSpPr/>
          <p:nvPr/>
        </p:nvSpPr>
        <p:spPr>
          <a:xfrm>
            <a:off x="194710" y="2402313"/>
            <a:ext cx="19050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Мэдээллийн эх үүсвэр</a:t>
            </a:r>
            <a:endParaRPr lang="en-US" sz="2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endParaRPr>
          </a:p>
        </p:txBody>
      </p:sp>
      <p:sp>
        <p:nvSpPr>
          <p:cNvPr id="4" name="Rounded Rectangle 7">
            <a:extLst>
              <a:ext uri="{FF2B5EF4-FFF2-40B4-BE49-F238E27FC236}">
                <a16:creationId xmlns:a16="http://schemas.microsoft.com/office/drawing/2014/main" id="{6DFC0737-9D65-2DE1-E32C-9451187B8F05}"/>
              </a:ext>
            </a:extLst>
          </p:cNvPr>
          <p:cNvSpPr/>
          <p:nvPr/>
        </p:nvSpPr>
        <p:spPr>
          <a:xfrm>
            <a:off x="880510" y="1335513"/>
            <a:ext cx="1905000" cy="685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mn-M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Хоёрдогч мэдээлэл</a:t>
            </a:r>
            <a:endParaRPr lang="en-US"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ounded Rectangle 8">
            <a:extLst>
              <a:ext uri="{FF2B5EF4-FFF2-40B4-BE49-F238E27FC236}">
                <a16:creationId xmlns:a16="http://schemas.microsoft.com/office/drawing/2014/main" id="{1328D3ED-0739-1F20-AAC2-65781E9A09CE}"/>
              </a:ext>
            </a:extLst>
          </p:cNvPr>
          <p:cNvSpPr/>
          <p:nvPr/>
        </p:nvSpPr>
        <p:spPr>
          <a:xfrm>
            <a:off x="880510" y="3469113"/>
            <a:ext cx="1905000" cy="685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mn-M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Анхдагч мэдээлэл</a:t>
            </a:r>
            <a:endParaRPr lang="en-US"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ounded Rectangle 9">
            <a:extLst>
              <a:ext uri="{FF2B5EF4-FFF2-40B4-BE49-F238E27FC236}">
                <a16:creationId xmlns:a16="http://schemas.microsoft.com/office/drawing/2014/main" id="{CD2E0602-9475-FA50-1618-A86840D88FAA}"/>
              </a:ext>
            </a:extLst>
          </p:cNvPr>
          <p:cNvSpPr/>
          <p:nvPr/>
        </p:nvSpPr>
        <p:spPr>
          <a:xfrm>
            <a:off x="3606457" y="1030713"/>
            <a:ext cx="8389244" cy="685800"/>
          </a:xfrm>
          <a:prstGeom prst="round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just"/>
            <a:r>
              <a:rPr lang="mn-MN" sz="2300" b="1" i="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Дотоод</a:t>
            </a:r>
            <a:r>
              <a:rPr lang="mn-MN"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t>
            </a:r>
            <a:r>
              <a:rPr lang="mn-MN" sz="2300" dirty="0">
                <a:latin typeface="Times New Roman" panose="02020603050405020304" pitchFamily="18" charset="0"/>
                <a:cs typeface="Times New Roman" panose="02020603050405020304" pitchFamily="18" charset="0"/>
              </a:rPr>
              <a:t>байгууллагын архив, тайлан, өгөгдлийн сан, бүртгэл, тэмдэглэл г.м</a:t>
            </a:r>
            <a:r>
              <a:rPr lang="en-US" sz="2300" dirty="0">
                <a:latin typeface="Times New Roman" panose="02020603050405020304" pitchFamily="18" charset="0"/>
                <a:cs typeface="Times New Roman" panose="02020603050405020304" pitchFamily="18" charset="0"/>
              </a:rPr>
              <a:t>)</a:t>
            </a:r>
          </a:p>
        </p:txBody>
      </p:sp>
      <p:sp>
        <p:nvSpPr>
          <p:cNvPr id="7" name="Rounded Rectangle 10">
            <a:extLst>
              <a:ext uri="{FF2B5EF4-FFF2-40B4-BE49-F238E27FC236}">
                <a16:creationId xmlns:a16="http://schemas.microsoft.com/office/drawing/2014/main" id="{195BBE57-581F-6B0C-CE82-C957CC2CDF66}"/>
              </a:ext>
            </a:extLst>
          </p:cNvPr>
          <p:cNvSpPr/>
          <p:nvPr/>
        </p:nvSpPr>
        <p:spPr>
          <a:xfrm>
            <a:off x="3606457" y="1868913"/>
            <a:ext cx="8389244" cy="685800"/>
          </a:xfrm>
          <a:prstGeom prst="round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just"/>
            <a:r>
              <a:rPr lang="mn-MN" sz="2300" b="1" i="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Гадаад</a:t>
            </a:r>
            <a:r>
              <a:rPr lang="mn-MN"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t>
            </a:r>
            <a:r>
              <a:rPr lang="mn-MN" sz="2300" dirty="0">
                <a:latin typeface="Times New Roman" panose="02020603050405020304" pitchFamily="18" charset="0"/>
                <a:cs typeface="Times New Roman" panose="02020603050405020304" pitchFamily="18" charset="0"/>
              </a:rPr>
              <a:t>интернет, сонин сэтгүүл, телевиз, консалтин компани, мэргэжлийн холбоод</a:t>
            </a:r>
            <a:r>
              <a:rPr lang="en-US" sz="2300" dirty="0">
                <a:latin typeface="Times New Roman" panose="02020603050405020304" pitchFamily="18" charset="0"/>
                <a:cs typeface="Times New Roman" panose="02020603050405020304" pitchFamily="18" charset="0"/>
              </a:rPr>
              <a:t>)</a:t>
            </a:r>
          </a:p>
        </p:txBody>
      </p:sp>
      <p:sp>
        <p:nvSpPr>
          <p:cNvPr id="8" name="Rounded Rectangle 11">
            <a:extLst>
              <a:ext uri="{FF2B5EF4-FFF2-40B4-BE49-F238E27FC236}">
                <a16:creationId xmlns:a16="http://schemas.microsoft.com/office/drawing/2014/main" id="{077A9E8E-EC3D-8A57-CB2E-C6ADD01E482C}"/>
              </a:ext>
            </a:extLst>
          </p:cNvPr>
          <p:cNvSpPr/>
          <p:nvPr/>
        </p:nvSpPr>
        <p:spPr>
          <a:xfrm>
            <a:off x="3606457" y="3011913"/>
            <a:ext cx="8389244" cy="685800"/>
          </a:xfrm>
          <a:prstGeom prst="roundRect">
            <a:avLst/>
          </a:prstGeom>
          <a:solidFill>
            <a:schemeClr val="accent6">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just"/>
            <a:r>
              <a:rPr lang="mn-MN" sz="2300" b="1" i="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Асуулга</a:t>
            </a:r>
            <a:r>
              <a:rPr lang="mn-MN"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t>
            </a:r>
            <a:r>
              <a:rPr lang="mn-MN" sz="2300" dirty="0">
                <a:latin typeface="Times New Roman" panose="02020603050405020304" pitchFamily="18" charset="0"/>
                <a:cs typeface="Times New Roman" panose="02020603050405020304" pitchFamily="18" charset="0"/>
              </a:rPr>
              <a:t>урьдчилан бэлтгэсэн асуултуудын дагуу хариулт авах</a:t>
            </a:r>
            <a:r>
              <a:rPr lang="en-US" sz="2300" dirty="0">
                <a:latin typeface="Times New Roman" panose="02020603050405020304" pitchFamily="18" charset="0"/>
                <a:cs typeface="Times New Roman" panose="02020603050405020304" pitchFamily="18" charset="0"/>
              </a:rPr>
              <a:t>)</a:t>
            </a:r>
          </a:p>
        </p:txBody>
      </p:sp>
      <p:sp>
        <p:nvSpPr>
          <p:cNvPr id="9" name="Rounded Rectangle 12">
            <a:extLst>
              <a:ext uri="{FF2B5EF4-FFF2-40B4-BE49-F238E27FC236}">
                <a16:creationId xmlns:a16="http://schemas.microsoft.com/office/drawing/2014/main" id="{923DF652-3365-9C05-539B-05315E712E99}"/>
              </a:ext>
            </a:extLst>
          </p:cNvPr>
          <p:cNvSpPr/>
          <p:nvPr/>
        </p:nvSpPr>
        <p:spPr>
          <a:xfrm>
            <a:off x="3606457" y="3850113"/>
            <a:ext cx="8389244" cy="685800"/>
          </a:xfrm>
          <a:prstGeom prst="roundRect">
            <a:avLst/>
          </a:prstGeom>
          <a:solidFill>
            <a:schemeClr val="accent6">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just"/>
            <a:r>
              <a:rPr lang="mn-MN" sz="2300" b="1" i="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Ярилцлага</a:t>
            </a:r>
            <a:r>
              <a:rPr lang="mn-MN"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t>
            </a:r>
            <a:r>
              <a:rPr lang="mn-MN" sz="2300" dirty="0">
                <a:latin typeface="Times New Roman" panose="02020603050405020304" pitchFamily="18" charset="0"/>
                <a:cs typeface="Times New Roman" panose="02020603050405020304" pitchFamily="18" charset="0"/>
              </a:rPr>
              <a:t>ярилцах замаар хүмүүсийн санал бодлыг олж мэдэх</a:t>
            </a:r>
            <a:r>
              <a:rPr lang="en-US" sz="2300" dirty="0">
                <a:latin typeface="Times New Roman" panose="02020603050405020304" pitchFamily="18" charset="0"/>
                <a:cs typeface="Times New Roman" panose="02020603050405020304" pitchFamily="18" charset="0"/>
              </a:rPr>
              <a:t>)</a:t>
            </a:r>
          </a:p>
        </p:txBody>
      </p:sp>
      <p:sp>
        <p:nvSpPr>
          <p:cNvPr id="10" name="Rounded Rectangle 13">
            <a:extLst>
              <a:ext uri="{FF2B5EF4-FFF2-40B4-BE49-F238E27FC236}">
                <a16:creationId xmlns:a16="http://schemas.microsoft.com/office/drawing/2014/main" id="{CF7B10FD-1C61-9BE0-E932-A1317232E444}"/>
              </a:ext>
            </a:extLst>
          </p:cNvPr>
          <p:cNvSpPr/>
          <p:nvPr/>
        </p:nvSpPr>
        <p:spPr>
          <a:xfrm>
            <a:off x="3606457" y="4688313"/>
            <a:ext cx="8389244" cy="685800"/>
          </a:xfrm>
          <a:prstGeom prst="roundRect">
            <a:avLst/>
          </a:prstGeom>
          <a:solidFill>
            <a:schemeClr val="accent6">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just"/>
            <a:r>
              <a:rPr lang="mn-MN" sz="2300" b="1" i="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Ажиглалт</a:t>
            </a:r>
            <a:r>
              <a:rPr lang="mn-MN"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t>
            </a:r>
            <a:r>
              <a:rPr lang="mn-MN" sz="2300" dirty="0">
                <a:latin typeface="Times New Roman" panose="02020603050405020304" pitchFamily="18" charset="0"/>
                <a:cs typeface="Times New Roman" panose="02020603050405020304" pitchFamily="18" charset="0"/>
              </a:rPr>
              <a:t>хүн хүч, техник хэрэгслийн тусламжтайгаар ажиглах</a:t>
            </a:r>
            <a:r>
              <a:rPr lang="en-US" sz="2300" dirty="0">
                <a:latin typeface="Times New Roman" panose="02020603050405020304" pitchFamily="18" charset="0"/>
                <a:cs typeface="Times New Roman" panose="02020603050405020304" pitchFamily="18" charset="0"/>
              </a:rPr>
              <a:t>)</a:t>
            </a:r>
          </a:p>
        </p:txBody>
      </p:sp>
      <p:sp>
        <p:nvSpPr>
          <p:cNvPr id="18" name="Rounded Rectangle 14">
            <a:extLst>
              <a:ext uri="{FF2B5EF4-FFF2-40B4-BE49-F238E27FC236}">
                <a16:creationId xmlns:a16="http://schemas.microsoft.com/office/drawing/2014/main" id="{1DC5CBF7-787E-8B32-350C-10704CF68318}"/>
              </a:ext>
            </a:extLst>
          </p:cNvPr>
          <p:cNvSpPr/>
          <p:nvPr/>
        </p:nvSpPr>
        <p:spPr>
          <a:xfrm>
            <a:off x="3606457" y="5526513"/>
            <a:ext cx="8389244" cy="685800"/>
          </a:xfrm>
          <a:prstGeom prst="roundRect">
            <a:avLst/>
          </a:prstGeom>
          <a:solidFill>
            <a:schemeClr val="accent6">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just"/>
            <a:r>
              <a:rPr lang="mn-MN" sz="2300" b="1" i="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Туршилт</a:t>
            </a:r>
            <a:r>
              <a:rPr lang="mn-MN"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t>
            </a:r>
            <a:r>
              <a:rPr lang="mn-MN" sz="2300" dirty="0">
                <a:latin typeface="Times New Roman" panose="02020603050405020304" pitchFamily="18" charset="0"/>
                <a:cs typeface="Times New Roman" panose="02020603050405020304" pitchFamily="18" charset="0"/>
              </a:rPr>
              <a:t>хяналттай нөхцөлд нэг буюу хэд хэдэн хүчин зүйлсийг зохицуулан судлах</a:t>
            </a:r>
            <a:r>
              <a:rPr lang="en-US" sz="2300" dirty="0">
                <a:latin typeface="Times New Roman" panose="02020603050405020304" pitchFamily="18" charset="0"/>
                <a:cs typeface="Times New Roman" panose="02020603050405020304" pitchFamily="18" charset="0"/>
              </a:rPr>
              <a:t>)</a:t>
            </a:r>
          </a:p>
        </p:txBody>
      </p:sp>
      <p:cxnSp>
        <p:nvCxnSpPr>
          <p:cNvPr id="19" name="Straight Connector 18">
            <a:extLst>
              <a:ext uri="{FF2B5EF4-FFF2-40B4-BE49-F238E27FC236}">
                <a16:creationId xmlns:a16="http://schemas.microsoft.com/office/drawing/2014/main" id="{C26A07B3-8347-6B33-3715-DE5822AB9389}"/>
              </a:ext>
            </a:extLst>
          </p:cNvPr>
          <p:cNvCxnSpPr/>
          <p:nvPr/>
        </p:nvCxnSpPr>
        <p:spPr>
          <a:xfrm rot="5400000" flipH="1" flipV="1">
            <a:off x="125411" y="2021313"/>
            <a:ext cx="7620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D0C368E-1C9A-160E-4420-5E4393E7F407}"/>
              </a:ext>
            </a:extLst>
          </p:cNvPr>
          <p:cNvCxnSpPr/>
          <p:nvPr/>
        </p:nvCxnSpPr>
        <p:spPr>
          <a:xfrm rot="5400000" flipH="1" flipV="1">
            <a:off x="125411" y="3468319"/>
            <a:ext cx="7620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7310430-D186-E30B-504F-F68EC2548A64}"/>
              </a:ext>
            </a:extLst>
          </p:cNvPr>
          <p:cNvCxnSpPr/>
          <p:nvPr/>
        </p:nvCxnSpPr>
        <p:spPr>
          <a:xfrm>
            <a:off x="501367" y="1662615"/>
            <a:ext cx="36576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5397F49-DE07-92BB-E166-70255AAF1026}"/>
              </a:ext>
            </a:extLst>
          </p:cNvPr>
          <p:cNvCxnSpPr/>
          <p:nvPr/>
        </p:nvCxnSpPr>
        <p:spPr>
          <a:xfrm>
            <a:off x="499510" y="3838962"/>
            <a:ext cx="36576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1C0EA8B-66A7-9605-CCF4-5929E2BC45A5}"/>
              </a:ext>
            </a:extLst>
          </p:cNvPr>
          <p:cNvCxnSpPr>
            <a:cxnSpLocks/>
            <a:stCxn id="4" idx="3"/>
          </p:cNvCxnSpPr>
          <p:nvPr/>
        </p:nvCxnSpPr>
        <p:spPr>
          <a:xfrm flipV="1">
            <a:off x="2785510" y="1373613"/>
            <a:ext cx="700176" cy="30480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4ADF5EF-81E2-A8B8-068B-805804C2F351}"/>
              </a:ext>
            </a:extLst>
          </p:cNvPr>
          <p:cNvCxnSpPr>
            <a:cxnSpLocks/>
            <a:stCxn id="4" idx="3"/>
          </p:cNvCxnSpPr>
          <p:nvPr/>
        </p:nvCxnSpPr>
        <p:spPr>
          <a:xfrm>
            <a:off x="2785510" y="1678413"/>
            <a:ext cx="700176" cy="53340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5EDFC08-2AA7-F66D-BB0D-F898BD64BDFD}"/>
              </a:ext>
            </a:extLst>
          </p:cNvPr>
          <p:cNvCxnSpPr>
            <a:cxnSpLocks/>
          </p:cNvCxnSpPr>
          <p:nvPr/>
        </p:nvCxnSpPr>
        <p:spPr>
          <a:xfrm>
            <a:off x="3104686" y="3372066"/>
            <a:ext cx="3810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DF7DC94-48A7-C11F-CC4C-C760250BE350}"/>
              </a:ext>
            </a:extLst>
          </p:cNvPr>
          <p:cNvCxnSpPr/>
          <p:nvPr/>
        </p:nvCxnSpPr>
        <p:spPr>
          <a:xfrm flipV="1">
            <a:off x="3104686" y="4154913"/>
            <a:ext cx="3810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8B16F83-EC0B-A1F6-E88C-16461262D63B}"/>
              </a:ext>
            </a:extLst>
          </p:cNvPr>
          <p:cNvCxnSpPr/>
          <p:nvPr/>
        </p:nvCxnSpPr>
        <p:spPr>
          <a:xfrm flipV="1">
            <a:off x="3104686" y="4993113"/>
            <a:ext cx="3810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A81D475-6492-5807-CAC2-2F3F56A2996D}"/>
              </a:ext>
            </a:extLst>
          </p:cNvPr>
          <p:cNvCxnSpPr/>
          <p:nvPr/>
        </p:nvCxnSpPr>
        <p:spPr>
          <a:xfrm flipV="1">
            <a:off x="3104686" y="5831313"/>
            <a:ext cx="3810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8A90FF-D4F5-E4FC-153C-CFD44DCFE821}"/>
              </a:ext>
            </a:extLst>
          </p:cNvPr>
          <p:cNvCxnSpPr/>
          <p:nvPr/>
        </p:nvCxnSpPr>
        <p:spPr>
          <a:xfrm rot="5400000">
            <a:off x="1881397" y="4606908"/>
            <a:ext cx="246888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71CB2E4-5B09-379F-F1FB-8DE3424CC3AE}"/>
              </a:ext>
            </a:extLst>
          </p:cNvPr>
          <p:cNvCxnSpPr>
            <a:cxnSpLocks/>
            <a:stCxn id="5" idx="3"/>
          </p:cNvCxnSpPr>
          <p:nvPr/>
        </p:nvCxnSpPr>
        <p:spPr>
          <a:xfrm>
            <a:off x="2785510" y="3812013"/>
            <a:ext cx="319176"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03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par>
                                <p:cTn id="13" presetID="22" presetClass="entr" presetSubtype="4"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left)">
                                      <p:cBhvr>
                                        <p:cTn id="19" dur="500"/>
                                        <p:tgtEl>
                                          <p:spTgt spid="22"/>
                                        </p:tgtEl>
                                      </p:cBhvr>
                                    </p:animEffect>
                                  </p:childTnLst>
                                </p:cTn>
                              </p:par>
                              <p:par>
                                <p:cTn id="20" presetID="22" presetClass="entr" presetSubtype="8"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par>
                          <p:cTn id="23" fill="hold">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500"/>
                                        <p:tgtEl>
                                          <p:spTgt spid="23"/>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left)">
                                      <p:cBhvr>
                                        <p:cTn id="53" dur="500"/>
                                        <p:tgtEl>
                                          <p:spTgt spid="30"/>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left)">
                                      <p:cBhvr>
                                        <p:cTn id="57" dur="500"/>
                                        <p:tgtEl>
                                          <p:spTgt spid="29"/>
                                        </p:tgtEl>
                                      </p:cBhvr>
                                    </p:animEffect>
                                  </p:childTnLst>
                                </p:cTn>
                              </p:par>
                              <p:par>
                                <p:cTn id="58" presetID="22" presetClass="entr" presetSubtype="8"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wipe(left)">
                                      <p:cBhvr>
                                        <p:cTn id="60" dur="500"/>
                                        <p:tgtEl>
                                          <p:spTgt spid="25"/>
                                        </p:tgtEl>
                                      </p:cBhvr>
                                    </p:animEffect>
                                  </p:childTnLst>
                                </p:cTn>
                              </p:par>
                              <p:par>
                                <p:cTn id="61" presetID="22" presetClass="entr" presetSubtype="8"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wipe(left)">
                                      <p:cBhvr>
                                        <p:cTn id="63" dur="500"/>
                                        <p:tgtEl>
                                          <p:spTgt spid="26"/>
                                        </p:tgtEl>
                                      </p:cBhvr>
                                    </p:animEffect>
                                  </p:childTnLst>
                                </p:cTn>
                              </p:par>
                              <p:par>
                                <p:cTn id="64" presetID="22" presetClass="entr" presetSubtype="8" fill="hold"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wipe(left)">
                                      <p:cBhvr>
                                        <p:cTn id="66" dur="500"/>
                                        <p:tgtEl>
                                          <p:spTgt spid="27"/>
                                        </p:tgtEl>
                                      </p:cBhvr>
                                    </p:animEffect>
                                  </p:childTnLst>
                                </p:cTn>
                              </p:par>
                              <p:par>
                                <p:cTn id="67" presetID="22" presetClass="entr" presetSubtype="8"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wipe(left)">
                                      <p:cBhvr>
                                        <p:cTn id="69" dur="500"/>
                                        <p:tgtEl>
                                          <p:spTgt spid="28"/>
                                        </p:tgtEl>
                                      </p:cBhvr>
                                    </p:animEffect>
                                  </p:childTnLst>
                                </p:cTn>
                              </p:par>
                            </p:childTnLst>
                          </p:cTn>
                        </p:par>
                        <p:par>
                          <p:cTn id="70" fill="hold">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left)">
                                      <p:cBhvr>
                                        <p:cTn id="73" dur="500"/>
                                        <p:tgtEl>
                                          <p:spTgt spid="8"/>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wipe(left)">
                                      <p:cBhvr>
                                        <p:cTn id="76" dur="500"/>
                                        <p:tgtEl>
                                          <p:spTgt spid="9"/>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wipe(left)">
                                      <p:cBhvr>
                                        <p:cTn id="8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9F1D-7457-5A8F-C7EF-BE99CCDB26FB}"/>
              </a:ext>
            </a:extLst>
          </p:cNvPr>
          <p:cNvSpPr>
            <a:spLocks noGrp="1"/>
          </p:cNvSpPr>
          <p:nvPr>
            <p:ph type="title"/>
          </p:nvPr>
        </p:nvSpPr>
        <p:spPr>
          <a:xfrm>
            <a:off x="206295" y="104415"/>
            <a:ext cx="11985705" cy="572628"/>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Маркетингийн судалгаа</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AC6871-F67F-FBD8-D1E0-AF58DF8D43E2}"/>
              </a:ext>
            </a:extLst>
          </p:cNvPr>
          <p:cNvSpPr>
            <a:spLocks noGrp="1"/>
          </p:cNvSpPr>
          <p:nvPr>
            <p:ph idx="1"/>
          </p:nvPr>
        </p:nvSpPr>
        <p:spPr>
          <a:xfrm>
            <a:off x="206295" y="713236"/>
            <a:ext cx="11985705" cy="4641461"/>
          </a:xfrm>
        </p:spPr>
        <p:txBody>
          <a:bodyPr>
            <a:normAutofit/>
          </a:bodyPr>
          <a:lstStyle/>
          <a:p>
            <a:pPr algn="just"/>
            <a:r>
              <a:rPr lang="mn-MN" sz="3400" dirty="0">
                <a:solidFill>
                  <a:srgbClr val="002060"/>
                </a:solidFill>
                <a:latin typeface="Times New Roman" panose="02020603050405020304" pitchFamily="18" charset="0"/>
                <a:cs typeface="Times New Roman" panose="02020603050405020304" pitchFamily="18" charset="0"/>
              </a:rPr>
              <a:t>Маркетингийн судалгаа бол байгууллагыг үйлчлүүлэгч болон худалдан авагчидтай мэдээллээр холбох </a:t>
            </a:r>
            <a:r>
              <a:rPr lang="mn-MN" sz="3400" b="1" dirty="0">
                <a:solidFill>
                  <a:srgbClr val="002060"/>
                </a:solidFill>
                <a:latin typeface="Times New Roman" panose="02020603050405020304" pitchFamily="18" charset="0"/>
                <a:cs typeface="Times New Roman" panose="02020603050405020304" pitchFamily="18" charset="0"/>
              </a:rPr>
              <a:t>гол функц </a:t>
            </a:r>
            <a:r>
              <a:rPr lang="mn-MN" sz="3400" dirty="0">
                <a:solidFill>
                  <a:srgbClr val="002060"/>
                </a:solidFill>
                <a:latin typeface="Times New Roman" panose="02020603050405020304" pitchFamily="18" charset="0"/>
                <a:cs typeface="Times New Roman" panose="02020603050405020304" pitchFamily="18" charset="0"/>
              </a:rPr>
              <a:t>нь юм.</a:t>
            </a:r>
          </a:p>
          <a:p>
            <a:pPr algn="just"/>
            <a:r>
              <a:rPr lang="mn-MN" sz="3400" b="1" dirty="0">
                <a:solidFill>
                  <a:srgbClr val="002060"/>
                </a:solidFill>
                <a:latin typeface="Times New Roman" panose="02020603050405020304" pitchFamily="18" charset="0"/>
                <a:cs typeface="Times New Roman" panose="02020603050405020304" pitchFamily="18" charset="0"/>
              </a:rPr>
              <a:t>Маркетингийн судалгааны үүрэг </a:t>
            </a:r>
            <a:r>
              <a:rPr lang="mn-MN" sz="3400" dirty="0">
                <a:solidFill>
                  <a:srgbClr val="002060"/>
                </a:solidFill>
                <a:latin typeface="Times New Roman" panose="02020603050405020304" pitchFamily="18" charset="0"/>
                <a:cs typeface="Times New Roman" panose="02020603050405020304" pitchFamily="18" charset="0"/>
              </a:rPr>
              <a:t>– шийдвэр гаргалтанд мэдээллээр хангах.</a:t>
            </a:r>
          </a:p>
        </p:txBody>
      </p:sp>
      <p:sp>
        <p:nvSpPr>
          <p:cNvPr id="6" name="Content Placeholder 2">
            <a:extLst>
              <a:ext uri="{FF2B5EF4-FFF2-40B4-BE49-F238E27FC236}">
                <a16:creationId xmlns:a16="http://schemas.microsoft.com/office/drawing/2014/main" id="{863BC0FB-2E59-C086-BDBB-C2EBB24DBC11}"/>
              </a:ext>
            </a:extLst>
          </p:cNvPr>
          <p:cNvSpPr txBox="1">
            <a:spLocks/>
          </p:cNvSpPr>
          <p:nvPr/>
        </p:nvSpPr>
        <p:spPr>
          <a:xfrm>
            <a:off x="589180" y="2771973"/>
            <a:ext cx="7519650" cy="337279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mn-MN" sz="3600" dirty="0">
                <a:solidFill>
                  <a:srgbClr val="002060"/>
                </a:solidFill>
                <a:latin typeface="Times New Roman" panose="02020603050405020304" pitchFamily="18" charset="0"/>
                <a:cs typeface="Times New Roman" panose="02020603050405020304" pitchFamily="18" charset="0"/>
              </a:rPr>
              <a:t>Мэдээлэл нь юунд хэрэглэгддэг вэ?</a:t>
            </a:r>
          </a:p>
          <a:p>
            <a:pPr lvl="1">
              <a:buFont typeface="Wingdings" panose="05000000000000000000" pitchFamily="2" charset="2"/>
              <a:buChar char="ü"/>
            </a:pPr>
            <a:r>
              <a:rPr lang="mn-MN" sz="3200" dirty="0">
                <a:solidFill>
                  <a:srgbClr val="002060"/>
                </a:solidFill>
                <a:latin typeface="Times New Roman" panose="02020603050405020304" pitchFamily="18" charset="0"/>
                <a:cs typeface="Times New Roman" panose="02020603050405020304" pitchFamily="18" charset="0"/>
              </a:rPr>
              <a:t>Маркетингийн ямар нэг асуудлыг тодорхойлох;</a:t>
            </a:r>
          </a:p>
          <a:p>
            <a:pPr lvl="1">
              <a:buFont typeface="Wingdings" panose="05000000000000000000" pitchFamily="2" charset="2"/>
              <a:buChar char="ü"/>
            </a:pPr>
            <a:r>
              <a:rPr lang="mn-MN" sz="3200" dirty="0">
                <a:solidFill>
                  <a:srgbClr val="002060"/>
                </a:solidFill>
                <a:latin typeface="Times New Roman" panose="02020603050405020304" pitchFamily="18" charset="0"/>
                <a:cs typeface="Times New Roman" panose="02020603050405020304" pitchFamily="18" charset="0"/>
              </a:rPr>
              <a:t>Маркетингийн үйл ажиллагааг явуулах, сайжруулах, болон үнэлэх</a:t>
            </a:r>
          </a:p>
          <a:p>
            <a:pPr lvl="1">
              <a:buFont typeface="Wingdings" panose="05000000000000000000" pitchFamily="2" charset="2"/>
              <a:buChar char="ü"/>
            </a:pPr>
            <a:r>
              <a:rPr lang="mn-MN" sz="3200" dirty="0">
                <a:solidFill>
                  <a:srgbClr val="002060"/>
                </a:solidFill>
                <a:latin typeface="Times New Roman" panose="02020603050405020304" pitchFamily="18" charset="0"/>
                <a:cs typeface="Times New Roman" panose="02020603050405020304" pitchFamily="18" charset="0"/>
              </a:rPr>
              <a:t>Маркетингийн хэрэгжилтэнд хяналт тавих.</a:t>
            </a:r>
          </a:p>
          <a:p>
            <a:endParaRPr lang="mn-MN" sz="3600" dirty="0">
              <a:solidFill>
                <a:srgbClr val="002060"/>
              </a:solidFill>
              <a:latin typeface="Times New Roman" panose="02020603050405020304" pitchFamily="18" charset="0"/>
              <a:cs typeface="Times New Roman" panose="02020603050405020304" pitchFamily="18" charset="0"/>
            </a:endParaRPr>
          </a:p>
        </p:txBody>
      </p:sp>
      <p:pic>
        <p:nvPicPr>
          <p:cNvPr id="7" name="Picture 6" descr="Market Research Graphic 1.jpg">
            <a:extLst>
              <a:ext uri="{FF2B5EF4-FFF2-40B4-BE49-F238E27FC236}">
                <a16:creationId xmlns:a16="http://schemas.microsoft.com/office/drawing/2014/main" id="{DDFD614E-FFAE-CA58-9DCC-69E32EC4E341}"/>
              </a:ext>
            </a:extLst>
          </p:cNvPr>
          <p:cNvPicPr>
            <a:picLocks noChangeAspect="1"/>
          </p:cNvPicPr>
          <p:nvPr/>
        </p:nvPicPr>
        <p:blipFill>
          <a:blip r:embed="rId3" cstate="print"/>
          <a:stretch>
            <a:fillRect/>
          </a:stretch>
        </p:blipFill>
        <p:spPr>
          <a:xfrm>
            <a:off x="7936303" y="2237009"/>
            <a:ext cx="4109496" cy="3646751"/>
          </a:xfrm>
          <a:prstGeom prst="rect">
            <a:avLst/>
          </a:prstGeom>
        </p:spPr>
      </p:pic>
    </p:spTree>
    <p:extLst>
      <p:ext uri="{BB962C8B-B14F-4D97-AF65-F5344CB8AC3E}">
        <p14:creationId xmlns:p14="http://schemas.microsoft.com/office/powerpoint/2010/main" val="1828141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3E0D4FF-5232-229D-129F-5A57A5A75EEF}"/>
              </a:ext>
            </a:extLst>
          </p:cNvPr>
          <p:cNvSpPr>
            <a:spLocks noGrp="1"/>
          </p:cNvSpPr>
          <p:nvPr>
            <p:ph sz="half" idx="2"/>
          </p:nvPr>
        </p:nvSpPr>
        <p:spPr>
          <a:xfrm>
            <a:off x="204877" y="729792"/>
            <a:ext cx="6348412" cy="5541837"/>
          </a:xfrm>
        </p:spPr>
        <p:txBody>
          <a:bodyPr>
            <a:no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Маркетингийн судалгаа (</a:t>
            </a:r>
            <a:r>
              <a:rPr lang="en-US" sz="3200" dirty="0">
                <a:solidFill>
                  <a:srgbClr val="002060"/>
                </a:solidFill>
                <a:latin typeface="Times New Roman" panose="02020603050405020304" pitchFamily="18" charset="0"/>
                <a:cs typeface="Times New Roman" panose="02020603050405020304" pitchFamily="18" charset="0"/>
              </a:rPr>
              <a:t>marketing research) </a:t>
            </a:r>
            <a:r>
              <a:rPr lang="mn-MN" sz="3200" dirty="0">
                <a:solidFill>
                  <a:srgbClr val="002060"/>
                </a:solidFill>
                <a:latin typeface="Times New Roman" panose="02020603050405020304" pitchFamily="18" charset="0"/>
                <a:cs typeface="Times New Roman" panose="02020603050405020304" pitchFamily="18" charset="0"/>
              </a:rPr>
              <a:t>нь маркетингийн тодорхой асуудлыг шийдвэрлэх зорилгоор мэдээлэл цуглуулж, шинжлэх, тухайн асуудлын талаар үнэн зөв дүгнэлт гаргаж авах үйл ажиллагаа юм. </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Маркетингийн судалгааны дүгнэлт нь маркетингийн стратегийг тодорхойлох үндэс болдог.</a:t>
            </a:r>
          </a:p>
        </p:txBody>
      </p:sp>
      <p:sp>
        <p:nvSpPr>
          <p:cNvPr id="11" name="Text Placeholder 10">
            <a:extLst>
              <a:ext uri="{FF2B5EF4-FFF2-40B4-BE49-F238E27FC236}">
                <a16:creationId xmlns:a16="http://schemas.microsoft.com/office/drawing/2014/main" id="{F68F5147-1FC4-D465-3A7E-1C458B7CE0D3}"/>
              </a:ext>
            </a:extLst>
          </p:cNvPr>
          <p:cNvSpPr>
            <a:spLocks noGrp="1"/>
          </p:cNvSpPr>
          <p:nvPr>
            <p:ph type="body" sz="quarter" idx="3"/>
          </p:nvPr>
        </p:nvSpPr>
        <p:spPr>
          <a:xfrm>
            <a:off x="6328091" y="211030"/>
            <a:ext cx="5433832" cy="894102"/>
          </a:xfrm>
        </p:spPr>
        <p:txBody>
          <a:bodyPr>
            <a:noAutofit/>
          </a:bodyPr>
          <a:lstStyle/>
          <a:p>
            <a:pPr algn="ctr"/>
            <a:r>
              <a:rPr lang="mn-MN" sz="3800" dirty="0">
                <a:solidFill>
                  <a:srgbClr val="002060"/>
                </a:solidFill>
                <a:latin typeface="Times New Roman" panose="02020603050405020304" pitchFamily="18" charset="0"/>
                <a:cs typeface="Times New Roman" panose="02020603050405020304" pitchFamily="18" charset="0"/>
              </a:rPr>
              <a:t>Маркетингийн судалгааны чиглэл</a:t>
            </a:r>
            <a:endParaRPr lang="en-US" sz="3800" dirty="0">
              <a:solidFill>
                <a:srgbClr val="002060"/>
              </a:solidFill>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7637DE49-5941-46A7-9603-2F48C5532F61}"/>
              </a:ext>
            </a:extLst>
          </p:cNvPr>
          <p:cNvSpPr>
            <a:spLocks noGrp="1"/>
          </p:cNvSpPr>
          <p:nvPr>
            <p:ph sz="quarter" idx="4"/>
          </p:nvPr>
        </p:nvSpPr>
        <p:spPr>
          <a:xfrm>
            <a:off x="6935638" y="1105132"/>
            <a:ext cx="5051484" cy="5541838"/>
          </a:xfrm>
        </p:spPr>
        <p:txBody>
          <a:bodyPr>
            <a:normAutofit lnSpcReduction="10000"/>
          </a:bodyPr>
          <a:lstStyle/>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Зах зээлийн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Хэрэглэгчдийн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Өрсөлдөгчийн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Зуучлагчдын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Бүтээгдэхүүний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Үнийн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Барааны хөдөлгөөн, хуваарилалтын сувгийн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Идэвхижүүлэлтийн судалгаа</a:t>
            </a:r>
          </a:p>
          <a:p>
            <a:pPr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Байгууллагын дотоод орчны судалгаа</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5" name="Title 1">
            <a:extLst>
              <a:ext uri="{FF2B5EF4-FFF2-40B4-BE49-F238E27FC236}">
                <a16:creationId xmlns:a16="http://schemas.microsoft.com/office/drawing/2014/main" id="{6809C15C-A0E0-E25F-1459-0A33912FAAC3}"/>
              </a:ext>
            </a:extLst>
          </p:cNvPr>
          <p:cNvSpPr>
            <a:spLocks noGrp="1"/>
          </p:cNvSpPr>
          <p:nvPr>
            <p:ph type="title"/>
          </p:nvPr>
        </p:nvSpPr>
        <p:spPr>
          <a:xfrm>
            <a:off x="204877" y="140839"/>
            <a:ext cx="6123214" cy="588953"/>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Маркетингийн судалгаа</a:t>
            </a:r>
            <a:endParaRPr lang="en-US"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0279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4A5493-E675-8A2A-147C-ADC1B36F7624}"/>
              </a:ext>
            </a:extLst>
          </p:cNvPr>
          <p:cNvSpPr>
            <a:spLocks noGrp="1"/>
          </p:cNvSpPr>
          <p:nvPr>
            <p:ph type="title"/>
          </p:nvPr>
        </p:nvSpPr>
        <p:spPr>
          <a:xfrm>
            <a:off x="207034" y="103518"/>
            <a:ext cx="10950823" cy="586596"/>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Маркетингийн судалгаа</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2691FA58-04EE-4626-30E0-86C611D31260}"/>
              </a:ext>
            </a:extLst>
          </p:cNvPr>
          <p:cNvSpPr>
            <a:spLocks noGrp="1"/>
          </p:cNvSpPr>
          <p:nvPr>
            <p:ph sz="half" idx="1"/>
          </p:nvPr>
        </p:nvSpPr>
        <p:spPr>
          <a:xfrm>
            <a:off x="0" y="836861"/>
            <a:ext cx="5823857" cy="5812970"/>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Зах зээлийн судалгаа дараахи нийтлэг чиглэлийг баримтална:</a:t>
            </a:r>
          </a:p>
          <a:p>
            <a:pPr lvl="1" algn="just"/>
            <a:r>
              <a:rPr lang="mn-MN" dirty="0">
                <a:solidFill>
                  <a:srgbClr val="002060"/>
                </a:solidFill>
                <a:latin typeface="Times New Roman" panose="02020603050405020304" pitchFamily="18" charset="0"/>
                <a:cs typeface="Times New Roman" panose="02020603050405020304" pitchFamily="18" charset="0"/>
              </a:rPr>
              <a:t>3орилгоо тодорхойлох</a:t>
            </a:r>
          </a:p>
          <a:p>
            <a:pPr lvl="1" algn="just"/>
            <a:r>
              <a:rPr lang="mn-MN" dirty="0">
                <a:solidFill>
                  <a:srgbClr val="002060"/>
                </a:solidFill>
                <a:latin typeface="Times New Roman" panose="02020603050405020304" pitchFamily="18" charset="0"/>
                <a:cs typeface="Times New Roman" panose="02020603050405020304" pitchFamily="18" charset="0"/>
              </a:rPr>
              <a:t>Мэдээлэлд шаардлагатай тоо материал нь тодорхой асуудлыг шинээр сэдэх бололцоо олгох</a:t>
            </a:r>
          </a:p>
          <a:p>
            <a:pPr lvl="1" algn="just"/>
            <a:r>
              <a:rPr lang="mn-MN" dirty="0">
                <a:solidFill>
                  <a:srgbClr val="002060"/>
                </a:solidFill>
                <a:latin typeface="Times New Roman" panose="02020603050405020304" pitchFamily="18" charset="0"/>
                <a:cs typeface="Times New Roman" panose="02020603050405020304" pitchFamily="18" charset="0"/>
              </a:rPr>
              <a:t>Тусгай зориулалтаар зах зээлийн туршлага  явуулж, зөвлөмж боловсруулах</a:t>
            </a:r>
          </a:p>
          <a:p>
            <a:pPr lvl="1" algn="just"/>
            <a:r>
              <a:rPr lang="mn-MN" dirty="0">
                <a:solidFill>
                  <a:srgbClr val="002060"/>
                </a:solidFill>
                <a:latin typeface="Times New Roman" panose="02020603050405020304" pitchFamily="18" charset="0"/>
                <a:cs typeface="Times New Roman" panose="02020603050405020304" pitchFamily="18" charset="0"/>
              </a:rPr>
              <a:t>Статистик болон тоо мэдээллийг тайлангийн болон арга зүйн тодорхой хэлбэрт багцлан оруулж судалгаа, туршилт явуулж үнэлж, шинжилгээ хийх</a:t>
            </a:r>
          </a:p>
          <a:p>
            <a:pPr lvl="1" algn="just"/>
            <a:r>
              <a:rPr lang="mn-MN" dirty="0">
                <a:solidFill>
                  <a:srgbClr val="002060"/>
                </a:solidFill>
                <a:latin typeface="Times New Roman" panose="02020603050405020304" pitchFamily="18" charset="0"/>
                <a:cs typeface="Times New Roman" panose="02020603050405020304" pitchFamily="18" charset="0"/>
              </a:rPr>
              <a:t>Тодорхой цаг хугацааны хязгаарлалт хийж өртгийн үнэлгээ тогтоох арга зүйг сонгох.</a:t>
            </a:r>
          </a:p>
          <a:p>
            <a:pPr algn="just"/>
            <a:endParaRPr lang="en-US" dirty="0">
              <a:solidFill>
                <a:srgbClr val="00206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BA3EF63D-A14A-9A49-2B13-F68CD1BABDBB}"/>
              </a:ext>
            </a:extLst>
          </p:cNvPr>
          <p:cNvSpPr>
            <a:spLocks noGrp="1"/>
          </p:cNvSpPr>
          <p:nvPr>
            <p:ph sz="half" idx="2"/>
          </p:nvPr>
        </p:nvSpPr>
        <p:spPr>
          <a:xfrm>
            <a:off x="5951816" y="198510"/>
            <a:ext cx="6033150" cy="1276804"/>
          </a:xfrm>
        </p:spPr>
        <p:txBody>
          <a:bodyPr>
            <a:normAutofit lnSpcReduction="10000"/>
          </a:bodyPr>
          <a:lstStyle/>
          <a:p>
            <a:pPr algn="just"/>
            <a:r>
              <a:rPr lang="en-US" dirty="0" err="1">
                <a:solidFill>
                  <a:srgbClr val="002060"/>
                </a:solidFill>
                <a:latin typeface="Times New Roman" panose="02020603050405020304" pitchFamily="18" charset="0"/>
                <a:cs typeface="Times New Roman" panose="02020603050405020304" pitchFamily="18" charset="0"/>
              </a:rPr>
              <a:t>Маркетингийн</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судалгаа</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явуулах</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ажиллагаа</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нь</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дараах</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үе</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шатыг</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дамждаг</a:t>
            </a:r>
            <a:r>
              <a:rPr lang="en-US" dirty="0">
                <a:solidFill>
                  <a:srgbClr val="002060"/>
                </a:solidFill>
                <a:latin typeface="Times New Roman" panose="02020603050405020304" pitchFamily="18" charset="0"/>
                <a:cs typeface="Times New Roman" panose="02020603050405020304" pitchFamily="18" charset="0"/>
              </a:rPr>
              <a:t>.</a:t>
            </a:r>
          </a:p>
          <a:p>
            <a:pPr algn="just"/>
            <a:endParaRPr lang="en-US" dirty="0">
              <a:solidFill>
                <a:srgbClr val="002060"/>
              </a:solidFill>
              <a:latin typeface="Times New Roman" panose="02020603050405020304" pitchFamily="18" charset="0"/>
              <a:cs typeface="Times New Roman" panose="02020603050405020304" pitchFamily="18" charset="0"/>
            </a:endParaRPr>
          </a:p>
        </p:txBody>
      </p:sp>
      <p:sp>
        <p:nvSpPr>
          <p:cNvPr id="10" name="Rounded Rectangle 7">
            <a:extLst>
              <a:ext uri="{FF2B5EF4-FFF2-40B4-BE49-F238E27FC236}">
                <a16:creationId xmlns:a16="http://schemas.microsoft.com/office/drawing/2014/main" id="{04801F6E-2FC1-8F45-0865-CC34E56D5339}"/>
              </a:ext>
            </a:extLst>
          </p:cNvPr>
          <p:cNvSpPr/>
          <p:nvPr/>
        </p:nvSpPr>
        <p:spPr>
          <a:xfrm>
            <a:off x="5823857" y="1504795"/>
            <a:ext cx="3794242" cy="106680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Судалгаа шинжилгээ хийж, үнэлэх дүгнэх арга зүй эзэмших.</a:t>
            </a:r>
          </a:p>
        </p:txBody>
      </p:sp>
      <p:sp>
        <p:nvSpPr>
          <p:cNvPr id="12" name="Rounded Rectangle 6">
            <a:extLst>
              <a:ext uri="{FF2B5EF4-FFF2-40B4-BE49-F238E27FC236}">
                <a16:creationId xmlns:a16="http://schemas.microsoft.com/office/drawing/2014/main" id="{E6A704AF-185F-42E4-47B6-958FA4CD35C7}"/>
              </a:ext>
            </a:extLst>
          </p:cNvPr>
          <p:cNvSpPr/>
          <p:nvPr/>
        </p:nvSpPr>
        <p:spPr>
          <a:xfrm>
            <a:off x="6253225" y="2682041"/>
            <a:ext cx="3911881" cy="68580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Үнэлэх хэмжүүрээ тодорхойлох</a:t>
            </a:r>
          </a:p>
        </p:txBody>
      </p:sp>
      <p:sp>
        <p:nvSpPr>
          <p:cNvPr id="13" name="Rounded Rectangle 5">
            <a:extLst>
              <a:ext uri="{FF2B5EF4-FFF2-40B4-BE49-F238E27FC236}">
                <a16:creationId xmlns:a16="http://schemas.microsoft.com/office/drawing/2014/main" id="{E1F38DD8-1877-0EC8-A2EF-FBF526AF9447}"/>
              </a:ext>
            </a:extLst>
          </p:cNvPr>
          <p:cNvSpPr/>
          <p:nvPr/>
        </p:nvSpPr>
        <p:spPr>
          <a:xfrm>
            <a:off x="6868937" y="3478287"/>
            <a:ext cx="3911881" cy="68580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Туршин судлах төлөвлөгөө хийх</a:t>
            </a:r>
          </a:p>
        </p:txBody>
      </p:sp>
      <p:sp>
        <p:nvSpPr>
          <p:cNvPr id="14" name="Rounded Rectangle 4">
            <a:extLst>
              <a:ext uri="{FF2B5EF4-FFF2-40B4-BE49-F238E27FC236}">
                <a16:creationId xmlns:a16="http://schemas.microsoft.com/office/drawing/2014/main" id="{78A34B11-53FE-EA20-92AA-E7343129ADB9}"/>
              </a:ext>
            </a:extLst>
          </p:cNvPr>
          <p:cNvSpPr/>
          <p:nvPr/>
        </p:nvSpPr>
        <p:spPr>
          <a:xfrm>
            <a:off x="7518690" y="4274533"/>
            <a:ext cx="3911881" cy="6858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Шийдвэрлэх асуудлаа илэрхийлэх</a:t>
            </a:r>
          </a:p>
        </p:txBody>
      </p:sp>
      <p:sp>
        <p:nvSpPr>
          <p:cNvPr id="15" name="Rounded Rectangle 3">
            <a:extLst>
              <a:ext uri="{FF2B5EF4-FFF2-40B4-BE49-F238E27FC236}">
                <a16:creationId xmlns:a16="http://schemas.microsoft.com/office/drawing/2014/main" id="{96AE4AB0-E737-2841-F790-660173002B2B}"/>
              </a:ext>
            </a:extLst>
          </p:cNvPr>
          <p:cNvSpPr/>
          <p:nvPr/>
        </p:nvSpPr>
        <p:spPr>
          <a:xfrm>
            <a:off x="8188161" y="5070779"/>
            <a:ext cx="3911881" cy="68580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Зорилгоо дэвшүүлэх</a:t>
            </a:r>
          </a:p>
        </p:txBody>
      </p:sp>
      <p:pic>
        <p:nvPicPr>
          <p:cNvPr id="16" name="Picture 15" descr="MCPE01560_0000[1]">
            <a:extLst>
              <a:ext uri="{FF2B5EF4-FFF2-40B4-BE49-F238E27FC236}">
                <a16:creationId xmlns:a16="http://schemas.microsoft.com/office/drawing/2014/main" id="{E29216EB-9E6C-8139-E18A-05C8F5859520}"/>
              </a:ext>
            </a:extLst>
          </p:cNvPr>
          <p:cNvPicPr>
            <a:picLocks noChangeAspect="1" noChangeArrowheads="1"/>
          </p:cNvPicPr>
          <p:nvPr/>
        </p:nvPicPr>
        <p:blipFill>
          <a:blip r:embed="rId3"/>
          <a:srcRect/>
          <a:stretch>
            <a:fillRect/>
          </a:stretch>
        </p:blipFill>
        <p:spPr bwMode="auto">
          <a:xfrm flipH="1">
            <a:off x="9618099" y="1150804"/>
            <a:ext cx="2495895" cy="1855747"/>
          </a:xfrm>
          <a:prstGeom prst="rect">
            <a:avLst/>
          </a:prstGeom>
          <a:noFill/>
        </p:spPr>
      </p:pic>
    </p:spTree>
    <p:extLst>
      <p:ext uri="{BB962C8B-B14F-4D97-AF65-F5344CB8AC3E}">
        <p14:creationId xmlns:p14="http://schemas.microsoft.com/office/powerpoint/2010/main" val="78670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344371-48C9-BA28-898E-848662AE98DA}"/>
              </a:ext>
            </a:extLst>
          </p:cNvPr>
          <p:cNvSpPr>
            <a:spLocks noGrp="1"/>
          </p:cNvSpPr>
          <p:nvPr>
            <p:ph type="title"/>
          </p:nvPr>
        </p:nvSpPr>
        <p:spPr>
          <a:xfrm>
            <a:off x="221411" y="140839"/>
            <a:ext cx="11749178" cy="532021"/>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Маркетингийн судалгааны аргууд</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D821453A-E9FA-4DBB-0117-AFE05A0ED002}"/>
              </a:ext>
            </a:extLst>
          </p:cNvPr>
          <p:cNvSpPr>
            <a:spLocks noGrp="1"/>
          </p:cNvSpPr>
          <p:nvPr>
            <p:ph idx="1"/>
          </p:nvPr>
        </p:nvSpPr>
        <p:spPr>
          <a:xfrm>
            <a:off x="221411" y="672860"/>
            <a:ext cx="11749178" cy="6044301"/>
          </a:xfrm>
        </p:spPr>
        <p:txBody>
          <a:bodyPr>
            <a:normAutofit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Тоон судалгаа (</a:t>
            </a:r>
            <a:r>
              <a:rPr lang="en-US" sz="3200" b="1" dirty="0">
                <a:solidFill>
                  <a:srgbClr val="002060"/>
                </a:solidFill>
                <a:latin typeface="Times New Roman" panose="02020603050405020304" pitchFamily="18" charset="0"/>
                <a:cs typeface="Times New Roman" panose="02020603050405020304" pitchFamily="18" charset="0"/>
              </a:rPr>
              <a:t>quantitative research)</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ны үед судалгааны үр дүнг тоогоор илэрхийлэх, статистик боловсруулалт (дундаж хувийг тооцох, регресс, корреляцийн шинжилгээ г.м) хийх боломжтой байдаг.</a:t>
            </a:r>
          </a:p>
          <a:p>
            <a:pPr algn="just"/>
            <a:r>
              <a:rPr lang="mn-MN" sz="3200" b="1" dirty="0">
                <a:solidFill>
                  <a:srgbClr val="002060"/>
                </a:solidFill>
                <a:latin typeface="Times New Roman" panose="02020603050405020304" pitchFamily="18" charset="0"/>
                <a:cs typeface="Times New Roman" panose="02020603050405020304" pitchFamily="18" charset="0"/>
              </a:rPr>
              <a:t>Чанарын судалгаа (</a:t>
            </a:r>
            <a:r>
              <a:rPr lang="en-US" sz="3200" b="1" dirty="0">
                <a:solidFill>
                  <a:srgbClr val="002060"/>
                </a:solidFill>
                <a:latin typeface="Times New Roman" panose="02020603050405020304" pitchFamily="18" charset="0"/>
                <a:cs typeface="Times New Roman" panose="02020603050405020304" pitchFamily="18" charset="0"/>
              </a:rPr>
              <a:t>qualitative research)</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нь оролцогчдын хувийн бодлыг олж мэдэх зорилготой бөгөөд үр дүн нь гол төлөв тоогоор илэрхийлэгдэх боломжгүй байдаг.</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Маркетингийн судалгаанд тухайн зах зээлийг төлөөлүүлэн оролцуулах хүмүүсийг </a:t>
            </a:r>
            <a:r>
              <a:rPr lang="mn-MN" sz="3200" b="1" dirty="0">
                <a:solidFill>
                  <a:srgbClr val="002060"/>
                </a:solidFill>
                <a:latin typeface="Times New Roman" panose="02020603050405020304" pitchFamily="18" charset="0"/>
                <a:cs typeface="Times New Roman" panose="02020603050405020304" pitchFamily="18" charset="0"/>
              </a:rPr>
              <a:t>түүвэр (</a:t>
            </a:r>
            <a:r>
              <a:rPr lang="en-US" sz="3200" b="1" dirty="0">
                <a:solidFill>
                  <a:srgbClr val="002060"/>
                </a:solidFill>
                <a:latin typeface="Times New Roman" panose="02020603050405020304" pitchFamily="18" charset="0"/>
                <a:cs typeface="Times New Roman" panose="02020603050405020304" pitchFamily="18" charset="0"/>
              </a:rPr>
              <a:t>sample) </a:t>
            </a:r>
            <a:r>
              <a:rPr lang="mn-MN" sz="3200" dirty="0">
                <a:solidFill>
                  <a:srgbClr val="002060"/>
                </a:solidFill>
                <a:latin typeface="Times New Roman" panose="02020603050405020304" pitchFamily="18" charset="0"/>
                <a:cs typeface="Times New Roman" panose="02020603050405020304" pitchFamily="18" charset="0"/>
              </a:rPr>
              <a:t>гэнэ.</a:t>
            </a:r>
          </a:p>
          <a:p>
            <a:pPr algn="just"/>
            <a:r>
              <a:rPr lang="mn-MN" sz="3200" dirty="0">
                <a:solidFill>
                  <a:srgbClr val="002060"/>
                </a:solidFill>
                <a:latin typeface="Times New Roman" panose="02020603050405020304" pitchFamily="18" charset="0"/>
                <a:cs typeface="Times New Roman" panose="02020603050405020304" pitchFamily="18" charset="0"/>
              </a:rPr>
              <a:t>Түүврийг тодорхойлохдоо:</a:t>
            </a:r>
          </a:p>
          <a:p>
            <a:pPr lvl="1" algn="just"/>
            <a:r>
              <a:rPr lang="mn-MN" sz="2800" dirty="0">
                <a:solidFill>
                  <a:srgbClr val="002060"/>
                </a:solidFill>
                <a:latin typeface="Times New Roman" panose="02020603050405020304" pitchFamily="18" charset="0"/>
                <a:cs typeface="Times New Roman" panose="02020603050405020304" pitchFamily="18" charset="0"/>
              </a:rPr>
              <a:t>Судалгаанд хэнийг оролцуулах вэ?</a:t>
            </a:r>
          </a:p>
          <a:p>
            <a:pPr lvl="1" algn="just"/>
            <a:r>
              <a:rPr lang="mn-MN" sz="2800" dirty="0">
                <a:solidFill>
                  <a:srgbClr val="002060"/>
                </a:solidFill>
                <a:latin typeface="Times New Roman" panose="02020603050405020304" pitchFamily="18" charset="0"/>
                <a:cs typeface="Times New Roman" panose="02020603050405020304" pitchFamily="18" charset="0"/>
              </a:rPr>
              <a:t>Судалгаанд хэдэн хүн оролцуулах вэ?</a:t>
            </a:r>
          </a:p>
          <a:p>
            <a:pPr lvl="1" algn="just"/>
            <a:r>
              <a:rPr lang="mn-MN" sz="2800" dirty="0">
                <a:solidFill>
                  <a:srgbClr val="002060"/>
                </a:solidFill>
                <a:latin typeface="Times New Roman" panose="02020603050405020304" pitchFamily="18" charset="0"/>
                <a:cs typeface="Times New Roman" panose="02020603050405020304" pitchFamily="18" charset="0"/>
              </a:rPr>
              <a:t>Судалгаанд оролцогчдыг хэрхэн сонгох вэ?</a:t>
            </a:r>
            <a:endParaRPr lang="en-US" sz="2800" dirty="0">
              <a:solidFill>
                <a:srgbClr val="002060"/>
              </a:solidFill>
              <a:latin typeface="Times New Roman" panose="02020603050405020304" pitchFamily="18" charset="0"/>
              <a:cs typeface="Times New Roman" panose="02020603050405020304" pitchFamily="18" charset="0"/>
            </a:endParaRPr>
          </a:p>
        </p:txBody>
      </p:sp>
      <p:pic>
        <p:nvPicPr>
          <p:cNvPr id="8" name="Picture 7" descr="j0159048">
            <a:extLst>
              <a:ext uri="{FF2B5EF4-FFF2-40B4-BE49-F238E27FC236}">
                <a16:creationId xmlns:a16="http://schemas.microsoft.com/office/drawing/2014/main" id="{2E922E8A-B3BB-7B1E-5E28-5C690C2E5285}"/>
              </a:ext>
            </a:extLst>
          </p:cNvPr>
          <p:cNvPicPr>
            <a:picLocks noChangeAspect="1" noChangeArrowheads="1"/>
          </p:cNvPicPr>
          <p:nvPr/>
        </p:nvPicPr>
        <p:blipFill>
          <a:blip r:embed="rId3"/>
          <a:srcRect/>
          <a:stretch>
            <a:fillRect/>
          </a:stretch>
        </p:blipFill>
        <p:spPr bwMode="auto">
          <a:xfrm>
            <a:off x="9264770" y="4106174"/>
            <a:ext cx="2282502" cy="2323280"/>
          </a:xfrm>
          <a:prstGeom prst="rect">
            <a:avLst/>
          </a:prstGeom>
          <a:noFill/>
        </p:spPr>
      </p:pic>
    </p:spTree>
    <p:extLst>
      <p:ext uri="{BB962C8B-B14F-4D97-AF65-F5344CB8AC3E}">
        <p14:creationId xmlns:p14="http://schemas.microsoft.com/office/powerpoint/2010/main" val="3819981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8340-407A-0B92-DA1E-0CAC4542C1C9}"/>
              </a:ext>
            </a:extLst>
          </p:cNvPr>
          <p:cNvSpPr>
            <a:spLocks noGrp="1"/>
          </p:cNvSpPr>
          <p:nvPr>
            <p:ph type="title"/>
          </p:nvPr>
        </p:nvSpPr>
        <p:spPr>
          <a:xfrm>
            <a:off x="158344" y="172529"/>
            <a:ext cx="10515600" cy="741872"/>
          </a:xfrm>
        </p:spPr>
        <p:txBody>
          <a:bodyPr/>
          <a:lstStyle/>
          <a:p>
            <a:r>
              <a:rPr lang="mn-MN" b="1" dirty="0">
                <a:solidFill>
                  <a:srgbClr val="002060"/>
                </a:solidFill>
                <a:latin typeface="Times New Roman" panose="02020603050405020304" pitchFamily="18" charset="0"/>
                <a:cs typeface="Times New Roman" panose="02020603050405020304" pitchFamily="18" charset="0"/>
              </a:rPr>
              <a:t>Маркетингийн судалгааны аргууд</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05F58EB-F485-4B4E-BE09-A0B1C7921896}"/>
              </a:ext>
            </a:extLst>
          </p:cNvPr>
          <p:cNvSpPr>
            <a:spLocks noGrp="1"/>
          </p:cNvSpPr>
          <p:nvPr>
            <p:ph idx="1"/>
          </p:nvPr>
        </p:nvSpPr>
        <p:spPr>
          <a:xfrm>
            <a:off x="613913" y="1460500"/>
            <a:ext cx="10515600" cy="4351338"/>
          </a:xfrm>
        </p:spPr>
        <p:txBody>
          <a:bodyPr anchor="ctr" anchorCtr="0"/>
          <a:lstStyle/>
          <a:p>
            <a:endParaRPr lang="en-US">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4413636-9D1E-FDA0-DAE1-D7833E13974F}"/>
              </a:ext>
            </a:extLst>
          </p:cNvPr>
          <p:cNvGraphicFramePr>
            <a:graphicFrameLocks noGrp="1"/>
          </p:cNvGraphicFramePr>
          <p:nvPr>
            <p:extLst>
              <p:ext uri="{D42A27DB-BD31-4B8C-83A1-F6EECF244321}">
                <p14:modId xmlns:p14="http://schemas.microsoft.com/office/powerpoint/2010/main" val="626441721"/>
              </p:ext>
            </p:extLst>
          </p:nvPr>
        </p:nvGraphicFramePr>
        <p:xfrm>
          <a:off x="151350" y="891158"/>
          <a:ext cx="11882305" cy="5043816"/>
        </p:xfrm>
        <a:graphic>
          <a:graphicData uri="http://schemas.openxmlformats.org/drawingml/2006/table">
            <a:tbl>
              <a:tblPr firstRow="1" bandRow="1">
                <a:tableStyleId>{5C22544A-7EE6-4342-B048-85BDC9FD1C3A}</a:tableStyleId>
              </a:tblPr>
              <a:tblGrid>
                <a:gridCol w="3195699">
                  <a:extLst>
                    <a:ext uri="{9D8B030D-6E8A-4147-A177-3AD203B41FA5}">
                      <a16:colId xmlns:a16="http://schemas.microsoft.com/office/drawing/2014/main" val="3754087599"/>
                    </a:ext>
                  </a:extLst>
                </a:gridCol>
                <a:gridCol w="4700326">
                  <a:extLst>
                    <a:ext uri="{9D8B030D-6E8A-4147-A177-3AD203B41FA5}">
                      <a16:colId xmlns:a16="http://schemas.microsoft.com/office/drawing/2014/main" val="2852377121"/>
                    </a:ext>
                  </a:extLst>
                </a:gridCol>
                <a:gridCol w="3986280">
                  <a:extLst>
                    <a:ext uri="{9D8B030D-6E8A-4147-A177-3AD203B41FA5}">
                      <a16:colId xmlns:a16="http://schemas.microsoft.com/office/drawing/2014/main" val="2965907334"/>
                    </a:ext>
                  </a:extLst>
                </a:gridCol>
              </a:tblGrid>
              <a:tr h="1189383">
                <a:tc>
                  <a:txBody>
                    <a:bodyPr/>
                    <a:lstStyle/>
                    <a:p>
                      <a:endParaRPr lang="en-US" sz="3200" b="1" dirty="0">
                        <a:latin typeface="Times New Roman" panose="02020603050405020304" pitchFamily="18" charset="0"/>
                        <a:cs typeface="Times New Roman" panose="02020603050405020304" pitchFamily="18" charset="0"/>
                      </a:endParaRPr>
                    </a:p>
                  </a:txBody>
                  <a:tcPr anchor="ctr"/>
                </a:tc>
                <a:tc>
                  <a:txBody>
                    <a:bodyPr/>
                    <a:lstStyle/>
                    <a:p>
                      <a:pPr algn="ctr"/>
                      <a:r>
                        <a:rPr lang="mn-MN" sz="4000" b="1" dirty="0">
                          <a:latin typeface="Times New Roman" panose="02020603050405020304" pitchFamily="18" charset="0"/>
                          <a:cs typeface="Times New Roman" panose="02020603050405020304" pitchFamily="18" charset="0"/>
                        </a:rPr>
                        <a:t>Чанарын</a:t>
                      </a:r>
                      <a:r>
                        <a:rPr lang="mn-MN" sz="4000" b="1" baseline="0" dirty="0">
                          <a:latin typeface="Times New Roman" panose="02020603050405020304" pitchFamily="18" charset="0"/>
                          <a:cs typeface="Times New Roman" panose="02020603050405020304" pitchFamily="18" charset="0"/>
                        </a:rPr>
                        <a:t> </a:t>
                      </a:r>
                      <a:r>
                        <a:rPr lang="mn-MN" sz="4000" b="1" dirty="0">
                          <a:latin typeface="Times New Roman" panose="02020603050405020304" pitchFamily="18" charset="0"/>
                          <a:cs typeface="Times New Roman" panose="02020603050405020304" pitchFamily="18" charset="0"/>
                        </a:rPr>
                        <a:t>судалгаа</a:t>
                      </a:r>
                      <a:endParaRPr lang="en-US" sz="4000" b="1" dirty="0">
                        <a:latin typeface="Times New Roman" panose="02020603050405020304" pitchFamily="18" charset="0"/>
                        <a:cs typeface="Times New Roman" panose="02020603050405020304" pitchFamily="18" charset="0"/>
                      </a:endParaRPr>
                    </a:p>
                  </a:txBody>
                  <a:tcPr anchor="ctr"/>
                </a:tc>
                <a:tc>
                  <a:txBody>
                    <a:bodyPr/>
                    <a:lstStyle/>
                    <a:p>
                      <a:pPr algn="ctr"/>
                      <a:r>
                        <a:rPr lang="mn-MN" sz="4000" b="1" dirty="0">
                          <a:latin typeface="Times New Roman" panose="02020603050405020304" pitchFamily="18" charset="0"/>
                          <a:cs typeface="Times New Roman" panose="02020603050405020304" pitchFamily="18" charset="0"/>
                        </a:rPr>
                        <a:t>Тоон судалгаа</a:t>
                      </a:r>
                      <a:endParaRPr lang="en-US" sz="40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52510637"/>
                  </a:ext>
                </a:extLst>
              </a:tr>
              <a:tr h="1288793">
                <a:tc>
                  <a:txBody>
                    <a:bodyPr/>
                    <a:lstStyle/>
                    <a:p>
                      <a:pPr algn="ctr"/>
                      <a:r>
                        <a:rPr lang="mn-MN" sz="3200" b="1" dirty="0">
                          <a:latin typeface="Times New Roman" panose="02020603050405020304" pitchFamily="18" charset="0"/>
                          <a:cs typeface="Times New Roman" panose="02020603050405020304" pitchFamily="18" charset="0"/>
                        </a:rPr>
                        <a:t>Эх үүсвэр</a:t>
                      </a:r>
                      <a:endParaRPr lang="en-US" sz="3200" b="1" dirty="0">
                        <a:latin typeface="Times New Roman" panose="02020603050405020304" pitchFamily="18" charset="0"/>
                        <a:cs typeface="Times New Roman" panose="02020603050405020304" pitchFamily="18" charset="0"/>
                      </a:endParaRPr>
                    </a:p>
                  </a:txBody>
                  <a:tcPr anchor="ctr"/>
                </a:tc>
                <a:tc>
                  <a:txBody>
                    <a:bodyPr/>
                    <a:lstStyle/>
                    <a:p>
                      <a:pPr algn="ctr"/>
                      <a:r>
                        <a:rPr lang="mn-MN" sz="3200" b="1" dirty="0">
                          <a:latin typeface="Times New Roman" panose="02020603050405020304" pitchFamily="18" charset="0"/>
                          <a:cs typeface="Times New Roman" panose="02020603050405020304" pitchFamily="18" charset="0"/>
                        </a:rPr>
                        <a:t>Үг, дүрсээр илэрхийлэгдэх мэдээлэл</a:t>
                      </a:r>
                      <a:endParaRPr lang="en-US" sz="3200" b="1" dirty="0">
                        <a:latin typeface="Times New Roman" panose="02020603050405020304" pitchFamily="18" charset="0"/>
                        <a:cs typeface="Times New Roman" panose="02020603050405020304" pitchFamily="18" charset="0"/>
                      </a:endParaRPr>
                    </a:p>
                  </a:txBody>
                  <a:tcPr anchor="ctr"/>
                </a:tc>
                <a:tc>
                  <a:txBody>
                    <a:bodyPr/>
                    <a:lstStyle/>
                    <a:p>
                      <a:pPr algn="ctr"/>
                      <a:r>
                        <a:rPr lang="mn-MN" sz="3200" b="1" dirty="0">
                          <a:latin typeface="Times New Roman" panose="02020603050405020304" pitchFamily="18" charset="0"/>
                          <a:cs typeface="Times New Roman" panose="02020603050405020304" pitchFamily="18" charset="0"/>
                        </a:rPr>
                        <a:t>Тоо </a:t>
                      </a:r>
                      <a:endParaRPr lang="en-US" sz="3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380173"/>
                  </a:ext>
                </a:extLst>
              </a:tr>
              <a:tr h="1288793">
                <a:tc>
                  <a:txBody>
                    <a:bodyPr/>
                    <a:lstStyle/>
                    <a:p>
                      <a:pPr algn="ctr"/>
                      <a:r>
                        <a:rPr lang="mn-MN" sz="3200" b="1" dirty="0">
                          <a:latin typeface="Times New Roman" panose="02020603050405020304" pitchFamily="18" charset="0"/>
                          <a:cs typeface="Times New Roman" panose="02020603050405020304" pitchFamily="18" charset="0"/>
                        </a:rPr>
                        <a:t>Шинжилгээний техник</a:t>
                      </a:r>
                      <a:endParaRPr lang="en-US" sz="3200" b="1"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mn-MN" sz="3200" b="1" dirty="0">
                          <a:latin typeface="Times New Roman" panose="02020603050405020304" pitchFamily="18" charset="0"/>
                          <a:cs typeface="Times New Roman" panose="02020603050405020304" pitchFamily="18" charset="0"/>
                        </a:rPr>
                        <a:t>Ажиглалт, ярилцлага, баримтын судалгаа</a:t>
                      </a:r>
                    </a:p>
                  </a:txBody>
                  <a:tcPr anchor="ctr"/>
                </a:tc>
                <a:tc>
                  <a:txBody>
                    <a:bodyPr/>
                    <a:lstStyle/>
                    <a:p>
                      <a:pPr algn="ctr"/>
                      <a:r>
                        <a:rPr lang="mn-MN" sz="3200" b="1" dirty="0">
                          <a:latin typeface="Times New Roman" panose="02020603050405020304" pitchFamily="18" charset="0"/>
                          <a:cs typeface="Times New Roman" panose="02020603050405020304" pitchFamily="18" charset="0"/>
                        </a:rPr>
                        <a:t>Статистик</a:t>
                      </a:r>
                      <a:r>
                        <a:rPr lang="mn-MN" sz="3200" b="1" baseline="0" dirty="0">
                          <a:latin typeface="Times New Roman" panose="02020603050405020304" pitchFamily="18" charset="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14224514"/>
                  </a:ext>
                </a:extLst>
              </a:tr>
              <a:tr h="1276847">
                <a:tc>
                  <a:txBody>
                    <a:bodyPr/>
                    <a:lstStyle/>
                    <a:p>
                      <a:pPr algn="ctr"/>
                      <a:r>
                        <a:rPr lang="mn-MN" sz="3200" b="1" dirty="0">
                          <a:latin typeface="Times New Roman" panose="02020603050405020304" pitchFamily="18" charset="0"/>
                          <a:cs typeface="Times New Roman" panose="02020603050405020304" pitchFamily="18" charset="0"/>
                        </a:rPr>
                        <a:t>Гол хэрэглүүр</a:t>
                      </a:r>
                      <a:endParaRPr lang="en-US" sz="3200" b="1" dirty="0">
                        <a:latin typeface="Times New Roman" panose="02020603050405020304" pitchFamily="18" charset="0"/>
                        <a:cs typeface="Times New Roman" panose="02020603050405020304" pitchFamily="18" charset="0"/>
                      </a:endParaRPr>
                    </a:p>
                  </a:txBody>
                  <a:tcPr anchor="ctr"/>
                </a:tc>
                <a:tc>
                  <a:txBody>
                    <a:bodyPr/>
                    <a:lstStyle/>
                    <a:p>
                      <a:pPr algn="ctr"/>
                      <a:r>
                        <a:rPr lang="mn-MN" sz="3200" b="1" dirty="0">
                          <a:latin typeface="Times New Roman" panose="02020603050405020304" pitchFamily="18" charset="0"/>
                          <a:cs typeface="Times New Roman" panose="02020603050405020304" pitchFamily="18" charset="0"/>
                        </a:rPr>
                        <a:t>Чиг асуулт</a:t>
                      </a:r>
                      <a:endParaRPr lang="en-US" sz="3200" b="1" dirty="0">
                        <a:latin typeface="Times New Roman" panose="02020603050405020304" pitchFamily="18" charset="0"/>
                        <a:cs typeface="Times New Roman" panose="02020603050405020304" pitchFamily="18" charset="0"/>
                      </a:endParaRPr>
                    </a:p>
                  </a:txBody>
                  <a:tcPr anchor="ctr"/>
                </a:tc>
                <a:tc>
                  <a:txBody>
                    <a:bodyPr/>
                    <a:lstStyle/>
                    <a:p>
                      <a:pPr algn="ctr"/>
                      <a:r>
                        <a:rPr lang="mn-MN" sz="3200" b="1" dirty="0">
                          <a:latin typeface="Times New Roman" panose="02020603050405020304" pitchFamily="18" charset="0"/>
                          <a:cs typeface="Times New Roman" panose="02020603050405020304" pitchFamily="18" charset="0"/>
                        </a:rPr>
                        <a:t>Судалгааны асуулга</a:t>
                      </a:r>
                      <a:endParaRPr lang="en-US" sz="3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87796714"/>
                  </a:ext>
                </a:extLst>
              </a:tr>
            </a:tbl>
          </a:graphicData>
        </a:graphic>
      </p:graphicFrame>
    </p:spTree>
    <p:extLst>
      <p:ext uri="{BB962C8B-B14F-4D97-AF65-F5344CB8AC3E}">
        <p14:creationId xmlns:p14="http://schemas.microsoft.com/office/powerpoint/2010/main" val="2873390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BD1C-0AFD-C3BC-9799-7B2ADEDE6A02}"/>
              </a:ext>
            </a:extLst>
          </p:cNvPr>
          <p:cNvSpPr>
            <a:spLocks noGrp="1"/>
          </p:cNvSpPr>
          <p:nvPr>
            <p:ph type="title"/>
          </p:nvPr>
        </p:nvSpPr>
        <p:spPr>
          <a:xfrm>
            <a:off x="174685" y="43698"/>
            <a:ext cx="11842630" cy="480048"/>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Анхдагч мэдээлэл цуглуулах аргууд</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AB84F6-5098-B706-016F-5BDAAA236124}"/>
              </a:ext>
            </a:extLst>
          </p:cNvPr>
          <p:cNvSpPr>
            <a:spLocks noGrp="1"/>
          </p:cNvSpPr>
          <p:nvPr>
            <p:ph idx="1"/>
          </p:nvPr>
        </p:nvSpPr>
        <p:spPr>
          <a:xfrm>
            <a:off x="174685" y="655608"/>
            <a:ext cx="11842630" cy="6003984"/>
          </a:xfrm>
        </p:spPr>
        <p:txBody>
          <a:bodyPr>
            <a:normAutofit fontScale="92500"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Зорилго</a:t>
            </a:r>
            <a:r>
              <a:rPr lang="mn-MN" sz="3200" dirty="0">
                <a:solidFill>
                  <a:srgbClr val="002060"/>
                </a:solidFill>
                <a:latin typeface="Times New Roman" panose="02020603050405020304" pitchFamily="18" charset="0"/>
                <a:cs typeface="Times New Roman" panose="02020603050405020304" pitchFamily="18" charset="0"/>
              </a:rPr>
              <a:t>: Баттай баримт, факт цуглуулах</a:t>
            </a:r>
            <a:r>
              <a:rPr lang="en-US" sz="3200" dirty="0">
                <a:solidFill>
                  <a:srgbClr val="002060"/>
                </a:solidFill>
                <a:latin typeface="Times New Roman" panose="02020603050405020304" pitchFamily="18" charset="0"/>
                <a:cs typeface="Times New Roman" panose="02020603050405020304" pitchFamily="18" charset="0"/>
              </a:rPr>
              <a:t>.</a:t>
            </a:r>
            <a:endParaRPr lang="mn-MN" sz="3200" dirty="0">
              <a:solidFill>
                <a:srgbClr val="002060"/>
              </a:solidFill>
              <a:latin typeface="Times New Roman" panose="02020603050405020304" pitchFamily="18" charset="0"/>
              <a:cs typeface="Times New Roman" panose="02020603050405020304" pitchFamily="18" charset="0"/>
            </a:endParaRPr>
          </a:p>
          <a:p>
            <a:pPr algn="just"/>
            <a:r>
              <a:rPr lang="mn-MN" sz="3200" dirty="0">
                <a:solidFill>
                  <a:srgbClr val="002060"/>
                </a:solidFill>
                <a:latin typeface="Times New Roman" panose="02020603050405020304" pitchFamily="18" charset="0"/>
                <a:cs typeface="Times New Roman" panose="02020603050405020304" pitchFamily="18" charset="0"/>
              </a:rPr>
              <a:t>Түгээмэл ашиглагддаг аргууд:</a:t>
            </a:r>
          </a:p>
          <a:p>
            <a:pPr lvl="1" algn="just"/>
            <a:r>
              <a:rPr lang="mn-MN" sz="2800" b="1" dirty="0">
                <a:solidFill>
                  <a:srgbClr val="002060"/>
                </a:solidFill>
                <a:latin typeface="Times New Roman" panose="02020603050405020304" pitchFamily="18" charset="0"/>
                <a:cs typeface="Times New Roman" panose="02020603050405020304" pitchFamily="18" charset="0"/>
              </a:rPr>
              <a:t>Ярилцлагын арга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Судалгаанд оролцогчтой ярилцах замаар үзэл бодол, хүсэл эрмэлзэл зэрэг сэтгэл зүйн дотоод ертөнцөд нь нэвтэрч, нийгмийн үзэгдэл, үйл явцын тухай шинэ сэргэг тоо, баримт мэдээлэл олж авах</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арга.</a:t>
            </a:r>
          </a:p>
          <a:p>
            <a:pPr lvl="2" algn="just"/>
            <a:r>
              <a:rPr lang="mn-MN" sz="2400" dirty="0">
                <a:solidFill>
                  <a:srgbClr val="002060"/>
                </a:solidFill>
                <a:latin typeface="Times New Roman" panose="02020603050405020304" pitchFamily="18" charset="0"/>
                <a:cs typeface="Times New Roman" panose="02020603050405020304" pitchFamily="18" charset="0"/>
              </a:rPr>
              <a:t>Ганцаарчилсан ярилцлага</a:t>
            </a:r>
          </a:p>
          <a:p>
            <a:pPr lvl="2" algn="just"/>
            <a:r>
              <a:rPr lang="mn-MN" sz="2400" dirty="0">
                <a:solidFill>
                  <a:srgbClr val="002060"/>
                </a:solidFill>
                <a:latin typeface="Times New Roman" panose="02020603050405020304" pitchFamily="18" charset="0"/>
                <a:cs typeface="Times New Roman" panose="02020603050405020304" pitchFamily="18" charset="0"/>
              </a:rPr>
              <a:t>Фокус группын ярилцлага</a:t>
            </a:r>
          </a:p>
          <a:p>
            <a:pPr lvl="2" algn="just"/>
            <a:r>
              <a:rPr lang="mn-MN" sz="2400" dirty="0">
                <a:solidFill>
                  <a:srgbClr val="002060"/>
                </a:solidFill>
                <a:latin typeface="Times New Roman" panose="02020603050405020304" pitchFamily="18" charset="0"/>
                <a:cs typeface="Times New Roman" panose="02020603050405020304" pitchFamily="18" charset="0"/>
              </a:rPr>
              <a:t>Утсаар санал авах арга</a:t>
            </a:r>
          </a:p>
          <a:p>
            <a:pPr lvl="1" algn="just"/>
            <a:r>
              <a:rPr lang="mn-MN" sz="2800" b="1" dirty="0">
                <a:solidFill>
                  <a:srgbClr val="002060"/>
                </a:solidFill>
                <a:latin typeface="Times New Roman" panose="02020603050405020304" pitchFamily="18" charset="0"/>
                <a:cs typeface="Times New Roman" panose="02020603050405020304" pitchFamily="18" charset="0"/>
              </a:rPr>
              <a:t>Ажиглалтын арга </a:t>
            </a:r>
            <a:r>
              <a:rPr lang="mn-MN" sz="2800" dirty="0">
                <a:solidFill>
                  <a:srgbClr val="002060"/>
                </a:solidFill>
                <a:latin typeface="Times New Roman" panose="02020603050405020304" pitchFamily="18" charset="0"/>
                <a:cs typeface="Times New Roman" panose="02020603050405020304" pitchFamily="18" charset="0"/>
              </a:rPr>
              <a:t>– Хүмүүсийн хандлага, зан байдал, аливаа үйл ажиллагааны явцыг системтэй сонгож ажиглах, ажигласан зүйлээ тэмдэглэх арга. </a:t>
            </a:r>
          </a:p>
          <a:p>
            <a:pPr lvl="2" algn="just"/>
            <a:r>
              <a:rPr lang="mn-MN" sz="2400" b="1" dirty="0">
                <a:solidFill>
                  <a:srgbClr val="002060"/>
                </a:solidFill>
                <a:latin typeface="Times New Roman" panose="02020603050405020304" pitchFamily="18" charset="0"/>
                <a:cs typeface="Times New Roman" panose="02020603050405020304" pitchFamily="18" charset="0"/>
              </a:rPr>
              <a:t>Оролцооны:</a:t>
            </a:r>
            <a:r>
              <a:rPr lang="mn-MN" sz="2400" dirty="0">
                <a:solidFill>
                  <a:srgbClr val="002060"/>
                </a:solidFill>
                <a:latin typeface="Times New Roman" panose="02020603050405020304" pitchFamily="18" charset="0"/>
                <a:cs typeface="Times New Roman" panose="02020603050405020304" pitchFamily="18" charset="0"/>
              </a:rPr>
              <a:t> Судлаач тухайн ажиглалтын объект болох үйл явцынхаа нэг хэсэг болон оролцох ба ингэж оролцох явцдаа санал бодлоо чөлөөтэй хуваалцахыг хэлнэ.</a:t>
            </a:r>
          </a:p>
          <a:p>
            <a:pPr lvl="2" algn="just"/>
            <a:r>
              <a:rPr lang="mn-MN" sz="2400" b="1" dirty="0">
                <a:solidFill>
                  <a:srgbClr val="002060"/>
                </a:solidFill>
                <a:latin typeface="Times New Roman" panose="02020603050405020304" pitchFamily="18" charset="0"/>
                <a:cs typeface="Times New Roman" panose="02020603050405020304" pitchFamily="18" charset="0"/>
              </a:rPr>
              <a:t>Хөндлөнгийн:</a:t>
            </a:r>
            <a:r>
              <a:rPr lang="mn-MN" sz="2400" dirty="0">
                <a:solidFill>
                  <a:srgbClr val="002060"/>
                </a:solidFill>
                <a:latin typeface="Times New Roman" panose="02020603050405020304" pitchFamily="18" charset="0"/>
                <a:cs typeface="Times New Roman" panose="02020603050405020304" pitchFamily="18" charset="0"/>
              </a:rPr>
              <a:t> Судлаач асуулт асуух буюу үзэл бодлоо илэрхийлэн оролцохгүйгээр ил эсвэл далд маягаар ажиглалт хийх үйл явц</a:t>
            </a:r>
          </a:p>
          <a:p>
            <a:pPr lvl="1" algn="just"/>
            <a:r>
              <a:rPr lang="mn-MN" sz="2800" b="1" dirty="0">
                <a:solidFill>
                  <a:srgbClr val="002060"/>
                </a:solidFill>
                <a:latin typeface="Times New Roman" panose="02020603050405020304" pitchFamily="18" charset="0"/>
                <a:cs typeface="Times New Roman" panose="02020603050405020304" pitchFamily="18" charset="0"/>
              </a:rPr>
              <a:t>Баримт бичгийг судлах арга</a:t>
            </a:r>
          </a:p>
          <a:p>
            <a:pPr lvl="1" algn="just"/>
            <a:r>
              <a:rPr lang="mn-MN" sz="2800" b="1" dirty="0">
                <a:solidFill>
                  <a:srgbClr val="002060"/>
                </a:solidFill>
                <a:latin typeface="Times New Roman" panose="02020603050405020304" pitchFamily="18" charset="0"/>
                <a:cs typeface="Times New Roman" panose="02020603050405020304" pitchFamily="18" charset="0"/>
              </a:rPr>
              <a:t>Асуулгын арга</a:t>
            </a:r>
            <a:endParaRPr lang="en-US" sz="2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8638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9E77-E81D-29E7-297F-627010FFE21A}"/>
              </a:ext>
            </a:extLst>
          </p:cNvPr>
          <p:cNvSpPr>
            <a:spLocks noGrp="1"/>
          </p:cNvSpPr>
          <p:nvPr>
            <p:ph type="title"/>
          </p:nvPr>
        </p:nvSpPr>
        <p:spPr>
          <a:xfrm>
            <a:off x="172528" y="123585"/>
            <a:ext cx="11137467" cy="601033"/>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Асуулга </a:t>
            </a:r>
            <a:r>
              <a:rPr lang="en-US" b="1" dirty="0">
                <a:solidFill>
                  <a:srgbClr val="002060"/>
                </a:solidFill>
                <a:latin typeface="Times New Roman" panose="02020603050405020304" pitchFamily="18" charset="0"/>
                <a:cs typeface="Times New Roman" panose="02020603050405020304" pitchFamily="18" charset="0"/>
              </a:rPr>
              <a:t>(</a:t>
            </a:r>
            <a:r>
              <a:rPr lang="en-US" b="1" i="1" dirty="0">
                <a:solidFill>
                  <a:srgbClr val="002060"/>
                </a:solidFill>
                <a:latin typeface="Times New Roman" panose="02020603050405020304" pitchFamily="18" charset="0"/>
                <a:cs typeface="Times New Roman" panose="02020603050405020304" pitchFamily="18" charset="0"/>
              </a:rPr>
              <a:t>Survey</a:t>
            </a:r>
            <a:r>
              <a:rPr lang="en-US" b="1" dirty="0">
                <a:solidFill>
                  <a:srgbClr val="002060"/>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9787E90F-7A92-9534-2CE5-A40AE2A82813}"/>
              </a:ext>
            </a:extLst>
          </p:cNvPr>
          <p:cNvSpPr>
            <a:spLocks noGrp="1"/>
          </p:cNvSpPr>
          <p:nvPr>
            <p:ph idx="1"/>
          </p:nvPr>
        </p:nvSpPr>
        <p:spPr>
          <a:xfrm>
            <a:off x="172528" y="776376"/>
            <a:ext cx="12019471" cy="5952228"/>
          </a:xfrm>
        </p:spPr>
        <p:txBody>
          <a:bodyPr>
            <a:normAutofit fontScale="92500" lnSpcReduction="1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Асуулга</a:t>
            </a:r>
            <a:r>
              <a:rPr lang="en-US" sz="3600" b="1" dirty="0">
                <a:solidFill>
                  <a:srgbClr val="002060"/>
                </a:solidFill>
                <a:latin typeface="Times New Roman" panose="02020603050405020304" pitchFamily="18" charset="0"/>
                <a:cs typeface="Times New Roman" panose="02020603050405020304" pitchFamily="18" charset="0"/>
              </a:rPr>
              <a:t> </a:t>
            </a:r>
            <a:r>
              <a:rPr lang="en-US" sz="3600" dirty="0">
                <a:solidFill>
                  <a:srgbClr val="002060"/>
                </a:solidFill>
                <a:latin typeface="Times New Roman" panose="02020603050405020304" pitchFamily="18" charset="0"/>
                <a:cs typeface="Times New Roman" panose="02020603050405020304" pitchFamily="18" charset="0"/>
              </a:rPr>
              <a:t>–</a:t>
            </a:r>
            <a:r>
              <a:rPr lang="en-US" sz="3600" b="1"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судалгаанд оролцогчидтой биечлэн эсвэл утас, шуудан, интернетээр харилцаж урьдчилан бэлтгэсэн асуултуудын дагуу мэдээлэл авах </a:t>
            </a:r>
            <a:r>
              <a:rPr lang="mn-MN" sz="3600" b="1" dirty="0">
                <a:solidFill>
                  <a:srgbClr val="002060"/>
                </a:solidFill>
                <a:latin typeface="Times New Roman" panose="02020603050405020304" pitchFamily="18" charset="0"/>
                <a:cs typeface="Times New Roman" panose="02020603050405020304" pitchFamily="18" charset="0"/>
              </a:rPr>
              <a:t>маркетингийн судалгааны нэг арга </a:t>
            </a:r>
            <a:r>
              <a:rPr lang="mn-MN" sz="3600" dirty="0">
                <a:solidFill>
                  <a:srgbClr val="002060"/>
                </a:solidFill>
                <a:latin typeface="Times New Roman" panose="02020603050405020304" pitchFamily="18" charset="0"/>
                <a:cs typeface="Times New Roman" panose="02020603050405020304" pitchFamily="18" charset="0"/>
              </a:rPr>
              <a:t>юм.</a:t>
            </a:r>
          </a:p>
          <a:p>
            <a:pPr algn="just"/>
            <a:r>
              <a:rPr lang="mn-MN" sz="3600" dirty="0">
                <a:solidFill>
                  <a:srgbClr val="002060"/>
                </a:solidFill>
                <a:latin typeface="Times New Roman" panose="02020603050405020304" pitchFamily="18" charset="0"/>
                <a:cs typeface="Times New Roman" panose="02020603050405020304" pitchFamily="18" charset="0"/>
              </a:rPr>
              <a:t>Асуулгын аргаар мэдээлэл цуглуулахад гол төлөв </a:t>
            </a:r>
            <a:r>
              <a:rPr lang="mn-MN" sz="3600" b="1" dirty="0">
                <a:solidFill>
                  <a:srgbClr val="002060"/>
                </a:solidFill>
                <a:latin typeface="Times New Roman" panose="02020603050405020304" pitchFamily="18" charset="0"/>
                <a:cs typeface="Times New Roman" panose="02020603050405020304" pitchFamily="18" charset="0"/>
              </a:rPr>
              <a:t>асуулгын хуудас </a:t>
            </a:r>
            <a:r>
              <a:rPr lang="mn-MN" sz="3600" dirty="0">
                <a:solidFill>
                  <a:srgbClr val="002060"/>
                </a:solidFill>
                <a:latin typeface="Times New Roman" panose="02020603050405020304" pitchFamily="18" charset="0"/>
                <a:cs typeface="Times New Roman" panose="02020603050405020304" pitchFamily="18" charset="0"/>
              </a:rPr>
              <a:t>буюу </a:t>
            </a:r>
            <a:r>
              <a:rPr lang="mn-MN" sz="3600" b="1" dirty="0">
                <a:solidFill>
                  <a:srgbClr val="002060"/>
                </a:solidFill>
                <a:latin typeface="Times New Roman" panose="02020603050405020304" pitchFamily="18" charset="0"/>
                <a:cs typeface="Times New Roman" panose="02020603050405020304" pitchFamily="18" charset="0"/>
              </a:rPr>
              <a:t>анкет (</a:t>
            </a:r>
            <a:r>
              <a:rPr lang="en-US" sz="3600" b="1" dirty="0">
                <a:solidFill>
                  <a:srgbClr val="002060"/>
                </a:solidFill>
                <a:latin typeface="Times New Roman" panose="02020603050405020304" pitchFamily="18" charset="0"/>
                <a:cs typeface="Times New Roman" panose="02020603050405020304" pitchFamily="18" charset="0"/>
              </a:rPr>
              <a:t>questionnaire) </a:t>
            </a:r>
            <a:r>
              <a:rPr lang="mn-MN" sz="3600" dirty="0">
                <a:solidFill>
                  <a:srgbClr val="002060"/>
                </a:solidFill>
                <a:latin typeface="Times New Roman" panose="02020603050405020304" pitchFamily="18" charset="0"/>
                <a:cs typeface="Times New Roman" panose="02020603050405020304" pitchFamily="18" charset="0"/>
              </a:rPr>
              <a:t>ашигладаг.</a:t>
            </a:r>
          </a:p>
          <a:p>
            <a:pPr algn="just"/>
            <a:r>
              <a:rPr lang="mn-MN" sz="3600" dirty="0">
                <a:solidFill>
                  <a:srgbClr val="002060"/>
                </a:solidFill>
                <a:latin typeface="Times New Roman" panose="02020603050405020304" pitchFamily="18" charset="0"/>
                <a:cs typeface="Times New Roman" panose="02020603050405020304" pitchFamily="18" charset="0"/>
              </a:rPr>
              <a:t>Анкет нь:</a:t>
            </a:r>
          </a:p>
          <a:p>
            <a:pPr marL="979488" lvl="1" indent="-522288" algn="just">
              <a:buFont typeface="Wingdings" panose="05000000000000000000" pitchFamily="2" charset="2"/>
              <a:buChar char="Ø"/>
            </a:pPr>
            <a:r>
              <a:rPr lang="mn-MN" sz="3200" b="1" dirty="0">
                <a:solidFill>
                  <a:srgbClr val="002060"/>
                </a:solidFill>
                <a:latin typeface="Times New Roman" panose="02020603050405020304" pitchFamily="18" charset="0"/>
                <a:cs typeface="Times New Roman" panose="02020603050405020304" pitchFamily="18" charset="0"/>
              </a:rPr>
              <a:t>Удиртгал хэсэг</a:t>
            </a:r>
            <a:r>
              <a:rPr lang="mn-MN" sz="3200" dirty="0">
                <a:solidFill>
                  <a:srgbClr val="002060"/>
                </a:solidFill>
                <a:latin typeface="Times New Roman" panose="02020603050405020304" pitchFamily="18" charset="0"/>
                <a:cs typeface="Times New Roman" panose="02020603050405020304" pitchFamily="18" charset="0"/>
              </a:rPr>
              <a:t>: зорилго, ач холбогдол, судалгаа авч байгаа байгууллага, бөглөхөд шаардлагатай хугацаа болон тайлбар зэргийг оруулна.</a:t>
            </a:r>
          </a:p>
          <a:p>
            <a:pPr marL="979488" lvl="1" indent="-522288" algn="just">
              <a:buFont typeface="Wingdings" panose="05000000000000000000" pitchFamily="2" charset="2"/>
              <a:buChar char="Ø"/>
            </a:pPr>
            <a:r>
              <a:rPr lang="mn-MN" sz="3200" b="1" dirty="0">
                <a:solidFill>
                  <a:srgbClr val="002060"/>
                </a:solidFill>
                <a:latin typeface="Times New Roman" panose="02020603050405020304" pitchFamily="18" charset="0"/>
                <a:cs typeface="Times New Roman" panose="02020603050405020304" pitchFamily="18" charset="0"/>
              </a:rPr>
              <a:t>Шалгах хэсэг</a:t>
            </a:r>
            <a:r>
              <a:rPr lang="mn-MN" sz="3200" dirty="0">
                <a:solidFill>
                  <a:srgbClr val="002060"/>
                </a:solidFill>
                <a:latin typeface="Times New Roman" panose="02020603050405020304" pitchFamily="18" charset="0"/>
                <a:cs typeface="Times New Roman" panose="02020603050405020304" pitchFamily="18" charset="0"/>
              </a:rPr>
              <a:t>: судалгаанд оролцогчийн талаарх мэдээлэл, хаяг, албан тушаал, нас, хүйс, орлого гэх мэт.</a:t>
            </a:r>
          </a:p>
          <a:p>
            <a:pPr marL="979488" lvl="1" indent="-522288" algn="just">
              <a:buFont typeface="Wingdings" panose="05000000000000000000" pitchFamily="2" charset="2"/>
              <a:buChar char="Ø"/>
            </a:pPr>
            <a:r>
              <a:rPr lang="mn-MN" sz="3200" b="1" dirty="0">
                <a:solidFill>
                  <a:srgbClr val="002060"/>
                </a:solidFill>
                <a:latin typeface="Times New Roman" panose="02020603050405020304" pitchFamily="18" charset="0"/>
                <a:cs typeface="Times New Roman" panose="02020603050405020304" pitchFamily="18" charset="0"/>
              </a:rPr>
              <a:t>Үндсэн хэсэг</a:t>
            </a:r>
            <a:r>
              <a:rPr lang="mn-MN" sz="3200" dirty="0">
                <a:solidFill>
                  <a:srgbClr val="002060"/>
                </a:solidFill>
                <a:latin typeface="Times New Roman" panose="02020603050405020304" pitchFamily="18" charset="0"/>
                <a:cs typeface="Times New Roman" panose="02020603050405020304" pitchFamily="18" charset="0"/>
              </a:rPr>
              <a:t>: тухайн судалгааны зорилгод шууд хамааралтай асуултууд багтана.</a:t>
            </a:r>
          </a:p>
        </p:txBody>
      </p:sp>
    </p:spTree>
    <p:extLst>
      <p:ext uri="{BB962C8B-B14F-4D97-AF65-F5344CB8AC3E}">
        <p14:creationId xmlns:p14="http://schemas.microsoft.com/office/powerpoint/2010/main" val="3020254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9CCA6-D12F-1C60-21E1-5583D1AF8C09}"/>
              </a:ext>
            </a:extLst>
          </p:cNvPr>
          <p:cNvSpPr>
            <a:spLocks noGrp="1"/>
          </p:cNvSpPr>
          <p:nvPr>
            <p:ph type="title"/>
          </p:nvPr>
        </p:nvSpPr>
        <p:spPr>
          <a:xfrm>
            <a:off x="130333" y="86265"/>
            <a:ext cx="11400175" cy="566528"/>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Анкетийн асуултуудын ангилал</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921AE2-E8D7-2578-7CF4-E6505E71CD55}"/>
              </a:ext>
            </a:extLst>
          </p:cNvPr>
          <p:cNvSpPr>
            <a:spLocks noGrp="1"/>
          </p:cNvSpPr>
          <p:nvPr>
            <p:ph idx="1"/>
          </p:nvPr>
        </p:nvSpPr>
        <p:spPr>
          <a:xfrm>
            <a:off x="320614" y="1601338"/>
            <a:ext cx="11400175" cy="4351338"/>
          </a:xfrm>
        </p:spPr>
        <p:txBody>
          <a:bodyPr/>
          <a:lstStyle/>
          <a:p>
            <a:endParaRPr lang="en-US">
              <a:latin typeface="Times New Roman" panose="02020603050405020304" pitchFamily="18" charset="0"/>
              <a:cs typeface="Times New Roman" panose="02020603050405020304" pitchFamily="18" charset="0"/>
            </a:endParaRPr>
          </a:p>
        </p:txBody>
      </p:sp>
      <p:graphicFrame>
        <p:nvGraphicFramePr>
          <p:cNvPr id="4" name="Content Placeholder 6">
            <a:extLst>
              <a:ext uri="{FF2B5EF4-FFF2-40B4-BE49-F238E27FC236}">
                <a16:creationId xmlns:a16="http://schemas.microsoft.com/office/drawing/2014/main" id="{C19677B8-F66E-E65B-F7C7-B7AD11EFEFDB}"/>
              </a:ext>
            </a:extLst>
          </p:cNvPr>
          <p:cNvGraphicFramePr>
            <a:graphicFrameLocks/>
          </p:cNvGraphicFramePr>
          <p:nvPr>
            <p:extLst>
              <p:ext uri="{D42A27DB-BD31-4B8C-83A1-F6EECF244321}">
                <p14:modId xmlns:p14="http://schemas.microsoft.com/office/powerpoint/2010/main" val="2712445915"/>
              </p:ext>
            </p:extLst>
          </p:nvPr>
        </p:nvGraphicFramePr>
        <p:xfrm>
          <a:off x="130333" y="563714"/>
          <a:ext cx="11741053" cy="6271867"/>
        </p:xfrm>
        <a:graphic>
          <a:graphicData uri="http://schemas.openxmlformats.org/drawingml/2006/table">
            <a:tbl>
              <a:tblPr firstRow="1" bandRow="1">
                <a:tableStyleId>{5C22544A-7EE6-4342-B048-85BDC9FD1C3A}</a:tableStyleId>
              </a:tblPr>
              <a:tblGrid>
                <a:gridCol w="2267810">
                  <a:extLst>
                    <a:ext uri="{9D8B030D-6E8A-4147-A177-3AD203B41FA5}">
                      <a16:colId xmlns:a16="http://schemas.microsoft.com/office/drawing/2014/main" val="20000"/>
                    </a:ext>
                  </a:extLst>
                </a:gridCol>
                <a:gridCol w="4581138">
                  <a:extLst>
                    <a:ext uri="{9D8B030D-6E8A-4147-A177-3AD203B41FA5}">
                      <a16:colId xmlns:a16="http://schemas.microsoft.com/office/drawing/2014/main" val="3723355000"/>
                    </a:ext>
                  </a:extLst>
                </a:gridCol>
                <a:gridCol w="4892105">
                  <a:extLst>
                    <a:ext uri="{9D8B030D-6E8A-4147-A177-3AD203B41FA5}">
                      <a16:colId xmlns:a16="http://schemas.microsoft.com/office/drawing/2014/main" val="20002"/>
                    </a:ext>
                  </a:extLst>
                </a:gridCol>
              </a:tblGrid>
              <a:tr h="578961">
                <a:tc gridSpan="3">
                  <a:txBody>
                    <a:bodyPr/>
                    <a:lstStyle/>
                    <a:p>
                      <a:pPr algn="ctr"/>
                      <a:r>
                        <a:rPr lang="mn-MN" sz="24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ХААЛТТАЙ</a:t>
                      </a:r>
                      <a:r>
                        <a:rPr lang="mn-MN" sz="2400" b="0" cap="none" spc="0" baseline="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 АСУУЛТ</a:t>
                      </a:r>
                      <a:endParaRPr lang="en-US" sz="24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endParaRPr>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578961">
                <a:tc>
                  <a:txBody>
                    <a:bodyPr/>
                    <a:lstStyle/>
                    <a:p>
                      <a:pPr algn="ctr"/>
                      <a:r>
                        <a:rPr lang="mn-MN" sz="2800" dirty="0">
                          <a:latin typeface="Times New Roman" panose="02020603050405020304" pitchFamily="18" charset="0"/>
                          <a:cs typeface="Times New Roman" panose="02020603050405020304" pitchFamily="18" charset="0"/>
                        </a:rPr>
                        <a:t>Асуулт</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mn-MN" sz="2800">
                          <a:latin typeface="Times New Roman" panose="02020603050405020304" pitchFamily="18" charset="0"/>
                          <a:cs typeface="Times New Roman" panose="02020603050405020304" pitchFamily="18" charset="0"/>
                        </a:rPr>
                        <a:t>Тайлбар</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mn-MN" sz="2800" dirty="0">
                          <a:latin typeface="Times New Roman" panose="02020603050405020304" pitchFamily="18" charset="0"/>
                          <a:cs typeface="Times New Roman" panose="02020603050405020304" pitchFamily="18" charset="0"/>
                        </a:rPr>
                        <a:t>Жишээ нь:</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999304">
                <a:tc>
                  <a:txBody>
                    <a:bodyPr/>
                    <a:lstStyle/>
                    <a:p>
                      <a:endParaRPr lang="mn-MN" sz="10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mn-M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Энгийн</a:t>
                      </a:r>
                      <a:endParaRPr 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tc>
                <a:tc>
                  <a:txBody>
                    <a:bodyPr/>
                    <a:lstStyle/>
                    <a:p>
                      <a:r>
                        <a:rPr lang="mn-MN" sz="2800">
                          <a:solidFill>
                            <a:srgbClr val="7030A0"/>
                          </a:solidFill>
                          <a:latin typeface="Times New Roman" panose="02020603050405020304" pitchFamily="18" charset="0"/>
                          <a:cs typeface="Times New Roman" panose="02020603050405020304" pitchFamily="18" charset="0"/>
                        </a:rPr>
                        <a:t>Зөвхөн хоёр сонголттой</a:t>
                      </a:r>
                      <a:endParaRPr 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tc>
                <a:tc>
                  <a:txBody>
                    <a:bodyPr/>
                    <a:lstStyle/>
                    <a:p>
                      <a:r>
                        <a:rPr lang="mn-MN" sz="2800" dirty="0">
                          <a:latin typeface="Times New Roman" panose="02020603050405020304" pitchFamily="18" charset="0"/>
                          <a:cs typeface="Times New Roman" panose="02020603050405020304" pitchFamily="18" charset="0"/>
                        </a:rPr>
                        <a:t>Та га</a:t>
                      </a:r>
                      <a:r>
                        <a:rPr lang="mn-MN" sz="2800" baseline="0" dirty="0">
                          <a:latin typeface="Times New Roman" panose="02020603050405020304" pitchFamily="18" charset="0"/>
                          <a:cs typeface="Times New Roman" panose="02020603050405020304" pitchFamily="18" charset="0"/>
                        </a:rPr>
                        <a:t>р утастай юу?</a:t>
                      </a:r>
                    </a:p>
                    <a:p>
                      <a:r>
                        <a:rPr lang="mn-MN" sz="2800" baseline="0" dirty="0">
                          <a:latin typeface="Times New Roman" panose="02020603050405020304" pitchFamily="18" charset="0"/>
                          <a:cs typeface="Times New Roman" panose="02020603050405020304" pitchFamily="18" charset="0"/>
                        </a:rPr>
                        <a:t>      а. Тийм        б.Үгүй</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435490">
                <a:tc>
                  <a:txBody>
                    <a:bodyPr/>
                    <a:lstStyle/>
                    <a:p>
                      <a:endParaRPr lang="mn-M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mn-M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Олон сонголттой</a:t>
                      </a:r>
                      <a:endParaRPr 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tc>
                <a:tc>
                  <a:txBody>
                    <a:bodyPr/>
                    <a:lstStyle/>
                    <a:p>
                      <a:r>
                        <a:rPr lang="mn-MN" sz="2800" dirty="0">
                          <a:solidFill>
                            <a:srgbClr val="7030A0"/>
                          </a:solidFill>
                          <a:latin typeface="Times New Roman" panose="02020603050405020304" pitchFamily="18" charset="0"/>
                          <a:cs typeface="Times New Roman" panose="02020603050405020304" pitchFamily="18" charset="0"/>
                        </a:rPr>
                        <a:t>Хоёроос дээш хариулт санал болгох асуултууд</a:t>
                      </a:r>
                      <a:endParaRPr 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tc>
                <a:tc>
                  <a:txBody>
                    <a:bodyPr/>
                    <a:lstStyle/>
                    <a:p>
                      <a:r>
                        <a:rPr lang="mn-MN" sz="2800" dirty="0">
                          <a:latin typeface="Times New Roman" panose="02020603050405020304" pitchFamily="18" charset="0"/>
                          <a:cs typeface="Times New Roman" panose="02020603050405020304" pitchFamily="18" charset="0"/>
                        </a:rPr>
                        <a:t>Та</a:t>
                      </a:r>
                      <a:r>
                        <a:rPr lang="mn-MN" sz="2800" baseline="0" dirty="0">
                          <a:latin typeface="Times New Roman" panose="02020603050405020304" pitchFamily="18" charset="0"/>
                          <a:cs typeface="Times New Roman" panose="02020603050405020304" pitchFamily="18" charset="0"/>
                        </a:rPr>
                        <a:t> аль операторын хэрэглэгч вэ?</a:t>
                      </a:r>
                    </a:p>
                    <a:p>
                      <a:r>
                        <a:rPr lang="mn-MN" sz="2800" baseline="0" dirty="0">
                          <a:latin typeface="Times New Roman" panose="02020603050405020304" pitchFamily="18" charset="0"/>
                          <a:cs typeface="Times New Roman" panose="02020603050405020304" pitchFamily="18" charset="0"/>
                        </a:rPr>
                        <a:t>А. Мобиком       Б. Скайтел</a:t>
                      </a:r>
                    </a:p>
                    <a:p>
                      <a:r>
                        <a:rPr lang="mn-MN" sz="2800" baseline="0" dirty="0">
                          <a:latin typeface="Times New Roman" panose="02020603050405020304" pitchFamily="18" charset="0"/>
                          <a:cs typeface="Times New Roman" panose="02020603050405020304" pitchFamily="18" charset="0"/>
                        </a:rPr>
                        <a:t>В. Юнител          Г. Жи мобайл</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578961">
                <a:tc gridSpan="3">
                  <a:txBody>
                    <a:bodyPr/>
                    <a:lstStyle/>
                    <a:p>
                      <a:pPr algn="ctr"/>
                      <a:r>
                        <a:rPr lang="mn-MN" sz="24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НЭЭЛТТЭЙ АСУУЛТ</a:t>
                      </a:r>
                      <a:endParaRPr lang="en-US" sz="24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endParaRPr>
                    </a:p>
                  </a:txBody>
                  <a:tcPr>
                    <a:solidFill>
                      <a:schemeClr val="accent1"/>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4"/>
                  </a:ext>
                </a:extLst>
              </a:tr>
              <a:tr h="1435490">
                <a:tc>
                  <a:txBody>
                    <a:bodyPr/>
                    <a:lstStyle/>
                    <a:p>
                      <a:endParaRPr lang="mn-M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mn-MN"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Нээлттэй</a:t>
                      </a:r>
                      <a:endParaRPr 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tc>
                <a:tc>
                  <a:txBody>
                    <a:bodyPr/>
                    <a:lstStyle/>
                    <a:p>
                      <a:r>
                        <a:rPr lang="mn-MN" sz="2800" dirty="0">
                          <a:solidFill>
                            <a:srgbClr val="7030A0"/>
                          </a:solidFill>
                          <a:latin typeface="Times New Roman" panose="02020603050405020304" pitchFamily="18" charset="0"/>
                          <a:cs typeface="Times New Roman" panose="02020603050405020304" pitchFamily="18" charset="0"/>
                        </a:rPr>
                        <a:t>Судалгаанд оролцогчид өөрийнхөө үгээр хариулах</a:t>
                      </a:r>
                      <a:r>
                        <a:rPr lang="mn-MN" sz="2800" baseline="0" dirty="0">
                          <a:solidFill>
                            <a:srgbClr val="7030A0"/>
                          </a:solidFill>
                          <a:latin typeface="Times New Roman" panose="02020603050405020304" pitchFamily="18" charset="0"/>
                          <a:cs typeface="Times New Roman" panose="02020603050405020304" pitchFamily="18" charset="0"/>
                        </a:rPr>
                        <a:t> боломж олгосон асуултууд</a:t>
                      </a:r>
                      <a:endParaRPr lang="en-US" sz="2800" b="1" dirty="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tc>
                <a:tc>
                  <a:txBody>
                    <a:bodyPr/>
                    <a:lstStyle/>
                    <a:p>
                      <a:r>
                        <a:rPr lang="mn-MN" sz="2600" dirty="0">
                          <a:latin typeface="Times New Roman" panose="02020603050405020304" pitchFamily="18" charset="0"/>
                          <a:cs typeface="Times New Roman" panose="02020603050405020304" pitchFamily="18" charset="0"/>
                        </a:rPr>
                        <a:t>Үйлчилгээний талаарх таны санал:</a:t>
                      </a:r>
                    </a:p>
                    <a:p>
                      <a:r>
                        <a:rPr lang="mn-MN"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19019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45;p13" descr="fig03_01wo.jpg">
            <a:extLst>
              <a:ext uri="{FF2B5EF4-FFF2-40B4-BE49-F238E27FC236}">
                <a16:creationId xmlns:a16="http://schemas.microsoft.com/office/drawing/2014/main" id="{5F098B4A-44B0-7BEB-8DB2-45DAB4F5DFAB}"/>
              </a:ext>
            </a:extLst>
          </p:cNvPr>
          <p:cNvPicPr preferRelativeResize="0"/>
          <p:nvPr/>
        </p:nvPicPr>
        <p:blipFill rotWithShape="1">
          <a:blip r:embed="rId3">
            <a:alphaModFix/>
          </a:blip>
          <a:srcRect/>
          <a:stretch/>
        </p:blipFill>
        <p:spPr>
          <a:xfrm>
            <a:off x="233685" y="1850774"/>
            <a:ext cx="11514474" cy="5007226"/>
          </a:xfrm>
          <a:prstGeom prst="rect">
            <a:avLst/>
          </a:prstGeom>
          <a:noFill/>
          <a:ln>
            <a:noFill/>
          </a:ln>
        </p:spPr>
      </p:pic>
      <p:sp>
        <p:nvSpPr>
          <p:cNvPr id="2" name="Title 1">
            <a:extLst>
              <a:ext uri="{FF2B5EF4-FFF2-40B4-BE49-F238E27FC236}">
                <a16:creationId xmlns:a16="http://schemas.microsoft.com/office/drawing/2014/main" id="{301840E2-A68C-E614-EE0F-53A4E812712C}"/>
              </a:ext>
            </a:extLst>
          </p:cNvPr>
          <p:cNvSpPr>
            <a:spLocks noGrp="1"/>
          </p:cNvSpPr>
          <p:nvPr>
            <p:ph type="title"/>
          </p:nvPr>
        </p:nvSpPr>
        <p:spPr>
          <a:xfrm>
            <a:off x="233684" y="123586"/>
            <a:ext cx="11514474" cy="428505"/>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Маркетингийн МИКРО орчин</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B342A51-35C8-D164-E66D-BAD39AEB1DD5}"/>
              </a:ext>
            </a:extLst>
          </p:cNvPr>
          <p:cNvSpPr>
            <a:spLocks noGrp="1"/>
          </p:cNvSpPr>
          <p:nvPr>
            <p:ph idx="1"/>
          </p:nvPr>
        </p:nvSpPr>
        <p:spPr>
          <a:xfrm>
            <a:off x="95150" y="552091"/>
            <a:ext cx="11863165" cy="5727939"/>
          </a:xfrm>
        </p:spPr>
        <p:txBody>
          <a:bodyPr/>
          <a:lstStyle/>
          <a:p>
            <a:pPr algn="just"/>
            <a:r>
              <a:rPr lang="mn-MN" dirty="0">
                <a:solidFill>
                  <a:srgbClr val="002060"/>
                </a:solidFill>
                <a:latin typeface="Times New Roman" panose="02020603050405020304" pitchFamily="18" charset="0"/>
                <a:cs typeface="Times New Roman" panose="02020603050405020304" pitchFamily="18" charset="0"/>
              </a:rPr>
              <a:t>Байгууллагын үйл ажиллагаанд </a:t>
            </a:r>
            <a:r>
              <a:rPr lang="mn-MN" b="1" dirty="0">
                <a:solidFill>
                  <a:srgbClr val="002060"/>
                </a:solidFill>
                <a:latin typeface="Times New Roman" panose="02020603050405020304" pitchFamily="18" charset="0"/>
                <a:cs typeface="Times New Roman" panose="02020603050405020304" pitchFamily="18" charset="0"/>
              </a:rPr>
              <a:t>шууд нөлөөлөх хүчин зүйлс </a:t>
            </a:r>
            <a:r>
              <a:rPr lang="mn-MN" dirty="0">
                <a:solidFill>
                  <a:srgbClr val="002060"/>
                </a:solidFill>
                <a:latin typeface="Times New Roman" panose="02020603050405020304" pitchFamily="18" charset="0"/>
                <a:cs typeface="Times New Roman" panose="02020603050405020304" pitchFamily="18" charset="0"/>
              </a:rPr>
              <a:t>багтана.</a:t>
            </a:r>
          </a:p>
          <a:p>
            <a:pPr algn="just"/>
            <a:r>
              <a:rPr lang="mn-MN" b="1" dirty="0">
                <a:solidFill>
                  <a:srgbClr val="002060"/>
                </a:solidFill>
                <a:latin typeface="Times New Roman" panose="02020603050405020304" pitchFamily="18" charset="0"/>
                <a:cs typeface="Times New Roman" panose="02020603050405020304" pitchFamily="18" charset="0"/>
              </a:rPr>
              <a:t>Маркетингийн микро орчин </a:t>
            </a:r>
            <a:r>
              <a:rPr lang="mn-MN" dirty="0">
                <a:solidFill>
                  <a:srgbClr val="002060"/>
                </a:solidFill>
                <a:latin typeface="Times New Roman" panose="02020603050405020304" pitchFamily="18" charset="0"/>
                <a:cs typeface="Times New Roman" panose="02020603050405020304" pitchFamily="18" charset="0"/>
              </a:rPr>
              <a:t>– үйлдвэрлэл, үйлчилгээ явуулахын тулд харгалзан үзэх, харилцан хамаарал бүхий хүчин зүйлүүдийн нэгдэл.</a:t>
            </a:r>
          </a:p>
          <a:p>
            <a:pPr algn="just"/>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9167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Google Shape;363;p14">
            <a:extLst>
              <a:ext uri="{FF2B5EF4-FFF2-40B4-BE49-F238E27FC236}">
                <a16:creationId xmlns:a16="http://schemas.microsoft.com/office/drawing/2014/main" id="{620BA734-B960-C521-A4B0-54C9A6929476}"/>
              </a:ext>
            </a:extLst>
          </p:cNvPr>
          <p:cNvCxnSpPr/>
          <p:nvPr/>
        </p:nvCxnSpPr>
        <p:spPr>
          <a:xfrm>
            <a:off x="4694565"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13" name="Google Shape;364;p14">
            <a:extLst>
              <a:ext uri="{FF2B5EF4-FFF2-40B4-BE49-F238E27FC236}">
                <a16:creationId xmlns:a16="http://schemas.microsoft.com/office/drawing/2014/main" id="{84D1F268-9586-ED8F-5C30-56A4926BFFC6}"/>
              </a:ext>
            </a:extLst>
          </p:cNvPr>
          <p:cNvCxnSpPr/>
          <p:nvPr/>
        </p:nvCxnSpPr>
        <p:spPr>
          <a:xfrm>
            <a:off x="4694565" y="1458319"/>
            <a:ext cx="481264" cy="0"/>
          </a:xfrm>
          <a:prstGeom prst="straightConnector1">
            <a:avLst/>
          </a:prstGeom>
          <a:noFill/>
          <a:ln w="22225" cap="flat" cmpd="sng">
            <a:solidFill>
              <a:schemeClr val="accent1"/>
            </a:solidFill>
            <a:prstDash val="solid"/>
            <a:round/>
            <a:headEnd type="none" w="sm" len="sm"/>
            <a:tailEnd type="stealth" w="med" len="med"/>
          </a:ln>
        </p:spPr>
      </p:cxnSp>
      <p:sp>
        <p:nvSpPr>
          <p:cNvPr id="2" name="Title 1">
            <a:extLst>
              <a:ext uri="{FF2B5EF4-FFF2-40B4-BE49-F238E27FC236}">
                <a16:creationId xmlns:a16="http://schemas.microsoft.com/office/drawing/2014/main" id="{89116066-ACA2-7846-DBA2-5A141AC640D4}"/>
              </a:ext>
            </a:extLst>
          </p:cNvPr>
          <p:cNvSpPr>
            <a:spLocks noGrp="1"/>
          </p:cNvSpPr>
          <p:nvPr>
            <p:ph type="title"/>
          </p:nvPr>
        </p:nvSpPr>
        <p:spPr>
          <a:xfrm>
            <a:off x="142318" y="188873"/>
            <a:ext cx="10515600" cy="505292"/>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Маркетингийн МИКРО орчин</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6FAF87-EBA7-598D-BBDD-D6B45666EA91}"/>
              </a:ext>
            </a:extLst>
          </p:cNvPr>
          <p:cNvSpPr>
            <a:spLocks noGrp="1"/>
          </p:cNvSpPr>
          <p:nvPr>
            <p:ph idx="1"/>
          </p:nvPr>
        </p:nvSpPr>
        <p:spPr>
          <a:xfrm>
            <a:off x="142318" y="1768432"/>
            <a:ext cx="11495313" cy="4900691"/>
          </a:xfrm>
        </p:spPr>
        <p:txBody>
          <a:bodyPr>
            <a:normAutofit fontScale="92500" lnSpcReduction="10000"/>
          </a:bodyPr>
          <a:lstStyle/>
          <a:p>
            <a:pPr algn="just"/>
            <a:r>
              <a:rPr lang="mn-MN" b="1" dirty="0">
                <a:solidFill>
                  <a:srgbClr val="002060"/>
                </a:solidFill>
                <a:latin typeface="Times New Roman" panose="02020603050405020304" pitchFamily="18" charset="0"/>
                <a:cs typeface="Times New Roman" panose="02020603050405020304" pitchFamily="18" charset="0"/>
              </a:rPr>
              <a:t>БАЙГУУЛЛАГА</a:t>
            </a:r>
            <a:r>
              <a:rPr lang="mn-MN" dirty="0">
                <a:solidFill>
                  <a:srgbClr val="002060"/>
                </a:solidFill>
                <a:latin typeface="Times New Roman" panose="02020603050405020304" pitchFamily="18" charset="0"/>
                <a:cs typeface="Times New Roman" panose="02020603050405020304" pitchFamily="18" charset="0"/>
              </a:rPr>
              <a:t> – Байгууллагын эрдэм шинжилгээ судалгаа, туршилт боловсруулалтын алба, техник хангамжийн алба, бүртгэл санхүүгийн алба, үйлдвэрлэлийн зэрэг байгууллагын доторх буюу хэсэг бүлгүүдийн ашиг сонирхлыг хооронд нь холбоотойгоор авч үздэг.</a:t>
            </a:r>
          </a:p>
          <a:p>
            <a:pPr algn="just"/>
            <a:r>
              <a:rPr lang="mn-MN" b="1" dirty="0">
                <a:solidFill>
                  <a:srgbClr val="002060"/>
                </a:solidFill>
                <a:latin typeface="Times New Roman" panose="02020603050405020304" pitchFamily="18" charset="0"/>
                <a:cs typeface="Times New Roman" panose="02020603050405020304" pitchFamily="18" charset="0"/>
              </a:rPr>
              <a:t>БЭЛТГЭН НИЙЛҮҮЛЭГЧИД </a:t>
            </a:r>
            <a:r>
              <a:rPr lang="mn-MN" dirty="0">
                <a:solidFill>
                  <a:srgbClr val="002060"/>
                </a:solidFill>
                <a:latin typeface="Times New Roman" panose="02020603050405020304" pitchFamily="18" charset="0"/>
                <a:cs typeface="Times New Roman" panose="02020603050405020304" pitchFamily="18" charset="0"/>
              </a:rPr>
              <a:t>– Аливаа байгууллага, түүний өрсөлдөгчдийг тодорхой нэр төрлийн бүтээгдэхүүн үйлдвэрлэх, ажил үйлчилгээ явуулахад нь зориулж материал, түүхий эдээр хангадаг худалдааны байгууллага, хувь худалдаачид. </a:t>
            </a:r>
          </a:p>
          <a:p>
            <a:pPr lvl="1" algn="just"/>
            <a:r>
              <a:rPr lang="mn-MN" dirty="0">
                <a:solidFill>
                  <a:srgbClr val="002060"/>
                </a:solidFill>
                <a:latin typeface="Times New Roman" panose="02020603050405020304" pitchFamily="18" charset="0"/>
                <a:cs typeface="Times New Roman" panose="02020603050405020304" pitchFamily="18" charset="0"/>
              </a:rPr>
              <a:t>Зах зээлийн үед аливаа үйлдвэрлэгчид, бэлтгэн нийлүүлэгчид бие биенээ чөлөөтэй сонгож авах бололцоотой. Ингэхдээ хоёр үндсэн шалгуур үзүүлэлтийг харгалзаж үзнэ:</a:t>
            </a:r>
          </a:p>
          <a:p>
            <a:pPr lvl="2" algn="just"/>
            <a:r>
              <a:rPr lang="mn-MN" dirty="0">
                <a:solidFill>
                  <a:srgbClr val="002060"/>
                </a:solidFill>
                <a:latin typeface="Times New Roman" panose="02020603050405020304" pitchFamily="18" charset="0"/>
                <a:cs typeface="Times New Roman" panose="02020603050405020304" pitchFamily="18" charset="0"/>
              </a:rPr>
              <a:t>Материал түүхий эдээр тасралтгүй хангах нөхцөл</a:t>
            </a:r>
          </a:p>
          <a:p>
            <a:pPr lvl="2" algn="just"/>
            <a:r>
              <a:rPr lang="mn-MN" dirty="0">
                <a:solidFill>
                  <a:srgbClr val="002060"/>
                </a:solidFill>
                <a:latin typeface="Times New Roman" panose="02020603050405020304" pitchFamily="18" charset="0"/>
                <a:cs typeface="Times New Roman" panose="02020603050405020304" pitchFamily="18" charset="0"/>
              </a:rPr>
              <a:t>Материал түүхий эдийн үнийг тогтвортой барьж байх. </a:t>
            </a:r>
          </a:p>
          <a:p>
            <a:pPr lvl="1" algn="just"/>
            <a:r>
              <a:rPr lang="mn-MN" dirty="0">
                <a:solidFill>
                  <a:srgbClr val="002060"/>
                </a:solidFill>
                <a:latin typeface="Times New Roman" panose="02020603050405020304" pitchFamily="18" charset="0"/>
                <a:cs typeface="Times New Roman" panose="02020603050405020304" pitchFamily="18" charset="0"/>
              </a:rPr>
              <a:t>Зах зээлийн харилцаанд бэлтгэн нийлүүлэгчид жижиглэнгийн ба бөөний худалдааны хэлбэрээр оролцдог.</a:t>
            </a:r>
          </a:p>
        </p:txBody>
      </p:sp>
      <p:sp>
        <p:nvSpPr>
          <p:cNvPr id="4" name="Google Shape;355;p14">
            <a:extLst>
              <a:ext uri="{FF2B5EF4-FFF2-40B4-BE49-F238E27FC236}">
                <a16:creationId xmlns:a16="http://schemas.microsoft.com/office/drawing/2014/main" id="{D3CBB9BB-0A42-72E3-07B1-E9AB7DA0F721}"/>
              </a:ext>
            </a:extLst>
          </p:cNvPr>
          <p:cNvSpPr/>
          <p:nvPr/>
        </p:nvSpPr>
        <p:spPr>
          <a:xfrm>
            <a:off x="375910" y="813348"/>
            <a:ext cx="2021306"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Нийлүүлэгчид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5" name="Google Shape;356;p14">
            <a:extLst>
              <a:ext uri="{FF2B5EF4-FFF2-40B4-BE49-F238E27FC236}">
                <a16:creationId xmlns:a16="http://schemas.microsoft.com/office/drawing/2014/main" id="{08C3445F-A303-0BCE-8F32-99D40E78BAE8}"/>
              </a:ext>
            </a:extLst>
          </p:cNvPr>
          <p:cNvSpPr/>
          <p:nvPr/>
        </p:nvSpPr>
        <p:spPr>
          <a:xfrm>
            <a:off x="2912986" y="803646"/>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Байгууллага</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6" name="Google Shape;357;p14">
            <a:extLst>
              <a:ext uri="{FF2B5EF4-FFF2-40B4-BE49-F238E27FC236}">
                <a16:creationId xmlns:a16="http://schemas.microsoft.com/office/drawing/2014/main" id="{EC422C39-FE3C-0254-DB78-B753CD2114C7}"/>
              </a:ext>
            </a:extLst>
          </p:cNvPr>
          <p:cNvSpPr/>
          <p:nvPr/>
        </p:nvSpPr>
        <p:spPr>
          <a:xfrm>
            <a:off x="2912986" y="1275439"/>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Өрсөлдөгчид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7" name="Google Shape;358;p14">
            <a:extLst>
              <a:ext uri="{FF2B5EF4-FFF2-40B4-BE49-F238E27FC236}">
                <a16:creationId xmlns:a16="http://schemas.microsoft.com/office/drawing/2014/main" id="{C3A5F997-E7FF-839A-7526-1D22C2604592}"/>
              </a:ext>
            </a:extLst>
          </p:cNvPr>
          <p:cNvSpPr/>
          <p:nvPr/>
        </p:nvSpPr>
        <p:spPr>
          <a:xfrm>
            <a:off x="5210335" y="813348"/>
            <a:ext cx="219837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Маркетингийн</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зуучлагчид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8" name="Google Shape;359;p14">
            <a:extLst>
              <a:ext uri="{FF2B5EF4-FFF2-40B4-BE49-F238E27FC236}">
                <a16:creationId xmlns:a16="http://schemas.microsoft.com/office/drawing/2014/main" id="{F485C8F1-A78F-A900-4695-026253CFDC41}"/>
              </a:ext>
            </a:extLst>
          </p:cNvPr>
          <p:cNvSpPr/>
          <p:nvPr/>
        </p:nvSpPr>
        <p:spPr>
          <a:xfrm>
            <a:off x="7877258" y="813348"/>
            <a:ext cx="182608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Хэрэглэгчид</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9" name="Google Shape;360;p14">
            <a:extLst>
              <a:ext uri="{FF2B5EF4-FFF2-40B4-BE49-F238E27FC236}">
                <a16:creationId xmlns:a16="http://schemas.microsoft.com/office/drawing/2014/main" id="{54D24933-5727-DBC9-E222-26AA3BB5B56E}"/>
              </a:ext>
            </a:extLst>
          </p:cNvPr>
          <p:cNvSpPr/>
          <p:nvPr/>
        </p:nvSpPr>
        <p:spPr>
          <a:xfrm>
            <a:off x="10221827" y="813348"/>
            <a:ext cx="1451061"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Түншүүд</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cxnSp>
        <p:nvCxnSpPr>
          <p:cNvPr id="10" name="Google Shape;361;p14">
            <a:extLst>
              <a:ext uri="{FF2B5EF4-FFF2-40B4-BE49-F238E27FC236}">
                <a16:creationId xmlns:a16="http://schemas.microsoft.com/office/drawing/2014/main" id="{49454B55-B240-D5BD-48FD-FF8AB0BA6E6C}"/>
              </a:ext>
            </a:extLst>
          </p:cNvPr>
          <p:cNvCxnSpPr/>
          <p:nvPr/>
        </p:nvCxnSpPr>
        <p:spPr>
          <a:xfrm>
            <a:off x="2397216"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11" name="Google Shape;362;p14">
            <a:extLst>
              <a:ext uri="{FF2B5EF4-FFF2-40B4-BE49-F238E27FC236}">
                <a16:creationId xmlns:a16="http://schemas.microsoft.com/office/drawing/2014/main" id="{F4F51A60-CF29-BAD1-43B3-2BC7CEE3FC2A}"/>
              </a:ext>
            </a:extLst>
          </p:cNvPr>
          <p:cNvCxnSpPr/>
          <p:nvPr/>
        </p:nvCxnSpPr>
        <p:spPr>
          <a:xfrm>
            <a:off x="2397216" y="1458319"/>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14" name="Google Shape;365;p14">
            <a:extLst>
              <a:ext uri="{FF2B5EF4-FFF2-40B4-BE49-F238E27FC236}">
                <a16:creationId xmlns:a16="http://schemas.microsoft.com/office/drawing/2014/main" id="{8497D7D7-33EA-6847-4AA3-271D6A87AD87}"/>
              </a:ext>
            </a:extLst>
          </p:cNvPr>
          <p:cNvCxnSpPr/>
          <p:nvPr/>
        </p:nvCxnSpPr>
        <p:spPr>
          <a:xfrm>
            <a:off x="7395994" y="1221165"/>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15" name="Google Shape;366;p14">
            <a:extLst>
              <a:ext uri="{FF2B5EF4-FFF2-40B4-BE49-F238E27FC236}">
                <a16:creationId xmlns:a16="http://schemas.microsoft.com/office/drawing/2014/main" id="{93C6F256-7141-D9BB-912A-7A2C156FA688}"/>
              </a:ext>
            </a:extLst>
          </p:cNvPr>
          <p:cNvCxnSpPr/>
          <p:nvPr/>
        </p:nvCxnSpPr>
        <p:spPr>
          <a:xfrm>
            <a:off x="9703342" y="1232125"/>
            <a:ext cx="481264" cy="0"/>
          </a:xfrm>
          <a:prstGeom prst="straightConnector1">
            <a:avLst/>
          </a:prstGeom>
          <a:noFill/>
          <a:ln w="22225" cap="flat" cmpd="sng">
            <a:solidFill>
              <a:schemeClr val="accent1"/>
            </a:solidFill>
            <a:prstDash val="solid"/>
            <a:round/>
            <a:headEnd type="none" w="sm" len="sm"/>
            <a:tailEnd type="stealth" w="med" len="med"/>
          </a:ln>
        </p:spPr>
      </p:cxnSp>
    </p:spTree>
    <p:extLst>
      <p:ext uri="{BB962C8B-B14F-4D97-AF65-F5344CB8AC3E}">
        <p14:creationId xmlns:p14="http://schemas.microsoft.com/office/powerpoint/2010/main" val="2791419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D0596-5804-6E80-6D2C-3790682974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11F76E-8547-96B8-D558-53A1710B2A7C}"/>
              </a:ext>
            </a:extLst>
          </p:cNvPr>
          <p:cNvSpPr>
            <a:spLocks noGrp="1"/>
          </p:cNvSpPr>
          <p:nvPr>
            <p:ph idx="1"/>
          </p:nvPr>
        </p:nvSpPr>
        <p:spPr>
          <a:xfrm>
            <a:off x="177575" y="1703918"/>
            <a:ext cx="11830395" cy="4965204"/>
          </a:xfrm>
        </p:spPr>
        <p:txBody>
          <a:bodyPr>
            <a:normAutofit lnSpcReduction="10000"/>
          </a:bodyPr>
          <a:lstStyle/>
          <a:p>
            <a:pPr algn="just"/>
            <a:r>
              <a:rPr lang="mn-MN" b="1" dirty="0">
                <a:solidFill>
                  <a:srgbClr val="002060"/>
                </a:solidFill>
                <a:latin typeface="Times New Roman" panose="02020603050405020304" pitchFamily="18" charset="0"/>
                <a:cs typeface="Times New Roman" panose="02020603050405020304" pitchFamily="18" charset="0"/>
              </a:rPr>
              <a:t>ЗУУЧЛАГЧИД </a:t>
            </a:r>
            <a:r>
              <a:rPr lang="mn-MN" dirty="0">
                <a:solidFill>
                  <a:srgbClr val="002060"/>
                </a:solidFill>
                <a:latin typeface="Times New Roman" panose="02020603050405020304" pitchFamily="18" charset="0"/>
                <a:cs typeface="Times New Roman" panose="02020603050405020304" pitchFamily="18" charset="0"/>
              </a:rPr>
              <a:t>– Т</a:t>
            </a:r>
            <a:r>
              <a:rPr lang="en-US" dirty="0" err="1">
                <a:solidFill>
                  <a:srgbClr val="002060"/>
                </a:solidFill>
                <a:latin typeface="Times New Roman" panose="02020603050405020304" pitchFamily="18" charset="0"/>
                <a:cs typeface="Times New Roman" panose="02020603050405020304" pitchFamily="18" charset="0"/>
              </a:rPr>
              <a:t>үншүүди</a:t>
            </a:r>
            <a:r>
              <a:rPr lang="mn-MN" dirty="0">
                <a:solidFill>
                  <a:srgbClr val="002060"/>
                </a:solidFill>
                <a:latin typeface="Times New Roman" panose="02020603050405020304" pitchFamily="18" charset="0"/>
                <a:cs typeface="Times New Roman" panose="02020603050405020304" pitchFamily="18" charset="0"/>
              </a:rPr>
              <a:t>й</a:t>
            </a:r>
            <a:r>
              <a:rPr lang="en-US" dirty="0">
                <a:solidFill>
                  <a:srgbClr val="002060"/>
                </a:solidFill>
                <a:latin typeface="Times New Roman" panose="02020603050405020304" pitchFamily="18" charset="0"/>
                <a:cs typeface="Times New Roman" panose="02020603050405020304" pitchFamily="18" charset="0"/>
              </a:rPr>
              <a:t>н </a:t>
            </a:r>
            <a:r>
              <a:rPr lang="en-US" dirty="0" err="1">
                <a:solidFill>
                  <a:srgbClr val="002060"/>
                </a:solidFill>
                <a:latin typeface="Times New Roman" panose="02020603050405020304" pitchFamily="18" charset="0"/>
                <a:cs typeface="Times New Roman" panose="02020603050405020304" pitchFamily="18" charset="0"/>
              </a:rPr>
              <a:t>хооронд</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бараа</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үйлчилгээг</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хүргэх</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борлуулах</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сурталчилахад</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нь</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тусладаг</a:t>
            </a:r>
            <a:r>
              <a:rPr lang="en-US" dirty="0">
                <a:solidFill>
                  <a:srgbClr val="002060"/>
                </a:solidFill>
                <a:latin typeface="Times New Roman" panose="02020603050405020304" pitchFamily="18" charset="0"/>
                <a:cs typeface="Times New Roman" panose="02020603050405020304" pitchFamily="18" charset="0"/>
              </a:rPr>
              <a:t>. </a:t>
            </a:r>
            <a:endParaRPr lang="mn-MN" dirty="0">
              <a:solidFill>
                <a:srgbClr val="002060"/>
              </a:solidFill>
              <a:latin typeface="Times New Roman" panose="02020603050405020304" pitchFamily="18" charset="0"/>
              <a:cs typeface="Times New Roman" panose="02020603050405020304" pitchFamily="18" charset="0"/>
            </a:endParaRPr>
          </a:p>
          <a:p>
            <a:pPr algn="just"/>
            <a:r>
              <a:rPr lang="mn-MN" dirty="0">
                <a:solidFill>
                  <a:srgbClr val="002060"/>
                </a:solidFill>
                <a:latin typeface="Times New Roman" panose="02020603050405020304" pitchFamily="18" charset="0"/>
                <a:cs typeface="Times New Roman" panose="02020603050405020304" pitchFamily="18" charset="0"/>
              </a:rPr>
              <a:t>Маркетингийн зуучлагчдыг дотор нь:</a:t>
            </a:r>
          </a:p>
          <a:p>
            <a:pPr lvl="1" algn="just"/>
            <a:r>
              <a:rPr lang="mn-MN" b="1" dirty="0">
                <a:solidFill>
                  <a:srgbClr val="002060"/>
                </a:solidFill>
                <a:latin typeface="Times New Roman" panose="02020603050405020304" pitchFamily="18" charset="0"/>
                <a:cs typeface="Times New Roman" panose="02020603050405020304" pitchFamily="18" charset="0"/>
              </a:rPr>
              <a:t>Худалдааны зуучид</a:t>
            </a:r>
            <a:r>
              <a:rPr lang="mn-MN" dirty="0">
                <a:solidFill>
                  <a:srgbClr val="002060"/>
                </a:solidFill>
                <a:latin typeface="Times New Roman" panose="02020603050405020304" pitchFamily="18" charset="0"/>
                <a:cs typeface="Times New Roman" panose="02020603050405020304" pitchFamily="18" charset="0"/>
              </a:rPr>
              <a:t>. Худалдааны байгууллагууд түнш олж өгөх эсвэл бараа үйлчилгээг нь борлуулахад шууд тусалдаг ажил хэрэгч худалдааны байгууллага, хувь хүмүүсийг худалдааны зуучлагчид гэнэ. </a:t>
            </a:r>
          </a:p>
          <a:p>
            <a:pPr lvl="1" algn="just"/>
            <a:r>
              <a:rPr lang="mn-MN" b="1" dirty="0">
                <a:solidFill>
                  <a:srgbClr val="002060"/>
                </a:solidFill>
                <a:latin typeface="Times New Roman" panose="02020603050405020304" pitchFamily="18" charset="0"/>
                <a:cs typeface="Times New Roman" panose="02020603050405020304" pitchFamily="18" charset="0"/>
              </a:rPr>
              <a:t>Барааны хөдөлгөөнийг зохион байгуулдаг мэргэжлийн байгууллагууд</a:t>
            </a:r>
            <a:r>
              <a:rPr lang="mn-MN" dirty="0">
                <a:solidFill>
                  <a:srgbClr val="002060"/>
                </a:solidFill>
                <a:latin typeface="Times New Roman" panose="02020603050405020304" pitchFamily="18" charset="0"/>
                <a:cs typeface="Times New Roman" panose="02020603050405020304" pitchFamily="18" charset="0"/>
              </a:rPr>
              <a:t>. Энэ нь компани худалдаачдын барааг хадгалах, нөөцлөх, тээвэрлэх, хэрэглэгчдэд хүргэхэд нь тусалдаг байгууллага юм.</a:t>
            </a:r>
          </a:p>
          <a:p>
            <a:pPr lvl="1" algn="just"/>
            <a:r>
              <a:rPr lang="mn-MN" b="1" dirty="0">
                <a:solidFill>
                  <a:srgbClr val="002060"/>
                </a:solidFill>
                <a:latin typeface="Times New Roman" panose="02020603050405020304" pitchFamily="18" charset="0"/>
                <a:cs typeface="Times New Roman" panose="02020603050405020304" pitchFamily="18" charset="0"/>
              </a:rPr>
              <a:t>Маркетингийн үйлчилгээ үзүүлдэг товчоод</a:t>
            </a:r>
            <a:r>
              <a:rPr lang="mn-MN" dirty="0">
                <a:solidFill>
                  <a:srgbClr val="002060"/>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Y</a:t>
            </a:r>
            <a:r>
              <a:rPr lang="mn-MN" dirty="0">
                <a:solidFill>
                  <a:srgbClr val="002060"/>
                </a:solidFill>
                <a:latin typeface="Times New Roman" panose="02020603050405020304" pitchFamily="18" charset="0"/>
                <a:cs typeface="Times New Roman" panose="02020603050405020304" pitchFamily="18" charset="0"/>
              </a:rPr>
              <a:t>үнд: маркетингийн судалгаа, сурталчилгаа, зарлал, чимэглэл хариуцсан болон маркетингийн зөвлөлгөө өгдөг газрууд багтдаг. Тэд барааг хамгийн тохиромжтой газар борлуулахад тусалдаг. </a:t>
            </a:r>
          </a:p>
          <a:p>
            <a:pPr lvl="1" algn="just"/>
            <a:r>
              <a:rPr lang="mn-MN" b="1" dirty="0">
                <a:solidFill>
                  <a:srgbClr val="002060"/>
                </a:solidFill>
                <a:latin typeface="Times New Roman" panose="02020603050405020304" pitchFamily="18" charset="0"/>
                <a:cs typeface="Times New Roman" panose="02020603050405020304" pitchFamily="18" charset="0"/>
              </a:rPr>
              <a:t>Санхүү - зээлийн байгууллага</a:t>
            </a:r>
            <a:r>
              <a:rPr lang="mn-MN" dirty="0">
                <a:solidFill>
                  <a:srgbClr val="002060"/>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Y</a:t>
            </a:r>
            <a:r>
              <a:rPr lang="mn-MN" dirty="0">
                <a:solidFill>
                  <a:srgbClr val="002060"/>
                </a:solidFill>
                <a:latin typeface="Times New Roman" panose="02020603050405020304" pitchFamily="18" charset="0"/>
                <a:cs typeface="Times New Roman" panose="02020603050405020304" pitchFamily="18" charset="0"/>
              </a:rPr>
              <a:t>үнд: банк, зээлийн компани даатгал болон үйлдвэрлэл, худалдааны ажлыг санхүүжүүлэхэд тусалдаг байгууллага багтана.</a:t>
            </a:r>
          </a:p>
        </p:txBody>
      </p:sp>
      <p:cxnSp>
        <p:nvCxnSpPr>
          <p:cNvPr id="18" name="Google Shape;363;p14">
            <a:extLst>
              <a:ext uri="{FF2B5EF4-FFF2-40B4-BE49-F238E27FC236}">
                <a16:creationId xmlns:a16="http://schemas.microsoft.com/office/drawing/2014/main" id="{829CF683-7F98-4534-A0F2-4A13BCD9C857}"/>
              </a:ext>
            </a:extLst>
          </p:cNvPr>
          <p:cNvCxnSpPr/>
          <p:nvPr/>
        </p:nvCxnSpPr>
        <p:spPr>
          <a:xfrm>
            <a:off x="4694565"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19" name="Google Shape;364;p14">
            <a:extLst>
              <a:ext uri="{FF2B5EF4-FFF2-40B4-BE49-F238E27FC236}">
                <a16:creationId xmlns:a16="http://schemas.microsoft.com/office/drawing/2014/main" id="{8581906A-D935-4DC7-B5BD-DF3D3743D87C}"/>
              </a:ext>
            </a:extLst>
          </p:cNvPr>
          <p:cNvCxnSpPr/>
          <p:nvPr/>
        </p:nvCxnSpPr>
        <p:spPr>
          <a:xfrm>
            <a:off x="4694565" y="1458319"/>
            <a:ext cx="481264" cy="0"/>
          </a:xfrm>
          <a:prstGeom prst="straightConnector1">
            <a:avLst/>
          </a:prstGeom>
          <a:noFill/>
          <a:ln w="22225" cap="flat" cmpd="sng">
            <a:solidFill>
              <a:schemeClr val="accent1"/>
            </a:solidFill>
            <a:prstDash val="solid"/>
            <a:round/>
            <a:headEnd type="none" w="sm" len="sm"/>
            <a:tailEnd type="stealth" w="med" len="med"/>
          </a:ln>
        </p:spPr>
      </p:cxnSp>
      <p:sp>
        <p:nvSpPr>
          <p:cNvPr id="20" name="Title 1">
            <a:extLst>
              <a:ext uri="{FF2B5EF4-FFF2-40B4-BE49-F238E27FC236}">
                <a16:creationId xmlns:a16="http://schemas.microsoft.com/office/drawing/2014/main" id="{BBB09C65-5830-4CA1-88FA-CF7E9C7A3F93}"/>
              </a:ext>
            </a:extLst>
          </p:cNvPr>
          <p:cNvSpPr>
            <a:spLocks noGrp="1"/>
          </p:cNvSpPr>
          <p:nvPr>
            <p:ph type="title"/>
          </p:nvPr>
        </p:nvSpPr>
        <p:spPr>
          <a:xfrm>
            <a:off x="142318" y="188873"/>
            <a:ext cx="10515600" cy="505292"/>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Маркетингийн МИКРО орчин</a:t>
            </a:r>
            <a:endParaRPr lang="en-US" sz="3600" dirty="0">
              <a:latin typeface="Times New Roman" panose="02020603050405020304" pitchFamily="18" charset="0"/>
              <a:cs typeface="Times New Roman" panose="02020603050405020304" pitchFamily="18" charset="0"/>
            </a:endParaRPr>
          </a:p>
        </p:txBody>
      </p:sp>
      <p:sp>
        <p:nvSpPr>
          <p:cNvPr id="21" name="Google Shape;355;p14">
            <a:extLst>
              <a:ext uri="{FF2B5EF4-FFF2-40B4-BE49-F238E27FC236}">
                <a16:creationId xmlns:a16="http://schemas.microsoft.com/office/drawing/2014/main" id="{FBD56D6E-B0DA-4EDB-B024-482A1D8E4012}"/>
              </a:ext>
            </a:extLst>
          </p:cNvPr>
          <p:cNvSpPr/>
          <p:nvPr/>
        </p:nvSpPr>
        <p:spPr>
          <a:xfrm>
            <a:off x="375910" y="813348"/>
            <a:ext cx="2021306"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Нийлүүлэгчид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2" name="Google Shape;356;p14">
            <a:extLst>
              <a:ext uri="{FF2B5EF4-FFF2-40B4-BE49-F238E27FC236}">
                <a16:creationId xmlns:a16="http://schemas.microsoft.com/office/drawing/2014/main" id="{24E753B2-90CE-4A22-9D1B-2494AE047A04}"/>
              </a:ext>
            </a:extLst>
          </p:cNvPr>
          <p:cNvSpPr/>
          <p:nvPr/>
        </p:nvSpPr>
        <p:spPr>
          <a:xfrm>
            <a:off x="2912986" y="803646"/>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Байгууллага</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3" name="Google Shape;357;p14">
            <a:extLst>
              <a:ext uri="{FF2B5EF4-FFF2-40B4-BE49-F238E27FC236}">
                <a16:creationId xmlns:a16="http://schemas.microsoft.com/office/drawing/2014/main" id="{ABD3BE4C-36CE-4E74-8079-8D1DB69161FC}"/>
              </a:ext>
            </a:extLst>
          </p:cNvPr>
          <p:cNvSpPr/>
          <p:nvPr/>
        </p:nvSpPr>
        <p:spPr>
          <a:xfrm>
            <a:off x="2912986" y="1275439"/>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Өрсөлдөгчид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4" name="Google Shape;358;p14">
            <a:extLst>
              <a:ext uri="{FF2B5EF4-FFF2-40B4-BE49-F238E27FC236}">
                <a16:creationId xmlns:a16="http://schemas.microsoft.com/office/drawing/2014/main" id="{B64EF79A-FC92-4A46-84DD-9387154EAC70}"/>
              </a:ext>
            </a:extLst>
          </p:cNvPr>
          <p:cNvSpPr/>
          <p:nvPr/>
        </p:nvSpPr>
        <p:spPr>
          <a:xfrm>
            <a:off x="5210335" y="813348"/>
            <a:ext cx="219837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Маркетингийн</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зуучлагчид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5" name="Google Shape;359;p14">
            <a:extLst>
              <a:ext uri="{FF2B5EF4-FFF2-40B4-BE49-F238E27FC236}">
                <a16:creationId xmlns:a16="http://schemas.microsoft.com/office/drawing/2014/main" id="{19B4D404-6571-4DEA-B5E5-EE3795F91FA0}"/>
              </a:ext>
            </a:extLst>
          </p:cNvPr>
          <p:cNvSpPr/>
          <p:nvPr/>
        </p:nvSpPr>
        <p:spPr>
          <a:xfrm>
            <a:off x="7877258" y="813348"/>
            <a:ext cx="182608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Хэрэглэгчид</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6" name="Google Shape;360;p14">
            <a:extLst>
              <a:ext uri="{FF2B5EF4-FFF2-40B4-BE49-F238E27FC236}">
                <a16:creationId xmlns:a16="http://schemas.microsoft.com/office/drawing/2014/main" id="{D9AC6C43-A31E-4453-8382-FB901E5BFF94}"/>
              </a:ext>
            </a:extLst>
          </p:cNvPr>
          <p:cNvSpPr/>
          <p:nvPr/>
        </p:nvSpPr>
        <p:spPr>
          <a:xfrm>
            <a:off x="10221827" y="813348"/>
            <a:ext cx="1451061"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Түншүүд</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cxnSp>
        <p:nvCxnSpPr>
          <p:cNvPr id="27" name="Google Shape;361;p14">
            <a:extLst>
              <a:ext uri="{FF2B5EF4-FFF2-40B4-BE49-F238E27FC236}">
                <a16:creationId xmlns:a16="http://schemas.microsoft.com/office/drawing/2014/main" id="{5EFEB277-54CC-4AC6-BD71-9F0CAAC088C6}"/>
              </a:ext>
            </a:extLst>
          </p:cNvPr>
          <p:cNvCxnSpPr/>
          <p:nvPr/>
        </p:nvCxnSpPr>
        <p:spPr>
          <a:xfrm>
            <a:off x="2397216"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28" name="Google Shape;362;p14">
            <a:extLst>
              <a:ext uri="{FF2B5EF4-FFF2-40B4-BE49-F238E27FC236}">
                <a16:creationId xmlns:a16="http://schemas.microsoft.com/office/drawing/2014/main" id="{C8E5EEEB-AE19-49F1-A5DC-4719F863B7AA}"/>
              </a:ext>
            </a:extLst>
          </p:cNvPr>
          <p:cNvCxnSpPr/>
          <p:nvPr/>
        </p:nvCxnSpPr>
        <p:spPr>
          <a:xfrm>
            <a:off x="2397216" y="1458319"/>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29" name="Google Shape;365;p14">
            <a:extLst>
              <a:ext uri="{FF2B5EF4-FFF2-40B4-BE49-F238E27FC236}">
                <a16:creationId xmlns:a16="http://schemas.microsoft.com/office/drawing/2014/main" id="{B7E300F6-A2A8-44D2-B0B3-27DFD73D8CFB}"/>
              </a:ext>
            </a:extLst>
          </p:cNvPr>
          <p:cNvCxnSpPr/>
          <p:nvPr/>
        </p:nvCxnSpPr>
        <p:spPr>
          <a:xfrm>
            <a:off x="7395994" y="1221165"/>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30" name="Google Shape;366;p14">
            <a:extLst>
              <a:ext uri="{FF2B5EF4-FFF2-40B4-BE49-F238E27FC236}">
                <a16:creationId xmlns:a16="http://schemas.microsoft.com/office/drawing/2014/main" id="{7BA26490-3202-415D-8150-6E7D6AF500F8}"/>
              </a:ext>
            </a:extLst>
          </p:cNvPr>
          <p:cNvCxnSpPr/>
          <p:nvPr/>
        </p:nvCxnSpPr>
        <p:spPr>
          <a:xfrm>
            <a:off x="9703342" y="1232125"/>
            <a:ext cx="481264" cy="0"/>
          </a:xfrm>
          <a:prstGeom prst="straightConnector1">
            <a:avLst/>
          </a:prstGeom>
          <a:noFill/>
          <a:ln w="22225" cap="flat" cmpd="sng">
            <a:solidFill>
              <a:schemeClr val="accent1"/>
            </a:solidFill>
            <a:prstDash val="solid"/>
            <a:round/>
            <a:headEnd type="none" w="sm" len="sm"/>
            <a:tailEnd type="stealth" w="med" len="med"/>
          </a:ln>
        </p:spPr>
      </p:cxnSp>
    </p:spTree>
    <p:extLst>
      <p:ext uri="{BB962C8B-B14F-4D97-AF65-F5344CB8AC3E}">
        <p14:creationId xmlns:p14="http://schemas.microsoft.com/office/powerpoint/2010/main" val="3771807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0895-E226-87CB-7E2E-F4FD75A939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3EE5A6-911C-BB58-3164-D9F7EA27CBFD}"/>
              </a:ext>
            </a:extLst>
          </p:cNvPr>
          <p:cNvSpPr>
            <a:spLocks noGrp="1"/>
          </p:cNvSpPr>
          <p:nvPr>
            <p:ph idx="1"/>
          </p:nvPr>
        </p:nvSpPr>
        <p:spPr>
          <a:xfrm>
            <a:off x="142318" y="1833782"/>
            <a:ext cx="11831146" cy="4835344"/>
          </a:xfrm>
        </p:spPr>
        <p:txBody>
          <a:bodyPr>
            <a:normAutofit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ХЭРЭГЛЭГЧИД</a:t>
            </a:r>
            <a:r>
              <a:rPr lang="mn-MN" sz="3200" dirty="0">
                <a:solidFill>
                  <a:srgbClr val="002060"/>
                </a:solidFill>
                <a:latin typeface="Times New Roman" panose="02020603050405020304" pitchFamily="18" charset="0"/>
                <a:cs typeface="Times New Roman" panose="02020603050405020304" pitchFamily="18" charset="0"/>
              </a:rPr>
              <a:t> - Аливаа байгууллага зургаан янзын худалдан авагчийн зах зээлд гарч худалдаа, арилжаа хийх боломжтой. </a:t>
            </a:r>
          </a:p>
          <a:p>
            <a:pPr algn="just"/>
            <a:r>
              <a:rPr lang="mn-MN" sz="3200" dirty="0">
                <a:solidFill>
                  <a:srgbClr val="002060"/>
                </a:solidFill>
                <a:latin typeface="Times New Roman" panose="02020603050405020304" pitchFamily="18" charset="0"/>
                <a:cs typeface="Times New Roman" panose="02020603050405020304" pitchFamily="18" charset="0"/>
              </a:rPr>
              <a:t>Зах зээлийн харилцааны нөхцөлд байгууллага, компаниуд өөрсдийн хэрэгцээтэй түүхий эд, ажиллах хүч, техник, технологи болон бусад шаардлагатай зүйлээ </a:t>
            </a:r>
            <a:r>
              <a:rPr lang="mn-MN" sz="3200" b="1" dirty="0">
                <a:solidFill>
                  <a:srgbClr val="002060"/>
                </a:solidFill>
                <a:latin typeface="Times New Roman" panose="02020603050405020304" pitchFamily="18" charset="0"/>
                <a:cs typeface="Times New Roman" panose="02020603050405020304" pitchFamily="18" charset="0"/>
              </a:rPr>
              <a:t>худалдан авагчийн, бэлтгэн нийлүүлэгчийн, зуучлагчийн, нөлөөллийн, ажиллах хүчний, дотоодын зах зээл</a:t>
            </a:r>
            <a:r>
              <a:rPr lang="mn-MN" sz="3200" dirty="0">
                <a:solidFill>
                  <a:srgbClr val="002060"/>
                </a:solidFill>
                <a:latin typeface="Times New Roman" panose="02020603050405020304" pitchFamily="18" charset="0"/>
                <a:cs typeface="Times New Roman" panose="02020603050405020304" pitchFamily="18" charset="0"/>
              </a:rPr>
              <a:t>ээс худалдан авч, үйлдвэрлэл, үйлчилгээгээ явуулдаг.</a:t>
            </a:r>
          </a:p>
          <a:p>
            <a:pPr algn="just"/>
            <a:r>
              <a:rPr lang="mn-MN" sz="3200" b="1" dirty="0">
                <a:solidFill>
                  <a:srgbClr val="002060"/>
                </a:solidFill>
                <a:latin typeface="Times New Roman" panose="02020603050405020304" pitchFamily="18" charset="0"/>
                <a:cs typeface="Times New Roman" panose="02020603050405020304" pitchFamily="18" charset="0"/>
              </a:rPr>
              <a:t>ӨРСӨЛДӨГЧИД</a:t>
            </a:r>
            <a:r>
              <a:rPr lang="mn-MN" sz="3200" dirty="0">
                <a:solidFill>
                  <a:srgbClr val="002060"/>
                </a:solidFill>
                <a:latin typeface="Times New Roman" panose="02020603050405020304" pitchFamily="18" charset="0"/>
                <a:cs typeface="Times New Roman" panose="02020603050405020304" pitchFamily="18" charset="0"/>
              </a:rPr>
              <a:t> - Худалдан авагчдаас гарах зардлыг бусдаас түрүүлж авахын төлөө үйл ажиллагаагаа чиглүүлдэг. Өрсөлдөөн бол бүтээгдэхүүн, үйлчилгээний янз бүрийн чиглэлээр явагддаг. </a:t>
            </a:r>
          </a:p>
        </p:txBody>
      </p:sp>
      <p:cxnSp>
        <p:nvCxnSpPr>
          <p:cNvPr id="18" name="Google Shape;363;p14">
            <a:extLst>
              <a:ext uri="{FF2B5EF4-FFF2-40B4-BE49-F238E27FC236}">
                <a16:creationId xmlns:a16="http://schemas.microsoft.com/office/drawing/2014/main" id="{EFB1A7AC-E8AE-4DE3-946D-CC298AD04AE8}"/>
              </a:ext>
            </a:extLst>
          </p:cNvPr>
          <p:cNvCxnSpPr/>
          <p:nvPr/>
        </p:nvCxnSpPr>
        <p:spPr>
          <a:xfrm>
            <a:off x="4694565"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19" name="Google Shape;364;p14">
            <a:extLst>
              <a:ext uri="{FF2B5EF4-FFF2-40B4-BE49-F238E27FC236}">
                <a16:creationId xmlns:a16="http://schemas.microsoft.com/office/drawing/2014/main" id="{FD424C82-386E-4107-9831-518B76118283}"/>
              </a:ext>
            </a:extLst>
          </p:cNvPr>
          <p:cNvCxnSpPr/>
          <p:nvPr/>
        </p:nvCxnSpPr>
        <p:spPr>
          <a:xfrm>
            <a:off x="4694565" y="1458319"/>
            <a:ext cx="481264" cy="0"/>
          </a:xfrm>
          <a:prstGeom prst="straightConnector1">
            <a:avLst/>
          </a:prstGeom>
          <a:noFill/>
          <a:ln w="22225" cap="flat" cmpd="sng">
            <a:solidFill>
              <a:schemeClr val="accent1"/>
            </a:solidFill>
            <a:prstDash val="solid"/>
            <a:round/>
            <a:headEnd type="none" w="sm" len="sm"/>
            <a:tailEnd type="stealth" w="med" len="med"/>
          </a:ln>
        </p:spPr>
      </p:cxnSp>
      <p:sp>
        <p:nvSpPr>
          <p:cNvPr id="20" name="Title 1">
            <a:extLst>
              <a:ext uri="{FF2B5EF4-FFF2-40B4-BE49-F238E27FC236}">
                <a16:creationId xmlns:a16="http://schemas.microsoft.com/office/drawing/2014/main" id="{DEB73C48-E2BC-4536-8A2E-B394C563A3AC}"/>
              </a:ext>
            </a:extLst>
          </p:cNvPr>
          <p:cNvSpPr>
            <a:spLocks noGrp="1"/>
          </p:cNvSpPr>
          <p:nvPr>
            <p:ph type="title"/>
          </p:nvPr>
        </p:nvSpPr>
        <p:spPr>
          <a:xfrm>
            <a:off x="142318" y="188873"/>
            <a:ext cx="10515600" cy="505292"/>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Маркетингийн МИКРО орчин</a:t>
            </a:r>
            <a:endParaRPr lang="en-US" sz="3600" dirty="0">
              <a:latin typeface="Times New Roman" panose="02020603050405020304" pitchFamily="18" charset="0"/>
              <a:cs typeface="Times New Roman" panose="02020603050405020304" pitchFamily="18" charset="0"/>
            </a:endParaRPr>
          </a:p>
        </p:txBody>
      </p:sp>
      <p:sp>
        <p:nvSpPr>
          <p:cNvPr id="21" name="Google Shape;355;p14">
            <a:extLst>
              <a:ext uri="{FF2B5EF4-FFF2-40B4-BE49-F238E27FC236}">
                <a16:creationId xmlns:a16="http://schemas.microsoft.com/office/drawing/2014/main" id="{C6ACFECD-BE6C-4121-BE70-9FF162922514}"/>
              </a:ext>
            </a:extLst>
          </p:cNvPr>
          <p:cNvSpPr/>
          <p:nvPr/>
        </p:nvSpPr>
        <p:spPr>
          <a:xfrm>
            <a:off x="375910" y="813348"/>
            <a:ext cx="2021306"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Нийлүүлэгчид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2" name="Google Shape;356;p14">
            <a:extLst>
              <a:ext uri="{FF2B5EF4-FFF2-40B4-BE49-F238E27FC236}">
                <a16:creationId xmlns:a16="http://schemas.microsoft.com/office/drawing/2014/main" id="{8CA9A9FF-09CF-4DF4-98FD-1D1B3B563763}"/>
              </a:ext>
            </a:extLst>
          </p:cNvPr>
          <p:cNvSpPr/>
          <p:nvPr/>
        </p:nvSpPr>
        <p:spPr>
          <a:xfrm>
            <a:off x="2912986" y="803646"/>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Байгууллага</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3" name="Google Shape;357;p14">
            <a:extLst>
              <a:ext uri="{FF2B5EF4-FFF2-40B4-BE49-F238E27FC236}">
                <a16:creationId xmlns:a16="http://schemas.microsoft.com/office/drawing/2014/main" id="{BF42DDF6-9191-433B-B32A-D3A6B9AD4BA6}"/>
              </a:ext>
            </a:extLst>
          </p:cNvPr>
          <p:cNvSpPr/>
          <p:nvPr/>
        </p:nvSpPr>
        <p:spPr>
          <a:xfrm>
            <a:off x="2912986" y="1275439"/>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Өрсөлдөгчид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4" name="Google Shape;358;p14">
            <a:extLst>
              <a:ext uri="{FF2B5EF4-FFF2-40B4-BE49-F238E27FC236}">
                <a16:creationId xmlns:a16="http://schemas.microsoft.com/office/drawing/2014/main" id="{1DE18386-A644-4D92-846E-DEFD7C876E3E}"/>
              </a:ext>
            </a:extLst>
          </p:cNvPr>
          <p:cNvSpPr/>
          <p:nvPr/>
        </p:nvSpPr>
        <p:spPr>
          <a:xfrm>
            <a:off x="5210335" y="813348"/>
            <a:ext cx="219837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Маркетингийн</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зуучлагчид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5" name="Google Shape;359;p14">
            <a:extLst>
              <a:ext uri="{FF2B5EF4-FFF2-40B4-BE49-F238E27FC236}">
                <a16:creationId xmlns:a16="http://schemas.microsoft.com/office/drawing/2014/main" id="{5196E0CB-82B2-4139-8FF2-CC55E3C1F3AD}"/>
              </a:ext>
            </a:extLst>
          </p:cNvPr>
          <p:cNvSpPr/>
          <p:nvPr/>
        </p:nvSpPr>
        <p:spPr>
          <a:xfrm>
            <a:off x="7877258" y="813348"/>
            <a:ext cx="182608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Хэрэглэгчид</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6" name="Google Shape;360;p14">
            <a:extLst>
              <a:ext uri="{FF2B5EF4-FFF2-40B4-BE49-F238E27FC236}">
                <a16:creationId xmlns:a16="http://schemas.microsoft.com/office/drawing/2014/main" id="{A0D0F9C5-B902-4441-BC4C-7711A5C0BE46}"/>
              </a:ext>
            </a:extLst>
          </p:cNvPr>
          <p:cNvSpPr/>
          <p:nvPr/>
        </p:nvSpPr>
        <p:spPr>
          <a:xfrm>
            <a:off x="10221827" y="813348"/>
            <a:ext cx="1451061"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Түншүүд</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cxnSp>
        <p:nvCxnSpPr>
          <p:cNvPr id="27" name="Google Shape;361;p14">
            <a:extLst>
              <a:ext uri="{FF2B5EF4-FFF2-40B4-BE49-F238E27FC236}">
                <a16:creationId xmlns:a16="http://schemas.microsoft.com/office/drawing/2014/main" id="{5945B20C-1D02-49D3-9418-9706EE5352E3}"/>
              </a:ext>
            </a:extLst>
          </p:cNvPr>
          <p:cNvCxnSpPr/>
          <p:nvPr/>
        </p:nvCxnSpPr>
        <p:spPr>
          <a:xfrm>
            <a:off x="2397216"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28" name="Google Shape;362;p14">
            <a:extLst>
              <a:ext uri="{FF2B5EF4-FFF2-40B4-BE49-F238E27FC236}">
                <a16:creationId xmlns:a16="http://schemas.microsoft.com/office/drawing/2014/main" id="{85ABBF51-9799-4168-9E84-50CAC4D65F41}"/>
              </a:ext>
            </a:extLst>
          </p:cNvPr>
          <p:cNvCxnSpPr/>
          <p:nvPr/>
        </p:nvCxnSpPr>
        <p:spPr>
          <a:xfrm>
            <a:off x="2397216" y="1458319"/>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29" name="Google Shape;365;p14">
            <a:extLst>
              <a:ext uri="{FF2B5EF4-FFF2-40B4-BE49-F238E27FC236}">
                <a16:creationId xmlns:a16="http://schemas.microsoft.com/office/drawing/2014/main" id="{FBFE55BB-EDA8-4939-8240-BBC0F469BF08}"/>
              </a:ext>
            </a:extLst>
          </p:cNvPr>
          <p:cNvCxnSpPr/>
          <p:nvPr/>
        </p:nvCxnSpPr>
        <p:spPr>
          <a:xfrm>
            <a:off x="7395994" y="1221165"/>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30" name="Google Shape;366;p14">
            <a:extLst>
              <a:ext uri="{FF2B5EF4-FFF2-40B4-BE49-F238E27FC236}">
                <a16:creationId xmlns:a16="http://schemas.microsoft.com/office/drawing/2014/main" id="{518D608F-044C-4F28-B1A3-3D000564F014}"/>
              </a:ext>
            </a:extLst>
          </p:cNvPr>
          <p:cNvCxnSpPr/>
          <p:nvPr/>
        </p:nvCxnSpPr>
        <p:spPr>
          <a:xfrm>
            <a:off x="9703342" y="1232125"/>
            <a:ext cx="481264" cy="0"/>
          </a:xfrm>
          <a:prstGeom prst="straightConnector1">
            <a:avLst/>
          </a:prstGeom>
          <a:noFill/>
          <a:ln w="22225" cap="flat" cmpd="sng">
            <a:solidFill>
              <a:schemeClr val="accent1"/>
            </a:solidFill>
            <a:prstDash val="solid"/>
            <a:round/>
            <a:headEnd type="none" w="sm" len="sm"/>
            <a:tailEnd type="stealth" w="med" len="med"/>
          </a:ln>
        </p:spPr>
      </p:cxnSp>
    </p:spTree>
    <p:extLst>
      <p:ext uri="{BB962C8B-B14F-4D97-AF65-F5344CB8AC3E}">
        <p14:creationId xmlns:p14="http://schemas.microsoft.com/office/powerpoint/2010/main" val="1649980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91702-3A7F-8660-AE7D-E2E1B56228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6D4C3-973E-1D51-5542-894E09335F1C}"/>
              </a:ext>
            </a:extLst>
          </p:cNvPr>
          <p:cNvSpPr>
            <a:spLocks noGrp="1"/>
          </p:cNvSpPr>
          <p:nvPr>
            <p:ph idx="1"/>
          </p:nvPr>
        </p:nvSpPr>
        <p:spPr>
          <a:xfrm>
            <a:off x="142318" y="1833782"/>
            <a:ext cx="11779388" cy="2751639"/>
          </a:xfrm>
        </p:spPr>
        <p:txBody>
          <a:bodyPr>
            <a:normAutofit fontScale="92500" lnSpcReduction="20000"/>
          </a:bodyPr>
          <a:lstStyle/>
          <a:p>
            <a:pPr algn="just"/>
            <a:r>
              <a:rPr lang="mn-MN" b="1" dirty="0">
                <a:solidFill>
                  <a:srgbClr val="002060"/>
                </a:solidFill>
                <a:latin typeface="Times New Roman" panose="02020603050405020304" pitchFamily="18" charset="0"/>
                <a:cs typeface="Times New Roman" panose="02020603050405020304" pitchFamily="18" charset="0"/>
              </a:rPr>
              <a:t>ТҮНШҮҮД</a:t>
            </a:r>
            <a:r>
              <a:rPr lang="mn-MN" dirty="0">
                <a:solidFill>
                  <a:srgbClr val="002060"/>
                </a:solidFill>
                <a:latin typeface="Times New Roman" panose="02020603050405020304" pitchFamily="18" charset="0"/>
                <a:cs typeface="Times New Roman" panose="02020603050405020304" pitchFamily="18" charset="0"/>
              </a:rPr>
              <a:t> - Тухайн байгууллагын үйл ажиллагааг хүлээн зөвшөөрдөг, зорилтоо биелүүлэхэд нь тодорхой нөлөө үзүүлж чадах бүлгийг түншийн харилцаатай бүлэг гэнэ. </a:t>
            </a:r>
          </a:p>
          <a:p>
            <a:pPr lvl="1" algn="just"/>
            <a:r>
              <a:rPr lang="mn-MN" dirty="0">
                <a:solidFill>
                  <a:srgbClr val="002060"/>
                </a:solidFill>
                <a:latin typeface="Times New Roman" panose="02020603050405020304" pitchFamily="18" charset="0"/>
                <a:cs typeface="Times New Roman" panose="02020603050405020304" pitchFamily="18" charset="0"/>
              </a:rPr>
              <a:t>Тэдгээр бүлэг нь байгууллагын үйл ажиллагаанд эсрэг эсвэл эерэг нөлөөлөл үзүүлж байдаг. </a:t>
            </a:r>
          </a:p>
          <a:p>
            <a:pPr algn="just"/>
            <a:r>
              <a:rPr lang="mn-MN" dirty="0">
                <a:solidFill>
                  <a:srgbClr val="002060"/>
                </a:solidFill>
                <a:latin typeface="Times New Roman" panose="02020603050405020304" pitchFamily="18" charset="0"/>
                <a:cs typeface="Times New Roman" panose="02020603050405020304" pitchFamily="18" charset="0"/>
              </a:rPr>
              <a:t>Түншийн дэмжлэг туслалцааг олж авахын тулд байгууллага, компаниуд шинэ содон чанарын бүтээгдэхүүн үйлдвэрлэх зорилго тавина. Зах зээлийн үед аливаа байгууллага түншийн харилцаатай долоон янзын бүлгээр хүрээлүүлсэн орчинд үйл ажиллагаагаа явуулдаг.</a:t>
            </a:r>
          </a:p>
        </p:txBody>
      </p:sp>
      <p:sp>
        <p:nvSpPr>
          <p:cNvPr id="16" name="Content Placeholder 2">
            <a:extLst>
              <a:ext uri="{FF2B5EF4-FFF2-40B4-BE49-F238E27FC236}">
                <a16:creationId xmlns:a16="http://schemas.microsoft.com/office/drawing/2014/main" id="{18D143F7-A814-7464-AEEA-E80FE4EFFF6A}"/>
              </a:ext>
            </a:extLst>
          </p:cNvPr>
          <p:cNvSpPr txBox="1">
            <a:spLocks/>
          </p:cNvSpPr>
          <p:nvPr/>
        </p:nvSpPr>
        <p:spPr>
          <a:xfrm>
            <a:off x="416522" y="4595124"/>
            <a:ext cx="11505183" cy="1816563"/>
          </a:xfrm>
          <a:prstGeom prst="rect">
            <a:avLst/>
          </a:prstGeom>
        </p:spPr>
        <p:txBody>
          <a:bodyPr vert="horz" lIns="91440" tIns="45720" rIns="91440" bIns="45720" numCol="2"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mn-MN" dirty="0">
                <a:solidFill>
                  <a:srgbClr val="002060"/>
                </a:solidFill>
                <a:latin typeface="Times New Roman" panose="02020603050405020304" pitchFamily="18" charset="0"/>
                <a:cs typeface="Times New Roman" panose="02020603050405020304" pitchFamily="18" charset="0"/>
              </a:rPr>
              <a:t>Санхүүгийн түнш, </a:t>
            </a:r>
          </a:p>
          <a:p>
            <a:r>
              <a:rPr lang="mn-MN" dirty="0">
                <a:solidFill>
                  <a:srgbClr val="002060"/>
                </a:solidFill>
                <a:latin typeface="Times New Roman" panose="02020603050405020304" pitchFamily="18" charset="0"/>
                <a:cs typeface="Times New Roman" panose="02020603050405020304" pitchFamily="18" charset="0"/>
              </a:rPr>
              <a:t>Мэдээллийн хэрэгслийн харилцагч, </a:t>
            </a:r>
          </a:p>
          <a:p>
            <a:r>
              <a:rPr lang="mn-MN" dirty="0">
                <a:solidFill>
                  <a:srgbClr val="002060"/>
                </a:solidFill>
                <a:latin typeface="Times New Roman" panose="02020603050405020304" pitchFamily="18" charset="0"/>
                <a:cs typeface="Times New Roman" panose="02020603050405020304" pitchFamily="18" charset="0"/>
              </a:rPr>
              <a:t>Улсын байгууллагын түншийн харилцаатай бүлгүүд, </a:t>
            </a:r>
          </a:p>
          <a:p>
            <a:endParaRPr lang="mn-MN" dirty="0">
              <a:solidFill>
                <a:srgbClr val="002060"/>
              </a:solidFill>
              <a:latin typeface="Times New Roman" panose="02020603050405020304" pitchFamily="18" charset="0"/>
              <a:cs typeface="Times New Roman" panose="02020603050405020304" pitchFamily="18" charset="0"/>
            </a:endParaRPr>
          </a:p>
          <a:p>
            <a:r>
              <a:rPr lang="mn-MN" dirty="0">
                <a:solidFill>
                  <a:srgbClr val="002060"/>
                </a:solidFill>
                <a:latin typeface="Times New Roman" panose="02020603050405020304" pitchFamily="18" charset="0"/>
                <a:cs typeface="Times New Roman" panose="02020603050405020304" pitchFamily="18" charset="0"/>
              </a:rPr>
              <a:t>Харилцагч иргэд, </a:t>
            </a:r>
          </a:p>
          <a:p>
            <a:r>
              <a:rPr lang="mn-MN" dirty="0">
                <a:solidFill>
                  <a:srgbClr val="002060"/>
                </a:solidFill>
                <a:latin typeface="Times New Roman" panose="02020603050405020304" pitchFamily="18" charset="0"/>
                <a:cs typeface="Times New Roman" panose="02020603050405020304" pitchFamily="18" charset="0"/>
              </a:rPr>
              <a:t>Түншийн харилцаатай орон нутгийн бүлгүүд, </a:t>
            </a:r>
          </a:p>
          <a:p>
            <a:r>
              <a:rPr lang="mn-MN" dirty="0">
                <a:solidFill>
                  <a:srgbClr val="002060"/>
                </a:solidFill>
                <a:latin typeface="Times New Roman" panose="02020603050405020304" pitchFamily="18" charset="0"/>
                <a:cs typeface="Times New Roman" panose="02020603050405020304" pitchFamily="18" charset="0"/>
              </a:rPr>
              <a:t>Хэрэглэгчидээ өргөжүүлэх, </a:t>
            </a:r>
          </a:p>
          <a:p>
            <a:r>
              <a:rPr lang="mn-MN" dirty="0">
                <a:solidFill>
                  <a:srgbClr val="002060"/>
                </a:solidFill>
                <a:latin typeface="Times New Roman" panose="02020603050405020304" pitchFamily="18" charset="0"/>
                <a:cs typeface="Times New Roman" panose="02020603050405020304" pitchFamily="18" charset="0"/>
              </a:rPr>
              <a:t>Түншийн харилцаатай дотоод бүлгүүд. </a:t>
            </a:r>
          </a:p>
        </p:txBody>
      </p:sp>
      <p:cxnSp>
        <p:nvCxnSpPr>
          <p:cNvPr id="19" name="Google Shape;363;p14">
            <a:extLst>
              <a:ext uri="{FF2B5EF4-FFF2-40B4-BE49-F238E27FC236}">
                <a16:creationId xmlns:a16="http://schemas.microsoft.com/office/drawing/2014/main" id="{A4BCB285-7066-48CC-9408-1BE122CBC9A9}"/>
              </a:ext>
            </a:extLst>
          </p:cNvPr>
          <p:cNvCxnSpPr/>
          <p:nvPr/>
        </p:nvCxnSpPr>
        <p:spPr>
          <a:xfrm>
            <a:off x="4694565"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20" name="Google Shape;364;p14">
            <a:extLst>
              <a:ext uri="{FF2B5EF4-FFF2-40B4-BE49-F238E27FC236}">
                <a16:creationId xmlns:a16="http://schemas.microsoft.com/office/drawing/2014/main" id="{1E84FDBB-3370-4CAF-961A-42D7F2E37B5D}"/>
              </a:ext>
            </a:extLst>
          </p:cNvPr>
          <p:cNvCxnSpPr/>
          <p:nvPr/>
        </p:nvCxnSpPr>
        <p:spPr>
          <a:xfrm>
            <a:off x="4694565" y="1458319"/>
            <a:ext cx="481264" cy="0"/>
          </a:xfrm>
          <a:prstGeom prst="straightConnector1">
            <a:avLst/>
          </a:prstGeom>
          <a:noFill/>
          <a:ln w="22225" cap="flat" cmpd="sng">
            <a:solidFill>
              <a:schemeClr val="accent1"/>
            </a:solidFill>
            <a:prstDash val="solid"/>
            <a:round/>
            <a:headEnd type="none" w="sm" len="sm"/>
            <a:tailEnd type="stealth" w="med" len="med"/>
          </a:ln>
        </p:spPr>
      </p:cxnSp>
      <p:sp>
        <p:nvSpPr>
          <p:cNvPr id="21" name="Title 1">
            <a:extLst>
              <a:ext uri="{FF2B5EF4-FFF2-40B4-BE49-F238E27FC236}">
                <a16:creationId xmlns:a16="http://schemas.microsoft.com/office/drawing/2014/main" id="{6B94993D-5573-4E7D-8211-57AED22F07D0}"/>
              </a:ext>
            </a:extLst>
          </p:cNvPr>
          <p:cNvSpPr>
            <a:spLocks noGrp="1"/>
          </p:cNvSpPr>
          <p:nvPr>
            <p:ph type="title"/>
          </p:nvPr>
        </p:nvSpPr>
        <p:spPr>
          <a:xfrm>
            <a:off x="142318" y="188873"/>
            <a:ext cx="10515600" cy="505292"/>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Маркетингийн МИКРО орчин</a:t>
            </a:r>
            <a:endParaRPr lang="en-US" sz="3600" dirty="0">
              <a:latin typeface="Times New Roman" panose="02020603050405020304" pitchFamily="18" charset="0"/>
              <a:cs typeface="Times New Roman" panose="02020603050405020304" pitchFamily="18" charset="0"/>
            </a:endParaRPr>
          </a:p>
        </p:txBody>
      </p:sp>
      <p:sp>
        <p:nvSpPr>
          <p:cNvPr id="22" name="Google Shape;355;p14">
            <a:extLst>
              <a:ext uri="{FF2B5EF4-FFF2-40B4-BE49-F238E27FC236}">
                <a16:creationId xmlns:a16="http://schemas.microsoft.com/office/drawing/2014/main" id="{1DC41099-F461-4659-BF55-78EEC1D6391A}"/>
              </a:ext>
            </a:extLst>
          </p:cNvPr>
          <p:cNvSpPr/>
          <p:nvPr/>
        </p:nvSpPr>
        <p:spPr>
          <a:xfrm>
            <a:off x="375910" y="813348"/>
            <a:ext cx="2021306"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Нийлүүлэгчид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3" name="Google Shape;356;p14">
            <a:extLst>
              <a:ext uri="{FF2B5EF4-FFF2-40B4-BE49-F238E27FC236}">
                <a16:creationId xmlns:a16="http://schemas.microsoft.com/office/drawing/2014/main" id="{47230D18-A082-4EB4-AC3D-9249C8C889FB}"/>
              </a:ext>
            </a:extLst>
          </p:cNvPr>
          <p:cNvSpPr/>
          <p:nvPr/>
        </p:nvSpPr>
        <p:spPr>
          <a:xfrm>
            <a:off x="2912986" y="803646"/>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Байгууллага</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4" name="Google Shape;357;p14">
            <a:extLst>
              <a:ext uri="{FF2B5EF4-FFF2-40B4-BE49-F238E27FC236}">
                <a16:creationId xmlns:a16="http://schemas.microsoft.com/office/drawing/2014/main" id="{A5BA7CC9-1E42-4F00-AB5F-D45500B5BE89}"/>
              </a:ext>
            </a:extLst>
          </p:cNvPr>
          <p:cNvSpPr/>
          <p:nvPr/>
        </p:nvSpPr>
        <p:spPr>
          <a:xfrm>
            <a:off x="2912986" y="1275439"/>
            <a:ext cx="1828800" cy="365760"/>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Өрсөлдөгчид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5" name="Google Shape;358;p14">
            <a:extLst>
              <a:ext uri="{FF2B5EF4-FFF2-40B4-BE49-F238E27FC236}">
                <a16:creationId xmlns:a16="http://schemas.microsoft.com/office/drawing/2014/main" id="{01AA3873-2F8D-4830-9961-5485AB8D4EAA}"/>
              </a:ext>
            </a:extLst>
          </p:cNvPr>
          <p:cNvSpPr/>
          <p:nvPr/>
        </p:nvSpPr>
        <p:spPr>
          <a:xfrm>
            <a:off x="5210335" y="813348"/>
            <a:ext cx="219837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Маркетингийн</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зуучлагчид</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6" name="Google Shape;359;p14">
            <a:extLst>
              <a:ext uri="{FF2B5EF4-FFF2-40B4-BE49-F238E27FC236}">
                <a16:creationId xmlns:a16="http://schemas.microsoft.com/office/drawing/2014/main" id="{19FEEC30-499D-480B-9F2C-A9ACD971B927}"/>
              </a:ext>
            </a:extLst>
          </p:cNvPr>
          <p:cNvSpPr/>
          <p:nvPr/>
        </p:nvSpPr>
        <p:spPr>
          <a:xfrm>
            <a:off x="7877258" y="813348"/>
            <a:ext cx="1826084"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dirty="0" err="1">
                <a:solidFill>
                  <a:schemeClr val="dk1"/>
                </a:solidFill>
                <a:latin typeface="Times New Roman" panose="02020603050405020304" pitchFamily="18" charset="0"/>
                <a:ea typeface="Candara"/>
                <a:cs typeface="Times New Roman" panose="02020603050405020304" pitchFamily="18" charset="0"/>
                <a:sym typeface="Candara"/>
              </a:rPr>
              <a:t>Хэрэглэгчид</a:t>
            </a:r>
            <a:r>
              <a:rPr lang="en-US" sz="2400" dirty="0">
                <a:solidFill>
                  <a:schemeClr val="dk1"/>
                </a:solidFill>
                <a:latin typeface="Times New Roman" panose="02020603050405020304" pitchFamily="18" charset="0"/>
                <a:ea typeface="Candara"/>
                <a:cs typeface="Times New Roman" panose="02020603050405020304" pitchFamily="18" charset="0"/>
                <a:sym typeface="Candara"/>
              </a:rPr>
              <a:t> </a:t>
            </a:r>
            <a:endParaRPr sz="2400" dirty="0">
              <a:solidFill>
                <a:schemeClr val="dk1"/>
              </a:solidFill>
              <a:latin typeface="Times New Roman" panose="02020603050405020304" pitchFamily="18" charset="0"/>
              <a:ea typeface="Candara"/>
              <a:cs typeface="Times New Roman" panose="02020603050405020304" pitchFamily="18" charset="0"/>
              <a:sym typeface="Candara"/>
            </a:endParaRPr>
          </a:p>
        </p:txBody>
      </p:sp>
      <p:sp>
        <p:nvSpPr>
          <p:cNvPr id="27" name="Google Shape;360;p14">
            <a:extLst>
              <a:ext uri="{FF2B5EF4-FFF2-40B4-BE49-F238E27FC236}">
                <a16:creationId xmlns:a16="http://schemas.microsoft.com/office/drawing/2014/main" id="{90BBF15C-5E48-4498-8CDF-223D96E804E5}"/>
              </a:ext>
            </a:extLst>
          </p:cNvPr>
          <p:cNvSpPr/>
          <p:nvPr/>
        </p:nvSpPr>
        <p:spPr>
          <a:xfrm>
            <a:off x="10221827" y="813348"/>
            <a:ext cx="1451061" cy="837554"/>
          </a:xfrm>
          <a:prstGeom prst="roundRect">
            <a:avLst>
              <a:gd name="adj" fmla="val 16667"/>
            </a:avLst>
          </a:prstGeom>
          <a:gradFill>
            <a:gsLst>
              <a:gs pos="0">
                <a:srgbClr val="D2EDF9"/>
              </a:gs>
              <a:gs pos="88000">
                <a:srgbClr val="7BD1F1"/>
              </a:gs>
              <a:gs pos="100000">
                <a:srgbClr val="7BD1F1"/>
              </a:gs>
            </a:gsLst>
            <a:lin ang="5400000" scaled="0"/>
          </a:gradFill>
          <a:ln w="12700" cap="rnd"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a:solidFill>
                  <a:schemeClr val="dk1"/>
                </a:solidFill>
                <a:latin typeface="Times New Roman" panose="02020603050405020304" pitchFamily="18" charset="0"/>
                <a:ea typeface="Candara"/>
                <a:cs typeface="Times New Roman" panose="02020603050405020304" pitchFamily="18" charset="0"/>
                <a:sym typeface="Candara"/>
              </a:rPr>
              <a:t>Түншүүд</a:t>
            </a:r>
            <a:endParaRPr sz="2400">
              <a:solidFill>
                <a:schemeClr val="dk1"/>
              </a:solidFill>
              <a:latin typeface="Times New Roman" panose="02020603050405020304" pitchFamily="18" charset="0"/>
              <a:ea typeface="Candara"/>
              <a:cs typeface="Times New Roman" panose="02020603050405020304" pitchFamily="18" charset="0"/>
              <a:sym typeface="Candara"/>
            </a:endParaRPr>
          </a:p>
        </p:txBody>
      </p:sp>
      <p:cxnSp>
        <p:nvCxnSpPr>
          <p:cNvPr id="28" name="Google Shape;361;p14">
            <a:extLst>
              <a:ext uri="{FF2B5EF4-FFF2-40B4-BE49-F238E27FC236}">
                <a16:creationId xmlns:a16="http://schemas.microsoft.com/office/drawing/2014/main" id="{7300BCAB-23AA-48EE-B7AD-82D4E5E0DE10}"/>
              </a:ext>
            </a:extLst>
          </p:cNvPr>
          <p:cNvCxnSpPr/>
          <p:nvPr/>
        </p:nvCxnSpPr>
        <p:spPr>
          <a:xfrm>
            <a:off x="2397216" y="986526"/>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29" name="Google Shape;362;p14">
            <a:extLst>
              <a:ext uri="{FF2B5EF4-FFF2-40B4-BE49-F238E27FC236}">
                <a16:creationId xmlns:a16="http://schemas.microsoft.com/office/drawing/2014/main" id="{9C20F76C-1FE3-4559-9195-5B8C8A66129D}"/>
              </a:ext>
            </a:extLst>
          </p:cNvPr>
          <p:cNvCxnSpPr/>
          <p:nvPr/>
        </p:nvCxnSpPr>
        <p:spPr>
          <a:xfrm>
            <a:off x="2397216" y="1458319"/>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30" name="Google Shape;365;p14">
            <a:extLst>
              <a:ext uri="{FF2B5EF4-FFF2-40B4-BE49-F238E27FC236}">
                <a16:creationId xmlns:a16="http://schemas.microsoft.com/office/drawing/2014/main" id="{022E6EA5-1668-4D63-B059-0DF5E24FABC4}"/>
              </a:ext>
            </a:extLst>
          </p:cNvPr>
          <p:cNvCxnSpPr/>
          <p:nvPr/>
        </p:nvCxnSpPr>
        <p:spPr>
          <a:xfrm>
            <a:off x="7395994" y="1221165"/>
            <a:ext cx="481264" cy="0"/>
          </a:xfrm>
          <a:prstGeom prst="straightConnector1">
            <a:avLst/>
          </a:prstGeom>
          <a:noFill/>
          <a:ln w="22225" cap="flat" cmpd="sng">
            <a:solidFill>
              <a:schemeClr val="accent1"/>
            </a:solidFill>
            <a:prstDash val="solid"/>
            <a:round/>
            <a:headEnd type="none" w="sm" len="sm"/>
            <a:tailEnd type="stealth" w="med" len="med"/>
          </a:ln>
        </p:spPr>
      </p:cxnSp>
      <p:cxnSp>
        <p:nvCxnSpPr>
          <p:cNvPr id="31" name="Google Shape;366;p14">
            <a:extLst>
              <a:ext uri="{FF2B5EF4-FFF2-40B4-BE49-F238E27FC236}">
                <a16:creationId xmlns:a16="http://schemas.microsoft.com/office/drawing/2014/main" id="{DAFC011B-B272-483D-8A94-856CDC241B80}"/>
              </a:ext>
            </a:extLst>
          </p:cNvPr>
          <p:cNvCxnSpPr/>
          <p:nvPr/>
        </p:nvCxnSpPr>
        <p:spPr>
          <a:xfrm>
            <a:off x="9703342" y="1232125"/>
            <a:ext cx="481264" cy="0"/>
          </a:xfrm>
          <a:prstGeom prst="straightConnector1">
            <a:avLst/>
          </a:prstGeom>
          <a:noFill/>
          <a:ln w="22225" cap="flat" cmpd="sng">
            <a:solidFill>
              <a:schemeClr val="accent1"/>
            </a:solidFill>
            <a:prstDash val="solid"/>
            <a:round/>
            <a:headEnd type="none" w="sm" len="sm"/>
            <a:tailEnd type="stealth" w="med" len="med"/>
          </a:ln>
        </p:spPr>
      </p:cxnSp>
    </p:spTree>
    <p:extLst>
      <p:ext uri="{BB962C8B-B14F-4D97-AF65-F5344CB8AC3E}">
        <p14:creationId xmlns:p14="http://schemas.microsoft.com/office/powerpoint/2010/main" val="2589895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32793-AF4A-5D4A-B765-3866E73950CE}"/>
              </a:ext>
            </a:extLst>
          </p:cNvPr>
          <p:cNvSpPr>
            <a:spLocks noGrp="1"/>
          </p:cNvSpPr>
          <p:nvPr>
            <p:ph type="title"/>
          </p:nvPr>
        </p:nvSpPr>
        <p:spPr>
          <a:xfrm>
            <a:off x="138023" y="54572"/>
            <a:ext cx="11215777" cy="794204"/>
          </a:xfrm>
        </p:spPr>
        <p:txBody>
          <a:bodyPr>
            <a:norm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Маркетингийн МАКРО орчин</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E3757A-6D07-EFD4-277A-B118B2C3F773}"/>
              </a:ext>
            </a:extLst>
          </p:cNvPr>
          <p:cNvSpPr>
            <a:spLocks noGrp="1"/>
          </p:cNvSpPr>
          <p:nvPr>
            <p:ph idx="1"/>
          </p:nvPr>
        </p:nvSpPr>
        <p:spPr>
          <a:xfrm>
            <a:off x="138023" y="848776"/>
            <a:ext cx="6349041" cy="5815321"/>
          </a:xfrm>
        </p:spPr>
        <p:txBody>
          <a:bodyPr>
            <a:normAutofit fontScale="92500"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Макро орчин </a:t>
            </a:r>
            <a:r>
              <a:rPr lang="mn-MN" sz="3200" dirty="0">
                <a:solidFill>
                  <a:srgbClr val="002060"/>
                </a:solidFill>
                <a:latin typeface="Times New Roman" panose="02020603050405020304" pitchFamily="18" charset="0"/>
                <a:cs typeface="Times New Roman" panose="02020603050405020304" pitchFamily="18" charset="0"/>
              </a:rPr>
              <a:t>– Байгууллагын язгуур ашиг сонирхолтой голдуу харшилдаг, байгууллага өөрөө хяналт тавьж чадахгүй, гэхдээ нөлөөлөлд нь зайлшгүй ордог хүчин зүйлүүд багтана. </a:t>
            </a:r>
          </a:p>
          <a:p>
            <a:pPr lvl="1" algn="just"/>
            <a:r>
              <a:rPr lang="mn-MN" sz="2800" dirty="0">
                <a:solidFill>
                  <a:srgbClr val="002060"/>
                </a:solidFill>
                <a:latin typeface="Times New Roman" panose="02020603050405020304" pitchFamily="18" charset="0"/>
                <a:cs typeface="Times New Roman" panose="02020603050405020304" pitchFamily="18" charset="0"/>
              </a:rPr>
              <a:t>Хүн ам зүйн хүчин зүйл</a:t>
            </a:r>
          </a:p>
          <a:p>
            <a:pPr lvl="1" algn="just"/>
            <a:r>
              <a:rPr lang="mn-MN" sz="2800" dirty="0">
                <a:solidFill>
                  <a:srgbClr val="002060"/>
                </a:solidFill>
                <a:latin typeface="Times New Roman" panose="02020603050405020304" pitchFamily="18" charset="0"/>
                <a:cs typeface="Times New Roman" panose="02020603050405020304" pitchFamily="18" charset="0"/>
              </a:rPr>
              <a:t>Эдийн засгийн хүчин зүйл</a:t>
            </a:r>
          </a:p>
          <a:p>
            <a:pPr lvl="1" algn="just"/>
            <a:r>
              <a:rPr lang="mn-MN" sz="2800" dirty="0">
                <a:solidFill>
                  <a:srgbClr val="002060"/>
                </a:solidFill>
                <a:latin typeface="Times New Roman" panose="02020603050405020304" pitchFamily="18" charset="0"/>
                <a:cs typeface="Times New Roman" panose="02020603050405020304" pitchFamily="18" charset="0"/>
              </a:rPr>
              <a:t>Байгалийн хүчин зүйл</a:t>
            </a:r>
          </a:p>
          <a:p>
            <a:pPr lvl="1" algn="just"/>
            <a:r>
              <a:rPr lang="mn-MN" sz="2800" dirty="0">
                <a:solidFill>
                  <a:srgbClr val="002060"/>
                </a:solidFill>
                <a:latin typeface="Times New Roman" panose="02020603050405020304" pitchFamily="18" charset="0"/>
                <a:cs typeface="Times New Roman" panose="02020603050405020304" pitchFamily="18" charset="0"/>
              </a:rPr>
              <a:t>Шинжлэх ухаан, технологийн хүчин зүйл</a:t>
            </a:r>
          </a:p>
          <a:p>
            <a:pPr lvl="1" algn="just"/>
            <a:r>
              <a:rPr lang="mn-MN" sz="2800" dirty="0">
                <a:solidFill>
                  <a:srgbClr val="002060"/>
                </a:solidFill>
                <a:latin typeface="Times New Roman" panose="02020603050405020304" pitchFamily="18" charset="0"/>
                <a:cs typeface="Times New Roman" panose="02020603050405020304" pitchFamily="18" charset="0"/>
              </a:rPr>
              <a:t>Улс төрийн хүчин</a:t>
            </a:r>
          </a:p>
          <a:p>
            <a:pPr lvl="1" algn="just"/>
            <a:r>
              <a:rPr lang="mn-MN" sz="2800" dirty="0">
                <a:solidFill>
                  <a:srgbClr val="002060"/>
                </a:solidFill>
                <a:latin typeface="Times New Roman" panose="02020603050405020304" pitchFamily="18" charset="0"/>
                <a:cs typeface="Times New Roman" panose="02020603050405020304" pitchFamily="18" charset="0"/>
              </a:rPr>
              <a:t>Хууль эрх зүйн хүчин зүйл</a:t>
            </a:r>
          </a:p>
          <a:p>
            <a:pPr lvl="1" algn="just"/>
            <a:r>
              <a:rPr lang="mn-MN" sz="2800" dirty="0">
                <a:solidFill>
                  <a:srgbClr val="002060"/>
                </a:solidFill>
                <a:latin typeface="Times New Roman" panose="02020603050405020304" pitchFamily="18" charset="0"/>
                <a:cs typeface="Times New Roman" panose="02020603050405020304" pitchFamily="18" charset="0"/>
              </a:rPr>
              <a:t>Нийгэм, соёлын хүчин зүйлээс бүрдэнэ.</a:t>
            </a:r>
          </a:p>
        </p:txBody>
      </p:sp>
      <p:pic>
        <p:nvPicPr>
          <p:cNvPr id="4" name="Google Shape;554;p26" descr="Image result for marketing macro environment">
            <a:extLst>
              <a:ext uri="{FF2B5EF4-FFF2-40B4-BE49-F238E27FC236}">
                <a16:creationId xmlns:a16="http://schemas.microsoft.com/office/drawing/2014/main" id="{9A71AB13-5A46-5527-115F-E761DE13C058}"/>
              </a:ext>
            </a:extLst>
          </p:cNvPr>
          <p:cNvPicPr preferRelativeResize="0"/>
          <p:nvPr/>
        </p:nvPicPr>
        <p:blipFill rotWithShape="1">
          <a:blip r:embed="rId3">
            <a:alphaModFix/>
          </a:blip>
          <a:srcRect l="15579" r="14491"/>
          <a:stretch/>
        </p:blipFill>
        <p:spPr>
          <a:xfrm>
            <a:off x="6096000" y="193903"/>
            <a:ext cx="6349041" cy="6051622"/>
          </a:xfrm>
          <a:prstGeom prst="rect">
            <a:avLst/>
          </a:prstGeom>
          <a:noFill/>
          <a:ln>
            <a:noFill/>
          </a:ln>
        </p:spPr>
      </p:pic>
    </p:spTree>
    <p:extLst>
      <p:ext uri="{BB962C8B-B14F-4D97-AF65-F5344CB8AC3E}">
        <p14:creationId xmlns:p14="http://schemas.microsoft.com/office/powerpoint/2010/main" val="608012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DAA7E-0637-B587-612C-3C28AD5DF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9D8EE-79DE-2B42-CFAC-6D95E3FB4D5F}"/>
              </a:ext>
            </a:extLst>
          </p:cNvPr>
          <p:cNvSpPr>
            <a:spLocks noGrp="1"/>
          </p:cNvSpPr>
          <p:nvPr>
            <p:ph type="title"/>
          </p:nvPr>
        </p:nvSpPr>
        <p:spPr>
          <a:xfrm>
            <a:off x="148086" y="121800"/>
            <a:ext cx="10515600" cy="5855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PEST, PESTEL </a:t>
            </a:r>
            <a:r>
              <a:rPr lang="mn-MN" sz="4000" b="1" dirty="0">
                <a:solidFill>
                  <a:srgbClr val="002060"/>
                </a:solidFill>
                <a:latin typeface="Times New Roman" panose="02020603050405020304" pitchFamily="18" charset="0"/>
                <a:cs typeface="Times New Roman" panose="02020603050405020304" pitchFamily="18" charset="0"/>
              </a:rPr>
              <a:t>шинжилгээ</a:t>
            </a:r>
            <a:endParaRPr lang="en-US" sz="4000" dirty="0">
              <a:latin typeface="Times New Roman" panose="02020603050405020304" pitchFamily="18" charset="0"/>
              <a:cs typeface="Times New Roman" panose="02020603050405020304" pitchFamily="18" charset="0"/>
            </a:endParaRPr>
          </a:p>
        </p:txBody>
      </p:sp>
      <p:pic>
        <p:nvPicPr>
          <p:cNvPr id="5" name="Picture 4" descr="How to conduct an effective PESTEL Analysis? - SpringWorks">
            <a:extLst>
              <a:ext uri="{FF2B5EF4-FFF2-40B4-BE49-F238E27FC236}">
                <a16:creationId xmlns:a16="http://schemas.microsoft.com/office/drawing/2014/main" id="{D124D6EF-7F5B-6D51-6A5A-D33941E7AF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493" y="156305"/>
            <a:ext cx="6028835" cy="64342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ow to Do a PESTEL or PEST Analysis (Quick Step by Step Guide)">
            <a:extLst>
              <a:ext uri="{FF2B5EF4-FFF2-40B4-BE49-F238E27FC236}">
                <a16:creationId xmlns:a16="http://schemas.microsoft.com/office/drawing/2014/main" id="{C6F2BECB-7C39-E44D-F6C9-480E36AE5D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913" t="7194" r="8187" b="6577"/>
          <a:stretch/>
        </p:blipFill>
        <p:spPr bwMode="auto">
          <a:xfrm>
            <a:off x="274417" y="707365"/>
            <a:ext cx="5821584" cy="4295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807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ECE0D-BBF8-09A3-027D-96EC2B13D533}"/>
            </a:ext>
          </a:extLst>
        </p:cNvPr>
        <p:cNvGrpSpPr/>
        <p:nvPr/>
      </p:nvGrpSpPr>
      <p:grpSpPr>
        <a:xfrm>
          <a:off x="0" y="0"/>
          <a:ext cx="0" cy="0"/>
          <a:chOff x="0" y="0"/>
          <a:chExt cx="0" cy="0"/>
        </a:xfrm>
      </p:grpSpPr>
      <p:pic>
        <p:nvPicPr>
          <p:cNvPr id="4" name="Google Shape;765;p44">
            <a:extLst>
              <a:ext uri="{FF2B5EF4-FFF2-40B4-BE49-F238E27FC236}">
                <a16:creationId xmlns:a16="http://schemas.microsoft.com/office/drawing/2014/main" id="{00B05224-49D5-54FF-D075-F454384B79F0}"/>
              </a:ext>
            </a:extLst>
          </p:cNvPr>
          <p:cNvPicPr preferRelativeResize="0">
            <a:picLocks/>
          </p:cNvPicPr>
          <p:nvPr/>
        </p:nvPicPr>
        <p:blipFill rotWithShape="1">
          <a:blip r:embed="rId3">
            <a:alphaModFix/>
          </a:blip>
          <a:srcRect/>
          <a:stretch/>
        </p:blipFill>
        <p:spPr>
          <a:xfrm>
            <a:off x="4278701" y="2277375"/>
            <a:ext cx="7734107" cy="4405550"/>
          </a:xfrm>
          <a:prstGeom prst="rect">
            <a:avLst/>
          </a:prstGeom>
          <a:noFill/>
          <a:ln>
            <a:noFill/>
          </a:ln>
        </p:spPr>
      </p:pic>
      <p:sp>
        <p:nvSpPr>
          <p:cNvPr id="2" name="Title 1">
            <a:extLst>
              <a:ext uri="{FF2B5EF4-FFF2-40B4-BE49-F238E27FC236}">
                <a16:creationId xmlns:a16="http://schemas.microsoft.com/office/drawing/2014/main" id="{DA2B930A-2479-7D8A-FF8E-14802037F9CA}"/>
              </a:ext>
            </a:extLst>
          </p:cNvPr>
          <p:cNvSpPr>
            <a:spLocks noGrp="1"/>
          </p:cNvSpPr>
          <p:nvPr>
            <p:ph type="title"/>
          </p:nvPr>
        </p:nvSpPr>
        <p:spPr>
          <a:xfrm>
            <a:off x="179191" y="71558"/>
            <a:ext cx="11833618" cy="510651"/>
          </a:xfrm>
        </p:spPr>
        <p:txBody>
          <a:bodyPr>
            <a:normAutofit fontScale="90000"/>
          </a:bodyPr>
          <a:lstStyle/>
          <a:p>
            <a:pPr algn="just"/>
            <a:r>
              <a:rPr lang="en-US" sz="3600" b="1" dirty="0">
                <a:solidFill>
                  <a:srgbClr val="002060"/>
                </a:solidFill>
                <a:latin typeface="Times New Roman" panose="02020603050405020304" pitchFamily="18" charset="0"/>
                <a:cs typeface="Times New Roman" panose="02020603050405020304" pitchFamily="18" charset="0"/>
              </a:rPr>
              <a:t>SWOT </a:t>
            </a:r>
            <a:r>
              <a:rPr lang="mn-MN" sz="3600" b="1" dirty="0">
                <a:solidFill>
                  <a:srgbClr val="002060"/>
                </a:solidFill>
                <a:latin typeface="Times New Roman" panose="02020603050405020304" pitchFamily="18" charset="0"/>
                <a:cs typeface="Times New Roman" panose="02020603050405020304" pitchFamily="18" charset="0"/>
              </a:rPr>
              <a:t>шинжилгээ</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60D87A5-CEFD-443D-F144-3FAC45208906}"/>
              </a:ext>
            </a:extLst>
          </p:cNvPr>
          <p:cNvSpPr>
            <a:spLocks noGrp="1"/>
          </p:cNvSpPr>
          <p:nvPr>
            <p:ph idx="1"/>
          </p:nvPr>
        </p:nvSpPr>
        <p:spPr>
          <a:xfrm>
            <a:off x="179191" y="605474"/>
            <a:ext cx="11833618" cy="2168887"/>
          </a:xfrm>
        </p:spPr>
        <p:txBody>
          <a:bodyPr>
            <a:normAutofit/>
          </a:bodyPr>
          <a:lstStyle/>
          <a:p>
            <a:pPr algn="just"/>
            <a:r>
              <a:rPr lang="mn-MN" dirty="0">
                <a:solidFill>
                  <a:srgbClr val="002060"/>
                </a:solidFill>
                <a:latin typeface="Times New Roman" panose="02020603050405020304" pitchFamily="18" charset="0"/>
                <a:cs typeface="Times New Roman" panose="02020603050405020304" pitchFamily="18" charset="0"/>
              </a:rPr>
              <a:t>Нөхцөл байдлаа тодорхойлох, гадаад дотоод орчны хамтатгасан шинжилгээ</a:t>
            </a:r>
          </a:p>
          <a:p>
            <a:pPr algn="just"/>
            <a:r>
              <a:rPr lang="mn-MN" dirty="0">
                <a:solidFill>
                  <a:srgbClr val="002060"/>
                </a:solidFill>
                <a:latin typeface="Times New Roman" panose="02020603050405020304" pitchFamily="18" charset="0"/>
                <a:cs typeface="Times New Roman" panose="02020603050405020304" pitchFamily="18" charset="0"/>
              </a:rPr>
              <a:t>Гадаад аюул занал болон боломжийг дотоод сул тал болон давуу талтай уялдуулан зохицуулахад чиглэгдсэн үнэлэлт дүгнэлтийг системтэй хийх арга</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p:txBody>
      </p:sp>
      <p:pic>
        <p:nvPicPr>
          <p:cNvPr id="7" name="Picture 2" descr="3 Easy Steps to Create a SWOT Analysis - BNI">
            <a:extLst>
              <a:ext uri="{FF2B5EF4-FFF2-40B4-BE49-F238E27FC236}">
                <a16:creationId xmlns:a16="http://schemas.microsoft.com/office/drawing/2014/main" id="{A789F284-1B1C-CA7B-9B9D-DE4DE34C694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22" t="7949" r="6240" b="7949"/>
          <a:stretch/>
        </p:blipFill>
        <p:spPr bwMode="auto">
          <a:xfrm>
            <a:off x="127431" y="2639683"/>
            <a:ext cx="4220281" cy="4043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1717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D803D-34D5-3B7A-5DAD-700299713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FC2B1-B896-D74D-AB32-72BCAEB353C7}"/>
              </a:ext>
            </a:extLst>
          </p:cNvPr>
          <p:cNvSpPr>
            <a:spLocks noGrp="1"/>
          </p:cNvSpPr>
          <p:nvPr>
            <p:ph type="title"/>
          </p:nvPr>
        </p:nvSpPr>
        <p:spPr>
          <a:xfrm>
            <a:off x="126520" y="103519"/>
            <a:ext cx="11869948" cy="523214"/>
          </a:xfrm>
        </p:spPr>
        <p:txBody>
          <a:bodyPr>
            <a:normAutofit fontScale="90000"/>
          </a:bodyPr>
          <a:lstStyle/>
          <a:p>
            <a:pPr algn="just"/>
            <a:r>
              <a:rPr lang="en-US" b="1" dirty="0">
                <a:solidFill>
                  <a:srgbClr val="002060"/>
                </a:solidFill>
                <a:latin typeface="Times New Roman" panose="02020603050405020304" pitchFamily="18" charset="0"/>
                <a:cs typeface="Times New Roman" panose="02020603050405020304" pitchFamily="18" charset="0"/>
              </a:rPr>
              <a:t>SWOT </a:t>
            </a:r>
            <a:r>
              <a:rPr lang="mn-MN" b="1" dirty="0">
                <a:solidFill>
                  <a:srgbClr val="002060"/>
                </a:solidFill>
                <a:latin typeface="Times New Roman" panose="02020603050405020304" pitchFamily="18" charset="0"/>
                <a:cs typeface="Times New Roman" panose="02020603050405020304" pitchFamily="18" charset="0"/>
              </a:rPr>
              <a:t>шинжилгээ</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E2CF01-F6DA-BFBE-E625-B38B9FEFC54D}"/>
              </a:ext>
            </a:extLst>
          </p:cNvPr>
          <p:cNvSpPr>
            <a:spLocks noGrp="1"/>
          </p:cNvSpPr>
          <p:nvPr>
            <p:ph idx="1"/>
          </p:nvPr>
        </p:nvSpPr>
        <p:spPr>
          <a:xfrm>
            <a:off x="126520" y="626733"/>
            <a:ext cx="11869948" cy="5722309"/>
          </a:xfrm>
        </p:spPr>
        <p:txBody>
          <a:bodyPr>
            <a:normAutofit/>
          </a:bodyPr>
          <a:lstStyle/>
          <a:p>
            <a:pPr algn="just"/>
            <a:r>
              <a:rPr lang="en-US" sz="3600" dirty="0">
                <a:solidFill>
                  <a:srgbClr val="002060"/>
                </a:solidFill>
                <a:latin typeface="Times New Roman" panose="02020603050405020304" pitchFamily="18" charset="0"/>
                <a:cs typeface="Times New Roman" panose="02020603050405020304" pitchFamily="18" charset="0"/>
              </a:rPr>
              <a:t>SWOT </a:t>
            </a:r>
            <a:r>
              <a:rPr lang="mn-MN" sz="3600" dirty="0">
                <a:solidFill>
                  <a:srgbClr val="002060"/>
                </a:solidFill>
                <a:latin typeface="Times New Roman" panose="02020603050405020304" pitchFamily="18" charset="0"/>
                <a:cs typeface="Times New Roman" panose="02020603050405020304" pitchFamily="18" charset="0"/>
              </a:rPr>
              <a:t>шинжилгээний давуу тал, сул тал нь дотоод орчны судалгаа, шинжилгээний үр дүнд тодорхойлогддог. </a:t>
            </a:r>
          </a:p>
          <a:p>
            <a:pPr algn="just"/>
            <a:r>
              <a:rPr lang="mn-MN" sz="3600" dirty="0">
                <a:solidFill>
                  <a:srgbClr val="002060"/>
                </a:solidFill>
                <a:latin typeface="Times New Roman" panose="02020603050405020304" pitchFamily="18" charset="0"/>
                <a:cs typeface="Times New Roman" panose="02020603050405020304" pitchFamily="18" charset="0"/>
              </a:rPr>
              <a:t>Харин боломж, эрсдэл нь гадаад орчны судалгаа, шинжилгээний үр дүнд тодорхойлогддог.</a:t>
            </a:r>
          </a:p>
          <a:p>
            <a:pPr algn="just"/>
            <a:r>
              <a:rPr lang="mn-MN" sz="3600" dirty="0">
                <a:solidFill>
                  <a:srgbClr val="002060"/>
                </a:solidFill>
                <a:latin typeface="Times New Roman" panose="02020603050405020304" pitchFamily="18" charset="0"/>
                <a:cs typeface="Times New Roman" panose="02020603050405020304" pitchFamily="18" charset="0"/>
              </a:rPr>
              <a:t>Давуу болон сул талыг харгалзан боломж, эрсдэлээс ялгах гол асуулт нь “</a:t>
            </a:r>
            <a:r>
              <a:rPr lang="mn-MN" sz="3600" b="1" i="1" dirty="0">
                <a:solidFill>
                  <a:srgbClr val="FF0000"/>
                </a:solidFill>
                <a:latin typeface="Times New Roman" panose="02020603050405020304" pitchFamily="18" charset="0"/>
                <a:cs typeface="Times New Roman" panose="02020603050405020304" pitchFamily="18" charset="0"/>
              </a:rPr>
              <a:t>Хэрэв бид байхгүй байсан бол ийм асуудал тавигдах байсан уу?</a:t>
            </a:r>
            <a:r>
              <a:rPr lang="mn-MN" sz="3600" dirty="0">
                <a:solidFill>
                  <a:srgbClr val="002060"/>
                </a:solidFill>
                <a:latin typeface="Times New Roman" panose="02020603050405020304" pitchFamily="18" charset="0"/>
                <a:cs typeface="Times New Roman" panose="02020603050405020304" pitchFamily="18" charset="0"/>
              </a:rPr>
              <a:t>” </a:t>
            </a:r>
          </a:p>
          <a:p>
            <a:pPr algn="just"/>
            <a:r>
              <a:rPr lang="mn-MN" sz="3600" dirty="0">
                <a:solidFill>
                  <a:srgbClr val="002060"/>
                </a:solidFill>
                <a:latin typeface="Times New Roman" panose="02020603050405020304" pitchFamily="18" charset="0"/>
                <a:cs typeface="Times New Roman" panose="02020603050405020304" pitchFamily="18" charset="0"/>
              </a:rPr>
              <a:t>Энэхүү асуултад “тийм” гэж хариулагдаж байвал тухайн авч үзэж буй асуудал нь гадаад орчны хүчин зүйл болно.</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E271-9137-CC68-8ACD-791F0C51D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AF1B5-837A-1C42-3608-C9DDB89D6FC1}"/>
              </a:ext>
            </a:extLst>
          </p:cNvPr>
          <p:cNvSpPr>
            <a:spLocks noGrp="1"/>
          </p:cNvSpPr>
          <p:nvPr>
            <p:ph type="title"/>
          </p:nvPr>
        </p:nvSpPr>
        <p:spPr>
          <a:xfrm>
            <a:off x="169203" y="123587"/>
            <a:ext cx="11633586" cy="317196"/>
          </a:xfrm>
        </p:spPr>
        <p:txBody>
          <a:bodyPr>
            <a:normAutofit fontScale="90000"/>
          </a:bodyPr>
          <a:lstStyle/>
          <a:p>
            <a:r>
              <a:rPr lang="en-US" b="1" dirty="0">
                <a:solidFill>
                  <a:srgbClr val="002060"/>
                </a:solidFill>
                <a:latin typeface="Times New Roman" panose="02020603050405020304" pitchFamily="18" charset="0"/>
                <a:cs typeface="Times New Roman" panose="02020603050405020304" pitchFamily="18" charset="0"/>
              </a:rPr>
              <a:t>TOWS </a:t>
            </a:r>
            <a:r>
              <a:rPr lang="mn-MN" b="1" dirty="0">
                <a:solidFill>
                  <a:srgbClr val="002060"/>
                </a:solidFill>
                <a:latin typeface="Times New Roman" panose="02020603050405020304" pitchFamily="18" charset="0"/>
                <a:cs typeface="Times New Roman" panose="02020603050405020304" pitchFamily="18" charset="0"/>
              </a:rPr>
              <a:t>шинжилгээ</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4B0741-70C3-906C-8F18-E101A1422EB1}"/>
              </a:ext>
            </a:extLst>
          </p:cNvPr>
          <p:cNvSpPr>
            <a:spLocks noGrp="1"/>
          </p:cNvSpPr>
          <p:nvPr>
            <p:ph idx="1"/>
          </p:nvPr>
        </p:nvSpPr>
        <p:spPr>
          <a:xfrm>
            <a:off x="169203" y="529129"/>
            <a:ext cx="11787008" cy="1265165"/>
          </a:xfrm>
        </p:spPr>
        <p:txBody>
          <a:bodyPr>
            <a:normAutofit/>
          </a:bodyPr>
          <a:lstStyle/>
          <a:p>
            <a:pPr algn="just"/>
            <a:r>
              <a:rPr lang="en-US" sz="2400" dirty="0">
                <a:solidFill>
                  <a:srgbClr val="002060"/>
                </a:solidFill>
                <a:latin typeface="Times New Roman" panose="02020603050405020304" pitchFamily="18" charset="0"/>
                <a:cs typeface="Times New Roman" panose="02020603050405020304" pitchFamily="18" charset="0"/>
              </a:rPr>
              <a:t>SWOT </a:t>
            </a:r>
            <a:r>
              <a:rPr lang="mn-MN" sz="2400" dirty="0">
                <a:solidFill>
                  <a:srgbClr val="002060"/>
                </a:solidFill>
                <a:latin typeface="Times New Roman" panose="02020603050405020304" pitchFamily="18" charset="0"/>
                <a:cs typeface="Times New Roman" panose="02020603050405020304" pitchFamily="18" charset="0"/>
              </a:rPr>
              <a:t>шинжилгээ ашиглан стратеги боловсруулахдаа </a:t>
            </a:r>
            <a:r>
              <a:rPr lang="en-US" sz="2400" dirty="0">
                <a:solidFill>
                  <a:srgbClr val="002060"/>
                </a:solidFill>
                <a:latin typeface="Times New Roman" panose="02020603050405020304" pitchFamily="18" charset="0"/>
                <a:cs typeface="Times New Roman" panose="02020603050405020304" pitchFamily="18" charset="0"/>
              </a:rPr>
              <a:t>TOWS </a:t>
            </a:r>
            <a:r>
              <a:rPr lang="mn-MN" sz="2400" dirty="0">
                <a:solidFill>
                  <a:srgbClr val="002060"/>
                </a:solidFill>
                <a:latin typeface="Times New Roman" panose="02020603050405020304" pitchFamily="18" charset="0"/>
                <a:cs typeface="Times New Roman" panose="02020603050405020304" pitchFamily="18" charset="0"/>
              </a:rPr>
              <a:t>ашиглах боломжтой</a:t>
            </a:r>
            <a:r>
              <a:rPr lang="en-US" sz="2400" dirty="0">
                <a:solidFill>
                  <a:srgbClr val="002060"/>
                </a:solidFill>
                <a:latin typeface="Times New Roman" panose="02020603050405020304" pitchFamily="18" charset="0"/>
                <a:cs typeface="Times New Roman" panose="02020603050405020304" pitchFamily="18" charset="0"/>
              </a:rPr>
              <a:t>.</a:t>
            </a:r>
            <a:endParaRPr lang="mn-MN" sz="2400" dirty="0">
              <a:solidFill>
                <a:srgbClr val="002060"/>
              </a:solidFill>
              <a:latin typeface="Times New Roman" panose="02020603050405020304" pitchFamily="18" charset="0"/>
              <a:cs typeface="Times New Roman" panose="02020603050405020304" pitchFamily="18" charset="0"/>
            </a:endParaRPr>
          </a:p>
          <a:p>
            <a:pPr algn="just"/>
            <a:r>
              <a:rPr lang="mn-MN" sz="2400" dirty="0">
                <a:solidFill>
                  <a:srgbClr val="002060"/>
                </a:solidFill>
                <a:latin typeface="Times New Roman" panose="02020603050405020304" pitchFamily="18" charset="0"/>
                <a:cs typeface="Times New Roman" panose="02020603050405020304" pitchFamily="18" charset="0"/>
              </a:rPr>
              <a:t>Гадаад болон дотоод орчинг байгууллагын давуу болон сул талуудтай уялдуулан стратеги боловсруулах аргачлал</a:t>
            </a:r>
            <a:r>
              <a:rPr lang="en-US" sz="2400" dirty="0">
                <a:solidFill>
                  <a:srgbClr val="002060"/>
                </a:solidFill>
                <a:latin typeface="Times New Roman" panose="02020603050405020304" pitchFamily="18" charset="0"/>
                <a:cs typeface="Times New Roman" panose="02020603050405020304" pitchFamily="18" charset="0"/>
              </a:rPr>
              <a:t>.</a:t>
            </a:r>
            <a:endParaRPr lang="mn-MN" sz="2400"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US" sz="2400" dirty="0">
              <a:solidFill>
                <a:srgbClr val="00206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DDCA5422-2978-FED3-9E93-B51A28609192}"/>
              </a:ext>
            </a:extLst>
          </p:cNvPr>
          <p:cNvGraphicFramePr>
            <a:graphicFrameLocks noGrp="1"/>
          </p:cNvGraphicFramePr>
          <p:nvPr>
            <p:extLst>
              <p:ext uri="{D42A27DB-BD31-4B8C-83A1-F6EECF244321}">
                <p14:modId xmlns:p14="http://schemas.microsoft.com/office/powerpoint/2010/main" val="103179238"/>
              </p:ext>
            </p:extLst>
          </p:nvPr>
        </p:nvGraphicFramePr>
        <p:xfrm>
          <a:off x="117444" y="1650060"/>
          <a:ext cx="12007970" cy="5138928"/>
        </p:xfrm>
        <a:graphic>
          <a:graphicData uri="http://schemas.openxmlformats.org/drawingml/2006/table">
            <a:tbl>
              <a:tblPr firstRow="1" bandRow="1">
                <a:tableStyleId>{69CF1AB2-1976-4502-BF36-3FF5EA218861}</a:tableStyleId>
              </a:tblPr>
              <a:tblGrid>
                <a:gridCol w="3492876">
                  <a:extLst>
                    <a:ext uri="{9D8B030D-6E8A-4147-A177-3AD203B41FA5}">
                      <a16:colId xmlns:a16="http://schemas.microsoft.com/office/drawing/2014/main" val="84561757"/>
                    </a:ext>
                  </a:extLst>
                </a:gridCol>
                <a:gridCol w="4084880">
                  <a:extLst>
                    <a:ext uri="{9D8B030D-6E8A-4147-A177-3AD203B41FA5}">
                      <a16:colId xmlns:a16="http://schemas.microsoft.com/office/drawing/2014/main" val="544177163"/>
                    </a:ext>
                  </a:extLst>
                </a:gridCol>
                <a:gridCol w="4430214">
                  <a:extLst>
                    <a:ext uri="{9D8B030D-6E8A-4147-A177-3AD203B41FA5}">
                      <a16:colId xmlns:a16="http://schemas.microsoft.com/office/drawing/2014/main" val="999513286"/>
                    </a:ext>
                  </a:extLst>
                </a:gridCol>
              </a:tblGrid>
              <a:tr h="1096208">
                <a:tc>
                  <a:txBody>
                    <a:bodyPr/>
                    <a:lstStyle/>
                    <a:p>
                      <a:pPr algn="r"/>
                      <a:r>
                        <a:rPr lang="mn-MN" sz="2800" dirty="0">
                          <a:latin typeface="Times New Roman" panose="02020603050405020304" pitchFamily="18" charset="0"/>
                          <a:cs typeface="Times New Roman" panose="02020603050405020304" pitchFamily="18" charset="0"/>
                        </a:rPr>
                        <a:t>Дотоод</a:t>
                      </a:r>
                      <a:endParaRPr lang="mn-MN" sz="2800" baseline="0" dirty="0">
                        <a:latin typeface="Times New Roman" panose="02020603050405020304" pitchFamily="18" charset="0"/>
                        <a:cs typeface="Times New Roman" panose="02020603050405020304" pitchFamily="18" charset="0"/>
                      </a:endParaRPr>
                    </a:p>
                    <a:p>
                      <a:pPr algn="r"/>
                      <a:r>
                        <a:rPr lang="mn-MN" sz="2800" baseline="0" dirty="0">
                          <a:latin typeface="Times New Roman" panose="02020603050405020304" pitchFamily="18" charset="0"/>
                          <a:cs typeface="Times New Roman" panose="02020603050405020304" pitchFamily="18" charset="0"/>
                        </a:rPr>
                        <a:t>орчин</a:t>
                      </a:r>
                    </a:p>
                    <a:p>
                      <a:r>
                        <a:rPr lang="mn-MN" sz="2800" baseline="0" dirty="0">
                          <a:latin typeface="Times New Roman" panose="02020603050405020304" pitchFamily="18" charset="0"/>
                          <a:cs typeface="Times New Roman" panose="02020603050405020304" pitchFamily="18" charset="0"/>
                        </a:rPr>
                        <a:t>Гадаад орчин</a:t>
                      </a:r>
                      <a:endParaRPr lang="mn-MN" sz="2800" baseline="0" dirty="0">
                        <a:solidFill>
                          <a:srgbClr val="002060"/>
                        </a:solidFill>
                        <a:latin typeface="Times New Roman" panose="02020603050405020304" pitchFamily="18" charset="0"/>
                        <a:cs typeface="Times New Roman" panose="02020603050405020304" pitchFamily="18" charset="0"/>
                      </a:endParaRPr>
                    </a:p>
                  </a:txBody>
                  <a:tcPr>
                    <a:lnTlToBr w="12700" cap="flat" cmpd="sng" algn="ctr">
                      <a:solidFill>
                        <a:schemeClr val="tx1"/>
                      </a:solidFill>
                      <a:prstDash val="solid"/>
                      <a:round/>
                      <a:headEnd type="none" w="med" len="med"/>
                      <a:tailEnd type="none" w="med" len="med"/>
                    </a:lnTlToBr>
                  </a:tcPr>
                </a:tc>
                <a:tc>
                  <a:txBody>
                    <a:bodyPr/>
                    <a:lstStyle/>
                    <a:p>
                      <a:pPr algn="ctr"/>
                      <a:r>
                        <a:rPr lang="mn-MN" sz="2800" dirty="0">
                          <a:latin typeface="Times New Roman" panose="02020603050405020304" pitchFamily="18" charset="0"/>
                          <a:cs typeface="Times New Roman" panose="02020603050405020304" pitchFamily="18" charset="0"/>
                        </a:rPr>
                        <a:t>Давуу тал </a:t>
                      </a:r>
                      <a:r>
                        <a:rPr lang="en-US" sz="2800" dirty="0">
                          <a:latin typeface="Times New Roman" panose="02020603050405020304" pitchFamily="18" charset="0"/>
                          <a:cs typeface="Times New Roman" panose="02020603050405020304" pitchFamily="18" charset="0"/>
                        </a:rPr>
                        <a:t>(S)</a:t>
                      </a:r>
                    </a:p>
                  </a:txBody>
                  <a:tcPr anchor="ctr"/>
                </a:tc>
                <a:tc>
                  <a:txBody>
                    <a:bodyPr/>
                    <a:lstStyle/>
                    <a:p>
                      <a:pPr algn="ctr"/>
                      <a:r>
                        <a:rPr lang="mn-MN" sz="2800" dirty="0">
                          <a:latin typeface="Times New Roman" panose="02020603050405020304" pitchFamily="18" charset="0"/>
                          <a:cs typeface="Times New Roman" panose="02020603050405020304" pitchFamily="18" charset="0"/>
                        </a:rPr>
                        <a:t>Сул тал </a:t>
                      </a:r>
                      <a:r>
                        <a:rPr lang="en-US" sz="2800" dirty="0">
                          <a:latin typeface="Times New Roman" panose="02020603050405020304" pitchFamily="18" charset="0"/>
                          <a:cs typeface="Times New Roman" panose="02020603050405020304" pitchFamily="18" charset="0"/>
                        </a:rPr>
                        <a:t>(W)</a:t>
                      </a:r>
                      <a:endParaRPr lang="mn-M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96043607"/>
                  </a:ext>
                </a:extLst>
              </a:tr>
              <a:tr h="1543306">
                <a:tc>
                  <a:txBody>
                    <a:bodyPr/>
                    <a:lstStyle/>
                    <a:p>
                      <a:pPr algn="ctr"/>
                      <a:r>
                        <a:rPr lang="mn-MN" sz="2800" b="1" dirty="0">
                          <a:latin typeface="Times New Roman" panose="02020603050405020304" pitchFamily="18" charset="0"/>
                          <a:cs typeface="Times New Roman" panose="02020603050405020304" pitchFamily="18" charset="0"/>
                        </a:rPr>
                        <a:t>Боломж</a:t>
                      </a:r>
                      <a:r>
                        <a:rPr lang="en-US" sz="2800" b="1" dirty="0">
                          <a:latin typeface="Times New Roman" panose="02020603050405020304" pitchFamily="18" charset="0"/>
                          <a:cs typeface="Times New Roman" panose="02020603050405020304" pitchFamily="18" charset="0"/>
                        </a:rPr>
                        <a:t> (O)</a:t>
                      </a:r>
                      <a:endParaRPr lang="mn-MN" sz="28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ja-JP" sz="2800" b="1" u="none" strike="noStrike" cap="none" normalizeH="0" baseline="0" dirty="0">
                          <a:ln>
                            <a:noFill/>
                          </a:ln>
                          <a:effectLst/>
                          <a:latin typeface="Times New Roman" panose="02020603050405020304" pitchFamily="18" charset="0"/>
                          <a:cs typeface="Times New Roman" panose="02020603050405020304" pitchFamily="18" charset="0"/>
                        </a:rPr>
                        <a:t>S-O</a:t>
                      </a:r>
                      <a:r>
                        <a:rPr kumimoji="0" lang="mn-MN" altLang="ja-JP" sz="2800" b="1" u="none" strike="noStrike" cap="none" normalizeH="0" baseline="0" dirty="0">
                          <a:ln>
                            <a:noFill/>
                          </a:ln>
                          <a:effectLst/>
                          <a:latin typeface="Times New Roman" panose="02020603050405020304" pitchFamily="18" charset="0"/>
                          <a:cs typeface="Times New Roman" panose="02020603050405020304" pitchFamily="18" charset="0"/>
                        </a:rPr>
                        <a:t> стратеги</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mn-MN" altLang="ja-JP" sz="2800" u="none" strike="noStrike" cap="none" normalizeH="0" baseline="0" dirty="0">
                          <a:ln>
                            <a:noFill/>
                          </a:ln>
                          <a:effectLst/>
                          <a:latin typeface="Times New Roman" panose="02020603050405020304" pitchFamily="18" charset="0"/>
                          <a:cs typeface="Times New Roman" panose="02020603050405020304" pitchFamily="18" charset="0"/>
                        </a:rPr>
                        <a:t>Боломжийг давуу тал болгон ашиглах стратегийг томьёолох</a:t>
                      </a:r>
                      <a:endParaRPr lang="en-US" sz="2800" b="0" dirty="0">
                        <a:solidFill>
                          <a:srgbClr val="002060"/>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ja-JP" sz="2800" b="1" u="none" strike="noStrike" cap="none" normalizeH="0" baseline="0" dirty="0">
                          <a:ln>
                            <a:noFill/>
                          </a:ln>
                          <a:effectLst/>
                          <a:latin typeface="Times New Roman" panose="02020603050405020304" pitchFamily="18" charset="0"/>
                          <a:cs typeface="Times New Roman" panose="02020603050405020304" pitchFamily="18" charset="0"/>
                        </a:rPr>
                        <a:t>W-O</a:t>
                      </a:r>
                      <a:r>
                        <a:rPr kumimoji="0" lang="mn-MN" altLang="ja-JP" sz="2800" b="1" u="none" strike="noStrike" cap="none" normalizeH="0" baseline="0" dirty="0">
                          <a:ln>
                            <a:noFill/>
                          </a:ln>
                          <a:effectLst/>
                          <a:latin typeface="Times New Roman" panose="02020603050405020304" pitchFamily="18" charset="0"/>
                          <a:cs typeface="Times New Roman" panose="02020603050405020304" pitchFamily="18" charset="0"/>
                        </a:rPr>
                        <a:t> стратеги</a:t>
                      </a:r>
                      <a:endParaRPr kumimoji="0" lang="en-US" altLang="ja-JP" sz="2800" b="1"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defRPr/>
                      </a:pPr>
                      <a:r>
                        <a:rPr kumimoji="0" lang="mn-MN" altLang="ja-JP" sz="2800" u="none" strike="noStrike" cap="none" normalizeH="0" baseline="0" dirty="0">
                          <a:ln>
                            <a:noFill/>
                          </a:ln>
                          <a:effectLst/>
                          <a:latin typeface="Times New Roman" panose="02020603050405020304" pitchFamily="18" charset="0"/>
                          <a:cs typeface="Times New Roman" panose="02020603050405020304" pitchFamily="18" charset="0"/>
                        </a:rPr>
                        <a:t>Боломжинд тулгуурлан сул талаа үгүй хийх стратегийг томьёолох</a:t>
                      </a:r>
                      <a:endParaRPr lang="en-US" sz="2800" b="0"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87423037"/>
                  </a:ext>
                </a:extLst>
              </a:tr>
              <a:tr h="1543306">
                <a:tc>
                  <a:txBody>
                    <a:bodyPr/>
                    <a:lstStyle/>
                    <a:p>
                      <a:pPr algn="ctr"/>
                      <a:r>
                        <a:rPr lang="mn-MN" sz="2800" b="1" dirty="0">
                          <a:latin typeface="Times New Roman" panose="02020603050405020304" pitchFamily="18" charset="0"/>
                          <a:cs typeface="Times New Roman" panose="02020603050405020304" pitchFamily="18" charset="0"/>
                        </a:rPr>
                        <a:t>Эрсдэл</a:t>
                      </a:r>
                      <a:r>
                        <a:rPr lang="en-US" sz="2800" b="1" dirty="0">
                          <a:latin typeface="Times New Roman" panose="02020603050405020304" pitchFamily="18" charset="0"/>
                          <a:cs typeface="Times New Roman" panose="02020603050405020304" pitchFamily="18" charset="0"/>
                        </a:rPr>
                        <a:t> (T)</a:t>
                      </a:r>
                      <a:endParaRPr lang="mn-MN" sz="28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ja-JP" sz="2800" b="1" u="none" strike="noStrike" cap="none" normalizeH="0" baseline="0" dirty="0">
                          <a:ln>
                            <a:noFill/>
                          </a:ln>
                          <a:effectLst/>
                          <a:latin typeface="Times New Roman" panose="02020603050405020304" pitchFamily="18" charset="0"/>
                          <a:cs typeface="Times New Roman" panose="02020603050405020304" pitchFamily="18" charset="0"/>
                        </a:rPr>
                        <a:t>S-</a:t>
                      </a:r>
                      <a:r>
                        <a:rPr kumimoji="0" lang="mn-MN" altLang="ja-JP" sz="2800" b="1" u="none" strike="noStrike" cap="none" normalizeH="0" baseline="0" dirty="0">
                          <a:ln>
                            <a:noFill/>
                          </a:ln>
                          <a:effectLst/>
                          <a:latin typeface="Times New Roman" panose="02020603050405020304" pitchFamily="18" charset="0"/>
                          <a:cs typeface="Times New Roman" panose="02020603050405020304" pitchFamily="18" charset="0"/>
                        </a:rPr>
                        <a:t>Т стратеги</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defRPr/>
                      </a:pPr>
                      <a:r>
                        <a:rPr kumimoji="0" lang="mn-MN" altLang="ja-JP" sz="2800" u="none" strike="noStrike" cap="none" normalizeH="0" baseline="0" dirty="0">
                          <a:ln>
                            <a:noFill/>
                          </a:ln>
                          <a:effectLst/>
                          <a:latin typeface="Times New Roman" panose="02020603050405020304" pitchFamily="18" charset="0"/>
                          <a:cs typeface="Times New Roman" panose="02020603050405020304" pitchFamily="18" charset="0"/>
                        </a:rPr>
                        <a:t>Давуу талаа ашиглан аюулаас зайлсхийх стратегийг томьёолох</a:t>
                      </a:r>
                      <a:endParaRPr lang="en-US" sz="2800" b="0" dirty="0">
                        <a:solidFill>
                          <a:srgbClr val="002060"/>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ja-JP" sz="2800" b="1" u="none" strike="noStrike" cap="none" normalizeH="0" baseline="0" dirty="0">
                          <a:ln>
                            <a:noFill/>
                          </a:ln>
                          <a:effectLst/>
                          <a:latin typeface="Times New Roman" panose="02020603050405020304" pitchFamily="18" charset="0"/>
                          <a:cs typeface="Times New Roman" panose="02020603050405020304" pitchFamily="18" charset="0"/>
                        </a:rPr>
                        <a:t>W-T</a:t>
                      </a:r>
                      <a:r>
                        <a:rPr kumimoji="0" lang="mn-MN" altLang="ja-JP" sz="2800" b="1" u="none" strike="noStrike" cap="none" normalizeH="0" baseline="0" dirty="0">
                          <a:ln>
                            <a:noFill/>
                          </a:ln>
                          <a:effectLst/>
                          <a:latin typeface="Times New Roman" panose="02020603050405020304" pitchFamily="18" charset="0"/>
                          <a:cs typeface="Times New Roman" panose="02020603050405020304" pitchFamily="18" charset="0"/>
                        </a:rPr>
                        <a:t> стратеги</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mn-MN" altLang="ja-JP" sz="2800" u="none" strike="noStrike" cap="none" normalizeH="0" baseline="0" dirty="0">
                          <a:ln>
                            <a:noFill/>
                          </a:ln>
                          <a:effectLst/>
                          <a:latin typeface="Times New Roman" panose="02020603050405020304" pitchFamily="18" charset="0"/>
                          <a:cs typeface="Times New Roman" panose="02020603050405020304" pitchFamily="18" charset="0"/>
                        </a:rPr>
                        <a:t>Сул талаа багасгаж аюулаас зайлсхийх  стратегийг томьёолох</a:t>
                      </a:r>
                      <a:endParaRPr lang="en-US" sz="2800" b="0"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1498590"/>
                  </a:ext>
                </a:extLst>
              </a:tr>
            </a:tbl>
          </a:graphicData>
        </a:graphic>
      </p:graphicFrame>
    </p:spTree>
    <p:extLst>
      <p:ext uri="{BB962C8B-B14F-4D97-AF65-F5344CB8AC3E}">
        <p14:creationId xmlns:p14="http://schemas.microsoft.com/office/powerpoint/2010/main" val="2147202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F8A3A-0883-AA92-F10D-DD56953C3F8D}"/>
              </a:ext>
            </a:extLst>
          </p:cNvPr>
          <p:cNvSpPr>
            <a:spLocks noGrp="1"/>
          </p:cNvSpPr>
          <p:nvPr>
            <p:ph type="title"/>
          </p:nvPr>
        </p:nvSpPr>
        <p:spPr>
          <a:xfrm>
            <a:off x="161026" y="103518"/>
            <a:ext cx="11835442" cy="379561"/>
          </a:xfrm>
        </p:spPr>
        <p:txBody>
          <a:bodyPr>
            <a:normAutofit fontScale="90000"/>
          </a:bodyPr>
          <a:lstStyle/>
          <a:p>
            <a:pPr algn="just"/>
            <a:r>
              <a:rPr lang="en-US" sz="3600" b="1" dirty="0">
                <a:solidFill>
                  <a:srgbClr val="002060"/>
                </a:solidFill>
                <a:latin typeface="Times New Roman" panose="02020603050405020304" pitchFamily="18" charset="0"/>
                <a:cs typeface="Times New Roman" panose="02020603050405020304" pitchFamily="18" charset="0"/>
              </a:rPr>
              <a:t>BCG </a:t>
            </a:r>
            <a:r>
              <a:rPr lang="en-US" sz="3600" b="1" dirty="0" err="1">
                <a:solidFill>
                  <a:srgbClr val="002060"/>
                </a:solidFill>
                <a:latin typeface="Times New Roman" panose="02020603050405020304" pitchFamily="18" charset="0"/>
                <a:cs typeface="Times New Roman" panose="02020603050405020304" pitchFamily="18" charset="0"/>
              </a:rPr>
              <a:t>матриц</a:t>
            </a:r>
            <a:r>
              <a:rPr lang="en-US" sz="3600" b="1" dirty="0">
                <a:solidFill>
                  <a:srgbClr val="002060"/>
                </a:solidFill>
                <a:latin typeface="Times New Roman" panose="02020603050405020304" pitchFamily="18" charset="0"/>
                <a:cs typeface="Times New Roman" panose="02020603050405020304" pitchFamily="18" charset="0"/>
              </a:rPr>
              <a:t> (Boston Consulting Group)</a:t>
            </a:r>
          </a:p>
        </p:txBody>
      </p:sp>
      <p:sp>
        <p:nvSpPr>
          <p:cNvPr id="3" name="Content Placeholder 2">
            <a:extLst>
              <a:ext uri="{FF2B5EF4-FFF2-40B4-BE49-F238E27FC236}">
                <a16:creationId xmlns:a16="http://schemas.microsoft.com/office/drawing/2014/main" id="{1E4E3ACE-D8C4-8A34-DF24-0E5F3FCD4E9F}"/>
              </a:ext>
            </a:extLst>
          </p:cNvPr>
          <p:cNvSpPr>
            <a:spLocks noGrp="1"/>
          </p:cNvSpPr>
          <p:nvPr>
            <p:ph idx="1"/>
          </p:nvPr>
        </p:nvSpPr>
        <p:spPr>
          <a:xfrm>
            <a:off x="178279" y="451633"/>
            <a:ext cx="11835442" cy="6406367"/>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Компаниудыг бүтээгдэхүүн, үйлчилгээнийхээ талаар шийдвэр гаргахад чиглүүлдэг загвар.</a:t>
            </a:r>
          </a:p>
          <a:p>
            <a:pPr algn="just"/>
            <a:r>
              <a:rPr lang="mn-MN" dirty="0">
                <a:solidFill>
                  <a:srgbClr val="002060"/>
                </a:solidFill>
                <a:latin typeface="Times New Roman" panose="02020603050405020304" pitchFamily="18" charset="0"/>
                <a:cs typeface="Times New Roman" panose="02020603050405020304" pitchFamily="18" charset="0"/>
              </a:rPr>
              <a:t>Энэ арга </a:t>
            </a:r>
            <a:r>
              <a:rPr lang="mn-MN" b="1" dirty="0">
                <a:solidFill>
                  <a:srgbClr val="002060"/>
                </a:solidFill>
                <a:latin typeface="Times New Roman" panose="02020603050405020304" pitchFamily="18" charset="0"/>
                <a:cs typeface="Times New Roman" panose="02020603050405020304" pitchFamily="18" charset="0"/>
              </a:rPr>
              <a:t>зах зээлд эзлэх харьцангуй хувь хэмжээ </a:t>
            </a:r>
            <a:r>
              <a:rPr lang="mn-MN" dirty="0">
                <a:solidFill>
                  <a:srgbClr val="002060"/>
                </a:solidFill>
                <a:latin typeface="Times New Roman" panose="02020603050405020304" pitchFamily="18" charset="0"/>
                <a:cs typeface="Times New Roman" panose="02020603050405020304" pitchFamily="18" charset="0"/>
              </a:rPr>
              <a:t>болон </a:t>
            </a:r>
            <a:r>
              <a:rPr lang="mn-MN" b="1" dirty="0">
                <a:solidFill>
                  <a:srgbClr val="002060"/>
                </a:solidFill>
                <a:latin typeface="Times New Roman" panose="02020603050405020304" pitchFamily="18" charset="0"/>
                <a:cs typeface="Times New Roman" panose="02020603050405020304" pitchFamily="18" charset="0"/>
              </a:rPr>
              <a:t>зах зээлийн өсөлтийн хэмжээ</a:t>
            </a:r>
            <a:r>
              <a:rPr lang="mn-MN" dirty="0">
                <a:solidFill>
                  <a:srgbClr val="002060"/>
                </a:solidFill>
                <a:latin typeface="Times New Roman" panose="02020603050405020304" pitchFamily="18" charset="0"/>
                <a:cs typeface="Times New Roman" panose="02020603050405020304" pitchFamily="18" charset="0"/>
              </a:rPr>
              <a:t>г авч үздэг. </a:t>
            </a:r>
          </a:p>
          <a:p>
            <a:pPr lvl="1" algn="just"/>
            <a:r>
              <a:rPr lang="mn-MN" b="1" dirty="0">
                <a:solidFill>
                  <a:srgbClr val="002060"/>
                </a:solidFill>
                <a:latin typeface="Times New Roman" panose="02020603050405020304" pitchFamily="18" charset="0"/>
                <a:cs typeface="Times New Roman" panose="02020603050405020304" pitchFamily="18" charset="0"/>
              </a:rPr>
              <a:t>Зах зээлд эзлэх харьцангуй хувь хэмжээ </a:t>
            </a:r>
            <a:r>
              <a:rPr lang="mn-MN" dirty="0">
                <a:solidFill>
                  <a:srgbClr val="002060"/>
                </a:solidFill>
                <a:latin typeface="Times New Roman" panose="02020603050405020304" pitchFamily="18" charset="0"/>
                <a:cs typeface="Times New Roman" panose="02020603050405020304" pitchFamily="18" charset="0"/>
              </a:rPr>
              <a:t>– тухайн компаний зах зээлд эзлэх хувийг түүний хүчтэй өрсөлдөгчийн зах зээлд эзлэх хувьтай харьцуулсан харьцаа. </a:t>
            </a:r>
          </a:p>
          <a:p>
            <a:pPr lvl="1" algn="just"/>
            <a:r>
              <a:rPr lang="mn-MN" b="1" dirty="0">
                <a:solidFill>
                  <a:srgbClr val="002060"/>
                </a:solidFill>
                <a:latin typeface="Times New Roman" panose="02020603050405020304" pitchFamily="18" charset="0"/>
                <a:cs typeface="Times New Roman" panose="02020603050405020304" pitchFamily="18" charset="0"/>
              </a:rPr>
              <a:t>Зах зээлийн өсөлтийн хэмжээ </a:t>
            </a:r>
            <a:r>
              <a:rPr lang="mn-MN" dirty="0">
                <a:solidFill>
                  <a:srgbClr val="002060"/>
                </a:solidFill>
                <a:latin typeface="Times New Roman" panose="02020603050405020304" pitchFamily="18" charset="0"/>
                <a:cs typeface="Times New Roman" panose="02020603050405020304" pitchFamily="18" charset="0"/>
              </a:rPr>
              <a:t>– Тухайн зах зээл хэр ирээдүйтэй болохыг харуулна. </a:t>
            </a:r>
          </a:p>
          <a:p>
            <a:pPr algn="just"/>
            <a:r>
              <a:rPr lang="mn-MN" dirty="0">
                <a:solidFill>
                  <a:srgbClr val="002060"/>
                </a:solidFill>
                <a:latin typeface="Times New Roman" panose="02020603050405020304" pitchFamily="18" charset="0"/>
                <a:cs typeface="Times New Roman" panose="02020603050405020304" pitchFamily="18" charset="0"/>
              </a:rPr>
              <a:t>Энэ аргаар үндсэн 4 бүлэгт хуваана. </a:t>
            </a:r>
          </a:p>
          <a:p>
            <a:pPr lvl="1" algn="just"/>
            <a:r>
              <a:rPr lang="mn-MN" b="1" dirty="0">
                <a:solidFill>
                  <a:srgbClr val="002060"/>
                </a:solidFill>
                <a:latin typeface="Times New Roman" panose="02020603050405020304" pitchFamily="18" charset="0"/>
                <a:cs typeface="Times New Roman" panose="02020603050405020304" pitchFamily="18" charset="0"/>
              </a:rPr>
              <a:t>Од </a:t>
            </a:r>
            <a:r>
              <a:rPr lang="mn-MN" dirty="0">
                <a:solidFill>
                  <a:srgbClr val="002060"/>
                </a:solidFill>
                <a:latin typeface="Times New Roman" panose="02020603050405020304" pitchFamily="18" charset="0"/>
                <a:cs typeface="Times New Roman" panose="02020603050405020304" pitchFamily="18" charset="0"/>
              </a:rPr>
              <a:t>– Өсөж буй зах зээлд тэргүүлэгч байр суурьтай. Эзлэх харьцангуй хувь хэмжээ өндөр, Зах зээлийн өсөлт өндөр. Хөрөнгө оруулалт их шаардана. Өсөлт саарахад саалийн үнээ болдог. </a:t>
            </a:r>
            <a:endParaRPr lang="mn-MN" b="1" dirty="0">
              <a:solidFill>
                <a:srgbClr val="002060"/>
              </a:solidFill>
              <a:latin typeface="Times New Roman" panose="02020603050405020304" pitchFamily="18" charset="0"/>
              <a:cs typeface="Times New Roman" panose="02020603050405020304" pitchFamily="18" charset="0"/>
            </a:endParaRPr>
          </a:p>
          <a:p>
            <a:pPr lvl="1" algn="just"/>
            <a:r>
              <a:rPr lang="mn-MN" b="1" dirty="0">
                <a:solidFill>
                  <a:srgbClr val="002060"/>
                </a:solidFill>
                <a:latin typeface="Times New Roman" panose="02020603050405020304" pitchFamily="18" charset="0"/>
                <a:cs typeface="Times New Roman" panose="02020603050405020304" pitchFamily="18" charset="0"/>
              </a:rPr>
              <a:t>Асуултын тэмдэг</a:t>
            </a:r>
            <a:r>
              <a:rPr lang="mn-MN" dirty="0">
                <a:solidFill>
                  <a:srgbClr val="002060"/>
                </a:solidFill>
                <a:latin typeface="Times New Roman" panose="02020603050405020304" pitchFamily="18" charset="0"/>
                <a:cs typeface="Times New Roman" panose="02020603050405020304" pitchFamily="18" charset="0"/>
              </a:rPr>
              <a:t> – Зах зээлд эзлэх харьцангуй хувь хэмжээ бага, Зах зээлийн өсөлт өндөр. Хөрөнгө оруулалт их шаардана. Тухайн бизнест хөрөнгө оруулах, эсэх талаар шийдвэр гаргах хэрэгцээтэй тулгардаг. </a:t>
            </a:r>
          </a:p>
          <a:p>
            <a:pPr lvl="1" algn="just"/>
            <a:r>
              <a:rPr lang="mn-MN" b="1" dirty="0">
                <a:solidFill>
                  <a:srgbClr val="002060"/>
                </a:solidFill>
                <a:latin typeface="Times New Roman" panose="02020603050405020304" pitchFamily="18" charset="0"/>
                <a:cs typeface="Times New Roman" panose="02020603050405020304" pitchFamily="18" charset="0"/>
              </a:rPr>
              <a:t>Саалийн үнээ</a:t>
            </a:r>
            <a:r>
              <a:rPr lang="mn-MN" dirty="0">
                <a:solidFill>
                  <a:srgbClr val="002060"/>
                </a:solidFill>
                <a:latin typeface="Times New Roman" panose="02020603050405020304" pitchFamily="18" charset="0"/>
                <a:cs typeface="Times New Roman" panose="02020603050405020304" pitchFamily="18" charset="0"/>
              </a:rPr>
              <a:t> – Хөлөө олсон бизнес. Хөрөнгө оруулалт бага шаардана. Зах зээлд эзлэх харьцангуй хувь хэмжээ их, Зах зээлийн өсөлт саарсан. </a:t>
            </a:r>
            <a:endParaRPr lang="mn-MN" b="1" dirty="0">
              <a:solidFill>
                <a:srgbClr val="002060"/>
              </a:solidFill>
              <a:latin typeface="Times New Roman" panose="02020603050405020304" pitchFamily="18" charset="0"/>
              <a:cs typeface="Times New Roman" panose="02020603050405020304" pitchFamily="18" charset="0"/>
            </a:endParaRPr>
          </a:p>
          <a:p>
            <a:pPr lvl="1" algn="just"/>
            <a:r>
              <a:rPr lang="mn-MN" b="1" dirty="0">
                <a:solidFill>
                  <a:srgbClr val="002060"/>
                </a:solidFill>
                <a:latin typeface="Times New Roman" panose="02020603050405020304" pitchFamily="18" charset="0"/>
                <a:cs typeface="Times New Roman" panose="02020603050405020304" pitchFamily="18" charset="0"/>
              </a:rPr>
              <a:t>Нохой </a:t>
            </a:r>
            <a:r>
              <a:rPr lang="mn-MN" dirty="0">
                <a:solidFill>
                  <a:srgbClr val="002060"/>
                </a:solidFill>
                <a:latin typeface="Times New Roman" panose="02020603050405020304" pitchFamily="18" charset="0"/>
                <a:cs typeface="Times New Roman" panose="02020603050405020304" pitchFamily="18" charset="0"/>
              </a:rPr>
              <a:t>– Онцын ашиггүй, амиа аргацаасан шинжтэй. Зах зээлд эзлэх харьцангуй хувь хэмжээ бага, Зах зээлийн өсөлт буурсан.</a:t>
            </a:r>
          </a:p>
        </p:txBody>
      </p:sp>
    </p:spTree>
    <p:extLst>
      <p:ext uri="{BB962C8B-B14F-4D97-AF65-F5344CB8AC3E}">
        <p14:creationId xmlns:p14="http://schemas.microsoft.com/office/powerpoint/2010/main" val="229321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F25E4-C035-4F44-60AB-A1492A19B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F9B11-4D62-487E-6C5E-629C91DAC14B}"/>
              </a:ext>
            </a:extLst>
          </p:cNvPr>
          <p:cNvSpPr>
            <a:spLocks noGrp="1"/>
          </p:cNvSpPr>
          <p:nvPr>
            <p:ph type="title"/>
          </p:nvPr>
        </p:nvSpPr>
        <p:spPr>
          <a:xfrm>
            <a:off x="199845" y="167597"/>
            <a:ext cx="11812542" cy="696232"/>
          </a:xfrm>
        </p:spPr>
        <p:txBody>
          <a:bodyPr/>
          <a:lstStyle/>
          <a:p>
            <a:r>
              <a:rPr lang="en-US" b="1" dirty="0">
                <a:solidFill>
                  <a:srgbClr val="002060"/>
                </a:solidFill>
                <a:latin typeface="Times New Roman" panose="02020603050405020304" pitchFamily="18" charset="0"/>
                <a:cs typeface="Times New Roman" panose="02020603050405020304" pitchFamily="18" charset="0"/>
              </a:rPr>
              <a:t>BCG </a:t>
            </a:r>
            <a:r>
              <a:rPr lang="en-US" b="1" dirty="0" err="1">
                <a:solidFill>
                  <a:srgbClr val="002060"/>
                </a:solidFill>
                <a:latin typeface="Times New Roman" panose="02020603050405020304" pitchFamily="18" charset="0"/>
                <a:cs typeface="Times New Roman" panose="02020603050405020304" pitchFamily="18" charset="0"/>
              </a:rPr>
              <a:t>матриц</a:t>
            </a:r>
            <a:r>
              <a:rPr lang="en-US" b="1" dirty="0">
                <a:solidFill>
                  <a:srgbClr val="002060"/>
                </a:solidFill>
                <a:latin typeface="Times New Roman" panose="02020603050405020304" pitchFamily="18" charset="0"/>
                <a:cs typeface="Times New Roman" panose="02020603050405020304" pitchFamily="18" charset="0"/>
              </a:rPr>
              <a:t> (Boston Consulting Group)</a:t>
            </a:r>
          </a:p>
        </p:txBody>
      </p:sp>
      <p:sp>
        <p:nvSpPr>
          <p:cNvPr id="3" name="Content Placeholder 2">
            <a:extLst>
              <a:ext uri="{FF2B5EF4-FFF2-40B4-BE49-F238E27FC236}">
                <a16:creationId xmlns:a16="http://schemas.microsoft.com/office/drawing/2014/main" id="{FD0C6913-6E1F-2182-70E6-1EED34952C55}"/>
              </a:ext>
            </a:extLst>
          </p:cNvPr>
          <p:cNvSpPr>
            <a:spLocks noGrp="1"/>
          </p:cNvSpPr>
          <p:nvPr>
            <p:ph idx="1"/>
          </p:nvPr>
        </p:nvSpPr>
        <p:spPr>
          <a:xfrm>
            <a:off x="303358" y="760311"/>
            <a:ext cx="11430001" cy="5115605"/>
          </a:xfrm>
        </p:spPr>
        <p:txBody>
          <a:bodyPr/>
          <a:lstStyle/>
          <a:p>
            <a:r>
              <a:rPr lang="mn-MN" dirty="0">
                <a:solidFill>
                  <a:srgbClr val="002060"/>
                </a:solidFill>
                <a:latin typeface="Times New Roman" panose="02020603050405020304" pitchFamily="18" charset="0"/>
                <a:cs typeface="Times New Roman" panose="02020603050405020304" pitchFamily="18" charset="0"/>
              </a:rPr>
              <a:t>Компаниудыг бүтээгдэхүүн, үйлчилгээнийхээ талаар шийдвэр гаргахад чиглүүлдэг загвар.</a:t>
            </a:r>
          </a:p>
        </p:txBody>
      </p:sp>
      <p:pic>
        <p:nvPicPr>
          <p:cNvPr id="4" name="Picture 2" descr="Pepsi BCG Matrix | EdrawMax Online">
            <a:extLst>
              <a:ext uri="{FF2B5EF4-FFF2-40B4-BE49-F238E27FC236}">
                <a16:creationId xmlns:a16="http://schemas.microsoft.com/office/drawing/2014/main" id="{C8FF5AA8-0D93-9636-BE33-1F7B172763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33" t="15021" b="10893"/>
          <a:stretch/>
        </p:blipFill>
        <p:spPr bwMode="auto">
          <a:xfrm>
            <a:off x="2596243" y="1560061"/>
            <a:ext cx="9596767" cy="51156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19A307-1D64-84A1-A37C-08FFA1638EE1}"/>
              </a:ext>
            </a:extLst>
          </p:cNvPr>
          <p:cNvSpPr txBox="1"/>
          <p:nvPr/>
        </p:nvSpPr>
        <p:spPr>
          <a:xfrm>
            <a:off x="179614" y="2403707"/>
            <a:ext cx="2416630" cy="3108543"/>
          </a:xfrm>
          <a:prstGeom prst="rect">
            <a:avLst/>
          </a:prstGeom>
          <a:noFill/>
        </p:spPr>
        <p:txBody>
          <a:bodyPr wrap="square">
            <a:spAutoFit/>
          </a:bodyPr>
          <a:lstStyle/>
          <a:p>
            <a:pPr algn="ctr"/>
            <a:r>
              <a:rPr lang="mn-MN" sz="2800" dirty="0">
                <a:solidFill>
                  <a:srgbClr val="002060"/>
                </a:solidFill>
                <a:latin typeface="Times New Roman" panose="02020603050405020304" pitchFamily="18" charset="0"/>
                <a:cs typeface="Times New Roman" panose="02020603050405020304" pitchFamily="18" charset="0"/>
              </a:rPr>
              <a:t>Тэднийг </a:t>
            </a:r>
            <a:r>
              <a:rPr lang="mn-MN" sz="2800" b="1" dirty="0">
                <a:solidFill>
                  <a:srgbClr val="002060"/>
                </a:solidFill>
                <a:latin typeface="Times New Roman" panose="02020603050405020304" pitchFamily="18" charset="0"/>
                <a:cs typeface="Times New Roman" panose="02020603050405020304" pitchFamily="18" charset="0"/>
              </a:rPr>
              <a:t>од, асуултын тэмдэг, саалийн үнээ, нохой </a:t>
            </a:r>
            <a:r>
              <a:rPr lang="mn-MN" sz="2800" dirty="0">
                <a:solidFill>
                  <a:srgbClr val="002060"/>
                </a:solidFill>
                <a:latin typeface="Times New Roman" panose="02020603050405020304" pitchFamily="18" charset="0"/>
                <a:cs typeface="Times New Roman" panose="02020603050405020304" pitchFamily="18" charset="0"/>
              </a:rPr>
              <a:t>гэсэн дөрвөн бүлэгт хуваана.</a:t>
            </a:r>
          </a:p>
        </p:txBody>
      </p:sp>
    </p:spTree>
    <p:extLst>
      <p:ext uri="{BB962C8B-B14F-4D97-AF65-F5344CB8AC3E}">
        <p14:creationId xmlns:p14="http://schemas.microsoft.com/office/powerpoint/2010/main" val="607432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2878-A0F5-19C4-3E51-C4A71A313123}"/>
              </a:ext>
            </a:extLst>
          </p:cNvPr>
          <p:cNvSpPr>
            <a:spLocks noGrp="1"/>
          </p:cNvSpPr>
          <p:nvPr>
            <p:ph type="title"/>
          </p:nvPr>
        </p:nvSpPr>
        <p:spPr>
          <a:xfrm>
            <a:off x="230037" y="175345"/>
            <a:ext cx="11731925" cy="566528"/>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Уншиж судлах ном, сурах бичиг</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D6ECD2-1478-C382-3CB4-7AE5501AC3DD}"/>
              </a:ext>
            </a:extLst>
          </p:cNvPr>
          <p:cNvSpPr>
            <a:spLocks noGrp="1"/>
          </p:cNvSpPr>
          <p:nvPr>
            <p:ph idx="1"/>
          </p:nvPr>
        </p:nvSpPr>
        <p:spPr>
          <a:xfrm>
            <a:off x="230037" y="776379"/>
            <a:ext cx="11731925" cy="4351338"/>
          </a:xfrm>
        </p:spPr>
        <p:txBody>
          <a:bodyPr>
            <a:normAutofit/>
          </a:bodyPr>
          <a:lstStyle/>
          <a:p>
            <a:r>
              <a:rPr lang="mn-MN" sz="3200" dirty="0">
                <a:solidFill>
                  <a:srgbClr val="002060"/>
                </a:solidFill>
                <a:latin typeface="Times New Roman" panose="02020603050405020304" pitchFamily="18" charset="0"/>
                <a:cs typeface="Times New Roman" panose="02020603050405020304" pitchFamily="18" charset="0"/>
              </a:rPr>
              <a:t>Д.Энх-Отгон, “Бизнес төлөвлөлт”, 2017</a:t>
            </a:r>
          </a:p>
          <a:p>
            <a:r>
              <a:rPr lang="mn-MN" sz="3200" dirty="0">
                <a:solidFill>
                  <a:srgbClr val="002060"/>
                </a:solidFill>
                <a:latin typeface="Times New Roman" panose="02020603050405020304" pitchFamily="18" charset="0"/>
                <a:cs typeface="Times New Roman" panose="02020603050405020304" pitchFamily="18" charset="0"/>
              </a:rPr>
              <a:t>Д.Баярмаа, Маркетинг: Онол, хэрэглээ, 2014</a:t>
            </a:r>
            <a:endParaRPr lang="en-US" sz="3200" dirty="0">
              <a:solidFill>
                <a:srgbClr val="002060"/>
              </a:solidFill>
              <a:latin typeface="Times New Roman" panose="02020603050405020304" pitchFamily="18" charset="0"/>
              <a:cs typeface="Times New Roman" panose="02020603050405020304" pitchFamily="18" charset="0"/>
            </a:endParaRPr>
          </a:p>
          <a:p>
            <a:r>
              <a:rPr lang="mn-MN" sz="3200" dirty="0">
                <a:solidFill>
                  <a:srgbClr val="002060"/>
                </a:solidFill>
                <a:latin typeface="Times New Roman" panose="02020603050405020304" pitchFamily="18" charset="0"/>
                <a:cs typeface="Times New Roman" panose="02020603050405020304" pitchFamily="18" charset="0"/>
              </a:rPr>
              <a:t>Л.Бурмаа, Маркетингийн судалгаа, 2017</a:t>
            </a:r>
          </a:p>
          <a:p>
            <a:r>
              <a:rPr lang="mn-MN" sz="3200" dirty="0">
                <a:solidFill>
                  <a:srgbClr val="002060"/>
                </a:solidFill>
                <a:latin typeface="Times New Roman" panose="02020603050405020304" pitchFamily="18" charset="0"/>
                <a:cs typeface="Times New Roman" panose="02020603050405020304" pitchFamily="18" charset="0"/>
              </a:rPr>
              <a:t>Г.Цолмон нарын бүтээл, Маркетингийн судалгаа, шинжилгээ, 2023</a:t>
            </a:r>
          </a:p>
        </p:txBody>
      </p:sp>
    </p:spTree>
    <p:extLst>
      <p:ext uri="{BB962C8B-B14F-4D97-AF65-F5344CB8AC3E}">
        <p14:creationId xmlns:p14="http://schemas.microsoft.com/office/powerpoint/2010/main" val="837563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2B1F44B-6806-4F48-9451-EFA54E6B128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12\u001E{5CDD3A6F-82E0-49E5-B476-77BB91554EEC}&quot;,&quot;D:\\F.CN104_Print_Last2019.10.10\\S.EEM101_2023-24.B_Ts.Baljinnyam&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S.EEM101_Lecture03_2023-24.B_ByTs.B_2024.01.28"/>
  <p:tag name="ISPRING_FIRST_PUBLI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1615</TotalTime>
  <Words>3115</Words>
  <Application>Microsoft Office PowerPoint</Application>
  <PresentationFormat>Widescreen</PresentationFormat>
  <Paragraphs>409</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Times New Roman</vt:lpstr>
      <vt:lpstr>Wingdings</vt:lpstr>
      <vt:lpstr>Office Theme</vt:lpstr>
      <vt:lpstr>Лекц 3. Зах зээл ба нөхцөл байдлын судалгаа, шинжилгээ</vt:lpstr>
      <vt:lpstr>Хичээлийн суралцахуйн үр дүнгүүд  Оюутан энэ сэдвийг судалснаар дараах ур чадваруудтай болсон байна. </vt:lpstr>
      <vt:lpstr>Хичээлийн агуулга </vt:lpstr>
      <vt:lpstr>Маркетингийн үндсэн ойлголт</vt:lpstr>
      <vt:lpstr>PowerPoint Presentation</vt:lpstr>
      <vt:lpstr>PowerPoint Presentation</vt:lpstr>
      <vt:lpstr>PowerPoint Presentation</vt:lpstr>
      <vt:lpstr>PowerPoint Presentation</vt:lpstr>
      <vt:lpstr>Аливаа маркетингийн үйл ажиллагаа зах зээлийн судалгаанаас эхэлдэг. </vt:lpstr>
      <vt:lpstr>Мэдээллийн ангилал ба эх сурвалж</vt:lpstr>
      <vt:lpstr>Мэдээллийн ангилал ба эх сурвалж</vt:lpstr>
      <vt:lpstr>Маркетингийн судалгаа</vt:lpstr>
      <vt:lpstr>Маркетингийн судалгаа</vt:lpstr>
      <vt:lpstr>Маркетингийн судалгаа</vt:lpstr>
      <vt:lpstr>Маркетингийн судалгааны аргууд</vt:lpstr>
      <vt:lpstr>Маркетингийн судалгааны аргууд</vt:lpstr>
      <vt:lpstr>Анхдагч мэдээлэл цуглуулах аргууд</vt:lpstr>
      <vt:lpstr>Асуулга (Survey)</vt:lpstr>
      <vt:lpstr>Анкетийн асуултуудын ангилал</vt:lpstr>
      <vt:lpstr>Маркетингийн МИКРО орчин</vt:lpstr>
      <vt:lpstr>Маркетингийн МИКРО орчин</vt:lpstr>
      <vt:lpstr>Маркетингийн МИКРО орчин</vt:lpstr>
      <vt:lpstr>Маркетингийн МИКРО орчин</vt:lpstr>
      <vt:lpstr>Маркетингийн МИКРО орчин</vt:lpstr>
      <vt:lpstr>Маркетингийн МАКРО орчин</vt:lpstr>
      <vt:lpstr>PEST, PESTEL шинжилгээ</vt:lpstr>
      <vt:lpstr>SWOT шинжилгээ</vt:lpstr>
      <vt:lpstr>SWOT шинжилгээ</vt:lpstr>
      <vt:lpstr>TOWS шинжилгээ</vt:lpstr>
      <vt:lpstr>BCG матриц (Boston Consulting Group)</vt:lpstr>
      <vt:lpstr>BCG матриц (Boston Consulting Group)</vt:lpstr>
      <vt:lpstr>Уншиж судлах ном, сурах бичиг</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S.EEM101_Lecture03_2023-24.B_ByTs.B_2024.01.28</dc:title>
  <dc:creator>Oyu Chuluun</dc:creator>
  <cp:lastModifiedBy>Ganaa begzsuren</cp:lastModifiedBy>
  <cp:revision>77</cp:revision>
  <dcterms:created xsi:type="dcterms:W3CDTF">2023-09-05T14:21:28Z</dcterms:created>
  <dcterms:modified xsi:type="dcterms:W3CDTF">2025-03-19T13:46:36Z</dcterms:modified>
</cp:coreProperties>
</file>