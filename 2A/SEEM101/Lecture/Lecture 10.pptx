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19" r:id="rId2"/>
    <p:sldId id="348" r:id="rId3"/>
    <p:sldId id="257" r:id="rId4"/>
    <p:sldId id="349" r:id="rId5"/>
    <p:sldId id="350" r:id="rId6"/>
    <p:sldId id="351" r:id="rId7"/>
    <p:sldId id="375" r:id="rId8"/>
    <p:sldId id="352" r:id="rId9"/>
    <p:sldId id="376" r:id="rId10"/>
    <p:sldId id="377" r:id="rId11"/>
    <p:sldId id="354" r:id="rId12"/>
    <p:sldId id="355" r:id="rId13"/>
    <p:sldId id="356" r:id="rId14"/>
    <p:sldId id="357" r:id="rId15"/>
    <p:sldId id="358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286" r:id="rId27"/>
  </p:sldIdLst>
  <p:sldSz cx="12192000" cy="6858000"/>
  <p:notesSz cx="9866313" cy="6735763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0FF65C-CA29-52B5-E688-B9F869745318}" name="T B" initials="TB" userId="cc74087b7d702bd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72310" autoAdjust="0"/>
  </p:normalViewPr>
  <p:slideViewPr>
    <p:cSldViewPr snapToGrid="0">
      <p:cViewPr varScale="1">
        <p:scale>
          <a:sx n="52" d="100"/>
          <a:sy n="52" d="100"/>
        </p:scale>
        <p:origin x="17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5403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88627" y="0"/>
            <a:ext cx="4275403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22D43-C65E-428A-89C7-8C19C0C28B05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397807"/>
            <a:ext cx="4275403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88627" y="6397807"/>
            <a:ext cx="4275403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FEF27-99CE-459F-8C01-F12FB244F5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2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386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75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324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эцсийн бэлэн бүтээгдэхүүн</a:t>
            </a:r>
            <a:r>
              <a:rPr lang="en-US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орлого олох блмжит бүтээгдэхүүн, складад бгаа. Багаж төхөөрөмжүүд хайч, зүү, утас, цаасан эсгүүр. Алх бахь, тестер, гагнуур. сэлбэг хэрэгсэл – эвдрэх элэгдэхийг мэдэж бгаа учир урьдчилан худалдаж аваад, хийж бүтээгээгэд бэлдэнэ.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275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Түүхий эд, материалын нөөц нь үйлдвэрлэгчийн үйл ажиллагааны бэлэн байдлыг хангаж, түүнийг бэлтгэн нийлүүлэгчээс байнгын хараат байдалд орохоос сэргийлдэг. </a:t>
            </a:r>
          </a:p>
          <a:p>
            <a:r>
              <a:rPr lang="mn-M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Завсрын бүтээгдэхүүний нөөц нь бүтээгдэхүүний шугам дах суурь машинууд хоорондын, харин бэлэн бүтээгдэхүүний нөөц нь үйлдвэрлэгч, хэрэглэгчийн хоорондын хамаарлыг зохистой түвшинд байлгаж үйлдвэрлэлийн үйл ажиллагаа сааталгүй явагдах боломжийг бүрдүүлдэг.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Хамааралтай эрэлттэй нөөцийн хэрэгцээ нь үндсэн бүтээгдэхүүний үйлдвэрлэлийн төлөвлөгөөгөөр тодорхойлогддог.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Хамааралтай эрэлттэй –Мотоцикл үйлдвэр– 1000 мото-д 2000</a:t>
            </a:r>
            <a:r>
              <a:rPr lang="en-US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их дугуйг- дугуй үйлдвэрлэдэг өөр үйлдвэрээс </a:t>
            </a:r>
            <a:r>
              <a:rPr lang="en-US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+10%</a:t>
            </a:r>
            <a:r>
              <a:rPr lang="en-US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захилна г.м.  </a:t>
            </a:r>
          </a:p>
          <a:p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Хамааралгүй эрэлттэй нөөц – Хэрэглэгчдэд очиход бэлэн болсон бүтээгдэхүүн. Хэр хэмжээний хамааралгүй нөөцийг бэлдэх бэ гэдгийг хэрхэн, яаж тооцоолох бэ? Эрэлтийг л тооцоолох хэрэгтэй, бид өмнө нь шугаман рег тэгш-г гаргадаг шиг. Зах зээлийг судлаад, эрэлтийн тоон хэмжээг тооцоолоод, тэр л хэмжээний бүтээгдэхүүнийг үйлдвэрлэнэ гэсэн үг. Жнь: 100 мянган талх үйлдвэрлэх хүчин чадалтай. Хэрэглэгчид 60 мянга-г л худалдаж авдаг байг. Хэдийг үйлдвэрлэх бэ? 80-г үйлдвэрлэхэд 20-н нөөцийн илүүдэл-алдагдал хүлээх тул 60-г хийх хэрэгтэй. 40-г үйлдвэрлэхэд 20-н нөөцийн дутагдал хүлээх тул 60-г хийх хэрэгтэй. Олж болох ашгийг олж чадсангүй. Ийм учир нөөцийг сайтар тооцох хэрэгтэй. Эрэлтийг тодорхойлсон тохиолдолд үйлдвэрлэлийн ү.а-г тасралтгүйгээр зөв бх боломж бүрдэнэ. Үйлдвэрлэлийн ү.а тасалдвал том эрсдэл үүснэ. Хэрэглэгчийн итгэл алдах, алдагдал үүснэ. Итгэл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508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Өөрийн гэсэн үүрэгтэй байдаг. </a:t>
            </a:r>
            <a:r>
              <a:rPr lang="en-US" dirty="0"/>
              <a:t>1). </a:t>
            </a:r>
            <a:r>
              <a:rPr lang="mn-MN" dirty="0"/>
              <a:t>БМНөөц хэрэглэгчийн эрэлтийг хангах үүрэгтэй-</a:t>
            </a:r>
            <a:r>
              <a:rPr lang="en-US" dirty="0"/>
              <a:t>(</a:t>
            </a:r>
            <a:r>
              <a:rPr lang="mn-MN" dirty="0"/>
              <a:t>хэрэглэгч хэзээ юуг хүсээд бгаа юм бэ гэдгийг бид судалсан бх хэрэгтэй</a:t>
            </a:r>
            <a:r>
              <a:rPr lang="en-US" dirty="0"/>
              <a:t>). 2) 60 </a:t>
            </a:r>
            <a:r>
              <a:rPr lang="mn-MN" dirty="0"/>
              <a:t>талх үйлдвэрлэхийн тулд ямар2 түүхий эд хэзээ, ямар хэмжээгээр бэлтгэсэн бх ёстой бэ гэдгийг тооцоолсон бх ёстой-үйдвэрлэлийг тасралтгүйгээр явуулах болмж бүрдэнэ. </a:t>
            </a:r>
            <a:r>
              <a:rPr lang="en-US" dirty="0"/>
              <a:t>3). </a:t>
            </a:r>
            <a:r>
              <a:rPr lang="mn-MN" dirty="0"/>
              <a:t>Мэдээж хяналт тавьж бх ёстой. Хянахын тулд бүртгэлийн системийг зөв ажиллуулах хэрэгтэй. Хуучин гараар журнал хөтөлдөг, одоо цахимжсан, хулгайд алдах, замбаараагүй захиран зарцуулалтаас сэргийлж чадна. Үйлдвэрлэлийн жигд ү.а-г хангах боломж бүрдэнэ – нөөцийг хэзээ бэлдээд, хэзээ үйлдвэрлээд, ямар горимд хэдий болтол хадгалаад, түгээлт, борлуулалт-г цахиаар мэдэж бгаа учраас дараагийн нөөц, захилгаа олно, бэлдэнэ-үйлд жигд ү.а хангагдана. </a:t>
            </a:r>
            <a:r>
              <a:rPr lang="en-US" dirty="0"/>
              <a:t>4). </a:t>
            </a:r>
            <a:r>
              <a:rPr lang="mn-MN" dirty="0"/>
              <a:t>Илүүдэл-хайран хүн хөдөлмөр бно, сэргийлэх блмжтой. Дутагдал – үйлд-н ү.а зогсоно, хэрэглэгчээ алдана-том эрсдэл. </a:t>
            </a:r>
            <a:r>
              <a:rPr lang="en-US" dirty="0"/>
              <a:t>5). </a:t>
            </a:r>
            <a:r>
              <a:rPr lang="mn-MN" dirty="0"/>
              <a:t>Ашиглаж сурах хэрэгтэй. Яаж захиллага хийвэл, ЭЗ-н хамгийн ашигтай байх бэ, Улирал сезоныг тооцоолох. Тоо хэмжээнээс хамаараад урамшуулал зарладаг. </a:t>
            </a:r>
            <a:r>
              <a:rPr lang="en-US" dirty="0"/>
              <a:t>6). </a:t>
            </a:r>
            <a:r>
              <a:rPr lang="mn-MN" dirty="0"/>
              <a:t>Үнийн өсөлтөөс хамгаалах механизм бно. Яагаад болов? Улиралаас хамаараад заримдаа үнэ өсдөг, нөөцийг хадгалах савтай бол, нөхцөлүүд бгаа бол урьдчилаад авах блмтой. 7</a:t>
            </a:r>
            <a:r>
              <a:rPr lang="en-US" dirty="0"/>
              <a:t>). </a:t>
            </a:r>
            <a:r>
              <a:rPr lang="mn-MN" dirty="0"/>
              <a:t>Үйлдвэр-н зардлыг хамгийн бага байлгах-суурь зарчим биелэнэ. Түргэн мууддаг материалын асуудал хурцаар тавигддаг-чанар бхгүй бно. Хугацааг уртасгах дэвшилтэд технологи хэрэглэж бна, сөрөг тал  Эрүүл мэнд?? бна уу? хаягдалаас сэргийлах том боломж, </a:t>
            </a:r>
            <a:r>
              <a:rPr lang="en-US" dirty="0"/>
              <a:t>8). 9).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353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Энэ бүхнээс-өмнөх слайдаас харвал ерөнхий 2 чиг үүрэг тодорно. Нөөцийн төлөвлөлтийг зөв хийдэг бно. Илүүдэл, дутагдалаас сэргийлнэ. Нөөцийн илүүдэл: Зарим бараа нөөц хадгалах тусмаа зарим үзүүлэлт нь сайжирдаг. Вино амт нь нэмэгддэг, үнэ цэнэ нь нэмэгддэг-тансаг хэрэглээ бж бно. Давстай Бяслаг-Сер гадаадын, утсан мах-хадгалах тусам амт нэмэгддэг. Заримд нь зориуд хадгалалтын хугацаа шаардагддаг-зориуд тус тусад нь хадгалдаг агуулахтай бдаг. 10 дахь жилд худалдаанд гараад, 9 дэхь жил нь уг агуулахад орж хадгалагдах жишээтэй-Иймэрхүү цөөхөн бүтээгдэхүүн бна. Энэ бол төлөвлөлт, бас үйлдвэрлэлтийн төлөвлөлт бас яригдана. Ихэнх бүтээгдхүүн хугацаанаас хамаараад мууддаг.</a:t>
            </a:r>
          </a:p>
          <a:p>
            <a:r>
              <a:rPr lang="mn-MN" dirty="0"/>
              <a:t>Нөөц дутагдвал –Алдагдсан боломжийн зардал бно.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Үйлдвэрийн удирдлагууд - нөөц байгааг санамсаргүй илрүүлэх тохиолдол ч гардаг. Авдартаа, хөргөгчиндөө хадгалаад мартсан, хайран хөрөнгө болно. –Сэргийлэхийн тулд бүртгэлийн системийг хөгжүүлэх хэрэгтэй.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764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41.38 минут: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38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684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715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r>
              <a:rPr lang="mn-MN" dirty="0"/>
              <a:t>1.3. Агуулахын элэгдэлийн зардалыг тооцож бх хэрэгтэй.</a:t>
            </a:r>
          </a:p>
          <a:p>
            <a:r>
              <a:rPr lang="mn-MN" dirty="0"/>
              <a:t>2.1. Тээвэрлэл-энэ бол хүлээн авах зардалд орно. Өөр? Талх? Ямар үйлдвэрээс ямар гурил авахаа мэдэхгүй бол гурилаа судлана.  Энэ нөөц захилах зардал. Дараа нь гэрээ хийнэ, наторат зардал г.м</a:t>
            </a:r>
          </a:p>
          <a:p>
            <a:r>
              <a:rPr lang="mn-MN" dirty="0"/>
              <a:t>2.2. Энэ тээврийн зардал орно. Грушик, хаягалтын зардал орно.</a:t>
            </a:r>
          </a:p>
          <a:p>
            <a:r>
              <a:rPr lang="mn-MN" dirty="0"/>
              <a:t>2.3. Тоо хэмжээг тогтоох зардал.</a:t>
            </a:r>
          </a:p>
          <a:p>
            <a:r>
              <a:rPr lang="mn-MN" dirty="0"/>
              <a:t>3. Үндсэндээ алдагдсан боломжтийн зардал болно. Захилга буцаалтын зардал орно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385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612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Өмнөх </a:t>
            </a:r>
            <a:r>
              <a:rPr lang="en-US" dirty="0"/>
              <a:t>ABC </a:t>
            </a:r>
            <a:r>
              <a:rPr lang="mn-MN" dirty="0"/>
              <a:t>биш.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294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Детерминистик загвар –тодорхой гэсэн утга агуулна, бүгдээрээ тодорхой бна гэж үзээд загвар болгож ашиглана.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Магадлалт загвар-санамсаргүй процесс-н ш.ч-тай. Таамаглашгүй нөлөөлөл орж бгааг магадлалын онол ашиглан тооцоолно.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038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Босоо тэнхлэг-Захиалж бгаа барааны тоо хэмжээ: </a:t>
            </a:r>
            <a:r>
              <a:rPr lang="en-US" dirty="0"/>
              <a:t>t=0 </a:t>
            </a:r>
            <a:r>
              <a:rPr lang="mn-MN" dirty="0"/>
              <a:t>цэгт агшин зуур агуулах дүүрлээ</a:t>
            </a:r>
            <a:r>
              <a:rPr lang="en-US" dirty="0"/>
              <a:t>=Q </a:t>
            </a:r>
            <a:r>
              <a:rPr lang="mn-MN" dirty="0"/>
              <a:t>гэж үзнэ. Тодорхой </a:t>
            </a:r>
            <a:r>
              <a:rPr lang="en-US" dirty="0"/>
              <a:t>t </a:t>
            </a:r>
            <a:r>
              <a:rPr lang="mn-MN" dirty="0"/>
              <a:t>хугацаанд зарцуулаад дуусгана, жигд буурсан </a:t>
            </a:r>
            <a:r>
              <a:rPr lang="en-US" dirty="0"/>
              <a:t>Q=0 </a:t>
            </a:r>
            <a:r>
              <a:rPr lang="mn-MN" dirty="0"/>
              <a:t>болтол. Дахиад захиалаад </a:t>
            </a:r>
            <a:r>
              <a:rPr lang="en-US" dirty="0"/>
              <a:t>Q </a:t>
            </a:r>
            <a:r>
              <a:rPr lang="mn-MN" dirty="0"/>
              <a:t>болтол дүүргэлээ. Г.м давтагдана. Хамгийн энгийн загвар 1 гэж үздэг.  </a:t>
            </a:r>
            <a:r>
              <a:rPr lang="en-US" dirty="0"/>
              <a:t>Q*-</a:t>
            </a:r>
            <a:r>
              <a:rPr lang="mn-MN" dirty="0"/>
              <a:t>хамгийн оновчтой утга. </a:t>
            </a:r>
            <a:r>
              <a:rPr lang="en-US" dirty="0"/>
              <a:t>D-</a:t>
            </a:r>
            <a:r>
              <a:rPr lang="mn-MN" dirty="0"/>
              <a:t>эрэлт.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28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материалыг өөрөө үйлдвэрлэж бна.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931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T1 </a:t>
            </a:r>
            <a:r>
              <a:rPr lang="mn-MN" dirty="0"/>
              <a:t>хугацаанд өөрөө үйлдвэрлэнэ. </a:t>
            </a:r>
            <a:r>
              <a:rPr lang="en-US" dirty="0"/>
              <a:t>K-r </a:t>
            </a:r>
            <a:r>
              <a:rPr lang="mn-MN" dirty="0"/>
              <a:t>нь ямар хэмжээгээр үйлдвэрлэж бгааг заана. Нөөц үүссэний дараа </a:t>
            </a:r>
            <a:r>
              <a:rPr lang="en-US" dirty="0"/>
              <a:t>t2 </a:t>
            </a:r>
            <a:r>
              <a:rPr lang="mn-MN" dirty="0"/>
              <a:t>хугацаанд зарцуулалт хийгээд дуусгана.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036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1д</a:t>
            </a:r>
            <a:r>
              <a:rPr lang="en-US" dirty="0"/>
              <a:t> </a:t>
            </a:r>
            <a:r>
              <a:rPr lang="mn-MN" dirty="0"/>
              <a:t>Нөөц хүрэлцэхгүй тохиолдолд хомсдол үүсэж бно. 2д захиалсан бараа чанаргүй үед хомсдол үүснэ, буцаалт хийж таарна, тасалдал үүснэ.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28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4.1. үйлдвэрлэхийн зэрэгцээ давхар үйлдвэрлээд хэрэглэдэг явдаг загвар. Үлдсэн хугацаанд зөвхөн зарцуулаад явдаг.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7107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T3+t4. </a:t>
            </a:r>
            <a:r>
              <a:rPr lang="mn-MN" dirty="0"/>
              <a:t>Захиалгыг хойшлуулах, эсвэл буцаах асуудал яригддаг. </a:t>
            </a:r>
            <a:r>
              <a:rPr lang="mn-MN"/>
              <a:t>Алданга, торгууль төлнө.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94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14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7508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141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91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6225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4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7D8C-4D35-6BE7-8913-EE48165F6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3668D-C2DB-80DC-A1DD-F60A137AF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D1920-FED3-D39C-539E-7B5A5663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230D-E594-D7A5-32EC-9616DF20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21CD8-BAE7-5A75-5A6C-4A94631F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8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C744-581C-A465-D5AD-698E5735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F86A-AA32-A112-1308-F20B349FF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C6181-E825-1285-E416-EE218D44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C597F-71A2-6113-48B7-23FBF239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3508B-421D-3159-299D-6A50E1BB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91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90E7-AF98-583B-B3C9-E30B90DF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72DBB-25A0-77B9-56E0-E617E9D7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1DC2C-A214-4BAD-37A9-2AF51A57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C845C-023D-8EAD-81C8-4BBE5DA6C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7C64A-2365-EABC-5F33-CDA3D6CE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44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0046-0812-2CE0-21AB-F2D471CD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84E91-81BA-B0C8-43E2-0C1FB0708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61BD2-1A58-7C56-D7A7-135866A4D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FC1E-148B-EB6A-533C-A895CE8A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110CF-5980-BE5D-9406-39F27D75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86073-4A93-20AE-0F86-129975236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67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A182-292F-33B0-9A13-21D03CA6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B62B1-B0F4-D60D-9CE6-4D0E730C7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0E5CA-EE3A-F3E7-7FBE-BB5ADF5C6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79186F-B8E2-72F3-72AE-3FA8848ED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88BD3-5740-E308-43A7-9518ACE58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1AE7A-40F2-FDED-EA7F-916E5163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873A7-8D41-C1BE-DFF8-172CB3F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8E814-2557-C6DE-8A25-A4EF60D2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2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397D-71F1-CCDC-44C6-DBC5BFE1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7B16D-F9FC-BCE6-1B42-BDE141D9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116CF-3051-29AA-D7A5-D541C87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D2961-87BC-269D-8A12-082DD2B0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81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42EFB-3455-988C-4371-6A02EC61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23196-D0D5-1737-480A-AC1B231A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A5807-4B8C-8F0B-1E78-8808049A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3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8877-E86E-7B34-444B-E143B1819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B929B-DC3D-522B-D048-30215888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3059F-6707-DF7E-1BE4-62F707BB9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D24B2-E883-95C9-6B96-0C3CA02A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2D7E2-C7A6-E14A-739A-278F59E2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A7BBE-F519-5822-9D2B-941BE610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9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129B-0D66-F795-85BE-7E78BDAD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C4CF0-08AB-1C0A-815A-2BA203A8A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B9B51-C177-2817-1D1A-C92F903B4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A76B8-0006-54B6-EC79-B119F0FF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F90E3-24E4-AFFB-E554-B66EC265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7FE3-ECEA-4E08-D41E-EA19B38B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81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9902-7CD5-F898-A3C7-EA33606C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88072-5629-164B-6FBB-FD7D6676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4E99-671D-9C4B-5F52-93E666AB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2A27-D855-9487-5850-AA12D3CC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B33CC-E6C6-4390-2D7D-F9F348F4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4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627C86-B539-8330-A66A-0FE29628B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8C975-ECBF-3772-1D5D-5F4B5DD65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6307C-889B-74E9-03D3-079595FB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1C601-CDCF-8113-0351-6229FE21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45360-2CBE-551F-CCEE-8E997F9A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979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87FCA-762D-6470-BFF4-B2C55CEA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4B729-E129-522C-12D0-6FFCA7620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80C4F-690A-D0BF-6490-9F27DEC27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67F83-6740-47E4-93AE-3D5AB4AA487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EBD5-0880-276D-00D3-BDE8B6BCD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95C48-2E4B-20AA-E642-20DF5BE9E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56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.jpe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9.jpe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0.jpe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4490-C09C-F2C1-1BED-C30E9C649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824" y="1264025"/>
            <a:ext cx="10912425" cy="2415436"/>
          </a:xfrm>
        </p:spPr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Лекц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</a:t>
            </a:r>
            <a:b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удирдлагын үндсэн ойлголт, </a:t>
            </a:r>
            <a:b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авах шийдвэр гаргалт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687C9-0602-4AB3-C68B-47EB63DFD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97475"/>
            <a:ext cx="9144000" cy="871267"/>
          </a:xfrm>
        </p:spPr>
        <p:txBody>
          <a:bodyPr>
            <a:normAutofit lnSpcReduction="10000"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ШУТИС-ийн МХТС, холбооны салбарын багш Ц.Балжинням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Улаанбаатар хот. 2023-24.Хавар.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B551975-1CE2-308D-D250-4B65BD2EF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8" y="16278"/>
            <a:ext cx="4957464" cy="1363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493B6D6-2330-40E5-BEBE-D3505B39EAF9}"/>
              </a:ext>
            </a:extLst>
          </p:cNvPr>
          <p:cNvSpPr txBox="1">
            <a:spLocks/>
          </p:cNvSpPr>
          <p:nvPr/>
        </p:nvSpPr>
        <p:spPr>
          <a:xfrm>
            <a:off x="1751012" y="3905250"/>
            <a:ext cx="8689976" cy="13395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EEM101  </a:t>
            </a:r>
            <a:b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Инженерчлэлийн эдийн засаг</a:t>
            </a:r>
            <a:br>
              <a:rPr lang="mn-MN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Economy</a:t>
            </a:r>
            <a:endParaRPr lang="mn-MN" alt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74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8F32-BFE1-C21B-C995-8F54A877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" y="109729"/>
            <a:ext cx="11948161" cy="792480"/>
          </a:xfrm>
        </p:spPr>
        <p:txBody>
          <a:bodyPr>
            <a:noAutofit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Хичээлийн суралцахуйн үр дүнгүүд 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Оюутан энэ сэдвийг судалснаар дараах ур чадваруудтай болсон байна. </a:t>
            </a:r>
            <a:endParaRPr 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FE0557-5EF0-6AAF-FD86-D7A6892F3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6717545"/>
              </p:ext>
            </p:extLst>
          </p:nvPr>
        </p:nvGraphicFramePr>
        <p:xfrm>
          <a:off x="121919" y="1011936"/>
          <a:ext cx="11948160" cy="4495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1">
                  <a:extLst>
                    <a:ext uri="{9D8B030D-6E8A-4147-A177-3AD203B41FA5}">
                      <a16:colId xmlns:a16="http://schemas.microsoft.com/office/drawing/2014/main" val="78146492"/>
                    </a:ext>
                  </a:extLst>
                </a:gridCol>
                <a:gridCol w="5102594">
                  <a:extLst>
                    <a:ext uri="{9D8B030D-6E8A-4147-A177-3AD203B41FA5}">
                      <a16:colId xmlns:a16="http://schemas.microsoft.com/office/drawing/2014/main" val="2993372031"/>
                    </a:ext>
                  </a:extLst>
                </a:gridCol>
                <a:gridCol w="2852767">
                  <a:extLst>
                    <a:ext uri="{9D8B030D-6E8A-4147-A177-3AD203B41FA5}">
                      <a16:colId xmlns:a16="http://schemas.microsoft.com/office/drawing/2014/main" val="3377302877"/>
                    </a:ext>
                  </a:extLst>
                </a:gridCol>
                <a:gridCol w="2130770">
                  <a:extLst>
                    <a:ext uri="{9D8B030D-6E8A-4147-A177-3AD203B41FA5}">
                      <a16:colId xmlns:a16="http://schemas.microsoft.com/office/drawing/2014/main" val="574671118"/>
                    </a:ext>
                  </a:extLst>
                </a:gridCol>
                <a:gridCol w="1313388">
                  <a:extLst>
                    <a:ext uri="{9D8B030D-6E8A-4147-A177-3AD203B41FA5}">
                      <a16:colId xmlns:a16="http://schemas.microsoft.com/office/drawing/2014/main" val="1155244748"/>
                    </a:ext>
                  </a:extLst>
                </a:gridCol>
              </a:tblGrid>
              <a:tr h="9831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д/д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дүнгүүд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 илэрхийлэх үйл үг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дүнгийн түвшин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Блумын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CLOs</a:t>
                      </a: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хамаарал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423415"/>
                  </a:ext>
                </a:extLst>
              </a:tr>
              <a:tr h="13177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3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Нөөцийн удирдлага</a:t>
                      </a:r>
                      <a:r>
                        <a:rPr lang="en-US" sz="23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mn-MN" sz="23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хяналтын </a:t>
                      </a:r>
                      <a:r>
                        <a:rPr lang="mn-MN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тухай ойлголт, нэр томъёо, ач холбогдлыг</a:t>
                      </a:r>
                      <a:r>
                        <a:rPr lang="en-US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n-MN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тайлбарлах, ашиглах</a:t>
                      </a:r>
                      <a:endParaRPr lang="en-US" sz="2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(Explain)</a:t>
                      </a:r>
                      <a:endParaRPr lang="mn-MN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Хэрэглэх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(Apply)</a:t>
                      </a: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1, 3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028067"/>
                  </a:ext>
                </a:extLst>
              </a:tr>
              <a:tr h="12809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</a:t>
                      </a:r>
                      <a:endParaRPr lang="en-US" sz="2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Нөөцийн захиалга/төлөвлөлтийн </a:t>
                      </a:r>
                      <a:r>
                        <a:rPr lang="mn-MN" sz="23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аргуудыг ойлгох, ашиглах</a:t>
                      </a:r>
                      <a:endParaRPr lang="en-US" sz="23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(Explain)</a:t>
                      </a:r>
                      <a:endParaRPr lang="mn-MN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Хэрэглэх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(Apply)</a:t>
                      </a:r>
                      <a:endParaRPr lang="mn-M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Шийдэх</a:t>
                      </a:r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/Solve/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endParaRPr lang="en-US" sz="2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1, 3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78109"/>
                  </a:ext>
                </a:extLst>
              </a:tr>
              <a:tr h="8738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en-US" sz="2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3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Сэдэвтэй холбоотой материалуудыг ашиглах</a:t>
                      </a:r>
                      <a:endParaRPr lang="en-US" sz="23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Гүйцэтгэх </a:t>
                      </a:r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(Function)</a:t>
                      </a: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endParaRPr lang="en-US" sz="22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794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32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4979-432A-FF79-CEB4-02905EE4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145670"/>
            <a:ext cx="11875008" cy="535367"/>
          </a:xfrm>
        </p:spPr>
        <p:txBody>
          <a:bodyPr>
            <a:noAutofit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Хичээлийн агуулга 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4662-AB2C-97F1-A468-80697FD94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" y="681038"/>
            <a:ext cx="11875008" cy="5495926"/>
          </a:xfrm>
        </p:spPr>
        <p:txBody>
          <a:bodyPr>
            <a:normAutofit/>
          </a:bodyPr>
          <a:lstStyle/>
          <a:p>
            <a:pPr algn="just">
              <a:spcBef>
                <a:spcPts val="200"/>
              </a:spcBef>
            </a:pP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зардлын ангилал</a:t>
            </a:r>
          </a:p>
          <a:p>
            <a:pPr lvl="1" algn="just">
              <a:spcBef>
                <a:spcPts val="20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тодорхойлолт, бүрэлдэхүүн хэсгүүд, хадгалалтын зардал, захиалгын зардал, захиалга буцаалтын зардал</a:t>
            </a:r>
          </a:p>
          <a:p>
            <a:pPr algn="just">
              <a:spcBef>
                <a:spcPts val="200"/>
              </a:spcBef>
            </a:pP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нөөцийг ангилах систем</a:t>
            </a:r>
          </a:p>
          <a:p>
            <a:pPr lvl="1" algn="just">
              <a:spcBef>
                <a:spcPts val="20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Нөөцийг ангилах АВС систем, нөөцийн үүргүүд</a:t>
            </a:r>
          </a:p>
          <a:p>
            <a:pPr algn="just">
              <a:spcBef>
                <a:spcPts val="200"/>
              </a:spcBef>
            </a:pP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удирдлагын загвар</a:t>
            </a:r>
          </a:p>
          <a:p>
            <a:pPr lvl="1" algn="just">
              <a:spcBef>
                <a:spcPts val="20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авалтын хэмнэлттэй тооны захиалгын загвар, үйлдвэрлэлийн загвар, үнийн хөнгөлөлттэй загвар, аюулгүйн нөөц</a:t>
            </a:r>
          </a:p>
          <a:p>
            <a:pPr algn="just">
              <a:spcBef>
                <a:spcPts val="200"/>
              </a:spcBef>
            </a:pP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Үйлдвэрлэх, эсвэл худалдан авах нийдвэр гаргалт</a:t>
            </a:r>
          </a:p>
          <a:p>
            <a:pPr lvl="1" algn="just">
              <a:spcBef>
                <a:spcPts val="20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Хугарлын цэгийн шинжилгээн дээр тулгуурлан худалдах, худалдан авах шийдвэр гаргах</a:t>
            </a:r>
          </a:p>
        </p:txBody>
      </p:sp>
    </p:spTree>
    <p:extLst>
      <p:ext uri="{BB962C8B-B14F-4D97-AF65-F5344CB8AC3E}">
        <p14:creationId xmlns:p14="http://schemas.microsoft.com/office/powerpoint/2010/main" val="232091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121285"/>
            <a:ext cx="11923776" cy="385985"/>
          </a:xfrm>
        </p:spPr>
        <p:txBody>
          <a:bodyPr>
            <a:noAutofit/>
          </a:bodyPr>
          <a:lstStyle/>
          <a:p>
            <a:r>
              <a:rPr lang="mn-MN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үндсэн ойлголт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BFDE5-A695-C560-8227-5F6FC8C9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" y="532987"/>
            <a:ext cx="11923776" cy="3100229"/>
          </a:xfrm>
        </p:spPr>
        <p:txBody>
          <a:bodyPr/>
          <a:lstStyle/>
          <a:p>
            <a:pPr algn="just"/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үйл ажиллагааны системийн уян хатан байдлыг хангахад чухал үүрэгтэй. </a:t>
            </a:r>
          </a:p>
          <a:p>
            <a:pPr algn="just"/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гэдэгт үйлдвэрлэл, үйлчилгээг явуулах зорилгоор тухайн байгууллагад хадгалагдаж байгаа түүхий эд, материал, худалдан авсан бараа материал, дуусаагүй үйлдвэрлэл, эцсийн бэлэн бүтээгдэхүүн, багаж төхөөрөмжүүд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сэлбэг хэрэгсэл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орно.</a:t>
            </a:r>
          </a:p>
          <a:p>
            <a:pPr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Түүхий эдийг бараа материал гэдэг ойлголтоос ялгаж ойлгох хэрэгтэй.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FB7A-ECC9-D96F-CA7B-439E0E2DE63C}"/>
              </a:ext>
            </a:extLst>
          </p:cNvPr>
          <p:cNvSpPr txBox="1"/>
          <p:nvPr/>
        </p:nvSpPr>
        <p:spPr>
          <a:xfrm>
            <a:off x="402898" y="3664454"/>
            <a:ext cx="4321449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mn-M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Түүхий эд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algn="just"/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зөвхөн бүтээгдэхүүнийг үйлдвэрлэхэд хэрэглэгдэх бүх төрлийн материалыг хамааруулдаг.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4565A-1C96-BE1A-3F48-3A4462B21F08}"/>
              </a:ext>
            </a:extLst>
          </p:cNvPr>
          <p:cNvSpPr txBox="1"/>
          <p:nvPr/>
        </p:nvSpPr>
        <p:spPr>
          <a:xfrm>
            <a:off x="4904229" y="3658933"/>
            <a:ext cx="6884873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mn-M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бүтээгдэхүүний үйлдвэрлэлд шууд ашиглагдахгүй боловч үйл ажиллагааг явуулахад зайлшгүй хэрэглэгддэг шууд бус материал, конторын хэрэгсэл, үйлдвэрлэл үйл ажиллагааг явуулахад ашиглагдах шатах, тослох материалыг оруулдаг.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88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56183"/>
            <a:ext cx="11760490" cy="477451"/>
          </a:xfrm>
        </p:spPr>
        <p:txBody>
          <a:bodyPr>
            <a:noAutofit/>
          </a:bodyPr>
          <a:lstStyle/>
          <a:p>
            <a:r>
              <a:rPr lang="mn-MN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үндсэн ойлголт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endParaRPr lang="en-US" sz="3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139E7-3256-DFD3-AED9-D2E3E79551AC}"/>
              </a:ext>
            </a:extLst>
          </p:cNvPr>
          <p:cNvSpPr txBox="1"/>
          <p:nvPr/>
        </p:nvSpPr>
        <p:spPr>
          <a:xfrm>
            <a:off x="8587040" y="816671"/>
            <a:ext cx="27393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2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Хамааралгүй эрэлттэй нөөцийн эрэлтийг прогнозчлох замаар тодорхойлно.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2D0270-CE01-2E66-12B4-659313CFE867}"/>
              </a:ext>
            </a:extLst>
          </p:cNvPr>
          <p:cNvSpPr txBox="1"/>
          <p:nvPr/>
        </p:nvSpPr>
        <p:spPr>
          <a:xfrm>
            <a:off x="6313848" y="3537381"/>
            <a:ext cx="53758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Э</a:t>
            </a:r>
            <a:r>
              <a:rPr lang="mn-MN" sz="2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цсийн бэлэн бүтээгдэхүүн ордог. Бэлэн бүтээгдэхүүн гэдэг нь худалдаж борлуулагддаг өөр ямар нэг бүтээгдэхүүнийг үйлдвэрлэхэд оролцдоггүй зүйл юм.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74532-A4FB-2CF1-8DB6-217CDF0D3B4F}"/>
              </a:ext>
            </a:extLst>
          </p:cNvPr>
          <p:cNvSpPr txBox="1"/>
          <p:nvPr/>
        </p:nvSpPr>
        <p:spPr>
          <a:xfrm>
            <a:off x="1265046" y="903125"/>
            <a:ext cx="26027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Э</a:t>
            </a:r>
            <a:r>
              <a:rPr lang="mn-MN" sz="2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цсийн үндсэн бүтээгдэхүүний хэмжээнээс хамаардаг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DC5563-95F3-B66C-8D97-33A3322A00AB}"/>
              </a:ext>
            </a:extLst>
          </p:cNvPr>
          <p:cNvSpPr txBox="1"/>
          <p:nvPr/>
        </p:nvSpPr>
        <p:spPr>
          <a:xfrm>
            <a:off x="155448" y="2288279"/>
            <a:ext cx="29558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20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Жишээ: </a:t>
            </a:r>
            <a:r>
              <a:rPr lang="mn-MN" sz="2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Мотоциклийн дугуйны хэрэгцээ үйлдвэрлэх мотоциклийн тооноос хамаарна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78E631-9C23-9106-5ADF-7906C6B6478C}"/>
              </a:ext>
            </a:extLst>
          </p:cNvPr>
          <p:cNvSpPr txBox="1"/>
          <p:nvPr/>
        </p:nvSpPr>
        <p:spPr>
          <a:xfrm>
            <a:off x="2535858" y="3540878"/>
            <a:ext cx="37779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Э</a:t>
            </a:r>
            <a:r>
              <a:rPr lang="mn-MN" sz="20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цсийн бүтээгдэхүүнийг үйлдвэрлэхэд түүний тодорхой хэсэг, бүрэлдэхүүн элемент болж ашиглагддаг зүйл.</a:t>
            </a: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4A9898-7EE3-BF0B-03ED-9561A21E8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416" y="694875"/>
            <a:ext cx="7059168" cy="28773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399EA8-B406-A0A4-17C5-5FD003E97AC3}"/>
              </a:ext>
            </a:extLst>
          </p:cNvPr>
          <p:cNvSpPr txBox="1"/>
          <p:nvPr/>
        </p:nvSpPr>
        <p:spPr>
          <a:xfrm>
            <a:off x="6372120" y="4864317"/>
            <a:ext cx="55560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Хамааралтай эрэлттэй нөөцийн хэрэгцээ нь үндсэн бүтээгдэхүүний үйлдвэрлэлийн төлөвлөгөөгөөр тодорхойлогддог.</a:t>
            </a:r>
          </a:p>
        </p:txBody>
      </p:sp>
    </p:spTree>
    <p:extLst>
      <p:ext uri="{BB962C8B-B14F-4D97-AF65-F5344CB8AC3E}">
        <p14:creationId xmlns:p14="http://schemas.microsoft.com/office/powerpoint/2010/main" val="4107650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109093"/>
            <a:ext cx="11890248" cy="537083"/>
          </a:xfrm>
        </p:spPr>
        <p:txBody>
          <a:bodyPr>
            <a:normAutofit fontScale="90000"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үүрэг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BFDE5-A695-C560-8227-5F6FC8C9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734134"/>
            <a:ext cx="11890248" cy="5176156"/>
          </a:xfrm>
        </p:spPr>
        <p:txBody>
          <a:bodyPr>
            <a:normAutofit lnSpcReduction="10000"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 дараах үндсэн үүрэг гүйцэтгэнэ.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Хэрэглэгчийн эрэлтийг хангах,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Хүлээгдэж буй эрэлтэд нийүүлэн нөөцийг бэлтгэх,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Нөөцөд хяналт тавьж, үйлдвэрлэлийн жигд ажиллагааг хангах,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 илүүдэл, дутагдлаас хамгаалж, нөөцийг оновчтой түвшинд хадгалах,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Захиалгын циклийн давуу талыг ашиглах,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Үнийн өсөлтөөс хамгаалах,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Ажлыг хэвийн явуулах боломжийг олгох,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зардлыг хамгийн бага байлгах,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Түргэн муудах түүхий эд, материалын хуваарилалтын асуудлыг шийдвэрлэх.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864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50EA-2765-DB0D-CC62-5843F78B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" y="121286"/>
            <a:ext cx="11902440" cy="367483"/>
          </a:xfrm>
        </p:spPr>
        <p:txBody>
          <a:bodyPr>
            <a:normAutofit fontScale="90000"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удирдлага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4615-E158-E976-C816-8BDB38535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90" y="488769"/>
            <a:ext cx="11902440" cy="2412927"/>
          </a:xfrm>
        </p:spPr>
        <p:txBody>
          <a:bodyPr>
            <a:normAutofit/>
          </a:bodyPr>
          <a:lstStyle/>
          <a:p>
            <a:r>
              <a:rPr lang="mn-MN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Нөөцийн удирдлагын 2 үндсэн чиг үүрэг байна. </a:t>
            </a:r>
          </a:p>
          <a:p>
            <a:pPr lvl="1"/>
            <a:r>
              <a:rPr lang="mn-MN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Нөөцийн төлөвлөлт, </a:t>
            </a:r>
          </a:p>
          <a:p>
            <a:pPr lvl="1"/>
            <a:r>
              <a:rPr lang="mn-MN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Нөөцийн хяналт. </a:t>
            </a:r>
          </a:p>
          <a:p>
            <a:pPr algn="just"/>
            <a:r>
              <a:rPr lang="mn-MN" sz="2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Нөөцийн удирдлагын асуудлыг буруу шийдвэрлэвэл </a:t>
            </a:r>
            <a:r>
              <a:rPr lang="mn-MN" sz="27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нөөц дутагдах</a:t>
            </a:r>
            <a:r>
              <a:rPr lang="en-US" sz="27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 </a:t>
            </a:r>
            <a:r>
              <a:rPr lang="mn-MN" sz="27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юм уу илүүдэхэд хүргэнэ.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1C4ED-10B4-6506-2F3C-65D565D5C349}"/>
              </a:ext>
            </a:extLst>
          </p:cNvPr>
          <p:cNvSpPr txBox="1"/>
          <p:nvPr/>
        </p:nvSpPr>
        <p:spPr>
          <a:xfrm>
            <a:off x="170690" y="2692656"/>
            <a:ext cx="6083806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mn-MN" sz="21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Нөөц дутагдвал</a:t>
            </a:r>
            <a:r>
              <a:rPr lang="mn-MN" sz="2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 үйлдвэрлэлийг хэвийн явуулахад муугаар нөлөөлж, хэрэглэгчдийг шаардлагатай бүтээгдэхүүнээр хэрэгцээтэй цагт нь хангаж чадахгүй, тэдний өмнө итгэл алдахад хүргэнэ. 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1E21D-BD9E-B4CA-9B98-3AA44977A38D}"/>
              </a:ext>
            </a:extLst>
          </p:cNvPr>
          <p:cNvSpPr txBox="1"/>
          <p:nvPr/>
        </p:nvSpPr>
        <p:spPr>
          <a:xfrm>
            <a:off x="6595872" y="2692656"/>
            <a:ext cx="5425437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mn-M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Нөөцийн илүүдэл </a:t>
            </a:r>
            <a:r>
              <a:rPr lang="mn-MN" sz="2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нь хадгалалтын зардлыг нэмэгдүүлж, хяналтаас гадуурхи нөөцийн хэмжээг нэмэгдүүлж, чанарыг алдагдуулахад хүргэнэ. 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604BAA-34A5-46E2-B512-FE00AF6DF4BD}"/>
              </a:ext>
            </a:extLst>
          </p:cNvPr>
          <p:cNvSpPr txBox="1">
            <a:spLocks/>
          </p:cNvSpPr>
          <p:nvPr/>
        </p:nvSpPr>
        <p:spPr>
          <a:xfrm>
            <a:off x="170690" y="4191183"/>
            <a:ext cx="11902440" cy="811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Үйлдвэрийн удирдлагууд үйлдвэртээ олон жил хадгалагдаж байгаа нөөц байгааг санамсаргүй илрүүлэх тохиолдол ч гардаг.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78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109093"/>
            <a:ext cx="11902440" cy="500507"/>
          </a:xfrm>
        </p:spPr>
        <p:txBody>
          <a:bodyPr>
            <a:normAutofit/>
          </a:bodyPr>
          <a:lstStyle/>
          <a:p>
            <a:r>
              <a:rPr lang="mn-MN" sz="2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удирдлага</a:t>
            </a:r>
            <a:r>
              <a:rPr lang="en-US" sz="2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2753-E6BE-CCD9-FFEE-ECC85C75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56" y="560832"/>
            <a:ext cx="11902440" cy="5208814"/>
          </a:xfrm>
        </p:spPr>
        <p:txBody>
          <a:bodyPr>
            <a:normAutofit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Иймд нөөцийн удирдлага нь:</a:t>
            </a:r>
          </a:p>
          <a:p>
            <a:pPr marL="742950" lvl="1" indent="-401638" algn="just">
              <a:buFont typeface="+mj-lt"/>
              <a:buAutoNum type="arabicPeriod"/>
            </a:pPr>
            <a:r>
              <a:rPr lang="mn-MN" sz="25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Хэрэглэгчдийг хэрэгцээтэй зүйлээр, хэрэгтэй цагт, хэрэгцээтэй газар нь хангах,</a:t>
            </a:r>
          </a:p>
          <a:p>
            <a:pPr marL="742950" lvl="1" indent="-401638" algn="just">
              <a:buFont typeface="+mj-lt"/>
              <a:buAutoNum type="arabicPeriod"/>
            </a:pPr>
            <a:r>
              <a:rPr lang="mn-MN" sz="25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Хэрэглэгчдийн хэрэгцээг аль болох бага зардлаар хангахад чиглэгдэнэ.</a:t>
            </a:r>
          </a:p>
          <a:p>
            <a:pPr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Нөөцийн удирдлагын гол зорилго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– нөөцийн хадгалалтын ба захиалгын зардлыг хамгийн оновчтой хэмжээнд байлгах замаар хэрэглэгчдийн хэрэгцээг хангах хэмжээний нөөцтэй байлгах явдал юм.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Үйлдвэрлэлийн удирдлага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(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менежерүүд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)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 нөөцтэй холбоотой хоёр чиглэлээр шийдвэр гарган ажилладаг: </a:t>
            </a:r>
          </a:p>
          <a:p>
            <a:pPr marL="742950" lvl="1" indent="-401638" algn="just">
              <a:buFont typeface="+mj-lt"/>
              <a:buAutoNum type="arabicPeriod"/>
            </a:pPr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Барааны нэр төрөл тус бүрийн нөөцийг </a:t>
            </a:r>
            <a:r>
              <a:rPr lang="mn-MN" sz="2600" b="1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хэзээ, ямар </a:t>
            </a:r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хэмжээтэй захиалах, </a:t>
            </a:r>
          </a:p>
          <a:p>
            <a:pPr marL="742950" lvl="1" indent="-401638" algn="just">
              <a:buFont typeface="+mj-lt"/>
              <a:buAutoNum type="arabicPeriod"/>
            </a:pPr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Бараа материалын нөөцийг зөв бүртгэж, түүнд хяналт тавих.</a:t>
            </a:r>
          </a:p>
        </p:txBody>
      </p:sp>
    </p:spTree>
    <p:extLst>
      <p:ext uri="{BB962C8B-B14F-4D97-AF65-F5344CB8AC3E}">
        <p14:creationId xmlns:p14="http://schemas.microsoft.com/office/powerpoint/2010/main" val="3153223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6A2D-1AEA-E0BD-1267-486CBA68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133477"/>
            <a:ext cx="11768328" cy="817499"/>
          </a:xfrm>
        </p:spPr>
        <p:txBody>
          <a:bodyPr>
            <a:noAutofit/>
          </a:bodyPr>
          <a:lstStyle/>
          <a:p>
            <a:r>
              <a:rPr lang="mn-MN" sz="2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удирдлага</a:t>
            </a:r>
            <a:r>
              <a:rPr lang="en-US" sz="2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(3)</a:t>
            </a:r>
            <a:br>
              <a:rPr lang="en-US" sz="2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29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Нөөцийг зөв бүртгэж, түүнд хяналт тавих</a:t>
            </a:r>
            <a:endParaRPr lang="en-US" sz="29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1139-5AF2-57B8-26EC-872905F67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" y="967808"/>
            <a:ext cx="11768328" cy="4922383"/>
          </a:xfrm>
        </p:spPr>
        <p:txBody>
          <a:bodyPr>
            <a:normAutofit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Хэзээ хичнээн нөөц хэрэгтэй байгаа талаар захиалга хийх асуудлыг зөв шийдвэрлэх хэрэгтэй.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Үүний тулд: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Тухайн байгууллагын мэдэлд байгаа бэлэн нөөц нь захиалгаас ямар зөрүүтэй байгааг тогтооно.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эрэлтийг урьдчилан тогтоож, учирч болзошгүй алдаа зөрүүг тодорхойлох.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Цаг хугацааны өөрчлөлтүүдийг хэрхэн удирддагийг мэддэг байх хэрэгтэй.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Нөөцийн захиалга хийх, хадгалах, нөөцөөр тасалдах шалтгааныг тогтоон тэдгээрт гарах зардлуудыг тооцох.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Нөөцийг зөв ангилж бүртгэх.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461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21098-8113-F416-5C39-5237C511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2" y="43327"/>
            <a:ext cx="11369040" cy="419970"/>
          </a:xfrm>
        </p:spPr>
        <p:txBody>
          <a:bodyPr>
            <a:noAutofit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Нөөцийн хяналт, түүний зорилго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2270-D284-6ED8-9EBD-8EEEFF6C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10" y="448880"/>
            <a:ext cx="11723989" cy="561802"/>
          </a:xfrm>
        </p:spPr>
        <p:txBody>
          <a:bodyPr/>
          <a:lstStyle/>
          <a:p>
            <a:r>
              <a:rPr lang="mn-M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Б</a:t>
            </a:r>
            <a:r>
              <a:rPr lang="en-US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apaa</a:t>
            </a: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 </a:t>
            </a:r>
            <a:r>
              <a:rPr lang="mn-M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материалын бүртгэлийг тодорхой үеэр болон байнга хийж болно.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389D6-460A-A4B9-CC2F-213BC4BC6A48}"/>
              </a:ext>
            </a:extLst>
          </p:cNvPr>
          <p:cNvSpPr txBox="1"/>
          <p:nvPr/>
        </p:nvSpPr>
        <p:spPr>
          <a:xfrm>
            <a:off x="499872" y="927344"/>
            <a:ext cx="5108448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0000"/>
                </a:solidFill>
                <a:effectLst/>
                <a:ea typeface="Arial Unicode MS" panose="020B0604020202020204"/>
                <a:cs typeface="Arial Unicode MS" panose="020B0604020202020204"/>
              </a:defRPr>
            </a:lvl1pPr>
          </a:lstStyle>
          <a:p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Тодорхой үеэр гэдэг нъ төрөл бүрийн бараа материалын нөөцийг тодорхой үе хугацаагаар (7 хоног бүр, сар бүр) тоолж бүртгэхийг хэлнэ.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405C8-5C0B-7027-9363-F35584824B35}"/>
              </a:ext>
            </a:extLst>
          </p:cNvPr>
          <p:cNvSpPr txBox="1"/>
          <p:nvPr/>
        </p:nvSpPr>
        <p:spPr>
          <a:xfrm>
            <a:off x="5991678" y="914276"/>
            <a:ext cx="5895521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mn-M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Хамгийн энгийн хэлбэр бол хоёр </a:t>
            </a:r>
            <a:r>
              <a:rPr lang="mn-MN" sz="20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бункерийн систе</a:t>
            </a:r>
            <a:r>
              <a:rPr lang="mn-M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м юм. Энэ нь бараа материалын нөөцийг 2 жижиг агууулахад хадгалаад нэг дэхь агуулахын барааг дуусмагц 2 дахь агуулахын нөөцийг ашиглана.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A47A4-3E99-2B6C-5A00-0904F7DCB63D}"/>
              </a:ext>
            </a:extLst>
          </p:cNvPr>
          <p:cNvSpPr txBox="1"/>
          <p:nvPr/>
        </p:nvSpPr>
        <p:spPr>
          <a:xfrm>
            <a:off x="499872" y="2310087"/>
            <a:ext cx="5108448" cy="69249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mn-MN" sz="19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Энэ нь хичнээн хэмжээний нөөц бэлэн байгаа, хэзээ захиалахыг тогтоох боломж олгоно. 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33195-6A4D-2003-3540-4393DDAF4E03}"/>
              </a:ext>
            </a:extLst>
          </p:cNvPr>
          <p:cNvSpPr txBox="1"/>
          <p:nvPr/>
        </p:nvSpPr>
        <p:spPr>
          <a:xfrm>
            <a:off x="5991678" y="2319605"/>
            <a:ext cx="5895521" cy="7078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mn-M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Энэ нь нөөцийг байнга шалгаад тоолоод байх шаардлагыг багасгадаг чухал ач холбогдолтой.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ED1475-CEBD-56A1-E9BF-CB7F5081F95C}"/>
              </a:ext>
            </a:extLst>
          </p:cNvPr>
          <p:cNvSpPr txBox="1"/>
          <p:nvPr/>
        </p:nvSpPr>
        <p:spPr>
          <a:xfrm>
            <a:off x="234006" y="3848917"/>
            <a:ext cx="11723988" cy="222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42900" algn="just">
              <a:lnSpc>
                <a:spcPct val="90000"/>
              </a:lnSpc>
            </a:pPr>
            <a:r>
              <a:rPr lang="mn-MN" sz="22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Бүртгэлийн тасралтгүй систем</a:t>
            </a:r>
            <a:r>
              <a:rPr lang="mn-M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байнга үргэлжлэн хийгдэхээс гадна нэгэн </a:t>
            </a:r>
            <a:r>
              <a:rPr lang="mn-MN" sz="2200" dirty="0">
                <a:solidFill>
                  <a:srgbClr val="352C1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зэрэг цагт </a:t>
            </a:r>
            <a:r>
              <a:rPr lang="mn-M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хийгдэж болно. </a:t>
            </a:r>
            <a:r>
              <a:rPr lang="mn-M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Бүртгэлийн тасралтгүй хийгдэх системийн үед нөөцийн тухай мэдээлэл </a:t>
            </a:r>
            <a:r>
              <a:rPr lang="mn-MN" sz="2200" dirty="0">
                <a:solidFill>
                  <a:srgbClr val="352C1C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тодорхой үе </a:t>
            </a:r>
            <a:r>
              <a:rPr lang="mn-M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шаттайгаар цуглуулагддаг. Нэгэн зэрэг цагт хийгдэх системийн үед бараа </a:t>
            </a:r>
            <a:r>
              <a:rPr lang="mn-MN" sz="2200" dirty="0">
                <a:solidFill>
                  <a:srgbClr val="352C1C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материалын </a:t>
            </a:r>
            <a:r>
              <a:rPr lang="mn-M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өөрчлөлт хоромхон зуурын дотор бүртгэгддэг. Үүний давуу тал нь түүний </a:t>
            </a:r>
            <a:r>
              <a:rPr lang="mn-MN" sz="2200" dirty="0">
                <a:solidFill>
                  <a:srgbClr val="352C1C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мэдээлэл нь </a:t>
            </a:r>
            <a:r>
              <a:rPr lang="mn-M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байнга шинэ, ач холбогдолтой байдагт оршино. Байнга хийгдэх бүртгэлийн </a:t>
            </a:r>
            <a:r>
              <a:rPr lang="mn-MN" sz="2200" dirty="0">
                <a:solidFill>
                  <a:srgbClr val="352C1C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үед </a:t>
            </a:r>
            <a:r>
              <a:rPr lang="mn-M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бараа материалын нөөцийн эрэлтэнд гарсан санамсаргүй өөрчлөлт нь нөөцийн </a:t>
            </a:r>
            <a:r>
              <a:rPr lang="mn-MN" sz="2200" dirty="0">
                <a:solidFill>
                  <a:srgbClr val="352C1C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хэмжээг </a:t>
            </a:r>
            <a:r>
              <a:rPr lang="mn-MN" sz="2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 Unicode MS" panose="020B0604020202020204"/>
                <a:cs typeface="Times New Roman" panose="02020603050405020304" pitchFamily="18" charset="0"/>
              </a:rPr>
              <a:t>бууруулахад ч хүргэнэ.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010B5DA-01E0-436A-A7AB-71E7518934BA}"/>
              </a:ext>
            </a:extLst>
          </p:cNvPr>
          <p:cNvSpPr txBox="1">
            <a:spLocks/>
          </p:cNvSpPr>
          <p:nvPr/>
        </p:nvSpPr>
        <p:spPr>
          <a:xfrm>
            <a:off x="163211" y="3059141"/>
            <a:ext cx="11723988" cy="931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Нөөцийн хэмжээ дараагийн захиалсан бараа материалын хэмжээтэй яг таарахгүй байх тохиолдол гардаг.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38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" y="85079"/>
            <a:ext cx="11899392" cy="475753"/>
          </a:xfrm>
        </p:spPr>
        <p:txBody>
          <a:bodyPr>
            <a:noAutofit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зардлын ангилал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2753-E6BE-CCD9-FFEE-ECC85C75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560832"/>
            <a:ext cx="11899392" cy="5290457"/>
          </a:xfrm>
        </p:spPr>
        <p:txBody>
          <a:bodyPr>
            <a:normAutofit lnSpcReduction="10000"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зардлыг 3 ангилдаг: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Хадгалалтын зардал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Агуулахын зардал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Эвдрэл, гэмтлийн зардал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Элэгдлийн зардал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материалыг худалдан авах мөнгөн хөрөнгийн хүү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Захиалгын зардал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 захиалах зардал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Захиалсан бараа материалыг хүлээн авах зардал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Үйлдвэрлэлд бэлтгэх зардал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Нөөцийн тасалдлаас шалтгаалах зардал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Захиалга буцаалтын зардал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нөөц хэрэглэгчийн захиалгыг хангаж чадахгүй нөхцөлд бүтээгдэхүүн борлуулалтын орлогын алдагдсан боломжийн өртгөөр тодорхойлно. 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9D8381-54EE-49F0-56D3-E4402181E589}"/>
              </a:ext>
            </a:extLst>
          </p:cNvPr>
          <p:cNvSpPr txBox="1"/>
          <p:nvPr/>
        </p:nvSpPr>
        <p:spPr>
          <a:xfrm>
            <a:off x="5327905" y="1183846"/>
            <a:ext cx="624278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000" b="1">
                <a:solidFill>
                  <a:srgbClr val="000000"/>
                </a:solidFill>
                <a:effectLst/>
                <a:ea typeface="Arial Unicode MS" panose="020B0604020202020204"/>
                <a:cs typeface="Arial Unicode MS" panose="020B0604020202020204"/>
              </a:defRPr>
            </a:lvl1pPr>
          </a:lstStyle>
          <a:p>
            <a:r>
              <a:rPr lang="mn-M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Хадгалалтын зардлыг бүтээгдэхүүний үнийн тодорхой хувиар, эсвэл тогтмол мөнгөн дүнгээр тооцоолдог. </a:t>
            </a:r>
            <a:endParaRPr 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048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137994"/>
            <a:ext cx="10515600" cy="439087"/>
          </a:xfrm>
        </p:spPr>
        <p:txBody>
          <a:bodyPr>
            <a:normAutofit fontScale="90000"/>
          </a:bodyPr>
          <a:lstStyle/>
          <a:p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зардлын хамаарал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C2CF8-A057-523C-8B46-B9FC72E92C28}"/>
              </a:ext>
            </a:extLst>
          </p:cNvPr>
          <p:cNvSpPr txBox="1"/>
          <p:nvPr/>
        </p:nvSpPr>
        <p:spPr>
          <a:xfrm>
            <a:off x="3925333" y="1381793"/>
            <a:ext cx="4209507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–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Нэгжийн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хадгалалтын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зардал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– </a:t>
            </a:r>
            <a:r>
              <a:rPr lang="mn-M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эг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удаагийн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захиалгын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зардал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– </a:t>
            </a:r>
            <a:r>
              <a:rPr lang="mn-M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рэлтийн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хэмжээ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– </a:t>
            </a:r>
            <a:r>
              <a:rPr lang="mn-M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ахиалгын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тоо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хэмжээ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05F36-A8D5-6CAB-B995-90C6E1058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4" y="1236581"/>
            <a:ext cx="3561669" cy="3352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42BB9D-C9B8-AEFC-6941-890FB44FD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056" y="1324470"/>
            <a:ext cx="3977694" cy="3530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38A396-67B6-CAA6-5710-C35147A6C494}"/>
                  </a:ext>
                </a:extLst>
              </p:cNvPr>
              <p:cNvSpPr txBox="1"/>
              <p:nvPr/>
            </p:nvSpPr>
            <p:spPr>
              <a:xfrm>
                <a:off x="178690" y="612729"/>
                <a:ext cx="6161150" cy="870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2700" i="1" dirty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Жилийн хадгалалтын зардал=</m:t>
                      </m:r>
                      <m:f>
                        <m:fPr>
                          <m:ctrlPr>
                            <a:rPr lang="mn-MN" sz="27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7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2</m:t>
                          </m:r>
                        </m:den>
                      </m:f>
                      <m:r>
                        <a:rPr lang="mn-MN" sz="27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7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mn-MN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38A396-67B6-CAA6-5710-C35147A6C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0" y="612729"/>
                <a:ext cx="6161150" cy="8703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98166C-133A-AC63-5228-CC7186D3FE32}"/>
                  </a:ext>
                </a:extLst>
              </p:cNvPr>
              <p:cNvSpPr txBox="1"/>
              <p:nvPr/>
            </p:nvSpPr>
            <p:spPr>
              <a:xfrm>
                <a:off x="6615440" y="581138"/>
                <a:ext cx="5421112" cy="96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2800" i="1" dirty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Захиалгын зардал</m:t>
                      </m:r>
                      <m:r>
                        <a:rPr lang="mn-MN" sz="2800" i="1" dirty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mn-MN" sz="280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mn-M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98166C-133A-AC63-5228-CC7186D3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440" y="581138"/>
                <a:ext cx="5421112" cy="9631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68018A7-DEC3-46AD-6BB1-BE2DF4C8B9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5333" y="2969907"/>
            <a:ext cx="4535424" cy="3487726"/>
          </a:xfrm>
          <a:prstGeom prst="rect">
            <a:avLst/>
          </a:prstGeom>
          <a:ln w="12700">
            <a:solidFill>
              <a:schemeClr val="accent1"/>
            </a:solidFill>
            <a:prstDash val="dash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56483B-B4D8-2FFC-E1AE-47B62E8FCDE4}"/>
              </a:ext>
            </a:extLst>
          </p:cNvPr>
          <p:cNvSpPr txBox="1"/>
          <p:nvPr/>
        </p:nvSpPr>
        <p:spPr>
          <a:xfrm>
            <a:off x="638857" y="4503568"/>
            <a:ext cx="3397704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000" b="0">
                <a:solidFill>
                  <a:srgbClr val="000000"/>
                </a:solidFill>
                <a:effectLst/>
                <a:ea typeface="Arial Unicode MS" panose="020B0604020202020204"/>
                <a:cs typeface="Arial Unicode MS" panose="020B0604020202020204"/>
              </a:defRPr>
            </a:lvl1pPr>
          </a:lstStyle>
          <a:p>
            <a:r>
              <a:rPr lang="mn-M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Хэрвээ бараа материалыг олон давтамжтай захиалбал захиалгын зардал өсч, хадгалалтын зардал буурна.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F12D27-2582-1D84-0817-4845D1EC3AC9}"/>
              </a:ext>
            </a:extLst>
          </p:cNvPr>
          <p:cNvSpPr txBox="1"/>
          <p:nvPr/>
        </p:nvSpPr>
        <p:spPr>
          <a:xfrm>
            <a:off x="8053279" y="4769919"/>
            <a:ext cx="3977694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000" b="0">
                <a:solidFill>
                  <a:srgbClr val="000000"/>
                </a:solidFill>
                <a:effectLst/>
                <a:ea typeface="Arial Unicode MS" panose="020B0604020202020204"/>
                <a:cs typeface="Arial Unicode MS" panose="020B0604020202020204"/>
              </a:defRPr>
            </a:lvl1pPr>
          </a:lstStyle>
          <a:p>
            <a:r>
              <a:rPr lang="mn-MN" dirty="0">
                <a:latin typeface="Times New Roman" panose="02020603050405020304" pitchFamily="18" charset="0"/>
                <a:cs typeface="Times New Roman" panose="02020603050405020304" pitchFamily="18" charset="0"/>
              </a:rPr>
              <a:t>Үүний эсрэгээр, бараа материалыг захиалгын давтамж цөөн бол захиалгын зардал буурч, хадгалалтын зардал өснө.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FBA3F6-4850-0FEF-096F-A8A6034CBD67}"/>
                  </a:ext>
                </a:extLst>
              </p:cNvPr>
              <p:cNvSpPr txBox="1"/>
              <p:nvPr/>
            </p:nvSpPr>
            <p:spPr>
              <a:xfrm>
                <a:off x="2998381" y="2252159"/>
                <a:ext cx="5054898" cy="61555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just">
                  <a:defRPr sz="2000" b="0">
                    <a:solidFill>
                      <a:srgbClr val="000000"/>
                    </a:solidFill>
                    <a:effectLst/>
                    <a:ea typeface="Arial Unicode MS" panose="020B0604020202020204"/>
                    <a:cs typeface="Arial Unicode MS" panose="020B0604020202020204"/>
                  </a:defRPr>
                </a:lvl1pPr>
              </a:lstStyle>
              <a:p>
                <a:r>
                  <a:rPr lang="mn-M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Нийт зардал хамгийн бага байх захиалгын хэмжээ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p>
                        <m:r>
                          <a:rPr lang="en-US" sz="1700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mn-M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 оновчтой захиалгын тоо хэмжээ гэнэ. </a:t>
                </a:r>
                <a:endParaRPr lang="en-US" sz="17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FBA3F6-4850-0FEF-096F-A8A6034CB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381" y="2252159"/>
                <a:ext cx="5054898" cy="615553"/>
              </a:xfrm>
              <a:prstGeom prst="rect">
                <a:avLst/>
              </a:prstGeom>
              <a:blipFill>
                <a:blip r:embed="rId8"/>
                <a:stretch>
                  <a:fillRect l="-844" t="-1980" r="-724" b="-13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653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" y="138516"/>
            <a:ext cx="11801856" cy="317626"/>
          </a:xfrm>
        </p:spPr>
        <p:txBody>
          <a:bodyPr>
            <a:normAutofit fontScale="90000"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нөөцийг ангилах систем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2753-E6BE-CCD9-FFEE-ECC85C75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456142"/>
            <a:ext cx="11801856" cy="3398314"/>
          </a:xfrm>
        </p:spPr>
        <p:txBody>
          <a:bodyPr>
            <a:normAutofit/>
          </a:bodyPr>
          <a:lstStyle/>
          <a:p>
            <a:pPr algn="just">
              <a:spcBef>
                <a:spcPts val="200"/>
              </a:spcBef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нөөцийг ангилахад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шинжилгээний аргыг өргөн ашигладаг. </a:t>
            </a:r>
          </a:p>
          <a:p>
            <a:pPr algn="just">
              <a:spcBef>
                <a:spcPts val="200"/>
              </a:spcBef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Энэхүү арга нь бараа материалын нөөц худалдан авахад зарцуулсан зардлын мөнгөн дүнгээр ач холбогдлыг тодорхойлон ангилах систем бөгөөд Парето үр ашгийн зарчимд үндэслэдэг. </a:t>
            </a:r>
          </a:p>
          <a:p>
            <a:pPr lvl="1" algn="just">
              <a:spcBef>
                <a:spcPts val="200"/>
              </a:spcBef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Үйлдвэрийн бараа материалын нөөцийн тухайд Парето үр ашиг нь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“чухал биш олонхоос илүү чухал цөөнхөд анхаарлаа хандуулах”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зарчим байдаг. </a:t>
            </a:r>
          </a:p>
          <a:p>
            <a:pPr algn="just">
              <a:spcBef>
                <a:spcPts val="200"/>
              </a:spcBef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Нийт нөөцийг А-В-С гэж 3 ангилдаг.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utre 2">
            <a:extLst>
              <a:ext uri="{FF2B5EF4-FFF2-40B4-BE49-F238E27FC236}">
                <a16:creationId xmlns:a16="http://schemas.microsoft.com/office/drawing/2014/main" id="{B421758A-5184-573C-3BE3-8E79A7033BA2}"/>
              </a:ext>
            </a:extLst>
          </p:cNvPr>
          <p:cNvPicPr/>
          <p:nvPr/>
        </p:nvPicPr>
        <p:blipFill rotWithShape="1">
          <a:blip r:embed="rId3"/>
          <a:srcRect l="5150" t="3415"/>
          <a:stretch/>
        </p:blipFill>
        <p:spPr>
          <a:xfrm>
            <a:off x="6342266" y="3136544"/>
            <a:ext cx="5679046" cy="33983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37CCBD-3ABD-0AA4-323F-26BA7ED07248}"/>
              </a:ext>
            </a:extLst>
          </p:cNvPr>
          <p:cNvSpPr txBox="1"/>
          <p:nvPr/>
        </p:nvSpPr>
        <p:spPr>
          <a:xfrm>
            <a:off x="205938" y="3545375"/>
            <a:ext cx="608756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mn-MN" sz="23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– их ач холбогдолтой. Нийт нөөцийн хэмжээнд ойролцоогоор 15% эзлэх боловч нөөцийн зардлын 70-80 хувийг дангаар эзэлдэг.</a:t>
            </a:r>
          </a:p>
          <a:p>
            <a:pPr marL="285750" indent="-285750"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mn-MN" sz="23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– ач холбогдолтой нөөц. Нийт нөөцийн 30-аад хувь, харин нөөцөд гаргах зардлын 15-25 хувийг эзэлдэг.</a:t>
            </a:r>
          </a:p>
          <a:p>
            <a:pPr marL="285750" indent="-285750" algn="just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mn-MN" sz="23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– бага ач холбогдолтой. Нийт нөөцийн 55 орчим хувийг эзэлдэг боловч нөөцийн зардлын дөнгөж 5 хувийг эзэлдэг.</a:t>
            </a:r>
          </a:p>
        </p:txBody>
      </p:sp>
    </p:spTree>
    <p:extLst>
      <p:ext uri="{BB962C8B-B14F-4D97-AF65-F5344CB8AC3E}">
        <p14:creationId xmlns:p14="http://schemas.microsoft.com/office/powerpoint/2010/main" val="4247726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181927"/>
            <a:ext cx="11899392" cy="366395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Нөөцийн удирдлагын загвар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BFDE5-A695-C560-8227-5F6FC8C9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548322"/>
            <a:ext cx="11899392" cy="5170261"/>
          </a:xfrm>
        </p:spPr>
        <p:txBody>
          <a:bodyPr>
            <a:normAutofit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нөөцийн удирдлагын загварыг 2 ангилдаг.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Детерминистик загвар,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Магадлалт загвар. 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Детерминистик загварын дараах хэд хэдэн төрөл байдаг. Үүнд: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авалтын загвар (хомсдолгүй)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загвар (хомсдолгүй)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авалтын загвар (хомсдолтой)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загвар (хомсдолтой)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655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06" y="83405"/>
            <a:ext cx="11906249" cy="476331"/>
          </a:xfrm>
        </p:spPr>
        <p:txBody>
          <a:bodyPr>
            <a:normAutofit fontScale="90000"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Худалдан авалтын загвар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тогтмол шинэчилдэг, хомсдолгүй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2753-E6BE-CCD9-FFEE-ECC85C75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5018"/>
            <a:ext cx="11906249" cy="210638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Хугацааны үе бүрт тэнцүү тоо хэмжээгээр бараа материал захиалдаг.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Захиалсан нөөцөөр өмнөх нөөцийг нэгэн зэрэг шинэчлэн сольдог бөгөөд хэрэглээ нь тогтмол байна.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авалтын нэгжийн үнэ захиалгын хэмжээнээс үл хамаардаг бөгөөд нөөцийн нийт зардлыг нь хадгалалтын болон захиалгын зардлын нийлбэрээр тодорхойлно.</a:t>
            </a:r>
          </a:p>
          <a:p>
            <a:pPr algn="just"/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45E9B-AA43-E20E-6684-0AFF0842096F}"/>
              </a:ext>
            </a:extLst>
          </p:cNvPr>
          <p:cNvSpPr txBox="1"/>
          <p:nvPr/>
        </p:nvSpPr>
        <p:spPr>
          <a:xfrm>
            <a:off x="7830871" y="2416203"/>
            <a:ext cx="43177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– 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нэгжийн жил тутмын эрэлт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захиалгын зардал/захиалга</a:t>
            </a:r>
          </a:p>
          <a:p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нэгжийн хадгалалтын зардал (жил)</a:t>
            </a:r>
          </a:p>
          <a:p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нэгжийн худалдан авах үнэ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– 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захиалгын хэмжээ</a:t>
            </a:r>
          </a:p>
        </p:txBody>
      </p:sp>
      <p:pic>
        <p:nvPicPr>
          <p:cNvPr id="6" name="Picutre 4">
            <a:extLst>
              <a:ext uri="{FF2B5EF4-FFF2-40B4-BE49-F238E27FC236}">
                <a16:creationId xmlns:a16="http://schemas.microsoft.com/office/drawing/2014/main" id="{1ED44321-32A0-8898-FC03-C3F3DA6E6B9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85751" y="2477193"/>
            <a:ext cx="5416780" cy="417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6A0627-FB21-9AF4-10B1-9AF4187D3BB7}"/>
                  </a:ext>
                </a:extLst>
              </p:cNvPr>
              <p:cNvSpPr txBox="1"/>
              <p:nvPr/>
            </p:nvSpPr>
            <p:spPr>
              <a:xfrm>
                <a:off x="4945035" y="2416203"/>
                <a:ext cx="2771336" cy="7488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6A0627-FB21-9AF4-10B1-9AF4187D3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035" y="2416203"/>
                <a:ext cx="2771336" cy="7488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30EBB7-1537-DABC-56CA-AFEF7820D618}"/>
                  </a:ext>
                </a:extLst>
              </p:cNvPr>
              <p:cNvSpPr txBox="1"/>
              <p:nvPr/>
            </p:nvSpPr>
            <p:spPr>
              <a:xfrm>
                <a:off x="4702629" y="3165062"/>
                <a:ext cx="1889993" cy="1091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30EBB7-1537-DABC-56CA-AFEF7820D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29" y="3165062"/>
                <a:ext cx="1889993" cy="10911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C78A99-5730-FA96-8805-D8CBBAC531EC}"/>
                  </a:ext>
                </a:extLst>
              </p:cNvPr>
              <p:cNvSpPr txBox="1"/>
              <p:nvPr/>
            </p:nvSpPr>
            <p:spPr>
              <a:xfrm>
                <a:off x="4735232" y="5374154"/>
                <a:ext cx="3290208" cy="7464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n-M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Захиалгын тоо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C78A99-5730-FA96-8805-D8CBBAC53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232" y="5374154"/>
                <a:ext cx="3290208" cy="7464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B0DF00-E009-5DC4-6D64-79B2B641D872}"/>
                  </a:ext>
                </a:extLst>
              </p:cNvPr>
              <p:cNvSpPr txBox="1"/>
              <p:nvPr/>
            </p:nvSpPr>
            <p:spPr>
              <a:xfrm>
                <a:off x="4702628" y="4655221"/>
                <a:ext cx="5624677" cy="7023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n-M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Захиалга хоорондын хугацаа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B0DF00-E009-5DC4-6D64-79B2B641D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28" y="4655221"/>
                <a:ext cx="5624677" cy="7023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375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00" y="98801"/>
            <a:ext cx="11770822" cy="532649"/>
          </a:xfrm>
        </p:spPr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Үйлдвэрлэлийн загвар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хомсдолгүй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BFDE5-A695-C560-8227-5F6FC8C9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589" y="631450"/>
            <a:ext cx="11770822" cy="5121274"/>
          </a:xfrm>
        </p:spPr>
        <p:txBody>
          <a:bodyPr>
            <a:normAutofit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 үндсэн бүтээгдэхүүний орц болох бараа 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материалыг өөрөө үйлдвэрлэх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үеийн нөөцийн удирдлагын загварыг “үйлдвэрлэлийн загвар” гэж нэрлэдэг. 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Энэхүү загвар нь хоёр төрөл байна.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Хомсдолгүй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Хомсдолтой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загварт нөөц бүрийн хэрэглээ нь жилийн туршид нэгэн жигд байна. 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үйлдвэрлэлийн зардал нь үйлдвэрлэлийн хэмжээнээс үл хамаарна. 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343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327" y="100742"/>
            <a:ext cx="10515600" cy="387766"/>
          </a:xfrm>
        </p:spPr>
        <p:txBody>
          <a:bodyPr>
            <a:normAutofit fontScale="90000"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Үйлдвэрлэлийн загвар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хомсдолгүй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E12753-E6BE-CCD9-FFEE-ECC85C759B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3327" y="4364941"/>
                <a:ext cx="5418574" cy="235946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хугацааны туршид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хэмжээний бараа материалын нөөц хуримтална. </a:t>
                </a:r>
              </a:p>
              <a:p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mn-MN" sz="26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хугацааны туршид нэмж бараа материал үйлдвэрлэхгүй, зөвхөн нөөцийг ашиглана. </a:t>
                </a:r>
                <a:endParaRPr lang="en-US" sz="26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6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E12753-E6BE-CCD9-FFEE-ECC85C759B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327" y="4364941"/>
                <a:ext cx="5418574" cy="2359468"/>
              </a:xfrm>
              <a:blipFill>
                <a:blip r:embed="rId3"/>
                <a:stretch>
                  <a:fillRect t="-3876" r="-2362" b="-6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D6DC00-013D-8090-C6FB-4CE1C6BB481E}"/>
                  </a:ext>
                </a:extLst>
              </p:cNvPr>
              <p:cNvSpPr txBox="1"/>
              <p:nvPr/>
            </p:nvSpPr>
            <p:spPr>
              <a:xfrm>
                <a:off x="5494723" y="2755193"/>
                <a:ext cx="6577358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нөөцийн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эрэлт</a:t>
                </a:r>
                <a:endParaRPr lang="en-US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нөөцийн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үйлдвэрлэлийн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хэмжээ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жилд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үйлдвэрлэ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 нэгжийн тоо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нөөц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бэлтгэх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зардал</a:t>
                </a:r>
                <a:endParaRPr lang="en-US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нэгжийн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хадгалах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зардал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нэгжийн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үйлдвэрлэлийн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зардал</a:t>
                </a:r>
                <a:endParaRPr lang="en-US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үйлдвэрлэлийн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хугацаа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хэрэглээг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хангах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зөвхөн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хэрэглээний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хугацаа</a:t>
                </a:r>
                <a:endParaRPr lang="en-US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үйлдвэрлэлийн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хэмжээ</a:t>
                </a:r>
                <a:endParaRPr lang="en-US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D6DC00-013D-8090-C6FB-4CE1C6BB4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723" y="2755193"/>
                <a:ext cx="6577358" cy="3970318"/>
              </a:xfrm>
              <a:prstGeom prst="rect">
                <a:avLst/>
              </a:prstGeom>
              <a:blipFill>
                <a:blip r:embed="rId4"/>
                <a:stretch>
                  <a:fillRect l="-1854" t="-2765" b="-3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Shape 7">
            <a:extLst>
              <a:ext uri="{FF2B5EF4-FFF2-40B4-BE49-F238E27FC236}">
                <a16:creationId xmlns:a16="http://schemas.microsoft.com/office/drawing/2014/main" id="{26EBF423-9558-C819-85AE-D9044AB9BC6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15887" y="488507"/>
            <a:ext cx="5338490" cy="38753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18FFB3-2B91-F447-C332-4F52362DC67D}"/>
                  </a:ext>
                </a:extLst>
              </p:cNvPr>
              <p:cNvSpPr txBox="1"/>
              <p:nvPr/>
            </p:nvSpPr>
            <p:spPr>
              <a:xfrm>
                <a:off x="2912656" y="531865"/>
                <a:ext cx="2549979" cy="1182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𝑆𝑟</m:t>
                              </m:r>
                            </m:num>
                            <m:den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sz="2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sz="2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18FFB3-2B91-F447-C332-4F52362DC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656" y="531865"/>
                <a:ext cx="2549979" cy="1182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846792-335B-65A0-33D8-EFA0766C06BE}"/>
                  </a:ext>
                </a:extLst>
              </p:cNvPr>
              <p:cNvSpPr txBox="1"/>
              <p:nvPr/>
            </p:nvSpPr>
            <p:spPr>
              <a:xfrm>
                <a:off x="5359717" y="603772"/>
                <a:ext cx="2132331" cy="9396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846792-335B-65A0-33D8-EFA0766C0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717" y="603772"/>
                <a:ext cx="2132331" cy="939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0CC79B-F3FE-4668-61F2-61526FC4C8B5}"/>
                  </a:ext>
                </a:extLst>
              </p:cNvPr>
              <p:cNvSpPr txBox="1"/>
              <p:nvPr/>
            </p:nvSpPr>
            <p:spPr>
              <a:xfrm>
                <a:off x="7492048" y="524935"/>
                <a:ext cx="4584065" cy="10449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0CC79B-F3FE-4668-61F2-61526FC4C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048" y="524935"/>
                <a:ext cx="4584065" cy="10449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CE9DA0-37C8-EECD-CEA2-6B42AC77A19D}"/>
                  </a:ext>
                </a:extLst>
              </p:cNvPr>
              <p:cNvSpPr txBox="1"/>
              <p:nvPr/>
            </p:nvSpPr>
            <p:spPr>
              <a:xfrm>
                <a:off x="5421127" y="1751761"/>
                <a:ext cx="57150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n-M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Мөчлөгийн хугацаа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mn-M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CE9DA0-37C8-EECD-CEA2-6B42AC77A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127" y="1751761"/>
                <a:ext cx="571500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10CD85-BD3C-6320-EFBE-B7064585071C}"/>
                  </a:ext>
                </a:extLst>
              </p:cNvPr>
              <p:cNvSpPr txBox="1"/>
              <p:nvPr/>
            </p:nvSpPr>
            <p:spPr>
              <a:xfrm>
                <a:off x="5392966" y="2142381"/>
                <a:ext cx="6577359" cy="8021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n-M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Нөөц бэлтгэх тоо хэмжээ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mn-M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жилд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10CD85-BD3C-6320-EFBE-B70645850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966" y="2142381"/>
                <a:ext cx="6577359" cy="8021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731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" y="44093"/>
            <a:ext cx="11918921" cy="59050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mn-MN" sz="3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Худалдан авалтын загвар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нэгэн зэрэг нийлүүлдэг, хомсдолтой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BFDE5-A695-C560-8227-5F6FC8C9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" y="547806"/>
            <a:ext cx="11918921" cy="166927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материалын захиалгыг нэгэн зэрэг хүлээн авдаг бөгөөд тогтмол харьцаатай зарцуулдаг.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авалтын нэгжийн үнэ захиалгын хэмжээнээс хамаарахгүй. Хэрэв бараа материал шаардлагатай үед нөөц хүрэлцэхгүй бол тодорхой торгууль төлж захиалгыг хойшлуулдаг. Үүнийг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захиалга буцаалт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гэдэг.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24EF73-D1A8-6ECE-BB56-218DFBC175F5}"/>
                  </a:ext>
                </a:extLst>
              </p:cNvPr>
              <p:cNvSpPr txBox="1"/>
              <p:nvPr/>
            </p:nvSpPr>
            <p:spPr>
              <a:xfrm>
                <a:off x="8122900" y="1816685"/>
                <a:ext cx="3969567" cy="4662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эрэлт (тайлант хугацааны)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нэгжийн хадгалалтын зардал (тайлант хугацааны)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захиалгын зардал/захиалга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хомсдлын зардал/нэгжийн (тайлант хугацааны)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захиалгын хэмжээ,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mn-MN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Бараа материалын нөөцийн хамгийн их хэмжээ,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Нөөцийн хомсдлын хамгийн их хэмжээ,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Эерэг нөөцтэй байх хугацаа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mn-MN" sz="22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mn-M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Нөөц хомсдолтой байх хугацаа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24EF73-D1A8-6ECE-BB56-218DFBC17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900" y="1816685"/>
                <a:ext cx="3969567" cy="4662815"/>
              </a:xfrm>
              <a:prstGeom prst="rect">
                <a:avLst/>
              </a:prstGeom>
              <a:blipFill>
                <a:blip r:embed="rId3"/>
                <a:stretch>
                  <a:fillRect l="-1994" t="-1569" b="-1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utre 9">
            <a:extLst>
              <a:ext uri="{FF2B5EF4-FFF2-40B4-BE49-F238E27FC236}">
                <a16:creationId xmlns:a16="http://schemas.microsoft.com/office/drawing/2014/main" id="{D2CD615D-5CCA-7128-ED38-761E4280B5E0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70215" y="2078760"/>
            <a:ext cx="5131724" cy="34638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8CD215-A364-E9C4-CB1D-EEAB1F952133}"/>
                  </a:ext>
                </a:extLst>
              </p:cNvPr>
              <p:cNvSpPr txBox="1"/>
              <p:nvPr/>
            </p:nvSpPr>
            <p:spPr>
              <a:xfrm>
                <a:off x="4396421" y="1989318"/>
                <a:ext cx="3400914" cy="1091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mn-M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den>
                          </m:f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  <m: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8CD215-A364-E9C4-CB1D-EEAB1F952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421" y="1989318"/>
                <a:ext cx="3400914" cy="10911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2210C2-AEB3-2A1F-FBB2-5CABECE65FB6}"/>
                  </a:ext>
                </a:extLst>
              </p:cNvPr>
              <p:cNvSpPr txBox="1"/>
              <p:nvPr/>
            </p:nvSpPr>
            <p:spPr>
              <a:xfrm>
                <a:off x="4821382" y="3087398"/>
                <a:ext cx="3151982" cy="1091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mn-M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den>
                          </m:f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2210C2-AEB3-2A1F-FBB2-5CABECE65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382" y="3087398"/>
                <a:ext cx="3151982" cy="10911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6C0101-DB3D-73A4-D216-AD41F8F095FD}"/>
                  </a:ext>
                </a:extLst>
              </p:cNvPr>
              <p:cNvSpPr txBox="1"/>
              <p:nvPr/>
            </p:nvSpPr>
            <p:spPr>
              <a:xfrm>
                <a:off x="5662337" y="4255714"/>
                <a:ext cx="213499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6C0101-DB3D-73A4-D216-AD41F8F09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337" y="4255714"/>
                <a:ext cx="2134997" cy="430887"/>
              </a:xfrm>
              <a:prstGeom prst="rect">
                <a:avLst/>
              </a:prstGeom>
              <a:blipFill>
                <a:blip r:embed="rId7"/>
                <a:stretch>
                  <a:fillRect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09C0A1-10F3-1BA2-6BEE-9F0B76E7CF6E}"/>
                  </a:ext>
                </a:extLst>
              </p:cNvPr>
              <p:cNvSpPr txBox="1"/>
              <p:nvPr/>
            </p:nvSpPr>
            <p:spPr>
              <a:xfrm>
                <a:off x="68032" y="5637430"/>
                <a:ext cx="4753350" cy="7464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Захиалгын хэмжээ/жилд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09C0A1-10F3-1BA2-6BEE-9F0B76E7C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2" y="5637430"/>
                <a:ext cx="4753350" cy="7464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8C5C0C-A484-C27B-DF3C-26222697423B}"/>
                  </a:ext>
                </a:extLst>
              </p:cNvPr>
              <p:cNvSpPr txBox="1"/>
              <p:nvPr/>
            </p:nvSpPr>
            <p:spPr>
              <a:xfrm>
                <a:off x="4657529" y="4869159"/>
                <a:ext cx="1832011" cy="76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8C5C0C-A484-C27B-DF3C-262226974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529" y="4869159"/>
                <a:ext cx="1832011" cy="7608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3E7059-E207-87E5-A6BC-E88D851826F4}"/>
                  </a:ext>
                </a:extLst>
              </p:cNvPr>
              <p:cNvSpPr txBox="1"/>
              <p:nvPr/>
            </p:nvSpPr>
            <p:spPr>
              <a:xfrm>
                <a:off x="6469928" y="4882433"/>
                <a:ext cx="1756524" cy="7667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3E7059-E207-87E5-A6BC-E88D85182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928" y="4882433"/>
                <a:ext cx="1756524" cy="7667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EA5937-3B93-68E5-1BC9-7C840A82A3DE}"/>
                  </a:ext>
                </a:extLst>
              </p:cNvPr>
              <p:cNvSpPr txBox="1"/>
              <p:nvPr/>
            </p:nvSpPr>
            <p:spPr>
              <a:xfrm>
                <a:off x="5062723" y="5542586"/>
                <a:ext cx="2549979" cy="767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EA5937-3B93-68E5-1BC9-7C840A82A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723" y="5542586"/>
                <a:ext cx="2549979" cy="7671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360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30" y="182562"/>
            <a:ext cx="10515600" cy="365125"/>
          </a:xfrm>
        </p:spPr>
        <p:txBody>
          <a:bodyPr>
            <a:no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mn-MN" sz="3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Үйлдвэрлэлийн загвар 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3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хомсдолтой</a:t>
            </a:r>
            <a:r>
              <a:rPr lang="en-US" sz="3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2753-E6BE-CCD9-FFEE-ECC85C75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31" y="547687"/>
            <a:ext cx="5149413" cy="4974318"/>
          </a:xfrm>
        </p:spPr>
        <p:txBody>
          <a:bodyPr>
            <a:noAutofit/>
          </a:bodyPr>
          <a:lstStyle/>
          <a:p>
            <a:pPr algn="just"/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Мөчлөгиин хугацааны эхний хэсэгт нөөцийг үйлдвэрлэхийн зэрэгцээ хэрэглэдэг бөгөөд үлдсэн хэсэгт нөөцийг зөвхөн зарцуулна. </a:t>
            </a:r>
          </a:p>
          <a:p>
            <a:pPr algn="just"/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бутээгдэхүүнд ноогдох үйлдвэрлэлийн зардал үйлдвэрлэлийн тоо хэмжээнээс үл хамаарна. </a:t>
            </a:r>
          </a:p>
          <a:p>
            <a:pPr algn="just"/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загварт нөөцийн хомсдол үүсдэг бөгөөд энэ үед тодорхой торгууль төлөөд захиалгыг хойшлуулдаг. Үүнийг </a:t>
            </a:r>
            <a:r>
              <a:rPr lang="mn-MN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захиалга буцаалт </a:t>
            </a:r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гэнэ. </a:t>
            </a:r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6CB876-0BEE-AEF9-3636-AA673EA4E494}"/>
                  </a:ext>
                </a:extLst>
              </p:cNvPr>
              <p:cNvSpPr txBox="1"/>
              <p:nvPr/>
            </p:nvSpPr>
            <p:spPr>
              <a:xfrm>
                <a:off x="5419899" y="547687"/>
                <a:ext cx="6550428" cy="5853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Нэгж хугацааны нөөцийн жилийн эрэлт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Нэгж хугацааны үйлдвэрлэлийн тоо хэмжээ (тайлант хугацааны)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mn-MN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Нөөц бэлтгэх зардал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Нэгж хугацаанд нэгж нөөцийг хадгалах зардал (тайлант хугацааны) </a:t>
                </a:r>
                <a:endParaRPr lang="en-US" sz="26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6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Хомсдлын зардал/нэгжийн (тайлант хугацааны) </a:t>
                </a:r>
                <a:endParaRPr lang="en-US" sz="26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Нэгж нөөцийн үйлдвэрлэлийн зардал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mn-MN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Нөөцийг үйлдвэрлэж, зарцуулах үеийн хугацаа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mn-MN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Зөвхөн хэрэглэх үеийн хугацаа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Хомсдолтой үеийн хугацаа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6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Захиалга буцаалт хангах үйлдвэрлэл, зарцуулалтын үеийн хугацаа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Үйлдвэрлэлийн хэмжээ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Нөөцийн хамгийн их хэмжээ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6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Нөөцийн хомсдлын хамгийн их хэмжээ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6CB876-0BEE-AEF9-3636-AA673EA4E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899" y="547687"/>
                <a:ext cx="6550428" cy="5853910"/>
              </a:xfrm>
              <a:prstGeom prst="rect">
                <a:avLst/>
              </a:prstGeom>
              <a:blipFill>
                <a:blip r:embed="rId3"/>
                <a:stretch>
                  <a:fillRect l="-1674" t="-2292" r="-186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731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33" y="43520"/>
            <a:ext cx="11851439" cy="52174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Үйлдвэрлэлийн загвар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хомсдолтой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Shape 29">
            <a:extLst>
              <a:ext uri="{FF2B5EF4-FFF2-40B4-BE49-F238E27FC236}">
                <a16:creationId xmlns:a16="http://schemas.microsoft.com/office/drawing/2014/main" id="{4BED9928-3182-9FE0-5322-207EF494A40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251228" y="565267"/>
            <a:ext cx="6884357" cy="4726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C68BA8-C55C-77FC-F3B1-48E72735B653}"/>
                  </a:ext>
                </a:extLst>
              </p:cNvPr>
              <p:cNvSpPr txBox="1"/>
              <p:nvPr/>
            </p:nvSpPr>
            <p:spPr>
              <a:xfrm>
                <a:off x="2410691" y="565266"/>
                <a:ext cx="4202162" cy="1182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mn-MN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den>
                          </m:f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𝑘𝑟</m:t>
                              </m:r>
                            </m:num>
                            <m:den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  <m:r>
                                    <a:rPr lang="en-US" sz="2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C68BA8-C55C-77FC-F3B1-48E72735B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691" y="565266"/>
                <a:ext cx="4202162" cy="11821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6DE438-A0FA-AA6C-5C26-DB78963FD592}"/>
                  </a:ext>
                </a:extLst>
              </p:cNvPr>
              <p:cNvSpPr txBox="1"/>
              <p:nvPr/>
            </p:nvSpPr>
            <p:spPr>
              <a:xfrm>
                <a:off x="6953521" y="565266"/>
                <a:ext cx="4946472" cy="1182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mn-MN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num>
                            <m:den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den>
                          </m:f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6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  <m: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</m:den>
                          </m:f>
                        </m:e>
                      </m:rad>
                    </m:oMath>
                  </m:oMathPara>
                </a14:m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6DE438-A0FA-AA6C-5C26-DB78963FD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521" y="565266"/>
                <a:ext cx="4946472" cy="1182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3CBC99-4C5A-A913-1C0A-EB7169E459C8}"/>
                  </a:ext>
                </a:extLst>
              </p:cNvPr>
              <p:cNvSpPr txBox="1"/>
              <p:nvPr/>
            </p:nvSpPr>
            <p:spPr>
              <a:xfrm>
                <a:off x="6713873" y="1955327"/>
                <a:ext cx="4928282" cy="1182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mn-MN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den>
                          </m:f>
                          <m:r>
                            <a:rPr lang="en-US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3CBC99-4C5A-A913-1C0A-EB7169E45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873" y="1955327"/>
                <a:ext cx="4928282" cy="1182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0C99FA-ACB6-112C-3353-F548C53FE4B5}"/>
                  </a:ext>
                </a:extLst>
              </p:cNvPr>
              <p:cNvSpPr txBox="1"/>
              <p:nvPr/>
            </p:nvSpPr>
            <p:spPr>
              <a:xfrm>
                <a:off x="7135585" y="3255529"/>
                <a:ext cx="4946472" cy="8361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0C99FA-ACB6-112C-3353-F548C53FE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585" y="3255529"/>
                <a:ext cx="4946472" cy="8361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A3D936-DA08-5C1F-DB15-CC3353AE103E}"/>
                  </a:ext>
                </a:extLst>
              </p:cNvPr>
              <p:cNvSpPr txBox="1"/>
              <p:nvPr/>
            </p:nvSpPr>
            <p:spPr>
              <a:xfrm>
                <a:off x="7135585" y="4417373"/>
                <a:ext cx="2571138" cy="8192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A3D936-DA08-5C1F-DB15-CC3353AE1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585" y="4417373"/>
                <a:ext cx="2571138" cy="8192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B1952C-7117-E8A7-4C69-3FE83FC36B13}"/>
                  </a:ext>
                </a:extLst>
              </p:cNvPr>
              <p:cNvSpPr txBox="1"/>
              <p:nvPr/>
            </p:nvSpPr>
            <p:spPr>
              <a:xfrm>
                <a:off x="2143995" y="5575003"/>
                <a:ext cx="1756524" cy="828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B1952C-7117-E8A7-4C69-3FE83FC36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995" y="5575003"/>
                <a:ext cx="1756524" cy="8283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17AB2F-A43F-5C8E-40F3-011036B4EBE3}"/>
                  </a:ext>
                </a:extLst>
              </p:cNvPr>
              <p:cNvSpPr txBox="1"/>
              <p:nvPr/>
            </p:nvSpPr>
            <p:spPr>
              <a:xfrm>
                <a:off x="4358424" y="5575003"/>
                <a:ext cx="1942623" cy="825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17AB2F-A43F-5C8E-40F3-011036B4E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424" y="5575003"/>
                <a:ext cx="1942623" cy="8255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0945C9-7F42-F0B0-048C-4B6A4F506AB4}"/>
                  </a:ext>
                </a:extLst>
              </p:cNvPr>
              <p:cNvSpPr txBox="1"/>
              <p:nvPr/>
            </p:nvSpPr>
            <p:spPr>
              <a:xfrm>
                <a:off x="6953521" y="5593825"/>
                <a:ext cx="1756524" cy="825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0945C9-7F42-F0B0-048C-4B6A4F506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521" y="5593825"/>
                <a:ext cx="1756524" cy="8259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40ACCC-8F34-990A-EF30-422464B530D8}"/>
                  </a:ext>
                </a:extLst>
              </p:cNvPr>
              <p:cNvSpPr txBox="1"/>
              <p:nvPr/>
            </p:nvSpPr>
            <p:spPr>
              <a:xfrm>
                <a:off x="9092176" y="5621985"/>
                <a:ext cx="2549979" cy="8288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40ACCC-8F34-990A-EF30-422464B5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76" y="5621985"/>
                <a:ext cx="2549979" cy="82881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43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98876"/>
            <a:ext cx="11770822" cy="473560"/>
          </a:xfrm>
        </p:spPr>
        <p:txBody>
          <a:bodyPr>
            <a:noAutofit/>
          </a:bodyPr>
          <a:lstStyle/>
          <a:p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Үнийн хөнгөлөлтийн загвар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2753-E6BE-CCD9-FFEE-ECC85C75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699134"/>
            <a:ext cx="11798531" cy="5012870"/>
          </a:xfrm>
        </p:spPr>
        <p:txBody>
          <a:bodyPr>
            <a:normAutofit/>
          </a:bodyPr>
          <a:lstStyle/>
          <a:p>
            <a:pPr algn="just"/>
            <a:r>
              <a:rPr lang="mn-MN" sz="2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Олон компани хэрэглэгчийн худалдан авалтын тоо хэмжээнээс хамааруулан үнийн хөнгөлөлтийг санал болгодог. </a:t>
            </a:r>
          </a:p>
          <a:p>
            <a:pPr algn="just"/>
            <a:r>
              <a:rPr lang="mn-MN" sz="2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Өөрөөр хэлбэл, хэрэглэгч илүү олон тоо хэмжээгээр худалдан авалт хийх тутам компаниуд бүтэээгдэхүүнийхээ үнийг бууруулдаг. </a:t>
            </a:r>
          </a:p>
          <a:p>
            <a:pPr algn="just"/>
            <a:r>
              <a:rPr lang="mn-MN" sz="2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Өмнө авч үзсэн худалдан авалтын (хомсдолгүй) болон үйлдвэрлэлийн (хомсдолгүй) загваруудад зөвхөн хадгалалтын болон захиалгын зардлын нийлбэр хамгийн бага байхаар захиалгын оновчтой тоо хэмжээг тодорхойлж байсан. </a:t>
            </a:r>
          </a:p>
          <a:p>
            <a:pPr algn="just"/>
            <a:r>
              <a:rPr lang="mn-MN" sz="29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Харин үнийн хөнгөлөлтийн загварт </a:t>
            </a:r>
            <a:r>
              <a:rPr lang="mn-MN" sz="2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хадгалалтын, захиалгын болон нөөцийн худалдан авалтын зардлын нийлбэр хамгийн бага байхаар оновчтой тоо хэмжээг тодорхойлдог.</a:t>
            </a:r>
            <a:endParaRPr lang="en-US" sz="29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280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8" y="34515"/>
            <a:ext cx="7869407" cy="658735"/>
          </a:xfrm>
        </p:spPr>
        <p:txBody>
          <a:bodyPr>
            <a:noAutofit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Үнийн хөнгөлөлтийн загвар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BFDE5-A695-C560-8227-5F6FC8C9D5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468" y="2012617"/>
                <a:ext cx="11771353" cy="4632023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mn-MN" sz="2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Бараа материалын нөөцийн зардал хамгийн бага байх оновчтой сонголтыг хийхийн тулд дараах үе шатуудаар тооцооллыг хийнэ.</a:t>
                </a:r>
              </a:p>
              <a:p>
                <a:pPr lvl="1" algn="just"/>
                <a:r>
                  <a:rPr 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mn-MN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үе шат.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Хөнгөлөлттэй үнэ бүрт харгалзах оновчтой захиалгын тоо хэмжээг тодорхойлно.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endParaRPr lang="en-US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endParaRPr lang="en-US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r>
                  <a:rPr 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 </a:t>
                </a:r>
                <a:r>
                  <a:rPr lang="mn-MN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үе шат.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1-р үе шатанд тооцож гаргасан захиалгын оновчтой гоо хэмжээ нь үнийн хөнгөлөлтөнд хамаарах тоо хэмжээний интервалаас доогуур байвал тухайн интервалын хамгийн бага утгаар нь засварлана.</a:t>
                </a:r>
              </a:p>
              <a:p>
                <a:pPr lvl="1" algn="just"/>
                <a:r>
                  <a:rPr 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III </a:t>
                </a:r>
                <a:r>
                  <a:rPr lang="mn-MN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үе шат.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Нэг эсвэл хоёрдугаар үе шатанд тооцоолон гаргасан захиалгын оновчтой тоо хэмжээ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утгыг ашиглан нөөцийн нийт зардлыг тооцно. Захиалгын тоо хэмжээ үнийн хөнгөлөлтөд хамаарах тоо хэмжээний утгандаа хүрэхгүй бага байвал 2-р үе шатанд тодорхойлсон засварласан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утгыг ашиглана.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r>
                  <a:rPr 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 </a:t>
                </a:r>
                <a:r>
                  <a:rPr lang="mn-MN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үе шат.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Нөөцийн нийт зардал хамгийн бага байх захиалгын оновчтой тоо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хэмжээний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утгыг сонгоно.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BFDE5-A695-C560-8227-5F6FC8C9D5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468" y="2012617"/>
                <a:ext cx="11771353" cy="4632023"/>
              </a:xfrm>
              <a:blipFill>
                <a:blip r:embed="rId3"/>
                <a:stretch>
                  <a:fillRect l="-673" t="-2632" r="-829" b="-2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7B0229-A821-AC8B-4005-51B1A4A8FB96}"/>
                  </a:ext>
                </a:extLst>
              </p:cNvPr>
              <p:cNvSpPr txBox="1"/>
              <p:nvPr/>
            </p:nvSpPr>
            <p:spPr>
              <a:xfrm>
                <a:off x="6184671" y="196735"/>
                <a:ext cx="6190905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нэгжийн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тутмын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эрэлт</a:t>
                </a:r>
                <a:endPara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захиалгын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зардал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захиалга</a:t>
                </a:r>
                <a:endPara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нэгжийн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хадгалалтын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зардал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нэгжийн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худалдан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авах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үнэ</a:t>
                </a:r>
                <a:endPara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захиалгын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хэмжээ</a:t>
                </a:r>
                <a:endParaRPr 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7B0229-A821-AC8B-4005-51B1A4A8F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671" y="196735"/>
                <a:ext cx="6190905" cy="1815882"/>
              </a:xfrm>
              <a:prstGeom prst="rect">
                <a:avLst/>
              </a:prstGeom>
              <a:blipFill>
                <a:blip r:embed="rId4"/>
                <a:stretch>
                  <a:fillRect t="-7383" b="-4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86EC7C-FC48-495C-2998-008CAB331B8B}"/>
                  </a:ext>
                </a:extLst>
              </p:cNvPr>
              <p:cNvSpPr txBox="1"/>
              <p:nvPr/>
            </p:nvSpPr>
            <p:spPr>
              <a:xfrm>
                <a:off x="1222267" y="503601"/>
                <a:ext cx="5045529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mn-M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86EC7C-FC48-495C-2998-008CAB331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267" y="503601"/>
                <a:ext cx="5045529" cy="9659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4A3138-BFC7-09CF-6B41-635588DA8B18}"/>
                  </a:ext>
                </a:extLst>
              </p:cNvPr>
              <p:cNvSpPr txBox="1"/>
              <p:nvPr/>
            </p:nvSpPr>
            <p:spPr>
              <a:xfrm>
                <a:off x="1894127" y="2792479"/>
                <a:ext cx="1979603" cy="12730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mn-MN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4A3138-BFC7-09CF-6B41-635588DA8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127" y="2792479"/>
                <a:ext cx="1979603" cy="12730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013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0" y="65866"/>
            <a:ext cx="11220796" cy="516025"/>
          </a:xfrm>
        </p:spPr>
        <p:txBody>
          <a:bodyPr>
            <a:normAutofit fontScale="90000"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Үйлдвэрлэх, Худалдан авах шийдвэр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2753-E6BE-CCD9-FFEE-ECC85C75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50" y="581891"/>
            <a:ext cx="11837326" cy="556952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Байгууллага бизнесийн үйл ажиллагаа эрхлэн явуулах үедээ өөрийн хэрэгцээт бүтээгдэхүүн, эд анги, бүрдэл хэсгийг 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өөрөө үйлдвэрлэх,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эсвэл 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туслан гүйцэтгэгчдээс худалдан авах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гэсэн сонголтын аль нэгийг хийх хэрэгтэй болдог. 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үед тодорхой зардал гардаг учир тухайн нөхцөл байдалтай уялдуулан байгууллага 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үйлдвэрлэх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эсвэл 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авах хувилбар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тус бүрийг үнэлж үзээд 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хамгийн бага зардалтай хувилбарыг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сонгодог.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асуудлаар гаргасан шийдвэр байгууллагын бүтээмжид нөлөөлөх чухал ач холбогдолтой юм. 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Урт хугацаанд, үйлдвэрлэх эсвэл худалдан авах шийдвэр гаргах үйл явц тогтонги (статик) хандлагатай байдаггүй.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Тиймээс үйлдвэрлэх эсвэл худалдан авах шийдвэрийг өрсөлдөөний түвшин, орчны олон хүчин зүйлсийн өөрчлөлттэй холбоотойгоор 1-3 жил тутамд хянаж үзэх хэрэгтэй.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49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789-A3E7-892F-EA56-3F46C5AD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57" y="43250"/>
            <a:ext cx="10515600" cy="515389"/>
          </a:xfrm>
        </p:spPr>
        <p:txBody>
          <a:bodyPr>
            <a:noAutofit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Үйлдвэрлэх, худалдан авах шалгуур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48600-F9FE-13D6-A485-7F7E27731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1294486"/>
              </p:ext>
            </p:extLst>
          </p:nvPr>
        </p:nvGraphicFramePr>
        <p:xfrm>
          <a:off x="156557" y="558639"/>
          <a:ext cx="11830396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5232">
                  <a:extLst>
                    <a:ext uri="{9D8B030D-6E8A-4147-A177-3AD203B41FA5}">
                      <a16:colId xmlns:a16="http://schemas.microsoft.com/office/drawing/2014/main" val="1551625262"/>
                    </a:ext>
                  </a:extLst>
                </a:gridCol>
                <a:gridCol w="5985164">
                  <a:extLst>
                    <a:ext uri="{9D8B030D-6E8A-4147-A177-3AD203B41FA5}">
                      <a16:colId xmlns:a16="http://schemas.microsoft.com/office/drawing/2014/main" val="878679441"/>
                    </a:ext>
                  </a:extLst>
                </a:gridCol>
              </a:tblGrid>
              <a:tr h="222757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Үйлдвэрлэх шалгуур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Худалдан авах шалгуур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927824"/>
                  </a:ext>
                </a:extLst>
              </a:tr>
              <a:tr h="532040">
                <a:tc>
                  <a:txBody>
                    <a:bodyPr/>
                    <a:lstStyle/>
                    <a:p>
                      <a:r>
                        <a:rPr lang="mn-M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Эцсийн бүтээгдэхүүнийг гадны нийлүүлэгчдээс илүү хямд үйлдвэрлэх боломжтой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Үйлдвэрлэхэд их хэмжээний хөрөнгө оруулалт шаардлагатай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90382"/>
                  </a:ext>
                </a:extLst>
              </a:tr>
              <a:tr h="999972">
                <a:tc>
                  <a:txBody>
                    <a:bodyPr/>
                    <a:lstStyle/>
                    <a:p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Эцсийн бүтээгдэхүүнийг гадны цөөн тооны пүүс үйлдвэрлэж, тэд зах зээл дэх эрэлт хэрэгцээг бүрэн хангадаггүй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Пүүс уг бүтээгдэхүүнийг үйлдвэрлэх техник, тоног төхөөрөмжгүй байх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186256"/>
                  </a:ext>
                </a:extLst>
              </a:tr>
              <a:tr h="999972">
                <a:tc>
                  <a:txBody>
                    <a:bodyPr/>
                    <a:lstStyle/>
                    <a:p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Тухайн бүрдэл хэсэг, бүтээгдэхүүн нь пүүсийн хувьд чухал ач холбогдолтой бегөөд чанарын өндөр хяналт шаарддаг байх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Пүүс байгаа тоног төхөөрөмжүүдээрээ өөр зүйл үйлдвэрлэх нь эдийн засгийн хувьд илүү өгөөжтэй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073254"/>
                  </a:ext>
                </a:extLst>
              </a:tr>
              <a:tr h="999972">
                <a:tc>
                  <a:txBody>
                    <a:bodyPr/>
                    <a:lstStyle/>
                    <a:p>
                      <a:r>
                        <a:rPr lang="mn-M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Бүрдэл хэсгийг пуүсийн одоогийн үйлдвэрлэлийн тоног төхөөрөмжөөр уйлдвэрлэх боломжтой, компаний өмнө нь үйлдвэрлэж байсан бусад бүтээгдэхүүнтэй ижил төстэй.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Тухайн бүрдэл хэсэг, бүтээгдэхүүнийг үйлдвэрлэхэд компаний ажиллах хүчний ур чадвар хангалтгүй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343703"/>
                  </a:ext>
                </a:extLst>
              </a:tr>
              <a:tr h="699981">
                <a:tc>
                  <a:txBody>
                    <a:bodyPr/>
                    <a:lstStyle/>
                    <a:p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Тухайн зүйлийг үйлдвэрлэхэд патент болоод бусад хууль эрх зүйн саад тотгор ихтэй.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213465"/>
                  </a:ext>
                </a:extLst>
              </a:tr>
              <a:tr h="699981">
                <a:tc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Тухайн бүрдэл хэсэг, бүтээгдэхүүний эрэлт нь түр зуурын эсвэл улирлын шинж чанартай.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08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457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4883-9212-03C0-3855-2A228661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03" y="365125"/>
            <a:ext cx="11853949" cy="549275"/>
          </a:xfrm>
        </p:spPr>
        <p:txBody>
          <a:bodyPr>
            <a:noAutofit/>
          </a:bodyPr>
          <a:lstStyle/>
          <a:p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Үйлдвэрлэх, худалдан авах шийдвэр гаргах аргууд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2753-E6BE-CCD9-FFEE-ECC85C75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048" y="1180407"/>
            <a:ext cx="11781904" cy="3009207"/>
          </a:xfrm>
        </p:spPr>
        <p:txBody>
          <a:bodyPr>
            <a:normAutofit/>
          </a:bodyPr>
          <a:lstStyle/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 үйлдвэрлэх эсвэл худалдан авах шийдвэр гаргахдаа дараах шинжилгээ хийдэг. Үүнд: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Зардлын энгийн шинжилгээ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Эдийн засгийн шинжилгээ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Хугарлын цэгийн шинжилгээ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mn-MN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Жишээ нэмэлт тайлбар 1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mn-MN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mn-MN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87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B99C4FA-7FF9-AF4B-1EC1-2FF43FDE8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71725"/>
            <a:ext cx="10905066" cy="3816774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642163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E1216DE2-A49D-459A-A2CE-E53B08A31B10"/>
  <p:tag name="ISPRING_CMI5_LAUNCH_METHOD" val="any window"/>
  <p:tag name="ISPRINGCLOUDFOLDERID" val="1"/>
  <p:tag name="ISPRINGONLINEFOLDERID" val="1"/>
  <p:tag name="ISPRING_OUTPUT_FOLDER" val="[[&quot;\uFFFD12\u001E{5CDD3A6F-82E0-49E5-B476-77BB91554EEC}&quot;,&quot;D:\\F.CN104_Print_Last2019.10.10\\S.EEM101_2023-24.A_Ts.Baljinnyam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PASSING_SCORE" val="0.000000"/>
  <p:tag name="ISPRING_CURRENT_PLAYER_ID" val="universal"/>
  <p:tag name="ISPRING_FIRST_PUBLISH" val="1"/>
  <p:tag name="ISPRING_ULTRA_SCORM_COURCE_TITLE" val="S.EEM101_Lecture10_2023-24.B_ByTs.B_2024.03.3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S.EEM101_Lecture10_2023-24.B_ByTs.B_2024.03.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3989</TotalTime>
  <Words>3401</Words>
  <Application>Microsoft Office PowerPoint</Application>
  <PresentationFormat>Widescreen</PresentationFormat>
  <Paragraphs>321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Лекц 10. Бараа материалын нөөцийн удирдлагын үндсэн ойлголт,  Худалдан авах шийдвэр гаргалт</vt:lpstr>
      <vt:lpstr>Хичээлийн суралцахуйн үр дүнгүүд  Оюутан энэ сэдвийг судалснаар дараах ур чадваруудтай болсон байна. </vt:lpstr>
      <vt:lpstr>Хичээлийн агуулга </vt:lpstr>
      <vt:lpstr>Бараа материалын нөөцийн үндсэн ойлголт (1)</vt:lpstr>
      <vt:lpstr>Бараа материалын нөөцийн үндсэн ойлголт (2)</vt:lpstr>
      <vt:lpstr>Бараа материалын нөөцийн үүрэг</vt:lpstr>
      <vt:lpstr>Бараа материалын нөөцийн удирдлага (1)</vt:lpstr>
      <vt:lpstr>Бараа материалын нөөцийн удирдлага (2)</vt:lpstr>
      <vt:lpstr>Бараа материалын нөөцийн удирдлага (3) Нөөцийг зөв бүртгэж, түүнд хяналт тавих</vt:lpstr>
      <vt:lpstr>Нөөцийн хяналт, түүний зорилго</vt:lpstr>
      <vt:lpstr>Бараа материалын нөөцийн зардлын ангилал</vt:lpstr>
      <vt:lpstr>Бараа материалын нөөцийн зардлын хамаарал</vt:lpstr>
      <vt:lpstr>Бараа материалын нөөцийг ангилах систем</vt:lpstr>
      <vt:lpstr>Нөөцийн удирдлагын загвар</vt:lpstr>
      <vt:lpstr>1. Худалдан авалтын загвар (тогтмол шинэчилдэг, хомсдолгүй)</vt:lpstr>
      <vt:lpstr>2. Үйлдвэрлэлийн загвар (хомсдолгүй)</vt:lpstr>
      <vt:lpstr>2. Үйлдвэрлэлийн загвар (хомсдолгүй)</vt:lpstr>
      <vt:lpstr>3. Худалдан авалтын загвар (нэгэн зэрэг нийлүүлдэг, хомсдолтой)</vt:lpstr>
      <vt:lpstr>4. Үйлдвэрлэлийн загвар (хомсдолтой)</vt:lpstr>
      <vt:lpstr>4. Үйлдвэрлэлийн загвар (хомсдолтой)</vt:lpstr>
      <vt:lpstr>Үнийн хөнгөлөлтийн загвар (1)</vt:lpstr>
      <vt:lpstr>Үнийн хөнгөлөлтийн загвар (2)</vt:lpstr>
      <vt:lpstr>Үйлдвэрлэх, Худалдан авах шийдвэр</vt:lpstr>
      <vt:lpstr>Үйлдвэрлэх, худалдан авах шалгуур</vt:lpstr>
      <vt:lpstr>Үйлдвэрлэх, худалдан авах шийдвэр гаргах аргууд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S.EEM101_Lecture10_2023-24.B_ByTs.B_2024.03.30</dc:title>
  <dc:creator>Oyu Chuluun</dc:creator>
  <cp:lastModifiedBy>Ganaa begzsuren</cp:lastModifiedBy>
  <cp:revision>162</cp:revision>
  <cp:lastPrinted>2023-10-12T12:06:51Z</cp:lastPrinted>
  <dcterms:created xsi:type="dcterms:W3CDTF">2023-09-05T14:21:28Z</dcterms:created>
  <dcterms:modified xsi:type="dcterms:W3CDTF">2025-04-07T16:13:34Z</dcterms:modified>
</cp:coreProperties>
</file>