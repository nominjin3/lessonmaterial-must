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419" r:id="rId2"/>
    <p:sldId id="348" r:id="rId3"/>
    <p:sldId id="257" r:id="rId4"/>
    <p:sldId id="349" r:id="rId5"/>
    <p:sldId id="352" r:id="rId6"/>
    <p:sldId id="353" r:id="rId7"/>
    <p:sldId id="354" r:id="rId8"/>
    <p:sldId id="355" r:id="rId9"/>
    <p:sldId id="356" r:id="rId10"/>
    <p:sldId id="357" r:id="rId11"/>
    <p:sldId id="358" r:id="rId12"/>
    <p:sldId id="359" r:id="rId13"/>
    <p:sldId id="360" r:id="rId14"/>
    <p:sldId id="384" r:id="rId15"/>
    <p:sldId id="385" r:id="rId16"/>
    <p:sldId id="420" r:id="rId17"/>
    <p:sldId id="364" r:id="rId18"/>
    <p:sldId id="365" r:id="rId19"/>
    <p:sldId id="386" r:id="rId20"/>
    <p:sldId id="366" r:id="rId21"/>
    <p:sldId id="367" r:id="rId22"/>
    <p:sldId id="368" r:id="rId23"/>
    <p:sldId id="369" r:id="rId24"/>
    <p:sldId id="370" r:id="rId25"/>
    <p:sldId id="371" r:id="rId26"/>
    <p:sldId id="372" r:id="rId27"/>
    <p:sldId id="373" r:id="rId28"/>
    <p:sldId id="375" r:id="rId29"/>
    <p:sldId id="374" r:id="rId30"/>
    <p:sldId id="376" r:id="rId31"/>
    <p:sldId id="381" r:id="rId32"/>
    <p:sldId id="377" r:id="rId33"/>
    <p:sldId id="378" r:id="rId34"/>
    <p:sldId id="379" r:id="rId35"/>
    <p:sldId id="380" r:id="rId36"/>
    <p:sldId id="421" r:id="rId37"/>
    <p:sldId id="387" r:id="rId38"/>
    <p:sldId id="388" r:id="rId39"/>
    <p:sldId id="422" r:id="rId40"/>
    <p:sldId id="286" r:id="rId41"/>
  </p:sldIdLst>
  <p:sldSz cx="12192000" cy="6858000"/>
  <p:notesSz cx="9866313" cy="6735763"/>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0" autoAdjust="0"/>
    <p:restoredTop sz="72310" autoAdjust="0"/>
  </p:normalViewPr>
  <p:slideViewPr>
    <p:cSldViewPr snapToGrid="0">
      <p:cViewPr varScale="1">
        <p:scale>
          <a:sx n="80" d="100"/>
          <a:sy n="80" d="100"/>
        </p:scale>
        <p:origin x="20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75403" cy="337958"/>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5588627" y="0"/>
            <a:ext cx="4275403" cy="337958"/>
          </a:xfrm>
          <a:prstGeom prst="rect">
            <a:avLst/>
          </a:prstGeom>
        </p:spPr>
        <p:txBody>
          <a:bodyPr vert="horz" lIns="96661" tIns="48331" rIns="96661" bIns="48331" rtlCol="0"/>
          <a:lstStyle>
            <a:lvl1pPr algn="r">
              <a:defRPr sz="1300"/>
            </a:lvl1pPr>
          </a:lstStyle>
          <a:p>
            <a:fld id="{4C622D43-C65E-428A-89C7-8C19C0C28B05}" type="datetimeFigureOut">
              <a:rPr lang="en-US" smtClean="0"/>
              <a:t>4/8/2025</a:t>
            </a:fld>
            <a:endParaRPr lang="en-US" dirty="0"/>
          </a:p>
        </p:txBody>
      </p:sp>
      <p:sp>
        <p:nvSpPr>
          <p:cNvPr id="4" name="Slide Image Placeholder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986632" y="3241586"/>
            <a:ext cx="7893050" cy="2652207"/>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397806"/>
            <a:ext cx="4275403" cy="337957"/>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5588627" y="6397806"/>
            <a:ext cx="4275403" cy="337957"/>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2187613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966736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Тиймээс мөнгө нь цаг хугацааны үнэ цэнэтэй юм.</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3323317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1831959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19080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135168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1713323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4257951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2051515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1852128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1863328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2820372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4C33DE-4190-4FB1-B873-DCF9180D84DD}" type="slidenum">
              <a:rPr lang="en-US" smtClean="0"/>
              <a:pPr/>
              <a:t>14</a:t>
            </a:fld>
            <a:endParaRPr lang="en-US"/>
          </a:p>
        </p:txBody>
      </p:sp>
    </p:spTree>
    <p:extLst>
      <p:ext uri="{BB962C8B-B14F-4D97-AF65-F5344CB8AC3E}">
        <p14:creationId xmlns:p14="http://schemas.microsoft.com/office/powerpoint/2010/main" val="1371869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4C33DE-4190-4FB1-B873-DCF9180D84DD}" type="slidenum">
              <a:rPr lang="en-US" smtClean="0"/>
              <a:pPr/>
              <a:t>15</a:t>
            </a:fld>
            <a:endParaRPr lang="en-US"/>
          </a:p>
        </p:txBody>
      </p:sp>
    </p:spTree>
    <p:extLst>
      <p:ext uri="{BB962C8B-B14F-4D97-AF65-F5344CB8AC3E}">
        <p14:creationId xmlns:p14="http://schemas.microsoft.com/office/powerpoint/2010/main" val="348177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4C33DE-4190-4FB1-B873-DCF9180D84DD}" type="slidenum">
              <a:rPr lang="en-US" smtClean="0"/>
              <a:pPr/>
              <a:t>16</a:t>
            </a:fld>
            <a:endParaRPr lang="en-US"/>
          </a:p>
        </p:txBody>
      </p:sp>
    </p:spTree>
    <p:extLst>
      <p:ext uri="{BB962C8B-B14F-4D97-AF65-F5344CB8AC3E}">
        <p14:creationId xmlns:p14="http://schemas.microsoft.com/office/powerpoint/2010/main" val="1045727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18305776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3257809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3590395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4071536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p>
                      <m:sSupPr>
                        <m:ctrlPr>
                          <a:rPr lang="en-US" sz="1200" b="1" i="1" smtClean="0">
                            <a:solidFill>
                              <a:srgbClr val="FF0000"/>
                            </a:solidFill>
                            <a:latin typeface="Cambria Math" panose="02040503050406030204" pitchFamily="18" charset="0"/>
                          </a:rPr>
                        </m:ctrlPr>
                      </m:sSupPr>
                      <m:e>
                        <m:d>
                          <m:dPr>
                            <m:ctrlPr>
                              <a:rPr lang="en-US" sz="1200" b="1" i="1">
                                <a:solidFill>
                                  <a:srgbClr val="FF0000"/>
                                </a:solidFill>
                                <a:latin typeface="Cambria Math" panose="02040503050406030204" pitchFamily="18" charset="0"/>
                              </a:rPr>
                            </m:ctrlPr>
                          </m:dPr>
                          <m:e>
                            <m:r>
                              <a:rPr lang="en-US" sz="1200" b="1" i="1">
                                <a:solidFill>
                                  <a:srgbClr val="FF0000"/>
                                </a:solidFill>
                                <a:latin typeface="Cambria Math" panose="02040503050406030204" pitchFamily="18" charset="0"/>
                              </a:rPr>
                              <m:t>𝟏</m:t>
                            </m:r>
                            <m:r>
                              <a:rPr lang="en-US" sz="1200" b="1">
                                <a:solidFill>
                                  <a:srgbClr val="FF0000"/>
                                </a:solidFill>
                                <a:latin typeface="Cambria Math" panose="02040503050406030204" pitchFamily="18" charset="0"/>
                              </a:rPr>
                              <m:t>+</m:t>
                            </m:r>
                            <m:r>
                              <a:rPr lang="en-US" sz="1200" b="1" i="1">
                                <a:solidFill>
                                  <a:srgbClr val="FF0000"/>
                                </a:solidFill>
                                <a:latin typeface="Cambria Math" panose="02040503050406030204" pitchFamily="18" charset="0"/>
                              </a:rPr>
                              <m:t>𝒊</m:t>
                            </m:r>
                          </m:e>
                        </m:d>
                      </m:e>
                      <m:sup>
                        <m:r>
                          <a:rPr lang="en-US" sz="1200" b="1" i="1">
                            <a:solidFill>
                              <a:srgbClr val="FF0000"/>
                            </a:solidFill>
                            <a:latin typeface="Cambria Math" panose="02040503050406030204" pitchFamily="18" charset="0"/>
                          </a:rPr>
                          <m:t>𝑵</m:t>
                        </m:r>
                      </m:sup>
                    </m:sSup>
                  </m:oMath>
                </a14:m>
                <a:r>
                  <a:rPr lang="mn-MN" dirty="0"/>
                  <a:t> - </a:t>
                </a:r>
                <a:r>
                  <a:rPr lang="mn-MN" b="1" i="1" dirty="0"/>
                  <a:t>нэг удаагийн төлбөрийн хүүний хүчин зүйл </a:t>
                </a:r>
                <a:r>
                  <a:rPr lang="mn-MN" dirty="0"/>
                  <a:t>гэж нэрлэдэг. </a:t>
                </a:r>
                <a:endParaRPr lang="en-US" dirty="0"/>
              </a:p>
            </p:txBody>
          </p:sp>
        </mc:Choice>
        <mc:Fallback xmlns="">
          <p:sp>
            <p:nvSpPr>
              <p:cNvPr id="3" name="Notes Placeholder 2"/>
              <p:cNvSpPr>
                <a:spLocks noGrp="1"/>
              </p:cNvSpPr>
              <p:nvPr>
                <p:ph type="body" idx="1"/>
              </p:nvPr>
            </p:nvSpPr>
            <p:spPr/>
            <p:txBody>
              <a:bodyPr/>
              <a:lstStyle/>
              <a:p>
                <a:r>
                  <a:rPr lang="en-US" sz="1200" b="1" i="0">
                    <a:solidFill>
                      <a:srgbClr val="FF0000"/>
                    </a:solidFill>
                    <a:latin typeface="Cambria Math" panose="02040503050406030204" pitchFamily="18" charset="0"/>
                  </a:rPr>
                  <a:t>(𝟏+𝒊)^𝑵</a:t>
                </a:r>
                <a:r>
                  <a:rPr lang="mn-MN" dirty="0"/>
                  <a:t> - </a:t>
                </a:r>
                <a:r>
                  <a:rPr lang="mn-MN" b="1" i="1" dirty="0"/>
                  <a:t>нэг удаагийн төлбөрийн хүүний хүчин зүйл </a:t>
                </a:r>
                <a:r>
                  <a:rPr lang="mn-MN" dirty="0"/>
                  <a:t>гэж нэрлэдэг. </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4154276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r>
                              <a:rPr lang="mn-MN" i="1">
                                <a:latin typeface="Cambria Math" panose="02040503050406030204" pitchFamily="18" charset="0"/>
                              </a:rPr>
                              <m:t>1+</m:t>
                            </m:r>
                            <m:r>
                              <a:rPr lang="mn-MN" i="1">
                                <a:latin typeface="Cambria Math" panose="02040503050406030204" pitchFamily="18" charset="0"/>
                              </a:rPr>
                              <m:t>𝑖</m:t>
                            </m:r>
                          </m:e>
                        </m:d>
                      </m:e>
                      <m:sup>
                        <m:r>
                          <a:rPr lang="mn-MN" i="1">
                            <a:latin typeface="Cambria Math" panose="02040503050406030204" pitchFamily="18" charset="0"/>
                          </a:rPr>
                          <m:t>−</m:t>
                        </m:r>
                        <m:r>
                          <a:rPr lang="mn-MN" i="1">
                            <a:latin typeface="Cambria Math" panose="02040503050406030204" pitchFamily="18" charset="0"/>
                          </a:rPr>
                          <m:t>𝑁</m:t>
                        </m:r>
                      </m:sup>
                    </m:sSup>
                  </m:oMath>
                </a14:m>
                <a:r>
                  <a:rPr lang="en-US" dirty="0"/>
                  <a:t> </a:t>
                </a:r>
                <a:r>
                  <a:rPr lang="mn-MN" dirty="0"/>
                  <a:t>- </a:t>
                </a:r>
                <a:r>
                  <a:rPr lang="mn-MN" b="1" i="1" dirty="0"/>
                  <a:t>нэг удаагийн төлбөрийн өнөөгийн үнэ цэнийн хүүний хүчин зүйл</a:t>
                </a:r>
                <a:r>
                  <a:rPr lang="en-US" b="1" i="1" dirty="0"/>
                  <a:t> </a:t>
                </a:r>
                <a:r>
                  <a:rPr lang="mn-MN" dirty="0"/>
                  <a:t>гэж нэрлэдэг. </a:t>
                </a:r>
                <a:endParaRPr lang="en-US" dirty="0"/>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a:t>
                </a:r>
                <a:r>
                  <a:rPr lang="mn-MN" i="0">
                    <a:latin typeface="Cambria Math" panose="02040503050406030204" pitchFamily="18" charset="0"/>
                  </a:rPr>
                  <a:t>1+𝑖)</a:t>
                </a:r>
                <a:r>
                  <a:rPr lang="en-US" i="0">
                    <a:latin typeface="Cambria Math" panose="02040503050406030204" pitchFamily="18" charset="0"/>
                  </a:rPr>
                  <a:t>^(</a:t>
                </a:r>
                <a:r>
                  <a:rPr lang="mn-MN" i="0">
                    <a:latin typeface="Cambria Math" panose="02040503050406030204" pitchFamily="18" charset="0"/>
                  </a:rPr>
                  <a:t>−𝑁</a:t>
                </a:r>
                <a:r>
                  <a:rPr lang="en-US" i="0">
                    <a:latin typeface="Cambria Math" panose="02040503050406030204" pitchFamily="18" charset="0"/>
                  </a:rPr>
                  <a:t>)</a:t>
                </a:r>
                <a:r>
                  <a:rPr lang="en-US" dirty="0"/>
                  <a:t> </a:t>
                </a:r>
                <a:r>
                  <a:rPr lang="mn-MN" dirty="0"/>
                  <a:t>- </a:t>
                </a:r>
                <a:r>
                  <a:rPr lang="mn-MN" b="1" i="1" dirty="0"/>
                  <a:t>нэг удаагийн төлбөрийн өнөөгийн үнэ цэнийн хүүний хүчин зүйл</a:t>
                </a:r>
                <a:r>
                  <a:rPr lang="en-US" b="1" i="1" dirty="0"/>
                  <a:t> </a:t>
                </a:r>
                <a:r>
                  <a:rPr lang="mn-MN" dirty="0"/>
                  <a:t>гэж нэрлэдэг. </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3972986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4079250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320377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2733432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19928439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1592200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4749012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d>
                      <m:dPr>
                        <m:begChr m:val="["/>
                        <m:endChr m:val="]"/>
                        <m:ctrlPr>
                          <a:rPr lang="en-US" sz="1200" i="1" smtClean="0">
                            <a:latin typeface="Cambria Math" panose="02040503050406030204" pitchFamily="18" charset="0"/>
                          </a:rPr>
                        </m:ctrlPr>
                      </m:dPr>
                      <m:e>
                        <m:f>
                          <m:fPr>
                            <m:ctrlPr>
                              <a:rPr lang="en-US" sz="1200" i="1">
                                <a:latin typeface="Cambria Math" panose="02040503050406030204" pitchFamily="18" charset="0"/>
                              </a:rPr>
                            </m:ctrlPr>
                          </m:fPr>
                          <m:num>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mn-MN" sz="1200" i="1">
                                        <a:latin typeface="Cambria Math" panose="02040503050406030204" pitchFamily="18" charset="0"/>
                                      </a:rPr>
                                      <m:t>1+</m:t>
                                    </m:r>
                                    <m:r>
                                      <a:rPr lang="mn-MN" sz="1200" i="1">
                                        <a:latin typeface="Cambria Math" panose="02040503050406030204" pitchFamily="18" charset="0"/>
                                      </a:rPr>
                                      <m:t>𝑖</m:t>
                                    </m:r>
                                  </m:e>
                                </m:d>
                              </m:e>
                              <m:sup>
                                <m:r>
                                  <a:rPr lang="mn-MN" sz="1200" i="1">
                                    <a:latin typeface="Cambria Math" panose="02040503050406030204" pitchFamily="18" charset="0"/>
                                  </a:rPr>
                                  <m:t>𝑁</m:t>
                                </m:r>
                              </m:sup>
                            </m:sSup>
                            <m:r>
                              <a:rPr lang="mn-MN" sz="1200" i="1">
                                <a:latin typeface="Cambria Math" panose="02040503050406030204" pitchFamily="18" charset="0"/>
                              </a:rPr>
                              <m:t>−1</m:t>
                            </m:r>
                          </m:num>
                          <m:den>
                            <m:r>
                              <a:rPr lang="mn-MN" sz="1200" i="1">
                                <a:latin typeface="Cambria Math" panose="02040503050406030204" pitchFamily="18" charset="0"/>
                              </a:rPr>
                              <m:t>𝑖</m:t>
                            </m:r>
                          </m:den>
                        </m:f>
                      </m:e>
                    </m:d>
                  </m:oMath>
                </a14:m>
                <a:r>
                  <a:rPr lang="mn-MN" dirty="0"/>
                  <a:t> - </a:t>
                </a:r>
                <a:r>
                  <a:rPr lang="mn-MN" sz="1200" b="1" i="1" dirty="0">
                    <a:solidFill>
                      <a:srgbClr val="002060"/>
                    </a:solidFill>
                  </a:rPr>
                  <a:t>үе тутмын тэнцүү төлбөрийн хүүний хүчин зүйл </a:t>
                </a:r>
                <a:r>
                  <a:rPr lang="mn-MN" sz="1200" dirty="0">
                    <a:solidFill>
                      <a:srgbClr val="002060"/>
                    </a:solidFill>
                  </a:rPr>
                  <a:t>гэж нэрлэдэг.</a:t>
                </a:r>
                <a:endParaRPr lang="en-US" dirty="0"/>
              </a:p>
            </p:txBody>
          </p:sp>
        </mc:Choice>
        <mc:Fallback xmlns="">
          <p:sp>
            <p:nvSpPr>
              <p:cNvPr id="3" name="Notes Placeholder 2"/>
              <p:cNvSpPr>
                <a:spLocks noGrp="1"/>
              </p:cNvSpPr>
              <p:nvPr>
                <p:ph type="body" idx="1"/>
              </p:nvPr>
            </p:nvSpPr>
            <p:spPr/>
            <p:txBody>
              <a:bodyPr/>
              <a:lstStyle/>
              <a:p>
                <a:r>
                  <a:rPr lang="en-US" sz="1200" i="0">
                    <a:latin typeface="Cambria Math" panose="02040503050406030204" pitchFamily="18" charset="0"/>
                  </a:rPr>
                  <a:t>[((</a:t>
                </a:r>
                <a:r>
                  <a:rPr lang="mn-MN" sz="1200" i="0">
                    <a:latin typeface="Cambria Math" panose="02040503050406030204" pitchFamily="18" charset="0"/>
                  </a:rPr>
                  <a:t>1+𝑖)</a:t>
                </a:r>
                <a:r>
                  <a:rPr lang="en-US" sz="1200" i="0">
                    <a:latin typeface="Cambria Math" panose="02040503050406030204" pitchFamily="18" charset="0"/>
                  </a:rPr>
                  <a:t>^</a:t>
                </a:r>
                <a:r>
                  <a:rPr lang="mn-MN" sz="1200" i="0">
                    <a:latin typeface="Cambria Math" panose="02040503050406030204" pitchFamily="18" charset="0"/>
                  </a:rPr>
                  <a:t>𝑁−1</a:t>
                </a:r>
                <a:r>
                  <a:rPr lang="en-US" sz="1200" i="0">
                    <a:latin typeface="Cambria Math" panose="02040503050406030204" pitchFamily="18" charset="0"/>
                  </a:rPr>
                  <a:t>)/</a:t>
                </a:r>
                <a:r>
                  <a:rPr lang="mn-MN" sz="1200" i="0">
                    <a:latin typeface="Cambria Math" panose="02040503050406030204" pitchFamily="18" charset="0"/>
                  </a:rPr>
                  <a:t>𝑖]</a:t>
                </a:r>
                <a:r>
                  <a:rPr lang="mn-MN" dirty="0"/>
                  <a:t> - </a:t>
                </a:r>
                <a:r>
                  <a:rPr lang="mn-MN" sz="1200" b="1" i="1" dirty="0">
                    <a:solidFill>
                      <a:srgbClr val="002060"/>
                    </a:solidFill>
                  </a:rPr>
                  <a:t>үе тутмын тэнцүү төлбөрийн хүүний хүчин зүйл </a:t>
                </a:r>
                <a:r>
                  <a:rPr lang="mn-MN" sz="1200" dirty="0">
                    <a:solidFill>
                      <a:srgbClr val="002060"/>
                    </a:solidFill>
                  </a:rPr>
                  <a:t>гэж нэрлэдэг.</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73097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d>
                      <m:dPr>
                        <m:begChr m:val="["/>
                        <m:endChr m:val="]"/>
                        <m:ctrlPr>
                          <a:rPr lang="en-US" sz="1200" b="1" i="1" smtClean="0">
                            <a:solidFill>
                              <a:srgbClr val="FF0000"/>
                            </a:solidFill>
                            <a:latin typeface="Cambria Math" panose="02040503050406030204" pitchFamily="18" charset="0"/>
                          </a:rPr>
                        </m:ctrlPr>
                      </m:dPr>
                      <m:e>
                        <m:f>
                          <m:fPr>
                            <m:ctrlPr>
                              <a:rPr lang="en-US" sz="1200" b="1" i="1">
                                <a:solidFill>
                                  <a:srgbClr val="FF0000"/>
                                </a:solidFill>
                                <a:latin typeface="Cambria Math" panose="02040503050406030204" pitchFamily="18" charset="0"/>
                              </a:rPr>
                            </m:ctrlPr>
                          </m:fPr>
                          <m:num>
                            <m:sSup>
                              <m:sSupPr>
                                <m:ctrlPr>
                                  <a:rPr lang="en-US" sz="1200" b="1" i="1">
                                    <a:solidFill>
                                      <a:srgbClr val="FF0000"/>
                                    </a:solidFill>
                                    <a:latin typeface="Cambria Math" panose="02040503050406030204" pitchFamily="18" charset="0"/>
                                  </a:rPr>
                                </m:ctrlPr>
                              </m:sSupPr>
                              <m:e>
                                <m:d>
                                  <m:dPr>
                                    <m:ctrlPr>
                                      <a:rPr lang="en-US" sz="1200" b="1" i="1">
                                        <a:solidFill>
                                          <a:srgbClr val="FF0000"/>
                                        </a:solidFill>
                                        <a:latin typeface="Cambria Math" panose="02040503050406030204" pitchFamily="18" charset="0"/>
                                      </a:rPr>
                                    </m:ctrlPr>
                                  </m:dPr>
                                  <m:e>
                                    <m:r>
                                      <a:rPr lang="mn-MN" sz="1200" b="1" i="1">
                                        <a:solidFill>
                                          <a:srgbClr val="FF0000"/>
                                        </a:solidFill>
                                        <a:latin typeface="Cambria Math" panose="02040503050406030204" pitchFamily="18" charset="0"/>
                                      </a:rPr>
                                      <m:t>𝟏</m:t>
                                    </m:r>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𝒊</m:t>
                                    </m:r>
                                  </m:e>
                                </m:d>
                              </m:e>
                              <m:sup>
                                <m:r>
                                  <a:rPr lang="mn-MN" sz="1200" b="1" i="1">
                                    <a:solidFill>
                                      <a:srgbClr val="FF0000"/>
                                    </a:solidFill>
                                    <a:latin typeface="Cambria Math" panose="02040503050406030204" pitchFamily="18" charset="0"/>
                                  </a:rPr>
                                  <m:t>𝑵</m:t>
                                </m:r>
                              </m:sup>
                            </m:sSup>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𝟏</m:t>
                            </m:r>
                          </m:num>
                          <m:den>
                            <m:r>
                              <a:rPr lang="mn-MN" sz="1200" b="1" i="1">
                                <a:solidFill>
                                  <a:srgbClr val="FF0000"/>
                                </a:solidFill>
                                <a:latin typeface="Cambria Math" panose="02040503050406030204" pitchFamily="18" charset="0"/>
                              </a:rPr>
                              <m:t>𝒊</m:t>
                            </m:r>
                            <m:sSup>
                              <m:sSupPr>
                                <m:ctrlPr>
                                  <a:rPr lang="en-US" sz="1200" b="1" i="1">
                                    <a:solidFill>
                                      <a:srgbClr val="FF0000"/>
                                    </a:solidFill>
                                    <a:latin typeface="Cambria Math" panose="02040503050406030204" pitchFamily="18" charset="0"/>
                                  </a:rPr>
                                </m:ctrlPr>
                              </m:sSupPr>
                              <m:e>
                                <m:d>
                                  <m:dPr>
                                    <m:ctrlPr>
                                      <a:rPr lang="en-US" sz="1200" b="1" i="1">
                                        <a:solidFill>
                                          <a:srgbClr val="FF0000"/>
                                        </a:solidFill>
                                        <a:latin typeface="Cambria Math" panose="02040503050406030204" pitchFamily="18" charset="0"/>
                                      </a:rPr>
                                    </m:ctrlPr>
                                  </m:dPr>
                                  <m:e>
                                    <m:r>
                                      <a:rPr lang="mn-MN" sz="1200" b="1" i="1">
                                        <a:solidFill>
                                          <a:srgbClr val="FF0000"/>
                                        </a:solidFill>
                                        <a:latin typeface="Cambria Math" panose="02040503050406030204" pitchFamily="18" charset="0"/>
                                      </a:rPr>
                                      <m:t>𝟏</m:t>
                                    </m:r>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𝒊</m:t>
                                    </m:r>
                                  </m:e>
                                </m:d>
                              </m:e>
                              <m:sup>
                                <m:r>
                                  <a:rPr lang="mn-MN" sz="1200" b="1" i="1">
                                    <a:solidFill>
                                      <a:srgbClr val="FF0000"/>
                                    </a:solidFill>
                                    <a:latin typeface="Cambria Math" panose="02040503050406030204" pitchFamily="18" charset="0"/>
                                  </a:rPr>
                                  <m:t>𝑵</m:t>
                                </m:r>
                              </m:sup>
                            </m:sSup>
                          </m:den>
                        </m:f>
                      </m:e>
                    </m:d>
                  </m:oMath>
                </a14:m>
                <a:r>
                  <a:rPr lang="mn-MN" dirty="0"/>
                  <a:t> - </a:t>
                </a:r>
                <a:r>
                  <a:rPr lang="mn-MN" b="1" i="1" dirty="0"/>
                  <a:t>үе тутмын тэнцүү төлбөрийн өнөөгийн үнэ цэнийн хүүний хүчин зүйл</a:t>
                </a:r>
                <a:r>
                  <a:rPr lang="mn-MN" i="1" dirty="0"/>
                  <a:t> </a:t>
                </a:r>
                <a:r>
                  <a:rPr lang="mn-MN" sz="1200" dirty="0">
                    <a:solidFill>
                      <a:srgbClr val="002060"/>
                    </a:solidFill>
                  </a:rPr>
                  <a:t>гэж нэрлэдэг.</a:t>
                </a:r>
                <a:endParaRPr lang="en-US" dirty="0"/>
              </a:p>
            </p:txBody>
          </p:sp>
        </mc:Choice>
        <mc:Fallback xmlns="">
          <p:sp>
            <p:nvSpPr>
              <p:cNvPr id="3" name="Notes Placeholder 2"/>
              <p:cNvSpPr>
                <a:spLocks noGrp="1"/>
              </p:cNvSpPr>
              <p:nvPr>
                <p:ph type="body" idx="1"/>
              </p:nvPr>
            </p:nvSpPr>
            <p:spPr/>
            <p:txBody>
              <a:bodyPr/>
              <a:lstStyle/>
              <a:p>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𝟏+𝒊)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𝑵−𝟏</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𝟏+𝒊)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𝑵 </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a:t>
                </a:r>
                <a:r>
                  <a:rPr lang="mn-MN" dirty="0"/>
                  <a:t> - </a:t>
                </a:r>
                <a:r>
                  <a:rPr lang="mn-MN" b="1" i="1" dirty="0"/>
                  <a:t>үе тутмын тэнцүү төлбөрийн өнөөгийн үнэ цэнийн хүүний хүчин зүйл</a:t>
                </a:r>
                <a:r>
                  <a:rPr lang="mn-MN" i="1" dirty="0"/>
                  <a:t> </a:t>
                </a:r>
                <a:r>
                  <a:rPr lang="mn-MN" sz="1200" dirty="0">
                    <a:solidFill>
                      <a:srgbClr val="002060"/>
                    </a:solidFill>
                  </a:rPr>
                  <a:t>гэж нэрлэдэг.</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16613571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d>
                      <m:dPr>
                        <m:begChr m:val="["/>
                        <m:endChr m:val="]"/>
                        <m:ctrlPr>
                          <a:rPr lang="en-US" b="1" i="1" smtClean="0">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r>
                              <a:rPr lang="mn-MN" b="1" i="1">
                                <a:solidFill>
                                  <a:srgbClr val="FF0000"/>
                                </a:solidFill>
                                <a:latin typeface="Cambria Math" panose="02040503050406030204" pitchFamily="18" charset="0"/>
                              </a:rPr>
                              <m:t>𝒊</m:t>
                            </m:r>
                          </m:num>
                          <m:den>
                            <m:sSup>
                              <m:sSupPr>
                                <m:ctrlPr>
                                  <a:rPr lang="en-US" b="1" i="1">
                                    <a:solidFill>
                                      <a:srgbClr val="FF0000"/>
                                    </a:solidFill>
                                    <a:latin typeface="Cambria Math" panose="02040503050406030204" pitchFamily="18" charset="0"/>
                                  </a:rPr>
                                </m:ctrlPr>
                              </m:sSupPr>
                              <m:e>
                                <m:d>
                                  <m:dPr>
                                    <m:ctrlPr>
                                      <a:rPr lang="en-US" b="1" i="1">
                                        <a:solidFill>
                                          <a:srgbClr val="FF0000"/>
                                        </a:solidFill>
                                        <a:latin typeface="Cambria Math" panose="02040503050406030204" pitchFamily="18" charset="0"/>
                                      </a:rPr>
                                    </m:ctrlPr>
                                  </m:dPr>
                                  <m:e>
                                    <m:r>
                                      <a:rPr lang="mn-MN" b="1" i="1">
                                        <a:solidFill>
                                          <a:srgbClr val="FF0000"/>
                                        </a:solidFill>
                                        <a:latin typeface="Cambria Math" panose="02040503050406030204" pitchFamily="18" charset="0"/>
                                      </a:rPr>
                                      <m:t>𝟏</m:t>
                                    </m:r>
                                    <m:r>
                                      <a:rPr lang="mn-MN" b="1" i="1">
                                        <a:solidFill>
                                          <a:srgbClr val="FF0000"/>
                                        </a:solidFill>
                                        <a:latin typeface="Cambria Math" panose="02040503050406030204" pitchFamily="18" charset="0"/>
                                      </a:rPr>
                                      <m:t>+</m:t>
                                    </m:r>
                                    <m:r>
                                      <a:rPr lang="mn-MN" b="1" i="1">
                                        <a:solidFill>
                                          <a:srgbClr val="FF0000"/>
                                        </a:solidFill>
                                        <a:latin typeface="Cambria Math" panose="02040503050406030204" pitchFamily="18" charset="0"/>
                                      </a:rPr>
                                      <m:t>𝒊</m:t>
                                    </m:r>
                                  </m:e>
                                </m:d>
                              </m:e>
                              <m:sup>
                                <m:r>
                                  <a:rPr lang="mn-MN" b="1" i="1">
                                    <a:solidFill>
                                      <a:srgbClr val="FF0000"/>
                                    </a:solidFill>
                                    <a:latin typeface="Cambria Math" panose="02040503050406030204" pitchFamily="18" charset="0"/>
                                  </a:rPr>
                                  <m:t>𝑵</m:t>
                                </m:r>
                              </m:sup>
                            </m:sSup>
                            <m:r>
                              <a:rPr lang="mn-MN" b="1" i="1">
                                <a:solidFill>
                                  <a:srgbClr val="FF0000"/>
                                </a:solidFill>
                                <a:latin typeface="Cambria Math" panose="02040503050406030204" pitchFamily="18" charset="0"/>
                              </a:rPr>
                              <m:t>−</m:t>
                            </m:r>
                            <m:r>
                              <a:rPr lang="mn-MN" b="1" i="1">
                                <a:solidFill>
                                  <a:srgbClr val="FF0000"/>
                                </a:solidFill>
                                <a:latin typeface="Cambria Math" panose="02040503050406030204" pitchFamily="18" charset="0"/>
                              </a:rPr>
                              <m:t>𝟏</m:t>
                            </m:r>
                          </m:den>
                        </m:f>
                      </m:e>
                    </m:d>
                  </m:oMath>
                </a14:m>
                <a:r>
                  <a:rPr lang="mn-MN" dirty="0"/>
                  <a:t> - </a:t>
                </a:r>
                <a:r>
                  <a:rPr lang="mn-MN" b="1" i="1" dirty="0"/>
                  <a:t>хуримтлалын хүүний хүчин зүйл </a:t>
                </a:r>
                <a:r>
                  <a:rPr lang="mn-MN" sz="1200" dirty="0">
                    <a:solidFill>
                      <a:srgbClr val="002060"/>
                    </a:solidFill>
                  </a:rPr>
                  <a:t>гэж нэрлэдэг.</a:t>
                </a:r>
                <a:endParaRPr lang="en-US" dirty="0"/>
              </a:p>
            </p:txBody>
          </p:sp>
        </mc:Choice>
        <mc:Fallback xmlns="">
          <p:sp>
            <p:nvSpPr>
              <p:cNvPr id="3" name="Notes Placeholder 2"/>
              <p:cNvSpPr>
                <a:spLocks noGrp="1"/>
              </p:cNvSpPr>
              <p:nvPr>
                <p:ph type="body" idx="1"/>
              </p:nvPr>
            </p:nvSpPr>
            <p:spPr/>
            <p:txBody>
              <a:bodyPr/>
              <a:lstStyle/>
              <a:p>
                <a:r>
                  <a:rPr lang="en-US" b="1" i="0">
                    <a:solidFill>
                      <a:srgbClr val="FF0000"/>
                    </a:solidFill>
                    <a:latin typeface="Cambria Math" panose="02040503050406030204" pitchFamily="18" charset="0"/>
                  </a:rPr>
                  <a:t>[</a:t>
                </a:r>
                <a:r>
                  <a:rPr lang="mn-MN" b="1" i="0">
                    <a:solidFill>
                      <a:srgbClr val="FF0000"/>
                    </a:solidFill>
                    <a:latin typeface="Cambria Math" panose="02040503050406030204" pitchFamily="18" charset="0"/>
                  </a:rPr>
                  <a:t>𝒊</a:t>
                </a:r>
                <a:r>
                  <a:rPr lang="en-US" b="1" i="0">
                    <a:solidFill>
                      <a:srgbClr val="FF0000"/>
                    </a:solidFill>
                    <a:latin typeface="Cambria Math" panose="02040503050406030204" pitchFamily="18" charset="0"/>
                  </a:rPr>
                  <a:t>/((</a:t>
                </a:r>
                <a:r>
                  <a:rPr lang="mn-MN" b="1" i="0">
                    <a:solidFill>
                      <a:srgbClr val="FF0000"/>
                    </a:solidFill>
                    <a:latin typeface="Cambria Math" panose="02040503050406030204" pitchFamily="18" charset="0"/>
                  </a:rPr>
                  <a:t>𝟏+𝒊)</a:t>
                </a:r>
                <a:r>
                  <a:rPr lang="en-US" b="1" i="0">
                    <a:solidFill>
                      <a:srgbClr val="FF0000"/>
                    </a:solidFill>
                    <a:latin typeface="Cambria Math" panose="02040503050406030204" pitchFamily="18" charset="0"/>
                  </a:rPr>
                  <a:t>^</a:t>
                </a:r>
                <a:r>
                  <a:rPr lang="mn-MN" b="1" i="0">
                    <a:solidFill>
                      <a:srgbClr val="FF0000"/>
                    </a:solidFill>
                    <a:latin typeface="Cambria Math" panose="02040503050406030204" pitchFamily="18" charset="0"/>
                  </a:rPr>
                  <a:t>𝑵−𝟏</a:t>
                </a:r>
                <a:r>
                  <a:rPr lang="en-US" b="1" i="0">
                    <a:solidFill>
                      <a:srgbClr val="FF0000"/>
                    </a:solidFill>
                    <a:latin typeface="Cambria Math" panose="02040503050406030204" pitchFamily="18" charset="0"/>
                  </a:rPr>
                  <a:t>)</a:t>
                </a:r>
                <a:r>
                  <a:rPr lang="mn-MN" b="1" i="0">
                    <a:solidFill>
                      <a:srgbClr val="FF0000"/>
                    </a:solidFill>
                    <a:latin typeface="Cambria Math" panose="02040503050406030204" pitchFamily="18" charset="0"/>
                  </a:rPr>
                  <a:t>]</a:t>
                </a:r>
                <a:r>
                  <a:rPr lang="mn-MN" dirty="0"/>
                  <a:t> - </a:t>
                </a:r>
                <a:r>
                  <a:rPr lang="mn-MN" b="1" i="1" dirty="0"/>
                  <a:t>хуримтлалын хүүний хүчин зүйл </a:t>
                </a:r>
                <a:r>
                  <a:rPr lang="mn-MN" sz="1200" dirty="0">
                    <a:solidFill>
                      <a:srgbClr val="002060"/>
                    </a:solidFill>
                  </a:rPr>
                  <a:t>гэж нэрлэдэг.</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6273336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d>
                      <m:dPr>
                        <m:begChr m:val="["/>
                        <m:endChr m:val="]"/>
                        <m:ctrlPr>
                          <a:rPr lang="en-US" sz="1200" b="1" i="1" smtClean="0">
                            <a:solidFill>
                              <a:srgbClr val="FF0000"/>
                            </a:solidFill>
                            <a:latin typeface="Cambria Math" panose="02040503050406030204" pitchFamily="18" charset="0"/>
                          </a:rPr>
                        </m:ctrlPr>
                      </m:dPr>
                      <m:e>
                        <m:f>
                          <m:fPr>
                            <m:ctrlPr>
                              <a:rPr lang="en-US" sz="1200" b="1" i="1">
                                <a:solidFill>
                                  <a:srgbClr val="FF0000"/>
                                </a:solidFill>
                                <a:latin typeface="Cambria Math" panose="02040503050406030204" pitchFamily="18" charset="0"/>
                              </a:rPr>
                            </m:ctrlPr>
                          </m:fPr>
                          <m:num>
                            <m:r>
                              <a:rPr lang="mn-MN" sz="1200" b="1" i="1">
                                <a:solidFill>
                                  <a:srgbClr val="FF0000"/>
                                </a:solidFill>
                                <a:latin typeface="Cambria Math" panose="02040503050406030204" pitchFamily="18" charset="0"/>
                              </a:rPr>
                              <m:t>𝒊</m:t>
                            </m:r>
                            <m:sSup>
                              <m:sSupPr>
                                <m:ctrlPr>
                                  <a:rPr lang="en-US" sz="1200" b="1" i="1">
                                    <a:solidFill>
                                      <a:srgbClr val="FF0000"/>
                                    </a:solidFill>
                                    <a:latin typeface="Cambria Math" panose="02040503050406030204" pitchFamily="18" charset="0"/>
                                  </a:rPr>
                                </m:ctrlPr>
                              </m:sSupPr>
                              <m:e>
                                <m:d>
                                  <m:dPr>
                                    <m:ctrlPr>
                                      <a:rPr lang="en-US" sz="1200" b="1" i="1">
                                        <a:solidFill>
                                          <a:srgbClr val="FF0000"/>
                                        </a:solidFill>
                                        <a:latin typeface="Cambria Math" panose="02040503050406030204" pitchFamily="18" charset="0"/>
                                      </a:rPr>
                                    </m:ctrlPr>
                                  </m:dPr>
                                  <m:e>
                                    <m:r>
                                      <a:rPr lang="mn-MN" sz="1200" b="1" i="1">
                                        <a:solidFill>
                                          <a:srgbClr val="FF0000"/>
                                        </a:solidFill>
                                        <a:latin typeface="Cambria Math" panose="02040503050406030204" pitchFamily="18" charset="0"/>
                                      </a:rPr>
                                      <m:t>𝟏</m:t>
                                    </m:r>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𝒊</m:t>
                                    </m:r>
                                  </m:e>
                                </m:d>
                              </m:e>
                              <m:sup>
                                <m:r>
                                  <a:rPr lang="mn-MN" sz="1200" b="1" i="1">
                                    <a:solidFill>
                                      <a:srgbClr val="FF0000"/>
                                    </a:solidFill>
                                    <a:latin typeface="Cambria Math" panose="02040503050406030204" pitchFamily="18" charset="0"/>
                                  </a:rPr>
                                  <m:t>𝑵</m:t>
                                </m:r>
                              </m:sup>
                            </m:sSup>
                          </m:num>
                          <m:den>
                            <m:sSup>
                              <m:sSupPr>
                                <m:ctrlPr>
                                  <a:rPr lang="en-US" sz="1200" b="1" i="1">
                                    <a:solidFill>
                                      <a:srgbClr val="FF0000"/>
                                    </a:solidFill>
                                    <a:latin typeface="Cambria Math" panose="02040503050406030204" pitchFamily="18" charset="0"/>
                                  </a:rPr>
                                </m:ctrlPr>
                              </m:sSupPr>
                              <m:e>
                                <m:d>
                                  <m:dPr>
                                    <m:ctrlPr>
                                      <a:rPr lang="en-US" sz="1200" b="1" i="1">
                                        <a:solidFill>
                                          <a:srgbClr val="FF0000"/>
                                        </a:solidFill>
                                        <a:latin typeface="Cambria Math" panose="02040503050406030204" pitchFamily="18" charset="0"/>
                                      </a:rPr>
                                    </m:ctrlPr>
                                  </m:dPr>
                                  <m:e>
                                    <m:r>
                                      <a:rPr lang="mn-MN" sz="1200" b="1" i="1">
                                        <a:solidFill>
                                          <a:srgbClr val="FF0000"/>
                                        </a:solidFill>
                                        <a:latin typeface="Cambria Math" panose="02040503050406030204" pitchFamily="18" charset="0"/>
                                      </a:rPr>
                                      <m:t>𝟏</m:t>
                                    </m:r>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𝒊</m:t>
                                    </m:r>
                                  </m:e>
                                </m:d>
                              </m:e>
                              <m:sup>
                                <m:r>
                                  <a:rPr lang="mn-MN" sz="1200" b="1" i="1">
                                    <a:solidFill>
                                      <a:srgbClr val="FF0000"/>
                                    </a:solidFill>
                                    <a:latin typeface="Cambria Math" panose="02040503050406030204" pitchFamily="18" charset="0"/>
                                  </a:rPr>
                                  <m:t>𝑵</m:t>
                                </m:r>
                              </m:sup>
                            </m:sSup>
                            <m:r>
                              <a:rPr lang="mn-MN" sz="1200" b="1" i="1">
                                <a:solidFill>
                                  <a:srgbClr val="FF0000"/>
                                </a:solidFill>
                                <a:latin typeface="Cambria Math" panose="02040503050406030204" pitchFamily="18" charset="0"/>
                              </a:rPr>
                              <m:t>−</m:t>
                            </m:r>
                            <m:r>
                              <a:rPr lang="mn-MN" sz="1200" b="1" i="1">
                                <a:solidFill>
                                  <a:srgbClr val="FF0000"/>
                                </a:solidFill>
                                <a:latin typeface="Cambria Math" panose="02040503050406030204" pitchFamily="18" charset="0"/>
                              </a:rPr>
                              <m:t>𝟏</m:t>
                            </m:r>
                          </m:den>
                        </m:f>
                      </m:e>
                    </m:d>
                  </m:oMath>
                </a14:m>
                <a:r>
                  <a:rPr lang="en-US" dirty="0"/>
                  <a:t> </a:t>
                </a:r>
                <a:r>
                  <a:rPr lang="mn-MN" dirty="0"/>
                  <a:t>- </a:t>
                </a:r>
                <a:r>
                  <a:rPr lang="mn-MN" b="1" i="1" dirty="0"/>
                  <a:t>капиталыг нөхөн сэргээх хүчин зүйл </a:t>
                </a:r>
                <a:r>
                  <a:rPr lang="mn-MN" sz="1200" dirty="0">
                    <a:solidFill>
                      <a:srgbClr val="002060"/>
                    </a:solidFill>
                  </a:rPr>
                  <a:t>гэж нэрлэдэг.</a:t>
                </a:r>
                <a:endParaRPr lang="en-US" dirty="0"/>
              </a:p>
            </p:txBody>
          </p:sp>
        </mc:Choice>
        <mc:Fallback xmlns="">
          <p:sp>
            <p:nvSpPr>
              <p:cNvPr id="3" name="Notes Placeholder 2"/>
              <p:cNvSpPr>
                <a:spLocks noGrp="1"/>
              </p:cNvSpPr>
              <p:nvPr>
                <p:ph type="body" idx="1"/>
              </p:nvPr>
            </p:nvSpPr>
            <p:spPr/>
            <p:txBody>
              <a:bodyPr/>
              <a:lstStyle/>
              <a:p>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𝟏+𝒊)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𝑵</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𝟏+𝒊)</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𝑵−𝟏</a:t>
                </a:r>
                <a:r>
                  <a:rPr lang="en-US" sz="1200" b="1" i="0">
                    <a:solidFill>
                      <a:srgbClr val="FF0000"/>
                    </a:solidFill>
                    <a:latin typeface="Cambria Math" panose="02040503050406030204" pitchFamily="18" charset="0"/>
                  </a:rPr>
                  <a:t>)</a:t>
                </a:r>
                <a:r>
                  <a:rPr lang="mn-MN" sz="1200" b="1" i="0">
                    <a:solidFill>
                      <a:srgbClr val="FF0000"/>
                    </a:solidFill>
                    <a:latin typeface="Cambria Math" panose="02040503050406030204" pitchFamily="18" charset="0"/>
                  </a:rPr>
                  <a:t>]</a:t>
                </a:r>
                <a:r>
                  <a:rPr lang="en-US" dirty="0"/>
                  <a:t> </a:t>
                </a:r>
                <a:r>
                  <a:rPr lang="mn-MN" dirty="0"/>
                  <a:t>- </a:t>
                </a:r>
                <a:r>
                  <a:rPr lang="mn-MN" b="1" i="1" dirty="0"/>
                  <a:t>капиталыг нөхөн сэргээх хүчин зүйл </a:t>
                </a:r>
                <a:r>
                  <a:rPr lang="mn-MN" sz="1200" dirty="0">
                    <a:solidFill>
                      <a:srgbClr val="002060"/>
                    </a:solidFill>
                  </a:rPr>
                  <a:t>гэж нэрлэдэг.</a:t>
                </a:r>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1543452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33</a:t>
            </a:fld>
            <a:endParaRPr lang="en-US" dirty="0"/>
          </a:p>
        </p:txBody>
      </p:sp>
    </p:spTree>
    <p:extLst>
      <p:ext uri="{BB962C8B-B14F-4D97-AF65-F5344CB8AC3E}">
        <p14:creationId xmlns:p14="http://schemas.microsoft.com/office/powerpoint/2010/main" val="2797254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34</a:t>
            </a:fld>
            <a:endParaRPr lang="en-US" dirty="0"/>
          </a:p>
        </p:txBody>
      </p:sp>
    </p:spTree>
    <p:extLst>
      <p:ext uri="{BB962C8B-B14F-4D97-AF65-F5344CB8AC3E}">
        <p14:creationId xmlns:p14="http://schemas.microsoft.com/office/powerpoint/2010/main" val="21687190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35</a:t>
            </a:fld>
            <a:endParaRPr lang="en-US" dirty="0"/>
          </a:p>
        </p:txBody>
      </p:sp>
    </p:spTree>
    <p:extLst>
      <p:ext uri="{BB962C8B-B14F-4D97-AF65-F5344CB8AC3E}">
        <p14:creationId xmlns:p14="http://schemas.microsoft.com/office/powerpoint/2010/main" val="7313795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36</a:t>
            </a:fld>
            <a:endParaRPr lang="en-US" dirty="0"/>
          </a:p>
        </p:txBody>
      </p:sp>
    </p:spTree>
    <p:extLst>
      <p:ext uri="{BB962C8B-B14F-4D97-AF65-F5344CB8AC3E}">
        <p14:creationId xmlns:p14="http://schemas.microsoft.com/office/powerpoint/2010/main" val="21915024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37</a:t>
            </a:fld>
            <a:endParaRPr lang="en-US" dirty="0"/>
          </a:p>
        </p:txBody>
      </p:sp>
    </p:spTree>
    <p:extLst>
      <p:ext uri="{BB962C8B-B14F-4D97-AF65-F5344CB8AC3E}">
        <p14:creationId xmlns:p14="http://schemas.microsoft.com/office/powerpoint/2010/main" val="6531566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38</a:t>
            </a:fld>
            <a:endParaRPr lang="en-US" dirty="0"/>
          </a:p>
        </p:txBody>
      </p:sp>
    </p:spTree>
    <p:extLst>
      <p:ext uri="{BB962C8B-B14F-4D97-AF65-F5344CB8AC3E}">
        <p14:creationId xmlns:p14="http://schemas.microsoft.com/office/powerpoint/2010/main" val="28218839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39</a:t>
            </a:fld>
            <a:endParaRPr lang="en-US" dirty="0"/>
          </a:p>
        </p:txBody>
      </p:sp>
    </p:spTree>
    <p:extLst>
      <p:ext uri="{BB962C8B-B14F-4D97-AF65-F5344CB8AC3E}">
        <p14:creationId xmlns:p14="http://schemas.microsoft.com/office/powerpoint/2010/main" val="36601104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40</a:t>
            </a:fld>
            <a:endParaRPr lang="en-US" dirty="0"/>
          </a:p>
        </p:txBody>
      </p:sp>
    </p:spTree>
    <p:extLst>
      <p:ext uri="{BB962C8B-B14F-4D97-AF65-F5344CB8AC3E}">
        <p14:creationId xmlns:p14="http://schemas.microsoft.com/office/powerpoint/2010/main" val="416892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359825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4/8/2025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0.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tiff"/></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emf"/></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806824" y="1264025"/>
            <a:ext cx="10912425" cy="2415436"/>
          </a:xfrm>
        </p:spPr>
        <p:txBody>
          <a:bodyPr>
            <a:noAutofit/>
          </a:bodyPr>
          <a:lstStyle/>
          <a:p>
            <a:r>
              <a:rPr lang="mn-MN" altLang="en-US" sz="3600" b="1" dirty="0">
                <a:solidFill>
                  <a:srgbClr val="002060"/>
                </a:solidFill>
                <a:latin typeface="Times New Roman" panose="02020603050405020304" pitchFamily="18" charset="0"/>
                <a:cs typeface="Times New Roman" panose="02020603050405020304" pitchFamily="18" charset="0"/>
              </a:rPr>
              <a:t>ЛЕКЦ №11</a:t>
            </a:r>
            <a:br>
              <a:rPr lang="en-US" altLang="en-US" sz="3600" dirty="0">
                <a:solidFill>
                  <a:srgbClr val="002060"/>
                </a:solidFill>
                <a:latin typeface="Times New Roman" panose="02020603050405020304" pitchFamily="18" charset="0"/>
                <a:cs typeface="Times New Roman" panose="02020603050405020304" pitchFamily="18" charset="0"/>
              </a:rPr>
            </a:br>
            <a:r>
              <a:rPr lang="mn-MN" altLang="en-US" sz="3600" b="1" dirty="0">
                <a:solidFill>
                  <a:srgbClr val="002060"/>
                </a:solidFill>
                <a:latin typeface="Times New Roman" panose="02020603050405020304" pitchFamily="18" charset="0"/>
                <a:cs typeface="Times New Roman" panose="02020603050405020304" pitchFamily="18" charset="0"/>
              </a:rPr>
              <a:t>МӨНГӨНИЙ ЦАГ ХУГАЦААНЫ</a:t>
            </a:r>
            <a:br>
              <a:rPr lang="en-US" altLang="en-US" sz="3600" b="1" dirty="0">
                <a:solidFill>
                  <a:srgbClr val="002060"/>
                </a:solidFill>
                <a:latin typeface="Times New Roman" panose="02020603050405020304" pitchFamily="18" charset="0"/>
                <a:cs typeface="Times New Roman" panose="02020603050405020304" pitchFamily="18" charset="0"/>
              </a:rPr>
            </a:br>
            <a:r>
              <a:rPr lang="mn-MN" altLang="en-US" sz="3600" b="1" dirty="0">
                <a:solidFill>
                  <a:srgbClr val="002060"/>
                </a:solidFill>
                <a:latin typeface="Times New Roman" panose="02020603050405020304" pitchFamily="18" charset="0"/>
                <a:cs typeface="Times New Roman" panose="02020603050405020304" pitchFamily="18" charset="0"/>
              </a:rPr>
              <a:t>ҮНЭ ЦЭНЭ</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33003" y="201477"/>
            <a:ext cx="11787447" cy="663047"/>
          </a:xfrm>
        </p:spPr>
        <p:txBody>
          <a:bodyPr>
            <a:noAutofit/>
          </a:bodyPr>
          <a:lstStyle/>
          <a:p>
            <a:r>
              <a:rPr lang="mn-MN" sz="2800" b="1" dirty="0">
                <a:solidFill>
                  <a:schemeClr val="accent5">
                    <a:lumMod val="75000"/>
                  </a:schemeClr>
                </a:solidFill>
                <a:latin typeface="Times New Roman" panose="02020603050405020304" pitchFamily="18" charset="0"/>
                <a:cs typeface="Times New Roman" panose="02020603050405020304" pitchFamily="18" charset="0"/>
              </a:rPr>
              <a:t>Хичээлийн суралцахуйн үр дүнгүүд </a:t>
            </a:r>
            <a:br>
              <a:rPr lang="mn-MN" sz="2800" b="1" dirty="0">
                <a:solidFill>
                  <a:schemeClr val="accent5">
                    <a:lumMod val="75000"/>
                  </a:schemeClr>
                </a:solidFill>
                <a:latin typeface="Times New Roman" panose="02020603050405020304" pitchFamily="18" charset="0"/>
                <a:cs typeface="Times New Roman" panose="02020603050405020304" pitchFamily="18" charset="0"/>
              </a:rPr>
            </a:br>
            <a:r>
              <a:rPr lang="mn-MN" sz="20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sz="3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1973818795"/>
              </p:ext>
            </p:extLst>
          </p:nvPr>
        </p:nvGraphicFramePr>
        <p:xfrm>
          <a:off x="133003" y="864524"/>
          <a:ext cx="11925995" cy="5137902"/>
        </p:xfrm>
        <a:graphic>
          <a:graphicData uri="http://schemas.openxmlformats.org/drawingml/2006/table">
            <a:tbl>
              <a:tblPr firstRow="1" bandRow="1">
                <a:tableStyleId>{5C22544A-7EE6-4342-B048-85BDC9FD1C3A}</a:tableStyleId>
              </a:tblPr>
              <a:tblGrid>
                <a:gridCol w="704501">
                  <a:extLst>
                    <a:ext uri="{9D8B030D-6E8A-4147-A177-3AD203B41FA5}">
                      <a16:colId xmlns:a16="http://schemas.microsoft.com/office/drawing/2014/main" val="78146492"/>
                    </a:ext>
                  </a:extLst>
                </a:gridCol>
                <a:gridCol w="5222136">
                  <a:extLst>
                    <a:ext uri="{9D8B030D-6E8A-4147-A177-3AD203B41FA5}">
                      <a16:colId xmlns:a16="http://schemas.microsoft.com/office/drawing/2014/main" val="2993372031"/>
                    </a:ext>
                  </a:extLst>
                </a:gridCol>
                <a:gridCol w="2454282">
                  <a:extLst>
                    <a:ext uri="{9D8B030D-6E8A-4147-A177-3AD203B41FA5}">
                      <a16:colId xmlns:a16="http://schemas.microsoft.com/office/drawing/2014/main" val="3377302877"/>
                    </a:ext>
                  </a:extLst>
                </a:gridCol>
                <a:gridCol w="2199764">
                  <a:extLst>
                    <a:ext uri="{9D8B030D-6E8A-4147-A177-3AD203B41FA5}">
                      <a16:colId xmlns:a16="http://schemas.microsoft.com/office/drawing/2014/main" val="574671118"/>
                    </a:ext>
                  </a:extLst>
                </a:gridCol>
                <a:gridCol w="1345312">
                  <a:extLst>
                    <a:ext uri="{9D8B030D-6E8A-4147-A177-3AD203B41FA5}">
                      <a16:colId xmlns:a16="http://schemas.microsoft.com/office/drawing/2014/main" val="1155244748"/>
                    </a:ext>
                  </a:extLst>
                </a:gridCol>
              </a:tblGrid>
              <a:tr h="1000852">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732699">
                <a:tc>
                  <a:txBody>
                    <a:bodyPr/>
                    <a:lstStyle/>
                    <a:p>
                      <a:pPr algn="ctr">
                        <a:lnSpc>
                          <a:spcPct val="90000"/>
                        </a:lnSpc>
                        <a:spcAft>
                          <a:spcPts val="0"/>
                        </a:spcAft>
                      </a:pPr>
                      <a:r>
                        <a:rPr lang="en-US"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gn="just">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Мөнгөний цаг хугацааны үнэ цэн, эквивалентийн </a:t>
                      </a:r>
                      <a:r>
                        <a:rPr lang="mn-MN" sz="2200" dirty="0">
                          <a:effectLst/>
                          <a:latin typeface="Times New Roman" panose="02020603050405020304" pitchFamily="18" charset="0"/>
                          <a:cs typeface="Times New Roman" panose="02020603050405020304" pitchFamily="18" charset="0"/>
                        </a:rPr>
                        <a:t>тухай ойлголт, нэр томъёо, ач холбогдлыг</a:t>
                      </a:r>
                      <a:r>
                        <a:rPr lang="en-US" sz="2200" dirty="0">
                          <a:effectLst/>
                          <a:latin typeface="Times New Roman" panose="02020603050405020304" pitchFamily="18" charset="0"/>
                          <a:cs typeface="Times New Roman" panose="02020603050405020304" pitchFamily="18" charset="0"/>
                        </a:rPr>
                        <a:t> </a:t>
                      </a:r>
                      <a:r>
                        <a:rPr lang="mn-MN" sz="2200" dirty="0">
                          <a:effectLst/>
                          <a:latin typeface="Times New Roman" panose="02020603050405020304" pitchFamily="18" charset="0"/>
                          <a:cs typeface="Times New Roman" panose="02020603050405020304" pitchFamily="18" charset="0"/>
                        </a:rPr>
                        <a:t>тайлбарлах, ашиглах</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cs typeface="Times New Roman" panose="02020603050405020304" pitchFamily="18" charset="0"/>
                        </a:rPr>
                        <a:t>Тайлбарлах </a:t>
                      </a:r>
                      <a:r>
                        <a:rPr lang="en-US" sz="2200" dirty="0">
                          <a:effectLst/>
                          <a:latin typeface="Times New Roman" panose="02020603050405020304" pitchFamily="18" charset="0"/>
                          <a:cs typeface="Times New Roman" panose="02020603050405020304" pitchFamily="18" charset="0"/>
                        </a:rPr>
                        <a:t>(Explain)</a:t>
                      </a:r>
                      <a:endParaRPr lang="mn-MN" sz="22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200" dirty="0">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(Apply)</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a:t>
                      </a:r>
                      <a:r>
                        <a:rPr lang="mn-MN" sz="22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2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a:effectLst/>
                          <a:latin typeface="Times New Roman" panose="02020603050405020304" pitchFamily="18" charset="0"/>
                          <a:cs typeface="Times New Roman" panose="02020603050405020304" pitchFamily="18" charset="0"/>
                        </a:rPr>
                        <a:t>1, 3</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898779">
                <a:tc>
                  <a:txBody>
                    <a:bodyPr/>
                    <a:lstStyle/>
                    <a:p>
                      <a:pPr algn="ctr">
                        <a:lnSpc>
                          <a:spcPct val="90000"/>
                        </a:lnSpc>
                        <a:spcAft>
                          <a:spcPts val="0"/>
                        </a:spcAft>
                      </a:pPr>
                      <a:r>
                        <a:rPr lang="mn-MN"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200" dirty="0">
                          <a:effectLst/>
                          <a:latin typeface="Times New Roman" panose="02020603050405020304" pitchFamily="18" charset="0"/>
                          <a:cs typeface="Times New Roman" panose="02020603050405020304" pitchFamily="18" charset="0"/>
                        </a:rPr>
                        <a:t>Нэг удаагийн мөнгөн урсгалын эквивалент үнэ цэнийн тэгшитгэл, тэдгээрийн хоорондын хамаарлыг </a:t>
                      </a: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 ашиглах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cs typeface="Times New Roman" panose="02020603050405020304" pitchFamily="18" charset="0"/>
                        </a:rPr>
                        <a:t>Тайлбарлах </a:t>
                      </a:r>
                      <a:r>
                        <a:rPr lang="en-US" sz="2200" dirty="0">
                          <a:effectLst/>
                          <a:latin typeface="Times New Roman" panose="02020603050405020304" pitchFamily="18" charset="0"/>
                          <a:cs typeface="Times New Roman" panose="02020603050405020304" pitchFamily="18" charset="0"/>
                        </a:rPr>
                        <a:t>(Explain)</a:t>
                      </a:r>
                      <a:endParaRPr lang="mn-MN" sz="22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2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2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2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2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cs typeface="Times New Roman" panose="02020603050405020304" pitchFamily="18" charset="0"/>
                        </a:rPr>
                        <a:t>1, 3</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902208">
                <a:tc>
                  <a:txBody>
                    <a:bodyPr/>
                    <a:lstStyle/>
                    <a:p>
                      <a:pPr algn="ctr">
                        <a:lnSpc>
                          <a:spcPct val="90000"/>
                        </a:lnSpc>
                        <a:spcAft>
                          <a:spcPts val="0"/>
                        </a:spcAft>
                      </a:pPr>
                      <a:r>
                        <a:rPr lang="mn-MN"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200" dirty="0">
                          <a:effectLst/>
                          <a:latin typeface="Times New Roman" panose="02020603050405020304" pitchFamily="18" charset="0"/>
                          <a:cs typeface="Times New Roman" panose="02020603050405020304" pitchFamily="18" charset="0"/>
                        </a:rPr>
                        <a:t>Олон удаагийн мөнгөн урсгалын эквивалент үнэ цэнийн тэгшитгэл, тэдгээрийн хоорондын хамаарлыг </a:t>
                      </a: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 ашиглах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cs typeface="Times New Roman" panose="02020603050405020304" pitchFamily="18" charset="0"/>
                        </a:rPr>
                        <a:t>Тайлбарлах </a:t>
                      </a:r>
                      <a:r>
                        <a:rPr lang="en-US" sz="2200" dirty="0">
                          <a:effectLst/>
                          <a:latin typeface="Times New Roman" panose="02020603050405020304" pitchFamily="18" charset="0"/>
                          <a:cs typeface="Times New Roman" panose="02020603050405020304" pitchFamily="18" charset="0"/>
                        </a:rPr>
                        <a:t>(Explain)</a:t>
                      </a:r>
                      <a:endParaRPr lang="mn-MN" sz="22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2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2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2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2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cs typeface="Times New Roman" panose="02020603050405020304" pitchFamily="18" charset="0"/>
                        </a:rPr>
                        <a:t>1, 3</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656165348"/>
                  </a:ext>
                </a:extLst>
              </a:tr>
              <a:tr h="789203">
                <a:tc>
                  <a:txBody>
                    <a:bodyPr/>
                    <a:lstStyle/>
                    <a:p>
                      <a:pPr algn="ctr">
                        <a:lnSpc>
                          <a:spcPct val="90000"/>
                        </a:lnSpc>
                        <a:spcAft>
                          <a:spcPts val="0"/>
                        </a:spcAft>
                      </a:pPr>
                      <a:r>
                        <a:rPr lang="mn-MN"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Гүйцэтгэх </a:t>
                      </a:r>
                      <a:r>
                        <a:rPr lang="en-US" sz="2200" kern="1200" dirty="0">
                          <a:solidFill>
                            <a:schemeClr val="dk1"/>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2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2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2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2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21920" y="1"/>
            <a:ext cx="11826240" cy="411480"/>
          </a:xfrm>
        </p:spPr>
        <p:txBody>
          <a:bodyPr>
            <a:normAutofit fontScale="90000"/>
          </a:bodyPr>
          <a:lstStyle/>
          <a:p>
            <a:r>
              <a:rPr lang="mn-MN" b="1" dirty="0">
                <a:solidFill>
                  <a:srgbClr val="0000FF"/>
                </a:solidFill>
                <a:latin typeface="Times New Roman" panose="02020603050405020304" pitchFamily="18" charset="0"/>
                <a:cs typeface="Times New Roman" panose="02020603050405020304" pitchFamily="18" charset="0"/>
              </a:rPr>
              <a:t>Хичээлийн агуулга </a:t>
            </a:r>
            <a:endParaRPr lang="en-US"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21920" y="525780"/>
            <a:ext cx="11826240" cy="6099609"/>
          </a:xfrm>
        </p:spPr>
        <p:txBody>
          <a:bodyPr>
            <a:normAutofit lnSpcReduction="10000"/>
          </a:bodyPr>
          <a:lstStyle/>
          <a:p>
            <a:pPr algn="just">
              <a:lnSpc>
                <a:spcPct val="110000"/>
              </a:lnSpc>
              <a:spcBef>
                <a:spcPts val="0"/>
              </a:spcBef>
            </a:pPr>
            <a:r>
              <a:rPr lang="mn-MN" sz="3200" dirty="0">
                <a:solidFill>
                  <a:srgbClr val="002060"/>
                </a:solidFill>
                <a:latin typeface="Times New Roman" panose="02020603050405020304" pitchFamily="18" charset="0"/>
                <a:cs typeface="Times New Roman" panose="02020603050405020304" pitchFamily="18" charset="0"/>
              </a:rPr>
              <a:t>Мөнгөний цаг хугацааны үнэ цэнийн үндсэн ойлголт</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Цаг хугацааны шулуун</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Хүүний тухай ойлголт (Энгийн хүү, нийлмэл хүү)</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Хүү тооцох үечлэл (Нэрлэсэн ба үр ашигтай хүү)</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Мөнгөний цаг хугацааны үнэ цэнийн 2 чиглэл (өнөөгийн үнэ цэн, ирээдүйн  үнэ цэн)</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Мөнгөний орох болон гарах урсгал</a:t>
            </a:r>
          </a:p>
          <a:p>
            <a:pPr algn="just">
              <a:lnSpc>
                <a:spcPct val="110000"/>
              </a:lnSpc>
              <a:spcBef>
                <a:spcPts val="0"/>
              </a:spcBef>
            </a:pPr>
            <a:r>
              <a:rPr lang="mn-MN" sz="3200" dirty="0">
                <a:solidFill>
                  <a:srgbClr val="002060"/>
                </a:solidFill>
                <a:latin typeface="Times New Roman" panose="02020603050405020304" pitchFamily="18" charset="0"/>
                <a:cs typeface="Times New Roman" panose="02020603050405020304" pitchFamily="18" charset="0"/>
              </a:rPr>
              <a:t>Мөнгөн урсгалын хэлбэрүүд</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Нэг удаагийн мөнгөн урсгал</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Тогтмол мөнгөн урсгал</a:t>
            </a:r>
          </a:p>
          <a:p>
            <a:pPr lvl="2" algn="just">
              <a:lnSpc>
                <a:spcPct val="110000"/>
              </a:lnSpc>
              <a:spcBef>
                <a:spcPts val="0"/>
              </a:spcBef>
            </a:pPr>
            <a:r>
              <a:rPr lang="mn-MN" sz="2400" dirty="0">
                <a:solidFill>
                  <a:srgbClr val="002060"/>
                </a:solidFill>
                <a:latin typeface="Times New Roman" panose="02020603050405020304" pitchFamily="18" charset="0"/>
                <a:cs typeface="Times New Roman" panose="02020603050405020304" pitchFamily="18" charset="0"/>
              </a:rPr>
              <a:t>Энгийн анниути (</a:t>
            </a:r>
            <a:r>
              <a:rPr lang="en-US" sz="2400" dirty="0">
                <a:solidFill>
                  <a:srgbClr val="002060"/>
                </a:solidFill>
                <a:latin typeface="Times New Roman" panose="02020603050405020304" pitchFamily="18" charset="0"/>
                <a:cs typeface="Times New Roman" panose="02020603050405020304" pitchFamily="18" charset="0"/>
              </a:rPr>
              <a:t>Ordinary (Deferred) Annuity)</a:t>
            </a:r>
          </a:p>
          <a:p>
            <a:pPr lvl="2" algn="just">
              <a:lnSpc>
                <a:spcPct val="110000"/>
              </a:lnSpc>
              <a:spcBef>
                <a:spcPts val="0"/>
              </a:spcBef>
            </a:pPr>
            <a:r>
              <a:rPr lang="mn-MN" sz="2400" dirty="0">
                <a:solidFill>
                  <a:srgbClr val="002060"/>
                </a:solidFill>
                <a:latin typeface="Times New Roman" panose="02020603050405020304" pitchFamily="18" charset="0"/>
                <a:cs typeface="Times New Roman" panose="02020603050405020304" pitchFamily="18" charset="0"/>
              </a:rPr>
              <a:t>Анниути дуэ (</a:t>
            </a:r>
            <a:r>
              <a:rPr lang="en-US" sz="2400" dirty="0">
                <a:solidFill>
                  <a:srgbClr val="002060"/>
                </a:solidFill>
                <a:latin typeface="Times New Roman" panose="02020603050405020304" pitchFamily="18" charset="0"/>
                <a:cs typeface="Times New Roman" panose="02020603050405020304" pitchFamily="18" charset="0"/>
              </a:rPr>
              <a:t>Annuity Due)</a:t>
            </a:r>
          </a:p>
          <a:p>
            <a:pPr lvl="2" algn="just">
              <a:lnSpc>
                <a:spcPct val="110000"/>
              </a:lnSpc>
              <a:spcBef>
                <a:spcPts val="0"/>
              </a:spcBef>
            </a:pPr>
            <a:r>
              <a:rPr lang="mn-MN" sz="2400" dirty="0">
                <a:solidFill>
                  <a:srgbClr val="002060"/>
                </a:solidFill>
                <a:latin typeface="Times New Roman" panose="02020603050405020304" pitchFamily="18" charset="0"/>
                <a:cs typeface="Times New Roman" panose="02020603050405020304" pitchFamily="18" charset="0"/>
              </a:rPr>
              <a:t>Зээлийн тогтмол төлөлт</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Жигд бус мөнгөн урсгал</a:t>
            </a:r>
            <a:endParaRPr lang="mn-M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213360" y="15241"/>
            <a:ext cx="11765280" cy="548640"/>
          </a:xfrm>
        </p:spPr>
        <p:txBody>
          <a:bodyPr>
            <a:normAutofit fontScale="90000"/>
          </a:bodyPr>
          <a:lstStyle/>
          <a:p>
            <a:r>
              <a:rPr lang="mn-MN" sz="3600" b="1" dirty="0">
                <a:solidFill>
                  <a:srgbClr val="0000FF"/>
                </a:solidFill>
                <a:latin typeface="Times New Roman" panose="02020603050405020304" pitchFamily="18" charset="0"/>
                <a:cs typeface="Times New Roman" panose="02020603050405020304" pitchFamily="18" charset="0"/>
              </a:rPr>
              <a:t>Мөнгөний цаг хугацааны үнэ цэн</a:t>
            </a:r>
            <a:endParaRPr lang="en-US" sz="36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213360" y="563881"/>
            <a:ext cx="11765280" cy="5121275"/>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Капитал гэдгийг зөвхөн хөрөнгө гэж үзэх биш, харин илүү их баялгийг бий болгоход ашиглаж болох мөнгө, эсвэл эд баялаг гэж ойлгох хэрэгтэй. </a:t>
            </a:r>
          </a:p>
          <a:p>
            <a:pPr algn="just"/>
            <a:r>
              <a:rPr lang="mn-MN" b="1" dirty="0">
                <a:solidFill>
                  <a:srgbClr val="002060"/>
                </a:solidFill>
                <a:latin typeface="Times New Roman" panose="02020603050405020304" pitchFamily="18" charset="0"/>
                <a:cs typeface="Times New Roman" panose="02020603050405020304" pitchFamily="18" charset="0"/>
              </a:rPr>
              <a:t>ИЭЗС –ны дийлэнх нь капиталын үүргийг урт хугацааны туршид авч үздэг. </a:t>
            </a:r>
          </a:p>
          <a:p>
            <a:pPr algn="just"/>
            <a:r>
              <a:rPr lang="mn-MN" dirty="0">
                <a:solidFill>
                  <a:srgbClr val="002060"/>
                </a:solidFill>
                <a:latin typeface="Times New Roman" panose="02020603050405020304" pitchFamily="18" charset="0"/>
                <a:cs typeface="Times New Roman" panose="02020603050405020304" pitchFamily="18" charset="0"/>
              </a:rPr>
              <a:t>Өөрөөр хэлбэл, </a:t>
            </a:r>
            <a:r>
              <a:rPr lang="mn-MN" b="1" dirty="0">
                <a:solidFill>
                  <a:srgbClr val="0000FF"/>
                </a:solidFill>
                <a:latin typeface="Times New Roman" panose="02020603050405020304" pitchFamily="18" charset="0"/>
                <a:cs typeface="Times New Roman" panose="02020603050405020304" pitchFamily="18" charset="0"/>
              </a:rPr>
              <a:t>цаг хугацааны нөлөөг авч үздэг.</a:t>
            </a:r>
            <a:r>
              <a:rPr lang="mn-MN" b="1"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Энэ утгаараа өнөөдрийн мөнгө нь жил болон түүнээс урт хугацааны дараах мөнгөнөөс илүү үнэ цэнэтэй (хүүгийн ашгийн улмаас) байдаг. </a:t>
            </a:r>
          </a:p>
          <a:p>
            <a:pPr algn="just"/>
            <a:r>
              <a:rPr lang="mn-MN" dirty="0">
                <a:solidFill>
                  <a:srgbClr val="002060"/>
                </a:solidFill>
                <a:latin typeface="Times New Roman" panose="02020603050405020304" pitchFamily="18" charset="0"/>
                <a:cs typeface="Times New Roman" panose="02020603050405020304" pitchFamily="18" charset="0"/>
              </a:rPr>
              <a:t>Хэрвээ мөнгийг хөрөнгө оруулалтанд ашиглахгүй бол үнэ цэнэ нь алдагддаг. Мөнгөний үнэ цэнэ нь хүүний түвшин, инфляци (эсвэл дефляци), валютын ханш болон бусад хүчин зүйлсээс хамаарч өөрчлөгдөж байдаг.</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897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7640" y="143827"/>
            <a:ext cx="11780520" cy="442595"/>
          </a:xfrm>
        </p:spPr>
        <p:txBody>
          <a:bodyPr>
            <a:noAutofit/>
          </a:bodyPr>
          <a:lstStyle/>
          <a:p>
            <a:r>
              <a:rPr lang="mn-MN" sz="3600" b="1" dirty="0">
                <a:solidFill>
                  <a:schemeClr val="accent5">
                    <a:lumMod val="75000"/>
                  </a:schemeClr>
                </a:solidFill>
                <a:latin typeface="Times New Roman" panose="02020603050405020304" pitchFamily="18" charset="0"/>
                <a:cs typeface="Times New Roman" panose="02020603050405020304" pitchFamily="18" charset="0"/>
              </a:rPr>
              <a:t>Хөрөнгийн эргэлт</a:t>
            </a:r>
            <a:endParaRPr lang="en-US" sz="36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67640" y="586422"/>
            <a:ext cx="11780520" cy="5121275"/>
          </a:xfrm>
        </p:spPr>
        <p:txBody>
          <a:bodyPr>
            <a:normAutofit fontScale="92500"/>
          </a:bodyPr>
          <a:lstStyle/>
          <a:p>
            <a:pPr algn="just"/>
            <a:r>
              <a:rPr lang="mn-MN" sz="4000" dirty="0">
                <a:solidFill>
                  <a:srgbClr val="002060"/>
                </a:solidFill>
                <a:latin typeface="Times New Roman" panose="02020603050405020304" pitchFamily="18" charset="0"/>
                <a:cs typeface="Times New Roman" panose="02020603050405020304" pitchFamily="18" charset="0"/>
              </a:rPr>
              <a:t>Хөрөнгө оруулалтын өгөөжийг </a:t>
            </a:r>
            <a:r>
              <a:rPr lang="mn-MN" sz="4000" b="1" dirty="0">
                <a:solidFill>
                  <a:srgbClr val="0000FF"/>
                </a:solidFill>
                <a:latin typeface="Times New Roman" panose="02020603050405020304" pitchFamily="18" charset="0"/>
                <a:cs typeface="Times New Roman" panose="02020603050405020304" pitchFamily="18" charset="0"/>
              </a:rPr>
              <a:t>хүү</a:t>
            </a:r>
            <a:r>
              <a:rPr lang="mn-MN" sz="4000" dirty="0">
                <a:solidFill>
                  <a:srgbClr val="002060"/>
                </a:solidFill>
                <a:latin typeface="Times New Roman" panose="02020603050405020304" pitchFamily="18" charset="0"/>
                <a:cs typeface="Times New Roman" panose="02020603050405020304" pitchFamily="18" charset="0"/>
              </a:rPr>
              <a:t> ба </a:t>
            </a:r>
            <a:r>
              <a:rPr lang="mn-MN" sz="4000" b="1" dirty="0">
                <a:solidFill>
                  <a:srgbClr val="0000FF"/>
                </a:solidFill>
                <a:latin typeface="Times New Roman" panose="02020603050405020304" pitchFamily="18" charset="0"/>
                <a:cs typeface="Times New Roman" panose="02020603050405020304" pitchFamily="18" charset="0"/>
              </a:rPr>
              <a:t>ашгийн хэлбэрээр</a:t>
            </a:r>
            <a:r>
              <a:rPr lang="mn-MN" sz="4000" b="1" dirty="0">
                <a:solidFill>
                  <a:srgbClr val="002060"/>
                </a:solidFill>
                <a:latin typeface="Times New Roman" panose="02020603050405020304" pitchFamily="18" charset="0"/>
                <a:cs typeface="Times New Roman" panose="02020603050405020304" pitchFamily="18" charset="0"/>
              </a:rPr>
              <a:t> </a:t>
            </a:r>
            <a:r>
              <a:rPr lang="mn-MN" sz="4000" dirty="0">
                <a:solidFill>
                  <a:srgbClr val="002060"/>
                </a:solidFill>
                <a:latin typeface="Times New Roman" panose="02020603050405020304" pitchFamily="18" charset="0"/>
                <a:cs typeface="Times New Roman" panose="02020603050405020304" pitchFamily="18" charset="0"/>
              </a:rPr>
              <a:t>авч үзэх нь ИЭЗС-ны чухал бүрэлдэхүүн хэсэг юм. </a:t>
            </a:r>
          </a:p>
          <a:p>
            <a:pPr marL="1028700" lvl="1" indent="-571500" algn="just">
              <a:buFont typeface="+mj-lt"/>
              <a:buAutoNum type="romanUcPeriod"/>
            </a:pPr>
            <a:r>
              <a:rPr lang="mn-MN" sz="3600" dirty="0">
                <a:solidFill>
                  <a:srgbClr val="002060"/>
                </a:solidFill>
                <a:latin typeface="Times New Roman" panose="02020603050405020304" pitchFamily="18" charset="0"/>
                <a:cs typeface="Times New Roman" panose="02020603050405020304" pitchFamily="18" charset="0"/>
              </a:rPr>
              <a:t>Хүү болон ашгийн төлбөрийг хөрөнгийг ашиглах хугацаанд хөрөнгө оруулагчид төлдөг. Хөрөнгө оруулагч нь хөрөнгийн активын өгөөжийг (хүүг) </a:t>
            </a:r>
            <a:r>
              <a:rPr lang="mn-MN" sz="3600" b="1" dirty="0">
                <a:solidFill>
                  <a:srgbClr val="002060"/>
                </a:solidFill>
                <a:latin typeface="Times New Roman" panose="02020603050405020304" pitchFamily="18" charset="0"/>
                <a:cs typeface="Times New Roman" panose="02020603050405020304" pitchFamily="18" charset="0"/>
              </a:rPr>
              <a:t>ХУРИМТЛАЛ ҮҮСГЭХ </a:t>
            </a:r>
            <a:r>
              <a:rPr lang="mn-MN" sz="3600" dirty="0">
                <a:solidFill>
                  <a:srgbClr val="002060"/>
                </a:solidFill>
                <a:latin typeface="Times New Roman" panose="02020603050405020304" pitchFamily="18" charset="0"/>
                <a:cs typeface="Times New Roman" panose="02020603050405020304" pitchFamily="18" charset="0"/>
              </a:rPr>
              <a:t>(</a:t>
            </a:r>
            <a:r>
              <a:rPr lang="mn-MN" sz="3600" b="1" dirty="0">
                <a:solidFill>
                  <a:srgbClr val="002060"/>
                </a:solidFill>
                <a:latin typeface="Times New Roman" panose="02020603050405020304" pitchFamily="18" charset="0"/>
                <a:cs typeface="Times New Roman" panose="02020603050405020304" pitchFamily="18" charset="0"/>
              </a:rPr>
              <a:t>ХӨРӨНГӨӨ ӨСГӨХ</a:t>
            </a:r>
            <a:r>
              <a:rPr lang="mn-MN" sz="3600" dirty="0">
                <a:solidFill>
                  <a:srgbClr val="002060"/>
                </a:solidFill>
                <a:latin typeface="Times New Roman" panose="02020603050405020304" pitchFamily="18" charset="0"/>
                <a:cs typeface="Times New Roman" panose="02020603050405020304" pitchFamily="18" charset="0"/>
              </a:rPr>
              <a:t>) сэдэл гэж ойлгодог. </a:t>
            </a:r>
          </a:p>
          <a:p>
            <a:pPr marL="1028700" lvl="1" indent="-571500" algn="just">
              <a:buFont typeface="+mj-lt"/>
              <a:buAutoNum type="romanUcPeriod"/>
            </a:pPr>
            <a:r>
              <a:rPr lang="mn-MN" sz="3600" dirty="0">
                <a:solidFill>
                  <a:srgbClr val="002060"/>
                </a:solidFill>
                <a:latin typeface="Times New Roman" panose="02020603050405020304" pitchFamily="18" charset="0"/>
                <a:cs typeface="Times New Roman" panose="02020603050405020304" pitchFamily="18" charset="0"/>
              </a:rPr>
              <a:t>Хүү ба ашиг нь хөрөнгө оруулагч өөрийн хөрөнгийг өөр хэн нэгэнд, эсвэл байгууллагад ашиглуулсны улмаас үүсэх </a:t>
            </a:r>
            <a:r>
              <a:rPr lang="mn-MN" sz="3600" b="1" dirty="0">
                <a:solidFill>
                  <a:srgbClr val="002060"/>
                </a:solidFill>
                <a:latin typeface="Times New Roman" panose="02020603050405020304" pitchFamily="18" charset="0"/>
                <a:cs typeface="Times New Roman" panose="02020603050405020304" pitchFamily="18" charset="0"/>
              </a:rPr>
              <a:t>ЭРСДЭЛИЙН ТӨЛБӨР </a:t>
            </a:r>
            <a:r>
              <a:rPr lang="mn-MN" sz="3600" dirty="0">
                <a:solidFill>
                  <a:srgbClr val="002060"/>
                </a:solidFill>
                <a:latin typeface="Times New Roman" panose="02020603050405020304" pitchFamily="18" charset="0"/>
                <a:cs typeface="Times New Roman" panose="02020603050405020304" pitchFamily="18" charset="0"/>
              </a:rPr>
              <a:t>юм.</a:t>
            </a:r>
            <a:endParaRPr lang="en-US" sz="4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36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7640" y="73751"/>
            <a:ext cx="11432438" cy="643164"/>
          </a:xfrm>
        </p:spPr>
        <p:txBody>
          <a:bodyPr>
            <a:normAutofit/>
          </a:bodyPr>
          <a:lstStyle/>
          <a:p>
            <a:r>
              <a:rPr lang="mn-MN" sz="4000" b="1" dirty="0">
                <a:solidFill>
                  <a:srgbClr val="0000FF"/>
                </a:solidFill>
                <a:latin typeface="Times New Roman" panose="02020603050405020304" pitchFamily="18" charset="0"/>
                <a:cs typeface="Times New Roman" panose="02020603050405020304" pitchFamily="18" charset="0"/>
              </a:rPr>
              <a:t>Хөрөнгийн эргэлт</a:t>
            </a:r>
            <a:endParaRPr lang="en-US" sz="40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67640" y="716915"/>
            <a:ext cx="11841480" cy="5551714"/>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Ердийн нөхцөлд хөрөнгө оруулалтын хүлээгдэж байгаа өгөөж нь хангалттай, эсэхийг хөрөнгө оруулагчид шийдэх ёстой. </a:t>
            </a:r>
          </a:p>
          <a:p>
            <a:pPr lvl="1" algn="just"/>
            <a:r>
              <a:rPr lang="mn-MN" sz="2800" dirty="0">
                <a:solidFill>
                  <a:srgbClr val="002060"/>
                </a:solidFill>
                <a:latin typeface="Times New Roman" panose="02020603050405020304" pitchFamily="18" charset="0"/>
                <a:cs typeface="Times New Roman" panose="02020603050405020304" pitchFamily="18" charset="0"/>
              </a:rPr>
              <a:t>Санал болгож буй төслийн хөрөнгө оруулалт нь бусад хөрөнгө оруулалтаас олж болох хүү болон ашигтай харьцуулбал алдагдсан боломжийн зардал юм. </a:t>
            </a:r>
          </a:p>
          <a:p>
            <a:pPr algn="just"/>
            <a:r>
              <a:rPr lang="mn-MN" sz="3200" dirty="0">
                <a:solidFill>
                  <a:srgbClr val="002060"/>
                </a:solidFill>
                <a:latin typeface="Times New Roman" panose="02020603050405020304" pitchFamily="18" charset="0"/>
                <a:cs typeface="Times New Roman" panose="02020603050405020304" pitchFamily="18" charset="0"/>
              </a:rPr>
              <a:t>Төсөл ба байгууллага нь хөрөнгө оруулагчдад санхүүгийн хувьд сэтгэл хангалуун байхаар хангалттай өгөөж өгөх ёстой. Энэ утгаараа </a:t>
            </a:r>
            <a:r>
              <a:rPr lang="mn-MN" sz="3200" b="1" dirty="0">
                <a:solidFill>
                  <a:srgbClr val="002060"/>
                </a:solidFill>
                <a:latin typeface="Times New Roman" panose="02020603050405020304" pitchFamily="18" charset="0"/>
                <a:cs typeface="Times New Roman" panose="02020603050405020304" pitchFamily="18" charset="0"/>
              </a:rPr>
              <a:t>хөрөнгө ашигласны зардал </a:t>
            </a:r>
            <a:r>
              <a:rPr lang="mn-MN" sz="3200" dirty="0">
                <a:solidFill>
                  <a:srgbClr val="002060"/>
                </a:solidFill>
                <a:latin typeface="Times New Roman" panose="02020603050405020304" pitchFamily="18" charset="0"/>
                <a:cs typeface="Times New Roman" panose="02020603050405020304" pitchFamily="18" charset="0"/>
              </a:rPr>
              <a:t>гардаг. </a:t>
            </a:r>
          </a:p>
          <a:p>
            <a:pPr algn="just"/>
            <a:r>
              <a:rPr lang="mn-MN" sz="3200" dirty="0">
                <a:solidFill>
                  <a:srgbClr val="002060"/>
                </a:solidFill>
                <a:latin typeface="Times New Roman" panose="02020603050405020304" pitchFamily="18" charset="0"/>
                <a:cs typeface="Times New Roman" panose="02020603050405020304" pitchFamily="18" charset="0"/>
              </a:rPr>
              <a:t>Дүгнэж хэлэхэд, </a:t>
            </a:r>
          </a:p>
          <a:p>
            <a:pPr lvl="1" algn="just"/>
            <a:r>
              <a:rPr lang="mn-MN" sz="2800" dirty="0">
                <a:solidFill>
                  <a:srgbClr val="002060"/>
                </a:solidFill>
                <a:latin typeface="Times New Roman" panose="02020603050405020304" pitchFamily="18" charset="0"/>
                <a:cs typeface="Times New Roman" panose="02020603050405020304" pitchFamily="18" charset="0"/>
              </a:rPr>
              <a:t>Инженерчлэлийн ба бизнесийн төсөлд, эсвэл аж ахуйн нэгжид шаардлагатай хөрөнгө оруулалт хийх үед түүний өртгийг (ө.х, цаг хугацааны үнэ цэнийг) тооцох нь чухал. </a:t>
            </a:r>
            <a:r>
              <a:rPr lang="mn-MN" sz="2800" b="1" i="1" dirty="0">
                <a:solidFill>
                  <a:srgbClr val="002060"/>
                </a:solidFill>
                <a:latin typeface="Times New Roman" panose="02020603050405020304" pitchFamily="18" charset="0"/>
                <a:cs typeface="Times New Roman" panose="02020603050405020304" pitchFamily="18" charset="0"/>
              </a:rPr>
              <a:t>Ингэснээр компаний өрсөлдөх чадварыг сайжруулах, инженерийн төслүүдийг зөв үнэлэх, түүнчлэн урт хугацаанд оршин тогтнох боломжтой болгоно.</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561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0" y="163286"/>
            <a:ext cx="11249586" cy="507274"/>
          </a:xfrm>
        </p:spPr>
        <p:txBody>
          <a:bodyPr>
            <a:normAutofit fontScale="90000"/>
          </a:bodyPr>
          <a:lstStyle/>
          <a:p>
            <a:r>
              <a:rPr lang="mn-MN" sz="3600" b="1" dirty="0">
                <a:solidFill>
                  <a:srgbClr val="0000FF"/>
                </a:solidFill>
                <a:latin typeface="Times New Roman" panose="02020603050405020304" pitchFamily="18" charset="0"/>
                <a:cs typeface="Times New Roman" panose="02020603050405020304" pitchFamily="18" charset="0"/>
              </a:rPr>
              <a:t>Хүүний гарал үүсэл</a:t>
            </a:r>
            <a:endParaRPr lang="en-US" sz="36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0" y="670560"/>
            <a:ext cx="11978640" cy="5658004"/>
          </a:xfrm>
        </p:spPr>
        <p:txBody>
          <a:bodyPr>
            <a:normAutofit fontScale="850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Хүү нь татварын нэгэн адил хүн төрөлхтний түүхийн эрт үед байсан нь тэмдэглэгдэн үлджээ. </a:t>
            </a:r>
          </a:p>
          <a:p>
            <a:pPr marL="457200" lvl="1" algn="just"/>
            <a:r>
              <a:rPr lang="mn-MN" sz="2800" dirty="0">
                <a:solidFill>
                  <a:srgbClr val="002060"/>
                </a:solidFill>
                <a:latin typeface="Times New Roman" panose="02020603050405020304" pitchFamily="18" charset="0"/>
                <a:cs typeface="Times New Roman" panose="02020603050405020304" pitchFamily="18" charset="0"/>
              </a:rPr>
              <a:t>Жишээлбэл,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МЭӨ 2000 оны үед Вавилонд хүүг ашиглаж байжээ.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Эрт дээр үед зээлдүүлсэн үр тариа, бусад түүхий эдийг ашигласны хүүг мөнгөөр болон үр тариа, бусад эд зүйлсээр төлдөг байв.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МЭӨ 575 онд Вавилонд гэр офистой олон улсын олон тооны банкирууд, компаниуд байсан. Эдгээрийн орлого нь олон улсын худалдааг санхүүжүүлэхэд ашигласан мөнгөнд ногдуулсан өндөр хүүний орлогоос бүрддэг байжээ.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Эртний түүхээс харвал, жилийн нийт зээлийн хүүний хэмжээг 40% хүртэл байхаар хуульчилсан боловч, ихэнх тохиолдолд 6%-25%-тай байжээ. Зээлийн хүүний хэмжээ хэт өндөр байхыг мөнгө хүүлэх гэж хориглодог байсан нь Библид байдаг.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Дундад зууны үед зээлсэн мөнгөнд хүү төлөхийг шашны үүднээс хориглодог байв. </a:t>
            </a:r>
          </a:p>
          <a:p>
            <a:pPr marL="808038" lvl="2" algn="just"/>
            <a:r>
              <a:rPr lang="mn-MN" sz="2900" dirty="0">
                <a:solidFill>
                  <a:srgbClr val="002060"/>
                </a:solidFill>
                <a:latin typeface="Times New Roman" panose="02020603050405020304" pitchFamily="18" charset="0"/>
                <a:cs typeface="Times New Roman" panose="02020603050405020304" pitchFamily="18" charset="0"/>
              </a:rPr>
              <a:t>1536 онд Жон Калвин мөнгө хүүлэх онол гаргасан. хүүний ашиг сонирхол хууль бус гэсэн ойлголтыг халж, үүний үр дүнд хүүний тухай ойлголт бизнес хийхэд зайлшгүй шаардлагатай, хууль ёсны болсон гэж үздэг.</a:t>
            </a:r>
          </a:p>
        </p:txBody>
      </p:sp>
    </p:spTree>
    <p:extLst>
      <p:ext uri="{BB962C8B-B14F-4D97-AF65-F5344CB8AC3E}">
        <p14:creationId xmlns:p14="http://schemas.microsoft.com/office/powerpoint/2010/main" val="62963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D00A-21D3-8A43-F617-FF2AE87724A1}"/>
              </a:ext>
            </a:extLst>
          </p:cNvPr>
          <p:cNvSpPr>
            <a:spLocks noGrp="1"/>
          </p:cNvSpPr>
          <p:nvPr>
            <p:ph type="title"/>
          </p:nvPr>
        </p:nvSpPr>
        <p:spPr>
          <a:xfrm>
            <a:off x="152400" y="182245"/>
            <a:ext cx="11856720" cy="594995"/>
          </a:xfrm>
        </p:spPr>
        <p:txBody>
          <a:bodyPr>
            <a:normAutofit fontScale="90000"/>
          </a:bodyPr>
          <a:lstStyle/>
          <a:p>
            <a:r>
              <a:rPr lang="mn-MN" b="1" dirty="0">
                <a:solidFill>
                  <a:srgbClr val="0000FF"/>
                </a:solidFill>
                <a:latin typeface="Times New Roman" panose="02020603050405020304" pitchFamily="18" charset="0"/>
                <a:cs typeface="Times New Roman" panose="02020603050405020304" pitchFamily="18" charset="0"/>
              </a:rPr>
              <a:t>Хүүний төрлүүд</a:t>
            </a:r>
            <a:endParaRPr lang="en-US"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F00BFB-823A-9BCC-7EAB-0D696BCCB161}"/>
              </a:ext>
            </a:extLst>
          </p:cNvPr>
          <p:cNvSpPr>
            <a:spLocks noGrp="1"/>
          </p:cNvSpPr>
          <p:nvPr>
            <p:ph idx="1"/>
          </p:nvPr>
        </p:nvSpPr>
        <p:spPr>
          <a:xfrm>
            <a:off x="167640" y="825591"/>
            <a:ext cx="11856720" cy="5072289"/>
          </a:xfrm>
        </p:spPr>
        <p:txBody>
          <a:bodyPr>
            <a:normAutofit/>
          </a:bodyPr>
          <a:lstStyle/>
          <a:p>
            <a:pPr algn="just"/>
            <a:r>
              <a:rPr lang="mn-MN" sz="4000" dirty="0">
                <a:solidFill>
                  <a:srgbClr val="002060"/>
                </a:solidFill>
                <a:latin typeface="Times New Roman" panose="02020603050405020304" pitchFamily="18" charset="0"/>
                <a:cs typeface="Times New Roman" panose="02020603050405020304" pitchFamily="18" charset="0"/>
              </a:rPr>
              <a:t>Хүүг 2 төрөл болгон ангилдаг: </a:t>
            </a:r>
          </a:p>
          <a:p>
            <a:pPr lvl="1" algn="just"/>
            <a:r>
              <a:rPr lang="mn-MN" sz="3600" dirty="0">
                <a:solidFill>
                  <a:srgbClr val="002060"/>
                </a:solidFill>
                <a:latin typeface="Times New Roman" panose="02020603050405020304" pitchFamily="18" charset="0"/>
                <a:cs typeface="Times New Roman" panose="02020603050405020304" pitchFamily="18" charset="0"/>
              </a:rPr>
              <a:t>Энгийн хүү</a:t>
            </a:r>
          </a:p>
          <a:p>
            <a:pPr lvl="1" algn="just"/>
            <a:r>
              <a:rPr lang="mn-MN" sz="3600" dirty="0">
                <a:solidFill>
                  <a:srgbClr val="002060"/>
                </a:solidFill>
                <a:latin typeface="Times New Roman" panose="02020603050405020304" pitchFamily="18" charset="0"/>
                <a:cs typeface="Times New Roman" panose="02020603050405020304" pitchFamily="18" charset="0"/>
              </a:rPr>
              <a:t>Нийлмэл хүү</a:t>
            </a:r>
          </a:p>
          <a:p>
            <a:pPr algn="just"/>
            <a:r>
              <a:rPr lang="mn-MN" sz="3200" b="1" dirty="0">
                <a:solidFill>
                  <a:srgbClr val="002060"/>
                </a:solidFill>
                <a:latin typeface="Times New Roman" panose="02020603050405020304" pitchFamily="18" charset="0"/>
                <a:cs typeface="Times New Roman" panose="02020603050405020304" pitchFamily="18" charset="0"/>
              </a:rPr>
              <a:t>Нэрлэсэн хүү </a:t>
            </a:r>
            <a:r>
              <a:rPr lang="mn-MN" sz="3200" dirty="0">
                <a:solidFill>
                  <a:srgbClr val="002060"/>
                </a:solidFill>
                <a:latin typeface="Times New Roman" panose="02020603050405020304" pitchFamily="18" charset="0"/>
                <a:cs typeface="Times New Roman" panose="02020603050405020304" pitchFamily="18" charset="0"/>
              </a:rPr>
              <a:t>– Зээлдүүлэгчээс тогтоож, зээлдэгч харилцан зөвшөөрөн гэрээнд тусгасан хүүний хэмжээг хэлнэ.</a:t>
            </a:r>
          </a:p>
          <a:p>
            <a:pPr algn="just"/>
            <a:r>
              <a:rPr lang="mn-MN" sz="3200" b="1" dirty="0">
                <a:solidFill>
                  <a:srgbClr val="002060"/>
                </a:solidFill>
                <a:latin typeface="Times New Roman" panose="02020603050405020304" pitchFamily="18" charset="0"/>
                <a:cs typeface="Times New Roman" panose="02020603050405020304" pitchFamily="18" charset="0"/>
              </a:rPr>
              <a:t>Үр ашигтай хүү </a:t>
            </a:r>
            <a:r>
              <a:rPr lang="mn-MN" sz="3200" dirty="0">
                <a:solidFill>
                  <a:srgbClr val="002060"/>
                </a:solidFill>
                <a:latin typeface="Times New Roman" panose="02020603050405020304" pitchFamily="18" charset="0"/>
                <a:cs typeface="Times New Roman" panose="02020603050405020304" pitchFamily="18" charset="0"/>
              </a:rPr>
              <a:t>– Ашиглаж байгаа нэг мөнгөн нэгжийн эх үүсвэртээ бодитойгоор төлж байгаа хүүг хэлнэ. </a:t>
            </a:r>
          </a:p>
          <a:p>
            <a:pPr lvl="1" algn="just"/>
            <a:r>
              <a:rPr lang="mn-MN" sz="2800" dirty="0">
                <a:solidFill>
                  <a:srgbClr val="002060"/>
                </a:solidFill>
                <a:latin typeface="Times New Roman" panose="02020603050405020304" pitchFamily="18" charset="0"/>
                <a:cs typeface="Times New Roman" panose="02020603050405020304" pitchFamily="18" charset="0"/>
              </a:rPr>
              <a:t>Хүү тооцох үечлэлээс хамаараад нэрлэсэн ба үр ашигтай хүү зөрүүтэй байна. </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16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98120" y="163286"/>
            <a:ext cx="11750040" cy="446314"/>
          </a:xfrm>
        </p:spPr>
        <p:txBody>
          <a:bodyPr>
            <a:normAutofit fontScale="90000"/>
          </a:bodyPr>
          <a:lstStyle/>
          <a:p>
            <a:r>
              <a:rPr lang="mn-MN" b="1" dirty="0">
                <a:solidFill>
                  <a:srgbClr val="0000FF"/>
                </a:solidFill>
                <a:latin typeface="Times New Roman" panose="02020603050405020304" pitchFamily="18" charset="0"/>
                <a:cs typeface="Times New Roman" panose="02020603050405020304" pitchFamily="18" charset="0"/>
              </a:rPr>
              <a:t>Энгийн хүү</a:t>
            </a:r>
            <a:endParaRPr lang="en-US"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98120" y="609600"/>
                <a:ext cx="11750040" cy="6085114"/>
              </a:xfrm>
            </p:spPr>
            <p:txBody>
              <a:bodyPr>
                <a:normAutofit/>
              </a:bodyPr>
              <a:lstStyle/>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Хүлээн авсан, эсвэл төлсөн нийт хүүний төлбөр нь зээлийн анхны дүнтэй шууд хамааралтай үед хүүний төлбөрийн хэмжээ, хүү төлөх үеийн (хугацаа) тоо нь мөн шугаман хамааралтай байвал хүүний төлбөр, хүүний түвшинг </a:t>
                </a:r>
                <a:r>
                  <a:rPr lang="mn-MN" b="1" i="1" dirty="0">
                    <a:solidFill>
                      <a:srgbClr val="002060"/>
                    </a:solidFill>
                    <a:latin typeface="Times New Roman" panose="02020603050405020304" pitchFamily="18" charset="0"/>
                    <a:cs typeface="Times New Roman" panose="02020603050405020304" pitchFamily="18" charset="0"/>
                  </a:rPr>
                  <a:t>ЭНГИЙН ХҮҮ </a:t>
                </a:r>
                <a:r>
                  <a:rPr lang="mn-MN" dirty="0">
                    <a:solidFill>
                      <a:srgbClr val="002060"/>
                    </a:solidFill>
                    <a:latin typeface="Times New Roman" panose="02020603050405020304" pitchFamily="18" charset="0"/>
                    <a:cs typeface="Times New Roman" panose="02020603050405020304" pitchFamily="18" charset="0"/>
                  </a:rPr>
                  <a:t>гэнэ. </a:t>
                </a:r>
              </a:p>
              <a:p>
                <a:pPr lvl="1" algn="just">
                  <a:spcBef>
                    <a:spcPts val="0"/>
                  </a:spcBef>
                </a:pPr>
                <a:r>
                  <a:rPr lang="mn-MN" dirty="0">
                    <a:solidFill>
                      <a:srgbClr val="002060"/>
                    </a:solidFill>
                    <a:latin typeface="Times New Roman" panose="02020603050405020304" pitchFamily="18" charset="0"/>
                    <a:cs typeface="Times New Roman" panose="02020603050405020304" pitchFamily="18" charset="0"/>
                  </a:rPr>
                  <a:t>Орчин үеийн арилжааны практикт энгийн хүүг цөөн ашигладаг.</a:t>
                </a:r>
              </a:p>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Энгийн хүүг ашигласан үе дэх  нийт хүүний хэмжээ:</a:t>
                </a:r>
              </a:p>
              <a:p>
                <a:pPr marL="0" indent="0" algn="just">
                  <a:spcBef>
                    <a:spcPts val="0"/>
                  </a:spcBef>
                  <a:buNone/>
                </a:pPr>
                <a14:m>
                  <m:oMathPara xmlns:m="http://schemas.openxmlformats.org/officeDocument/2006/math">
                    <m:oMathParaPr>
                      <m:jc m:val="centerGroup"/>
                    </m:oMathParaPr>
                    <m:oMath xmlns:m="http://schemas.openxmlformats.org/officeDocument/2006/math">
                      <m:limLow>
                        <m:limLowPr>
                          <m:ctrlPr>
                            <a:rPr lang="en-US" sz="4000" b="1" i="1" smtClean="0">
                              <a:solidFill>
                                <a:srgbClr val="FF0000"/>
                              </a:solidFill>
                              <a:latin typeface="Cambria Math" panose="02040503050406030204" pitchFamily="18" charset="0"/>
                            </a:rPr>
                          </m:ctrlPr>
                        </m:limLowPr>
                        <m:e>
                          <m:r>
                            <a:rPr lang="en-US" sz="4000" b="1" i="1">
                              <a:solidFill>
                                <a:srgbClr val="FF0000"/>
                              </a:solidFill>
                              <a:latin typeface="Cambria Math" panose="02040503050406030204" pitchFamily="18" charset="0"/>
                            </a:rPr>
                            <m:t>𝑰</m:t>
                          </m:r>
                        </m:e>
                        <m:lim>
                          <m:r>
                            <a:rPr lang="en-US" sz="4000" b="1">
                              <a:solidFill>
                                <a:srgbClr val="FF0000"/>
                              </a:solidFill>
                              <a:latin typeface="Cambria Math" panose="02040503050406030204" pitchFamily="18" charset="0"/>
                            </a:rPr>
                            <m:t>−</m:t>
                          </m:r>
                        </m:lim>
                      </m:limLow>
                      <m:r>
                        <a:rPr lang="en-US" sz="4000" b="1">
                          <a:solidFill>
                            <a:srgbClr val="FF0000"/>
                          </a:solidFill>
                          <a:latin typeface="Cambria Math" panose="02040503050406030204" pitchFamily="18" charset="0"/>
                        </a:rPr>
                        <m:t>=</m:t>
                      </m:r>
                      <m:d>
                        <m:dPr>
                          <m:ctrlPr>
                            <a:rPr lang="en-US" sz="4000" b="1" i="1">
                              <a:solidFill>
                                <a:srgbClr val="FF0000"/>
                              </a:solidFill>
                              <a:latin typeface="Cambria Math" panose="02040503050406030204" pitchFamily="18" charset="0"/>
                            </a:rPr>
                          </m:ctrlPr>
                        </m:dPr>
                        <m:e>
                          <m:r>
                            <a:rPr lang="en-US" sz="4000" b="1" i="1">
                              <a:solidFill>
                                <a:srgbClr val="FF0000"/>
                              </a:solidFill>
                              <a:latin typeface="Cambria Math" panose="02040503050406030204" pitchFamily="18" charset="0"/>
                            </a:rPr>
                            <m:t>𝑷</m:t>
                          </m:r>
                        </m:e>
                      </m:d>
                      <m:d>
                        <m:dPr>
                          <m:ctrlPr>
                            <a:rPr lang="en-US" sz="4000" b="1" i="1">
                              <a:solidFill>
                                <a:srgbClr val="FF0000"/>
                              </a:solidFill>
                              <a:latin typeface="Cambria Math" panose="02040503050406030204" pitchFamily="18" charset="0"/>
                            </a:rPr>
                          </m:ctrlPr>
                        </m:dPr>
                        <m:e>
                          <m:r>
                            <a:rPr lang="en-US" sz="4000" b="1" i="1">
                              <a:solidFill>
                                <a:srgbClr val="FF0000"/>
                              </a:solidFill>
                              <a:latin typeface="Cambria Math" panose="02040503050406030204" pitchFamily="18" charset="0"/>
                            </a:rPr>
                            <m:t>𝑵</m:t>
                          </m:r>
                        </m:e>
                      </m:d>
                      <m:d>
                        <m:dPr>
                          <m:ctrlPr>
                            <a:rPr lang="en-US" sz="4000" b="1" i="1">
                              <a:solidFill>
                                <a:srgbClr val="FF0000"/>
                              </a:solidFill>
                              <a:latin typeface="Cambria Math" panose="02040503050406030204" pitchFamily="18" charset="0"/>
                            </a:rPr>
                          </m:ctrlPr>
                        </m:dPr>
                        <m:e>
                          <m:r>
                            <a:rPr lang="en-US" sz="4000" b="1" i="1">
                              <a:solidFill>
                                <a:srgbClr val="FF0000"/>
                              </a:solidFill>
                              <a:latin typeface="Cambria Math" panose="02040503050406030204" pitchFamily="18" charset="0"/>
                            </a:rPr>
                            <m:t>𝒊</m:t>
                          </m:r>
                        </m:e>
                      </m:d>
                    </m:oMath>
                  </m:oMathPara>
                </a14:m>
                <a:endParaRPr lang="mn-MN" sz="4000" b="1" dirty="0">
                  <a:solidFill>
                    <a:srgbClr val="002060"/>
                  </a:solidFill>
                  <a:latin typeface="Times New Roman" panose="02020603050405020304" pitchFamily="18" charset="0"/>
                  <a:cs typeface="Times New Roman" panose="02020603050405020304" pitchFamily="18" charset="0"/>
                </a:endParaRPr>
              </a:p>
              <a:p>
                <a:pPr lvl="2" algn="just">
                  <a:spcBef>
                    <a:spcPts val="0"/>
                  </a:spcBef>
                </a:pPr>
                <a:r>
                  <a:rPr lang="mn-MN" sz="2400" dirty="0">
                    <a:solidFill>
                      <a:srgbClr val="002060"/>
                    </a:solidFill>
                    <a:latin typeface="Times New Roman" panose="02020603050405020304" pitchFamily="18" charset="0"/>
                    <a:cs typeface="Times New Roman" panose="02020603050405020304" pitchFamily="18" charset="0"/>
                  </a:rPr>
                  <a:t>Энд: </a:t>
                </a:r>
                <a14:m>
                  <m:oMath xmlns:m="http://schemas.openxmlformats.org/officeDocument/2006/math">
                    <m:r>
                      <a:rPr lang="en-US" sz="2400" b="1" i="1" dirty="0" smtClean="0">
                        <a:solidFill>
                          <a:srgbClr val="FF0000"/>
                        </a:solidFill>
                        <a:latin typeface="Cambria Math" panose="02040503050406030204" pitchFamily="18" charset="0"/>
                      </a:rPr>
                      <m:t>𝑷</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Үндсэн зээлийн нийт дүн; </a:t>
                </a:r>
                <a14:m>
                  <m:oMath xmlns:m="http://schemas.openxmlformats.org/officeDocument/2006/math">
                    <m:r>
                      <a:rPr lang="en-US" sz="2400" b="1" i="1" dirty="0" smtClean="0">
                        <a:solidFill>
                          <a:srgbClr val="FF0000"/>
                        </a:solidFill>
                        <a:latin typeface="Cambria Math" panose="02040503050406030204" pitchFamily="18" charset="0"/>
                      </a:rPr>
                      <m:t>𝑵</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хүү төлөх хугацааны тоо (жишээлбэл, жилээр); </a:t>
                </a:r>
                <a14:m>
                  <m:oMath xmlns:m="http://schemas.openxmlformats.org/officeDocument/2006/math">
                    <m:r>
                      <a:rPr lang="en-US" sz="2400" i="1" dirty="0" smtClean="0">
                        <a:solidFill>
                          <a:srgbClr val="002060"/>
                        </a:solidFill>
                        <a:latin typeface="Cambria Math" panose="02040503050406030204" pitchFamily="18" charset="0"/>
                      </a:rPr>
                      <m:t>𝑖</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нэгж хугацаанд төлөх хүүний түвшин; </a:t>
                </a:r>
                <a14:m>
                  <m:oMath xmlns:m="http://schemas.openxmlformats.org/officeDocument/2006/math">
                    <m:limLow>
                      <m:limLowPr>
                        <m:ctrlPr>
                          <a:rPr lang="en-US" sz="2400" b="1" i="1" smtClean="0">
                            <a:solidFill>
                              <a:srgbClr val="FF0000"/>
                            </a:solidFill>
                            <a:latin typeface="Cambria Math" panose="02040503050406030204" pitchFamily="18" charset="0"/>
                          </a:rPr>
                        </m:ctrlPr>
                      </m:limLowPr>
                      <m:e>
                        <m:r>
                          <a:rPr lang="en-US" sz="2400" b="1" i="1">
                            <a:solidFill>
                              <a:srgbClr val="FF0000"/>
                            </a:solidFill>
                            <a:latin typeface="Cambria Math" panose="02040503050406030204" pitchFamily="18" charset="0"/>
                          </a:rPr>
                          <m:t>𝑰</m:t>
                        </m:r>
                      </m:e>
                      <m:lim>
                        <m:r>
                          <a:rPr lang="en-US" sz="2400" b="1">
                            <a:solidFill>
                              <a:srgbClr val="FF0000"/>
                            </a:solidFill>
                            <a:latin typeface="Cambria Math" panose="02040503050406030204" pitchFamily="18" charset="0"/>
                          </a:rPr>
                          <m:t>−</m:t>
                        </m:r>
                      </m:lim>
                    </m:limLow>
                    <m:r>
                      <a:rPr lang="en-US" sz="2400" b="1" i="1">
                        <a:solidFill>
                          <a:srgbClr val="FF0000"/>
                        </a:solidFill>
                        <a:latin typeface="Cambria Math" panose="02040503050406030204" pitchFamily="18" charset="0"/>
                      </a:rPr>
                      <m:t> </m:t>
                    </m:r>
                  </m:oMath>
                </a14:m>
                <a:r>
                  <a:rPr lang="mn-MN" sz="2400" dirty="0">
                    <a:solidFill>
                      <a:srgbClr val="002060"/>
                    </a:solidFill>
                    <a:latin typeface="Times New Roman" panose="02020603050405020304" pitchFamily="18" charset="0"/>
                    <a:cs typeface="Times New Roman" panose="02020603050405020304" pitchFamily="18" charset="0"/>
                  </a:rPr>
                  <a:t>− = хүү төлөх хугацаан дахь нийт хүүний хэмжээ. </a:t>
                </a:r>
              </a:p>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Хугацааны эцэст төлөх нийт төлбөр</a:t>
                </a:r>
                <a:r>
                  <a:rPr lang="en-US"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sz="3600" b="1" i="1" smtClean="0">
                        <a:solidFill>
                          <a:srgbClr val="FF0000"/>
                        </a:solidFill>
                        <a:latin typeface="Cambria Math" panose="02040503050406030204" pitchFamily="18" charset="0"/>
                      </a:rPr>
                      <m:t>𝑷</m:t>
                    </m:r>
                    <m:r>
                      <a:rPr lang="en-US" sz="3600" b="1" i="1" smtClean="0">
                        <a:solidFill>
                          <a:srgbClr val="FF0000"/>
                        </a:solidFill>
                        <a:latin typeface="Cambria Math" panose="02040503050406030204" pitchFamily="18" charset="0"/>
                      </a:rPr>
                      <m:t>+</m:t>
                    </m:r>
                    <m:limLow>
                      <m:limLowPr>
                        <m:ctrlPr>
                          <a:rPr lang="en-US" sz="3600" b="1" i="1" smtClean="0">
                            <a:solidFill>
                              <a:srgbClr val="FF0000"/>
                            </a:solidFill>
                            <a:latin typeface="Cambria Math" panose="02040503050406030204" pitchFamily="18" charset="0"/>
                          </a:rPr>
                        </m:ctrlPr>
                      </m:limLowPr>
                      <m:e>
                        <m:r>
                          <a:rPr lang="en-US" sz="3600" b="1" i="1">
                            <a:solidFill>
                              <a:srgbClr val="FF0000"/>
                            </a:solidFill>
                            <a:latin typeface="Cambria Math" panose="02040503050406030204" pitchFamily="18" charset="0"/>
                          </a:rPr>
                          <m:t>𝑰</m:t>
                        </m:r>
                      </m:e>
                      <m:lim>
                        <m:r>
                          <a:rPr lang="en-US" sz="3600" b="1">
                            <a:solidFill>
                              <a:srgbClr val="FF0000"/>
                            </a:solidFill>
                            <a:latin typeface="Cambria Math" panose="02040503050406030204" pitchFamily="18" charset="0"/>
                          </a:rPr>
                          <m:t>−</m:t>
                        </m:r>
                      </m:lim>
                    </m:limLow>
                    <m:r>
                      <a:rPr lang="en-US" sz="3600" i="1">
                        <a:solidFill>
                          <a:srgbClr val="002060"/>
                        </a:solidFill>
                        <a:latin typeface="Cambria Math" panose="02040503050406030204" pitchFamily="18" charset="0"/>
                      </a:rPr>
                      <m:t> </m:t>
                    </m:r>
                  </m:oMath>
                </a14:m>
                <a:r>
                  <a:rPr lang="mn-MN" dirty="0">
                    <a:solidFill>
                      <a:srgbClr val="002060"/>
                    </a:solidFill>
                    <a:latin typeface="Times New Roman" panose="02020603050405020304" pitchFamily="18" charset="0"/>
                    <a:cs typeface="Times New Roman" panose="02020603050405020304" pitchFamily="18" charset="0"/>
                  </a:rPr>
                  <a:t> байна. </a:t>
                </a:r>
              </a:p>
              <a:p>
                <a:pPr lvl="1" algn="just">
                  <a:spcBef>
                    <a:spcPts val="0"/>
                  </a:spcBef>
                </a:pPr>
                <a:r>
                  <a:rPr lang="mn-MN" sz="2800" b="1" dirty="0">
                    <a:solidFill>
                      <a:srgbClr val="002060"/>
                    </a:solidFill>
                    <a:latin typeface="Times New Roman" panose="02020603050405020304" pitchFamily="18" charset="0"/>
                    <a:cs typeface="Times New Roman" panose="02020603050405020304" pitchFamily="18" charset="0"/>
                  </a:rPr>
                  <a:t>Жишээ:</a:t>
                </a:r>
                <a:r>
                  <a:rPr lang="mn-MN" sz="2800" dirty="0">
                    <a:solidFill>
                      <a:srgbClr val="002060"/>
                    </a:solidFill>
                    <a:latin typeface="Times New Roman" panose="02020603050405020304" pitchFamily="18" charset="0"/>
                    <a:cs typeface="Times New Roman" panose="02020603050405020304" pitchFamily="18" charset="0"/>
                  </a:rPr>
                  <a:t> $1,000-ыг 3 жилийн туршид энгийн 10% -ийн хүүтэй зээлээр авсан бол  хүүний төлбөрийн хэмжээ: 𝐼=$1,000×3×0.10=$300 байна. Гурван жилийн эцэст төлөх нийт дүн: $1,000 + $300 = $1,300 болно.</a:t>
                </a:r>
                <a:endParaRPr lang="mn-MN"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198120" y="609600"/>
                <a:ext cx="11750040" cy="6085114"/>
              </a:xfrm>
              <a:blipFill>
                <a:blip r:embed="rId3"/>
                <a:stretch>
                  <a:fillRect l="-934" t="-1703" r="-1038" b="-301"/>
                </a:stretch>
              </a:blipFill>
            </p:spPr>
            <p:txBody>
              <a:bodyPr/>
              <a:lstStyle/>
              <a:p>
                <a:r>
                  <a:rPr lang="en-US">
                    <a:noFill/>
                  </a:rPr>
                  <a:t> </a:t>
                </a:r>
              </a:p>
            </p:txBody>
          </p:sp>
        </mc:Fallback>
      </mc:AlternateContent>
    </p:spTree>
    <p:extLst>
      <p:ext uri="{BB962C8B-B14F-4D97-AF65-F5344CB8AC3E}">
        <p14:creationId xmlns:p14="http://schemas.microsoft.com/office/powerpoint/2010/main" val="410311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89137" y="163286"/>
            <a:ext cx="11738193" cy="340495"/>
          </a:xfrm>
        </p:spPr>
        <p:txBody>
          <a:bodyPr>
            <a:normAutofit fontScale="90000"/>
          </a:bodyPr>
          <a:lstStyle/>
          <a:p>
            <a:r>
              <a:rPr lang="mn-MN" b="1" dirty="0">
                <a:solidFill>
                  <a:srgbClr val="0000FF"/>
                </a:solidFill>
                <a:latin typeface="Times New Roman" panose="02020603050405020304" pitchFamily="18" charset="0"/>
                <a:cs typeface="Times New Roman" panose="02020603050405020304" pitchFamily="18" charset="0"/>
              </a:rPr>
              <a:t>Нийлмэл хүү</a:t>
            </a:r>
            <a:endParaRPr lang="en-US"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37493" y="677636"/>
            <a:ext cx="11841480" cy="5502728"/>
          </a:xfrm>
        </p:spPr>
        <p:txBody>
          <a:bodyPr>
            <a:normAutofit/>
          </a:bodyPr>
          <a:lstStyle/>
          <a:p>
            <a:pPr algn="just">
              <a:spcBef>
                <a:spcPts val="200"/>
              </a:spcBef>
            </a:pPr>
            <a:r>
              <a:rPr lang="mn-MN" dirty="0">
                <a:solidFill>
                  <a:srgbClr val="002060"/>
                </a:solidFill>
                <a:latin typeface="Times New Roman" panose="02020603050405020304" pitchFamily="18" charset="0"/>
                <a:cs typeface="Times New Roman" panose="02020603050405020304" pitchFamily="18" charset="0"/>
              </a:rPr>
              <a:t>Зээл төлөх дурын үед (жишээлбэл, жил) төлөх хүүний хэмжээг зээлийн үндсэн дүн дээр тухайн тайлант үеийн эхэн хүртэл хуримтлагдсан хүүг нэмж тооцсон бол энэ хүүг </a:t>
            </a:r>
            <a:r>
              <a:rPr lang="mn-MN" b="1" i="1" dirty="0">
                <a:solidFill>
                  <a:srgbClr val="002060"/>
                </a:solidFill>
                <a:latin typeface="Times New Roman" panose="02020603050405020304" pitchFamily="18" charset="0"/>
                <a:cs typeface="Times New Roman" panose="02020603050405020304" pitchFamily="18" charset="0"/>
              </a:rPr>
              <a:t>НИЙЛМЭЛ ХҮҮ </a:t>
            </a:r>
            <a:r>
              <a:rPr lang="mn-MN" dirty="0">
                <a:solidFill>
                  <a:srgbClr val="002060"/>
                </a:solidFill>
                <a:latin typeface="Times New Roman" panose="02020603050405020304" pitchFamily="18" charset="0"/>
                <a:cs typeface="Times New Roman" panose="02020603050405020304" pitchFamily="18" charset="0"/>
              </a:rPr>
              <a:t>гэнэ. </a:t>
            </a:r>
          </a:p>
          <a:p>
            <a:pPr algn="just">
              <a:spcBef>
                <a:spcPts val="200"/>
              </a:spcBef>
            </a:pPr>
            <a:r>
              <a:rPr lang="mn-MN" dirty="0">
                <a:solidFill>
                  <a:srgbClr val="002060"/>
                </a:solidFill>
                <a:latin typeface="Times New Roman" panose="02020603050405020304" pitchFamily="18" charset="0"/>
                <a:cs typeface="Times New Roman" panose="02020603050405020304" pitchFamily="18" charset="0"/>
              </a:rPr>
              <a:t>Хүүний төлбөрийн хэмжээ нэмэгдэж байгааг дараах хүснэгтээс харж болно. </a:t>
            </a:r>
          </a:p>
          <a:p>
            <a:pPr lvl="1" algn="just">
              <a:spcBef>
                <a:spcPts val="200"/>
              </a:spcBef>
            </a:pPr>
            <a:r>
              <a:rPr lang="mn-MN" b="1" dirty="0">
                <a:solidFill>
                  <a:srgbClr val="002060"/>
                </a:solidFill>
                <a:latin typeface="Times New Roman" panose="02020603050405020304" pitchFamily="18" charset="0"/>
                <a:cs typeface="Times New Roman" panose="02020603050405020304" pitchFamily="18" charset="0"/>
              </a:rPr>
              <a:t>Жишээ: </a:t>
            </a:r>
            <a:r>
              <a:rPr lang="mn-MN" dirty="0">
                <a:solidFill>
                  <a:srgbClr val="002060"/>
                </a:solidFill>
                <a:latin typeface="Times New Roman" panose="02020603050405020304" pitchFamily="18" charset="0"/>
                <a:cs typeface="Times New Roman" panose="02020603050405020304" pitchFamily="18" charset="0"/>
              </a:rPr>
              <a:t>$1000-ыг 10% -ийн хүүтэйгээр гурван үеийн туршид зээлсэн бол:</a:t>
            </a:r>
          </a:p>
          <a:p>
            <a:pPr algn="just">
              <a:spcBef>
                <a:spcPts val="200"/>
              </a:spcBef>
            </a:pPr>
            <a:endParaRPr lang="mn-MN"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FE25981-E5E0-0D43-8014-E40884993BC1}"/>
              </a:ext>
            </a:extLst>
          </p:cNvPr>
          <p:cNvGraphicFramePr>
            <a:graphicFrameLocks noGrp="1"/>
          </p:cNvGraphicFramePr>
          <p:nvPr>
            <p:extLst>
              <p:ext uri="{D42A27DB-BD31-4B8C-83A1-F6EECF244321}">
                <p14:modId xmlns:p14="http://schemas.microsoft.com/office/powerpoint/2010/main" val="1726544111"/>
              </p:ext>
            </p:extLst>
          </p:nvPr>
        </p:nvGraphicFramePr>
        <p:xfrm>
          <a:off x="213027" y="3077936"/>
          <a:ext cx="11765946" cy="2930303"/>
        </p:xfrm>
        <a:graphic>
          <a:graphicData uri="http://schemas.openxmlformats.org/drawingml/2006/table">
            <a:tbl>
              <a:tblPr firstRow="1" bandRow="1">
                <a:tableStyleId>{5C22544A-7EE6-4342-B048-85BDC9FD1C3A}</a:tableStyleId>
              </a:tblPr>
              <a:tblGrid>
                <a:gridCol w="995028">
                  <a:extLst>
                    <a:ext uri="{9D8B030D-6E8A-4147-A177-3AD203B41FA5}">
                      <a16:colId xmlns:a16="http://schemas.microsoft.com/office/drawing/2014/main" val="2774656068"/>
                    </a:ext>
                  </a:extLst>
                </a:gridCol>
                <a:gridCol w="2932500">
                  <a:extLst>
                    <a:ext uri="{9D8B030D-6E8A-4147-A177-3AD203B41FA5}">
                      <a16:colId xmlns:a16="http://schemas.microsoft.com/office/drawing/2014/main" val="761819509"/>
                    </a:ext>
                  </a:extLst>
                </a:gridCol>
                <a:gridCol w="4242112">
                  <a:extLst>
                    <a:ext uri="{9D8B030D-6E8A-4147-A177-3AD203B41FA5}">
                      <a16:colId xmlns:a16="http://schemas.microsoft.com/office/drawing/2014/main" val="3859219522"/>
                    </a:ext>
                  </a:extLst>
                </a:gridCol>
                <a:gridCol w="3596306">
                  <a:extLst>
                    <a:ext uri="{9D8B030D-6E8A-4147-A177-3AD203B41FA5}">
                      <a16:colId xmlns:a16="http://schemas.microsoft.com/office/drawing/2014/main" val="1255048998"/>
                    </a:ext>
                  </a:extLst>
                </a:gridCol>
              </a:tblGrid>
              <a:tr h="866807">
                <a:tc rowSpan="2">
                  <a:txBody>
                    <a:bodyPr/>
                    <a:lstStyle/>
                    <a:p>
                      <a:pPr algn="ctr"/>
                      <a:r>
                        <a:rPr lang="mn-MN" sz="2400" dirty="0">
                          <a:latin typeface="Times New Roman" panose="02020603050405020304" pitchFamily="18" charset="0"/>
                          <a:cs typeface="Times New Roman" panose="02020603050405020304" pitchFamily="18" charset="0"/>
                        </a:rPr>
                        <a:t>Үе</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mn-MN" sz="2400" dirty="0">
                          <a:latin typeface="Times New Roman" panose="02020603050405020304" pitchFamily="18" charset="0"/>
                          <a:cs typeface="Times New Roman" panose="02020603050405020304" pitchFamily="18" charset="0"/>
                        </a:rPr>
                        <a:t>Үеийн</a:t>
                      </a:r>
                      <a:r>
                        <a:rPr lang="mn-MN" sz="2400" baseline="0" dirty="0">
                          <a:latin typeface="Times New Roman" panose="02020603050405020304" pitchFamily="18" charset="0"/>
                          <a:cs typeface="Times New Roman" panose="02020603050405020304" pitchFamily="18" charset="0"/>
                        </a:rPr>
                        <a:t> эхэн дэх зээлийн хэмжээ</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mn-MN" sz="2400" dirty="0">
                          <a:latin typeface="Times New Roman" panose="02020603050405020304" pitchFamily="18" charset="0"/>
                          <a:cs typeface="Times New Roman" panose="02020603050405020304" pitchFamily="18" charset="0"/>
                        </a:rPr>
                        <a:t>Хугацааны туршид төлөх</a:t>
                      </a:r>
                      <a:r>
                        <a:rPr lang="mn-MN" sz="2400" baseline="0" dirty="0">
                          <a:latin typeface="Times New Roman" panose="02020603050405020304" pitchFamily="18" charset="0"/>
                          <a:cs typeface="Times New Roman" panose="02020603050405020304" pitchFamily="18" charset="0"/>
                        </a:rPr>
                        <a:t> хүүний хэмжээ</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mn-MN" sz="2400" dirty="0">
                          <a:latin typeface="Times New Roman" panose="02020603050405020304" pitchFamily="18" charset="0"/>
                          <a:cs typeface="Times New Roman" panose="02020603050405020304" pitchFamily="18" charset="0"/>
                        </a:rPr>
                        <a:t>Хугацааны эцэст</a:t>
                      </a:r>
                      <a:r>
                        <a:rPr lang="mn-MN" sz="2400" baseline="0" dirty="0">
                          <a:latin typeface="Times New Roman" panose="02020603050405020304" pitchFamily="18" charset="0"/>
                          <a:cs typeface="Times New Roman" panose="02020603050405020304" pitchFamily="18" charset="0"/>
                        </a:rPr>
                        <a:t> төлөх дүн</a:t>
                      </a:r>
                      <a:endParaRPr 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3034306"/>
                  </a:ext>
                </a:extLst>
              </a:tr>
              <a:tr h="417018">
                <a:tc vMerge="1">
                  <a:txBody>
                    <a:bodyPr/>
                    <a:lstStyle/>
                    <a:p>
                      <a:endParaRPr lang="en-US" dirty="0"/>
                    </a:p>
                  </a:txBody>
                  <a:tcP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(2)=(1)*10%</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(3)=(1)+(2)</a:t>
                      </a:r>
                    </a:p>
                  </a:txBody>
                  <a:tcPr marL="68580" marR="68580" marT="0" marB="0" anchor="ctr"/>
                </a:tc>
                <a:extLst>
                  <a:ext uri="{0D108BD9-81ED-4DB2-BD59-A6C34878D82A}">
                    <a16:rowId xmlns:a16="http://schemas.microsoft.com/office/drawing/2014/main" val="427992899"/>
                  </a:ext>
                </a:extLst>
              </a:tr>
              <a:tr h="481560">
                <a:tc>
                  <a:txBody>
                    <a:bodyPr/>
                    <a:lstStyle/>
                    <a:p>
                      <a:pPr algn="ctr"/>
                      <a:r>
                        <a:rPr lang="mn-MN" sz="2400" dirty="0">
                          <a:latin typeface="Times New Roman" panose="02020603050405020304" pitchFamily="18" charset="0"/>
                          <a:cs typeface="Times New Roman" panose="02020603050405020304" pitchFamily="18" charset="0"/>
                        </a:rPr>
                        <a:t>1</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$1,000</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marL="0" algn="ctr" defTabSz="914400" rtl="0" eaLnBrk="1" latinLnBrk="0" hangingPunct="1">
                        <a:lnSpc>
                          <a:spcPct val="115000"/>
                        </a:lnSpc>
                        <a:spcAft>
                          <a:spcPts val="0"/>
                        </a:spcAft>
                      </a:pPr>
                      <a:r>
                        <a:rPr lang="en-US" sz="3200" kern="1200">
                          <a:solidFill>
                            <a:schemeClr val="dk1"/>
                          </a:solidFill>
                          <a:latin typeface="Times New Roman" panose="02020603050405020304" pitchFamily="18" charset="0"/>
                          <a:ea typeface="+mn-ea"/>
                          <a:cs typeface="Times New Roman" panose="02020603050405020304" pitchFamily="18" charset="0"/>
                        </a:rPr>
                        <a:t>$1,100</a:t>
                      </a:r>
                    </a:p>
                  </a:txBody>
                  <a:tcPr marL="68580" marR="68580" marT="0" marB="0" anchor="ctr"/>
                </a:tc>
                <a:extLst>
                  <a:ext uri="{0D108BD9-81ED-4DB2-BD59-A6C34878D82A}">
                    <a16:rowId xmlns:a16="http://schemas.microsoft.com/office/drawing/2014/main" val="1915377255"/>
                  </a:ext>
                </a:extLst>
              </a:tr>
              <a:tr h="481560">
                <a:tc>
                  <a:txBody>
                    <a:bodyPr/>
                    <a:lstStyle/>
                    <a:p>
                      <a:pPr algn="ctr"/>
                      <a:r>
                        <a:rPr lang="mn-MN" sz="2400" dirty="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$1,100</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$110</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$1,210</a:t>
                      </a:r>
                    </a:p>
                  </a:txBody>
                  <a:tcPr marL="68580" marR="68580" marT="0" marB="0" anchor="ctr"/>
                </a:tc>
                <a:extLst>
                  <a:ext uri="{0D108BD9-81ED-4DB2-BD59-A6C34878D82A}">
                    <a16:rowId xmlns:a16="http://schemas.microsoft.com/office/drawing/2014/main" val="2648666970"/>
                  </a:ext>
                </a:extLst>
              </a:tr>
              <a:tr h="481560">
                <a:tc>
                  <a:txBody>
                    <a:bodyPr/>
                    <a:lstStyle/>
                    <a:p>
                      <a:pPr algn="ctr"/>
                      <a:r>
                        <a:rPr lang="mn-MN" sz="2400" dirty="0">
                          <a:latin typeface="Times New Roman" panose="02020603050405020304" pitchFamily="18" charset="0"/>
                          <a:cs typeface="Times New Roman" panose="02020603050405020304" pitchFamily="18" charset="0"/>
                        </a:rPr>
                        <a:t>3</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lnSpc>
                          <a:spcPct val="115000"/>
                        </a:lnSpc>
                        <a:spcAft>
                          <a:spcPts val="0"/>
                        </a:spcAft>
                      </a:pPr>
                      <a:r>
                        <a:rPr lang="en-US" sz="3200" kern="1200">
                          <a:solidFill>
                            <a:schemeClr val="dk1"/>
                          </a:solidFill>
                          <a:latin typeface="Times New Roman" panose="02020603050405020304" pitchFamily="18" charset="0"/>
                          <a:ea typeface="+mn-ea"/>
                          <a:cs typeface="Times New Roman" panose="02020603050405020304" pitchFamily="18" charset="0"/>
                        </a:rPr>
                        <a:t>$1,210</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$121</a:t>
                      </a:r>
                    </a:p>
                  </a:txBody>
                  <a:tcPr marL="68580" marR="68580" marT="0" marB="0" anchor="ctr"/>
                </a:tc>
                <a:tc>
                  <a:txBody>
                    <a:bodyPr/>
                    <a:lstStyle/>
                    <a:p>
                      <a:pPr marL="0" algn="ctr" defTabSz="914400" rtl="0" eaLnBrk="1" latinLnBrk="0" hangingPunct="1">
                        <a:lnSpc>
                          <a:spcPct val="115000"/>
                        </a:lnSpc>
                        <a:spcAft>
                          <a:spcPts val="0"/>
                        </a:spcAft>
                      </a:pPr>
                      <a:r>
                        <a:rPr lang="en-US" sz="3200" kern="1200" dirty="0">
                          <a:solidFill>
                            <a:schemeClr val="dk1"/>
                          </a:solidFill>
                          <a:latin typeface="Times New Roman" panose="02020603050405020304" pitchFamily="18" charset="0"/>
                          <a:ea typeface="+mn-ea"/>
                          <a:cs typeface="Times New Roman" panose="02020603050405020304" pitchFamily="18" charset="0"/>
                        </a:rPr>
                        <a:t>$1,331</a:t>
                      </a:r>
                    </a:p>
                  </a:txBody>
                  <a:tcPr marL="68580" marR="68580" marT="0" marB="0" anchor="ctr"/>
                </a:tc>
                <a:extLst>
                  <a:ext uri="{0D108BD9-81ED-4DB2-BD59-A6C34878D82A}">
                    <a16:rowId xmlns:a16="http://schemas.microsoft.com/office/drawing/2014/main" val="3096326941"/>
                  </a:ext>
                </a:extLst>
              </a:tr>
            </a:tbl>
          </a:graphicData>
        </a:graphic>
      </p:graphicFrame>
    </p:spTree>
    <p:extLst>
      <p:ext uri="{BB962C8B-B14F-4D97-AF65-F5344CB8AC3E}">
        <p14:creationId xmlns:p14="http://schemas.microsoft.com/office/powerpoint/2010/main" val="1574821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5533B-93A3-2B71-EB05-C046E12656C6}"/>
              </a:ext>
            </a:extLst>
          </p:cNvPr>
          <p:cNvSpPr>
            <a:spLocks noGrp="1"/>
          </p:cNvSpPr>
          <p:nvPr>
            <p:ph type="title"/>
          </p:nvPr>
        </p:nvSpPr>
        <p:spPr>
          <a:xfrm>
            <a:off x="65317" y="130629"/>
            <a:ext cx="11903526" cy="444386"/>
          </a:xfrm>
        </p:spPr>
        <p:txBody>
          <a:bodyPr>
            <a:noAutofit/>
          </a:bodyPr>
          <a:lstStyle/>
          <a:p>
            <a:r>
              <a:rPr lang="ru-RU" sz="3600" b="1" dirty="0">
                <a:solidFill>
                  <a:srgbClr val="0000FF"/>
                </a:solidFill>
                <a:latin typeface="Times New Roman" panose="02020603050405020304" pitchFamily="18" charset="0"/>
                <a:cs typeface="Times New Roman" panose="02020603050405020304" pitchFamily="18" charset="0"/>
              </a:rPr>
              <a:t>Энгийн болон нийлмэл хүүний график харьцуулалт</a:t>
            </a:r>
            <a:endParaRPr lang="en-US" sz="3600" b="1" dirty="0">
              <a:solidFill>
                <a:srgbClr val="0000FF"/>
              </a:solidFill>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4DAA6B8E-D27A-2E58-5574-2F926EFFA46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0" y="607839"/>
            <a:ext cx="6981092" cy="5692732"/>
          </a:xfrm>
          <a:prstGeom prst="rect">
            <a:avLst/>
          </a:prstGeom>
        </p:spPr>
      </p:pic>
      <p:sp>
        <p:nvSpPr>
          <p:cNvPr id="7" name="Content Placeholder 2">
            <a:extLst>
              <a:ext uri="{FF2B5EF4-FFF2-40B4-BE49-F238E27FC236}">
                <a16:creationId xmlns:a16="http://schemas.microsoft.com/office/drawing/2014/main" id="{CBC48982-509F-4B4A-A48F-C0F07428D1D7}"/>
              </a:ext>
            </a:extLst>
          </p:cNvPr>
          <p:cNvSpPr txBox="1">
            <a:spLocks/>
          </p:cNvSpPr>
          <p:nvPr/>
        </p:nvSpPr>
        <p:spPr>
          <a:xfrm>
            <a:off x="6858000" y="575014"/>
            <a:ext cx="5110842" cy="54905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mn-MN" dirty="0">
                <a:latin typeface="Times New Roman" panose="02020603050405020304" pitchFamily="18" charset="0"/>
                <a:cs typeface="Times New Roman" panose="02020603050405020304" pitchFamily="18" charset="0"/>
              </a:rPr>
              <a:t>Дээрх зургаас харвал,</a:t>
            </a:r>
          </a:p>
          <a:p>
            <a:pPr marL="279400" lvl="1" algn="just">
              <a:spcBef>
                <a:spcPts val="0"/>
              </a:spcBef>
            </a:pPr>
            <a:r>
              <a:rPr lang="mn-MN" dirty="0">
                <a:latin typeface="Times New Roman" panose="02020603050405020304" pitchFamily="18" charset="0"/>
                <a:cs typeface="Times New Roman" panose="02020603050405020304" pitchFamily="18" charset="0"/>
              </a:rPr>
              <a:t>Энгийн хүү болон нийлмэл хүүний хоорондох ялгаа нь хуримтлагдсан хүүний нөлөөгөөр үүссэн байна. </a:t>
            </a:r>
          </a:p>
          <a:p>
            <a:pPr marL="231775" lvl="1" indent="0" algn="just">
              <a:spcBef>
                <a:spcPts val="0"/>
              </a:spcBef>
              <a:buFont typeface="Arial" panose="020B0604020202020204" pitchFamily="34" charset="0"/>
              <a:buNone/>
            </a:pPr>
            <a:r>
              <a:rPr lang="mn-MN" sz="2000" b="1" dirty="0">
                <a:latin typeface="Times New Roman" panose="02020603050405020304" pitchFamily="18" charset="0"/>
                <a:cs typeface="Times New Roman" panose="02020603050405020304" pitchFamily="18" charset="0"/>
              </a:rPr>
              <a:t>Ө.х, хүүнээс хүү бодсон тооцоолол юм. </a:t>
            </a:r>
          </a:p>
          <a:p>
            <a:pPr marL="279400" lvl="1" algn="just">
              <a:spcBef>
                <a:spcPts val="0"/>
              </a:spcBef>
            </a:pPr>
            <a:r>
              <a:rPr lang="mn-MN" dirty="0">
                <a:latin typeface="Times New Roman" panose="02020603050405020304" pitchFamily="18" charset="0"/>
                <a:cs typeface="Times New Roman" panose="02020603050405020304" pitchFamily="18" charset="0"/>
              </a:rPr>
              <a:t>Энэ зөрүү их хэмжээний мөнгө, эсвэл өндөр хүүтэй, эсвэл хүү тооцоолох үеийн тоо их байх үед илүү их байх болно. </a:t>
            </a:r>
          </a:p>
          <a:p>
            <a:pPr algn="just">
              <a:spcBef>
                <a:spcPts val="0"/>
              </a:spcBef>
            </a:pPr>
            <a:r>
              <a:rPr lang="mn-MN" dirty="0">
                <a:latin typeface="Times New Roman" panose="02020603050405020304" pitchFamily="18" charset="0"/>
                <a:cs typeface="Times New Roman" panose="02020603050405020304" pitchFamily="18" charset="0"/>
              </a:rPr>
              <a:t>Харин энгийн хүү нь мөнгөний цаг хугацааны үнэ цэнийг авч үздэг боловч, хүүний хүүг тооцдоггүй. </a:t>
            </a:r>
          </a:p>
          <a:p>
            <a:pPr algn="just">
              <a:spcBef>
                <a:spcPts val="0"/>
              </a:spcBef>
            </a:pPr>
            <a:r>
              <a:rPr lang="mn-MN" b="1" dirty="0">
                <a:latin typeface="Times New Roman" panose="02020603050405020304" pitchFamily="18" charset="0"/>
                <a:cs typeface="Times New Roman" panose="02020603050405020304" pitchFamily="18" charset="0"/>
              </a:rPr>
              <a:t>Нийлмэл хүүг практикт илүү түгээмэл хэрэглэдэг.</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463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21920" y="163286"/>
            <a:ext cx="11231880" cy="583474"/>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Эквивалентын тухай ойлголт</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21920" y="746760"/>
            <a:ext cx="11948160" cy="5502728"/>
          </a:xfrm>
        </p:spPr>
        <p:txBody>
          <a:bodyPr>
            <a:normAutofit lnSpcReduction="10000"/>
          </a:bodyPr>
          <a:lstStyle/>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Ижил төстэй үр дүн гаргах, ижил зорилгод үйлчлэх, эсвэл ижил чиг үүргийг гүйцэтгэхэд хэд хэдэн хувилбарыг харьцуулах хэрэгтэй. Энэ нь зарим төрлийн эдийн засгийн судалгаанд боломжгүй байдаг. </a:t>
            </a:r>
          </a:p>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Тиймээс, хувилбаруудын харьцуулалтыг </a:t>
            </a:r>
          </a:p>
          <a:p>
            <a:pPr marL="971550" lvl="1" indent="-514350" algn="just">
              <a:spcBef>
                <a:spcPts val="0"/>
              </a:spcBef>
              <a:buFont typeface="+mj-lt"/>
              <a:buAutoNum type="romanUcPeriod"/>
            </a:pPr>
            <a:r>
              <a:rPr lang="mn-MN" dirty="0">
                <a:solidFill>
                  <a:srgbClr val="002060"/>
                </a:solidFill>
                <a:latin typeface="Times New Roman" panose="02020603050405020304" pitchFamily="18" charset="0"/>
                <a:cs typeface="Times New Roman" panose="02020603050405020304" pitchFamily="18" charset="0"/>
              </a:rPr>
              <a:t>Хүүний хэмжээ </a:t>
            </a:r>
          </a:p>
          <a:p>
            <a:pPr marL="971550" lvl="1" indent="-514350" algn="just">
              <a:spcBef>
                <a:spcPts val="0"/>
              </a:spcBef>
              <a:buFont typeface="+mj-lt"/>
              <a:buAutoNum type="romanUcPeriod"/>
            </a:pPr>
            <a:r>
              <a:rPr lang="mn-MN" dirty="0">
                <a:solidFill>
                  <a:srgbClr val="002060"/>
                </a:solidFill>
                <a:latin typeface="Times New Roman" panose="02020603050405020304" pitchFamily="18" charset="0"/>
                <a:cs typeface="Times New Roman" panose="02020603050405020304" pitchFamily="18" charset="0"/>
              </a:rPr>
              <a:t>Мөнгөн дүн </a:t>
            </a:r>
          </a:p>
          <a:p>
            <a:pPr marL="971550" lvl="1" indent="-514350" algn="just">
              <a:spcBef>
                <a:spcPts val="0"/>
              </a:spcBef>
              <a:buFont typeface="+mj-lt"/>
              <a:buAutoNum type="romanUcPeriod"/>
            </a:pPr>
            <a:r>
              <a:rPr lang="mn-MN" dirty="0">
                <a:solidFill>
                  <a:srgbClr val="002060"/>
                </a:solidFill>
                <a:latin typeface="Times New Roman" panose="02020603050405020304" pitchFamily="18" charset="0"/>
                <a:cs typeface="Times New Roman" panose="02020603050405020304" pitchFamily="18" charset="0"/>
              </a:rPr>
              <a:t>Мөнгөн орлого, зарлагын цаг хугацааны сонголтоос хамаарах эквивалент суурь хүртэл багасгах замаар авч үзэх шаардлагатай. </a:t>
            </a:r>
          </a:p>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Хүүний механизмыг болон эквивалентын ойлголтыг тайлбарлахын тулд дараах нөхцлийг авч үзье. </a:t>
            </a:r>
          </a:p>
          <a:p>
            <a:pPr lvl="1" algn="just">
              <a:spcBef>
                <a:spcPts val="0"/>
              </a:spcBef>
            </a:pPr>
            <a:r>
              <a:rPr lang="mn-MN" dirty="0">
                <a:solidFill>
                  <a:srgbClr val="002060"/>
                </a:solidFill>
                <a:latin typeface="Times New Roman" panose="02020603050405020304" pitchFamily="18" charset="0"/>
                <a:cs typeface="Times New Roman" panose="02020603050405020304" pitchFamily="18" charset="0"/>
              </a:rPr>
              <a:t>Та зээлийн картаасаа $17,000-ын зээл авав. Та дөрвөн сарын дотор $17,000-ын зээлийн өрийг эргүүлэн төлөхөөр шийдсэн. Сарын эхнээс төлөөгүй зээлийн үлдэгдэл таны харилцагч банкнаас гаргасан ханшийн дагуу 1%-ийн хүүтэй. Энэ нөхцөлд $17,000-ын үндсэн зээл болон хүүний төлбөрийг төлөх гурван төлөвлөгөө (хувилбар)-г гаргасан. Үндсэн зээлийн төлөгдөөгүй үлдэгдэл сарын 1% -ийн хүүтэй үед тэдгээр нь эквивалент гэдгийг харуулъя.</a:t>
            </a:r>
          </a:p>
        </p:txBody>
      </p:sp>
    </p:spTree>
    <p:extLst>
      <p:ext uri="{BB962C8B-B14F-4D97-AF65-F5344CB8AC3E}">
        <p14:creationId xmlns:p14="http://schemas.microsoft.com/office/powerpoint/2010/main" val="3606754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52400" y="41366"/>
            <a:ext cx="11841480" cy="507274"/>
          </a:xfrm>
        </p:spPr>
        <p:txBody>
          <a:bodyPr>
            <a:noAutofit/>
          </a:bodyPr>
          <a:lstStyle/>
          <a:p>
            <a:pPr algn="just"/>
            <a:r>
              <a:rPr lang="mn-MN" sz="1800" dirty="0">
                <a:solidFill>
                  <a:srgbClr val="002060"/>
                </a:solidFill>
                <a:latin typeface="Times New Roman" panose="02020603050405020304" pitchFamily="18" charset="0"/>
                <a:cs typeface="Times New Roman" panose="02020603050405020304" pitchFamily="18" charset="0"/>
              </a:rPr>
              <a:t>Сарын 1%-ийн хүүтэй, дөрвөн сарын хугацаатай $17,000-ын үндсэн зээл болон хүүний төлбөрийн эргэн төлөлтийн гурван хувилбарт төлөвлөгөө </a:t>
            </a:r>
            <a:r>
              <a:rPr lang="en-US" sz="1800" dirty="0">
                <a:solidFill>
                  <a:srgbClr val="002060"/>
                </a:solidFill>
                <a:latin typeface="Times New Roman" panose="02020603050405020304" pitchFamily="18" charset="0"/>
                <a:cs typeface="Times New Roman" panose="02020603050405020304" pitchFamily="18" charset="0"/>
              </a:rPr>
              <a:t>(</a:t>
            </a:r>
            <a:r>
              <a:rPr lang="mn-MN" sz="1800" dirty="0">
                <a:solidFill>
                  <a:srgbClr val="002060"/>
                </a:solidFill>
                <a:latin typeface="Times New Roman" panose="02020603050405020304" pitchFamily="18" charset="0"/>
                <a:cs typeface="Times New Roman" panose="02020603050405020304" pitchFamily="18" charset="0"/>
              </a:rPr>
              <a:t>хүснэгт 4.1</a:t>
            </a:r>
            <a:r>
              <a:rPr lang="en-US" sz="1800" dirty="0">
                <a:solidFill>
                  <a:srgbClr val="002060"/>
                </a:solidFill>
                <a:latin typeface="Times New Roman" panose="02020603050405020304" pitchFamily="18" charset="0"/>
                <a:cs typeface="Times New Roman" panose="02020603050405020304" pitchFamily="18" charset="0"/>
              </a:rPr>
              <a:t>)</a:t>
            </a:r>
          </a:p>
        </p:txBody>
      </p:sp>
      <p:graphicFrame>
        <p:nvGraphicFramePr>
          <p:cNvPr id="4" name="Content Placeholder 4">
            <a:extLst>
              <a:ext uri="{FF2B5EF4-FFF2-40B4-BE49-F238E27FC236}">
                <a16:creationId xmlns:a16="http://schemas.microsoft.com/office/drawing/2014/main" id="{DA4E84CD-E7B5-489B-811C-87CD197E5D11}"/>
              </a:ext>
            </a:extLst>
          </p:cNvPr>
          <p:cNvGraphicFramePr>
            <a:graphicFrameLocks/>
          </p:cNvGraphicFramePr>
          <p:nvPr>
            <p:extLst>
              <p:ext uri="{D42A27DB-BD31-4B8C-83A1-F6EECF244321}">
                <p14:modId xmlns:p14="http://schemas.microsoft.com/office/powerpoint/2010/main" val="3446898870"/>
              </p:ext>
            </p:extLst>
          </p:nvPr>
        </p:nvGraphicFramePr>
        <p:xfrm>
          <a:off x="153077" y="548640"/>
          <a:ext cx="11885845" cy="6123309"/>
        </p:xfrm>
        <a:graphic>
          <a:graphicData uri="http://schemas.openxmlformats.org/drawingml/2006/table">
            <a:tbl>
              <a:tblPr firstRow="1" firstCol="1" bandRow="1">
                <a:tableStyleId>{5C22544A-7EE6-4342-B048-85BDC9FD1C3A}</a:tableStyleId>
              </a:tblPr>
              <a:tblGrid>
                <a:gridCol w="624845">
                  <a:extLst>
                    <a:ext uri="{9D8B030D-6E8A-4147-A177-3AD203B41FA5}">
                      <a16:colId xmlns:a16="http://schemas.microsoft.com/office/drawing/2014/main" val="3086088986"/>
                    </a:ext>
                  </a:extLst>
                </a:gridCol>
                <a:gridCol w="1978926">
                  <a:extLst>
                    <a:ext uri="{9D8B030D-6E8A-4147-A177-3AD203B41FA5}">
                      <a16:colId xmlns:a16="http://schemas.microsoft.com/office/drawing/2014/main" val="16509857"/>
                    </a:ext>
                  </a:extLst>
                </a:gridCol>
                <a:gridCol w="1889384">
                  <a:extLst>
                    <a:ext uri="{9D8B030D-6E8A-4147-A177-3AD203B41FA5}">
                      <a16:colId xmlns:a16="http://schemas.microsoft.com/office/drawing/2014/main" val="203345694"/>
                    </a:ext>
                  </a:extLst>
                </a:gridCol>
                <a:gridCol w="2092271">
                  <a:extLst>
                    <a:ext uri="{9D8B030D-6E8A-4147-A177-3AD203B41FA5}">
                      <a16:colId xmlns:a16="http://schemas.microsoft.com/office/drawing/2014/main" val="3483715079"/>
                    </a:ext>
                  </a:extLst>
                </a:gridCol>
                <a:gridCol w="1978777">
                  <a:extLst>
                    <a:ext uri="{9D8B030D-6E8A-4147-A177-3AD203B41FA5}">
                      <a16:colId xmlns:a16="http://schemas.microsoft.com/office/drawing/2014/main" val="3514143362"/>
                    </a:ext>
                  </a:extLst>
                </a:gridCol>
                <a:gridCol w="3321642">
                  <a:extLst>
                    <a:ext uri="{9D8B030D-6E8A-4147-A177-3AD203B41FA5}">
                      <a16:colId xmlns:a16="http://schemas.microsoft.com/office/drawing/2014/main" val="1286833672"/>
                    </a:ext>
                  </a:extLst>
                </a:gridCol>
              </a:tblGrid>
              <a:tr h="164592">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(1)</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(3) = 1%×(2)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(4) = (2)+(3)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(5)</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effectLst/>
                          <a:latin typeface="Times New Roman" panose="02020603050405020304" pitchFamily="18" charset="0"/>
                          <a:cs typeface="Times New Roman" panose="02020603050405020304" pitchFamily="18" charset="0"/>
                        </a:rPr>
                        <a:t>(6) = (3)+(5)</a:t>
                      </a:r>
                      <a:endParaRPr lang="en-US" sz="1600"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4661277"/>
                  </a:ext>
                </a:extLst>
              </a:tr>
              <a:tr h="473093">
                <a:tc>
                  <a:txBody>
                    <a:bodyPr/>
                    <a:lstStyle/>
                    <a:p>
                      <a:pPr algn="ctr">
                        <a:lnSpc>
                          <a:spcPct val="107000"/>
                        </a:lnSpc>
                        <a:spcAft>
                          <a:spcPts val="0"/>
                        </a:spcAft>
                      </a:pPr>
                      <a:r>
                        <a:rPr lang="mn-MN" sz="1500" b="1" dirty="0">
                          <a:solidFill>
                            <a:schemeClr val="tx1"/>
                          </a:solidFill>
                          <a:effectLst/>
                          <a:latin typeface="Times New Roman" panose="02020603050405020304" pitchFamily="18" charset="0"/>
                          <a:cs typeface="Times New Roman" panose="02020603050405020304" pitchFamily="18" charset="0"/>
                        </a:rPr>
                        <a:t>Сар </a:t>
                      </a:r>
                      <a:endParaRPr lang="en-US" sz="15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mn-MN" sz="1500" b="0" dirty="0">
                          <a:solidFill>
                            <a:schemeClr val="tx1"/>
                          </a:solidFill>
                          <a:effectLst/>
                          <a:latin typeface="Times New Roman" panose="02020603050405020304" pitchFamily="18" charset="0"/>
                          <a:cs typeface="Times New Roman" panose="02020603050405020304" pitchFamily="18" charset="0"/>
                        </a:rPr>
                        <a:t>Сарын эхэнд зээлсэн мөнг. дүн </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mn-MN" sz="1500" b="0" dirty="0">
                          <a:solidFill>
                            <a:schemeClr val="tx1"/>
                          </a:solidFill>
                          <a:effectLst/>
                          <a:latin typeface="Times New Roman" panose="02020603050405020304" pitchFamily="18" charset="0"/>
                          <a:cs typeface="Times New Roman" panose="02020603050405020304" pitchFamily="18" charset="0"/>
                        </a:rPr>
                        <a:t>Сарын хуримт-лагдсан хүү </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mn-MN" sz="1500" b="0" dirty="0">
                          <a:solidFill>
                            <a:schemeClr val="tx1"/>
                          </a:solidFill>
                          <a:effectLst/>
                          <a:latin typeface="Times New Roman" panose="02020603050405020304" pitchFamily="18" charset="0"/>
                          <a:cs typeface="Times New Roman" panose="02020603050405020304" pitchFamily="18" charset="0"/>
                        </a:rPr>
                        <a:t>Сарын эцэст зээлсэн мөнг. нийт хэмжээ</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mn-MN" sz="1500" b="0" dirty="0">
                          <a:solidFill>
                            <a:schemeClr val="tx1"/>
                          </a:solidFill>
                          <a:effectLst/>
                          <a:latin typeface="Times New Roman" panose="02020603050405020304" pitchFamily="18" charset="0"/>
                          <a:cs typeface="Times New Roman" panose="02020603050405020304" pitchFamily="18" charset="0"/>
                        </a:rPr>
                        <a:t>Үндсэн зээлийн төлбөр</a:t>
                      </a:r>
                      <a:endParaRPr lang="en-US" sz="15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mn-MN" sz="1500" b="0" dirty="0">
                          <a:solidFill>
                            <a:schemeClr val="tx1"/>
                          </a:solidFill>
                          <a:effectLst/>
                          <a:latin typeface="Times New Roman" panose="02020603050405020304" pitchFamily="18" charset="0"/>
                          <a:cs typeface="Times New Roman" panose="02020603050405020304" pitchFamily="18" charset="0"/>
                        </a:rPr>
                        <a:t>Сарын эцэст төлөх нийт төлбөр </a:t>
                      </a:r>
                      <a:endParaRPr lang="en-US" sz="1500" b="0" dirty="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0"/>
                        </a:spcAft>
                      </a:pPr>
                      <a:r>
                        <a:rPr lang="en-US" sz="1500" b="0" dirty="0">
                          <a:solidFill>
                            <a:schemeClr val="tx1"/>
                          </a:solidFill>
                          <a:effectLst/>
                          <a:latin typeface="Times New Roman" panose="02020603050405020304" pitchFamily="18" charset="0"/>
                          <a:cs typeface="Times New Roman" panose="02020603050405020304" pitchFamily="18" charset="0"/>
                        </a:rPr>
                        <a:t>(</a:t>
                      </a:r>
                      <a:r>
                        <a:rPr lang="mn-MN" sz="1500" b="0" dirty="0">
                          <a:solidFill>
                            <a:schemeClr val="tx1"/>
                          </a:solidFill>
                          <a:effectLst/>
                          <a:latin typeface="Times New Roman" panose="02020603050405020304" pitchFamily="18" charset="0"/>
                          <a:cs typeface="Times New Roman" panose="02020603050405020304" pitchFamily="18" charset="0"/>
                        </a:rPr>
                        <a:t>мөнгөн урсгал</a:t>
                      </a:r>
                      <a:r>
                        <a:rPr lang="en-US" sz="1500" b="0" dirty="0">
                          <a:solidFill>
                            <a:schemeClr val="tx1"/>
                          </a:solidFill>
                          <a:effectLst/>
                          <a:latin typeface="Times New Roman" panose="02020603050405020304" pitchFamily="18" charset="0"/>
                          <a:cs typeface="Times New Roman" panose="02020603050405020304" pitchFamily="18" charset="0"/>
                        </a:rPr>
                        <a:t>)</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0606929"/>
                  </a:ext>
                </a:extLst>
              </a:tr>
              <a:tr h="217595">
                <a:tc gridSpan="6">
                  <a:txBody>
                    <a:bodyPr/>
                    <a:lstStyle/>
                    <a:p>
                      <a:pPr>
                        <a:lnSpc>
                          <a:spcPct val="80000"/>
                        </a:lnSpc>
                        <a:spcAft>
                          <a:spcPts val="0"/>
                        </a:spcAft>
                      </a:pPr>
                      <a:r>
                        <a:rPr lang="en-US" sz="1700" i="0" dirty="0">
                          <a:solidFill>
                            <a:srgbClr val="0000FF"/>
                          </a:solidFill>
                          <a:effectLst/>
                          <a:latin typeface="Times New Roman" panose="02020603050405020304" pitchFamily="18" charset="0"/>
                          <a:cs typeface="Times New Roman" panose="02020603050405020304" pitchFamily="18" charset="0"/>
                        </a:rPr>
                        <a:t>I </a:t>
                      </a:r>
                      <a:r>
                        <a:rPr lang="mn-MN" sz="1700" i="0" dirty="0">
                          <a:solidFill>
                            <a:srgbClr val="0000FF"/>
                          </a:solidFill>
                          <a:effectLst/>
                          <a:latin typeface="Times New Roman" panose="02020603050405020304" pitchFamily="18" charset="0"/>
                          <a:cs typeface="Times New Roman" panose="02020603050405020304" pitchFamily="18" charset="0"/>
                        </a:rPr>
                        <a:t>т</a:t>
                      </a:r>
                      <a:r>
                        <a:rPr lang="en-US" sz="1700" i="0" dirty="0" err="1">
                          <a:solidFill>
                            <a:srgbClr val="0000FF"/>
                          </a:solidFill>
                          <a:effectLst/>
                          <a:latin typeface="Times New Roman" panose="02020603050405020304" pitchFamily="18" charset="0"/>
                          <a:cs typeface="Times New Roman" panose="02020603050405020304" pitchFamily="18" charset="0"/>
                        </a:rPr>
                        <a:t>өлөвлөгөө</a:t>
                      </a:r>
                      <a:r>
                        <a:rPr lang="en-US" sz="1700" i="0" dirty="0">
                          <a:solidFill>
                            <a:srgbClr val="0000FF"/>
                          </a:solidFill>
                          <a:effectLst/>
                          <a:latin typeface="Times New Roman" panose="02020603050405020304" pitchFamily="18" charset="0"/>
                          <a:cs typeface="Times New Roman" panose="02020603050405020304" pitchFamily="18" charset="0"/>
                        </a:rPr>
                        <a:t>: </a:t>
                      </a:r>
                      <a:r>
                        <a:rPr lang="mn-MN" sz="1800" b="0" i="0" dirty="0">
                          <a:solidFill>
                            <a:schemeClr val="tx1"/>
                          </a:solidFill>
                          <a:effectLst/>
                          <a:latin typeface="Times New Roman" panose="02020603050405020304" pitchFamily="18" charset="0"/>
                          <a:cs typeface="Times New Roman" panose="02020603050405020304" pitchFamily="18" charset="0"/>
                        </a:rPr>
                        <a:t>Сар бүрийн эцэст хүүний төлбөрийг, харин дөрөв дэх сарын эцэст үндсэн зээлийг төлөх төлөвлөгөө.</a:t>
                      </a:r>
                      <a:endParaRPr lang="en-US" sz="1800" b="0" i="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23510723"/>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1</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$170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053336"/>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170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941122"/>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170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566318"/>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4</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17,000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17,170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066226"/>
                  </a:ext>
                </a:extLst>
              </a:tr>
              <a:tr h="271994">
                <a:tc>
                  <a:txBody>
                    <a:bodyPr/>
                    <a:lstStyle/>
                    <a:p>
                      <a:pPr>
                        <a:lnSpc>
                          <a:spcPct val="107000"/>
                        </a:lnSpc>
                      </a:pPr>
                      <a:endParaRPr lang="en-US" sz="16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68,000$</a:t>
                      </a:r>
                      <a:r>
                        <a:rPr lang="mn-MN" sz="1600" kern="1200" dirty="0">
                          <a:solidFill>
                            <a:schemeClr val="tx1"/>
                          </a:solidFill>
                          <a:effectLst/>
                          <a:latin typeface="Times New Roman" panose="02020603050405020304" pitchFamily="18" charset="0"/>
                          <a:ea typeface="+mn-ea"/>
                          <a:cs typeface="Times New Roman" panose="02020603050405020304" pitchFamily="18" charset="0"/>
                        </a:rPr>
                        <a:t>-сар</a:t>
                      </a:r>
                      <a:endParaRPr lang="en-US" sz="16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600" b="1" dirty="0">
                          <a:solidFill>
                            <a:srgbClr val="0000FF"/>
                          </a:solidFill>
                          <a:effectLst/>
                          <a:latin typeface="Times New Roman" panose="02020603050405020304" pitchFamily="18" charset="0"/>
                          <a:cs typeface="Times New Roman" panose="02020603050405020304" pitchFamily="18" charset="0"/>
                        </a:rPr>
                        <a:t>$680 (</a:t>
                      </a:r>
                      <a:r>
                        <a:rPr lang="en-US" sz="1600" b="1" dirty="0" err="1">
                          <a:solidFill>
                            <a:srgbClr val="0000FF"/>
                          </a:solidFill>
                          <a:effectLst/>
                          <a:latin typeface="Times New Roman" panose="02020603050405020304" pitchFamily="18" charset="0"/>
                          <a:cs typeface="Times New Roman" panose="02020603050405020304" pitchFamily="18" charset="0"/>
                        </a:rPr>
                        <a:t>нийт</a:t>
                      </a:r>
                      <a:r>
                        <a:rPr lang="en-US" sz="1600" b="1" dirty="0">
                          <a:solidFill>
                            <a:srgbClr val="0000FF"/>
                          </a:solidFill>
                          <a:effectLst/>
                          <a:latin typeface="Times New Roman" panose="02020603050405020304" pitchFamily="18" charset="0"/>
                          <a:cs typeface="Times New Roman" panose="02020603050405020304" pitchFamily="18" charset="0"/>
                        </a:rPr>
                        <a:t> </a:t>
                      </a:r>
                      <a:r>
                        <a:rPr lang="en-US" sz="1600" b="1" dirty="0" err="1">
                          <a:solidFill>
                            <a:srgbClr val="0000FF"/>
                          </a:solidFill>
                          <a:effectLst/>
                          <a:latin typeface="Times New Roman" panose="02020603050405020304" pitchFamily="18" charset="0"/>
                          <a:cs typeface="Times New Roman" panose="02020603050405020304" pitchFamily="18" charset="0"/>
                        </a:rPr>
                        <a:t>хүү</a:t>
                      </a:r>
                      <a:r>
                        <a:rPr lang="en-US" sz="1600" b="1" dirty="0">
                          <a:solidFill>
                            <a:srgbClr val="0000FF"/>
                          </a:solidFill>
                          <a:effectLst/>
                          <a:latin typeface="Times New Roman" panose="02020603050405020304" pitchFamily="18" charset="0"/>
                          <a:cs typeface="Times New Roman" panose="02020603050405020304" pitchFamily="18" charset="0"/>
                        </a:rPr>
                        <a:t>)</a:t>
                      </a:r>
                      <a:endParaRPr lang="en-US" sz="16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endParaRPr lang="en-US" sz="16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pPr>
                      <a:endParaRPr lang="en-US" sz="1600" dirty="0">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4450162"/>
                  </a:ext>
                </a:extLst>
              </a:tr>
              <a:tr h="213876">
                <a:tc gridSpan="6">
                  <a:txBody>
                    <a:bodyPr/>
                    <a:lstStyle/>
                    <a:p>
                      <a:pPr>
                        <a:lnSpc>
                          <a:spcPct val="80000"/>
                        </a:lnSpc>
                        <a:spcAft>
                          <a:spcPts val="0"/>
                        </a:spcAft>
                      </a:pPr>
                      <a:r>
                        <a:rPr lang="en-US" sz="1700" i="0" dirty="0">
                          <a:solidFill>
                            <a:srgbClr val="0000FF"/>
                          </a:solidFill>
                          <a:effectLst/>
                          <a:latin typeface="Times New Roman" panose="02020603050405020304" pitchFamily="18" charset="0"/>
                          <a:cs typeface="Times New Roman" panose="02020603050405020304" pitchFamily="18" charset="0"/>
                        </a:rPr>
                        <a:t>II </a:t>
                      </a:r>
                      <a:r>
                        <a:rPr lang="mn-MN" sz="1700" i="0" dirty="0">
                          <a:solidFill>
                            <a:srgbClr val="0000FF"/>
                          </a:solidFill>
                          <a:effectLst/>
                          <a:latin typeface="Times New Roman" panose="02020603050405020304" pitchFamily="18" charset="0"/>
                          <a:cs typeface="Times New Roman" panose="02020603050405020304" pitchFamily="18" charset="0"/>
                        </a:rPr>
                        <a:t>төлөвлөгөө</a:t>
                      </a:r>
                      <a:r>
                        <a:rPr lang="en-US" sz="1700" i="0" dirty="0">
                          <a:solidFill>
                            <a:srgbClr val="0000FF"/>
                          </a:solidFill>
                          <a:effectLst/>
                          <a:latin typeface="Times New Roman" panose="02020603050405020304" pitchFamily="18" charset="0"/>
                          <a:cs typeface="Times New Roman" panose="02020603050405020304" pitchFamily="18" charset="0"/>
                        </a:rPr>
                        <a:t>: </a:t>
                      </a:r>
                      <a:r>
                        <a:rPr lang="mn-MN" sz="1900" b="0" i="0" dirty="0">
                          <a:solidFill>
                            <a:schemeClr val="tx1"/>
                          </a:solidFill>
                          <a:effectLst/>
                          <a:latin typeface="Times New Roman" panose="02020603050405020304" pitchFamily="18" charset="0"/>
                          <a:cs typeface="Times New Roman" panose="02020603050405020304" pitchFamily="18" charset="0"/>
                        </a:rPr>
                        <a:t>Зээлийн төлбөрийг </a:t>
                      </a:r>
                      <a:r>
                        <a:rPr lang="en-US" sz="1900" b="0" i="0" dirty="0">
                          <a:solidFill>
                            <a:schemeClr val="tx1"/>
                          </a:solidFill>
                          <a:effectLst/>
                          <a:latin typeface="Times New Roman" panose="02020603050405020304" pitchFamily="18" charset="0"/>
                          <a:cs typeface="Times New Roman" panose="02020603050405020304" pitchFamily="18" charset="0"/>
                        </a:rPr>
                        <a:t>(</a:t>
                      </a:r>
                      <a:r>
                        <a:rPr lang="mn-MN" sz="1900" b="0" i="0" dirty="0">
                          <a:solidFill>
                            <a:schemeClr val="tx1"/>
                          </a:solidFill>
                          <a:effectLst/>
                          <a:latin typeface="Times New Roman" panose="02020603050405020304" pitchFamily="18" charset="0"/>
                          <a:cs typeface="Times New Roman" panose="02020603050405020304" pitchFamily="18" charset="0"/>
                        </a:rPr>
                        <a:t>үндсэн зээл болон хүүний төлбөр</a:t>
                      </a:r>
                      <a:r>
                        <a:rPr lang="en-US" sz="1900" b="0" i="0" dirty="0">
                          <a:solidFill>
                            <a:schemeClr val="tx1"/>
                          </a:solidFill>
                          <a:effectLst/>
                          <a:latin typeface="Times New Roman" panose="02020603050405020304" pitchFamily="18" charset="0"/>
                          <a:cs typeface="Times New Roman" panose="02020603050405020304" pitchFamily="18" charset="0"/>
                        </a:rPr>
                        <a:t>)</a:t>
                      </a:r>
                      <a:r>
                        <a:rPr lang="mn-MN" sz="1900" b="0" i="0" dirty="0">
                          <a:solidFill>
                            <a:schemeClr val="tx1"/>
                          </a:solidFill>
                          <a:effectLst/>
                          <a:latin typeface="Times New Roman" panose="02020603050405020304" pitchFamily="18" charset="0"/>
                          <a:cs typeface="Times New Roman" panose="02020603050405020304" pitchFamily="18" charset="0"/>
                        </a:rPr>
                        <a:t> дөрвөн сарын турш сар бүрийн эцэст тэнцүү дүнгээр төлөх төлөвлөгөө</a:t>
                      </a:r>
                      <a:r>
                        <a:rPr lang="en-US" sz="1900" b="0" i="0" dirty="0">
                          <a:solidFill>
                            <a:schemeClr val="tx1"/>
                          </a:solidFill>
                          <a:effectLst/>
                          <a:latin typeface="Times New Roman" panose="02020603050405020304" pitchFamily="18" charset="0"/>
                          <a:cs typeface="Times New Roman" panose="02020603050405020304" pitchFamily="18" charset="0"/>
                        </a:rPr>
                        <a:t>.</a:t>
                      </a:r>
                      <a:endParaRPr lang="en-US" sz="1900" b="0" i="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8235177"/>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1</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$4,187.10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$4,357.10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005164"/>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12,812.90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128.13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12,941.03</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4,228.97</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4,357.10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79355"/>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8,583.93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85.84</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8,669.77</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4,271.26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4,357.10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9533497"/>
                  </a:ext>
                </a:extLst>
              </a:tr>
              <a:tr h="271994">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4</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4,312.67</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43.13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[4,355.80]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4,313.97</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effectLst/>
                          <a:latin typeface="Times New Roman" panose="02020603050405020304" pitchFamily="18" charset="0"/>
                          <a:cs typeface="Times New Roman" panose="02020603050405020304" pitchFamily="18" charset="0"/>
                        </a:rPr>
                        <a:t>[4,357.10]</a:t>
                      </a:r>
                      <a:endParaRPr lang="en-US" dirty="0"/>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2312254"/>
                  </a:ext>
                </a:extLst>
              </a:tr>
              <a:tr h="271428">
                <a:tc>
                  <a:txBody>
                    <a:bodyPr/>
                    <a:lstStyle/>
                    <a:p>
                      <a:pPr>
                        <a:lnSpc>
                          <a:spcPct val="107000"/>
                        </a:lnSpc>
                      </a:pP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pPr>
                      <a:r>
                        <a:rPr lang="en-US" sz="1800" kern="1200">
                          <a:solidFill>
                            <a:schemeClr val="tx1"/>
                          </a:solidFill>
                          <a:effectLst/>
                          <a:latin typeface="Times New Roman" panose="02020603050405020304" pitchFamily="18" charset="0"/>
                          <a:ea typeface="+mn-ea"/>
                          <a:cs typeface="Times New Roman" panose="02020603050405020304" pitchFamily="18" charset="0"/>
                        </a:rPr>
                        <a:t>   42,709.5$</a:t>
                      </a:r>
                      <a:r>
                        <a:rPr lang="mn-MN" sz="1800" kern="1200">
                          <a:solidFill>
                            <a:schemeClr val="tx1"/>
                          </a:solidFill>
                          <a:effectLst/>
                          <a:latin typeface="Times New Roman" panose="02020603050405020304" pitchFamily="18" charset="0"/>
                          <a:ea typeface="+mn-ea"/>
                          <a:cs typeface="Times New Roman" panose="02020603050405020304" pitchFamily="18" charset="0"/>
                        </a:rPr>
                        <a:t>-сар</a:t>
                      </a: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pPr>
                      <a:r>
                        <a:rPr lang="en-US" sz="1800" b="1" dirty="0">
                          <a:solidFill>
                            <a:srgbClr val="0000FF"/>
                          </a:solidFill>
                          <a:effectLst/>
                          <a:latin typeface="Times New Roman" panose="02020603050405020304" pitchFamily="18" charset="0"/>
                          <a:cs typeface="Times New Roman" panose="02020603050405020304" pitchFamily="18" charset="0"/>
                        </a:rPr>
                        <a:t>$427.10 </a:t>
                      </a:r>
                      <a:r>
                        <a:rPr lang="en-US" sz="1600" b="1" dirty="0">
                          <a:solidFill>
                            <a:srgbClr val="0000FF"/>
                          </a:solidFill>
                          <a:effectLst/>
                          <a:latin typeface="Times New Roman" panose="02020603050405020304" pitchFamily="18" charset="0"/>
                          <a:cs typeface="Times New Roman" panose="02020603050405020304" pitchFamily="18" charset="0"/>
                        </a:rPr>
                        <a:t>(</a:t>
                      </a:r>
                      <a:r>
                        <a:rPr lang="en-US" sz="1600" b="1" dirty="0" err="1">
                          <a:solidFill>
                            <a:srgbClr val="0000FF"/>
                          </a:solidFill>
                          <a:effectLst/>
                          <a:latin typeface="Times New Roman" panose="02020603050405020304" pitchFamily="18" charset="0"/>
                          <a:cs typeface="Times New Roman" panose="02020603050405020304" pitchFamily="18" charset="0"/>
                        </a:rPr>
                        <a:t>нийт</a:t>
                      </a:r>
                      <a:r>
                        <a:rPr lang="en-US" sz="1600" b="1" dirty="0">
                          <a:solidFill>
                            <a:srgbClr val="0000FF"/>
                          </a:solidFill>
                          <a:effectLst/>
                          <a:latin typeface="Times New Roman" panose="02020603050405020304" pitchFamily="18" charset="0"/>
                          <a:cs typeface="Times New Roman" panose="02020603050405020304" pitchFamily="18" charset="0"/>
                        </a:rPr>
                        <a:t> </a:t>
                      </a:r>
                      <a:r>
                        <a:rPr lang="en-US" sz="1600" b="1" dirty="0" err="1">
                          <a:solidFill>
                            <a:srgbClr val="0000FF"/>
                          </a:solidFill>
                          <a:effectLst/>
                          <a:latin typeface="Times New Roman" panose="02020603050405020304" pitchFamily="18" charset="0"/>
                          <a:cs typeface="Times New Roman" panose="02020603050405020304" pitchFamily="18" charset="0"/>
                        </a:rPr>
                        <a:t>хүү</a:t>
                      </a:r>
                      <a:r>
                        <a:rPr lang="en-US" sz="1600" b="1" dirty="0">
                          <a:solidFill>
                            <a:srgbClr val="0000FF"/>
                          </a:solidFill>
                          <a:effectLst/>
                          <a:latin typeface="Times New Roman" panose="02020603050405020304" pitchFamily="18" charset="0"/>
                          <a:cs typeface="Times New Roman" panose="02020603050405020304" pitchFamily="18" charset="0"/>
                        </a:rPr>
                        <a:t>)</a:t>
                      </a: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 </a:t>
                      </a:r>
                      <a:r>
                        <a:rPr lang="mn-MN" sz="1800" dirty="0">
                          <a:effectLst/>
                          <a:latin typeface="Times New Roman" panose="02020603050405020304" pitchFamily="18" charset="0"/>
                          <a:cs typeface="Times New Roman" panose="02020603050405020304" pitchFamily="18" charset="0"/>
                        </a:rPr>
                        <a:t>тойм тоогоор авсаны улмаас </a:t>
                      </a:r>
                      <a:r>
                        <a:rPr lang="en-US" sz="1800" dirty="0">
                          <a:effectLst/>
                          <a:latin typeface="Times New Roman" panose="02020603050405020304" pitchFamily="18" charset="0"/>
                          <a:cs typeface="Times New Roman" panose="02020603050405020304" pitchFamily="18" charset="0"/>
                        </a:rPr>
                        <a:t>$1.30 </a:t>
                      </a:r>
                      <a:r>
                        <a:rPr lang="mn-MN" sz="1800" dirty="0">
                          <a:effectLst/>
                          <a:latin typeface="Times New Roman" panose="02020603050405020304" pitchFamily="18" charset="0"/>
                          <a:cs typeface="Times New Roman" panose="02020603050405020304" pitchFamily="18" charset="0"/>
                        </a:rPr>
                        <a:t>–ын зөрүү үүснэ </a:t>
                      </a:r>
                      <a:r>
                        <a:rPr lang="en-US" sz="1800" dirty="0">
                          <a:effectLst/>
                          <a:latin typeface="Times New Roman" panose="02020603050405020304" pitchFamily="18" charset="0"/>
                          <a:cs typeface="Times New Roman" panose="02020603050405020304" pitchFamily="18" charset="0"/>
                        </a:rPr>
                        <a:t>⌋</a:t>
                      </a:r>
                      <a:endParaRPr lang="en-US" sz="20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33321185"/>
                  </a:ext>
                </a:extLst>
              </a:tr>
              <a:tr h="271428">
                <a:tc gridSpan="6">
                  <a:txBody>
                    <a:bodyPr/>
                    <a:lstStyle/>
                    <a:p>
                      <a:pPr>
                        <a:lnSpc>
                          <a:spcPct val="107000"/>
                        </a:lnSpc>
                        <a:spcAft>
                          <a:spcPts val="0"/>
                        </a:spcAft>
                      </a:pPr>
                      <a:r>
                        <a:rPr lang="en-US" sz="1800" dirty="0">
                          <a:solidFill>
                            <a:srgbClr val="0000FF"/>
                          </a:solidFill>
                          <a:effectLst/>
                          <a:latin typeface="Times New Roman" panose="02020603050405020304" pitchFamily="18" charset="0"/>
                          <a:cs typeface="Times New Roman" panose="02020603050405020304" pitchFamily="18" charset="0"/>
                        </a:rPr>
                        <a:t>III </a:t>
                      </a:r>
                      <a:r>
                        <a:rPr lang="mn-MN" sz="1800" dirty="0">
                          <a:solidFill>
                            <a:srgbClr val="0000FF"/>
                          </a:solidFill>
                          <a:effectLst/>
                          <a:latin typeface="Times New Roman" panose="02020603050405020304" pitchFamily="18" charset="0"/>
                          <a:cs typeface="Times New Roman" panose="02020603050405020304" pitchFamily="18" charset="0"/>
                        </a:rPr>
                        <a:t>төлөвлөгөө</a:t>
                      </a:r>
                      <a:r>
                        <a:rPr lang="en-US" sz="1800" dirty="0">
                          <a:solidFill>
                            <a:srgbClr val="0000FF"/>
                          </a:solidFill>
                          <a:effectLst/>
                          <a:latin typeface="Times New Roman" panose="02020603050405020304" pitchFamily="18" charset="0"/>
                          <a:cs typeface="Times New Roman" panose="02020603050405020304" pitchFamily="18" charset="0"/>
                        </a:rPr>
                        <a:t>*:</a:t>
                      </a:r>
                      <a:r>
                        <a:rPr lang="en-US" sz="1800" b="0" dirty="0">
                          <a:solidFill>
                            <a:schemeClr val="tx1"/>
                          </a:solidFill>
                          <a:effectLst/>
                          <a:latin typeface="Times New Roman" panose="02020603050405020304" pitchFamily="18" charset="0"/>
                          <a:cs typeface="Times New Roman" panose="02020603050405020304" pitchFamily="18" charset="0"/>
                        </a:rPr>
                        <a:t> </a:t>
                      </a:r>
                      <a:r>
                        <a:rPr lang="mn-MN" sz="1800" b="0" dirty="0">
                          <a:solidFill>
                            <a:schemeClr val="tx1"/>
                          </a:solidFill>
                          <a:effectLst/>
                          <a:latin typeface="Times New Roman" panose="02020603050405020304" pitchFamily="18" charset="0"/>
                          <a:cs typeface="Times New Roman" panose="02020603050405020304" pitchFamily="18" charset="0"/>
                        </a:rPr>
                        <a:t>Үндсэн зээл болон хүүний төлбөрийг дөрөв дэх сарын эцэст нэг удаа төлөх төлөвлөгөө</a:t>
                      </a:r>
                      <a:r>
                        <a:rPr lang="en-US" sz="1800" b="0" dirty="0">
                          <a:solidFill>
                            <a:schemeClr val="tx1"/>
                          </a:solidFill>
                          <a:effectLst/>
                          <a:latin typeface="Times New Roman" panose="02020603050405020304" pitchFamily="18" charset="0"/>
                          <a:cs typeface="Times New Roman" panose="02020603050405020304" pitchFamily="18" charset="0"/>
                        </a:rPr>
                        <a:t>.</a:t>
                      </a:r>
                      <a:endParaRPr lang="en-US" sz="18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12298556"/>
                  </a:ext>
                </a:extLst>
              </a:tr>
              <a:tr h="271428">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1</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$17,000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1795972"/>
                  </a:ext>
                </a:extLst>
              </a:tr>
              <a:tr h="271428">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17,341.70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3141340"/>
                  </a:ext>
                </a:extLst>
              </a:tr>
              <a:tr h="271428">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17,341.70</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173.42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17,515.12</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effectLst/>
                          <a:latin typeface="Times New Roman" panose="02020603050405020304" pitchFamily="18" charset="0"/>
                          <a:cs typeface="Times New Roman" panose="02020603050405020304" pitchFamily="18" charset="0"/>
                        </a:rPr>
                        <a:t>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0211369"/>
                  </a:ext>
                </a:extLst>
              </a:tr>
              <a:tr h="271428">
                <a:tc>
                  <a:txBody>
                    <a:bodyPr/>
                    <a:lstStyle/>
                    <a:p>
                      <a:pPr algn="ctr">
                        <a:lnSpc>
                          <a:spcPct val="107000"/>
                        </a:lnSpc>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4</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17,515.12</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a:solidFill>
                            <a:schemeClr val="tx1"/>
                          </a:solidFill>
                          <a:effectLst/>
                          <a:latin typeface="Times New Roman" panose="02020603050405020304" pitchFamily="18" charset="0"/>
                          <a:cs typeface="Times New Roman" panose="02020603050405020304" pitchFamily="18" charset="0"/>
                        </a:rPr>
                        <a:t>175.15</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17,690.27</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17,000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800" dirty="0">
                          <a:effectLst/>
                          <a:latin typeface="Times New Roman" panose="02020603050405020304" pitchFamily="18" charset="0"/>
                          <a:cs typeface="Times New Roman" panose="02020603050405020304" pitchFamily="18" charset="0"/>
                        </a:rPr>
                        <a:t>17,690.27</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883240"/>
                  </a:ext>
                </a:extLst>
              </a:tr>
              <a:tr h="301523">
                <a:tc>
                  <a:txBody>
                    <a:bodyPr/>
                    <a:lstStyle/>
                    <a:p>
                      <a:pPr>
                        <a:lnSpc>
                          <a:spcPct val="107000"/>
                        </a:lnSpc>
                      </a:pP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69,026.8$</a:t>
                      </a:r>
                      <a:r>
                        <a:rPr lang="mn-MN" sz="1800" kern="1200" dirty="0">
                          <a:solidFill>
                            <a:schemeClr val="tx1"/>
                          </a:solidFill>
                          <a:effectLst/>
                          <a:latin typeface="Times New Roman" panose="02020603050405020304" pitchFamily="18" charset="0"/>
                          <a:ea typeface="+mn-ea"/>
                          <a:cs typeface="Times New Roman" panose="02020603050405020304" pitchFamily="18" charset="0"/>
                        </a:rPr>
                        <a:t>-сар</a:t>
                      </a: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pPr>
                      <a:r>
                        <a:rPr lang="en-US" sz="1800" b="1" dirty="0">
                          <a:solidFill>
                            <a:srgbClr val="0000FF"/>
                          </a:solidFill>
                          <a:effectLst/>
                          <a:latin typeface="Times New Roman" panose="02020603050405020304" pitchFamily="18" charset="0"/>
                          <a:cs typeface="Times New Roman" panose="02020603050405020304" pitchFamily="18" charset="0"/>
                        </a:rPr>
                        <a:t>$690.27</a:t>
                      </a: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endParaRPr lang="en-US" sz="20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pPr>
                      <a:endParaRPr lang="en-US" sz="2000" dirty="0">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pPr>
                      <a:endParaRPr lang="en-US" sz="2000" dirty="0">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350668"/>
                  </a:ext>
                </a:extLst>
              </a:tr>
              <a:tr h="301523">
                <a:tc>
                  <a:txBody>
                    <a:bodyPr/>
                    <a:lstStyle/>
                    <a:p>
                      <a:pPr>
                        <a:lnSpc>
                          <a:spcPct val="107000"/>
                        </a:lnSpc>
                      </a:pP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pP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pPr>
                      <a:r>
                        <a:rPr lang="en-US" sz="1800" b="1" dirty="0">
                          <a:solidFill>
                            <a:srgbClr val="0000FF"/>
                          </a:solidFill>
                          <a:effectLst/>
                          <a:latin typeface="Times New Roman" panose="02020603050405020304" pitchFamily="18" charset="0"/>
                          <a:cs typeface="Times New Roman" panose="02020603050405020304" pitchFamily="18" charset="0"/>
                        </a:rPr>
                        <a:t>(</a:t>
                      </a:r>
                      <a:r>
                        <a:rPr lang="en-US" sz="1800" b="1" dirty="0" err="1">
                          <a:solidFill>
                            <a:srgbClr val="0000FF"/>
                          </a:solidFill>
                          <a:effectLst/>
                          <a:latin typeface="Times New Roman" panose="02020603050405020304" pitchFamily="18" charset="0"/>
                          <a:cs typeface="Times New Roman" panose="02020603050405020304" pitchFamily="18" charset="0"/>
                        </a:rPr>
                        <a:t>нийт</a:t>
                      </a:r>
                      <a:r>
                        <a:rPr lang="en-US" sz="1800" b="1" dirty="0">
                          <a:solidFill>
                            <a:srgbClr val="0000FF"/>
                          </a:solidFill>
                          <a:effectLst/>
                          <a:latin typeface="Times New Roman" panose="02020603050405020304" pitchFamily="18" charset="0"/>
                          <a:cs typeface="Times New Roman" panose="02020603050405020304" pitchFamily="18" charset="0"/>
                        </a:rPr>
                        <a:t> </a:t>
                      </a:r>
                      <a:r>
                        <a:rPr lang="en-US" sz="1800" b="1" dirty="0" err="1">
                          <a:solidFill>
                            <a:srgbClr val="0000FF"/>
                          </a:solidFill>
                          <a:effectLst/>
                          <a:latin typeface="Times New Roman" panose="02020603050405020304" pitchFamily="18" charset="0"/>
                          <a:cs typeface="Times New Roman" panose="02020603050405020304" pitchFamily="18" charset="0"/>
                        </a:rPr>
                        <a:t>хүү</a:t>
                      </a:r>
                      <a:r>
                        <a:rPr lang="en-US" sz="1800" b="1" dirty="0">
                          <a:solidFill>
                            <a:srgbClr val="0000FF"/>
                          </a:solidFill>
                          <a:effectLst/>
                          <a:latin typeface="Times New Roman" panose="02020603050405020304" pitchFamily="18" charset="0"/>
                          <a:cs typeface="Times New Roman" panose="02020603050405020304" pitchFamily="18" charset="0"/>
                        </a:rPr>
                        <a:t>)</a:t>
                      </a:r>
                      <a:endParaRPr lang="en-US" sz="1800" dirty="0">
                        <a:solidFill>
                          <a:schemeClr val="tx1"/>
                        </a:solidFill>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endParaRPr lang="en-US" sz="2000" b="1"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2000" dirty="0">
                          <a:solidFill>
                            <a:schemeClr val="tx1"/>
                          </a:solidFill>
                          <a:effectLst/>
                          <a:latin typeface="Times New Roman" panose="02020603050405020304" pitchFamily="18" charset="0"/>
                          <a:cs typeface="Times New Roman" panose="02020603050405020304" pitchFamily="18" charset="0"/>
                        </a:rPr>
                        <a:t>*</a:t>
                      </a:r>
                      <a:r>
                        <a:rPr lang="mn-MN" sz="2000" i="1" dirty="0">
                          <a:solidFill>
                            <a:schemeClr val="tx1"/>
                          </a:solidFill>
                          <a:effectLst/>
                          <a:latin typeface="Times New Roman" panose="02020603050405020304" pitchFamily="18" charset="0"/>
                          <a:cs typeface="Times New Roman" panose="02020603050405020304" pitchFamily="18" charset="0"/>
                        </a:rPr>
                        <a:t>Энд:</a:t>
                      </a:r>
                      <a:r>
                        <a:rPr lang="en-US" sz="2000" i="1" dirty="0">
                          <a:solidFill>
                            <a:schemeClr val="tx1"/>
                          </a:solidFill>
                          <a:effectLst/>
                          <a:latin typeface="Times New Roman" panose="02020603050405020304" pitchFamily="18" charset="0"/>
                          <a:cs typeface="Times New Roman" panose="02020603050405020304" pitchFamily="18" charset="0"/>
                        </a:rPr>
                        <a:t> 6 </a:t>
                      </a:r>
                      <a:r>
                        <a:rPr lang="mn-MN" sz="2000" i="1" dirty="0">
                          <a:solidFill>
                            <a:schemeClr val="tx1"/>
                          </a:solidFill>
                          <a:effectLst/>
                          <a:latin typeface="Times New Roman" panose="02020603050405020304" pitchFamily="18" charset="0"/>
                          <a:cs typeface="Times New Roman" panose="02020603050405020304" pitchFamily="18" charset="0"/>
                        </a:rPr>
                        <a:t>багана </a:t>
                      </a:r>
                      <a:r>
                        <a:rPr lang="en-US" sz="2000" i="1" dirty="0">
                          <a:solidFill>
                            <a:schemeClr val="tx1"/>
                          </a:solidFill>
                          <a:effectLst/>
                          <a:latin typeface="Times New Roman" panose="02020603050405020304" pitchFamily="18" charset="0"/>
                          <a:cs typeface="Times New Roman" panose="02020603050405020304" pitchFamily="18" charset="0"/>
                        </a:rPr>
                        <a:t>≠ 3</a:t>
                      </a:r>
                      <a:r>
                        <a:rPr lang="mn-MN" sz="2000" i="1" dirty="0">
                          <a:solidFill>
                            <a:schemeClr val="tx1"/>
                          </a:solidFill>
                          <a:effectLst/>
                          <a:latin typeface="Times New Roman" panose="02020603050405020304" pitchFamily="18" charset="0"/>
                          <a:cs typeface="Times New Roman" panose="02020603050405020304" pitchFamily="18" charset="0"/>
                        </a:rPr>
                        <a:t> багана</a:t>
                      </a:r>
                      <a:r>
                        <a:rPr lang="en-US" sz="2000" i="1" dirty="0">
                          <a:solidFill>
                            <a:schemeClr val="tx1"/>
                          </a:solidFill>
                          <a:effectLst/>
                          <a:latin typeface="Times New Roman" panose="02020603050405020304" pitchFamily="18" charset="0"/>
                          <a:cs typeface="Times New Roman" panose="02020603050405020304" pitchFamily="18" charset="0"/>
                        </a:rPr>
                        <a:t> + 5</a:t>
                      </a:r>
                      <a:r>
                        <a:rPr lang="mn-MN" sz="2000" i="1" dirty="0">
                          <a:solidFill>
                            <a:schemeClr val="tx1"/>
                          </a:solidFill>
                          <a:effectLst/>
                          <a:latin typeface="Times New Roman" panose="02020603050405020304" pitchFamily="18" charset="0"/>
                          <a:cs typeface="Times New Roman" panose="02020603050405020304" pitchFamily="18" charset="0"/>
                        </a:rPr>
                        <a:t> багана</a:t>
                      </a:r>
                      <a:r>
                        <a:rPr lang="en-US" sz="2000" i="1" dirty="0">
                          <a:solidFill>
                            <a:schemeClr val="tx1"/>
                          </a:solidFill>
                          <a:effectLst/>
                          <a:latin typeface="Times New Roman" panose="02020603050405020304" pitchFamily="18" charset="0"/>
                          <a:cs typeface="Times New Roman" panose="02020603050405020304" pitchFamily="18" charset="0"/>
                        </a:rPr>
                        <a:t>.</a:t>
                      </a:r>
                      <a:endParaRPr lang="en-US" sz="2400"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nSpc>
                          <a:spcPct val="107000"/>
                        </a:lnSpc>
                      </a:pPr>
                      <a:endParaRPr lang="en-US" sz="2000" dirty="0">
                        <a:effectLst/>
                        <a:latin typeface="Times New Roman" panose="02020603050405020304" pitchFamily="18" charset="0"/>
                        <a:cs typeface="Times New Roman" panose="02020603050405020304" pitchFamily="18" charset="0"/>
                      </a:endParaRPr>
                    </a:p>
                  </a:txBody>
                  <a:tcPr marL="48557" marR="485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750519"/>
                  </a:ext>
                </a:extLst>
              </a:tr>
            </a:tbl>
          </a:graphicData>
        </a:graphic>
      </p:graphicFrame>
    </p:spTree>
    <p:extLst>
      <p:ext uri="{BB962C8B-B14F-4D97-AF65-F5344CB8AC3E}">
        <p14:creationId xmlns:p14="http://schemas.microsoft.com/office/powerpoint/2010/main" val="7568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7536" y="337662"/>
            <a:ext cx="11905907" cy="6383813"/>
          </a:xfrm>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I</a:t>
            </a:r>
            <a:r>
              <a:rPr lang="mn-MN" b="1" dirty="0">
                <a:latin typeface="Times New Roman" panose="02020603050405020304" pitchFamily="18" charset="0"/>
                <a:cs typeface="Times New Roman" panose="02020603050405020304" pitchFamily="18" charset="0"/>
              </a:rPr>
              <a:t> төлөвлөгөөнд</a:t>
            </a:r>
          </a:p>
          <a:p>
            <a:pPr lvl="1" algn="just"/>
            <a:r>
              <a:rPr lang="mn-MN" dirty="0">
                <a:latin typeface="Times New Roman" panose="02020603050405020304" pitchFamily="18" charset="0"/>
                <a:cs typeface="Times New Roman" panose="02020603050405020304" pitchFamily="18" charset="0"/>
              </a:rPr>
              <a:t>Хүүний төлбөрийг сар бүрийн эцэст төлнө. Нэг сарын хүүний төлбөр </a:t>
            </a:r>
            <a:r>
              <a:rPr lang="en-US" dirty="0">
                <a:latin typeface="Times New Roman" panose="02020603050405020304" pitchFamily="18" charset="0"/>
                <a:cs typeface="Times New Roman" panose="02020603050405020304" pitchFamily="18" charset="0"/>
              </a:rPr>
              <a:t>$170. </a:t>
            </a:r>
            <a:r>
              <a:rPr lang="mn-MN" dirty="0">
                <a:latin typeface="Times New Roman" panose="02020603050405020304" pitchFamily="18" charset="0"/>
                <a:cs typeface="Times New Roman" panose="02020603050405020304" pitchFamily="18" charset="0"/>
              </a:rPr>
              <a:t>үндсэн зээлийг 4-р сарын эцэст нэг удаа төлнө. Энэ төлөвлөгөөгөөр хүүний төлбөрийг хуримтлуулахгүй учраас нийлмэл хүү байхгүй. Хүснэгтэд доллар-сарын дүн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17,000</a:t>
            </a:r>
            <a:r>
              <a:rPr lang="mn-MN" dirty="0">
                <a:sym typeface="Symbol" panose="05050102010706020507" pitchFamily="18" charset="2"/>
              </a:rPr>
              <a:t></a:t>
            </a:r>
            <a:r>
              <a:rPr lang="en-US" dirty="0">
                <a:latin typeface="Times New Roman" panose="02020603050405020304" pitchFamily="18" charset="0"/>
                <a:cs typeface="Times New Roman" panose="02020603050405020304" pitchFamily="18" charset="0"/>
              </a:rPr>
              <a:t>4 </a:t>
            </a:r>
            <a:r>
              <a:rPr lang="mn-MN" dirty="0">
                <a:latin typeface="Times New Roman" panose="02020603050405020304" pitchFamily="18" charset="0"/>
                <a:cs typeface="Times New Roman" panose="02020603050405020304" pitchFamily="18" charset="0"/>
              </a:rPr>
              <a:t>сар)</a:t>
            </a:r>
            <a:r>
              <a:rPr lang="en-US" dirty="0">
                <a:latin typeface="Times New Roman" panose="02020603050405020304" pitchFamily="18" charset="0"/>
                <a:cs typeface="Times New Roman" panose="02020603050405020304" pitchFamily="18" charset="0"/>
              </a:rPr>
              <a:t> $68000</a:t>
            </a:r>
            <a:r>
              <a:rPr lang="mn-MN" dirty="0">
                <a:latin typeface="Times New Roman" panose="02020603050405020304" pitchFamily="18" charset="0"/>
                <a:cs typeface="Times New Roman" panose="02020603050405020304" pitchFamily="18" charset="0"/>
              </a:rPr>
              <a:t>, нийт хүүний төлбөр (170</a:t>
            </a:r>
            <a:r>
              <a:rPr lang="mn-MN" dirty="0">
                <a:sym typeface="Symbol" panose="05050102010706020507" pitchFamily="18" charset="2"/>
              </a:rPr>
              <a:t></a:t>
            </a:r>
            <a:r>
              <a:rPr lang="en-US" dirty="0">
                <a:latin typeface="Times New Roman" panose="02020603050405020304" pitchFamily="18" charset="0"/>
                <a:cs typeface="Times New Roman" panose="02020603050405020304" pitchFamily="18" charset="0"/>
              </a:rPr>
              <a:t>4) $680 </a:t>
            </a:r>
            <a:r>
              <a:rPr lang="mn-MN" dirty="0">
                <a:latin typeface="Times New Roman" panose="02020603050405020304" pitchFamily="18" charset="0"/>
                <a:cs typeface="Times New Roman" panose="02020603050405020304" pitchFamily="18" charset="0"/>
              </a:rPr>
              <a:t>байна. Тиймээс сарын хүү нь ($680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68,000) </a:t>
            </a:r>
            <a:r>
              <a:rPr lang="mn-MN" dirty="0">
                <a:sym typeface="Symbol" panose="05050102010706020507" pitchFamily="18" charset="2"/>
              </a:rPr>
              <a:t> </a:t>
            </a:r>
            <a:r>
              <a:rPr lang="en-US" dirty="0">
                <a:latin typeface="Times New Roman" panose="02020603050405020304" pitchFamily="18" charset="0"/>
                <a:cs typeface="Times New Roman" panose="02020603050405020304" pitchFamily="18" charset="0"/>
              </a:rPr>
              <a:t>100% = 1%.</a:t>
            </a:r>
          </a:p>
          <a:p>
            <a:pPr algn="just"/>
            <a:r>
              <a:rPr lang="en-US" b="1" dirty="0">
                <a:latin typeface="Times New Roman" panose="02020603050405020304" pitchFamily="18" charset="0"/>
                <a:cs typeface="Times New Roman" panose="02020603050405020304" pitchFamily="18" charset="0"/>
              </a:rPr>
              <a:t>II</a:t>
            </a:r>
            <a:r>
              <a:rPr lang="mn-MN" b="1" dirty="0">
                <a:latin typeface="Times New Roman" panose="02020603050405020304" pitchFamily="18" charset="0"/>
                <a:cs typeface="Times New Roman" panose="02020603050405020304" pitchFamily="18" charset="0"/>
              </a:rPr>
              <a:t> төлөвлөгөөнд</a:t>
            </a:r>
          </a:p>
          <a:p>
            <a:pPr lvl="1" algn="just"/>
            <a:r>
              <a:rPr lang="mn-MN" dirty="0">
                <a:latin typeface="Times New Roman" panose="02020603050405020304" pitchFamily="18" charset="0"/>
                <a:cs typeface="Times New Roman" panose="02020603050405020304" pitchFamily="18" charset="0"/>
              </a:rPr>
              <a:t>сард $4,357.10-ын төлбөр төлнө. Энд хүүг нийлмэл хүүний аргаар тооцох ба </a:t>
            </a:r>
            <a:r>
              <a:rPr lang="en-US" dirty="0">
                <a:latin typeface="Times New Roman" panose="02020603050405020304" pitchFamily="18" charset="0"/>
                <a:cs typeface="Times New Roman" panose="02020603050405020304" pitchFamily="18" charset="0"/>
              </a:rPr>
              <a:t>$17,000-</a:t>
            </a:r>
            <a:r>
              <a:rPr lang="mn-MN" dirty="0">
                <a:latin typeface="Times New Roman" panose="02020603050405020304" pitchFamily="18" charset="0"/>
                <a:cs typeface="Times New Roman" panose="02020603050405020304" pitchFamily="18" charset="0"/>
              </a:rPr>
              <a:t>ын үндсэн зээлийг 4 сарын хугацаанд бүрэн төлнө гэдгийг анхаарах хэрэгтэй. Хүснэгтээс харахад, сарын хүүний түвшин ($427.10</a:t>
            </a:r>
            <a:r>
              <a:rPr lang="en-US" dirty="0">
                <a:latin typeface="Times New Roman" panose="02020603050405020304" pitchFamily="18" charset="0"/>
                <a:cs typeface="Times New Roman" panose="02020603050405020304" pitchFamily="18" charset="0"/>
              </a:rPr>
              <a:t> / </a:t>
            </a:r>
            <a:r>
              <a:rPr lang="mn-MN" dirty="0">
                <a:latin typeface="Times New Roman" panose="02020603050405020304" pitchFamily="18" charset="0"/>
                <a:cs typeface="Times New Roman" panose="02020603050405020304" pitchFamily="18" charset="0"/>
              </a:rPr>
              <a:t>$42,709.5 доллар-сараар)</a:t>
            </a:r>
            <a:r>
              <a:rPr lang="mn-MN" dirty="0">
                <a:sym typeface="Symbol" panose="05050102010706020507" pitchFamily="18" charset="2"/>
              </a:rPr>
              <a:t>  </a:t>
            </a:r>
            <a:r>
              <a:rPr lang="en-US" dirty="0">
                <a:latin typeface="Times New Roman" panose="02020603050405020304" pitchFamily="18" charset="0"/>
                <a:cs typeface="Times New Roman" panose="02020603050405020304" pitchFamily="18" charset="0"/>
              </a:rPr>
              <a:t>100% = 1%. </a:t>
            </a:r>
            <a:r>
              <a:rPr lang="mn-MN" dirty="0">
                <a:latin typeface="Times New Roman" panose="02020603050405020304" pitchFamily="18" charset="0"/>
                <a:cs typeface="Times New Roman" panose="02020603050405020304" pitchFamily="18" charset="0"/>
              </a:rPr>
              <a:t>үндсэн зээлийг сар бүр төлж байгаа, мөн хүүний төлбөрийн нийт дүн ($427.10) бага байгаа тул </a:t>
            </a:r>
            <a:r>
              <a:rPr lang="en-US" dirty="0">
                <a:latin typeface="Times New Roman" panose="02020603050405020304" pitchFamily="18" charset="0"/>
                <a:cs typeface="Times New Roman" panose="02020603050405020304" pitchFamily="18" charset="0"/>
              </a:rPr>
              <a:t>II </a:t>
            </a:r>
            <a:r>
              <a:rPr lang="mn-MN" dirty="0">
                <a:latin typeface="Times New Roman" panose="02020603050405020304" pitchFamily="18" charset="0"/>
                <a:cs typeface="Times New Roman" panose="02020603050405020304" pitchFamily="18" charset="0"/>
              </a:rPr>
              <a:t>Төлөвлөгөөний зээлийн доллар-сарын хэмжээ (</a:t>
            </a:r>
            <a:r>
              <a:rPr lang="en-US" dirty="0">
                <a:latin typeface="Times New Roman" panose="02020603050405020304" pitchFamily="18" charset="0"/>
                <a:cs typeface="Times New Roman" panose="02020603050405020304" pitchFamily="18" charset="0"/>
              </a:rPr>
              <a:t>I </a:t>
            </a:r>
            <a:r>
              <a:rPr lang="mn-MN" dirty="0">
                <a:latin typeface="Times New Roman" panose="02020603050405020304" pitchFamily="18" charset="0"/>
                <a:cs typeface="Times New Roman" panose="02020603050405020304" pitchFamily="18" charset="0"/>
              </a:rPr>
              <a:t>төлөвлөгөөтэй харьцуулахад) бага байна.</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III</a:t>
            </a:r>
            <a:r>
              <a:rPr lang="mn-MN" b="1" dirty="0">
                <a:latin typeface="Times New Roman" panose="02020603050405020304" pitchFamily="18" charset="0"/>
                <a:cs typeface="Times New Roman" panose="02020603050405020304" pitchFamily="18" charset="0"/>
              </a:rPr>
              <a:t> төлөвлөгөөнд</a:t>
            </a:r>
          </a:p>
          <a:p>
            <a:pPr lvl="1" algn="just"/>
            <a:r>
              <a:rPr lang="mn-MN" dirty="0">
                <a:latin typeface="Times New Roman" panose="02020603050405020304" pitchFamily="18" charset="0"/>
                <a:cs typeface="Times New Roman" panose="02020603050405020304" pitchFamily="18" charset="0"/>
              </a:rPr>
              <a:t>эхний гурван сард хүү ба үндсэн зээл эргэн төлөгдөөгүй болохыг харуулсан. Улмаар 4-р сарын эцэст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17,690.27</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ын нэг удаагийн шууд төлөлт хийсэн байна. Энэ төлбөрт анх авсан үндсэн зээл болон хуримтлагдсан (нийлмэл) хүү болох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690.27 багтсан. Үндсэн зээл ба хуримтлагдсан хүүний төлбөрийг 4-р сарын эцэс хүртэл төлөөгүй тул зээлийн доллар-сарын хэмжээ нэлээд их </a:t>
            </a:r>
            <a:r>
              <a:rPr lang="en-US" dirty="0">
                <a:latin typeface="Times New Roman" panose="02020603050405020304" pitchFamily="18" charset="0"/>
                <a:cs typeface="Times New Roman" panose="02020603050405020304" pitchFamily="18" charset="0"/>
              </a:rPr>
              <a:t>($69,026.8) </a:t>
            </a:r>
            <a:r>
              <a:rPr lang="mn-MN" dirty="0">
                <a:latin typeface="Times New Roman" panose="02020603050405020304" pitchFamily="18" charset="0"/>
                <a:cs typeface="Times New Roman" panose="02020603050405020304" pitchFamily="18" charset="0"/>
              </a:rPr>
              <a:t>байна.</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Хүүний нийт төлбөрийг Доллар-сард харьцуулсан харьцаа 0.01</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буюу 1</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байна.</a:t>
            </a:r>
          </a:p>
          <a:p>
            <a:pPr algn="just"/>
            <a:r>
              <a:rPr lang="mn-MN" b="1" dirty="0">
                <a:latin typeface="Times New Roman" panose="02020603050405020304" pitchFamily="18" charset="0"/>
                <a:cs typeface="Times New Roman" panose="02020603050405020304" pitchFamily="18" charset="0"/>
              </a:rPr>
              <a:t>Эндээс эдийн засгийн эквивалентын тухай ойлголтыг харж болно.</a:t>
            </a:r>
            <a:r>
              <a:rPr lang="en-US" b="1" dirty="0">
                <a:latin typeface="Times New Roman" panose="02020603050405020304" pitchFamily="18" charset="0"/>
                <a:cs typeface="Times New Roman" panose="02020603050405020304" pitchFamily="18" charset="0"/>
              </a:rPr>
              <a:t> </a:t>
            </a:r>
            <a:r>
              <a:rPr lang="mn-MN" b="1" dirty="0">
                <a:effectLst/>
                <a:latin typeface="Times New Roman" panose="02020603050405020304" pitchFamily="18" charset="0"/>
                <a:ea typeface="Times New Roman" panose="02020603050405020304" pitchFamily="18" charset="0"/>
              </a:rPr>
              <a:t>Энэ гурван төлөвлөгөө үндсэн зээлийн төлбөр болон хүүг хэрхэн төлөхөөрөө ялгаатай байна.</a:t>
            </a:r>
            <a:endParaRPr lang="en-US" b="1"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14</a:t>
            </a:fld>
            <a:endParaRPr lang="en-US" altLang="en-US">
              <a:solidFill>
                <a:srgbClr val="5FCBEF"/>
              </a:solidFill>
            </a:endParaRPr>
          </a:p>
        </p:txBody>
      </p:sp>
      <p:sp>
        <p:nvSpPr>
          <p:cNvPr id="7" name="Title 1">
            <a:extLst>
              <a:ext uri="{FF2B5EF4-FFF2-40B4-BE49-F238E27FC236}">
                <a16:creationId xmlns:a16="http://schemas.microsoft.com/office/drawing/2014/main" id="{5278D585-2DC5-42B5-BE95-5A1B78791B7B}"/>
              </a:ext>
            </a:extLst>
          </p:cNvPr>
          <p:cNvSpPr txBox="1">
            <a:spLocks/>
          </p:cNvSpPr>
          <p:nvPr/>
        </p:nvSpPr>
        <p:spPr>
          <a:xfrm>
            <a:off x="141665" y="-2240"/>
            <a:ext cx="10364451" cy="3220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3. Эквивалентын тухай ойлголт </a:t>
            </a:r>
            <a:r>
              <a:rPr lang="en-US"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r>
              <a:rPr lang="mn-MN"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92127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42461" y="931984"/>
            <a:ext cx="11907078" cy="5424365"/>
          </a:xfrm>
        </p:spPr>
        <p:txBody>
          <a:bodyPr>
            <a:noAutofit/>
          </a:bodyPr>
          <a:lstStyle/>
          <a:p>
            <a:pPr marL="0" indent="0" algn="just">
              <a:lnSpc>
                <a:spcPct val="80000"/>
              </a:lnSpc>
              <a:spcBef>
                <a:spcPts val="0"/>
              </a:spcBef>
              <a:buNone/>
            </a:pPr>
            <a:r>
              <a:rPr lang="mn-MN" sz="3200" dirty="0">
                <a:latin typeface="Times New Roman" panose="02020603050405020304" pitchFamily="18" charset="0"/>
                <a:cs typeface="Times New Roman" panose="02020603050405020304" pitchFamily="18" charset="0"/>
              </a:rPr>
              <a:t>Нийлмэл хүүг тооцоолох томъёонд дараах тэмдэглэгээг ашиглана. Үүнд: </a:t>
            </a:r>
          </a:p>
          <a:p>
            <a:pPr marL="287338" lvl="1" algn="just">
              <a:lnSpc>
                <a:spcPct val="80000"/>
              </a:lnSpc>
              <a:spcBef>
                <a:spcPts val="0"/>
              </a:spcBef>
            </a:pPr>
            <a:r>
              <a:rPr lang="en-US" sz="3600" i="1" cap="none" dirty="0" err="1">
                <a:solidFill>
                  <a:srgbClr val="0000FF"/>
                </a:solidFill>
                <a:latin typeface="Times New Roman" panose="02020603050405020304" pitchFamily="18" charset="0"/>
                <a:cs typeface="Times New Roman" panose="02020603050405020304" pitchFamily="18" charset="0"/>
              </a:rPr>
              <a:t>i</a:t>
            </a:r>
            <a:r>
              <a:rPr lang="mn-MN" sz="2800" dirty="0">
                <a:latin typeface="Times New Roman" panose="02020603050405020304" pitchFamily="18" charset="0"/>
                <a:cs typeface="Times New Roman" panose="02020603050405020304" pitchFamily="18" charset="0"/>
              </a:rPr>
              <a:t> = хүүг тооцох үед харгалзах үр ашигтай хүүний түвшин;</a:t>
            </a:r>
          </a:p>
          <a:p>
            <a:pPr marL="287338" lvl="1" algn="just">
              <a:lnSpc>
                <a:spcPct val="80000"/>
              </a:lnSpc>
              <a:spcBef>
                <a:spcPts val="0"/>
              </a:spcBef>
            </a:pPr>
            <a:r>
              <a:rPr lang="en-US" sz="2800" b="1" i="1" dirty="0">
                <a:solidFill>
                  <a:srgbClr val="0000FF"/>
                </a:solidFill>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 = </a:t>
            </a:r>
            <a:r>
              <a:rPr lang="mn-MN" sz="2800" dirty="0">
                <a:latin typeface="Times New Roman" panose="02020603050405020304" pitchFamily="18" charset="0"/>
                <a:cs typeface="Times New Roman" panose="02020603050405020304" pitchFamily="18" charset="0"/>
              </a:rPr>
              <a:t>хүү тооцох үеийн тоо;</a:t>
            </a:r>
          </a:p>
          <a:p>
            <a:pPr marL="287338" lvl="1" algn="just">
              <a:lnSpc>
                <a:spcPct val="80000"/>
              </a:lnSpc>
              <a:spcBef>
                <a:spcPts val="0"/>
              </a:spcBef>
            </a:pPr>
            <a:r>
              <a:rPr lang="en-US" sz="2800" b="1" i="1" dirty="0">
                <a:solidFill>
                  <a:srgbClr val="0000FF"/>
                </a:solidFill>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a:t>
            </a:r>
            <a:r>
              <a:rPr lang="mn-MN" sz="2800" b="1" dirty="0">
                <a:latin typeface="Times New Roman" panose="02020603050405020304" pitchFamily="18" charset="0"/>
                <a:cs typeface="Times New Roman" panose="02020603050405020304" pitchFamily="18" charset="0"/>
              </a:rPr>
              <a:t>өнөөгийн </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одоогийн</a:t>
            </a:r>
            <a:r>
              <a:rPr lang="en-US" sz="2800" b="1" dirty="0">
                <a:latin typeface="Times New Roman" panose="02020603050405020304" pitchFamily="18" charset="0"/>
                <a:cs typeface="Times New Roman" panose="02020603050405020304" pitchFamily="18" charset="0"/>
              </a:rPr>
              <a:t>) </a:t>
            </a:r>
            <a:r>
              <a:rPr lang="mn-MN" sz="2800" b="1" dirty="0">
                <a:latin typeface="Times New Roman" panose="02020603050405020304" pitchFamily="18" charset="0"/>
                <a:cs typeface="Times New Roman" panose="02020603050405020304" pitchFamily="18" charset="0"/>
              </a:rPr>
              <a:t>мөнгөний хэмжээ; </a:t>
            </a:r>
            <a:r>
              <a:rPr lang="mn-MN" sz="2800" dirty="0">
                <a:latin typeface="Times New Roman" panose="02020603050405020304" pitchFamily="18" charset="0"/>
                <a:cs typeface="Times New Roman" panose="02020603050405020304" pitchFamily="18" charset="0"/>
              </a:rPr>
              <a:t>өнөөгийн гэж тооцож болох цаг хугацааны тодорхой цэг дээрх нэг буюу хэд хэдэн мөнгөн урсгалын </a:t>
            </a:r>
            <a:r>
              <a:rPr lang="mn-MN" sz="2800" i="1" dirty="0">
                <a:latin typeface="Times New Roman" panose="02020603050405020304" pitchFamily="18" charset="0"/>
                <a:cs typeface="Times New Roman" panose="02020603050405020304" pitchFamily="18" charset="0"/>
              </a:rPr>
              <a:t>эквивалент</a:t>
            </a:r>
            <a:r>
              <a:rPr lang="mn-MN" sz="2800" dirty="0">
                <a:latin typeface="Times New Roman" panose="02020603050405020304" pitchFamily="18" charset="0"/>
                <a:cs typeface="Times New Roman" panose="02020603050405020304" pitchFamily="18" charset="0"/>
              </a:rPr>
              <a:t> утгыг </a:t>
            </a:r>
            <a:r>
              <a:rPr lang="mn-MN" sz="2800" b="1" i="1" dirty="0">
                <a:latin typeface="Times New Roman" panose="02020603050405020304" pitchFamily="18" charset="0"/>
                <a:cs typeface="Times New Roman" panose="02020603050405020304" pitchFamily="18" charset="0"/>
              </a:rPr>
              <a:t>өнөөгийн үнэ цэнэ </a:t>
            </a:r>
            <a:r>
              <a:rPr lang="mn-MN" sz="2800" dirty="0">
                <a:latin typeface="Times New Roman" panose="02020603050405020304" pitchFamily="18" charset="0"/>
                <a:cs typeface="Times New Roman" panose="02020603050405020304" pitchFamily="18" charset="0"/>
              </a:rPr>
              <a:t>гэнэ. </a:t>
            </a:r>
          </a:p>
          <a:p>
            <a:pPr marL="287338" lvl="1" algn="just">
              <a:lnSpc>
                <a:spcPct val="80000"/>
              </a:lnSpc>
              <a:spcBef>
                <a:spcPts val="0"/>
              </a:spcBef>
            </a:pPr>
            <a:r>
              <a:rPr lang="en-US" sz="2800" b="1" i="1" dirty="0">
                <a:solidFill>
                  <a:srgbClr val="0000FF"/>
                </a:solidFill>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 = </a:t>
            </a:r>
            <a:r>
              <a:rPr lang="mn-MN" sz="2800" b="1" dirty="0">
                <a:latin typeface="Times New Roman" panose="02020603050405020304" pitchFamily="18" charset="0"/>
                <a:cs typeface="Times New Roman" panose="02020603050405020304" pitchFamily="18" charset="0"/>
              </a:rPr>
              <a:t>ирээдүйн мөнгөний хэмжээ; </a:t>
            </a:r>
            <a:r>
              <a:rPr lang="mn-MN" sz="2800" dirty="0">
                <a:latin typeface="Times New Roman" panose="02020603050405020304" pitchFamily="18" charset="0"/>
                <a:cs typeface="Times New Roman" panose="02020603050405020304" pitchFamily="18" charset="0"/>
              </a:rPr>
              <a:t>Ирээдүйн гэж тооцож болох цаг хугацааны тодорхой цэг дээрх нэг буюу хэд хэдэн мөнгөн урсгалын </a:t>
            </a:r>
            <a:r>
              <a:rPr lang="mn-MN" sz="2800" i="1" dirty="0">
                <a:latin typeface="Times New Roman" panose="02020603050405020304" pitchFamily="18" charset="0"/>
                <a:cs typeface="Times New Roman" panose="02020603050405020304" pitchFamily="18" charset="0"/>
              </a:rPr>
              <a:t>эквивалент</a:t>
            </a:r>
            <a:r>
              <a:rPr lang="mn-MN" sz="2800" dirty="0">
                <a:latin typeface="Times New Roman" panose="02020603050405020304" pitchFamily="18" charset="0"/>
                <a:cs typeface="Times New Roman" panose="02020603050405020304" pitchFamily="18" charset="0"/>
              </a:rPr>
              <a:t> утгыг </a:t>
            </a:r>
            <a:r>
              <a:rPr lang="mn-MN" sz="2800" b="1" i="1" dirty="0">
                <a:latin typeface="Times New Roman" panose="02020603050405020304" pitchFamily="18" charset="0"/>
                <a:cs typeface="Times New Roman" panose="02020603050405020304" pitchFamily="18" charset="0"/>
              </a:rPr>
              <a:t>ирээдүйн үнэ цэнэ</a:t>
            </a:r>
            <a:r>
              <a:rPr lang="mn-MN" sz="2800" dirty="0">
                <a:latin typeface="Times New Roman" panose="02020603050405020304" pitchFamily="18" charset="0"/>
                <a:cs typeface="Times New Roman" panose="02020603050405020304" pitchFamily="18" charset="0"/>
              </a:rPr>
              <a:t> гэнэ;</a:t>
            </a:r>
          </a:p>
          <a:p>
            <a:pPr marL="287338" lvl="1" algn="just">
              <a:lnSpc>
                <a:spcPct val="80000"/>
              </a:lnSpc>
              <a:spcBef>
                <a:spcPts val="0"/>
              </a:spcBef>
            </a:pPr>
            <a:r>
              <a:rPr lang="en-US" sz="3200" b="1" i="1" dirty="0">
                <a:solidFill>
                  <a:srgbClr val="0000FF"/>
                </a:solidFill>
                <a:latin typeface="Times New Roman" panose="02020603050405020304" pitchFamily="18" charset="0"/>
                <a:cs typeface="Times New Roman" panose="02020603050405020304" pitchFamily="18" charset="0"/>
              </a:rPr>
              <a:t>A</a:t>
            </a:r>
            <a:r>
              <a:rPr lang="en-US" sz="2800" dirty="0">
                <a:latin typeface="Times New Roman" panose="02020603050405020304" pitchFamily="18" charset="0"/>
                <a:cs typeface="Times New Roman" panose="02020603050405020304" pitchFamily="18" charset="0"/>
              </a:rPr>
              <a:t> = </a:t>
            </a:r>
            <a:r>
              <a:rPr lang="mn-MN" sz="2800" dirty="0">
                <a:latin typeface="Times New Roman" panose="02020603050405020304" pitchFamily="18" charset="0"/>
                <a:cs typeface="Times New Roman" panose="02020603050405020304" pitchFamily="18" charset="0"/>
              </a:rPr>
              <a:t>нэгдүгээр үеийн эцсээс төгсгөлийн үеийн эцэс хүртэл тодорхой тооны </a:t>
            </a:r>
            <a:r>
              <a:rPr lang="mn-MN" sz="2800" b="1" dirty="0">
                <a:latin typeface="Times New Roman" panose="02020603050405020304" pitchFamily="18" charset="0"/>
                <a:cs typeface="Times New Roman" panose="02020603050405020304" pitchFamily="18" charset="0"/>
              </a:rPr>
              <a:t>үеүдийн туршид үргэлжилсэн</a:t>
            </a:r>
            <a:r>
              <a:rPr lang="mn-MN" sz="2800" dirty="0">
                <a:latin typeface="Times New Roman" panose="02020603050405020304" pitchFamily="18" charset="0"/>
                <a:cs typeface="Times New Roman" panose="02020603050405020304" pitchFamily="18" charset="0"/>
              </a:rPr>
              <a:t> жигд цуваан дахь хугацааны </a:t>
            </a:r>
            <a:r>
              <a:rPr lang="mn-MN" sz="2800" b="1" dirty="0">
                <a:latin typeface="Times New Roman" panose="02020603050405020304" pitchFamily="18" charset="0"/>
                <a:cs typeface="Times New Roman" panose="02020603050405020304" pitchFamily="18" charset="0"/>
              </a:rPr>
              <a:t>үеийн эцэс дэх мөнгөн урсгал</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буюу </a:t>
            </a:r>
            <a:r>
              <a:rPr lang="mn-MN" sz="2800" b="1" dirty="0">
                <a:latin typeface="Times New Roman" panose="02020603050405020304" pitchFamily="18" charset="0"/>
                <a:cs typeface="Times New Roman" panose="02020603050405020304" pitchFamily="18" charset="0"/>
              </a:rPr>
              <a:t>хугацааны үеийн эцэс дэх эквивалент үнэ цэнэ</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15</a:t>
            </a:fld>
            <a:endParaRPr lang="en-US" altLang="en-US">
              <a:solidFill>
                <a:srgbClr val="5FCBEF"/>
              </a:solidFill>
            </a:endParaRPr>
          </a:p>
        </p:txBody>
      </p:sp>
      <p:sp>
        <p:nvSpPr>
          <p:cNvPr id="5" name="Title 1">
            <a:extLst>
              <a:ext uri="{FF2B5EF4-FFF2-40B4-BE49-F238E27FC236}">
                <a16:creationId xmlns:a16="http://schemas.microsoft.com/office/drawing/2014/main" id="{19BD1136-15C5-40B4-B5CC-2C46B59FDCA5}"/>
              </a:ext>
            </a:extLst>
          </p:cNvPr>
          <p:cNvSpPr txBox="1">
            <a:spLocks/>
          </p:cNvSpPr>
          <p:nvPr/>
        </p:nvSpPr>
        <p:spPr>
          <a:xfrm>
            <a:off x="142460" y="90169"/>
            <a:ext cx="11744739" cy="8418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Цаг хугацааны шулуун буюу Мөнгөн урсгалын диаграм ба хүснэгт, тайлбар (тэмдэглэгээ)</a:t>
            </a:r>
          </a:p>
        </p:txBody>
      </p:sp>
    </p:spTree>
    <p:extLst>
      <p:ext uri="{BB962C8B-B14F-4D97-AF65-F5344CB8AC3E}">
        <p14:creationId xmlns:p14="http://schemas.microsoft.com/office/powerpoint/2010/main" val="3827525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16</a:t>
            </a:fld>
            <a:endParaRPr lang="en-US" altLang="en-US">
              <a:solidFill>
                <a:srgbClr val="5FCBEF"/>
              </a:solidFill>
            </a:endParaRPr>
          </a:p>
        </p:txBody>
      </p:sp>
      <p:sp>
        <p:nvSpPr>
          <p:cNvPr id="8" name="Content Placeholder 2">
            <a:extLst>
              <a:ext uri="{FF2B5EF4-FFF2-40B4-BE49-F238E27FC236}">
                <a16:creationId xmlns:a16="http://schemas.microsoft.com/office/drawing/2014/main" id="{3A8525ED-0249-49F3-B6A5-B231020AE2DF}"/>
              </a:ext>
            </a:extLst>
          </p:cNvPr>
          <p:cNvSpPr txBox="1">
            <a:spLocks/>
          </p:cNvSpPr>
          <p:nvPr/>
        </p:nvSpPr>
        <p:spPr>
          <a:xfrm>
            <a:off x="142461" y="931982"/>
            <a:ext cx="11757991" cy="537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mn-MN" sz="3200" dirty="0">
                <a:latin typeface="Times New Roman" panose="02020603050405020304" pitchFamily="18" charset="0"/>
                <a:cs typeface="Times New Roman" panose="02020603050405020304" pitchFamily="18" charset="0"/>
              </a:rPr>
              <a:t>Янз бүрийн хугацаанд тохиолдож байгаа мөнгөн урсгалыг дүрсэлж тайлбарлахын тулд </a:t>
            </a:r>
            <a:r>
              <a:rPr lang="mn-MN" sz="3200" b="1" i="1" dirty="0">
                <a:latin typeface="Times New Roman" panose="02020603050405020304" pitchFamily="18" charset="0"/>
                <a:cs typeface="Times New Roman" panose="02020603050405020304" pitchFamily="18" charset="0"/>
              </a:rPr>
              <a:t>мөнгөн урсгалын (цаг хугацааны) диаграм</a:t>
            </a:r>
            <a:r>
              <a:rPr lang="en-US" sz="3200" b="1" i="1" dirty="0">
                <a:latin typeface="Times New Roman" panose="02020603050405020304" pitchFamily="18" charset="0"/>
                <a:cs typeface="Times New Roman" panose="02020603050405020304" pitchFamily="18" charset="0"/>
              </a:rPr>
              <a:t> </a:t>
            </a:r>
            <a:r>
              <a:rPr lang="mn-MN" sz="3200" dirty="0">
                <a:latin typeface="Times New Roman" panose="02020603050405020304" pitchFamily="18" charset="0"/>
                <a:cs typeface="Times New Roman" panose="02020603050405020304" pitchFamily="18" charset="0"/>
              </a:rPr>
              <a:t>ба </a:t>
            </a:r>
            <a:r>
              <a:rPr lang="mn-MN" sz="3200" b="1" i="1" dirty="0">
                <a:latin typeface="Times New Roman" panose="02020603050405020304" pitchFamily="18" charset="0"/>
                <a:cs typeface="Times New Roman" panose="02020603050405020304" pitchFamily="18" charset="0"/>
              </a:rPr>
              <a:t>хүснэгт</a:t>
            </a:r>
            <a:r>
              <a:rPr lang="mn-MN" sz="3200" dirty="0">
                <a:latin typeface="Times New Roman" panose="02020603050405020304" pitchFamily="18" charset="0"/>
                <a:cs typeface="Times New Roman" panose="02020603050405020304" pitchFamily="18" charset="0"/>
              </a:rPr>
              <a:t>ийг ашиглахыг зөвлөдөг. </a:t>
            </a:r>
            <a:endParaRPr lang="en-US" sz="3200" dirty="0">
              <a:latin typeface="Times New Roman" panose="02020603050405020304" pitchFamily="18" charset="0"/>
              <a:cs typeface="Times New Roman" panose="02020603050405020304" pitchFamily="18" charset="0"/>
            </a:endParaRPr>
          </a:p>
          <a:p>
            <a:pPr algn="just">
              <a:spcBef>
                <a:spcPts val="0"/>
              </a:spcBef>
            </a:pPr>
            <a:r>
              <a:rPr lang="mn-MN" sz="3200" dirty="0">
                <a:latin typeface="Times New Roman" panose="02020603050405020304" pitchFamily="18" charset="0"/>
                <a:cs typeface="Times New Roman" panose="02020603050405020304" pitchFamily="18" charset="0"/>
              </a:rPr>
              <a:t>Үүнээс гадна, </a:t>
            </a:r>
            <a:r>
              <a:rPr lang="mn-MN" sz="3200" b="1" dirty="0">
                <a:latin typeface="Times New Roman" panose="02020603050405020304" pitchFamily="18" charset="0"/>
                <a:cs typeface="Times New Roman" panose="02020603050405020304" pitchFamily="18" charset="0"/>
              </a:rPr>
              <a:t>харах өнцөг (</a:t>
            </a:r>
            <a:r>
              <a:rPr lang="en-US" sz="3200" b="1" dirty="0">
                <a:latin typeface="Times New Roman" panose="02020603050405020304" pitchFamily="18" charset="0"/>
                <a:cs typeface="Times New Roman" panose="02020603050405020304" pitchFamily="18" charset="0"/>
              </a:rPr>
              <a:t>III </a:t>
            </a:r>
            <a:r>
              <a:rPr lang="mn-MN" sz="3200" b="1" dirty="0">
                <a:latin typeface="Times New Roman" panose="02020603050405020304" pitchFamily="18" charset="0"/>
                <a:cs typeface="Times New Roman" panose="02020603050405020304" pitchFamily="18" charset="0"/>
              </a:rPr>
              <a:t>зарчим) нь </a:t>
            </a:r>
            <a:r>
              <a:rPr lang="mn-MN" sz="3200" dirty="0">
                <a:latin typeface="Times New Roman" panose="02020603050405020304" pitchFamily="18" charset="0"/>
                <a:cs typeface="Times New Roman" panose="02020603050405020304" pitchFamily="18" charset="0"/>
              </a:rPr>
              <a:t>мөнгөн урсгалын диаграмын чухал шинж чанар юм.</a:t>
            </a:r>
            <a:endParaRPr lang="en-US" sz="3200" dirty="0">
              <a:latin typeface="Times New Roman" panose="02020603050405020304" pitchFamily="18" charset="0"/>
              <a:cs typeface="Times New Roman" panose="02020603050405020304" pitchFamily="18" charset="0"/>
            </a:endParaRPr>
          </a:p>
          <a:p>
            <a:pPr algn="just">
              <a:spcBef>
                <a:spcPts val="0"/>
              </a:spcBef>
            </a:pPr>
            <a:r>
              <a:rPr lang="mn-MN" sz="3200" dirty="0">
                <a:latin typeface="Times New Roman" panose="02020603050405020304" pitchFamily="18" charset="0"/>
                <a:cs typeface="Times New Roman" panose="02020603050405020304" pitchFamily="18" charset="0"/>
              </a:rPr>
              <a:t>Тодорхой хугацааны үеийн туршид (жишээлбэл, нэг жилийн</a:t>
            </a:r>
            <a:r>
              <a:rPr lang="mn-MN" sz="3200" b="1" dirty="0">
                <a:latin typeface="Times New Roman" panose="02020603050405020304" pitchFamily="18" charset="0"/>
                <a:cs typeface="Times New Roman" panose="02020603050405020304" pitchFamily="18" charset="0"/>
              </a:rPr>
              <a:t>) нийт мөнгөн орлого ба мөнгөн зарлагын хоорондох зөрүү нь тайлант үеийн цэвэр мөнгөн урсгал болно. </a:t>
            </a:r>
            <a:endParaRPr lang="en-US" sz="3200" b="1" dirty="0">
              <a:latin typeface="Times New Roman" panose="02020603050405020304" pitchFamily="18" charset="0"/>
              <a:cs typeface="Times New Roman" panose="02020603050405020304" pitchFamily="18" charset="0"/>
            </a:endParaRPr>
          </a:p>
          <a:p>
            <a:pPr algn="just">
              <a:spcBef>
                <a:spcPts val="0"/>
              </a:spcBef>
            </a:pPr>
            <a:r>
              <a:rPr lang="mn-MN" sz="3200" b="1" dirty="0">
                <a:latin typeface="Times New Roman" panose="02020603050405020304" pitchFamily="18" charset="0"/>
                <a:cs typeface="Times New Roman" panose="02020603050405020304" pitchFamily="18" charset="0"/>
              </a:rPr>
              <a:t>мөнгөн урсгал нь </a:t>
            </a:r>
            <a:r>
              <a:rPr lang="mn-MN" sz="3200" dirty="0">
                <a:latin typeface="Times New Roman" panose="02020603050405020304" pitchFamily="18" charset="0"/>
                <a:cs typeface="Times New Roman" panose="02020603050405020304" pitchFamily="18" charset="0"/>
              </a:rPr>
              <a:t>инженерчлэлийн эдийн засагт чухал ач холбогдолтой бөгөөд </a:t>
            </a:r>
            <a:r>
              <a:rPr lang="mn-MN" sz="3200" b="1" dirty="0">
                <a:latin typeface="Times New Roman" panose="02020603050405020304" pitchFamily="18" charset="0"/>
                <a:cs typeface="Times New Roman" panose="02020603050405020304" pitchFamily="18" charset="0"/>
              </a:rPr>
              <a:t>хувилбаруудыг үнэлэх суурь болдог.</a:t>
            </a:r>
            <a:endParaRPr lang="en-US" sz="3200" b="1"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5C25680A-CE98-415E-8C25-CEABA040DEAD}"/>
              </a:ext>
            </a:extLst>
          </p:cNvPr>
          <p:cNvSpPr txBox="1">
            <a:spLocks/>
          </p:cNvSpPr>
          <p:nvPr/>
        </p:nvSpPr>
        <p:spPr>
          <a:xfrm>
            <a:off x="142460" y="90169"/>
            <a:ext cx="11744739" cy="8418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Цаг хугацааны шулуун буюу Мөнгөн урсгалын диаграм ба хүснэгт, тайлбар (тэмдэглэгээ)</a:t>
            </a:r>
          </a:p>
        </p:txBody>
      </p:sp>
    </p:spTree>
    <p:extLst>
      <p:ext uri="{BB962C8B-B14F-4D97-AF65-F5344CB8AC3E}">
        <p14:creationId xmlns:p14="http://schemas.microsoft.com/office/powerpoint/2010/main" val="1906547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281938" y="744236"/>
            <a:ext cx="11856720" cy="453462"/>
          </a:xfrm>
        </p:spPr>
        <p:txBody>
          <a:bodyPr>
            <a:noAutofit/>
          </a:bodyPr>
          <a:lstStyle/>
          <a:p>
            <a:r>
              <a:rPr lang="mn-MN" sz="2600" b="1" dirty="0">
                <a:solidFill>
                  <a:schemeClr val="accent2">
                    <a:lumMod val="75000"/>
                  </a:schemeClr>
                </a:solidFill>
                <a:latin typeface="Times New Roman" panose="02020603050405020304" pitchFamily="18" charset="0"/>
                <a:cs typeface="Times New Roman" panose="02020603050405020304" pitchFamily="18" charset="0"/>
              </a:rPr>
              <a:t>4.1 хүснэгтийн </a:t>
            </a:r>
            <a:r>
              <a:rPr lang="en-US" sz="26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2600" b="1" dirty="0">
                <a:solidFill>
                  <a:schemeClr val="accent2">
                    <a:lumMod val="75000"/>
                  </a:schemeClr>
                </a:solidFill>
                <a:latin typeface="Times New Roman" panose="02020603050405020304" pitchFamily="18" charset="0"/>
                <a:cs typeface="Times New Roman" panose="02020603050405020304" pitchFamily="18" charset="0"/>
              </a:rPr>
              <a:t>төлөвлөгөөний мөнгөн урсгалын диаграм</a:t>
            </a:r>
            <a:endParaRPr lang="en-US" sz="26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A2B8707-CD37-400C-B1B9-93FA40EC3AB8}"/>
              </a:ext>
            </a:extLst>
          </p:cNvPr>
          <p:cNvPicPr>
            <a:picLocks noChangeAspect="1"/>
          </p:cNvPicPr>
          <p:nvPr/>
        </p:nvPicPr>
        <p:blipFill>
          <a:blip r:embed="rId3"/>
          <a:stretch>
            <a:fillRect/>
          </a:stretch>
        </p:blipFill>
        <p:spPr>
          <a:xfrm>
            <a:off x="381000" y="1124781"/>
            <a:ext cx="5547360" cy="4146109"/>
          </a:xfrm>
          <a:prstGeom prst="rect">
            <a:avLst/>
          </a:prstGeom>
        </p:spPr>
      </p:pic>
      <p:sp>
        <p:nvSpPr>
          <p:cNvPr id="10" name="TextBox 9">
            <a:extLst>
              <a:ext uri="{FF2B5EF4-FFF2-40B4-BE49-F238E27FC236}">
                <a16:creationId xmlns:a16="http://schemas.microsoft.com/office/drawing/2014/main" id="{2A62C162-EA89-6748-4AEA-75FE03749429}"/>
              </a:ext>
            </a:extLst>
          </p:cNvPr>
          <p:cNvSpPr txBox="1"/>
          <p:nvPr/>
        </p:nvSpPr>
        <p:spPr>
          <a:xfrm>
            <a:off x="167640" y="5218211"/>
            <a:ext cx="5928359" cy="461665"/>
          </a:xfrm>
          <a:prstGeom prst="rect">
            <a:avLst/>
          </a:prstGeom>
          <a:noFill/>
        </p:spPr>
        <p:txBody>
          <a:bodyPr wrap="square">
            <a:spAutoFit/>
          </a:bodyPr>
          <a:lstStyle/>
          <a:p>
            <a:pPr algn="ctr"/>
            <a:r>
              <a:rPr lang="mn-MN" sz="2400" b="1" dirty="0">
                <a:solidFill>
                  <a:schemeClr val="accent2">
                    <a:lumMod val="75000"/>
                  </a:schemeClr>
                </a:solidFill>
                <a:latin typeface="Times New Roman" panose="02020603050405020304" pitchFamily="18" charset="0"/>
                <a:cs typeface="Times New Roman" panose="02020603050405020304" pitchFamily="18" charset="0"/>
              </a:rPr>
              <a:t>(Банкны харах өнцгөөс харуулсан)</a:t>
            </a:r>
            <a:endParaRPr lang="en-US"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67F55BC-6EE7-CB75-C633-A0122BC0A41C}"/>
              </a:ext>
            </a:extLst>
          </p:cNvPr>
          <p:cNvPicPr>
            <a:picLocks noChangeAspect="1"/>
          </p:cNvPicPr>
          <p:nvPr/>
        </p:nvPicPr>
        <p:blipFill>
          <a:blip r:embed="rId4"/>
          <a:stretch>
            <a:fillRect/>
          </a:stretch>
        </p:blipFill>
        <p:spPr>
          <a:xfrm>
            <a:off x="6096000" y="1095237"/>
            <a:ext cx="5715000" cy="3990889"/>
          </a:xfrm>
          <a:prstGeom prst="rect">
            <a:avLst/>
          </a:prstGeom>
        </p:spPr>
      </p:pic>
      <p:sp>
        <p:nvSpPr>
          <p:cNvPr id="13" name="TextBox 12">
            <a:extLst>
              <a:ext uri="{FF2B5EF4-FFF2-40B4-BE49-F238E27FC236}">
                <a16:creationId xmlns:a16="http://schemas.microsoft.com/office/drawing/2014/main" id="{8722A109-8038-76A2-609C-1B2AA9DC4EF6}"/>
              </a:ext>
            </a:extLst>
          </p:cNvPr>
          <p:cNvSpPr txBox="1"/>
          <p:nvPr/>
        </p:nvSpPr>
        <p:spPr>
          <a:xfrm>
            <a:off x="5928360" y="5219174"/>
            <a:ext cx="6156959" cy="461665"/>
          </a:xfrm>
          <a:prstGeom prst="rect">
            <a:avLst/>
          </a:prstGeom>
          <a:noFill/>
        </p:spPr>
        <p:txBody>
          <a:bodyPr wrap="square">
            <a:spAutoFit/>
          </a:bodyPr>
          <a:lstStyle/>
          <a:p>
            <a:pPr algn="ctr"/>
            <a:r>
              <a:rPr lang="mn-MN" sz="2400" b="1" dirty="0">
                <a:solidFill>
                  <a:schemeClr val="accent2">
                    <a:lumMod val="75000"/>
                  </a:schemeClr>
                </a:solidFill>
                <a:latin typeface="Times New Roman" panose="02020603050405020304" pitchFamily="18" charset="0"/>
                <a:cs typeface="Times New Roman" panose="02020603050405020304" pitchFamily="18" charset="0"/>
              </a:rPr>
              <a:t>(Харилцагчийн харах өнцгөөс харуулсан)</a:t>
            </a:r>
            <a:endParaRPr lang="en-US"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B6D6B82-5C67-D3A1-68A3-3106CBC23058}"/>
              </a:ext>
            </a:extLst>
          </p:cNvPr>
          <p:cNvSpPr txBox="1"/>
          <p:nvPr/>
        </p:nvSpPr>
        <p:spPr>
          <a:xfrm>
            <a:off x="167640" y="5536888"/>
            <a:ext cx="5928359" cy="461665"/>
          </a:xfrm>
          <a:prstGeom prst="rect">
            <a:avLst/>
          </a:prstGeom>
          <a:noFill/>
        </p:spPr>
        <p:txBody>
          <a:bodyPr wrap="square">
            <a:spAutoFit/>
          </a:bodyPr>
          <a:lstStyle/>
          <a:p>
            <a:pPr algn="ctr"/>
            <a:r>
              <a:rPr lang="mn-MN" sz="2400" b="1" dirty="0">
                <a:solidFill>
                  <a:srgbClr val="0070C0"/>
                </a:solidFill>
                <a:latin typeface="Times New Roman" panose="02020603050405020304" pitchFamily="18" charset="0"/>
                <a:cs typeface="Times New Roman" panose="02020603050405020304" pitchFamily="18" charset="0"/>
              </a:rPr>
              <a:t>(Өртөг, зардалд суурилсан)</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B29BD67-C6E7-8CF5-47E3-6123798EE3E1}"/>
              </a:ext>
            </a:extLst>
          </p:cNvPr>
          <p:cNvSpPr txBox="1"/>
          <p:nvPr/>
        </p:nvSpPr>
        <p:spPr>
          <a:xfrm>
            <a:off x="5928360" y="5536888"/>
            <a:ext cx="5459361" cy="461665"/>
          </a:xfrm>
          <a:prstGeom prst="rect">
            <a:avLst/>
          </a:prstGeom>
          <a:noFill/>
        </p:spPr>
        <p:txBody>
          <a:bodyPr wrap="square">
            <a:spAutoFit/>
          </a:bodyPr>
          <a:lstStyle/>
          <a:p>
            <a:pPr algn="ctr"/>
            <a:r>
              <a:rPr lang="mn-MN" sz="2400" b="1" dirty="0">
                <a:solidFill>
                  <a:srgbClr val="0070C0"/>
                </a:solidFill>
                <a:latin typeface="Times New Roman" panose="02020603050405020304" pitchFamily="18" charset="0"/>
                <a:cs typeface="Times New Roman" panose="02020603050405020304" pitchFamily="18" charset="0"/>
              </a:rPr>
              <a:t>(Орлогод суурилсан)</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8805C54-69A4-4470-CA9C-8D48910F158B}"/>
              </a:ext>
            </a:extLst>
          </p:cNvPr>
          <p:cNvSpPr txBox="1"/>
          <p:nvPr/>
        </p:nvSpPr>
        <p:spPr>
          <a:xfrm>
            <a:off x="53339" y="5854602"/>
            <a:ext cx="6156959" cy="461665"/>
          </a:xfrm>
          <a:prstGeom prst="rect">
            <a:avLst/>
          </a:prstGeom>
          <a:noFill/>
        </p:spPr>
        <p:txBody>
          <a:bodyPr wrap="square">
            <a:spAutoFit/>
          </a:bodyPr>
          <a:lstStyle/>
          <a:p>
            <a:pPr algn="ctr"/>
            <a:r>
              <a:rPr lang="mn-MN" sz="2400" b="1" dirty="0">
                <a:solidFill>
                  <a:schemeClr val="accent6">
                    <a:lumMod val="75000"/>
                  </a:schemeClr>
                </a:solidFill>
                <a:latin typeface="Times New Roman" panose="02020603050405020304" pitchFamily="18" charset="0"/>
                <a:cs typeface="Times New Roman" panose="02020603050405020304" pitchFamily="18" charset="0"/>
              </a:rPr>
              <a:t>(Зээлдүүлэгчийн харах өнцгөөс харуулсан)</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D6E064F-1728-7944-8624-58DE2735FD7D}"/>
              </a:ext>
            </a:extLst>
          </p:cNvPr>
          <p:cNvSpPr txBox="1"/>
          <p:nvPr/>
        </p:nvSpPr>
        <p:spPr>
          <a:xfrm>
            <a:off x="6095998" y="5864374"/>
            <a:ext cx="5928361" cy="461665"/>
          </a:xfrm>
          <a:prstGeom prst="rect">
            <a:avLst/>
          </a:prstGeom>
          <a:noFill/>
        </p:spPr>
        <p:txBody>
          <a:bodyPr wrap="square">
            <a:spAutoFit/>
          </a:bodyPr>
          <a:lstStyle/>
          <a:p>
            <a:pPr algn="ctr"/>
            <a:r>
              <a:rPr lang="mn-MN" sz="2400" b="1" dirty="0">
                <a:solidFill>
                  <a:schemeClr val="accent6">
                    <a:lumMod val="75000"/>
                  </a:schemeClr>
                </a:solidFill>
                <a:latin typeface="Times New Roman" panose="02020603050405020304" pitchFamily="18" charset="0"/>
                <a:cs typeface="Times New Roman" panose="02020603050405020304" pitchFamily="18" charset="0"/>
              </a:rPr>
              <a:t>(Зээлдэгчийн харах өнцгөөс харуулсан)</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EAFAF3C4-C29D-49E1-8EE9-7F2053D7EFA9}"/>
              </a:ext>
            </a:extLst>
          </p:cNvPr>
          <p:cNvSpPr txBox="1">
            <a:spLocks/>
          </p:cNvSpPr>
          <p:nvPr/>
        </p:nvSpPr>
        <p:spPr>
          <a:xfrm>
            <a:off x="167640" y="59026"/>
            <a:ext cx="11744739" cy="8418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7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Цаг хугацааны шулуун буюу Мөнгөн урсгалын диаграм ба хүснэгт, тайлбар (тэмдэглэгээ)</a:t>
            </a:r>
          </a:p>
        </p:txBody>
      </p:sp>
    </p:spTree>
    <p:extLst>
      <p:ext uri="{BB962C8B-B14F-4D97-AF65-F5344CB8AC3E}">
        <p14:creationId xmlns:p14="http://schemas.microsoft.com/office/powerpoint/2010/main" val="1038986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91440" y="703385"/>
            <a:ext cx="11978639" cy="5991496"/>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Мөнгөн урсгалын диаграмд хэд хэдэн нөхцөлийг ашигладаг:</a:t>
            </a:r>
          </a:p>
          <a:p>
            <a:pPr lvl="1" algn="just">
              <a:spcBef>
                <a:spcPts val="0"/>
              </a:spcBef>
            </a:pPr>
            <a:r>
              <a:rPr lang="mn-MN" sz="2800" b="1" i="1" dirty="0">
                <a:solidFill>
                  <a:srgbClr val="002060"/>
                </a:solidFill>
                <a:latin typeface="Times New Roman" panose="02020603050405020304" pitchFamily="18" charset="0"/>
                <a:cs typeface="Times New Roman" panose="02020603050405020304" pitchFamily="18" charset="0"/>
              </a:rPr>
              <a:t>Хэвтээ шугам </a:t>
            </a:r>
            <a:r>
              <a:rPr lang="mn-MN" sz="2800" dirty="0">
                <a:solidFill>
                  <a:srgbClr val="002060"/>
                </a:solidFill>
                <a:latin typeface="Times New Roman" panose="02020603050405020304" pitchFamily="18" charset="0"/>
                <a:cs typeface="Times New Roman" panose="02020603050405020304" pitchFamily="18" charset="0"/>
              </a:rPr>
              <a:t>– зүүнээс баруун тийш өсөх дарааллаар байрласан </a:t>
            </a:r>
            <a:r>
              <a:rPr lang="mn-MN" sz="2800" b="1" dirty="0">
                <a:solidFill>
                  <a:srgbClr val="002060"/>
                </a:solidFill>
                <a:latin typeface="Times New Roman" panose="02020603050405020304" pitchFamily="18" charset="0"/>
                <a:cs typeface="Times New Roman" panose="02020603050405020304" pitchFamily="18" charset="0"/>
              </a:rPr>
              <a:t>хугацааны тэнхлэг</a:t>
            </a:r>
            <a:r>
              <a:rPr lang="mn-MN" sz="2800" dirty="0">
                <a:solidFill>
                  <a:srgbClr val="002060"/>
                </a:solidFill>
                <a:latin typeface="Times New Roman" panose="02020603050405020304" pitchFamily="18" charset="0"/>
                <a:cs typeface="Times New Roman" panose="02020603050405020304" pitchFamily="18" charset="0"/>
              </a:rPr>
              <a:t>. </a:t>
            </a:r>
          </a:p>
          <a:p>
            <a:pPr lvl="2" algn="just"/>
            <a:r>
              <a:rPr lang="mn-MN" sz="2400" dirty="0">
                <a:solidFill>
                  <a:srgbClr val="002060"/>
                </a:solidFill>
                <a:latin typeface="Times New Roman" panose="02020603050405020304" pitchFamily="18" charset="0"/>
                <a:cs typeface="Times New Roman" panose="02020603050405020304" pitchFamily="18" charset="0"/>
              </a:rPr>
              <a:t>Хугацааны тэмдэглэгээг жил, улирал, сар зэрэг хугацааны интервалаар хийж болно. Жишээлбэл, 2 дугаар үеийн эцэс 3 дугаар үеийн эхлэлтэй давхацна. Тайлант үеийн эцсийн мөнгөн урсгалын нөхцлийг ашиглах үед өмнөх зурагт харуулсны дагуу үеийн дугаарыг хугацааны интервал бүрийн төгсгөлд байрлуулна.</a:t>
            </a:r>
          </a:p>
          <a:p>
            <a:pPr lvl="1" algn="just">
              <a:spcBef>
                <a:spcPts val="300"/>
              </a:spcBef>
            </a:pPr>
            <a:r>
              <a:rPr lang="mn-MN" sz="2800" b="1" dirty="0">
                <a:solidFill>
                  <a:srgbClr val="002060"/>
                </a:solidFill>
                <a:latin typeface="Times New Roman" panose="02020603050405020304" pitchFamily="18" charset="0"/>
                <a:cs typeface="Times New Roman" panose="02020603050405020304" pitchFamily="18" charset="0"/>
              </a:rPr>
              <a:t>Сум</a:t>
            </a:r>
            <a:r>
              <a:rPr lang="mn-MN" sz="2800" dirty="0">
                <a:solidFill>
                  <a:srgbClr val="002060"/>
                </a:solidFill>
                <a:latin typeface="Times New Roman" panose="02020603050405020304" pitchFamily="18" charset="0"/>
                <a:cs typeface="Times New Roman" panose="02020603050405020304" pitchFamily="18" charset="0"/>
              </a:rPr>
              <a:t>нуудаар </a:t>
            </a:r>
            <a:r>
              <a:rPr lang="mn-MN" sz="2800" b="1" dirty="0">
                <a:solidFill>
                  <a:srgbClr val="002060"/>
                </a:solidFill>
                <a:latin typeface="Times New Roman" panose="02020603050405020304" pitchFamily="18" charset="0"/>
                <a:cs typeface="Times New Roman" panose="02020603050405020304" pitchFamily="18" charset="0"/>
              </a:rPr>
              <a:t>мөнгөн урсгал</a:t>
            </a:r>
            <a:r>
              <a:rPr lang="mn-MN" sz="2800" dirty="0">
                <a:solidFill>
                  <a:srgbClr val="002060"/>
                </a:solidFill>
                <a:latin typeface="Times New Roman" panose="02020603050405020304" pitchFamily="18" charset="0"/>
                <a:cs typeface="Times New Roman" panose="02020603050405020304" pitchFamily="18" charset="0"/>
              </a:rPr>
              <a:t>ыг тодорхойлох ба тухайн үеийн төгсгөлд байрлуулдаг. Хэрэв ялгах шаардлагатай бол </a:t>
            </a:r>
          </a:p>
          <a:p>
            <a:pPr lvl="2" algn="just"/>
            <a:r>
              <a:rPr lang="mn-MN" sz="2400" b="1" i="1" dirty="0">
                <a:solidFill>
                  <a:srgbClr val="002060"/>
                </a:solidFill>
                <a:latin typeface="Times New Roman" panose="02020603050405020304" pitchFamily="18" charset="0"/>
                <a:cs typeface="Times New Roman" panose="02020603050405020304" pitchFamily="18" charset="0"/>
              </a:rPr>
              <a:t>Доош чиглэсэн сум</a:t>
            </a:r>
            <a:r>
              <a:rPr lang="mn-MN" sz="2400" dirty="0">
                <a:solidFill>
                  <a:srgbClr val="002060"/>
                </a:solidFill>
                <a:latin typeface="Times New Roman" panose="02020603050405020304" pitchFamily="18" charset="0"/>
                <a:cs typeface="Times New Roman" panose="02020603050405020304" pitchFamily="18" charset="0"/>
              </a:rPr>
              <a:t>аар зардлыг (</a:t>
            </a:r>
            <a:r>
              <a:rPr lang="mn-MN" sz="2400" b="1" dirty="0">
                <a:solidFill>
                  <a:srgbClr val="002060"/>
                </a:solidFill>
                <a:latin typeface="Times New Roman" panose="02020603050405020304" pitchFamily="18" charset="0"/>
                <a:cs typeface="Times New Roman" panose="02020603050405020304" pitchFamily="18" charset="0"/>
              </a:rPr>
              <a:t>сөрөг мөнгөн урсгал </a:t>
            </a:r>
            <a:r>
              <a:rPr lang="mn-MN" sz="2400" dirty="0">
                <a:solidFill>
                  <a:srgbClr val="002060"/>
                </a:solidFill>
                <a:latin typeface="Times New Roman" panose="02020603050405020304" pitchFamily="18" charset="0"/>
                <a:cs typeface="Times New Roman" panose="02020603050405020304" pitchFamily="18" charset="0"/>
              </a:rPr>
              <a:t>буюу </a:t>
            </a:r>
            <a:r>
              <a:rPr lang="mn-MN" sz="2400" b="1" dirty="0">
                <a:solidFill>
                  <a:srgbClr val="002060"/>
                </a:solidFill>
                <a:latin typeface="Times New Roman" panose="02020603050405020304" pitchFamily="18" charset="0"/>
                <a:cs typeface="Times New Roman" panose="02020603050405020304" pitchFamily="18" charset="0"/>
              </a:rPr>
              <a:t>зарлагын мөнгөн урсгал</a:t>
            </a:r>
            <a:r>
              <a:rPr lang="mn-MN" sz="2400" dirty="0">
                <a:solidFill>
                  <a:srgbClr val="002060"/>
                </a:solidFill>
                <a:latin typeface="Times New Roman" panose="02020603050405020304" pitchFamily="18" charset="0"/>
                <a:cs typeface="Times New Roman" panose="02020603050405020304" pitchFamily="18" charset="0"/>
              </a:rPr>
              <a:t>ыг), </a:t>
            </a:r>
          </a:p>
          <a:p>
            <a:pPr lvl="2" algn="just">
              <a:spcBef>
                <a:spcPts val="300"/>
              </a:spcBef>
            </a:pPr>
            <a:r>
              <a:rPr lang="mn-MN" sz="2400" b="1" i="1" dirty="0">
                <a:solidFill>
                  <a:srgbClr val="002060"/>
                </a:solidFill>
                <a:latin typeface="Times New Roman" panose="02020603050405020304" pitchFamily="18" charset="0"/>
                <a:cs typeface="Times New Roman" panose="02020603050405020304" pitchFamily="18" charset="0"/>
              </a:rPr>
              <a:t>Дээш чиглэсэн сум</a:t>
            </a:r>
            <a:r>
              <a:rPr lang="mn-MN" sz="2400" dirty="0">
                <a:solidFill>
                  <a:srgbClr val="002060"/>
                </a:solidFill>
                <a:latin typeface="Times New Roman" panose="02020603050405020304" pitchFamily="18" charset="0"/>
                <a:cs typeface="Times New Roman" panose="02020603050405020304" pitchFamily="18" charset="0"/>
              </a:rPr>
              <a:t>аар орлогыг (</a:t>
            </a:r>
            <a:r>
              <a:rPr lang="mn-MN" sz="2400" b="1" dirty="0">
                <a:solidFill>
                  <a:srgbClr val="002060"/>
                </a:solidFill>
                <a:latin typeface="Times New Roman" panose="02020603050405020304" pitchFamily="18" charset="0"/>
                <a:cs typeface="Times New Roman" panose="02020603050405020304" pitchFamily="18" charset="0"/>
              </a:rPr>
              <a:t>эерэг мөнгөн урсгал </a:t>
            </a:r>
            <a:r>
              <a:rPr lang="mn-MN" sz="2400" dirty="0">
                <a:solidFill>
                  <a:srgbClr val="002060"/>
                </a:solidFill>
                <a:latin typeface="Times New Roman" panose="02020603050405020304" pitchFamily="18" charset="0"/>
                <a:cs typeface="Times New Roman" panose="02020603050405020304" pitchFamily="18" charset="0"/>
              </a:rPr>
              <a:t>буюу </a:t>
            </a:r>
            <a:r>
              <a:rPr lang="mn-MN" sz="2400" b="1" dirty="0">
                <a:solidFill>
                  <a:srgbClr val="002060"/>
                </a:solidFill>
                <a:latin typeface="Times New Roman" panose="02020603050405020304" pitchFamily="18" charset="0"/>
                <a:cs typeface="Times New Roman" panose="02020603050405020304" pitchFamily="18" charset="0"/>
              </a:rPr>
              <a:t>орлогын мөнгөн урсгал</a:t>
            </a:r>
            <a:r>
              <a:rPr lang="mn-MN" sz="2400" dirty="0">
                <a:solidFill>
                  <a:srgbClr val="002060"/>
                </a:solidFill>
                <a:latin typeface="Times New Roman" panose="02020603050405020304" pitchFamily="18" charset="0"/>
                <a:cs typeface="Times New Roman" panose="02020603050405020304" pitchFamily="18" charset="0"/>
              </a:rPr>
              <a:t>ыг).</a:t>
            </a:r>
          </a:p>
          <a:p>
            <a:pPr lvl="1" algn="just">
              <a:spcBef>
                <a:spcPts val="300"/>
              </a:spcBef>
            </a:pPr>
            <a:r>
              <a:rPr lang="mn-MN" sz="2800" dirty="0">
                <a:solidFill>
                  <a:srgbClr val="002060"/>
                </a:solidFill>
                <a:latin typeface="Times New Roman" panose="02020603050405020304" pitchFamily="18" charset="0"/>
                <a:cs typeface="Times New Roman" panose="02020603050405020304" pitchFamily="18" charset="0"/>
              </a:rPr>
              <a:t>Мөнгөн  урсгалын диаграм </a:t>
            </a:r>
            <a:r>
              <a:rPr lang="mn-MN" sz="2800" b="1" dirty="0">
                <a:solidFill>
                  <a:srgbClr val="002060"/>
                </a:solidFill>
                <a:latin typeface="Times New Roman" panose="02020603050405020304" pitchFamily="18" charset="0"/>
                <a:cs typeface="Times New Roman" panose="02020603050405020304" pitchFamily="18" charset="0"/>
              </a:rPr>
              <a:t>харах өнцг</a:t>
            </a:r>
            <a:r>
              <a:rPr lang="mn-MN" sz="2800" dirty="0">
                <a:solidFill>
                  <a:srgbClr val="002060"/>
                </a:solidFill>
                <a:latin typeface="Times New Roman" panose="02020603050405020304" pitchFamily="18" charset="0"/>
                <a:cs typeface="Times New Roman" panose="02020603050405020304" pitchFamily="18" charset="0"/>
              </a:rPr>
              <a:t>өөс хамаардаг. </a:t>
            </a:r>
          </a:p>
          <a:p>
            <a:pPr lvl="1" algn="just"/>
            <a:r>
              <a:rPr lang="mn-MN" sz="2800" dirty="0">
                <a:solidFill>
                  <a:srgbClr val="002060"/>
                </a:solidFill>
                <a:latin typeface="Times New Roman" panose="02020603050405020304" pitchFamily="18" charset="0"/>
                <a:cs typeface="Times New Roman" panose="02020603050405020304" pitchFamily="18" charset="0"/>
              </a:rPr>
              <a:t>Бүх мөнгөн урсгалыг диаграм дээр харуулахад хүндрэлтэй үед </a:t>
            </a:r>
            <a:r>
              <a:rPr lang="mn-MN" sz="2800" b="1" dirty="0">
                <a:solidFill>
                  <a:srgbClr val="002060"/>
                </a:solidFill>
                <a:latin typeface="Times New Roman" panose="02020603050405020304" pitchFamily="18" charset="0"/>
                <a:cs typeface="Times New Roman" panose="02020603050405020304" pitchFamily="18" charset="0"/>
              </a:rPr>
              <a:t>мөнгөн урсгалын хүснэгт</a:t>
            </a:r>
            <a:r>
              <a:rPr lang="mn-MN" sz="2800" dirty="0">
                <a:solidFill>
                  <a:srgbClr val="002060"/>
                </a:solidFill>
                <a:latin typeface="Times New Roman" panose="02020603050405020304" pitchFamily="18" charset="0"/>
                <a:cs typeface="Times New Roman" panose="02020603050405020304" pitchFamily="18" charset="0"/>
              </a:rPr>
              <a:t>ийг хэрэглэхэд тохиромжтой байдаг.</a:t>
            </a:r>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CF6EFE62-9D67-44BA-96F6-FFC47A8A84D3}"/>
              </a:ext>
            </a:extLst>
          </p:cNvPr>
          <p:cNvSpPr>
            <a:spLocks noGrp="1"/>
          </p:cNvSpPr>
          <p:nvPr>
            <p:ph type="title"/>
          </p:nvPr>
        </p:nvSpPr>
        <p:spPr>
          <a:xfrm>
            <a:off x="316523" y="127948"/>
            <a:ext cx="11753556" cy="680943"/>
          </a:xfrm>
        </p:spPr>
        <p:txBody>
          <a:bodyPr>
            <a:noAutofit/>
          </a:bodyPr>
          <a:lstStyle/>
          <a:p>
            <a:r>
              <a:rPr lang="mn-MN" sz="28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Цаг хугацааны шулуун буюу Мөнгөн урсгалын диаграм ба хүснэгт, тайлбар (тэмдэглэгээ)</a:t>
            </a:r>
          </a:p>
        </p:txBody>
      </p:sp>
    </p:spTree>
    <p:extLst>
      <p:ext uri="{BB962C8B-B14F-4D97-AF65-F5344CB8AC3E}">
        <p14:creationId xmlns:p14="http://schemas.microsoft.com/office/powerpoint/2010/main" val="1118464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4F277-ED56-0D1E-1A3A-855DB6DDAF5A}"/>
              </a:ext>
            </a:extLst>
          </p:cNvPr>
          <p:cNvSpPr>
            <a:spLocks noGrp="1"/>
          </p:cNvSpPr>
          <p:nvPr>
            <p:ph type="title"/>
          </p:nvPr>
        </p:nvSpPr>
        <p:spPr>
          <a:xfrm>
            <a:off x="502023" y="217208"/>
            <a:ext cx="10515600" cy="349624"/>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Мөнгөн урсгалын ангилал</a:t>
            </a:r>
            <a:endParaRPr lang="en-US" sz="3200"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28D890B-D2A8-13E1-67C0-22C02CC41F14}"/>
              </a:ext>
            </a:extLst>
          </p:cNvPr>
          <p:cNvPicPr>
            <a:picLocks noChangeAspect="1"/>
          </p:cNvPicPr>
          <p:nvPr/>
        </p:nvPicPr>
        <p:blipFill>
          <a:blip r:embed="rId3"/>
          <a:stretch>
            <a:fillRect/>
          </a:stretch>
        </p:blipFill>
        <p:spPr>
          <a:xfrm>
            <a:off x="847166" y="580279"/>
            <a:ext cx="10829364" cy="6073960"/>
          </a:xfrm>
          <a:prstGeom prst="rect">
            <a:avLst/>
          </a:prstGeom>
        </p:spPr>
      </p:pic>
    </p:spTree>
    <p:extLst>
      <p:ext uri="{BB962C8B-B14F-4D97-AF65-F5344CB8AC3E}">
        <p14:creationId xmlns:p14="http://schemas.microsoft.com/office/powerpoint/2010/main" val="3725619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5652" y="98005"/>
            <a:ext cx="11860696" cy="816395"/>
          </a:xfrm>
        </p:spPr>
        <p:txBody>
          <a:bodyPr>
            <a:noAutofit/>
          </a:bodyPr>
          <a:lstStyle/>
          <a:p>
            <a:r>
              <a:rPr lang="mn-MN" sz="2800" b="1" dirty="0">
                <a:solidFill>
                  <a:srgbClr val="0000FF"/>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endParaRPr lang="en-US" sz="28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65652" y="914400"/>
                <a:ext cx="7068866" cy="2057400"/>
              </a:xfrm>
            </p:spPr>
            <p:txBody>
              <a:bodyPr>
                <a:normAutofit lnSpcReduction="10000"/>
              </a:bodyPr>
              <a:lstStyle/>
              <a:p>
                <a:pPr algn="just">
                  <a:spcBef>
                    <a:spcPts val="0"/>
                  </a:spcBef>
                </a:pPr>
                <a:r>
                  <a:rPr lang="mn-MN" sz="2400" dirty="0">
                    <a:solidFill>
                      <a:srgbClr val="002060"/>
                    </a:solidFill>
                    <a:latin typeface="Times New Roman" panose="02020603050405020304" pitchFamily="18" charset="0"/>
                    <a:cs typeface="Times New Roman" panose="02020603050405020304" pitchFamily="18" charset="0"/>
                  </a:rPr>
                  <a:t>Зурагт </a:t>
                </a:r>
                <a14:m>
                  <m:oMath xmlns:m="http://schemas.openxmlformats.org/officeDocument/2006/math">
                    <m:r>
                      <a:rPr lang="en-US" sz="2400" i="1" dirty="0" smtClean="0">
                        <a:solidFill>
                          <a:srgbClr val="002060"/>
                        </a:solidFill>
                        <a:latin typeface="Cambria Math" panose="02040503050406030204" pitchFamily="18" charset="0"/>
                      </a:rPr>
                      <m:t>𝑁</m:t>
                    </m:r>
                  </m:oMath>
                </a14:m>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үетэй, нэг үед </a:t>
                </a:r>
                <a14:m>
                  <m:oMath xmlns:m="http://schemas.openxmlformats.org/officeDocument/2006/math">
                    <m:r>
                      <a:rPr lang="en-US" sz="2400" i="1" dirty="0" smtClean="0">
                        <a:solidFill>
                          <a:srgbClr val="002060"/>
                        </a:solidFill>
                        <a:latin typeface="Cambria Math" panose="02040503050406030204" pitchFamily="18" charset="0"/>
                      </a:rPr>
                      <m:t>𝑖</m:t>
                    </m:r>
                    <m:r>
                      <a:rPr lang="en-US" sz="2400" i="1" dirty="0" smtClean="0">
                        <a:solidFill>
                          <a:srgbClr val="002060"/>
                        </a:solidFill>
                        <a:latin typeface="Cambria Math" panose="02040503050406030204" pitchFamily="18" charset="0"/>
                      </a:rPr>
                      <m:t>%</m:t>
                    </m:r>
                  </m:oMath>
                </a14:m>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ийн хүүтэй өнөөгийн нэг мөнгөн дүн </a:t>
                </a:r>
                <a14:m>
                  <m:oMath xmlns:m="http://schemas.openxmlformats.org/officeDocument/2006/math">
                    <m:r>
                      <a:rPr lang="en-US" sz="2400" i="1" dirty="0" smtClean="0">
                        <a:solidFill>
                          <a:srgbClr val="002060"/>
                        </a:solidFill>
                        <a:latin typeface="Cambria Math" panose="02040503050406030204" pitchFamily="18" charset="0"/>
                      </a:rPr>
                      <m:t>𝑃</m:t>
                    </m:r>
                  </m:oMath>
                </a14:m>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болон ирээдүйн нэг мөнгөн дүн </a:t>
                </a:r>
                <a14:m>
                  <m:oMath xmlns:m="http://schemas.openxmlformats.org/officeDocument/2006/math">
                    <m:r>
                      <a:rPr lang="en-US" sz="2400" i="1" dirty="0" smtClean="0">
                        <a:solidFill>
                          <a:srgbClr val="002060"/>
                        </a:solidFill>
                        <a:latin typeface="Cambria Math" panose="02040503050406030204" pitchFamily="18" charset="0"/>
                      </a:rPr>
                      <m:t>𝐹</m:t>
                    </m:r>
                  </m:oMath>
                </a14:m>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ийн хоорондох холбоог илэрхийлсэн мөнгөн урсгалын диаграмыг харуулав. </a:t>
                </a:r>
                <a:endParaRPr lang="mn-MN" sz="2400" dirty="0">
                  <a:solidFill>
                    <a:srgbClr val="FF0000"/>
                  </a:solidFill>
                  <a:latin typeface="Times New Roman" panose="02020603050405020304" pitchFamily="18" charset="0"/>
                  <a:cs typeface="Times New Roman" panose="02020603050405020304" pitchFamily="18" charset="0"/>
                </a:endParaRPr>
              </a:p>
              <a:p>
                <a:pPr algn="just">
                  <a:spcBef>
                    <a:spcPts val="0"/>
                  </a:spcBef>
                </a:pPr>
                <a:r>
                  <a:rPr lang="mn-MN" sz="2400" dirty="0">
                    <a:solidFill>
                      <a:srgbClr val="002060"/>
                    </a:solidFill>
                    <a:latin typeface="Times New Roman" panose="02020603050405020304" pitchFamily="18" charset="0"/>
                    <a:cs typeface="Times New Roman" panose="02020603050405020304" pitchFamily="18" charset="0"/>
                  </a:rPr>
                  <a:t>Шулуун сумаар өгөгдлийг, тасархай сумаар бодож олох шаардлагатай тоо хэмжээг заана.</a:t>
                </a: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165652" y="914400"/>
                <a:ext cx="7068866" cy="2057400"/>
              </a:xfrm>
              <a:blipFill>
                <a:blip r:embed="rId3"/>
                <a:stretch>
                  <a:fillRect l="-1121" t="-5917" r="-129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211FE90A-0D09-9726-C962-471417A7FAAC}"/>
              </a:ext>
            </a:extLst>
          </p:cNvPr>
          <p:cNvPicPr>
            <a:picLocks noChangeAspect="1"/>
          </p:cNvPicPr>
          <p:nvPr/>
        </p:nvPicPr>
        <p:blipFill>
          <a:blip r:embed="rId4"/>
          <a:stretch>
            <a:fillRect/>
          </a:stretch>
        </p:blipFill>
        <p:spPr>
          <a:xfrm>
            <a:off x="6360459" y="660097"/>
            <a:ext cx="5739997" cy="4476680"/>
          </a:xfrm>
          <a:prstGeom prst="rect">
            <a:avLst/>
          </a:prstGeom>
        </p:spPr>
      </p:pic>
      <p:sp>
        <p:nvSpPr>
          <p:cNvPr id="5" name="TextBox 4">
            <a:extLst>
              <a:ext uri="{FF2B5EF4-FFF2-40B4-BE49-F238E27FC236}">
                <a16:creationId xmlns:a16="http://schemas.microsoft.com/office/drawing/2014/main" id="{F5EC12AF-D956-4AB9-826C-C805317D641F}"/>
              </a:ext>
            </a:extLst>
          </p:cNvPr>
          <p:cNvSpPr txBox="1"/>
          <p:nvPr/>
        </p:nvSpPr>
        <p:spPr>
          <a:xfrm>
            <a:off x="451902" y="2732917"/>
            <a:ext cx="5908558" cy="2400657"/>
          </a:xfrm>
          <a:prstGeom prst="rect">
            <a:avLst/>
          </a:prstGeom>
          <a:solidFill>
            <a:schemeClr val="accent6">
              <a:lumMod val="20000"/>
              <a:lumOff val="80000"/>
            </a:schemeClr>
          </a:solidFill>
        </p:spPr>
        <p:txBody>
          <a:bodyPr wrap="square" rtlCol="0">
            <a:spAutoFit/>
          </a:bodyPr>
          <a:lstStyle/>
          <a:p>
            <a:r>
              <a:rPr lang="mn-MN" sz="3000" dirty="0">
                <a:solidFill>
                  <a:srgbClr val="002060"/>
                </a:solidFill>
                <a:latin typeface="Times New Roman" panose="02020603050405020304" pitchFamily="18" charset="0"/>
                <a:cs typeface="Times New Roman" panose="02020603050405020304" pitchFamily="18" charset="0"/>
              </a:rPr>
              <a:t>Өнөөдрийн мөнгөнөөс ирээдүйн мөнгөний үнэ цэнийг бодож тооцоолох аргачлалыг </a:t>
            </a:r>
            <a:r>
              <a:rPr lang="mn-MN" sz="3000" b="1" dirty="0">
                <a:solidFill>
                  <a:srgbClr val="FF0000"/>
                </a:solidFill>
                <a:latin typeface="Times New Roman" panose="02020603050405020304" pitchFamily="18" charset="0"/>
                <a:cs typeface="Times New Roman" panose="02020603050405020304" pitchFamily="18" charset="0"/>
              </a:rPr>
              <a:t>Компаундинг </a:t>
            </a:r>
            <a:r>
              <a:rPr lang="en-US" sz="3000" b="1" dirty="0">
                <a:solidFill>
                  <a:srgbClr val="FF0000"/>
                </a:solidFill>
                <a:latin typeface="Times New Roman" panose="02020603050405020304" pitchFamily="18" charset="0"/>
                <a:cs typeface="Times New Roman" panose="02020603050405020304" pitchFamily="18" charset="0"/>
              </a:rPr>
              <a:t>(Compounding) </a:t>
            </a:r>
            <a:r>
              <a:rPr lang="mn-MN" sz="3000" dirty="0">
                <a:solidFill>
                  <a:srgbClr val="002060"/>
                </a:solidFill>
                <a:latin typeface="Times New Roman" panose="02020603050405020304" pitchFamily="18" charset="0"/>
                <a:cs typeface="Times New Roman" panose="02020603050405020304" pitchFamily="18" charset="0"/>
              </a:rPr>
              <a:t>гэнэ. </a:t>
            </a:r>
            <a:endParaRPr lang="en-US" sz="3000"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81A16C4-5147-4A39-BB40-BAE7C0358D7E}"/>
              </a:ext>
            </a:extLst>
          </p:cNvPr>
          <p:cNvSpPr txBox="1"/>
          <p:nvPr/>
        </p:nvSpPr>
        <p:spPr>
          <a:xfrm>
            <a:off x="451901" y="5288010"/>
            <a:ext cx="10937757" cy="1077218"/>
          </a:xfrm>
          <a:prstGeom prst="rect">
            <a:avLst/>
          </a:prstGeom>
          <a:solidFill>
            <a:schemeClr val="accent6">
              <a:lumMod val="20000"/>
              <a:lumOff val="80000"/>
            </a:schemeClr>
          </a:solidFill>
        </p:spPr>
        <p:txBody>
          <a:bodyPr wrap="square" rtlCol="0">
            <a:spAutoFit/>
          </a:bodyPr>
          <a:lstStyle/>
          <a:p>
            <a:r>
              <a:rPr lang="mn-MN" sz="3200" dirty="0">
                <a:solidFill>
                  <a:srgbClr val="002060"/>
                </a:solidFill>
                <a:latin typeface="Times New Roman" panose="02020603050405020304" pitchFamily="18" charset="0"/>
                <a:cs typeface="Times New Roman" panose="02020603050405020304" pitchFamily="18" charset="0"/>
              </a:rPr>
              <a:t>Ирээдүйн мөнгөнөөс өнөөгийн мөнгөний үнэ цэнийг бодож тооцоолох аргачлалыг </a:t>
            </a:r>
            <a:r>
              <a:rPr lang="mn-MN" sz="3200" b="1" dirty="0">
                <a:solidFill>
                  <a:srgbClr val="FF0000"/>
                </a:solidFill>
                <a:latin typeface="Times New Roman" panose="02020603050405020304" pitchFamily="18" charset="0"/>
                <a:cs typeface="Times New Roman" panose="02020603050405020304" pitchFamily="18" charset="0"/>
              </a:rPr>
              <a:t>Дискаунтинг </a:t>
            </a:r>
            <a:r>
              <a:rPr lang="en-US" sz="3200" b="1" dirty="0">
                <a:solidFill>
                  <a:srgbClr val="FF0000"/>
                </a:solidFill>
                <a:latin typeface="Times New Roman" panose="02020603050405020304" pitchFamily="18" charset="0"/>
                <a:cs typeface="Times New Roman" panose="02020603050405020304" pitchFamily="18" charset="0"/>
              </a:rPr>
              <a:t>(Discounting) </a:t>
            </a:r>
            <a:r>
              <a:rPr lang="mn-MN" sz="3200" dirty="0">
                <a:solidFill>
                  <a:srgbClr val="002060"/>
                </a:solidFill>
                <a:latin typeface="Times New Roman" panose="02020603050405020304" pitchFamily="18" charset="0"/>
                <a:cs typeface="Times New Roman" panose="02020603050405020304" pitchFamily="18" charset="0"/>
              </a:rPr>
              <a:t>гэнэ. </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064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82880" y="75619"/>
                <a:ext cx="11826240" cy="945461"/>
              </a:xfrm>
            </p:spPr>
            <p:txBody>
              <a:bodyPr>
                <a:noAutofit/>
              </a:bodyPr>
              <a:lstStyle/>
              <a:p>
                <a:r>
                  <a:rPr lang="mn-MN" sz="2800" b="1" dirty="0">
                    <a:solidFill>
                      <a:srgbClr val="0000FF"/>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r>
                  <a:rPr lang="en-US" sz="2800" b="1"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en-US" sz="2800" b="1" i="1" dirty="0" smtClean="0">
                        <a:solidFill>
                          <a:schemeClr val="accent2">
                            <a:lumMod val="75000"/>
                          </a:schemeClr>
                        </a:solidFill>
                        <a:latin typeface="Cambria Math" panose="02040503050406030204" pitchFamily="18" charset="0"/>
                      </a:rPr>
                      <m:t>𝑷</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dirty="0" smtClean="0">
                        <a:solidFill>
                          <a:schemeClr val="accent2">
                            <a:lumMod val="75000"/>
                          </a:schemeClr>
                        </a:solidFill>
                        <a:latin typeface="Cambria Math" panose="02040503050406030204" pitchFamily="18" charset="0"/>
                      </a:rPr>
                      <m:t>𝑭</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mn-MN" sz="2800" b="1" dirty="0">
                    <a:solidFill>
                      <a:schemeClr val="accent2">
                        <a:lumMod val="75000"/>
                      </a:schemeClr>
                    </a:solidFill>
                    <a:latin typeface="Times New Roman" panose="02020603050405020304" pitchFamily="18" charset="0"/>
                    <a:cs typeface="Times New Roman" panose="02020603050405020304" pitchFamily="18" charset="0"/>
                  </a:rPr>
                  <a:t>ийг олох</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82880" y="75619"/>
                <a:ext cx="11826240" cy="945461"/>
              </a:xfrm>
              <a:blipFill>
                <a:blip r:embed="rId3"/>
                <a:stretch>
                  <a:fillRect l="-1031" t="-6410" b="-12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82880" y="996155"/>
                <a:ext cx="11826240" cy="4633001"/>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Хэрэв </a:t>
                </a:r>
                <a14:m>
                  <m:oMath xmlns:m="http://schemas.openxmlformats.org/officeDocument/2006/math">
                    <m:r>
                      <a:rPr lang="en-US" i="1" dirty="0" smtClean="0">
                        <a:solidFill>
                          <a:srgbClr val="002060"/>
                        </a:solidFill>
                        <a:latin typeface="Cambria Math" panose="02040503050406030204" pitchFamily="18" charset="0"/>
                      </a:rPr>
                      <m:t>𝑃</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мөнгөн дүнгээр цаг хугацааны тухайн агшинд хөрөнгө оруулсан бөгөөд </a:t>
                </a:r>
                <a14:m>
                  <m:oMath xmlns:m="http://schemas.openxmlformats.org/officeDocument/2006/math">
                    <m:r>
                      <a:rPr lang="en-US" i="1" dirty="0" smtClean="0">
                        <a:solidFill>
                          <a:srgbClr val="002060"/>
                        </a:solidFill>
                        <a:latin typeface="Cambria Math" panose="02040503050406030204" pitchFamily="18" charset="0"/>
                      </a:rPr>
                      <m:t>𝑖</m:t>
                    </m:r>
                    <m:r>
                      <a:rPr lang="en-US" i="1" dirty="0" smtClean="0">
                        <a:solidFill>
                          <a:srgbClr val="002060"/>
                        </a:solidFill>
                        <a:latin typeface="Cambria Math" panose="02040503050406030204" pitchFamily="18" charset="0"/>
                      </a:rPr>
                      <m:t>%</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нь хугацааны үе бүрд харгалзах хүүний түвшин (ашиг буюу өсөлт) бол </a:t>
                </a:r>
              </a:p>
              <a:p>
                <a:pPr lvl="1" algn="just"/>
                <a:r>
                  <a:rPr lang="mn-MN" dirty="0">
                    <a:solidFill>
                      <a:srgbClr val="002060"/>
                    </a:solidFill>
                    <a:latin typeface="Times New Roman" panose="02020603050405020304" pitchFamily="18" charset="0"/>
                    <a:cs typeface="Times New Roman" panose="02020603050405020304" pitchFamily="18" charset="0"/>
                  </a:rPr>
                  <a:t>Нэг үеийн дараа ирээдүйн мөнгөн дүн </a:t>
                </a:r>
                <a14:m>
                  <m:oMath xmlns:m="http://schemas.openxmlformats.org/officeDocument/2006/math">
                    <m:r>
                      <a:rPr lang="mn-MN" sz="3000" i="1" dirty="0" smtClean="0">
                        <a:solidFill>
                          <a:srgbClr val="FF0000"/>
                        </a:solidFill>
                        <a:latin typeface="Cambria Math" panose="02040503050406030204" pitchFamily="18" charset="0"/>
                      </a:rPr>
                      <m:t>𝑃</m:t>
                    </m:r>
                    <m:r>
                      <a:rPr lang="mn-MN" sz="3000" i="1" dirty="0" smtClean="0">
                        <a:solidFill>
                          <a:srgbClr val="FF0000"/>
                        </a:solidFill>
                        <a:latin typeface="Cambria Math" panose="02040503050406030204" pitchFamily="18" charset="0"/>
                      </a:rPr>
                      <m:t>+</m:t>
                    </m:r>
                    <m:r>
                      <a:rPr lang="en-US" sz="3000" b="0" i="1" dirty="0" smtClean="0">
                        <a:solidFill>
                          <a:srgbClr val="FF0000"/>
                        </a:solidFill>
                        <a:latin typeface="Cambria Math" panose="02040503050406030204" pitchFamily="18" charset="0"/>
                      </a:rPr>
                      <m:t>𝑃</m:t>
                    </m:r>
                    <m:r>
                      <a:rPr lang="en-US" sz="3000" b="0" i="1" dirty="0" smtClean="0">
                        <a:solidFill>
                          <a:srgbClr val="FF0000"/>
                        </a:solidFill>
                        <a:latin typeface="Cambria Math" panose="02040503050406030204" pitchFamily="18" charset="0"/>
                        <a:ea typeface="Cambria Math" panose="02040503050406030204" pitchFamily="18" charset="0"/>
                      </a:rPr>
                      <m:t>×</m:t>
                    </m:r>
                    <m:r>
                      <a:rPr lang="en-US" sz="3000" b="0" i="1" dirty="0" smtClean="0">
                        <a:solidFill>
                          <a:srgbClr val="FF0000"/>
                        </a:solidFill>
                        <a:latin typeface="Cambria Math" panose="02040503050406030204" pitchFamily="18" charset="0"/>
                        <a:ea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dirty="0">
                        <a:solidFill>
                          <a:srgbClr val="FF0000"/>
                        </a:solidFill>
                        <a:latin typeface="Cambria Math" panose="02040503050406030204" pitchFamily="18" charset="0"/>
                      </a:rPr>
                      <m:t>𝑃</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oMath>
                </a14:m>
                <a:r>
                  <a:rPr lang="mn-MN" sz="3000" dirty="0">
                    <a:solidFill>
                      <a:srgbClr val="FF000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хүртэл өснө; </a:t>
                </a:r>
              </a:p>
              <a:p>
                <a:pPr lvl="1" algn="just"/>
                <a:r>
                  <a:rPr lang="mn-MN" dirty="0">
                    <a:solidFill>
                      <a:srgbClr val="002060"/>
                    </a:solidFill>
                    <a:latin typeface="Times New Roman" panose="02020603050405020304" pitchFamily="18" charset="0"/>
                    <a:cs typeface="Times New Roman" panose="02020603050405020304" pitchFamily="18" charset="0"/>
                  </a:rPr>
                  <a:t>Хоёр дахь үе дуусахад энэ мөнгөн дүн </a:t>
                </a:r>
              </a:p>
              <a:p>
                <a:pPr marL="457200" lvl="1" indent="0" algn="just">
                  <a:buNone/>
                </a:pPr>
                <a14:m>
                  <m:oMathPara xmlns:m="http://schemas.openxmlformats.org/officeDocument/2006/math">
                    <m:oMathParaPr>
                      <m:jc m:val="centerGroup"/>
                    </m:oMathParaPr>
                    <m:oMath xmlns:m="http://schemas.openxmlformats.org/officeDocument/2006/math">
                      <m:r>
                        <a:rPr lang="mn-MN" sz="3000" i="1" dirty="0" smtClean="0">
                          <a:solidFill>
                            <a:srgbClr val="FF0000"/>
                          </a:solidFill>
                          <a:latin typeface="Cambria Math" panose="02040503050406030204" pitchFamily="18" charset="0"/>
                        </a:rPr>
                        <m:t>𝑃</m:t>
                      </m:r>
                      <m:d>
                        <m:dPr>
                          <m:ctrlPr>
                            <a:rPr lang="mn-MN" sz="3000" i="1" dirty="0">
                              <a:solidFill>
                                <a:srgbClr val="FF0000"/>
                              </a:solidFill>
                              <a:latin typeface="Cambria Math" panose="02040503050406030204" pitchFamily="18" charset="0"/>
                            </a:rPr>
                          </m:ctrlPr>
                        </m:dPr>
                        <m:e>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e>
                      </m:d>
                      <m:r>
                        <a:rPr lang="en-US" sz="3000" b="0" i="1" dirty="0" smtClean="0">
                          <a:solidFill>
                            <a:srgbClr val="FF0000"/>
                          </a:solidFill>
                          <a:latin typeface="Cambria Math" panose="02040503050406030204" pitchFamily="18" charset="0"/>
                        </a:rPr>
                        <m:t>+</m:t>
                      </m:r>
                      <m:r>
                        <a:rPr lang="mn-MN" sz="3000" i="1" dirty="0">
                          <a:solidFill>
                            <a:srgbClr val="FF0000"/>
                          </a:solidFill>
                          <a:latin typeface="Cambria Math" panose="02040503050406030204" pitchFamily="18" charset="0"/>
                        </a:rPr>
                        <m:t>𝑃</m:t>
                      </m:r>
                      <m:d>
                        <m:dPr>
                          <m:ctrlPr>
                            <a:rPr lang="mn-MN" sz="3000" i="1" dirty="0">
                              <a:solidFill>
                                <a:srgbClr val="FF0000"/>
                              </a:solidFill>
                              <a:latin typeface="Cambria Math" panose="02040503050406030204" pitchFamily="18" charset="0"/>
                            </a:rPr>
                          </m:ctrlPr>
                        </m:dPr>
                        <m:e>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e>
                      </m:d>
                      <m:r>
                        <a:rPr lang="mn-MN" sz="3000" i="1" dirty="0" smtClean="0">
                          <a:solidFill>
                            <a:srgbClr val="FF0000"/>
                          </a:solidFill>
                          <a:latin typeface="Cambria Math" panose="02040503050406030204" pitchFamily="18" charset="0"/>
                          <a:ea typeface="Cambria Math" panose="02040503050406030204" pitchFamily="18" charset="0"/>
                        </a:rPr>
                        <m:t>×</m:t>
                      </m:r>
                      <m:r>
                        <a:rPr lang="en-US" sz="3000" b="0" i="1" dirty="0" smtClean="0">
                          <a:solidFill>
                            <a:srgbClr val="FF0000"/>
                          </a:solidFill>
                          <a:latin typeface="Cambria Math" panose="02040503050406030204" pitchFamily="18" charset="0"/>
                          <a:ea typeface="Cambria Math" panose="02040503050406030204" pitchFamily="18" charset="0"/>
                        </a:rPr>
                        <m:t>𝑖</m:t>
                      </m:r>
                      <m:r>
                        <a:rPr lang="en-US" sz="3000" b="0" i="1" dirty="0" smtClean="0">
                          <a:solidFill>
                            <a:srgbClr val="FF0000"/>
                          </a:solidFill>
                          <a:latin typeface="Cambria Math" panose="02040503050406030204" pitchFamily="18" charset="0"/>
                          <a:ea typeface="Cambria Math" panose="02040503050406030204" pitchFamily="18" charset="0"/>
                        </a:rPr>
                        <m:t>=</m:t>
                      </m:r>
                      <m:r>
                        <a:rPr lang="mn-MN" sz="3000" i="1" dirty="0" smtClean="0">
                          <a:solidFill>
                            <a:srgbClr val="FF0000"/>
                          </a:solidFill>
                          <a:latin typeface="Cambria Math" panose="02040503050406030204" pitchFamily="18" charset="0"/>
                        </a:rPr>
                        <m:t>𝑃</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dirty="0">
                          <a:solidFill>
                            <a:srgbClr val="FF0000"/>
                          </a:solidFill>
                          <a:latin typeface="Cambria Math" panose="02040503050406030204" pitchFamily="18" charset="0"/>
                        </a:rPr>
                        <m:t>𝑃</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baseline="30000" dirty="0" smtClean="0">
                          <a:solidFill>
                            <a:srgbClr val="FF0000"/>
                          </a:solidFill>
                          <a:latin typeface="Cambria Math" panose="02040503050406030204" pitchFamily="18" charset="0"/>
                        </a:rPr>
                        <m:t>2</m:t>
                      </m:r>
                    </m:oMath>
                  </m:oMathPara>
                </a14:m>
                <a:endParaRPr lang="en-US" sz="3000" dirty="0">
                  <a:solidFill>
                    <a:srgbClr val="FF0000"/>
                  </a:solidFill>
                  <a:latin typeface="Times New Roman" panose="02020603050405020304" pitchFamily="18" charset="0"/>
                  <a:cs typeface="Times New Roman" panose="02020603050405020304" pitchFamily="18" charset="0"/>
                </a:endParaRPr>
              </a:p>
              <a:p>
                <a:pPr lvl="1" algn="just"/>
                <a:r>
                  <a:rPr lang="mn-MN" dirty="0">
                    <a:solidFill>
                      <a:srgbClr val="002060"/>
                    </a:solidFill>
                    <a:latin typeface="Times New Roman" panose="02020603050405020304" pitchFamily="18" charset="0"/>
                    <a:cs typeface="Times New Roman" panose="02020603050405020304" pitchFamily="18" charset="0"/>
                  </a:rPr>
                  <a:t>Гурав дахь үе дуусахад </a:t>
                </a:r>
              </a:p>
              <a:p>
                <a:pPr marL="457200" lvl="1" indent="0" algn="just">
                  <a:buNone/>
                </a:pPr>
                <a14:m>
                  <m:oMathPara xmlns:m="http://schemas.openxmlformats.org/officeDocument/2006/math">
                    <m:oMathParaPr>
                      <m:jc m:val="centerGroup"/>
                    </m:oMathParaPr>
                    <m:oMath xmlns:m="http://schemas.openxmlformats.org/officeDocument/2006/math">
                      <m:r>
                        <a:rPr lang="mn-MN" sz="3000" i="1" dirty="0" smtClean="0">
                          <a:solidFill>
                            <a:srgbClr val="FF0000"/>
                          </a:solidFill>
                          <a:latin typeface="Cambria Math" panose="02040503050406030204" pitchFamily="18" charset="0"/>
                        </a:rPr>
                        <m:t>𝑃</m:t>
                      </m:r>
                      <m:r>
                        <a:rPr lang="mn-MN" sz="3000" i="1" dirty="0" smtClean="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baseline="30000" dirty="0">
                          <a:solidFill>
                            <a:srgbClr val="FF0000"/>
                          </a:solidFill>
                          <a:latin typeface="Cambria Math" panose="02040503050406030204" pitchFamily="18" charset="0"/>
                        </a:rPr>
                        <m:t>2</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dirty="0">
                          <a:solidFill>
                            <a:srgbClr val="FF0000"/>
                          </a:solidFill>
                          <a:latin typeface="Cambria Math" panose="02040503050406030204" pitchFamily="18" charset="0"/>
                        </a:rPr>
                        <m:t>𝑃</m:t>
                      </m:r>
                      <m:r>
                        <a:rPr lang="mn-MN" sz="3000" i="1" dirty="0">
                          <a:solidFill>
                            <a:srgbClr val="FF0000"/>
                          </a:solidFill>
                          <a:latin typeface="Cambria Math" panose="02040503050406030204" pitchFamily="18" charset="0"/>
                        </a:rPr>
                        <m:t>(1+</m:t>
                      </m:r>
                      <m:r>
                        <a:rPr lang="mn-MN" sz="3000" i="1" cap="none" dirty="0">
                          <a:solidFill>
                            <a:srgbClr val="FF0000"/>
                          </a:solidFill>
                          <a:latin typeface="Cambria Math" panose="02040503050406030204" pitchFamily="18" charset="0"/>
                        </a:rPr>
                        <m:t>𝑖</m:t>
                      </m:r>
                      <m:r>
                        <a:rPr lang="mn-MN" sz="3000" i="1" dirty="0">
                          <a:solidFill>
                            <a:srgbClr val="FF0000"/>
                          </a:solidFill>
                          <a:latin typeface="Cambria Math" panose="02040503050406030204" pitchFamily="18" charset="0"/>
                        </a:rPr>
                        <m:t>)</m:t>
                      </m:r>
                      <m:r>
                        <a:rPr lang="mn-MN" sz="3000" i="1" baseline="30000" dirty="0">
                          <a:solidFill>
                            <a:srgbClr val="FF0000"/>
                          </a:solidFill>
                          <a:latin typeface="Cambria Math" panose="02040503050406030204" pitchFamily="18" charset="0"/>
                        </a:rPr>
                        <m:t>3</m:t>
                      </m:r>
                    </m:oMath>
                  </m:oMathPara>
                </a14:m>
                <a:endParaRPr lang="en-US" sz="3000" dirty="0">
                  <a:solidFill>
                    <a:srgbClr val="FF0000"/>
                  </a:solidFill>
                  <a:latin typeface="Times New Roman" panose="02020603050405020304" pitchFamily="18" charset="0"/>
                  <a:cs typeface="Times New Roman" panose="02020603050405020304" pitchFamily="18" charset="0"/>
                </a:endParaRPr>
              </a:p>
              <a:p>
                <a:pPr lvl="1" algn="just"/>
                <a14:m>
                  <m:oMath xmlns:m="http://schemas.openxmlformats.org/officeDocument/2006/math">
                    <m:r>
                      <a:rPr lang="en-US" i="1" dirty="0" smtClean="0">
                        <a:solidFill>
                          <a:srgbClr val="002060"/>
                        </a:solidFill>
                        <a:latin typeface="Cambria Math" panose="02040503050406030204" pitchFamily="18" charset="0"/>
                      </a:rPr>
                      <m:t>𝑁</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үеийн эцэст мөнгөн дүн дараах хэмжээгээр өссөн байх болно:</a:t>
                </a:r>
              </a:p>
              <a:p>
                <a:pPr marL="457200" lvl="1" indent="0" algn="just">
                  <a:buNone/>
                </a:pPr>
                <a:endParaRPr lang="mn-MN" sz="2400" b="1" i="1" dirty="0">
                  <a:solidFill>
                    <a:srgbClr val="FF0000"/>
                  </a:solidFill>
                  <a:latin typeface="Times New Roman" panose="02020603050405020304" pitchFamily="18" charset="0"/>
                  <a:cs typeface="Times New Roman" panose="02020603050405020304" pitchFamily="18" charset="0"/>
                </a:endParaRPr>
              </a:p>
              <a:p>
                <a:pPr marL="174625" lvl="1" indent="0" algn="just">
                  <a:buNone/>
                </a:pPr>
                <a14:m>
                  <m:oMath xmlns:m="http://schemas.openxmlformats.org/officeDocument/2006/math">
                    <m:r>
                      <a:rPr lang="en-US" sz="3600" b="1" i="1" smtClean="0">
                        <a:solidFill>
                          <a:srgbClr val="FF0000"/>
                        </a:solidFill>
                        <a:latin typeface="Cambria Math" panose="02040503050406030204" pitchFamily="18" charset="0"/>
                      </a:rPr>
                      <m:t>𝑭𝑽</m:t>
                    </m:r>
                    <m:r>
                      <a:rPr lang="en-US" sz="3600" b="1">
                        <a:solidFill>
                          <a:srgbClr val="FF0000"/>
                        </a:solidFill>
                        <a:latin typeface="Cambria Math" panose="02040503050406030204" pitchFamily="18" charset="0"/>
                      </a:rPr>
                      <m:t>=</m:t>
                    </m:r>
                    <m:r>
                      <a:rPr lang="en-US" sz="3600" b="1" i="1">
                        <a:solidFill>
                          <a:srgbClr val="FF0000"/>
                        </a:solidFill>
                        <a:latin typeface="Cambria Math" panose="02040503050406030204" pitchFamily="18" charset="0"/>
                      </a:rPr>
                      <m:t>𝑷</m:t>
                    </m:r>
                    <m:r>
                      <a:rPr lang="en-US" sz="3600" b="1" i="1" smtClean="0">
                        <a:solidFill>
                          <a:srgbClr val="FF0000"/>
                        </a:solidFill>
                        <a:latin typeface="Cambria Math" panose="02040503050406030204" pitchFamily="18" charset="0"/>
                      </a:rPr>
                      <m:t>𝑽</m:t>
                    </m:r>
                    <m:sSup>
                      <m:sSupPr>
                        <m:ctrlPr>
                          <a:rPr lang="en-US" sz="3600" b="1" i="1">
                            <a:solidFill>
                              <a:srgbClr val="FF0000"/>
                            </a:solidFill>
                            <a:latin typeface="Cambria Math" panose="02040503050406030204" pitchFamily="18" charset="0"/>
                          </a:rPr>
                        </m:ctrlPr>
                      </m:sSupPr>
                      <m:e>
                        <m:d>
                          <m:dPr>
                            <m:ctrlPr>
                              <a:rPr lang="en-US" sz="3600" b="1" i="1">
                                <a:solidFill>
                                  <a:srgbClr val="FF0000"/>
                                </a:solidFill>
                                <a:latin typeface="Cambria Math" panose="02040503050406030204" pitchFamily="18" charset="0"/>
                              </a:rPr>
                            </m:ctrlPr>
                          </m:dPr>
                          <m:e>
                            <m:r>
                              <a:rPr lang="en-US" sz="3600" b="1" i="1">
                                <a:solidFill>
                                  <a:srgbClr val="FF0000"/>
                                </a:solidFill>
                                <a:latin typeface="Cambria Math" panose="02040503050406030204" pitchFamily="18" charset="0"/>
                              </a:rPr>
                              <m:t>𝟏</m:t>
                            </m:r>
                            <m:r>
                              <a:rPr lang="en-US" sz="3600" b="1">
                                <a:solidFill>
                                  <a:srgbClr val="FF0000"/>
                                </a:solidFill>
                                <a:latin typeface="Cambria Math" panose="02040503050406030204" pitchFamily="18" charset="0"/>
                              </a:rPr>
                              <m:t>+</m:t>
                            </m:r>
                            <m:r>
                              <a:rPr lang="en-US" sz="3600" b="1" i="1">
                                <a:solidFill>
                                  <a:srgbClr val="FF0000"/>
                                </a:solidFill>
                                <a:latin typeface="Cambria Math" panose="02040503050406030204" pitchFamily="18" charset="0"/>
                              </a:rPr>
                              <m:t>𝒊</m:t>
                            </m:r>
                          </m:e>
                        </m:d>
                      </m:e>
                      <m:sup>
                        <m:r>
                          <a:rPr lang="en-US" sz="3600" b="1" i="1">
                            <a:solidFill>
                              <a:srgbClr val="FF0000"/>
                            </a:solidFill>
                            <a:latin typeface="Cambria Math" panose="02040503050406030204" pitchFamily="18" charset="0"/>
                          </a:rPr>
                          <m:t>𝑵</m:t>
                        </m:r>
                      </m:sup>
                    </m:sSup>
                  </m:oMath>
                </a14:m>
                <a:r>
                  <a:rPr lang="mn-MN" sz="3000" b="1" dirty="0">
                    <a:solidFill>
                      <a:srgbClr val="002060"/>
                    </a:solidFill>
                    <a:latin typeface="Times New Roman" panose="02020603050405020304" pitchFamily="18" charset="0"/>
                    <a:cs typeface="Times New Roman" panose="02020603050405020304" pitchFamily="18" charset="0"/>
                  </a:rPr>
                  <a:t>  </a:t>
                </a:r>
                <a:r>
                  <a:rPr lang="mn-MN" sz="3000" b="1"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mn-MN" sz="3200" i="1" dirty="0" smtClean="0">
                        <a:latin typeface="Cambria Math" panose="02040503050406030204" pitchFamily="18" charset="0"/>
                      </a:rPr>
                      <m:t>𝐹</m:t>
                    </m:r>
                    <m:r>
                      <a:rPr lang="en-US" sz="3200" b="0" i="1" dirty="0" smtClean="0">
                        <a:latin typeface="Cambria Math" panose="02040503050406030204" pitchFamily="18" charset="0"/>
                      </a:rPr>
                      <m:t>𝑉</m:t>
                    </m:r>
                    <m:r>
                      <a:rPr lang="mn-MN" sz="3200" i="1" dirty="0" smtClean="0">
                        <a:latin typeface="Cambria Math" panose="02040503050406030204" pitchFamily="18" charset="0"/>
                      </a:rPr>
                      <m:t>=</m:t>
                    </m:r>
                    <m:r>
                      <a:rPr lang="mn-MN" sz="3200" i="1" dirty="0" smtClean="0">
                        <a:latin typeface="Cambria Math" panose="02040503050406030204" pitchFamily="18" charset="0"/>
                      </a:rPr>
                      <m:t>𝑃𝑉</m:t>
                    </m:r>
                    <m:d>
                      <m:dPr>
                        <m:ctrlPr>
                          <a:rPr lang="mn-MN" sz="3200" i="1" dirty="0" smtClean="0">
                            <a:latin typeface="Cambria Math" panose="02040503050406030204" pitchFamily="18" charset="0"/>
                          </a:rPr>
                        </m:ctrlPr>
                      </m:dPr>
                      <m:e>
                        <m:f>
                          <m:fPr>
                            <m:ctrlPr>
                              <a:rPr lang="mn-MN" sz="3200" i="1" dirty="0" smtClean="0">
                                <a:latin typeface="Cambria Math" panose="02040503050406030204" pitchFamily="18" charset="0"/>
                              </a:rPr>
                            </m:ctrlPr>
                          </m:fPr>
                          <m:num>
                            <m:r>
                              <a:rPr lang="mn-MN" sz="3200" i="1" dirty="0" smtClean="0">
                                <a:latin typeface="Cambria Math" panose="02040503050406030204" pitchFamily="18" charset="0"/>
                              </a:rPr>
                              <m:t>𝐹</m:t>
                            </m:r>
                          </m:num>
                          <m:den>
                            <m:r>
                              <a:rPr lang="mn-MN" sz="3200" i="1" dirty="0" smtClean="0">
                                <a:latin typeface="Cambria Math" panose="02040503050406030204" pitchFamily="18" charset="0"/>
                              </a:rPr>
                              <m:t>𝑃</m:t>
                            </m:r>
                          </m:den>
                        </m:f>
                        <m:r>
                          <a:rPr lang="mn-MN" sz="3200" i="1" dirty="0" smtClean="0">
                            <a:latin typeface="Cambria Math" panose="02040503050406030204" pitchFamily="18" charset="0"/>
                          </a:rPr>
                          <m:t>, </m:t>
                        </m:r>
                        <m:r>
                          <a:rPr lang="mn-MN" sz="3200" i="1" dirty="0" smtClean="0">
                            <a:latin typeface="Cambria Math" panose="02040503050406030204" pitchFamily="18" charset="0"/>
                          </a:rPr>
                          <m:t>𝑖</m:t>
                        </m:r>
                        <m:r>
                          <a:rPr lang="mn-MN" sz="3200" i="1" dirty="0" smtClean="0">
                            <a:latin typeface="Cambria Math" panose="02040503050406030204" pitchFamily="18" charset="0"/>
                          </a:rPr>
                          <m:t>%, </m:t>
                        </m:r>
                        <m:r>
                          <a:rPr lang="mn-MN" sz="3200" i="1" dirty="0" smtClean="0">
                            <a:latin typeface="Cambria Math" panose="02040503050406030204" pitchFamily="18" charset="0"/>
                          </a:rPr>
                          <m:t>𝑁</m:t>
                        </m:r>
                      </m:e>
                    </m:d>
                  </m:oMath>
                </a14:m>
                <a:endParaRPr lang="mn-MN" sz="32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182880" y="996155"/>
                <a:ext cx="11826240" cy="4633001"/>
              </a:xfrm>
              <a:blipFill>
                <a:blip r:embed="rId4"/>
                <a:stretch>
                  <a:fillRect l="-928" t="-3158" r="-1031"/>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3776406F-0810-D8E7-0332-561462ED6EE0}"/>
              </a:ext>
            </a:extLst>
          </p:cNvPr>
          <p:cNvSpPr/>
          <p:nvPr/>
        </p:nvSpPr>
        <p:spPr>
          <a:xfrm>
            <a:off x="335281" y="4669035"/>
            <a:ext cx="3591260" cy="7259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3C5A9BE-A16C-26D9-A1D9-BEA9958A8061}"/>
                  </a:ext>
                </a:extLst>
              </p:cNvPr>
              <p:cNvSpPr txBox="1"/>
              <p:nvPr/>
            </p:nvSpPr>
            <p:spPr>
              <a:xfrm>
                <a:off x="8536902" y="4503712"/>
                <a:ext cx="3319817" cy="1938992"/>
              </a:xfrm>
              <a:prstGeom prst="rect">
                <a:avLst/>
              </a:prstGeom>
              <a:noFill/>
            </p:spPr>
            <p:txBody>
              <a:bodyPr wrap="square">
                <a:spAutoFit/>
              </a:bodyPr>
              <a:lstStyle/>
              <a:p>
                <a:pPr algn="just"/>
                <a:r>
                  <a:rPr lang="mn-MN" sz="2400" dirty="0">
                    <a:solidFill>
                      <a:srgbClr val="002060"/>
                    </a:solidFill>
                    <a:latin typeface="Times New Roman" panose="02020603050405020304" pitchFamily="18" charset="0"/>
                    <a:cs typeface="Times New Roman" panose="02020603050405020304" pitchFamily="18" charset="0"/>
                  </a:rPr>
                  <a:t>“</a:t>
                </a:r>
                <a:r>
                  <a:rPr lang="mn-MN" sz="2400" b="1" dirty="0">
                    <a:solidFill>
                      <a:srgbClr val="002060"/>
                    </a:solidFill>
                    <a:latin typeface="Times New Roman" panose="02020603050405020304" pitchFamily="18" charset="0"/>
                    <a:cs typeface="Times New Roman" panose="02020603050405020304" pitchFamily="18" charset="0"/>
                  </a:rPr>
                  <a:t>Хүү тооцох </a:t>
                </a:r>
                <a14:m>
                  <m:oMath xmlns:m="http://schemas.openxmlformats.org/officeDocument/2006/math">
                    <m:r>
                      <a:rPr lang="mn-MN" sz="2400" b="1" i="1" dirty="0" smtClean="0">
                        <a:solidFill>
                          <a:srgbClr val="002060"/>
                        </a:solidFill>
                        <a:latin typeface="Cambria Math" panose="02040503050406030204" pitchFamily="18" charset="0"/>
                      </a:rPr>
                      <m:t>𝑵</m:t>
                    </m:r>
                  </m:oMath>
                </a14:m>
                <a:r>
                  <a:rPr lang="mn-MN" sz="2400" b="1" dirty="0">
                    <a:solidFill>
                      <a:srgbClr val="002060"/>
                    </a:solidFill>
                    <a:latin typeface="Times New Roman" panose="02020603050405020304" pitchFamily="18" charset="0"/>
                    <a:cs typeface="Times New Roman" panose="02020603050405020304" pitchFamily="18" charset="0"/>
                  </a:rPr>
                  <a:t> үеийн турш үе бүрд </a:t>
                </a:r>
                <a14:m>
                  <m:oMath xmlns:m="http://schemas.openxmlformats.org/officeDocument/2006/math">
                    <m:r>
                      <a:rPr lang="mn-MN" sz="2400" b="1" i="1" dirty="0" smtClean="0">
                        <a:solidFill>
                          <a:srgbClr val="002060"/>
                        </a:solidFill>
                        <a:latin typeface="Cambria Math" panose="02040503050406030204" pitchFamily="18" charset="0"/>
                      </a:rPr>
                      <m:t>𝒊</m:t>
                    </m:r>
                    <m:r>
                      <a:rPr lang="mn-MN" sz="2400" b="1" i="1" dirty="0" smtClean="0">
                        <a:solidFill>
                          <a:srgbClr val="002060"/>
                        </a:solidFill>
                        <a:latin typeface="Cambria Math" panose="02040503050406030204" pitchFamily="18" charset="0"/>
                      </a:rPr>
                      <m:t>%</m:t>
                    </m:r>
                  </m:oMath>
                </a14:m>
                <a:r>
                  <a:rPr lang="mn-MN" sz="2400" b="1" dirty="0">
                    <a:solidFill>
                      <a:srgbClr val="002060"/>
                    </a:solidFill>
                    <a:latin typeface="Times New Roman" panose="02020603050405020304" pitchFamily="18" charset="0"/>
                    <a:cs typeface="Times New Roman" panose="02020603050405020304" pitchFamily="18" charset="0"/>
                  </a:rPr>
                  <a:t>-ийн хүүтэй байхад </a:t>
                </a:r>
                <a14:m>
                  <m:oMath xmlns:m="http://schemas.openxmlformats.org/officeDocument/2006/math">
                    <m:r>
                      <a:rPr lang="mn-MN" sz="2400" b="1" i="1" dirty="0" smtClean="0">
                        <a:solidFill>
                          <a:srgbClr val="002060"/>
                        </a:solidFill>
                        <a:latin typeface="Cambria Math" panose="02040503050406030204" pitchFamily="18" charset="0"/>
                      </a:rPr>
                      <m:t>𝑷</m:t>
                    </m:r>
                  </m:oMath>
                </a14:m>
                <a:r>
                  <a:rPr lang="mn-MN" sz="2400" b="1" dirty="0">
                    <a:solidFill>
                      <a:srgbClr val="002060"/>
                    </a:solidFill>
                    <a:latin typeface="Times New Roman" panose="02020603050405020304" pitchFamily="18" charset="0"/>
                    <a:cs typeface="Times New Roman" panose="02020603050405020304" pitchFamily="18" charset="0"/>
                  </a:rPr>
                  <a:t> нь өгөгдсөн үед    </a:t>
                </a:r>
                <a14:m>
                  <m:oMath xmlns:m="http://schemas.openxmlformats.org/officeDocument/2006/math">
                    <m:r>
                      <a:rPr lang="mn-MN" sz="2400" b="1" i="1" dirty="0" smtClean="0">
                        <a:solidFill>
                          <a:srgbClr val="002060"/>
                        </a:solidFill>
                        <a:latin typeface="Cambria Math" panose="02040503050406030204" pitchFamily="18" charset="0"/>
                      </a:rPr>
                      <m:t>𝑭</m:t>
                    </m:r>
                  </m:oMath>
                </a14:m>
                <a:r>
                  <a:rPr lang="mn-MN" sz="2400" b="1" dirty="0">
                    <a:solidFill>
                      <a:srgbClr val="002060"/>
                    </a:solidFill>
                    <a:latin typeface="Times New Roman" panose="02020603050405020304" pitchFamily="18" charset="0"/>
                    <a:cs typeface="Times New Roman" panose="02020603050405020304" pitchFamily="18" charset="0"/>
                  </a:rPr>
                  <a:t> –г олох</a:t>
                </a:r>
                <a:r>
                  <a:rPr lang="mn-MN" sz="2400" dirty="0">
                    <a:solidFill>
                      <a:srgbClr val="002060"/>
                    </a:solidFill>
                    <a:latin typeface="Times New Roman" panose="02020603050405020304" pitchFamily="18" charset="0"/>
                    <a:cs typeface="Times New Roman" panose="02020603050405020304" pitchFamily="18" charset="0"/>
                  </a:rPr>
                  <a:t>" гэж уншина. </a:t>
                </a:r>
              </a:p>
            </p:txBody>
          </p:sp>
        </mc:Choice>
        <mc:Fallback xmlns="">
          <p:sp>
            <p:nvSpPr>
              <p:cNvPr id="7" name="TextBox 6">
                <a:extLst>
                  <a:ext uri="{FF2B5EF4-FFF2-40B4-BE49-F238E27FC236}">
                    <a16:creationId xmlns:a16="http://schemas.microsoft.com/office/drawing/2014/main" id="{33C5A9BE-A16C-26D9-A1D9-BEA9958A8061}"/>
                  </a:ext>
                </a:extLst>
              </p:cNvPr>
              <p:cNvSpPr txBox="1">
                <a:spLocks noRot="1" noChangeAspect="1" noMove="1" noResize="1" noEditPoints="1" noAdjustHandles="1" noChangeArrowheads="1" noChangeShapeType="1" noTextEdit="1"/>
              </p:cNvSpPr>
              <p:nvPr/>
            </p:nvSpPr>
            <p:spPr>
              <a:xfrm>
                <a:off x="8536902" y="4503712"/>
                <a:ext cx="3319817" cy="1938992"/>
              </a:xfrm>
              <a:prstGeom prst="rect">
                <a:avLst/>
              </a:prstGeom>
              <a:blipFill>
                <a:blip r:embed="rId5"/>
                <a:stretch>
                  <a:fillRect l="-2752" t="-2516" r="-2936" b="-628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775F9FA-AD62-607B-8443-3B790543A81A}"/>
              </a:ext>
            </a:extLst>
          </p:cNvPr>
          <p:cNvSpPr txBox="1"/>
          <p:nvPr/>
        </p:nvSpPr>
        <p:spPr>
          <a:xfrm>
            <a:off x="6366459" y="5462450"/>
            <a:ext cx="2145399" cy="461665"/>
          </a:xfrm>
          <a:prstGeom prst="rect">
            <a:avLst/>
          </a:prstGeom>
          <a:noFill/>
        </p:spPr>
        <p:txBody>
          <a:bodyPr wrap="square">
            <a:spAutoFit/>
          </a:bodyPr>
          <a:lstStyle/>
          <a:p>
            <a:pPr algn="ctr"/>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Тэмдэглэгээ</a:t>
            </a:r>
            <a:r>
              <a:rPr lang="en-US" sz="2400" dirty="0">
                <a:solidFill>
                  <a:srgbClr val="00206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A935E83-677F-367F-F038-7A2FE2D6A644}"/>
              </a:ext>
            </a:extLst>
          </p:cNvPr>
          <p:cNvSpPr/>
          <p:nvPr/>
        </p:nvSpPr>
        <p:spPr>
          <a:xfrm>
            <a:off x="4398229" y="4518952"/>
            <a:ext cx="3867232" cy="104287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D80D382-92B5-4775-A395-4281E96B2000}"/>
                  </a:ext>
                </a:extLst>
              </p:cNvPr>
              <p:cNvSpPr/>
              <p:nvPr/>
            </p:nvSpPr>
            <p:spPr>
              <a:xfrm>
                <a:off x="608662" y="5786011"/>
                <a:ext cx="3040929" cy="7259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1" i="1" smtClean="0">
                          <a:solidFill>
                            <a:srgbClr val="FF0000"/>
                          </a:solidFill>
                          <a:latin typeface="Cambria Math" panose="02040503050406030204" pitchFamily="18" charset="0"/>
                        </a:rPr>
                        <m:t>𝑭</m:t>
                      </m:r>
                      <m:r>
                        <a:rPr lang="en-US" sz="3600" b="1">
                          <a:solidFill>
                            <a:srgbClr val="FF0000"/>
                          </a:solidFill>
                          <a:latin typeface="Cambria Math" panose="02040503050406030204" pitchFamily="18" charset="0"/>
                        </a:rPr>
                        <m:t>=</m:t>
                      </m:r>
                      <m:r>
                        <a:rPr lang="en-US" sz="3600" b="1" i="1">
                          <a:solidFill>
                            <a:srgbClr val="FF0000"/>
                          </a:solidFill>
                          <a:latin typeface="Cambria Math" panose="02040503050406030204" pitchFamily="18" charset="0"/>
                        </a:rPr>
                        <m:t>𝑷</m:t>
                      </m:r>
                      <m:sSup>
                        <m:sSupPr>
                          <m:ctrlPr>
                            <a:rPr lang="en-US" sz="3600" b="1" i="1">
                              <a:solidFill>
                                <a:srgbClr val="FF0000"/>
                              </a:solidFill>
                              <a:latin typeface="Cambria Math" panose="02040503050406030204" pitchFamily="18" charset="0"/>
                            </a:rPr>
                          </m:ctrlPr>
                        </m:sSupPr>
                        <m:e>
                          <m:d>
                            <m:dPr>
                              <m:ctrlPr>
                                <a:rPr lang="en-US" sz="3600" b="1" i="1">
                                  <a:solidFill>
                                    <a:srgbClr val="FF0000"/>
                                  </a:solidFill>
                                  <a:latin typeface="Cambria Math" panose="02040503050406030204" pitchFamily="18" charset="0"/>
                                </a:rPr>
                              </m:ctrlPr>
                            </m:dPr>
                            <m:e>
                              <m:r>
                                <a:rPr lang="en-US" sz="3600" b="1" i="1">
                                  <a:solidFill>
                                    <a:srgbClr val="FF0000"/>
                                  </a:solidFill>
                                  <a:latin typeface="Cambria Math" panose="02040503050406030204" pitchFamily="18" charset="0"/>
                                </a:rPr>
                                <m:t>𝟏</m:t>
                              </m:r>
                              <m:r>
                                <a:rPr lang="en-US" sz="3600" b="1">
                                  <a:solidFill>
                                    <a:srgbClr val="FF0000"/>
                                  </a:solidFill>
                                  <a:latin typeface="Cambria Math" panose="02040503050406030204" pitchFamily="18" charset="0"/>
                                </a:rPr>
                                <m:t>+</m:t>
                              </m:r>
                              <m:r>
                                <a:rPr lang="en-US" sz="3600" b="1" i="1">
                                  <a:solidFill>
                                    <a:srgbClr val="FF0000"/>
                                  </a:solidFill>
                                  <a:latin typeface="Cambria Math" panose="02040503050406030204" pitchFamily="18" charset="0"/>
                                </a:rPr>
                                <m:t>𝒊</m:t>
                              </m:r>
                            </m:e>
                          </m:d>
                        </m:e>
                        <m:sup>
                          <m:r>
                            <a:rPr lang="en-US" sz="3600" b="1" i="1">
                              <a:solidFill>
                                <a:srgbClr val="FF0000"/>
                              </a:solidFill>
                              <a:latin typeface="Cambria Math" panose="02040503050406030204" pitchFamily="18" charset="0"/>
                            </a:rPr>
                            <m:t>𝑵</m:t>
                          </m:r>
                        </m:sup>
                      </m:sSup>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8D80D382-92B5-4775-A395-4281E96B2000}"/>
                  </a:ext>
                </a:extLst>
              </p:cNvPr>
              <p:cNvSpPr>
                <a:spLocks noRot="1" noChangeAspect="1" noMove="1" noResize="1" noEditPoints="1" noAdjustHandles="1" noChangeArrowheads="1" noChangeShapeType="1" noTextEdit="1"/>
              </p:cNvSpPr>
              <p:nvPr/>
            </p:nvSpPr>
            <p:spPr>
              <a:xfrm>
                <a:off x="608662" y="5786011"/>
                <a:ext cx="3040929" cy="725925"/>
              </a:xfrm>
              <a:prstGeom prst="rect">
                <a:avLst/>
              </a:prstGeom>
              <a:blipFill>
                <a:blip r:embed="rId6"/>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0B170BE-9CA2-44ED-89FF-BD88D32FC7AE}"/>
                  </a:ext>
                </a:extLst>
              </p:cNvPr>
              <p:cNvSpPr/>
              <p:nvPr/>
            </p:nvSpPr>
            <p:spPr>
              <a:xfrm>
                <a:off x="4398229" y="5846024"/>
                <a:ext cx="3040930" cy="72592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mn-MN" sz="2400" i="1" dirty="0" smtClean="0">
                          <a:latin typeface="Cambria Math" panose="02040503050406030204" pitchFamily="18" charset="0"/>
                        </a:rPr>
                        <m:t>𝐹</m:t>
                      </m:r>
                      <m:r>
                        <a:rPr lang="mn-MN" sz="2400" i="1" dirty="0" smtClean="0">
                          <a:latin typeface="Cambria Math" panose="02040503050406030204" pitchFamily="18" charset="0"/>
                        </a:rPr>
                        <m:t>=</m:t>
                      </m:r>
                      <m:r>
                        <a:rPr lang="mn-MN" sz="2400" i="1" dirty="0" smtClean="0">
                          <a:latin typeface="Cambria Math" panose="02040503050406030204" pitchFamily="18" charset="0"/>
                        </a:rPr>
                        <m:t>𝑃</m:t>
                      </m:r>
                      <m:d>
                        <m:dPr>
                          <m:ctrlPr>
                            <a:rPr lang="mn-MN" sz="2400" i="1" dirty="0" smtClean="0">
                              <a:latin typeface="Cambria Math" panose="02040503050406030204" pitchFamily="18" charset="0"/>
                            </a:rPr>
                          </m:ctrlPr>
                        </m:dPr>
                        <m:e>
                          <m:f>
                            <m:fPr>
                              <m:ctrlPr>
                                <a:rPr lang="mn-MN" sz="2400" i="1" dirty="0" smtClean="0">
                                  <a:latin typeface="Cambria Math" panose="02040503050406030204" pitchFamily="18" charset="0"/>
                                </a:rPr>
                              </m:ctrlPr>
                            </m:fPr>
                            <m:num>
                              <m:r>
                                <a:rPr lang="mn-MN" sz="2400" i="1" dirty="0" smtClean="0">
                                  <a:latin typeface="Cambria Math" panose="02040503050406030204" pitchFamily="18" charset="0"/>
                                </a:rPr>
                                <m:t>𝐹</m:t>
                              </m:r>
                            </m:num>
                            <m:den>
                              <m:r>
                                <a:rPr lang="mn-MN" sz="2400" i="1" dirty="0" smtClean="0">
                                  <a:latin typeface="Cambria Math" panose="02040503050406030204" pitchFamily="18" charset="0"/>
                                </a:rPr>
                                <m:t>𝑃</m:t>
                              </m:r>
                            </m:den>
                          </m:f>
                          <m:r>
                            <a:rPr lang="mn-MN" sz="2400" i="1" dirty="0" smtClean="0">
                              <a:latin typeface="Cambria Math" panose="02040503050406030204" pitchFamily="18" charset="0"/>
                            </a:rPr>
                            <m:t>, </m:t>
                          </m:r>
                          <m:r>
                            <a:rPr lang="mn-MN" sz="2400" i="1" dirty="0" smtClean="0">
                              <a:latin typeface="Cambria Math" panose="02040503050406030204" pitchFamily="18" charset="0"/>
                            </a:rPr>
                            <m:t>𝑖</m:t>
                          </m:r>
                          <m:r>
                            <a:rPr lang="mn-MN" sz="2400" i="1" dirty="0" smtClean="0">
                              <a:latin typeface="Cambria Math" panose="02040503050406030204" pitchFamily="18" charset="0"/>
                            </a:rPr>
                            <m:t>%, </m:t>
                          </m:r>
                          <m:r>
                            <a:rPr lang="mn-MN" sz="2400" i="1" dirty="0" smtClean="0">
                              <a:latin typeface="Cambria Math" panose="02040503050406030204" pitchFamily="18" charset="0"/>
                            </a:rPr>
                            <m:t>𝑁</m:t>
                          </m:r>
                        </m:e>
                      </m:d>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11" name="Rectangle 10">
                <a:extLst>
                  <a:ext uri="{FF2B5EF4-FFF2-40B4-BE49-F238E27FC236}">
                    <a16:creationId xmlns:a16="http://schemas.microsoft.com/office/drawing/2014/main" id="{10B170BE-9CA2-44ED-89FF-BD88D32FC7AE}"/>
                  </a:ext>
                </a:extLst>
              </p:cNvPr>
              <p:cNvSpPr>
                <a:spLocks noRot="1" noChangeAspect="1" noMove="1" noResize="1" noEditPoints="1" noAdjustHandles="1" noChangeArrowheads="1" noChangeShapeType="1" noTextEdit="1"/>
              </p:cNvSpPr>
              <p:nvPr/>
            </p:nvSpPr>
            <p:spPr>
              <a:xfrm>
                <a:off x="4398229" y="5846024"/>
                <a:ext cx="3040930" cy="725925"/>
              </a:xfrm>
              <a:prstGeom prst="rect">
                <a:avLst/>
              </a:prstGeom>
              <a:blipFill>
                <a:blip r:embed="rId7"/>
                <a:stretch>
                  <a:fillRect/>
                </a:stretch>
              </a:blipFill>
              <a:ln w="9525" cap="flat" cmpd="sng" algn="ctr">
                <a:solidFill>
                  <a:schemeClr val="accent1"/>
                </a:solidFill>
                <a:prstDash val="solid"/>
                <a:round/>
                <a:headEnd type="none" w="med" len="med"/>
                <a:tailEnd type="none" w="med" len="med"/>
              </a:ln>
            </p:spPr>
            <p:txBody>
              <a:bodyPr/>
              <a:lstStyle/>
              <a:p>
                <a:r>
                  <a:rPr lang="en-US">
                    <a:noFill/>
                  </a:rPr>
                  <a:t> </a:t>
                </a:r>
              </a:p>
            </p:txBody>
          </p:sp>
        </mc:Fallback>
      </mc:AlternateContent>
      <p:sp>
        <p:nvSpPr>
          <p:cNvPr id="15" name="Rectangle 14">
            <a:extLst>
              <a:ext uri="{FF2B5EF4-FFF2-40B4-BE49-F238E27FC236}">
                <a16:creationId xmlns:a16="http://schemas.microsoft.com/office/drawing/2014/main" id="{432BCC1F-349A-416E-8904-70569767368D}"/>
              </a:ext>
            </a:extLst>
          </p:cNvPr>
          <p:cNvSpPr/>
          <p:nvPr/>
        </p:nvSpPr>
        <p:spPr>
          <a:xfrm>
            <a:off x="2523151" y="6448718"/>
            <a:ext cx="3040930" cy="334670"/>
          </a:xfrm>
          <a:prstGeom prst="rect">
            <a:avLst/>
          </a:prstGeom>
          <a:noFill/>
          <a:ln w="9525" cap="flat" cmpd="sng" algn="ctr">
            <a:solidFill>
              <a:srgbClr val="FF000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mn-MN" dirty="0">
                <a:latin typeface="Times New Roman" panose="02020603050405020304" pitchFamily="18" charset="0"/>
                <a:cs typeface="Times New Roman" panose="02020603050405020304" pitchFamily="18" charset="0"/>
              </a:rPr>
              <a:t>Зузаан ном дахь тэмдэглэгээ</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02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82880" y="135003"/>
                <a:ext cx="11773331" cy="727650"/>
              </a:xfrm>
            </p:spPr>
            <p:txBody>
              <a:bodyPr>
                <a:noAutofit/>
              </a:bodyPr>
              <a:lstStyle/>
              <a:p>
                <a:r>
                  <a:rPr lang="mn-MN" sz="2800" b="1" dirty="0">
                    <a:solidFill>
                      <a:srgbClr val="0000FF"/>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r>
                  <a:rPr lang="en-US" sz="2800" b="1"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en-US" sz="2800" b="1" i="1" smtClean="0">
                        <a:solidFill>
                          <a:schemeClr val="accent2">
                            <a:lumMod val="75000"/>
                          </a:schemeClr>
                        </a:solidFill>
                        <a:latin typeface="Cambria Math" panose="02040503050406030204" pitchFamily="18" charset="0"/>
                      </a:rPr>
                      <m:t>𝑭</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smtClean="0">
                        <a:solidFill>
                          <a:schemeClr val="accent2">
                            <a:lumMod val="75000"/>
                          </a:schemeClr>
                        </a:solidFill>
                        <a:latin typeface="Cambria Math" panose="02040503050406030204" pitchFamily="18" charset="0"/>
                      </a:rPr>
                      <m:t>𝑷</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mn-MN" sz="2800" b="1" dirty="0">
                    <a:solidFill>
                      <a:schemeClr val="accent2">
                        <a:lumMod val="75000"/>
                      </a:schemeClr>
                    </a:solidFill>
                    <a:latin typeface="Times New Roman" panose="02020603050405020304" pitchFamily="18" charset="0"/>
                    <a:cs typeface="Times New Roman" panose="02020603050405020304" pitchFamily="18" charset="0"/>
                  </a:rPr>
                  <a:t>ийг олох</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82880" y="135003"/>
                <a:ext cx="11773331" cy="727650"/>
              </a:xfrm>
              <a:blipFill>
                <a:blip r:embed="rId3"/>
                <a:stretch>
                  <a:fillRect l="-1036" t="-23333" b="-3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235789" y="1013397"/>
                <a:ext cx="11720422" cy="4633001"/>
              </a:xfrm>
            </p:spPr>
            <p:txBody>
              <a:bodyPr>
                <a:normAutofit/>
              </a:bodyPr>
              <a:lstStyle/>
              <a:p>
                <a14:m>
                  <m:oMath xmlns:m="http://schemas.openxmlformats.org/officeDocument/2006/math">
                    <m:r>
                      <a:rPr lang="mn-MN" sz="3200" i="1" smtClean="0">
                        <a:solidFill>
                          <a:srgbClr val="FF0000"/>
                        </a:solidFill>
                        <a:latin typeface="Cambria Math" panose="02040503050406030204" pitchFamily="18" charset="0"/>
                      </a:rPr>
                      <m:t>𝐹</m:t>
                    </m:r>
                    <m:r>
                      <a:rPr lang="en-US" sz="3200" b="0" i="1" smtClean="0">
                        <a:solidFill>
                          <a:srgbClr val="FF0000"/>
                        </a:solidFill>
                        <a:latin typeface="Cambria Math" panose="02040503050406030204" pitchFamily="18" charset="0"/>
                      </a:rPr>
                      <m:t>𝑉</m:t>
                    </m:r>
                    <m:r>
                      <a:rPr lang="mn-MN" sz="3200" i="1" smtClean="0">
                        <a:solidFill>
                          <a:srgbClr val="FF0000"/>
                        </a:solidFill>
                        <a:latin typeface="Cambria Math" panose="02040503050406030204" pitchFamily="18" charset="0"/>
                      </a:rPr>
                      <m:t>=</m:t>
                    </m:r>
                    <m:r>
                      <a:rPr lang="mn-MN" sz="3200" i="1" smtClean="0">
                        <a:solidFill>
                          <a:srgbClr val="FF0000"/>
                        </a:solidFill>
                        <a:latin typeface="Cambria Math" panose="02040503050406030204" pitchFamily="18" charset="0"/>
                      </a:rPr>
                      <m:t>𝑃𝑉</m:t>
                    </m:r>
                    <m:sSup>
                      <m:sSupPr>
                        <m:ctrlPr>
                          <a:rPr lang="en-US" sz="3200" i="1">
                            <a:solidFill>
                              <a:srgbClr val="FF0000"/>
                            </a:solidFill>
                            <a:latin typeface="Cambria Math" panose="02040503050406030204" pitchFamily="18" charset="0"/>
                          </a:rPr>
                        </m:ctrlPr>
                      </m:sSupPr>
                      <m:e>
                        <m:r>
                          <a:rPr lang="mn-MN" sz="3200" i="1">
                            <a:solidFill>
                              <a:srgbClr val="FF0000"/>
                            </a:solidFill>
                            <a:latin typeface="Cambria Math" panose="02040503050406030204" pitchFamily="18" charset="0"/>
                          </a:rPr>
                          <m:t>(1+</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e>
                      <m:sup>
                        <m:r>
                          <a:rPr lang="mn-MN" sz="3200" i="1">
                            <a:solidFill>
                              <a:srgbClr val="FF0000"/>
                            </a:solidFill>
                            <a:latin typeface="Cambria Math" panose="02040503050406030204" pitchFamily="18" charset="0"/>
                          </a:rPr>
                          <m:t>𝑁</m:t>
                        </m:r>
                      </m:sup>
                    </m:sSup>
                    <m:r>
                      <a:rPr lang="mn-MN" sz="3200" i="1">
                        <a:latin typeface="Cambria Math" panose="02040503050406030204" pitchFamily="18" charset="0"/>
                      </a:rPr>
                      <m:t> </m:t>
                    </m:r>
                  </m:oMath>
                </a14:m>
                <a:r>
                  <a:rPr lang="mn-MN" dirty="0">
                    <a:solidFill>
                      <a:srgbClr val="002060"/>
                    </a:solidFill>
                    <a:latin typeface="Times New Roman" panose="02020603050405020304" pitchFamily="18" charset="0"/>
                    <a:cs typeface="Times New Roman" panose="02020603050405020304" pitchFamily="18" charset="0"/>
                  </a:rPr>
                  <a:t>тэгшитгэлээс </a:t>
                </a:r>
                <a14:m>
                  <m:oMath xmlns:m="http://schemas.openxmlformats.org/officeDocument/2006/math">
                    <m:r>
                      <a:rPr lang="en-US" i="1" dirty="0" smtClean="0">
                        <a:solidFill>
                          <a:srgbClr val="002060"/>
                        </a:solidFill>
                        <a:latin typeface="Cambria Math" panose="02040503050406030204" pitchFamily="18" charset="0"/>
                      </a:rPr>
                      <m:t>𝑃</m:t>
                    </m:r>
                  </m:oMath>
                </a14:m>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ийг олвол:</a:t>
                </a:r>
                <a:endParaRPr lang="en-US" dirty="0">
                  <a:solidFill>
                    <a:srgbClr val="002060"/>
                  </a:solidFill>
                  <a:latin typeface="Times New Roman" panose="02020603050405020304" pitchFamily="18" charset="0"/>
                  <a:cs typeface="Times New Roman" panose="02020603050405020304" pitchFamily="18" charset="0"/>
                </a:endParaRPr>
              </a:p>
              <a:p>
                <a:endParaRPr lang="en-US"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3200" b="1" i="1" smtClean="0">
                          <a:solidFill>
                            <a:srgbClr val="FF0000"/>
                          </a:solidFill>
                          <a:latin typeface="Cambria Math" panose="02040503050406030204" pitchFamily="18" charset="0"/>
                        </a:rPr>
                        <m:t>𝑷𝑽</m:t>
                      </m:r>
                      <m:r>
                        <a:rPr lang="en-US" sz="3200" b="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𝑭</m:t>
                      </m:r>
                      <m:r>
                        <a:rPr lang="en-US" sz="3200" b="1" i="1" smtClean="0">
                          <a:solidFill>
                            <a:srgbClr val="FF0000"/>
                          </a:solidFill>
                          <a:latin typeface="Cambria Math" panose="02040503050406030204" pitchFamily="18" charset="0"/>
                        </a:rPr>
                        <m:t>𝑽</m:t>
                      </m:r>
                      <m:sSup>
                        <m:sSupPr>
                          <m:ctrlPr>
                            <a:rPr lang="en-US" sz="3200" b="1" i="1">
                              <a:solidFill>
                                <a:srgbClr val="FF0000"/>
                              </a:solidFill>
                              <a:latin typeface="Cambria Math" panose="02040503050406030204" pitchFamily="18" charset="0"/>
                            </a:rPr>
                          </m:ctrlPr>
                        </m:sSupPr>
                        <m:e>
                          <m:d>
                            <m:dPr>
                              <m:ctrlPr>
                                <a:rPr lang="en-US" sz="3200" b="1" i="1">
                                  <a:solidFill>
                                    <a:srgbClr val="FF0000"/>
                                  </a:solidFill>
                                  <a:latin typeface="Cambria Math" panose="02040503050406030204" pitchFamily="18" charset="0"/>
                                </a:rPr>
                              </m:ctrlPr>
                            </m:dPr>
                            <m:e>
                              <m:f>
                                <m:fPr>
                                  <m:ctrlPr>
                                    <a:rPr lang="en-US" sz="3200" b="1" i="1">
                                      <a:solidFill>
                                        <a:srgbClr val="FF0000"/>
                                      </a:solidFill>
                                      <a:latin typeface="Cambria Math" panose="02040503050406030204" pitchFamily="18" charset="0"/>
                                    </a:rPr>
                                  </m:ctrlPr>
                                </m:fPr>
                                <m:num>
                                  <m:r>
                                    <a:rPr lang="en-US" sz="3200" b="1" i="1">
                                      <a:solidFill>
                                        <a:srgbClr val="FF0000"/>
                                      </a:solidFill>
                                      <a:latin typeface="Cambria Math" panose="02040503050406030204" pitchFamily="18" charset="0"/>
                                    </a:rPr>
                                    <m:t>𝟏</m:t>
                                  </m:r>
                                </m:num>
                                <m:den>
                                  <m:r>
                                    <a:rPr lang="en-US" sz="3200" b="1" i="1">
                                      <a:solidFill>
                                        <a:srgbClr val="FF0000"/>
                                      </a:solidFill>
                                      <a:latin typeface="Cambria Math" panose="02040503050406030204" pitchFamily="18" charset="0"/>
                                    </a:rPr>
                                    <m:t>𝟏</m:t>
                                  </m:r>
                                  <m:r>
                                    <a:rPr lang="en-US" sz="3200" b="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𝒊</m:t>
                                  </m:r>
                                </m:den>
                              </m:f>
                            </m:e>
                          </m:d>
                        </m:e>
                        <m:sup>
                          <m:r>
                            <a:rPr lang="en-US" sz="3200" b="1" i="1">
                              <a:solidFill>
                                <a:srgbClr val="FF0000"/>
                              </a:solidFill>
                              <a:latin typeface="Cambria Math" panose="02040503050406030204" pitchFamily="18" charset="0"/>
                            </a:rPr>
                            <m:t>𝑵</m:t>
                          </m:r>
                        </m:sup>
                      </m:sSup>
                      <m:r>
                        <a:rPr lang="en-US" sz="3200" b="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𝑭</m:t>
                      </m:r>
                      <m:sSup>
                        <m:sSupPr>
                          <m:ctrlPr>
                            <a:rPr lang="en-US" sz="3200" b="1" i="1">
                              <a:solidFill>
                                <a:srgbClr val="FF0000"/>
                              </a:solidFill>
                              <a:latin typeface="Cambria Math" panose="02040503050406030204" pitchFamily="18" charset="0"/>
                            </a:rPr>
                          </m:ctrlPr>
                        </m:sSupPr>
                        <m:e>
                          <m:r>
                            <a:rPr lang="en-US" sz="3200" b="1" i="1" smtClean="0">
                              <a:solidFill>
                                <a:srgbClr val="FF0000"/>
                              </a:solidFill>
                              <a:latin typeface="Cambria Math" panose="02040503050406030204" pitchFamily="18" charset="0"/>
                            </a:rPr>
                            <m:t>𝑽</m:t>
                          </m:r>
                          <m:d>
                            <m:dPr>
                              <m:ctrlPr>
                                <a:rPr lang="en-US" sz="3200" b="1" i="1">
                                  <a:solidFill>
                                    <a:srgbClr val="FF0000"/>
                                  </a:solidFill>
                                  <a:latin typeface="Cambria Math" panose="02040503050406030204" pitchFamily="18" charset="0"/>
                                </a:rPr>
                              </m:ctrlPr>
                            </m:dPr>
                            <m:e>
                              <m:r>
                                <a:rPr lang="en-US" sz="3200" b="1" i="1">
                                  <a:solidFill>
                                    <a:srgbClr val="FF0000"/>
                                  </a:solidFill>
                                  <a:latin typeface="Cambria Math" panose="02040503050406030204" pitchFamily="18" charset="0"/>
                                </a:rPr>
                                <m:t>𝟏</m:t>
                              </m:r>
                              <m:r>
                                <a:rPr lang="en-US" sz="3200" b="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𝒊</m:t>
                              </m:r>
                            </m:e>
                          </m:d>
                        </m:e>
                        <m:sup>
                          <m:r>
                            <a:rPr lang="en-US" sz="3200" b="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𝑵</m:t>
                          </m:r>
                        </m:sup>
                      </m:sSup>
                    </m:oMath>
                  </m:oMathPara>
                </a14:m>
                <a:endParaRPr lang="en-US" sz="3200" b="1" dirty="0">
                  <a:solidFill>
                    <a:srgbClr val="002060"/>
                  </a:solidFill>
                  <a:latin typeface="Times New Roman" panose="02020603050405020304" pitchFamily="18" charset="0"/>
                  <a:cs typeface="Times New Roman" panose="02020603050405020304" pitchFamily="18" charset="0"/>
                </a:endParaRPr>
              </a:p>
              <a:p>
                <a:pPr marL="0" indent="0">
                  <a:buNone/>
                </a:pPr>
                <a:endParaRPr lang="en-US" dirty="0">
                  <a:solidFill>
                    <a:srgbClr val="002060"/>
                  </a:solidFill>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a:rPr lang="mn-MN" sz="3600" i="1" dirty="0" smtClean="0">
                          <a:latin typeface="Cambria Math" panose="02040503050406030204" pitchFamily="18" charset="0"/>
                        </a:rPr>
                        <m:t>𝑃</m:t>
                      </m:r>
                      <m:r>
                        <a:rPr lang="en-US" sz="3600" b="0" i="1" dirty="0" smtClean="0">
                          <a:latin typeface="Cambria Math" panose="02040503050406030204" pitchFamily="18" charset="0"/>
                        </a:rPr>
                        <m:t>𝑉</m:t>
                      </m:r>
                      <m:r>
                        <a:rPr lang="mn-MN" sz="3600" i="1" dirty="0" smtClean="0">
                          <a:latin typeface="Cambria Math" panose="02040503050406030204" pitchFamily="18" charset="0"/>
                        </a:rPr>
                        <m:t> = </m:t>
                      </m:r>
                      <m:r>
                        <a:rPr lang="mn-MN" sz="3600" i="1" dirty="0" smtClean="0">
                          <a:latin typeface="Cambria Math" panose="02040503050406030204" pitchFamily="18" charset="0"/>
                        </a:rPr>
                        <m:t>𝐹𝑉</m:t>
                      </m:r>
                      <m:r>
                        <a:rPr lang="mn-MN" sz="3600" i="1" dirty="0" smtClean="0">
                          <a:latin typeface="Cambria Math" panose="02040503050406030204" pitchFamily="18" charset="0"/>
                        </a:rPr>
                        <m:t>(</m:t>
                      </m:r>
                      <m:r>
                        <a:rPr lang="mn-MN" sz="3600" i="1" dirty="0" smtClean="0">
                          <a:latin typeface="Cambria Math" panose="02040503050406030204" pitchFamily="18" charset="0"/>
                        </a:rPr>
                        <m:t>𝑃</m:t>
                      </m:r>
                      <m:r>
                        <a:rPr lang="mn-MN" sz="3600" i="1" dirty="0" smtClean="0">
                          <a:latin typeface="Cambria Math" panose="02040503050406030204" pitchFamily="18" charset="0"/>
                        </a:rPr>
                        <m:t>/</m:t>
                      </m:r>
                      <m:r>
                        <a:rPr lang="mn-MN" sz="3600" i="1" dirty="0" smtClean="0">
                          <a:latin typeface="Cambria Math" panose="02040503050406030204" pitchFamily="18" charset="0"/>
                        </a:rPr>
                        <m:t>𝐹</m:t>
                      </m:r>
                      <m:r>
                        <a:rPr lang="mn-MN" sz="3600" i="1" dirty="0" smtClean="0">
                          <a:latin typeface="Cambria Math" panose="02040503050406030204" pitchFamily="18" charset="0"/>
                        </a:rPr>
                        <m:t>, </m:t>
                      </m:r>
                      <m:r>
                        <a:rPr lang="mn-MN" sz="3600" i="1" cap="none" dirty="0" smtClean="0">
                          <a:latin typeface="Cambria Math" panose="02040503050406030204" pitchFamily="18" charset="0"/>
                        </a:rPr>
                        <m:t>𝑖</m:t>
                      </m:r>
                      <m:r>
                        <a:rPr lang="mn-MN" sz="3600" i="1" dirty="0" smtClean="0">
                          <a:latin typeface="Cambria Math" panose="02040503050406030204" pitchFamily="18" charset="0"/>
                        </a:rPr>
                        <m:t>%, </m:t>
                      </m:r>
                      <m:r>
                        <a:rPr lang="mn-MN" sz="3600" i="1" dirty="0" smtClean="0">
                          <a:latin typeface="Cambria Math" panose="02040503050406030204" pitchFamily="18" charset="0"/>
                        </a:rPr>
                        <m:t>𝑁</m:t>
                      </m:r>
                      <m:r>
                        <a:rPr lang="mn-MN" sz="3600" i="1" dirty="0" smtClean="0">
                          <a:latin typeface="Cambria Math" panose="02040503050406030204" pitchFamily="18" charset="0"/>
                        </a:rPr>
                        <m:t>)</m:t>
                      </m:r>
                    </m:oMath>
                  </m:oMathPara>
                </a14:m>
                <a:endParaRPr lang="en-US" sz="3600" dirty="0">
                  <a:solidFill>
                    <a:srgbClr val="002060"/>
                  </a:solidFill>
                  <a:latin typeface="Times New Roman" panose="02020603050405020304" pitchFamily="18" charset="0"/>
                  <a:cs typeface="Times New Roman" panose="02020603050405020304" pitchFamily="18" charset="0"/>
                </a:endParaRPr>
              </a:p>
              <a:p>
                <a:endParaRPr lang="mn-MN"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235789" y="1013397"/>
                <a:ext cx="11720422" cy="4633001"/>
              </a:xfrm>
              <a:blipFill>
                <a:blip r:embed="rId4"/>
                <a:stretch>
                  <a:fillRect t="-1184"/>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9945093E-DAF0-B035-CFCF-AA50FD2FD500}"/>
              </a:ext>
            </a:extLst>
          </p:cNvPr>
          <p:cNvSpPr/>
          <p:nvPr/>
        </p:nvSpPr>
        <p:spPr>
          <a:xfrm>
            <a:off x="2904565" y="1795391"/>
            <a:ext cx="6454587" cy="14794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13BC5C69-E39E-790E-F1A9-A63E4DA2A7C5}"/>
              </a:ext>
            </a:extLst>
          </p:cNvPr>
          <p:cNvSpPr/>
          <p:nvPr/>
        </p:nvSpPr>
        <p:spPr>
          <a:xfrm>
            <a:off x="3778624" y="3329897"/>
            <a:ext cx="4625787" cy="91785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214615F-5251-F2AB-0045-6CB20BAB0221}"/>
              </a:ext>
            </a:extLst>
          </p:cNvPr>
          <p:cNvSpPr txBox="1"/>
          <p:nvPr/>
        </p:nvSpPr>
        <p:spPr>
          <a:xfrm>
            <a:off x="9094693" y="3527212"/>
            <a:ext cx="2885536" cy="523220"/>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Тэмдэглэгээ</a:t>
            </a:r>
            <a:r>
              <a:rPr lang="en-US" sz="2800" dirty="0">
                <a:solidFill>
                  <a:srgbClr val="00206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63779783-0FE7-4AA3-0504-26F4A01E85E6}"/>
              </a:ext>
            </a:extLst>
          </p:cNvPr>
          <p:cNvCxnSpPr>
            <a:cxnSpLocks/>
          </p:cNvCxnSpPr>
          <p:nvPr/>
        </p:nvCxnSpPr>
        <p:spPr>
          <a:xfrm flipH="1">
            <a:off x="8563595" y="3797394"/>
            <a:ext cx="546338"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3EB12FE-5851-0586-4E2B-BA135161D8D8}"/>
                  </a:ext>
                </a:extLst>
              </p:cNvPr>
              <p:cNvSpPr txBox="1"/>
              <p:nvPr/>
            </p:nvSpPr>
            <p:spPr>
              <a:xfrm>
                <a:off x="4328796" y="4367953"/>
                <a:ext cx="7070724" cy="1384995"/>
              </a:xfrm>
              <a:prstGeom prst="rect">
                <a:avLst/>
              </a:prstGeom>
              <a:noFill/>
            </p:spPr>
            <p:txBody>
              <a:bodyPr wrap="square">
                <a:spAutoFit/>
              </a:bodyPr>
              <a:lstStyle/>
              <a:p>
                <a:pPr algn="just"/>
                <a:r>
                  <a:rPr lang="mn-MN" sz="2800"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Хүү тооцох </a:t>
                </a:r>
                <a14:m>
                  <m:oMath xmlns:m="http://schemas.openxmlformats.org/officeDocument/2006/math">
                    <m:r>
                      <a:rPr lang="mn-MN" sz="2800" b="1" i="1" dirty="0" smtClean="0">
                        <a:solidFill>
                          <a:srgbClr val="002060"/>
                        </a:solidFill>
                        <a:latin typeface="Cambria Math" panose="02040503050406030204" pitchFamily="18" charset="0"/>
                      </a:rPr>
                      <m:t>𝑵</m:t>
                    </m:r>
                  </m:oMath>
                </a14:m>
                <a:r>
                  <a:rPr lang="mn-MN" sz="2800" b="1" dirty="0">
                    <a:solidFill>
                      <a:srgbClr val="002060"/>
                    </a:solidFill>
                    <a:latin typeface="Times New Roman" panose="02020603050405020304" pitchFamily="18" charset="0"/>
                    <a:cs typeface="Times New Roman" panose="02020603050405020304" pitchFamily="18" charset="0"/>
                  </a:rPr>
                  <a:t> үеийн турш үе бүрд </a:t>
                </a:r>
                <a14:m>
                  <m:oMath xmlns:m="http://schemas.openxmlformats.org/officeDocument/2006/math">
                    <m:r>
                      <a:rPr lang="mn-MN" sz="2800" b="1" i="1" dirty="0" smtClean="0">
                        <a:solidFill>
                          <a:srgbClr val="002060"/>
                        </a:solidFill>
                        <a:latin typeface="Cambria Math" panose="02040503050406030204" pitchFamily="18" charset="0"/>
                      </a:rPr>
                      <m:t>𝒊</m:t>
                    </m:r>
                    <m:r>
                      <a:rPr lang="mn-MN" sz="2800" b="1" i="1" dirty="0" smtClean="0">
                        <a:solidFill>
                          <a:srgbClr val="002060"/>
                        </a:solidFill>
                        <a:latin typeface="Cambria Math" panose="02040503050406030204" pitchFamily="18" charset="0"/>
                      </a:rPr>
                      <m:t>%</m:t>
                    </m:r>
                  </m:oMath>
                </a14:m>
                <a:r>
                  <a:rPr lang="mn-MN" sz="2800" b="1" dirty="0">
                    <a:solidFill>
                      <a:srgbClr val="002060"/>
                    </a:solidFill>
                    <a:latin typeface="Times New Roman" panose="02020603050405020304" pitchFamily="18" charset="0"/>
                    <a:cs typeface="Times New Roman" panose="02020603050405020304" pitchFamily="18" charset="0"/>
                  </a:rPr>
                  <a:t>-ийн хүүтэй байхад </a:t>
                </a:r>
                <a14:m>
                  <m:oMath xmlns:m="http://schemas.openxmlformats.org/officeDocument/2006/math">
                    <m:r>
                      <a:rPr lang="en-US" sz="2800" b="1" i="1" smtClean="0">
                        <a:solidFill>
                          <a:srgbClr val="002060"/>
                        </a:solidFill>
                        <a:latin typeface="Cambria Math" panose="02040503050406030204" pitchFamily="18" charset="0"/>
                      </a:rPr>
                      <m:t>𝑭</m:t>
                    </m:r>
                  </m:oMath>
                </a14:m>
                <a:r>
                  <a:rPr lang="mn-MN" sz="2800" b="1" dirty="0">
                    <a:solidFill>
                      <a:srgbClr val="002060"/>
                    </a:solidFill>
                    <a:latin typeface="Times New Roman" panose="02020603050405020304" pitchFamily="18" charset="0"/>
                    <a:cs typeface="Times New Roman" panose="02020603050405020304" pitchFamily="18" charset="0"/>
                  </a:rPr>
                  <a:t> нь өгөгдсөн үед </a:t>
                </a:r>
                <a14:m>
                  <m:oMath xmlns:m="http://schemas.openxmlformats.org/officeDocument/2006/math">
                    <m:r>
                      <a:rPr lang="en-US" sz="2800" b="1" i="1" smtClean="0">
                        <a:solidFill>
                          <a:srgbClr val="002060"/>
                        </a:solidFill>
                        <a:latin typeface="Cambria Math" panose="02040503050406030204" pitchFamily="18" charset="0"/>
                      </a:rPr>
                      <m:t>𝑷</m:t>
                    </m:r>
                  </m:oMath>
                </a14:m>
                <a:r>
                  <a:rPr lang="mn-MN" sz="2800" b="1" dirty="0">
                    <a:solidFill>
                      <a:srgbClr val="002060"/>
                    </a:solidFill>
                    <a:latin typeface="Times New Roman" panose="02020603050405020304" pitchFamily="18" charset="0"/>
                    <a:cs typeface="Times New Roman" panose="02020603050405020304" pitchFamily="18" charset="0"/>
                  </a:rPr>
                  <a:t> –г олох</a:t>
                </a:r>
                <a:r>
                  <a:rPr lang="mn-MN" sz="2800" dirty="0">
                    <a:solidFill>
                      <a:srgbClr val="002060"/>
                    </a:solidFill>
                    <a:latin typeface="Times New Roman" panose="02020603050405020304" pitchFamily="18" charset="0"/>
                    <a:cs typeface="Times New Roman" panose="02020603050405020304" pitchFamily="18" charset="0"/>
                  </a:rPr>
                  <a:t>" гэж уншина. </a:t>
                </a:r>
              </a:p>
            </p:txBody>
          </p:sp>
        </mc:Choice>
        <mc:Fallback xmlns="">
          <p:sp>
            <p:nvSpPr>
              <p:cNvPr id="16" name="TextBox 15">
                <a:extLst>
                  <a:ext uri="{FF2B5EF4-FFF2-40B4-BE49-F238E27FC236}">
                    <a16:creationId xmlns:a16="http://schemas.microsoft.com/office/drawing/2014/main" id="{23EB12FE-5851-0586-4E2B-BA135161D8D8}"/>
                  </a:ext>
                </a:extLst>
              </p:cNvPr>
              <p:cNvSpPr txBox="1">
                <a:spLocks noRot="1" noChangeAspect="1" noMove="1" noResize="1" noEditPoints="1" noAdjustHandles="1" noChangeArrowheads="1" noChangeShapeType="1" noTextEdit="1"/>
              </p:cNvSpPr>
              <p:nvPr/>
            </p:nvSpPr>
            <p:spPr>
              <a:xfrm>
                <a:off x="4328796" y="4367953"/>
                <a:ext cx="7070724" cy="1384995"/>
              </a:xfrm>
              <a:prstGeom prst="rect">
                <a:avLst/>
              </a:prstGeom>
              <a:blipFill>
                <a:blip r:embed="rId5"/>
                <a:stretch>
                  <a:fillRect l="-1724" t="-4846" r="-1810" b="-11454"/>
                </a:stretch>
              </a:blipFill>
            </p:spPr>
            <p:txBody>
              <a:bodyPr/>
              <a:lstStyle/>
              <a:p>
                <a:r>
                  <a:rPr lang="en-US">
                    <a:noFill/>
                  </a:rPr>
                  <a:t> </a:t>
                </a:r>
              </a:p>
            </p:txBody>
          </p:sp>
        </mc:Fallback>
      </mc:AlternateContent>
    </p:spTree>
    <p:extLst>
      <p:ext uri="{BB962C8B-B14F-4D97-AF65-F5344CB8AC3E}">
        <p14:creationId xmlns:p14="http://schemas.microsoft.com/office/powerpoint/2010/main" val="363183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7052" y="153597"/>
            <a:ext cx="11643948" cy="882723"/>
          </a:xfrm>
        </p:spPr>
        <p:txBody>
          <a:bodyPr>
            <a:noAutofit/>
          </a:bodyPr>
          <a:lstStyle/>
          <a:p>
            <a:pPr algn="just"/>
            <a:r>
              <a:rPr lang="mn-MN" sz="2700" b="1" dirty="0">
                <a:solidFill>
                  <a:srgbClr val="002060"/>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r>
              <a:rPr lang="en-US" sz="2700" b="1" dirty="0">
                <a:solidFill>
                  <a:srgbClr val="002060"/>
                </a:solidFill>
                <a:latin typeface="Times New Roman" panose="02020603050405020304" pitchFamily="18" charset="0"/>
                <a:cs typeface="Times New Roman" panose="02020603050405020304" pitchFamily="18" charset="0"/>
              </a:rPr>
              <a:t>. </a:t>
            </a:r>
            <a:r>
              <a:rPr lang="mn-MN" sz="2700" b="1" dirty="0">
                <a:solidFill>
                  <a:schemeClr val="accent2">
                    <a:lumMod val="75000"/>
                  </a:schemeClr>
                </a:solidFill>
                <a:latin typeface="Times New Roman" panose="02020603050405020304" pitchFamily="18" charset="0"/>
                <a:cs typeface="Times New Roman" panose="02020603050405020304" pitchFamily="18" charset="0"/>
              </a:rPr>
              <a:t>Мөнгөн урсгалын тооцоонд ашиглах дүрэм</a:t>
            </a:r>
            <a:endParaRPr lang="en-US" sz="27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640668" y="987243"/>
            <a:ext cx="11384280" cy="882723"/>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Дээрх тэгшитгэлүүдэд тулгуурлан мөнгөн урсгалд арифметик тооцоолол хийх үед дараах энгийн 3 дүрмийг ашигладаг:</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B3F649E-56E2-DC61-B82F-FDCF4176FBE8}"/>
                  </a:ext>
                </a:extLst>
              </p:cNvPr>
              <p:cNvGraphicFramePr>
                <a:graphicFrameLocks noGrp="1"/>
              </p:cNvGraphicFramePr>
              <p:nvPr>
                <p:extLst>
                  <p:ext uri="{D42A27DB-BD31-4B8C-83A1-F6EECF244321}">
                    <p14:modId xmlns:p14="http://schemas.microsoft.com/office/powerpoint/2010/main" val="328113601"/>
                  </p:ext>
                </p:extLst>
              </p:nvPr>
            </p:nvGraphicFramePr>
            <p:xfrm>
              <a:off x="167052" y="1566108"/>
              <a:ext cx="11905710" cy="4392233"/>
            </p:xfrm>
            <a:graphic>
              <a:graphicData uri="http://schemas.openxmlformats.org/drawingml/2006/table">
                <a:tbl>
                  <a:tblPr firstRow="1" firstCol="1" bandRow="1">
                    <a:tableStyleId>{5C22544A-7EE6-4342-B048-85BDC9FD1C3A}</a:tableStyleId>
                  </a:tblPr>
                  <a:tblGrid>
                    <a:gridCol w="1964764">
                      <a:extLst>
                        <a:ext uri="{9D8B030D-6E8A-4147-A177-3AD203B41FA5}">
                          <a16:colId xmlns:a16="http://schemas.microsoft.com/office/drawing/2014/main" val="2746523884"/>
                        </a:ext>
                      </a:extLst>
                    </a:gridCol>
                    <a:gridCol w="9940946">
                      <a:extLst>
                        <a:ext uri="{9D8B030D-6E8A-4147-A177-3AD203B41FA5}">
                          <a16:colId xmlns:a16="http://schemas.microsoft.com/office/drawing/2014/main" val="2435797547"/>
                        </a:ext>
                      </a:extLst>
                    </a:gridCol>
                  </a:tblGrid>
                  <a:tr h="294174">
                    <a:tc>
                      <a:txBody>
                        <a:bodyPr/>
                        <a:lstStyle/>
                        <a:p>
                          <a:pPr algn="just">
                            <a:lnSpc>
                              <a:spcPct val="107000"/>
                            </a:lnSpc>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endParaRPr lang="en-US" sz="2800" dirty="0"/>
                        </a:p>
                      </a:txBody>
                      <a:tcPr marL="68580" marR="68580" marT="0" marB="0">
                        <a:noFill/>
                      </a:tcPr>
                    </a:tc>
                    <a:extLst>
                      <a:ext uri="{0D108BD9-81ED-4DB2-BD59-A6C34878D82A}">
                        <a16:rowId xmlns:a16="http://schemas.microsoft.com/office/drawing/2014/main" val="894613252"/>
                      </a:ext>
                    </a:extLst>
                  </a:tr>
                  <a:tr h="232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2800" dirty="0">
                              <a:effectLst/>
                              <a:latin typeface="Times New Roman" panose="02020603050405020304" pitchFamily="18" charset="0"/>
                              <a:cs typeface="Times New Roman" panose="02020603050405020304" pitchFamily="18" charset="0"/>
                            </a:rPr>
                            <a:t>А 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mn-MN" sz="2800" dirty="0">
                              <a:effectLst/>
                              <a:latin typeface="Times New Roman" panose="02020603050405020304" pitchFamily="18" charset="0"/>
                              <a:cs typeface="Times New Roman" panose="02020603050405020304" pitchFamily="18" charset="0"/>
                            </a:rPr>
                            <a:t>Мөнгөн урсгал нь цаг хугацааны хувьд зэрэг тохиолдоогүй л бол нэмж, хасаж болохгүй.</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3928269"/>
                      </a:ext>
                    </a:extLst>
                  </a:tr>
                  <a:tr h="849108">
                    <a:tc>
                      <a:txBody>
                        <a:bodyPr/>
                        <a:lstStyle/>
                        <a:p>
                          <a:pPr algn="just">
                            <a:lnSpc>
                              <a:spcPct val="107000"/>
                            </a:lnSpc>
                            <a:spcAft>
                              <a:spcPts val="0"/>
                            </a:spcAft>
                          </a:pPr>
                          <a:r>
                            <a:rPr lang="en-US" sz="2800" dirty="0">
                              <a:effectLst/>
                              <a:latin typeface="Times New Roman" panose="02020603050405020304" pitchFamily="18" charset="0"/>
                              <a:cs typeface="Times New Roman" panose="02020603050405020304" pitchFamily="18" charset="0"/>
                            </a:rPr>
                            <a:t>B </a:t>
                          </a:r>
                          <a:r>
                            <a:rPr lang="mn-MN" sz="2800" dirty="0">
                              <a:effectLst/>
                              <a:latin typeface="Times New Roman" panose="02020603050405020304" pitchFamily="18" charset="0"/>
                              <a:cs typeface="Times New Roman" panose="02020603050405020304" pitchFamily="18" charset="0"/>
                            </a:rPr>
                            <a:t>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mn-MN" sz="2800" dirty="0">
                              <a:effectLst/>
                              <a:latin typeface="Times New Roman" panose="02020603050405020304" pitchFamily="18" charset="0"/>
                              <a:cs typeface="Times New Roman" panose="02020603050405020304" pitchFamily="18" charset="0"/>
                            </a:rPr>
                            <a:t>Мөнгөн урсгалыг хугацааны хувьд нэг нэгжээр (сар, улирал, жил) урагшлуулахын тулд мөнгөн урсгалын хэмжээг </a:t>
                          </a:r>
                          <a14:m>
                            <m:oMath xmlns:m="http://schemas.openxmlformats.org/officeDocument/2006/math">
                              <m:r>
                                <a:rPr lang="mn-MN" sz="2800" i="1" dirty="0" smtClean="0">
                                  <a:solidFill>
                                    <a:srgbClr val="FF0000"/>
                                  </a:solidFill>
                                  <a:effectLst/>
                                  <a:latin typeface="Cambria Math" panose="02040503050406030204" pitchFamily="18" charset="0"/>
                                </a:rPr>
                                <m:t>(1+</m:t>
                              </m:r>
                              <m:r>
                                <a:rPr lang="mn-MN" sz="2800" i="1" dirty="0" smtClean="0">
                                  <a:solidFill>
                                    <a:srgbClr val="FF0000"/>
                                  </a:solidFill>
                                  <a:effectLst/>
                                  <a:latin typeface="Cambria Math" panose="02040503050406030204" pitchFamily="18" charset="0"/>
                                </a:rPr>
                                <m:t>𝑖</m:t>
                              </m:r>
                              <m:r>
                                <a:rPr lang="mn-MN" sz="2800" i="1" dirty="0" smtClean="0">
                                  <a:solidFill>
                                    <a:srgbClr val="FF0000"/>
                                  </a:solidFill>
                                  <a:effectLst/>
                                  <a:latin typeface="Cambria Math" panose="02040503050406030204" pitchFamily="18" charset="0"/>
                                </a:rPr>
                                <m:t>)</m:t>
                              </m:r>
                            </m:oMath>
                          </a14:m>
                          <a:r>
                            <a:rPr lang="mn-MN" sz="2800" dirty="0">
                              <a:effectLst/>
                              <a:latin typeface="Times New Roman" panose="02020603050405020304" pitchFamily="18" charset="0"/>
                              <a:cs typeface="Times New Roman" panose="02020603050405020304" pitchFamily="18" charset="0"/>
                            </a:rPr>
                            <a:t> –ээр үржүүлнэ. </a:t>
                          </a:r>
                        </a:p>
                        <a:p>
                          <a:pPr algn="just">
                            <a:lnSpc>
                              <a:spcPct val="107000"/>
                            </a:lnSpc>
                            <a:spcAft>
                              <a:spcPts val="0"/>
                            </a:spcAft>
                          </a:pPr>
                          <a:r>
                            <a:rPr lang="mn-MN" sz="2400" dirty="0">
                              <a:effectLst/>
                              <a:latin typeface="Times New Roman" panose="02020603050405020304" pitchFamily="18" charset="0"/>
                              <a:cs typeface="Times New Roman" panose="02020603050405020304" pitchFamily="18" charset="0"/>
                            </a:rPr>
                            <a:t>Энд: </a:t>
                          </a:r>
                          <a14:m>
                            <m:oMath xmlns:m="http://schemas.openxmlformats.org/officeDocument/2006/math">
                              <m:r>
                                <a:rPr lang="mn-MN" sz="2400" i="1" dirty="0" smtClean="0">
                                  <a:effectLst/>
                                  <a:latin typeface="Cambria Math" panose="02040503050406030204" pitchFamily="18" charset="0"/>
                                </a:rPr>
                                <m:t>𝑖</m:t>
                              </m:r>
                            </m:oMath>
                          </a14:m>
                          <a:r>
                            <a:rPr lang="mn-MN" sz="2400" dirty="0">
                              <a:effectLst/>
                              <a:latin typeface="Times New Roman" panose="02020603050405020304" pitchFamily="18" charset="0"/>
                              <a:cs typeface="Times New Roman" panose="02020603050405020304" pitchFamily="18" charset="0"/>
                            </a:rPr>
                            <a:t> - мөнгөний цаг хугацааны үнэ цэнийг тусгасан хүүний түвшин.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7115233"/>
                      </a:ext>
                    </a:extLst>
                  </a:tr>
                  <a:tr h="216337">
                    <a:tc>
                      <a:txBody>
                        <a:bodyPr/>
                        <a:lstStyle/>
                        <a:p>
                          <a:pPr algn="just">
                            <a:lnSpc>
                              <a:spcPct val="107000"/>
                            </a:lnSpc>
                            <a:spcAft>
                              <a:spcPts val="0"/>
                            </a:spcAft>
                          </a:pPr>
                          <a:r>
                            <a:rPr lang="en-US" sz="2800" dirty="0">
                              <a:effectLst/>
                              <a:latin typeface="Times New Roman" panose="02020603050405020304" pitchFamily="18" charset="0"/>
                              <a:cs typeface="Times New Roman" panose="02020603050405020304" pitchFamily="18" charset="0"/>
                            </a:rPr>
                            <a:t>C </a:t>
                          </a:r>
                          <a:r>
                            <a:rPr lang="mn-MN" sz="2800" dirty="0">
                              <a:effectLst/>
                              <a:latin typeface="Times New Roman" panose="02020603050405020304" pitchFamily="18" charset="0"/>
                              <a:cs typeface="Times New Roman" panose="02020603050405020304" pitchFamily="18" charset="0"/>
                            </a:rPr>
                            <a:t>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mn-MN" sz="2800" dirty="0">
                              <a:effectLst/>
                              <a:latin typeface="Times New Roman" panose="02020603050405020304" pitchFamily="18" charset="0"/>
                              <a:cs typeface="Times New Roman" panose="02020603050405020304" pitchFamily="18" charset="0"/>
                            </a:rPr>
                            <a:t>Мөнгөн урсгалыг хугацааны хувьд нэг нэгжээр (сар, улирал, жил) хойшлуулахын тулд мөнгөн урсгалын хэмжээг  </a:t>
                          </a:r>
                          <a14:m>
                            <m:oMath xmlns:m="http://schemas.openxmlformats.org/officeDocument/2006/math">
                              <m:r>
                                <a:rPr lang="mn-MN" sz="2800" i="1" dirty="0" smtClean="0">
                                  <a:solidFill>
                                    <a:srgbClr val="FF0000"/>
                                  </a:solidFill>
                                  <a:effectLst/>
                                  <a:latin typeface="Cambria Math" panose="02040503050406030204" pitchFamily="18" charset="0"/>
                                </a:rPr>
                                <m:t>(1+</m:t>
                              </m:r>
                              <m:r>
                                <a:rPr lang="mn-MN" sz="2800" i="1" dirty="0" smtClean="0">
                                  <a:solidFill>
                                    <a:srgbClr val="FF0000"/>
                                  </a:solidFill>
                                  <a:effectLst/>
                                  <a:latin typeface="Cambria Math" panose="02040503050406030204" pitchFamily="18" charset="0"/>
                                </a:rPr>
                                <m:t>𝑖</m:t>
                              </m:r>
                              <m:r>
                                <a:rPr lang="mn-MN" sz="2800" i="1" dirty="0" smtClean="0">
                                  <a:solidFill>
                                    <a:srgbClr val="FF0000"/>
                                  </a:solidFill>
                                  <a:effectLst/>
                                  <a:latin typeface="Cambria Math" panose="02040503050406030204" pitchFamily="18" charset="0"/>
                                </a:rPr>
                                <m:t>)</m:t>
                              </m:r>
                            </m:oMath>
                          </a14:m>
                          <a:r>
                            <a:rPr lang="mn-MN" sz="2800" dirty="0">
                              <a:effectLst/>
                              <a:latin typeface="Times New Roman" panose="02020603050405020304" pitchFamily="18" charset="0"/>
                              <a:cs typeface="Times New Roman" panose="02020603050405020304" pitchFamily="18" charset="0"/>
                            </a:rPr>
                            <a:t> –д хуваана.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1166078"/>
                      </a:ext>
                    </a:extLst>
                  </a:tr>
                </a:tbl>
              </a:graphicData>
            </a:graphic>
          </p:graphicFrame>
        </mc:Choice>
        <mc:Fallback xmlns="">
          <p:graphicFrame>
            <p:nvGraphicFramePr>
              <p:cNvPr id="4" name="Table 3">
                <a:extLst>
                  <a:ext uri="{FF2B5EF4-FFF2-40B4-BE49-F238E27FC236}">
                    <a16:creationId xmlns:a16="http://schemas.microsoft.com/office/drawing/2014/main" id="{DB3F649E-56E2-DC61-B82F-FDCF4176FBE8}"/>
                  </a:ext>
                </a:extLst>
              </p:cNvPr>
              <p:cNvGraphicFramePr>
                <a:graphicFrameLocks noGrp="1"/>
              </p:cNvGraphicFramePr>
              <p:nvPr>
                <p:extLst>
                  <p:ext uri="{D42A27DB-BD31-4B8C-83A1-F6EECF244321}">
                    <p14:modId xmlns:p14="http://schemas.microsoft.com/office/powerpoint/2010/main" val="328113601"/>
                  </p:ext>
                </p:extLst>
              </p:nvPr>
            </p:nvGraphicFramePr>
            <p:xfrm>
              <a:off x="167052" y="1566108"/>
              <a:ext cx="11905710" cy="4392233"/>
            </p:xfrm>
            <a:graphic>
              <a:graphicData uri="http://schemas.openxmlformats.org/drawingml/2006/table">
                <a:tbl>
                  <a:tblPr firstRow="1" firstCol="1" bandRow="1">
                    <a:tableStyleId>{5C22544A-7EE6-4342-B048-85BDC9FD1C3A}</a:tableStyleId>
                  </a:tblPr>
                  <a:tblGrid>
                    <a:gridCol w="1964764">
                      <a:extLst>
                        <a:ext uri="{9D8B030D-6E8A-4147-A177-3AD203B41FA5}">
                          <a16:colId xmlns:a16="http://schemas.microsoft.com/office/drawing/2014/main" val="2746523884"/>
                        </a:ext>
                      </a:extLst>
                    </a:gridCol>
                    <a:gridCol w="9940946">
                      <a:extLst>
                        <a:ext uri="{9D8B030D-6E8A-4147-A177-3AD203B41FA5}">
                          <a16:colId xmlns:a16="http://schemas.microsoft.com/office/drawing/2014/main" val="2435797547"/>
                        </a:ext>
                      </a:extLst>
                    </a:gridCol>
                  </a:tblGrid>
                  <a:tr h="436309">
                    <a:tc>
                      <a:txBody>
                        <a:bodyPr/>
                        <a:lstStyle/>
                        <a:p>
                          <a:pPr algn="just">
                            <a:lnSpc>
                              <a:spcPct val="107000"/>
                            </a:lnSpc>
                            <a:spcAft>
                              <a:spcPts val="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endParaRPr lang="en-US" sz="2800" dirty="0"/>
                        </a:p>
                      </a:txBody>
                      <a:tcPr marL="68580" marR="68580" marT="0" marB="0">
                        <a:noFill/>
                      </a:tcPr>
                    </a:tc>
                    <a:extLst>
                      <a:ext uri="{0D108BD9-81ED-4DB2-BD59-A6C34878D82A}">
                        <a16:rowId xmlns:a16="http://schemas.microsoft.com/office/drawing/2014/main" val="894613252"/>
                      </a:ext>
                    </a:extLst>
                  </a:tr>
                  <a:tr h="8823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2800" dirty="0">
                              <a:effectLst/>
                              <a:latin typeface="Times New Roman" panose="02020603050405020304" pitchFamily="18" charset="0"/>
                              <a:cs typeface="Times New Roman" panose="02020603050405020304" pitchFamily="18" charset="0"/>
                            </a:rPr>
                            <a:t>А 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mn-MN" sz="2800" dirty="0">
                              <a:effectLst/>
                              <a:latin typeface="Times New Roman" panose="02020603050405020304" pitchFamily="18" charset="0"/>
                              <a:cs typeface="Times New Roman" panose="02020603050405020304" pitchFamily="18" charset="0"/>
                            </a:rPr>
                            <a:t>Мөнгөн урсгал нь цаг хугацааны хувьд зэрэг тохиолдоогүй л бол нэмж, хасаж болохгүй.</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3928269"/>
                      </a:ext>
                    </a:extLst>
                  </a:tr>
                  <a:tr h="1734693">
                    <a:tc>
                      <a:txBody>
                        <a:bodyPr/>
                        <a:lstStyle/>
                        <a:p>
                          <a:pPr algn="just">
                            <a:lnSpc>
                              <a:spcPct val="107000"/>
                            </a:lnSpc>
                            <a:spcAft>
                              <a:spcPts val="0"/>
                            </a:spcAft>
                          </a:pPr>
                          <a:r>
                            <a:rPr lang="en-US" sz="2800" dirty="0">
                              <a:effectLst/>
                              <a:latin typeface="Times New Roman" panose="02020603050405020304" pitchFamily="18" charset="0"/>
                              <a:cs typeface="Times New Roman" panose="02020603050405020304" pitchFamily="18" charset="0"/>
                            </a:rPr>
                            <a:t>B </a:t>
                          </a:r>
                          <a:r>
                            <a:rPr lang="mn-MN" sz="2800" dirty="0">
                              <a:effectLst/>
                              <a:latin typeface="Times New Roman" panose="02020603050405020304" pitchFamily="18" charset="0"/>
                              <a:cs typeface="Times New Roman" panose="02020603050405020304" pitchFamily="18" charset="0"/>
                            </a:rPr>
                            <a:t>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9792" t="-76491" r="-245" b="-89474"/>
                          </a:stretch>
                        </a:blipFill>
                      </a:tcPr>
                    </a:tc>
                    <a:extLst>
                      <a:ext uri="{0D108BD9-81ED-4DB2-BD59-A6C34878D82A}">
                        <a16:rowId xmlns:a16="http://schemas.microsoft.com/office/drawing/2014/main" val="2507115233"/>
                      </a:ext>
                    </a:extLst>
                  </a:tr>
                  <a:tr h="1338898">
                    <a:tc>
                      <a:txBody>
                        <a:bodyPr/>
                        <a:lstStyle/>
                        <a:p>
                          <a:pPr algn="just">
                            <a:lnSpc>
                              <a:spcPct val="107000"/>
                            </a:lnSpc>
                            <a:spcAft>
                              <a:spcPts val="0"/>
                            </a:spcAft>
                          </a:pPr>
                          <a:r>
                            <a:rPr lang="en-US" sz="2800" dirty="0">
                              <a:effectLst/>
                              <a:latin typeface="Times New Roman" panose="02020603050405020304" pitchFamily="18" charset="0"/>
                              <a:cs typeface="Times New Roman" panose="02020603050405020304" pitchFamily="18" charset="0"/>
                            </a:rPr>
                            <a:t>C </a:t>
                          </a:r>
                          <a:r>
                            <a:rPr lang="mn-MN" sz="2800" dirty="0">
                              <a:effectLst/>
                              <a:latin typeface="Times New Roman" panose="02020603050405020304" pitchFamily="18" charset="0"/>
                              <a:cs typeface="Times New Roman" panose="02020603050405020304" pitchFamily="18" charset="0"/>
                            </a:rPr>
                            <a:t>дүрэм.</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9792" t="-228636" r="-245" b="-15909"/>
                          </a:stretch>
                        </a:blipFill>
                      </a:tcPr>
                    </a:tc>
                    <a:extLst>
                      <a:ext uri="{0D108BD9-81ED-4DB2-BD59-A6C34878D82A}">
                        <a16:rowId xmlns:a16="http://schemas.microsoft.com/office/drawing/2014/main" val="2051166078"/>
                      </a:ext>
                    </a:extLst>
                  </a:tr>
                </a:tbl>
              </a:graphicData>
            </a:graphic>
          </p:graphicFrame>
        </mc:Fallback>
      </mc:AlternateContent>
    </p:spTree>
    <p:extLst>
      <p:ext uri="{BB962C8B-B14F-4D97-AF65-F5344CB8AC3E}">
        <p14:creationId xmlns:p14="http://schemas.microsoft.com/office/powerpoint/2010/main" val="40325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7639" y="117060"/>
                <a:ext cx="11917680" cy="1340803"/>
              </a:xfrm>
            </p:spPr>
            <p:txBody>
              <a:bodyPr>
                <a:noAutofit/>
              </a:bodyPr>
              <a:lstStyle/>
              <a:p>
                <a:r>
                  <a:rPr lang="mn-MN" sz="2800" b="1" dirty="0">
                    <a:solidFill>
                      <a:srgbClr val="0000FF"/>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br>
                  <a:rPr lang="mn-MN" sz="2800" b="1" dirty="0">
                    <a:solidFill>
                      <a:srgbClr val="0000FF"/>
                    </a:solidFill>
                    <a:latin typeface="Times New Roman" panose="02020603050405020304" pitchFamily="18" charset="0"/>
                    <a:cs typeface="Times New Roman" panose="02020603050405020304" pitchFamily="18" charset="0"/>
                  </a:rPr>
                </a:br>
                <a14:m>
                  <m:oMath xmlns:m="http://schemas.openxmlformats.org/officeDocument/2006/math">
                    <m:r>
                      <a:rPr lang="en-US" sz="2800" b="1" i="1" dirty="0" smtClean="0">
                        <a:solidFill>
                          <a:schemeClr val="accent2">
                            <a:lumMod val="75000"/>
                          </a:schemeClr>
                        </a:solidFill>
                        <a:latin typeface="Cambria Math" panose="02040503050406030204" pitchFamily="18" charset="0"/>
                      </a:rPr>
                      <m:t>𝑷</m:t>
                    </m:r>
                    <m:r>
                      <a:rPr lang="en-US" sz="2800" b="1" i="1" dirty="0" smtClean="0">
                        <a:solidFill>
                          <a:schemeClr val="accent2">
                            <a:lumMod val="75000"/>
                          </a:schemeClr>
                        </a:solidFill>
                        <a:latin typeface="Cambria Math" panose="02040503050406030204" pitchFamily="18" charset="0"/>
                      </a:rPr>
                      <m:t>, </m:t>
                    </m:r>
                    <m:r>
                      <a:rPr lang="en-US" sz="2800" b="1" i="1" dirty="0" smtClean="0">
                        <a:solidFill>
                          <a:schemeClr val="accent2">
                            <a:lumMod val="75000"/>
                          </a:schemeClr>
                        </a:solidFill>
                        <a:latin typeface="Cambria Math" panose="02040503050406030204" pitchFamily="18" charset="0"/>
                      </a:rPr>
                      <m:t>𝑭</m:t>
                    </m:r>
                    <m:r>
                      <a:rPr lang="en-US" sz="2800" b="1" i="1" dirty="0" smtClean="0">
                        <a:solidFill>
                          <a:schemeClr val="accent2">
                            <a:lumMod val="75000"/>
                          </a:schemeClr>
                        </a:solidFill>
                        <a:latin typeface="Cambria Math" panose="02040503050406030204" pitchFamily="18" charset="0"/>
                      </a:rPr>
                      <m:t>, </m:t>
                    </m:r>
                    <m:r>
                      <a:rPr lang="en-US" sz="2800" b="1" i="1" dirty="0" smtClean="0">
                        <a:solidFill>
                          <a:schemeClr val="accent2">
                            <a:lumMod val="75000"/>
                          </a:schemeClr>
                        </a:solidFill>
                        <a:latin typeface="Cambria Math" panose="02040503050406030204" pitchFamily="18" charset="0"/>
                      </a:rPr>
                      <m:t>𝑵</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хүүний түвшин </a:t>
                </a:r>
                <a14:m>
                  <m:oMath xmlns:m="http://schemas.openxmlformats.org/officeDocument/2006/math">
                    <m:r>
                      <a:rPr lang="en-US" sz="2800" b="1" i="1" dirty="0" smtClean="0">
                        <a:solidFill>
                          <a:schemeClr val="accent2">
                            <a:lumMod val="75000"/>
                          </a:schemeClr>
                        </a:solidFill>
                        <a:latin typeface="Cambria Math" panose="02040503050406030204" pitchFamily="18" charset="0"/>
                      </a:rPr>
                      <m:t>𝒊</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mn-MN" sz="2800" b="1" dirty="0">
                    <a:solidFill>
                      <a:schemeClr val="accent2">
                        <a:lumMod val="75000"/>
                      </a:schemeClr>
                    </a:solidFill>
                    <a:latin typeface="Times New Roman" panose="02020603050405020304" pitchFamily="18" charset="0"/>
                    <a:cs typeface="Times New Roman" panose="02020603050405020304" pitchFamily="18" charset="0"/>
                  </a:rPr>
                  <a:t>г олох</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67639" y="117060"/>
                <a:ext cx="11917680" cy="1340803"/>
              </a:xfrm>
              <a:blipFill>
                <a:blip r:embed="rId3"/>
                <a:stretch>
                  <a:fillRect l="-1023" t="-4091"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06681" y="1457863"/>
                <a:ext cx="11917680" cy="4336271"/>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Хоёр төрлийн мөнгөн дүн (</a:t>
                </a:r>
                <a14:m>
                  <m:oMath xmlns:m="http://schemas.openxmlformats.org/officeDocument/2006/math">
                    <m:r>
                      <a:rPr lang="en-US" sz="3600" i="1" dirty="0" smtClean="0">
                        <a:solidFill>
                          <a:srgbClr val="002060"/>
                        </a:solidFill>
                        <a:latin typeface="Cambria Math" panose="02040503050406030204" pitchFamily="18" charset="0"/>
                      </a:rPr>
                      <m:t>𝑃</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ба </a:t>
                </a:r>
                <a14:m>
                  <m:oMath xmlns:m="http://schemas.openxmlformats.org/officeDocument/2006/math">
                    <m:r>
                      <a:rPr lang="en-US" sz="3600" i="1" dirty="0" smtClean="0">
                        <a:solidFill>
                          <a:srgbClr val="002060"/>
                        </a:solidFill>
                        <a:latin typeface="Cambria Math" panose="02040503050406030204" pitchFamily="18" charset="0"/>
                      </a:rPr>
                      <m:t>𝐹</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болон тэдгээрийн хоорондох цаг хугацааны үеийн тоо (</a:t>
                </a:r>
                <a14:m>
                  <m:oMath xmlns:m="http://schemas.openxmlformats.org/officeDocument/2006/math">
                    <m:r>
                      <a:rPr lang="en-US" sz="3600" i="1" dirty="0" smtClean="0">
                        <a:solidFill>
                          <a:srgbClr val="002060"/>
                        </a:solidFill>
                        <a:latin typeface="Cambria Math" panose="02040503050406030204" pitchFamily="18" charset="0"/>
                      </a:rPr>
                      <m:t>𝑁</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мэдэгдэж байгаа тохиолдолд тэдгээрийг эквивалент болгох хүүний түвшин (</a:t>
                </a:r>
                <a14:m>
                  <m:oMath xmlns:m="http://schemas.openxmlformats.org/officeDocument/2006/math">
                    <m:r>
                      <a:rPr lang="en-US" sz="3600" i="1" dirty="0" smtClean="0">
                        <a:solidFill>
                          <a:srgbClr val="002060"/>
                        </a:solidFill>
                        <a:latin typeface="Cambria Math" panose="02040503050406030204" pitchFamily="18" charset="0"/>
                      </a:rPr>
                      <m:t>𝑖</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г  дараах томъёогоор олно:</a:t>
                </a:r>
              </a:p>
              <a:p>
                <a:endParaRPr lang="mn-MN" sz="2400"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mn-MN" sz="5400" b="1" i="1" smtClean="0">
                          <a:solidFill>
                            <a:srgbClr val="FF0000"/>
                          </a:solidFill>
                          <a:latin typeface="Cambria Math" panose="02040503050406030204" pitchFamily="18" charset="0"/>
                        </a:rPr>
                        <m:t>𝒊</m:t>
                      </m:r>
                      <m:r>
                        <a:rPr lang="mn-MN" sz="5400" b="1" i="1" smtClean="0">
                          <a:solidFill>
                            <a:srgbClr val="FF0000"/>
                          </a:solidFill>
                          <a:latin typeface="Cambria Math" panose="02040503050406030204" pitchFamily="18" charset="0"/>
                        </a:rPr>
                        <m:t>=</m:t>
                      </m:r>
                      <m:rad>
                        <m:radPr>
                          <m:ctrlPr>
                            <a:rPr lang="en-US" sz="5400" b="1" i="1">
                              <a:solidFill>
                                <a:srgbClr val="FF0000"/>
                              </a:solidFill>
                              <a:latin typeface="Cambria Math" panose="02040503050406030204" pitchFamily="18" charset="0"/>
                            </a:rPr>
                          </m:ctrlPr>
                        </m:radPr>
                        <m:deg>
                          <m:r>
                            <a:rPr lang="mn-MN" sz="5400" b="1" i="1">
                              <a:solidFill>
                                <a:srgbClr val="FF0000"/>
                              </a:solidFill>
                              <a:latin typeface="Cambria Math" panose="02040503050406030204" pitchFamily="18" charset="0"/>
                            </a:rPr>
                            <m:t>𝑵</m:t>
                          </m:r>
                        </m:deg>
                        <m:e>
                          <m:f>
                            <m:fPr>
                              <m:type m:val="lin"/>
                              <m:ctrlPr>
                                <a:rPr lang="en-US" sz="5400" b="1" i="1">
                                  <a:solidFill>
                                    <a:srgbClr val="FF0000"/>
                                  </a:solidFill>
                                  <a:latin typeface="Cambria Math" panose="02040503050406030204" pitchFamily="18" charset="0"/>
                                </a:rPr>
                              </m:ctrlPr>
                            </m:fPr>
                            <m:num>
                              <m:r>
                                <a:rPr lang="mn-MN" sz="5400" b="1" i="1">
                                  <a:solidFill>
                                    <a:srgbClr val="FF0000"/>
                                  </a:solidFill>
                                  <a:latin typeface="Cambria Math" panose="02040503050406030204" pitchFamily="18" charset="0"/>
                                </a:rPr>
                                <m:t>𝑭</m:t>
                              </m:r>
                              <m:r>
                                <a:rPr lang="en-US" sz="5400" b="1" i="1" smtClean="0">
                                  <a:solidFill>
                                    <a:srgbClr val="FF0000"/>
                                  </a:solidFill>
                                  <a:latin typeface="Cambria Math" panose="02040503050406030204" pitchFamily="18" charset="0"/>
                                </a:rPr>
                                <m:t>𝑽</m:t>
                              </m:r>
                            </m:num>
                            <m:den>
                              <m:r>
                                <a:rPr lang="mn-MN" sz="5400" b="1" i="1">
                                  <a:solidFill>
                                    <a:srgbClr val="FF0000"/>
                                  </a:solidFill>
                                  <a:latin typeface="Cambria Math" panose="02040503050406030204" pitchFamily="18" charset="0"/>
                                </a:rPr>
                                <m:t>𝑷</m:t>
                              </m:r>
                              <m:r>
                                <a:rPr lang="en-US" sz="5400" b="1" i="1" smtClean="0">
                                  <a:solidFill>
                                    <a:srgbClr val="FF0000"/>
                                  </a:solidFill>
                                  <a:latin typeface="Cambria Math" panose="02040503050406030204" pitchFamily="18" charset="0"/>
                                </a:rPr>
                                <m:t>𝑽</m:t>
                              </m:r>
                            </m:den>
                          </m:f>
                        </m:e>
                      </m:rad>
                      <m:r>
                        <a:rPr lang="mn-MN" sz="5400" b="1" i="1">
                          <a:solidFill>
                            <a:srgbClr val="FF0000"/>
                          </a:solidFill>
                          <a:latin typeface="Cambria Math" panose="02040503050406030204" pitchFamily="18" charset="0"/>
                        </a:rPr>
                        <m:t>−</m:t>
                      </m:r>
                      <m:r>
                        <a:rPr lang="mn-MN" sz="5400" b="1" i="1">
                          <a:solidFill>
                            <a:srgbClr val="FF0000"/>
                          </a:solidFill>
                          <a:latin typeface="Cambria Math" panose="02040503050406030204" pitchFamily="18" charset="0"/>
                        </a:rPr>
                        <m:t>𝟏</m:t>
                      </m:r>
                    </m:oMath>
                  </m:oMathPara>
                </a14:m>
                <a:endParaRPr lang="mn-MN" sz="6600" b="1" dirty="0">
                  <a:solidFill>
                    <a:srgbClr val="FF0000"/>
                  </a:solidFill>
                  <a:latin typeface="Times New Roman" panose="02020603050405020304" pitchFamily="18" charset="0"/>
                  <a:cs typeface="Times New Roman" panose="02020603050405020304" pitchFamily="18" charset="0"/>
                </a:endParaRPr>
              </a:p>
              <a:p>
                <a:endParaRPr lang="mn-MN"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106681" y="1457863"/>
                <a:ext cx="11917680" cy="4336271"/>
              </a:xfrm>
              <a:blipFill>
                <a:blip r:embed="rId4"/>
                <a:stretch>
                  <a:fillRect l="-1432" t="-3516" r="-1535"/>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1B305CE-392E-EEF2-E36C-71D13AB590E9}"/>
              </a:ext>
            </a:extLst>
          </p:cNvPr>
          <p:cNvSpPr/>
          <p:nvPr/>
        </p:nvSpPr>
        <p:spPr>
          <a:xfrm>
            <a:off x="3079376" y="3617563"/>
            <a:ext cx="6266330" cy="14250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488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19270" y="179594"/>
                <a:ext cx="11887200" cy="827571"/>
              </a:xfrm>
            </p:spPr>
            <p:txBody>
              <a:bodyPr>
                <a:noAutofit/>
              </a:bodyPr>
              <a:lstStyle/>
              <a:p>
                <a:pPr algn="just"/>
                <a:r>
                  <a:rPr lang="mn-MN" sz="2900" b="1" dirty="0">
                    <a:solidFill>
                      <a:srgbClr val="002060"/>
                    </a:solidFill>
                    <a:latin typeface="Times New Roman" panose="02020603050405020304" pitchFamily="18" charset="0"/>
                    <a:cs typeface="Times New Roman" panose="02020603050405020304" pitchFamily="18" charset="0"/>
                  </a:rPr>
                  <a:t>Нэг удаагийн мөнгөн урсгалын өнөөгийн болон ирээдүйн эквивалент үнэ цэнийн хоорондох холбоо</a:t>
                </a:r>
                <a:r>
                  <a:rPr lang="mn-MN" sz="28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sz="3200" b="1" i="1" dirty="0" smtClean="0">
                        <a:solidFill>
                          <a:schemeClr val="accent2">
                            <a:lumMod val="75000"/>
                          </a:schemeClr>
                        </a:solidFill>
                        <a:latin typeface="Cambria Math" panose="02040503050406030204" pitchFamily="18" charset="0"/>
                      </a:rPr>
                      <m:t>𝑷</m:t>
                    </m:r>
                    <m:r>
                      <a:rPr lang="en-US" sz="3200" b="1" i="1" dirty="0" smtClean="0">
                        <a:solidFill>
                          <a:schemeClr val="accent2">
                            <a:lumMod val="75000"/>
                          </a:schemeClr>
                        </a:solidFill>
                        <a:latin typeface="Cambria Math" panose="02040503050406030204" pitchFamily="18" charset="0"/>
                      </a:rPr>
                      <m:t>, </m:t>
                    </m:r>
                    <m:r>
                      <a:rPr lang="en-US" sz="3200" b="1" i="1" dirty="0" smtClean="0">
                        <a:solidFill>
                          <a:schemeClr val="accent2">
                            <a:lumMod val="75000"/>
                          </a:schemeClr>
                        </a:solidFill>
                        <a:latin typeface="Cambria Math" panose="02040503050406030204" pitchFamily="18" charset="0"/>
                      </a:rPr>
                      <m:t>𝑭</m:t>
                    </m:r>
                    <m:r>
                      <a:rPr lang="en-US" sz="3200" b="1" i="1" dirty="0" smtClean="0">
                        <a:solidFill>
                          <a:schemeClr val="accent2">
                            <a:lumMod val="75000"/>
                          </a:schemeClr>
                        </a:solidFill>
                        <a:latin typeface="Cambria Math" panose="02040503050406030204" pitchFamily="18" charset="0"/>
                      </a:rPr>
                      <m:t>, </m:t>
                    </m:r>
                    <m:r>
                      <a:rPr lang="en-US" sz="3200" b="1" i="1" dirty="0" smtClean="0">
                        <a:solidFill>
                          <a:schemeClr val="accent2">
                            <a:lumMod val="75000"/>
                          </a:schemeClr>
                        </a:solidFill>
                        <a:latin typeface="Cambria Math" panose="02040503050406030204" pitchFamily="18" charset="0"/>
                      </a:rPr>
                      <m:t>𝒊</m:t>
                    </m:r>
                  </m:oMath>
                </a14:m>
                <a:r>
                  <a:rPr lang="en-US" sz="3200" b="1" dirty="0">
                    <a:solidFill>
                      <a:schemeClr val="accent2">
                        <a:lumMod val="75000"/>
                      </a:schemeClr>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3200" b="1" i="1" smtClean="0">
                        <a:solidFill>
                          <a:schemeClr val="accent2">
                            <a:lumMod val="75000"/>
                          </a:schemeClr>
                        </a:solidFill>
                        <a:latin typeface="Cambria Math" panose="02040503050406030204" pitchFamily="18" charset="0"/>
                      </a:rPr>
                      <m:t>𝑵</m:t>
                    </m:r>
                  </m:oMath>
                </a14:m>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г олох</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19270" y="179594"/>
                <a:ext cx="11887200" cy="827571"/>
              </a:xfrm>
              <a:blipFill>
                <a:blip r:embed="rId3"/>
                <a:stretch>
                  <a:fillRect l="-1128" t="-19118" r="-1077" b="-301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73E76-1503-5CDB-4263-CEAC5B98D9E4}"/>
                  </a:ext>
                </a:extLst>
              </p:cNvPr>
              <p:cNvSpPr>
                <a:spLocks noGrp="1"/>
              </p:cNvSpPr>
              <p:nvPr>
                <p:ph idx="1"/>
              </p:nvPr>
            </p:nvSpPr>
            <p:spPr>
              <a:xfrm>
                <a:off x="119270" y="1046921"/>
                <a:ext cx="11887200" cy="4823792"/>
              </a:xfrm>
            </p:spPr>
            <p:txBody>
              <a:bodyPr>
                <a:normAutofit fontScale="85000" lnSpcReduction="10000"/>
              </a:bodyPr>
              <a:lstStyle/>
              <a:p>
                <a:pPr marL="0" indent="0" algn="just">
                  <a:buNone/>
                </a:pPr>
                <a:r>
                  <a:rPr lang="mn-MN" sz="3100" dirty="0">
                    <a:solidFill>
                      <a:srgbClr val="002060"/>
                    </a:solidFill>
                    <a:latin typeface="Times New Roman" panose="02020603050405020304" pitchFamily="18" charset="0"/>
                    <a:cs typeface="Times New Roman" panose="02020603050405020304" pitchFamily="18" charset="0"/>
                  </a:rPr>
                  <a:t>Зарим үед өнөөгийн мөнгөн дүнг тодорхой хүүний түвшингээр өсгөж, ирээдүйн тодорхой мөнгөн дүнд хүргэхэд шаардагдах цаг хугацааг олох хэрэгтэй болдог:</a:t>
                </a:r>
              </a:p>
              <a:p>
                <a:pPr marL="0" indent="0" algn="just">
                  <a:buNone/>
                </a:pPr>
                <a14:m>
                  <m:oMathPara xmlns:m="http://schemas.openxmlformats.org/officeDocument/2006/math">
                    <m:oMathParaPr>
                      <m:jc m:val="centerGroup"/>
                    </m:oMathParaPr>
                    <m:oMath xmlns:m="http://schemas.openxmlformats.org/officeDocument/2006/math">
                      <m:r>
                        <a:rPr lang="mn-MN" sz="4200" b="1" i="1" smtClean="0">
                          <a:latin typeface="Cambria Math" panose="02040503050406030204" pitchFamily="18" charset="0"/>
                        </a:rPr>
                        <m:t>𝑭</m:t>
                      </m:r>
                      <m:r>
                        <a:rPr lang="en-US" sz="4200" b="1" i="1" smtClean="0">
                          <a:latin typeface="Cambria Math" panose="02040503050406030204" pitchFamily="18" charset="0"/>
                        </a:rPr>
                        <m:t>𝑽</m:t>
                      </m:r>
                      <m:r>
                        <a:rPr lang="mn-MN" sz="4200" b="1" i="1" smtClean="0">
                          <a:latin typeface="Cambria Math" panose="02040503050406030204" pitchFamily="18" charset="0"/>
                        </a:rPr>
                        <m:t>=</m:t>
                      </m:r>
                      <m:r>
                        <a:rPr lang="mn-MN" sz="4200" b="1" i="1" smtClean="0">
                          <a:latin typeface="Cambria Math" panose="02040503050406030204" pitchFamily="18" charset="0"/>
                        </a:rPr>
                        <m:t>𝑷𝑽</m:t>
                      </m:r>
                      <m:sSup>
                        <m:sSupPr>
                          <m:ctrlPr>
                            <a:rPr lang="en-US" sz="4200" b="1" i="1">
                              <a:latin typeface="Cambria Math" panose="02040503050406030204" pitchFamily="18" charset="0"/>
                            </a:rPr>
                          </m:ctrlPr>
                        </m:sSupPr>
                        <m:e>
                          <m:r>
                            <a:rPr lang="mn-MN" sz="4200" b="1" i="1">
                              <a:latin typeface="Cambria Math" panose="02040503050406030204" pitchFamily="18" charset="0"/>
                            </a:rPr>
                            <m:t>(</m:t>
                          </m:r>
                          <m:r>
                            <a:rPr lang="mn-MN" sz="4200" b="1" i="1">
                              <a:latin typeface="Cambria Math" panose="02040503050406030204" pitchFamily="18" charset="0"/>
                            </a:rPr>
                            <m:t>𝟏</m:t>
                          </m:r>
                          <m:r>
                            <a:rPr lang="mn-MN" sz="4200" b="1" i="1">
                              <a:latin typeface="Cambria Math" panose="02040503050406030204" pitchFamily="18" charset="0"/>
                            </a:rPr>
                            <m:t>+</m:t>
                          </m:r>
                          <m:r>
                            <a:rPr lang="mn-MN" sz="4200" b="1" i="1">
                              <a:latin typeface="Cambria Math" panose="02040503050406030204" pitchFamily="18" charset="0"/>
                            </a:rPr>
                            <m:t>𝒊</m:t>
                          </m:r>
                          <m:r>
                            <a:rPr lang="mn-MN" sz="4200" b="1" i="1">
                              <a:latin typeface="Cambria Math" panose="02040503050406030204" pitchFamily="18" charset="0"/>
                            </a:rPr>
                            <m:t>)</m:t>
                          </m:r>
                        </m:e>
                        <m:sup>
                          <m:r>
                            <a:rPr lang="mn-MN" sz="4200" b="1" i="1">
                              <a:latin typeface="Cambria Math" panose="02040503050406030204" pitchFamily="18" charset="0"/>
                            </a:rPr>
                            <m:t>𝑵</m:t>
                          </m:r>
                        </m:sup>
                      </m:sSup>
                    </m:oMath>
                  </m:oMathPara>
                </a14:m>
                <a:endParaRPr lang="en-US" sz="4200" b="1"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p>
                        <m:sSupPr>
                          <m:ctrlPr>
                            <a:rPr lang="en-US" sz="4200" b="1" i="1">
                              <a:latin typeface="Cambria Math" panose="02040503050406030204" pitchFamily="18" charset="0"/>
                            </a:rPr>
                          </m:ctrlPr>
                        </m:sSupPr>
                        <m:e>
                          <m:d>
                            <m:dPr>
                              <m:ctrlPr>
                                <a:rPr lang="en-US" sz="4200" b="1" i="1">
                                  <a:latin typeface="Cambria Math" panose="02040503050406030204" pitchFamily="18" charset="0"/>
                                </a:rPr>
                              </m:ctrlPr>
                            </m:dPr>
                            <m:e>
                              <m:r>
                                <a:rPr lang="en-US" sz="4200" b="1" i="1">
                                  <a:latin typeface="Cambria Math" panose="02040503050406030204" pitchFamily="18" charset="0"/>
                                </a:rPr>
                                <m:t>𝟏</m:t>
                              </m:r>
                              <m:r>
                                <a:rPr lang="en-US" sz="4200" b="1" i="1">
                                  <a:latin typeface="Cambria Math" panose="02040503050406030204" pitchFamily="18" charset="0"/>
                                </a:rPr>
                                <m:t>+</m:t>
                              </m:r>
                              <m:r>
                                <a:rPr lang="en-US" sz="4200" b="1" i="1">
                                  <a:latin typeface="Cambria Math" panose="02040503050406030204" pitchFamily="18" charset="0"/>
                                </a:rPr>
                                <m:t>𝒊</m:t>
                              </m:r>
                            </m:e>
                          </m:d>
                        </m:e>
                        <m:sup>
                          <m:r>
                            <a:rPr lang="en-US" sz="4200" b="1" i="1">
                              <a:latin typeface="Cambria Math" panose="02040503050406030204" pitchFamily="18" charset="0"/>
                            </a:rPr>
                            <m:t>𝑵</m:t>
                          </m:r>
                        </m:sup>
                      </m:sSup>
                      <m:r>
                        <a:rPr lang="en-US" sz="4200" b="1" i="1">
                          <a:latin typeface="Cambria Math" panose="02040503050406030204" pitchFamily="18" charset="0"/>
                        </a:rPr>
                        <m:t>=</m:t>
                      </m:r>
                      <m:d>
                        <m:dPr>
                          <m:ctrlPr>
                            <a:rPr lang="en-US" sz="4200" b="1" i="1">
                              <a:latin typeface="Cambria Math" panose="02040503050406030204" pitchFamily="18" charset="0"/>
                            </a:rPr>
                          </m:ctrlPr>
                        </m:dPr>
                        <m:e>
                          <m:f>
                            <m:fPr>
                              <m:type m:val="lin"/>
                              <m:ctrlPr>
                                <a:rPr lang="en-US" sz="4200" b="1" i="1">
                                  <a:latin typeface="Cambria Math" panose="02040503050406030204" pitchFamily="18" charset="0"/>
                                </a:rPr>
                              </m:ctrlPr>
                            </m:fPr>
                            <m:num>
                              <m:r>
                                <a:rPr lang="en-US" sz="4200" b="1" i="1">
                                  <a:latin typeface="Cambria Math" panose="02040503050406030204" pitchFamily="18" charset="0"/>
                                </a:rPr>
                                <m:t>𝑭</m:t>
                              </m:r>
                              <m:r>
                                <a:rPr lang="en-US" sz="4200" b="1" i="1" smtClean="0">
                                  <a:latin typeface="Cambria Math" panose="02040503050406030204" pitchFamily="18" charset="0"/>
                                </a:rPr>
                                <m:t>𝑽</m:t>
                              </m:r>
                            </m:num>
                            <m:den>
                              <m:r>
                                <a:rPr lang="en-US" sz="4200" b="1" i="1">
                                  <a:latin typeface="Cambria Math" panose="02040503050406030204" pitchFamily="18" charset="0"/>
                                </a:rPr>
                                <m:t>𝑷</m:t>
                              </m:r>
                              <m:r>
                                <a:rPr lang="en-US" sz="4200" b="1" i="1" smtClean="0">
                                  <a:latin typeface="Cambria Math" panose="02040503050406030204" pitchFamily="18" charset="0"/>
                                </a:rPr>
                                <m:t>𝑽</m:t>
                              </m:r>
                            </m:den>
                          </m:f>
                        </m:e>
                      </m:d>
                    </m:oMath>
                  </m:oMathPara>
                </a14:m>
                <a:endParaRPr lang="en-US" b="1"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mn-MN" sz="2800" dirty="0">
                    <a:solidFill>
                      <a:srgbClr val="002060"/>
                    </a:solidFill>
                    <a:latin typeface="Times New Roman" panose="02020603050405020304" pitchFamily="18" charset="0"/>
                    <a:cs typeface="Times New Roman" panose="02020603050405020304" pitchFamily="18" charset="0"/>
                  </a:rPr>
                  <a:t>Логарифм ашиглавал:</a:t>
                </a:r>
              </a:p>
              <a:p>
                <a:pPr marL="0" indent="0" algn="just">
                  <a:buNone/>
                </a:pPr>
                <a14:m>
                  <m:oMathPara xmlns:m="http://schemas.openxmlformats.org/officeDocument/2006/math">
                    <m:oMathParaPr>
                      <m:jc m:val="centerGroup"/>
                    </m:oMathParaPr>
                    <m:oMath xmlns:m="http://schemas.openxmlformats.org/officeDocument/2006/math">
                      <m:r>
                        <a:rPr lang="en-US" sz="4000" b="1" i="1">
                          <a:latin typeface="Cambria Math" panose="02040503050406030204" pitchFamily="18" charset="0"/>
                        </a:rPr>
                        <m:t>𝑵</m:t>
                      </m:r>
                      <m:r>
                        <a:rPr lang="en-US" sz="4000" b="1" i="1" cap="none" smtClean="0">
                          <a:latin typeface="Cambria Math" panose="02040503050406030204" pitchFamily="18" charset="0"/>
                        </a:rPr>
                        <m:t>𝐥𝐨𝐠</m:t>
                      </m:r>
                      <m:d>
                        <m:dPr>
                          <m:ctrlPr>
                            <a:rPr lang="en-US" sz="4000" b="1" i="1">
                              <a:latin typeface="Cambria Math" panose="02040503050406030204" pitchFamily="18" charset="0"/>
                            </a:rPr>
                          </m:ctrlPr>
                        </m:dPr>
                        <m:e>
                          <m:r>
                            <a:rPr lang="en-US" sz="4000" b="1" i="1">
                              <a:latin typeface="Cambria Math" panose="02040503050406030204" pitchFamily="18" charset="0"/>
                            </a:rPr>
                            <m:t>𝟏</m:t>
                          </m:r>
                          <m:r>
                            <a:rPr lang="en-US" sz="4000" b="1">
                              <a:latin typeface="Cambria Math" panose="02040503050406030204" pitchFamily="18" charset="0"/>
                            </a:rPr>
                            <m:t>+</m:t>
                          </m:r>
                          <m:r>
                            <a:rPr lang="en-US" sz="4000" b="1" i="1">
                              <a:latin typeface="Cambria Math" panose="02040503050406030204" pitchFamily="18" charset="0"/>
                            </a:rPr>
                            <m:t>𝒊</m:t>
                          </m:r>
                        </m:e>
                      </m:d>
                      <m:r>
                        <a:rPr lang="en-US" sz="4000" b="1">
                          <a:latin typeface="Cambria Math" panose="02040503050406030204" pitchFamily="18" charset="0"/>
                        </a:rPr>
                        <m:t>=</m:t>
                      </m:r>
                      <m:r>
                        <a:rPr lang="en-US" sz="4000" b="1" i="1" cap="none" smtClean="0">
                          <a:latin typeface="Cambria Math" panose="02040503050406030204" pitchFamily="18" charset="0"/>
                        </a:rPr>
                        <m:t>𝐥𝐨𝐠</m:t>
                      </m:r>
                      <m:d>
                        <m:dPr>
                          <m:ctrlPr>
                            <a:rPr lang="en-US" sz="4000" b="1" i="1">
                              <a:latin typeface="Cambria Math" panose="02040503050406030204" pitchFamily="18" charset="0"/>
                            </a:rPr>
                          </m:ctrlPr>
                        </m:dPr>
                        <m:e>
                          <m:f>
                            <m:fPr>
                              <m:type m:val="lin"/>
                              <m:ctrlPr>
                                <a:rPr lang="en-US" sz="4000" b="1" i="1">
                                  <a:latin typeface="Cambria Math" panose="02040503050406030204" pitchFamily="18" charset="0"/>
                                </a:rPr>
                              </m:ctrlPr>
                            </m:fPr>
                            <m:num>
                              <m:r>
                                <a:rPr lang="en-US" sz="4000" b="1" i="1">
                                  <a:latin typeface="Cambria Math" panose="02040503050406030204" pitchFamily="18" charset="0"/>
                                </a:rPr>
                                <m:t>𝑭</m:t>
                              </m:r>
                              <m:r>
                                <a:rPr lang="en-US" sz="4000" b="1" i="1" smtClean="0">
                                  <a:latin typeface="Cambria Math" panose="02040503050406030204" pitchFamily="18" charset="0"/>
                                </a:rPr>
                                <m:t>𝑽</m:t>
                              </m:r>
                            </m:num>
                            <m:den>
                              <m:r>
                                <a:rPr lang="en-US" sz="4000" b="1" i="1">
                                  <a:latin typeface="Cambria Math" panose="02040503050406030204" pitchFamily="18" charset="0"/>
                                </a:rPr>
                                <m:t>𝑷</m:t>
                              </m:r>
                            </m:den>
                          </m:f>
                          <m:r>
                            <a:rPr lang="en-US" sz="4000" b="1" i="1" smtClean="0">
                              <a:latin typeface="Cambria Math" panose="02040503050406030204" pitchFamily="18" charset="0"/>
                            </a:rPr>
                            <m:t>𝑽</m:t>
                          </m:r>
                        </m:e>
                      </m:d>
                    </m:oMath>
                  </m:oMathPara>
                </a14:m>
                <a:endParaRPr lang="en-US" b="1" dirty="0">
                  <a:latin typeface="Times New Roman" panose="02020603050405020304" pitchFamily="18" charset="0"/>
                  <a:cs typeface="Times New Roman" panose="02020603050405020304" pitchFamily="18" charset="0"/>
                </a:endParaRPr>
              </a:p>
              <a:p>
                <a:pPr marL="0" indent="0" algn="just">
                  <a:buNone/>
                </a:pPr>
                <a:endParaRPr lang="mn-MN" dirty="0">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a:rPr lang="mn-MN" sz="6500" b="1" i="1" smtClean="0">
                          <a:solidFill>
                            <a:srgbClr val="FF0000"/>
                          </a:solidFill>
                          <a:latin typeface="Cambria Math" panose="02040503050406030204" pitchFamily="18" charset="0"/>
                        </a:rPr>
                        <m:t>𝑵</m:t>
                      </m:r>
                      <m:r>
                        <a:rPr lang="mn-MN" sz="6500" b="1" i="1" smtClean="0">
                          <a:solidFill>
                            <a:srgbClr val="FF0000"/>
                          </a:solidFill>
                          <a:latin typeface="Cambria Math" panose="02040503050406030204" pitchFamily="18" charset="0"/>
                        </a:rPr>
                        <m:t>=</m:t>
                      </m:r>
                      <m:f>
                        <m:fPr>
                          <m:ctrlPr>
                            <a:rPr lang="en-US" sz="6500" b="1" i="1">
                              <a:solidFill>
                                <a:srgbClr val="FF0000"/>
                              </a:solidFill>
                              <a:latin typeface="Cambria Math" panose="02040503050406030204" pitchFamily="18" charset="0"/>
                            </a:rPr>
                          </m:ctrlPr>
                        </m:fPr>
                        <m:num>
                          <m:r>
                            <a:rPr lang="mn-MN" sz="6500" b="1" i="1" cap="none" smtClean="0">
                              <a:solidFill>
                                <a:srgbClr val="FF0000"/>
                              </a:solidFill>
                              <a:latin typeface="Cambria Math" panose="02040503050406030204" pitchFamily="18" charset="0"/>
                            </a:rPr>
                            <m:t>𝐥𝐨𝐠</m:t>
                          </m:r>
                          <m:d>
                            <m:dPr>
                              <m:ctrlPr>
                                <a:rPr lang="en-US" sz="6500" b="1" i="1">
                                  <a:solidFill>
                                    <a:srgbClr val="FF0000"/>
                                  </a:solidFill>
                                  <a:latin typeface="Cambria Math" panose="02040503050406030204" pitchFamily="18" charset="0"/>
                                </a:rPr>
                              </m:ctrlPr>
                            </m:dPr>
                            <m:e>
                              <m:f>
                                <m:fPr>
                                  <m:type m:val="lin"/>
                                  <m:ctrlPr>
                                    <a:rPr lang="en-US" sz="6500" b="1" i="1">
                                      <a:solidFill>
                                        <a:srgbClr val="FF0000"/>
                                      </a:solidFill>
                                      <a:latin typeface="Cambria Math" panose="02040503050406030204" pitchFamily="18" charset="0"/>
                                    </a:rPr>
                                  </m:ctrlPr>
                                </m:fPr>
                                <m:num>
                                  <m:r>
                                    <a:rPr lang="mn-MN" sz="6500" b="1" i="1">
                                      <a:solidFill>
                                        <a:srgbClr val="FF0000"/>
                                      </a:solidFill>
                                      <a:latin typeface="Cambria Math" panose="02040503050406030204" pitchFamily="18" charset="0"/>
                                    </a:rPr>
                                    <m:t>𝑭</m:t>
                                  </m:r>
                                </m:num>
                                <m:den>
                                  <m:r>
                                    <a:rPr lang="mn-MN" sz="6500" b="1" i="1">
                                      <a:solidFill>
                                        <a:srgbClr val="FF0000"/>
                                      </a:solidFill>
                                      <a:latin typeface="Cambria Math" panose="02040503050406030204" pitchFamily="18" charset="0"/>
                                    </a:rPr>
                                    <m:t>𝑷</m:t>
                                  </m:r>
                                </m:den>
                              </m:f>
                            </m:e>
                          </m:d>
                        </m:num>
                        <m:den>
                          <m:r>
                            <a:rPr lang="mn-MN" sz="6500" b="1" i="1" cap="none" smtClean="0">
                              <a:solidFill>
                                <a:srgbClr val="FF0000"/>
                              </a:solidFill>
                              <a:latin typeface="Cambria Math" panose="02040503050406030204" pitchFamily="18" charset="0"/>
                            </a:rPr>
                            <m:t>𝐥𝐨𝐠</m:t>
                          </m:r>
                          <m:d>
                            <m:dPr>
                              <m:ctrlPr>
                                <a:rPr lang="en-US" sz="6500" b="1" i="1">
                                  <a:solidFill>
                                    <a:srgbClr val="FF0000"/>
                                  </a:solidFill>
                                  <a:latin typeface="Cambria Math" panose="02040503050406030204" pitchFamily="18" charset="0"/>
                                </a:rPr>
                              </m:ctrlPr>
                            </m:dPr>
                            <m:e>
                              <m:r>
                                <a:rPr lang="mn-MN" sz="6500" b="1" i="1">
                                  <a:solidFill>
                                    <a:srgbClr val="FF0000"/>
                                  </a:solidFill>
                                  <a:latin typeface="Cambria Math" panose="02040503050406030204" pitchFamily="18" charset="0"/>
                                </a:rPr>
                                <m:t>𝟏</m:t>
                              </m:r>
                              <m:r>
                                <a:rPr lang="mn-MN" sz="6500" b="1" i="1">
                                  <a:solidFill>
                                    <a:srgbClr val="FF0000"/>
                                  </a:solidFill>
                                  <a:latin typeface="Cambria Math" panose="02040503050406030204" pitchFamily="18" charset="0"/>
                                </a:rPr>
                                <m:t>+</m:t>
                              </m:r>
                              <m:r>
                                <a:rPr lang="mn-MN" sz="6500" b="1" i="1">
                                  <a:solidFill>
                                    <a:srgbClr val="FF0000"/>
                                  </a:solidFill>
                                  <a:latin typeface="Cambria Math" panose="02040503050406030204" pitchFamily="18" charset="0"/>
                                </a:rPr>
                                <m:t>𝒊</m:t>
                              </m:r>
                            </m:e>
                          </m:d>
                        </m:den>
                      </m:f>
                    </m:oMath>
                  </m:oMathPara>
                </a14:m>
                <a:endParaRPr lang="mn-MN"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1F73E76-1503-5CDB-4263-CEAC5B98D9E4}"/>
                  </a:ext>
                </a:extLst>
              </p:cNvPr>
              <p:cNvSpPr>
                <a:spLocks noGrp="1" noRot="1" noChangeAspect="1" noMove="1" noResize="1" noEditPoints="1" noAdjustHandles="1" noChangeArrowheads="1" noChangeShapeType="1" noTextEdit="1"/>
              </p:cNvSpPr>
              <p:nvPr>
                <p:ph idx="1"/>
              </p:nvPr>
            </p:nvSpPr>
            <p:spPr>
              <a:xfrm>
                <a:off x="119270" y="1046921"/>
                <a:ext cx="11887200" cy="4823792"/>
              </a:xfrm>
              <a:blipFill>
                <a:blip r:embed="rId4"/>
                <a:stretch>
                  <a:fillRect l="-923" t="-2908" r="-923"/>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B1B305CE-392E-EEF2-E36C-71D13AB590E9}"/>
              </a:ext>
            </a:extLst>
          </p:cNvPr>
          <p:cNvSpPr/>
          <p:nvPr/>
        </p:nvSpPr>
        <p:spPr>
          <a:xfrm>
            <a:off x="3458817" y="3591339"/>
            <a:ext cx="5459895" cy="20380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192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67640" y="79545"/>
            <a:ext cx="11856720" cy="867549"/>
          </a:xfrm>
        </p:spPr>
        <p:txBody>
          <a:bodyPr>
            <a:noAutofit/>
          </a:bodyPr>
          <a:lstStyle/>
          <a:p>
            <a:pPr algn="just"/>
            <a:r>
              <a:rPr lang="mn-MN" sz="2800" b="1" dirty="0">
                <a:solidFill>
                  <a:srgbClr val="0000FF"/>
                </a:solidFill>
                <a:latin typeface="Times New Roman" panose="02020603050405020304" pitchFamily="18" charset="0"/>
                <a:cs typeface="Times New Roman" panose="02020603050405020304" pitchFamily="18" charset="0"/>
              </a:rPr>
              <a:t>Үе тутмын тэнцүү төлбөр (Аннуити), түүний өнөөгийн ба ирээдүйн үнэ цэнийн хоорондох холбоо </a:t>
            </a:r>
            <a:endParaRPr lang="en-US" sz="28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67639" y="947094"/>
                <a:ext cx="11856720" cy="1053985"/>
              </a:xfrm>
            </p:spPr>
            <p:txBody>
              <a:bodyPr>
                <a:normAutofit fontScale="92500" lnSpcReduction="10000"/>
              </a:bodyPr>
              <a:lstStyle/>
              <a:p>
                <a:pPr marL="0" indent="0" algn="just">
                  <a:spcBef>
                    <a:spcPts val="0"/>
                  </a:spcBef>
                  <a:buNone/>
                </a:pPr>
                <a:r>
                  <a:rPr lang="mn-MN" dirty="0">
                    <a:solidFill>
                      <a:srgbClr val="002060"/>
                    </a:solidFill>
                    <a:latin typeface="Times New Roman" panose="02020603050405020304" pitchFamily="18" charset="0"/>
                    <a:cs typeface="Times New Roman" panose="02020603050405020304" pitchFamily="18" charset="0"/>
                  </a:rPr>
                  <a:t>Доорх зурагт нэгж хугацаанд </a:t>
                </a:r>
                <a14:m>
                  <m:oMath xmlns:m="http://schemas.openxmlformats.org/officeDocument/2006/math">
                    <m:r>
                      <a:rPr lang="en-US" i="1" dirty="0" smtClean="0">
                        <a:solidFill>
                          <a:srgbClr val="002060"/>
                        </a:solidFill>
                        <a:latin typeface="Cambria Math" panose="02040503050406030204" pitchFamily="18" charset="0"/>
                      </a:rPr>
                      <m:t>𝑖</m:t>
                    </m:r>
                    <m:r>
                      <a:rPr lang="en-US" i="1" dirty="0" smtClean="0">
                        <a:solidFill>
                          <a:srgbClr val="002060"/>
                        </a:solidFill>
                        <a:latin typeface="Cambria Math" panose="02040503050406030204" pitchFamily="18" charset="0"/>
                      </a:rPr>
                      <m:t>%</m:t>
                    </m:r>
                  </m:oMath>
                </a14:m>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ийн хүүтэй, </a:t>
                </a:r>
                <a14:m>
                  <m:oMath xmlns:m="http://schemas.openxmlformats.org/officeDocument/2006/math">
                    <m:r>
                      <a:rPr lang="en-US" i="1" dirty="0" smtClean="0">
                        <a:solidFill>
                          <a:srgbClr val="002060"/>
                        </a:solidFill>
                        <a:latin typeface="Cambria Math" panose="02040503050406030204" pitchFamily="18" charset="0"/>
                      </a:rPr>
                      <m:t>𝑁</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үеийн үе бүрийн эцэст тэнцүү хэмжээтэй </a:t>
                </a:r>
                <a14:m>
                  <m:oMath xmlns:m="http://schemas.openxmlformats.org/officeDocument/2006/math">
                    <m:r>
                      <a:rPr lang="en-US" i="1" dirty="0" smtClean="0">
                        <a:solidFill>
                          <a:srgbClr val="002060"/>
                        </a:solidFill>
                        <a:latin typeface="Cambria Math" panose="02040503050406030204" pitchFamily="18" charset="0"/>
                      </a:rPr>
                      <m:t>𝐴</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дүнтэй төлөлт хийгдэж байх үе тутмын тэнцүү төлбөрийн мөнгөн урсгалын диаграмыг харуулав.</a:t>
                </a:r>
                <a:endParaRPr lang="en-US"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67639" y="947094"/>
                <a:ext cx="11856720" cy="1053985"/>
              </a:xfrm>
              <a:blipFill>
                <a:blip r:embed="rId3"/>
                <a:stretch>
                  <a:fillRect l="-874" t="-12717" r="-925" b="-1387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E6E98C2-9BDC-9138-31E0-DEDB79D0D49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723861" y="1601532"/>
            <a:ext cx="8468139" cy="4640242"/>
          </a:xfrm>
          <a:prstGeom prst="rect">
            <a:avLst/>
          </a:prstGeom>
        </p:spPr>
      </p:pic>
      <p:sp>
        <p:nvSpPr>
          <p:cNvPr id="7" name="TextBox 6">
            <a:extLst>
              <a:ext uri="{FF2B5EF4-FFF2-40B4-BE49-F238E27FC236}">
                <a16:creationId xmlns:a16="http://schemas.microsoft.com/office/drawing/2014/main" id="{0EA27586-6743-E684-9125-6E99A9D89776}"/>
              </a:ext>
            </a:extLst>
          </p:cNvPr>
          <p:cNvSpPr txBox="1"/>
          <p:nvPr/>
        </p:nvSpPr>
        <p:spPr>
          <a:xfrm>
            <a:off x="167639" y="2061747"/>
            <a:ext cx="3967038" cy="3582519"/>
          </a:xfrm>
          <a:prstGeom prst="rect">
            <a:avLst/>
          </a:prstGeom>
          <a:solidFill>
            <a:schemeClr val="accent4">
              <a:lumMod val="20000"/>
              <a:lumOff val="80000"/>
            </a:schemeClr>
          </a:solidFill>
        </p:spPr>
        <p:txBody>
          <a:bodyPr wrap="square">
            <a:spAutoFit/>
          </a:bodyPr>
          <a:lstStyle/>
          <a:p>
            <a:pPr>
              <a:lnSpc>
                <a:spcPct val="90000"/>
              </a:lnSpc>
            </a:pPr>
            <a:r>
              <a:rPr lang="mn-MN" sz="2800" dirty="0">
                <a:solidFill>
                  <a:srgbClr val="002060"/>
                </a:solidFill>
                <a:latin typeface="Times New Roman" panose="02020603050405020304" pitchFamily="18" charset="0"/>
                <a:cs typeface="Times New Roman" panose="02020603050405020304" pitchFamily="18" charset="0"/>
              </a:rPr>
              <a:t>Тогтмол хугацаанд, түүний ижил үе тутмын төгсгөлд дэс дараалан тэнцүү хэмжээтэй хийх өсөн нэмэгдэх төлбөрийг Энгийн аннуити (</a:t>
            </a:r>
            <a:r>
              <a:rPr lang="en-US" sz="2800" dirty="0">
                <a:solidFill>
                  <a:srgbClr val="002060"/>
                </a:solidFill>
                <a:latin typeface="Times New Roman" panose="02020603050405020304" pitchFamily="18" charset="0"/>
                <a:cs typeface="Times New Roman" panose="02020603050405020304" pitchFamily="18" charset="0"/>
              </a:rPr>
              <a:t>Ordinary (Deferred) Annuity) </a:t>
            </a:r>
            <a:r>
              <a:rPr lang="mn-MN" sz="2800" dirty="0">
                <a:solidFill>
                  <a:srgbClr val="002060"/>
                </a:solidFill>
                <a:latin typeface="Times New Roman" panose="02020603050405020304" pitchFamily="18" charset="0"/>
                <a:cs typeface="Times New Roman" panose="02020603050405020304" pitchFamily="18" charset="0"/>
              </a:rPr>
              <a:t>гэж нэрлэдэг. </a:t>
            </a:r>
          </a:p>
        </p:txBody>
      </p:sp>
    </p:spTree>
    <p:extLst>
      <p:ext uri="{BB962C8B-B14F-4D97-AF65-F5344CB8AC3E}">
        <p14:creationId xmlns:p14="http://schemas.microsoft.com/office/powerpoint/2010/main" val="3833671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0" y="91441"/>
            <a:ext cx="11978640" cy="822960"/>
          </a:xfrm>
        </p:spPr>
        <p:txBody>
          <a:bodyPr>
            <a:noAutofit/>
          </a:bodyPr>
          <a:lstStyle/>
          <a:p>
            <a:pPr algn="just"/>
            <a:r>
              <a:rPr lang="mn-MN" sz="320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 </a:t>
            </a:r>
            <a:endParaRPr lang="en-US" sz="32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0" y="914401"/>
                <a:ext cx="11978640" cy="5592416"/>
              </a:xfrm>
            </p:spPr>
            <p:txBody>
              <a:bodyPr>
                <a:noAutofit/>
              </a:bodyPr>
              <a:lstStyle/>
              <a:p>
                <a:pPr algn="just"/>
                <a:r>
                  <a:rPr lang="mn-MN" sz="4000" dirty="0">
                    <a:solidFill>
                      <a:srgbClr val="002060"/>
                    </a:solidFill>
                    <a:latin typeface="Times New Roman" panose="02020603050405020304" pitchFamily="18" charset="0"/>
                    <a:cs typeface="Times New Roman" panose="02020603050405020304" pitchFamily="18" charset="0"/>
                  </a:rPr>
                  <a:t>Томъёо, хүснэгтүүдийг тухайн үе бүрийн төгсгөлд </a:t>
                </a:r>
                <a14:m>
                  <m:oMath xmlns:m="http://schemas.openxmlformats.org/officeDocument/2006/math">
                    <m:r>
                      <a:rPr lang="en-US" sz="4000" b="0" i="1" smtClean="0">
                        <a:solidFill>
                          <a:srgbClr val="002060"/>
                        </a:solidFill>
                        <a:latin typeface="Cambria Math" panose="02040503050406030204" pitchFamily="18" charset="0"/>
                      </a:rPr>
                      <m:t>𝐴</m:t>
                    </m:r>
                  </m:oMath>
                </a14:m>
                <a:r>
                  <a:rPr lang="mn-MN" sz="4000" dirty="0">
                    <a:solidFill>
                      <a:srgbClr val="002060"/>
                    </a:solidFill>
                    <a:latin typeface="Times New Roman" panose="02020603050405020304" pitchFamily="18" charset="0"/>
                    <a:cs typeface="Times New Roman" panose="02020603050405020304" pitchFamily="18" charset="0"/>
                  </a:rPr>
                  <a:t> мөнгөн дүнтэй төлөлт тохиолдож байхаар гарган авсан. </a:t>
                </a:r>
              </a:p>
              <a:p>
                <a:pPr lvl="1" algn="just"/>
                <a14:m>
                  <m:oMath xmlns:m="http://schemas.openxmlformats.org/officeDocument/2006/math">
                    <m:r>
                      <a:rPr lang="en-US" sz="3600" b="1" i="1" dirty="0" smtClean="0">
                        <a:solidFill>
                          <a:srgbClr val="002060"/>
                        </a:solidFill>
                        <a:latin typeface="Cambria Math" panose="02040503050406030204" pitchFamily="18" charset="0"/>
                      </a:rPr>
                      <m:t>𝑷</m:t>
                    </m:r>
                  </m:oMath>
                </a14:m>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өнөөгийн эквивалент үнэ цэн) </a:t>
                </a:r>
                <a:r>
                  <a:rPr lang="mn-MN" sz="3600" dirty="0">
                    <a:solidFill>
                      <a:srgbClr val="002060"/>
                    </a:solidFill>
                    <a:latin typeface="Times New Roman" panose="02020603050405020304" pitchFamily="18" charset="0"/>
                    <a:cs typeface="Times New Roman" panose="02020603050405020304" pitchFamily="18" charset="0"/>
                  </a:rPr>
                  <a:t>нь эхний </a:t>
                </a:r>
                <a14:m>
                  <m:oMath xmlns:m="http://schemas.openxmlformats.org/officeDocument/2006/math">
                    <m:r>
                      <a:rPr lang="en-US" sz="3600" b="1" i="1">
                        <a:solidFill>
                          <a:srgbClr val="002060"/>
                        </a:solidFill>
                        <a:latin typeface="Cambria Math" panose="02040503050406030204" pitchFamily="18" charset="0"/>
                      </a:rPr>
                      <m:t>𝑨</m:t>
                    </m:r>
                  </m:oMath>
                </a14:m>
                <a:r>
                  <a:rPr lang="mn-MN" sz="3600" dirty="0">
                    <a:solidFill>
                      <a:srgbClr val="002060"/>
                    </a:solidFill>
                    <a:latin typeface="Times New Roman" panose="02020603050405020304" pitchFamily="18" charset="0"/>
                    <a:cs typeface="Times New Roman" panose="02020603050405020304" pitchFamily="18" charset="0"/>
                  </a:rPr>
                  <a:t> (үе тутмын тэнцүү төлбөр) –н өмнөх үед хийгдэх төлбөр,</a:t>
                </a:r>
              </a:p>
              <a:p>
                <a:pPr lvl="1" algn="just"/>
                <a14:m>
                  <m:oMath xmlns:m="http://schemas.openxmlformats.org/officeDocument/2006/math">
                    <m:r>
                      <a:rPr lang="en-US" sz="3600" b="1" i="1" dirty="0" smtClean="0">
                        <a:solidFill>
                          <a:srgbClr val="002060"/>
                        </a:solidFill>
                        <a:latin typeface="Cambria Math" panose="02040503050406030204" pitchFamily="18" charset="0"/>
                      </a:rPr>
                      <m:t>𝑭</m:t>
                    </m:r>
                  </m:oMath>
                </a14:m>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ирээдүйн эквивалент үнэ цэн)</a:t>
                </a:r>
                <a:r>
                  <a:rPr lang="mn-MN" sz="3600" dirty="0">
                    <a:solidFill>
                      <a:srgbClr val="002060"/>
                    </a:solidFill>
                    <a:latin typeface="Times New Roman" panose="02020603050405020304" pitchFamily="18" charset="0"/>
                    <a:cs typeface="Times New Roman" panose="02020603050405020304" pitchFamily="18" charset="0"/>
                  </a:rPr>
                  <a:t> нь </a:t>
                </a:r>
                <a14:m>
                  <m:oMath xmlns:m="http://schemas.openxmlformats.org/officeDocument/2006/math">
                    <m:r>
                      <a:rPr lang="en-US" sz="3600" b="1" i="1" dirty="0" smtClean="0">
                        <a:solidFill>
                          <a:srgbClr val="002060"/>
                        </a:solidFill>
                        <a:latin typeface="Cambria Math" panose="02040503050406030204" pitchFamily="18" charset="0"/>
                      </a:rPr>
                      <m:t>𝑷</m:t>
                    </m:r>
                  </m:oMath>
                </a14:m>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ын дараах </a:t>
                </a:r>
                <a14:m>
                  <m:oMath xmlns:m="http://schemas.openxmlformats.org/officeDocument/2006/math">
                    <m:r>
                      <a:rPr lang="en-US" sz="3600" b="1" i="1" dirty="0" smtClean="0">
                        <a:solidFill>
                          <a:srgbClr val="002060"/>
                        </a:solidFill>
                        <a:latin typeface="Cambria Math" panose="02040503050406030204" pitchFamily="18" charset="0"/>
                      </a:rPr>
                      <m:t>𝑵</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үед, сүүлийн </a:t>
                </a:r>
                <a14:m>
                  <m:oMath xmlns:m="http://schemas.openxmlformats.org/officeDocument/2006/math">
                    <m:r>
                      <a:rPr lang="en-US" sz="3600" b="1" i="1" dirty="0" smtClean="0">
                        <a:solidFill>
                          <a:srgbClr val="002060"/>
                        </a:solidFill>
                        <a:latin typeface="Cambria Math" panose="02040503050406030204" pitchFamily="18" charset="0"/>
                      </a:rPr>
                      <m:t>𝑨</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тай нэг ижил хугацаанд хийгдэх төлбөр,</a:t>
                </a:r>
              </a:p>
              <a:p>
                <a:pPr lvl="1" algn="just"/>
                <a14:m>
                  <m:oMath xmlns:m="http://schemas.openxmlformats.org/officeDocument/2006/math">
                    <m:r>
                      <a:rPr lang="en-US" sz="3600" b="1" i="1" smtClean="0">
                        <a:solidFill>
                          <a:srgbClr val="002060"/>
                        </a:solidFill>
                        <a:latin typeface="Cambria Math" panose="02040503050406030204" pitchFamily="18" charset="0"/>
                      </a:rPr>
                      <m:t>𝑨</m:t>
                    </m:r>
                  </m:oMath>
                </a14:m>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жилийн эквивалент үнэ цэн) </a:t>
                </a:r>
                <a:r>
                  <a:rPr lang="mn-MN" sz="3600" dirty="0">
                    <a:solidFill>
                      <a:srgbClr val="002060"/>
                    </a:solidFill>
                    <a:latin typeface="Times New Roman" panose="02020603050405020304" pitchFamily="18" charset="0"/>
                    <a:cs typeface="Times New Roman" panose="02020603050405020304" pitchFamily="18" charset="0"/>
                  </a:rPr>
                  <a:t>1-ээс </a:t>
                </a:r>
                <a14:m>
                  <m:oMath xmlns:m="http://schemas.openxmlformats.org/officeDocument/2006/math">
                    <m:r>
                      <a:rPr lang="en-US" sz="3600" b="1" i="1" dirty="0" smtClean="0">
                        <a:solidFill>
                          <a:srgbClr val="002060"/>
                        </a:solidFill>
                        <a:latin typeface="Cambria Math" panose="02040503050406030204" pitchFamily="18" charset="0"/>
                      </a:rPr>
                      <m:t>𝑵</m:t>
                    </m:r>
                  </m:oMath>
                </a14:m>
                <a:r>
                  <a:rPr lang="en-US" sz="3600" dirty="0">
                    <a:solidFill>
                      <a:srgbClr val="002060"/>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хүртэл ижил хугацаанд (үед) тэнцүү хэмжээтэй хийгдэх төлбөр.</a:t>
                </a:r>
                <a:endParaRPr lang="en-US" sz="40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0" y="914401"/>
                <a:ext cx="11978640" cy="5592416"/>
              </a:xfrm>
              <a:blipFill>
                <a:blip r:embed="rId3"/>
                <a:stretch>
                  <a:fillRect l="-1628" t="-3053" r="-1781" b="-436"/>
                </a:stretch>
              </a:blipFill>
            </p:spPr>
            <p:txBody>
              <a:bodyPr/>
              <a:lstStyle/>
              <a:p>
                <a:r>
                  <a:rPr lang="en-US">
                    <a:noFill/>
                  </a:rPr>
                  <a:t> </a:t>
                </a:r>
              </a:p>
            </p:txBody>
          </p:sp>
        </mc:Fallback>
      </mc:AlternateContent>
    </p:spTree>
    <p:extLst>
      <p:ext uri="{BB962C8B-B14F-4D97-AF65-F5344CB8AC3E}">
        <p14:creationId xmlns:p14="http://schemas.microsoft.com/office/powerpoint/2010/main" val="1482854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59024" y="163903"/>
                <a:ext cx="11797185" cy="883019"/>
              </a:xfrm>
            </p:spPr>
            <p:txBody>
              <a:bodyPr>
                <a:noAutofit/>
              </a:bodyPr>
              <a:lstStyle/>
              <a:p>
                <a:pPr algn="just"/>
                <a:r>
                  <a:rPr lang="mn-MN" sz="260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  </a:t>
                </a:r>
                <a14:m>
                  <m:oMath xmlns:m="http://schemas.openxmlformats.org/officeDocument/2006/math">
                    <m:r>
                      <a:rPr lang="mn-MN" sz="2600" b="1" i="1" dirty="0">
                        <a:solidFill>
                          <a:schemeClr val="accent2">
                            <a:lumMod val="75000"/>
                          </a:schemeClr>
                        </a:solidFill>
                        <a:latin typeface="Cambria Math" panose="02040503050406030204" pitchFamily="18" charset="0"/>
                      </a:rPr>
                      <m:t>𝑨</m:t>
                    </m:r>
                    <m:r>
                      <a:rPr lang="mn-MN" sz="2600" b="1" i="1" dirty="0">
                        <a:solidFill>
                          <a:schemeClr val="accent2">
                            <a:lumMod val="75000"/>
                          </a:schemeClr>
                        </a:solidFill>
                        <a:latin typeface="Cambria Math" panose="02040503050406030204" pitchFamily="18" charset="0"/>
                      </a:rPr>
                      <m:t> </m:t>
                    </m:r>
                  </m:oMath>
                </a14:m>
                <a:r>
                  <a:rPr lang="mn-MN" sz="26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600" b="1" i="1" smtClean="0">
                        <a:solidFill>
                          <a:schemeClr val="accent2">
                            <a:lumMod val="75000"/>
                          </a:schemeClr>
                        </a:solidFill>
                        <a:latin typeface="Cambria Math" panose="02040503050406030204" pitchFamily="18" charset="0"/>
                      </a:rPr>
                      <m:t>𝑭</m:t>
                    </m:r>
                  </m:oMath>
                </a14:m>
                <a:r>
                  <a:rPr lang="en-US" sz="2600" b="1" dirty="0">
                    <a:solidFill>
                      <a:schemeClr val="accent2">
                        <a:lumMod val="75000"/>
                      </a:schemeClr>
                    </a:solidFill>
                    <a:latin typeface="Times New Roman" panose="02020603050405020304" pitchFamily="18" charset="0"/>
                    <a:cs typeface="Times New Roman" panose="02020603050405020304" pitchFamily="18" charset="0"/>
                  </a:rPr>
                  <a:t> </a:t>
                </a:r>
                <a:r>
                  <a:rPr lang="mn-MN" sz="2600" b="1" dirty="0">
                    <a:solidFill>
                      <a:schemeClr val="accent2">
                        <a:lumMod val="75000"/>
                      </a:schemeClr>
                    </a:solidFill>
                    <a:latin typeface="Times New Roman" panose="02020603050405020304" pitchFamily="18" charset="0"/>
                    <a:cs typeface="Times New Roman" panose="02020603050405020304" pitchFamily="18" charset="0"/>
                  </a:rPr>
                  <a:t>-г олох </a:t>
                </a:r>
                <a:endParaRPr lang="en-US" sz="26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59024" y="163903"/>
                <a:ext cx="11797185" cy="883019"/>
              </a:xfrm>
              <a:blipFill>
                <a:blip r:embed="rId3"/>
                <a:stretch>
                  <a:fillRect l="-930" t="-6207" r="-930" b="-1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277918" y="1046923"/>
                <a:ext cx="11559395" cy="1491562"/>
              </a:xfrm>
            </p:spPr>
            <p:txBody>
              <a:bodyPr>
                <a:noAutofit/>
              </a:bodyPr>
              <a:lstStyle/>
              <a:p>
                <a:pPr algn="just">
                  <a:spcBef>
                    <a:spcPts val="0"/>
                  </a:spcBef>
                </a:pPr>
                <a:r>
                  <a:rPr lang="mn-MN" sz="2600" dirty="0">
                    <a:solidFill>
                      <a:srgbClr val="002060"/>
                    </a:solidFill>
                    <a:latin typeface="Times New Roman" panose="02020603050405020304" pitchFamily="18" charset="0"/>
                    <a:cs typeface="Times New Roman" panose="02020603050405020304" pitchFamily="18" charset="0"/>
                  </a:rPr>
                  <a:t>Хэрвээ </a:t>
                </a:r>
                <a14:m>
                  <m:oMath xmlns:m="http://schemas.openxmlformats.org/officeDocument/2006/math">
                    <m:r>
                      <a:rPr lang="en-US" sz="2600" b="1" i="1" dirty="0" smtClean="0">
                        <a:solidFill>
                          <a:srgbClr val="002060"/>
                        </a:solidFill>
                        <a:latin typeface="Cambria Math" panose="02040503050406030204" pitchFamily="18" charset="0"/>
                      </a:rPr>
                      <m:t>𝑨</m:t>
                    </m:r>
                  </m:oMath>
                </a14:m>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дүнтэй тогтмол мөнгөн урсгал </a:t>
                </a:r>
                <a14:m>
                  <m:oMath xmlns:m="http://schemas.openxmlformats.org/officeDocument/2006/math">
                    <m:r>
                      <a:rPr lang="en-US" sz="2600" b="1" i="1" dirty="0" smtClean="0">
                        <a:solidFill>
                          <a:srgbClr val="002060"/>
                        </a:solidFill>
                        <a:latin typeface="Cambria Math" panose="02040503050406030204" pitchFamily="18" charset="0"/>
                      </a:rPr>
                      <m:t>𝑵</m:t>
                    </m:r>
                  </m:oMath>
                </a14:m>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хугацааны үе бүрийн төгсгөлд хийгдэх ба </a:t>
                </a:r>
                <a14:m>
                  <m:oMath xmlns:m="http://schemas.openxmlformats.org/officeDocument/2006/math">
                    <m:r>
                      <a:rPr lang="en-US" sz="2600" b="1" i="1" dirty="0" smtClean="0">
                        <a:solidFill>
                          <a:srgbClr val="002060"/>
                        </a:solidFill>
                        <a:latin typeface="Cambria Math" panose="02040503050406030204" pitchFamily="18" charset="0"/>
                      </a:rPr>
                      <m:t>𝒊</m:t>
                    </m:r>
                    <m:r>
                      <a:rPr lang="en-US" sz="2600" b="1" i="1" dirty="0" smtClean="0">
                        <a:solidFill>
                          <a:srgbClr val="002060"/>
                        </a:solidFill>
                        <a:latin typeface="Cambria Math" panose="02040503050406030204" pitchFamily="18" charset="0"/>
                      </a:rPr>
                      <m:t>%</m:t>
                    </m:r>
                  </m:oMath>
                </a14:m>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нь тайлант үед харгалзах хүүний түвшин (ашиг, өсөлт) бол </a:t>
                </a:r>
                <a14:m>
                  <m:oMath xmlns:m="http://schemas.openxmlformats.org/officeDocument/2006/math">
                    <m:r>
                      <a:rPr lang="en-US" sz="2600" b="1" i="1" dirty="0" smtClean="0">
                        <a:solidFill>
                          <a:srgbClr val="002060"/>
                        </a:solidFill>
                        <a:latin typeface="Cambria Math" panose="02040503050406030204" pitchFamily="18" charset="0"/>
                      </a:rPr>
                      <m:t>𝑵</m:t>
                    </m:r>
                  </m:oMath>
                </a14:m>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дүгээр үеийн эцэс дэх ирээдүйн эквивалент үнэ цэнэ </a:t>
                </a:r>
                <a14:m>
                  <m:oMath xmlns:m="http://schemas.openxmlformats.org/officeDocument/2006/math">
                    <m:r>
                      <a:rPr lang="en-US" sz="2600" b="1" i="1" dirty="0" smtClean="0">
                        <a:solidFill>
                          <a:srgbClr val="002060"/>
                        </a:solidFill>
                        <a:latin typeface="Cambria Math" panose="02040503050406030204" pitchFamily="18" charset="0"/>
                      </a:rPr>
                      <m:t>𝑭</m:t>
                    </m:r>
                  </m:oMath>
                </a14:m>
                <a:r>
                  <a:rPr lang="en-US" sz="2600" dirty="0">
                    <a:solidFill>
                      <a:srgbClr val="002060"/>
                    </a:solidFill>
                    <a:latin typeface="Times New Roman" panose="02020603050405020304" pitchFamily="18" charset="0"/>
                    <a:cs typeface="Times New Roman" panose="02020603050405020304" pitchFamily="18" charset="0"/>
                  </a:rPr>
                  <a:t>-</a:t>
                </a:r>
                <a:r>
                  <a:rPr lang="mn-MN" sz="2600" dirty="0">
                    <a:solidFill>
                      <a:srgbClr val="002060"/>
                    </a:solidFill>
                    <a:latin typeface="Times New Roman" panose="02020603050405020304" pitchFamily="18" charset="0"/>
                    <a:cs typeface="Times New Roman" panose="02020603050405020304" pitchFamily="18" charset="0"/>
                  </a:rPr>
                  <a:t>г мөнгөн урсгал бүрийн ирээдүйн эквивалент үнэ цэнийг нэмэх замаар тодорхойлно:</a:t>
                </a:r>
                <a:endParaRPr lang="en-US" sz="2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277918" y="1046923"/>
                <a:ext cx="11559395" cy="1491562"/>
              </a:xfrm>
              <a:blipFill>
                <a:blip r:embed="rId4"/>
                <a:stretch>
                  <a:fillRect l="-844" t="-6557" r="-949" b="-122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597B290-F805-2866-164D-7F26A890C6CD}"/>
                  </a:ext>
                </a:extLst>
              </p:cNvPr>
              <p:cNvSpPr txBox="1"/>
              <p:nvPr/>
            </p:nvSpPr>
            <p:spPr>
              <a:xfrm>
                <a:off x="316302" y="2455584"/>
                <a:ext cx="11559395" cy="13443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𝐹</m:t>
                      </m:r>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d>
                        <m:dPr>
                          <m:ctrlPr>
                            <a:rPr lang="en-US" sz="2400" i="1">
                              <a:solidFill>
                                <a:srgbClr val="FF0000"/>
                              </a:solidFill>
                              <a:latin typeface="Cambria Math" panose="02040503050406030204" pitchFamily="18" charset="0"/>
                            </a:rPr>
                          </m:ctrlPr>
                        </m:dPr>
                        <m:e>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𝐹</m:t>
                              </m:r>
                            </m:num>
                            <m:den>
                              <m:r>
                                <a:rPr lang="en-US" sz="2400" i="1">
                                  <a:solidFill>
                                    <a:srgbClr val="FF0000"/>
                                  </a:solidFill>
                                  <a:latin typeface="Cambria Math" panose="02040503050406030204" pitchFamily="18" charset="0"/>
                                </a:rPr>
                                <m:t>𝑃</m:t>
                              </m:r>
                            </m:den>
                          </m:f>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𝑖</m:t>
                          </m:r>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−1</m:t>
                          </m:r>
                        </m:e>
                      </m:d>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d>
                        <m:dPr>
                          <m:ctrlPr>
                            <a:rPr lang="en-US" sz="2400" i="1">
                              <a:solidFill>
                                <a:srgbClr val="FF0000"/>
                              </a:solidFill>
                              <a:latin typeface="Cambria Math" panose="02040503050406030204" pitchFamily="18" charset="0"/>
                            </a:rPr>
                          </m:ctrlPr>
                        </m:dPr>
                        <m:e>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𝐹</m:t>
                              </m:r>
                            </m:num>
                            <m:den>
                              <m:r>
                                <a:rPr lang="en-US" sz="2400" i="1">
                                  <a:solidFill>
                                    <a:srgbClr val="FF0000"/>
                                  </a:solidFill>
                                  <a:latin typeface="Cambria Math" panose="02040503050406030204" pitchFamily="18" charset="0"/>
                                </a:rPr>
                                <m:t>𝑃</m:t>
                              </m:r>
                            </m:den>
                          </m:f>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𝑖</m:t>
                          </m:r>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−2</m:t>
                          </m:r>
                        </m:e>
                      </m:d>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d>
                        <m:dPr>
                          <m:ctrlPr>
                            <a:rPr lang="en-US" sz="2400" i="1">
                              <a:solidFill>
                                <a:srgbClr val="FF0000"/>
                              </a:solidFill>
                              <a:latin typeface="Cambria Math" panose="02040503050406030204" pitchFamily="18" charset="0"/>
                            </a:rPr>
                          </m:ctrlPr>
                        </m:dPr>
                        <m:e>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𝐹</m:t>
                              </m:r>
                            </m:num>
                            <m:den>
                              <m:r>
                                <a:rPr lang="en-US" sz="2400" i="1">
                                  <a:solidFill>
                                    <a:srgbClr val="FF0000"/>
                                  </a:solidFill>
                                  <a:latin typeface="Cambria Math" panose="02040503050406030204" pitchFamily="18" charset="0"/>
                                </a:rPr>
                                <m:t>𝑃</m:t>
                              </m:r>
                            </m:den>
                          </m:f>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𝑖</m:t>
                          </m:r>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−3</m:t>
                          </m:r>
                        </m:e>
                      </m:d>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d>
                        <m:dPr>
                          <m:ctrlPr>
                            <a:rPr lang="en-US" sz="2400" i="1" smtClean="0">
                              <a:solidFill>
                                <a:srgbClr val="FF0000"/>
                              </a:solidFill>
                              <a:latin typeface="Cambria Math" panose="02040503050406030204" pitchFamily="18" charset="0"/>
                            </a:rPr>
                          </m:ctrlPr>
                        </m:dPr>
                        <m:e>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𝐹</m:t>
                              </m:r>
                            </m:num>
                            <m:den>
                              <m:r>
                                <a:rPr lang="en-US" sz="2400" i="1">
                                  <a:solidFill>
                                    <a:srgbClr val="FF0000"/>
                                  </a:solidFill>
                                  <a:latin typeface="Cambria Math" panose="02040503050406030204" pitchFamily="18" charset="0"/>
                                </a:rPr>
                                <m:t>𝑃</m:t>
                              </m:r>
                            </m:den>
                          </m:f>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𝑖</m:t>
                          </m:r>
                          <m:r>
                            <a:rPr lang="en-US" sz="2400">
                              <a:solidFill>
                                <a:srgbClr val="FF0000"/>
                              </a:solidFill>
                              <a:latin typeface="Cambria Math" panose="02040503050406030204" pitchFamily="18" charset="0"/>
                            </a:rPr>
                            <m:t>%, 1</m:t>
                          </m:r>
                        </m:e>
                      </m:d>
                      <m:r>
                        <a:rPr lang="en-US" sz="2400">
                          <a:solidFill>
                            <a:srgbClr val="FF0000"/>
                          </a:solidFill>
                          <a:latin typeface="Cambria Math" panose="02040503050406030204" pitchFamily="18" charset="0"/>
                        </a:rPr>
                        <m:t>+</m:t>
                      </m:r>
                    </m:oMath>
                  </m:oMathPara>
                </a14:m>
                <a:endParaRPr lang="mn-MN" sz="2400" dirty="0">
                  <a:solidFill>
                    <a:srgbClr val="FF0000"/>
                  </a:solidFill>
                  <a:latin typeface="Cambria Math" panose="02040503050406030204" pitchFamily="18" charset="0"/>
                </a:endParaRPr>
              </a:p>
              <a:p>
                <a:r>
                  <a:rPr lang="mn-MN" sz="2400" dirty="0">
                    <a:solidFill>
                      <a:srgbClr val="FF0000"/>
                    </a:solidFill>
                  </a:rPr>
                  <a:t>+</a:t>
                </a:r>
                <a14:m>
                  <m:oMath xmlns:m="http://schemas.openxmlformats.org/officeDocument/2006/math">
                    <m:r>
                      <a:rPr lang="en-US" sz="2400" i="1">
                        <a:solidFill>
                          <a:srgbClr val="FF0000"/>
                        </a:solidFill>
                        <a:latin typeface="Cambria Math" panose="02040503050406030204" pitchFamily="18" charset="0"/>
                      </a:rPr>
                      <m:t>𝐴</m:t>
                    </m:r>
                    <m:d>
                      <m:dPr>
                        <m:ctrlPr>
                          <a:rPr lang="en-US" sz="2400" i="1" smtClean="0">
                            <a:solidFill>
                              <a:srgbClr val="FF0000"/>
                            </a:solidFill>
                            <a:latin typeface="Cambria Math" panose="02040503050406030204" pitchFamily="18" charset="0"/>
                          </a:rPr>
                        </m:ctrlPr>
                      </m:dPr>
                      <m:e>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𝐹</m:t>
                            </m:r>
                          </m:num>
                          <m:den>
                            <m:r>
                              <a:rPr lang="en-US" sz="2400" i="1">
                                <a:solidFill>
                                  <a:srgbClr val="FF0000"/>
                                </a:solidFill>
                                <a:latin typeface="Cambria Math" panose="02040503050406030204" pitchFamily="18" charset="0"/>
                              </a:rPr>
                              <m:t>𝑃</m:t>
                            </m:r>
                          </m:den>
                        </m:f>
                        <m:r>
                          <a:rPr lang="en-US" sz="2400">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𝑖</m:t>
                        </m:r>
                        <m:r>
                          <a:rPr lang="en-US" sz="2400">
                            <a:solidFill>
                              <a:srgbClr val="FF0000"/>
                            </a:solidFill>
                            <a:latin typeface="Cambria Math" panose="02040503050406030204" pitchFamily="18" charset="0"/>
                          </a:rPr>
                          <m:t>%, 0</m:t>
                        </m:r>
                      </m:e>
                    </m:d>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r>
                      <a:rPr lang="en-US" sz="240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d>
                          <m:dPr>
                            <m:ctrlPr>
                              <a:rPr lang="en-US" sz="2400" i="1">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𝑖</m:t>
                            </m:r>
                          </m:e>
                        </m:d>
                      </m:e>
                      <m:sup>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−1</m:t>
                        </m:r>
                      </m:sup>
                    </m:sSup>
                    <m:r>
                      <a:rPr lang="en-US" sz="240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d>
                          <m:dPr>
                            <m:ctrlPr>
                              <a:rPr lang="en-US" sz="2400" i="1">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𝑖</m:t>
                            </m:r>
                          </m:e>
                        </m:d>
                      </m:e>
                      <m:sup>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−2</m:t>
                        </m:r>
                      </m:sup>
                    </m:sSup>
                    <m:r>
                      <a:rPr lang="en-US" sz="240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d>
                          <m:dPr>
                            <m:ctrlPr>
                              <a:rPr lang="en-US" sz="2400" i="1">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𝑖</m:t>
                            </m:r>
                          </m:e>
                        </m:d>
                      </m:e>
                      <m:sup>
                        <m:r>
                          <a:rPr lang="en-US" sz="2400" i="1">
                            <a:solidFill>
                              <a:srgbClr val="FF0000"/>
                            </a:solidFill>
                            <a:latin typeface="Cambria Math" panose="02040503050406030204" pitchFamily="18" charset="0"/>
                          </a:rPr>
                          <m:t>𝑁</m:t>
                        </m:r>
                        <m:r>
                          <a:rPr lang="en-US" sz="2400">
                            <a:solidFill>
                              <a:srgbClr val="FF0000"/>
                            </a:solidFill>
                            <a:latin typeface="Cambria Math" panose="02040503050406030204" pitchFamily="18" charset="0"/>
                          </a:rPr>
                          <m:t>−3</m:t>
                        </m:r>
                      </m:sup>
                    </m:sSup>
                    <m:r>
                      <a:rPr lang="en-US" sz="240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d>
                          <m:dPr>
                            <m:ctrlPr>
                              <a:rPr lang="en-US" sz="2400" i="1">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𝑖</m:t>
                            </m:r>
                          </m:e>
                        </m:d>
                      </m:e>
                      <m:sup>
                        <m:r>
                          <a:rPr lang="en-US" sz="2400">
                            <a:solidFill>
                              <a:srgbClr val="FF0000"/>
                            </a:solidFill>
                            <a:latin typeface="Cambria Math" panose="02040503050406030204" pitchFamily="18" charset="0"/>
                          </a:rPr>
                          <m:t>1</m:t>
                        </m:r>
                      </m:sup>
                    </m:sSup>
                    <m:r>
                      <a:rPr lang="en-US" sz="240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d>
                          <m:dPr>
                            <m:ctrlPr>
                              <a:rPr lang="en-US" sz="2400" i="1">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𝑖</m:t>
                            </m:r>
                          </m:e>
                        </m:d>
                      </m:e>
                      <m:sup>
                        <m:r>
                          <a:rPr lang="en-US" sz="2400">
                            <a:solidFill>
                              <a:srgbClr val="FF0000"/>
                            </a:solidFill>
                            <a:latin typeface="Cambria Math" panose="02040503050406030204" pitchFamily="18" charset="0"/>
                          </a:rPr>
                          <m:t>0</m:t>
                        </m:r>
                      </m:sup>
                    </m:sSup>
                  </m:oMath>
                </a14:m>
                <a:endParaRPr lang="en-US" sz="22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1597B290-F805-2866-164D-7F26A890C6CD}"/>
                  </a:ext>
                </a:extLst>
              </p:cNvPr>
              <p:cNvSpPr txBox="1">
                <a:spLocks noRot="1" noChangeAspect="1" noMove="1" noResize="1" noEditPoints="1" noAdjustHandles="1" noChangeArrowheads="1" noChangeShapeType="1" noTextEdit="1"/>
              </p:cNvSpPr>
              <p:nvPr/>
            </p:nvSpPr>
            <p:spPr>
              <a:xfrm>
                <a:off x="316302" y="2455584"/>
                <a:ext cx="11559395" cy="1344342"/>
              </a:xfrm>
              <a:prstGeom prst="rect">
                <a:avLst/>
              </a:prstGeom>
              <a:blipFill>
                <a:blip r:embed="rId5"/>
                <a:stretch>
                  <a:fillRect l="-844" b="-3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3">
                <a:extLst>
                  <a:ext uri="{FF2B5EF4-FFF2-40B4-BE49-F238E27FC236}">
                    <a16:creationId xmlns:a16="http://schemas.microsoft.com/office/drawing/2014/main" id="{53662D79-A9EC-427B-A5AC-A01500F93A9A}"/>
                  </a:ext>
                </a:extLst>
              </p:cNvPr>
              <p:cNvSpPr txBox="1">
                <a:spLocks/>
              </p:cNvSpPr>
              <p:nvPr/>
            </p:nvSpPr>
            <p:spPr>
              <a:xfrm>
                <a:off x="159024" y="3770001"/>
                <a:ext cx="11940211" cy="247177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mn-MN" sz="3200" dirty="0">
                    <a:solidFill>
                      <a:srgbClr val="002060"/>
                    </a:solidFill>
                    <a:latin typeface="Times New Roman" panose="02020603050405020304" pitchFamily="18" charset="0"/>
                    <a:cs typeface="Times New Roman" panose="02020603050405020304" pitchFamily="18" charset="0"/>
                  </a:rPr>
                  <a:t>Хаалтад байгаа гишүүд </a:t>
                </a:r>
                <a14:m>
                  <m:oMath xmlns:m="http://schemas.openxmlformats.org/officeDocument/2006/math">
                    <m:sSup>
                      <m:sSupPr>
                        <m:ctrlPr>
                          <a:rPr lang="en-US" sz="3600" i="1" smtClean="0">
                            <a:solidFill>
                              <a:srgbClr val="FF0000"/>
                            </a:solidFill>
                            <a:latin typeface="Cambria Math" panose="02040503050406030204" pitchFamily="18" charset="0"/>
                          </a:rPr>
                        </m:ctrlPr>
                      </m:sSupPr>
                      <m:e>
                        <m:d>
                          <m:dPr>
                            <m:ctrlPr>
                              <a:rPr lang="en-US" sz="3600" i="1">
                                <a:solidFill>
                                  <a:srgbClr val="FF0000"/>
                                </a:solidFill>
                                <a:latin typeface="Cambria Math" panose="02040503050406030204" pitchFamily="18" charset="0"/>
                              </a:rPr>
                            </m:ctrlPr>
                          </m:dPr>
                          <m:e>
                            <m:r>
                              <a:rPr lang="en-US" sz="3600">
                                <a:solidFill>
                                  <a:srgbClr val="FF0000"/>
                                </a:solidFill>
                                <a:latin typeface="Cambria Math" panose="02040503050406030204" pitchFamily="18" charset="0"/>
                              </a:rPr>
                              <m:t>1+</m:t>
                            </m:r>
                            <m:r>
                              <a:rPr lang="en-US" sz="3600" i="1">
                                <a:solidFill>
                                  <a:srgbClr val="FF0000"/>
                                </a:solidFill>
                                <a:latin typeface="Cambria Math" panose="02040503050406030204" pitchFamily="18" charset="0"/>
                              </a:rPr>
                              <m:t>𝑖</m:t>
                            </m:r>
                          </m:e>
                        </m:d>
                      </m:e>
                      <m:sup>
                        <m:r>
                          <a:rPr lang="en-US" sz="3600">
                            <a:solidFill>
                              <a:srgbClr val="FF0000"/>
                            </a:solidFill>
                            <a:latin typeface="Cambria Math" panose="02040503050406030204" pitchFamily="18" charset="0"/>
                          </a:rPr>
                          <m:t>−</m:t>
                        </m:r>
                        <m:r>
                          <a:rPr lang="en-US" sz="3600" i="1" smtClean="0">
                            <a:solidFill>
                              <a:srgbClr val="FF0000"/>
                            </a:solidFill>
                            <a:latin typeface="Cambria Math" panose="02040503050406030204" pitchFamily="18" charset="0"/>
                          </a:rPr>
                          <m:t>1</m:t>
                        </m:r>
                      </m:sup>
                    </m:sSup>
                  </m:oMath>
                </a14:m>
                <a:r>
                  <a:rPr lang="en-US" sz="3200" dirty="0">
                    <a:solidFill>
                      <a:srgbClr val="FF000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гэсэн ерөнхий харьцаатай геометр цувааг харуулна.</a:t>
                </a:r>
              </a:p>
              <a:p>
                <a:pPr marL="344488" lvl="1" indent="-225425" algn="just"/>
                <a:r>
                  <a:rPr lang="mn-MN" sz="2800" dirty="0">
                    <a:solidFill>
                      <a:srgbClr val="002060"/>
                    </a:solidFill>
                    <a:latin typeface="Times New Roman" panose="02020603050405020304" pitchFamily="18" charset="0"/>
                    <a:cs typeface="Times New Roman" panose="02020603050405020304" pitchFamily="18" charset="0"/>
                  </a:rPr>
                  <a:t>Геометр цувааны эхний </a:t>
                </a:r>
                <a14:m>
                  <m:oMath xmlns:m="http://schemas.openxmlformats.org/officeDocument/2006/math">
                    <m:r>
                      <a:rPr lang="en-US" sz="2800" i="1" dirty="0" smtClean="0">
                        <a:solidFill>
                          <a:srgbClr val="002060"/>
                        </a:solidFill>
                        <a:latin typeface="Cambria Math" panose="02040503050406030204" pitchFamily="18" charset="0"/>
                      </a:rPr>
                      <m:t>𝑁</m:t>
                    </m:r>
                  </m:oMath>
                </a14:m>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гишүүдийн нийлбэр:</a:t>
                </a:r>
              </a:p>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4800" i="1" smtClean="0">
                              <a:solidFill>
                                <a:srgbClr val="FF0000"/>
                              </a:solidFill>
                              <a:latin typeface="Cambria Math" panose="02040503050406030204" pitchFamily="18" charset="0"/>
                            </a:rPr>
                          </m:ctrlPr>
                        </m:sSubPr>
                        <m:e>
                          <m:r>
                            <a:rPr lang="mn-MN" sz="4800" i="1">
                              <a:solidFill>
                                <a:srgbClr val="FF0000"/>
                              </a:solidFill>
                              <a:latin typeface="Cambria Math" panose="02040503050406030204" pitchFamily="18" charset="0"/>
                            </a:rPr>
                            <m:t>𝑆</m:t>
                          </m:r>
                        </m:e>
                        <m:sub>
                          <m:r>
                            <a:rPr lang="mn-MN" sz="4800" i="1">
                              <a:solidFill>
                                <a:srgbClr val="FF0000"/>
                              </a:solidFill>
                              <a:latin typeface="Cambria Math" panose="02040503050406030204" pitchFamily="18" charset="0"/>
                            </a:rPr>
                            <m:t>𝑁</m:t>
                          </m:r>
                        </m:sub>
                      </m:sSub>
                      <m:r>
                        <a:rPr lang="mn-MN" sz="4800" i="1">
                          <a:solidFill>
                            <a:srgbClr val="FF0000"/>
                          </a:solidFill>
                          <a:latin typeface="Cambria Math" panose="02040503050406030204" pitchFamily="18" charset="0"/>
                        </a:rPr>
                        <m:t>=</m:t>
                      </m:r>
                      <m:f>
                        <m:fPr>
                          <m:ctrlPr>
                            <a:rPr lang="en-US" sz="4800" i="1">
                              <a:solidFill>
                                <a:srgbClr val="FF0000"/>
                              </a:solidFill>
                              <a:latin typeface="Cambria Math" panose="02040503050406030204" pitchFamily="18" charset="0"/>
                            </a:rPr>
                          </m:ctrlPr>
                        </m:fPr>
                        <m:num>
                          <m:sSub>
                            <m:sSubPr>
                              <m:ctrlPr>
                                <a:rPr lang="en-US" sz="4800" i="1">
                                  <a:solidFill>
                                    <a:srgbClr val="FF0000"/>
                                  </a:solidFill>
                                  <a:latin typeface="Cambria Math" panose="02040503050406030204" pitchFamily="18" charset="0"/>
                                </a:rPr>
                              </m:ctrlPr>
                            </m:sSubPr>
                            <m:e>
                              <m:r>
                                <a:rPr lang="mn-MN" sz="4800" i="1">
                                  <a:solidFill>
                                    <a:srgbClr val="FF0000"/>
                                  </a:solidFill>
                                  <a:latin typeface="Cambria Math" panose="02040503050406030204" pitchFamily="18" charset="0"/>
                                </a:rPr>
                                <m:t>𝑎</m:t>
                              </m:r>
                            </m:e>
                            <m:sub>
                              <m:r>
                                <a:rPr lang="mn-MN" sz="4800" i="1">
                                  <a:solidFill>
                                    <a:srgbClr val="FF0000"/>
                                  </a:solidFill>
                                  <a:latin typeface="Cambria Math" panose="02040503050406030204" pitchFamily="18" charset="0"/>
                                </a:rPr>
                                <m:t>1</m:t>
                              </m:r>
                            </m:sub>
                          </m:sSub>
                          <m:r>
                            <a:rPr lang="mn-MN" sz="4800" i="1">
                              <a:solidFill>
                                <a:srgbClr val="FF0000"/>
                              </a:solidFill>
                              <a:latin typeface="Cambria Math" panose="02040503050406030204" pitchFamily="18" charset="0"/>
                            </a:rPr>
                            <m:t>−</m:t>
                          </m:r>
                          <m:r>
                            <a:rPr lang="mn-MN" sz="4800" i="1">
                              <a:solidFill>
                                <a:srgbClr val="FF0000"/>
                              </a:solidFill>
                              <a:latin typeface="Cambria Math" panose="02040503050406030204" pitchFamily="18" charset="0"/>
                            </a:rPr>
                            <m:t>𝑏</m:t>
                          </m:r>
                          <m:sSub>
                            <m:sSubPr>
                              <m:ctrlPr>
                                <a:rPr lang="en-US" sz="4800" i="1">
                                  <a:solidFill>
                                    <a:srgbClr val="FF0000"/>
                                  </a:solidFill>
                                  <a:latin typeface="Cambria Math" panose="02040503050406030204" pitchFamily="18" charset="0"/>
                                </a:rPr>
                              </m:ctrlPr>
                            </m:sSubPr>
                            <m:e>
                              <m:r>
                                <a:rPr lang="mn-MN" sz="4800" i="1">
                                  <a:solidFill>
                                    <a:srgbClr val="FF0000"/>
                                  </a:solidFill>
                                  <a:latin typeface="Cambria Math" panose="02040503050406030204" pitchFamily="18" charset="0"/>
                                </a:rPr>
                                <m:t>𝑎</m:t>
                              </m:r>
                            </m:e>
                            <m:sub>
                              <m:r>
                                <a:rPr lang="mn-MN" sz="4800" i="1">
                                  <a:solidFill>
                                    <a:srgbClr val="FF0000"/>
                                  </a:solidFill>
                                  <a:latin typeface="Cambria Math" panose="02040503050406030204" pitchFamily="18" charset="0"/>
                                </a:rPr>
                                <m:t>𝑁</m:t>
                              </m:r>
                            </m:sub>
                          </m:sSub>
                        </m:num>
                        <m:den>
                          <m:r>
                            <a:rPr lang="mn-MN" sz="4800" i="1">
                              <a:solidFill>
                                <a:srgbClr val="FF0000"/>
                              </a:solidFill>
                              <a:latin typeface="Cambria Math" panose="02040503050406030204" pitchFamily="18" charset="0"/>
                            </a:rPr>
                            <m:t>1−</m:t>
                          </m:r>
                          <m:r>
                            <a:rPr lang="mn-MN" sz="4800" i="1">
                              <a:solidFill>
                                <a:srgbClr val="FF0000"/>
                              </a:solidFill>
                              <a:latin typeface="Cambria Math" panose="02040503050406030204" pitchFamily="18" charset="0"/>
                            </a:rPr>
                            <m:t>𝑏</m:t>
                          </m:r>
                        </m:den>
                      </m:f>
                      <m:r>
                        <a:rPr lang="en-US" sz="4800" i="1" smtClean="0">
                          <a:solidFill>
                            <a:srgbClr val="FF0000"/>
                          </a:solidFill>
                          <a:latin typeface="Cambria Math" panose="02040503050406030204" pitchFamily="18" charset="0"/>
                        </a:rPr>
                        <m:t>,  </m:t>
                      </m:r>
                      <m:r>
                        <a:rPr lang="en-US" sz="4800" i="1" smtClean="0">
                          <a:solidFill>
                            <a:srgbClr val="FF0000"/>
                          </a:solidFill>
                          <a:latin typeface="Cambria Math" panose="02040503050406030204" pitchFamily="18" charset="0"/>
                        </a:rPr>
                        <m:t>𝑏</m:t>
                      </m:r>
                      <m:r>
                        <a:rPr lang="en-US" sz="4800" i="1" smtClean="0">
                          <a:solidFill>
                            <a:srgbClr val="FF0000"/>
                          </a:solidFill>
                          <a:latin typeface="Cambria Math" panose="02040503050406030204" pitchFamily="18" charset="0"/>
                          <a:ea typeface="Cambria Math" panose="02040503050406030204" pitchFamily="18" charset="0"/>
                        </a:rPr>
                        <m:t>≠1</m:t>
                      </m:r>
                    </m:oMath>
                  </m:oMathPara>
                </a14:m>
                <a:endParaRPr lang="en-US" dirty="0">
                  <a:solidFill>
                    <a:srgbClr val="FF0000"/>
                  </a:solidFill>
                  <a:latin typeface="Times New Roman" panose="02020603050405020304" pitchFamily="18" charset="0"/>
                  <a:cs typeface="Times New Roman" panose="02020603050405020304" pitchFamily="18" charset="0"/>
                </a:endParaRPr>
              </a:p>
              <a:p>
                <a:pPr marL="344488" lvl="2" indent="-225425" algn="just"/>
                <a:r>
                  <a:rPr lang="mn-MN" sz="3000" dirty="0">
                    <a:solidFill>
                      <a:srgbClr val="002060"/>
                    </a:solidFill>
                    <a:latin typeface="Times New Roman" panose="02020603050405020304" pitchFamily="18" charset="0"/>
                    <a:cs typeface="Times New Roman" panose="02020603050405020304" pitchFamily="18" charset="0"/>
                  </a:rPr>
                  <a:t>Энд: </a:t>
                </a:r>
                <a14:m>
                  <m:oMath xmlns:m="http://schemas.openxmlformats.org/officeDocument/2006/math">
                    <m:sSub>
                      <m:sSubPr>
                        <m:ctrlPr>
                          <a:rPr lang="en-US" sz="3000" i="1" smtClean="0">
                            <a:latin typeface="Cambria Math" panose="02040503050406030204" pitchFamily="18" charset="0"/>
                          </a:rPr>
                        </m:ctrlPr>
                      </m:sSubPr>
                      <m:e>
                        <m:r>
                          <a:rPr lang="mn-MN" sz="3000" i="1">
                            <a:latin typeface="Cambria Math" panose="02040503050406030204" pitchFamily="18" charset="0"/>
                          </a:rPr>
                          <m:t>𝑎</m:t>
                        </m:r>
                      </m:e>
                      <m:sub>
                        <m:r>
                          <a:rPr lang="mn-MN" sz="3000" i="1">
                            <a:latin typeface="Cambria Math" panose="02040503050406030204" pitchFamily="18" charset="0"/>
                          </a:rPr>
                          <m:t>1</m:t>
                        </m:r>
                      </m:sub>
                    </m:sSub>
                  </m:oMath>
                </a14:m>
                <a:r>
                  <a:rPr lang="mn-MN" sz="3000" dirty="0">
                    <a:solidFill>
                      <a:srgbClr val="002060"/>
                    </a:solidFill>
                    <a:latin typeface="Times New Roman" panose="02020603050405020304" pitchFamily="18" charset="0"/>
                    <a:cs typeface="Times New Roman" panose="02020603050405020304" pitchFamily="18" charset="0"/>
                  </a:rPr>
                  <a:t> – цувааны эхний гишүүн; </a:t>
                </a:r>
                <a14:m>
                  <m:oMath xmlns:m="http://schemas.openxmlformats.org/officeDocument/2006/math">
                    <m:sSub>
                      <m:sSubPr>
                        <m:ctrlPr>
                          <a:rPr lang="en-US" sz="3000" i="1">
                            <a:latin typeface="Cambria Math" panose="02040503050406030204" pitchFamily="18" charset="0"/>
                          </a:rPr>
                        </m:ctrlPr>
                      </m:sSubPr>
                      <m:e>
                        <m:r>
                          <a:rPr lang="mn-MN" sz="3000" i="1">
                            <a:latin typeface="Cambria Math" panose="02040503050406030204" pitchFamily="18" charset="0"/>
                          </a:rPr>
                          <m:t>𝑎</m:t>
                        </m:r>
                      </m:e>
                      <m:sub>
                        <m:r>
                          <a:rPr lang="mn-MN" sz="3000" i="1">
                            <a:latin typeface="Cambria Math" panose="02040503050406030204" pitchFamily="18" charset="0"/>
                          </a:rPr>
                          <m:t>𝑁</m:t>
                        </m:r>
                      </m:sub>
                    </m:sSub>
                  </m:oMath>
                </a14:m>
                <a:r>
                  <a:rPr lang="en-US" sz="3000" dirty="0">
                    <a:solidFill>
                      <a:srgbClr val="002060"/>
                    </a:solidFill>
                    <a:latin typeface="Times New Roman" panose="02020603050405020304" pitchFamily="18" charset="0"/>
                    <a:cs typeface="Times New Roman" panose="02020603050405020304" pitchFamily="18" charset="0"/>
                  </a:rPr>
                  <a:t> – </a:t>
                </a:r>
                <a:r>
                  <a:rPr lang="mn-MN" sz="3000" dirty="0">
                    <a:solidFill>
                      <a:srgbClr val="002060"/>
                    </a:solidFill>
                    <a:latin typeface="Times New Roman" panose="02020603050405020304" pitchFamily="18" charset="0"/>
                    <a:cs typeface="Times New Roman" panose="02020603050405020304" pitchFamily="18" charset="0"/>
                  </a:rPr>
                  <a:t>цувааны сүүлийн гишүүн; </a:t>
                </a:r>
                <a14:m>
                  <m:oMath xmlns:m="http://schemas.openxmlformats.org/officeDocument/2006/math">
                    <m:r>
                      <a:rPr lang="mn-MN" sz="3000" i="1">
                        <a:latin typeface="Cambria Math" panose="02040503050406030204" pitchFamily="18" charset="0"/>
                      </a:rPr>
                      <m:t>𝑏</m:t>
                    </m:r>
                  </m:oMath>
                </a14:m>
                <a:r>
                  <a:rPr lang="en-US" sz="3000" dirty="0">
                    <a:solidFill>
                      <a:srgbClr val="002060"/>
                    </a:solidFill>
                    <a:latin typeface="Times New Roman" panose="02020603050405020304" pitchFamily="18" charset="0"/>
                    <a:cs typeface="Times New Roman" panose="02020603050405020304" pitchFamily="18" charset="0"/>
                  </a:rPr>
                  <a:t> – </a:t>
                </a:r>
                <a:r>
                  <a:rPr lang="mn-MN" sz="3000" dirty="0">
                    <a:solidFill>
                      <a:srgbClr val="002060"/>
                    </a:solidFill>
                    <a:latin typeface="Times New Roman" panose="02020603050405020304" pitchFamily="18" charset="0"/>
                    <a:cs typeface="Times New Roman" panose="02020603050405020304" pitchFamily="18" charset="0"/>
                  </a:rPr>
                  <a:t>ерөнхий харьцаа.</a:t>
                </a:r>
                <a:endParaRPr lang="en-US" sz="30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6" name="Content Placeholder 3">
                <a:extLst>
                  <a:ext uri="{FF2B5EF4-FFF2-40B4-BE49-F238E27FC236}">
                    <a16:creationId xmlns:a16="http://schemas.microsoft.com/office/drawing/2014/main" id="{53662D79-A9EC-427B-A5AC-A01500F93A9A}"/>
                  </a:ext>
                </a:extLst>
              </p:cNvPr>
              <p:cNvSpPr txBox="1">
                <a:spLocks noRot="1" noChangeAspect="1" noMove="1" noResize="1" noEditPoints="1" noAdjustHandles="1" noChangeArrowheads="1" noChangeShapeType="1" noTextEdit="1"/>
              </p:cNvSpPr>
              <p:nvPr/>
            </p:nvSpPr>
            <p:spPr>
              <a:xfrm>
                <a:off x="159024" y="3770001"/>
                <a:ext cx="11940211" cy="2471774"/>
              </a:xfrm>
              <a:prstGeom prst="rect">
                <a:avLst/>
              </a:prstGeom>
              <a:blipFill>
                <a:blip r:embed="rId6"/>
                <a:stretch>
                  <a:fillRect l="-817" t="-5172" r="-408"/>
                </a:stretch>
              </a:blipFill>
            </p:spPr>
            <p:txBody>
              <a:bodyPr/>
              <a:lstStyle/>
              <a:p>
                <a:r>
                  <a:rPr lang="en-US">
                    <a:noFill/>
                  </a:rPr>
                  <a:t> </a:t>
                </a:r>
              </a:p>
            </p:txBody>
          </p:sp>
        </mc:Fallback>
      </mc:AlternateContent>
    </p:spTree>
    <p:extLst>
      <p:ext uri="{BB962C8B-B14F-4D97-AF65-F5344CB8AC3E}">
        <p14:creationId xmlns:p14="http://schemas.microsoft.com/office/powerpoint/2010/main" val="3280080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59025" y="121326"/>
                <a:ext cx="11781183" cy="768791"/>
              </a:xfrm>
            </p:spPr>
            <p:txBody>
              <a:bodyPr>
                <a:noAutofit/>
              </a:bodyPr>
              <a:lstStyle/>
              <a:p>
                <a:pPr algn="just"/>
                <a:r>
                  <a:rPr lang="mn-MN" sz="255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a:t>
                </a:r>
                <a:r>
                  <a:rPr lang="mn-MN" sz="2600" b="1"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mn-MN" sz="2800" b="1" i="1" dirty="0">
                        <a:solidFill>
                          <a:schemeClr val="accent2">
                            <a:lumMod val="75000"/>
                          </a:schemeClr>
                        </a:solidFill>
                        <a:latin typeface="Cambria Math" panose="02040503050406030204" pitchFamily="18" charset="0"/>
                      </a:rPr>
                      <m:t>𝑨</m:t>
                    </m:r>
                    <m:r>
                      <a:rPr lang="mn-MN" sz="2800" b="1" i="1" dirty="0">
                        <a:solidFill>
                          <a:schemeClr val="accent2">
                            <a:lumMod val="75000"/>
                          </a:schemeClr>
                        </a:solidFill>
                        <a:latin typeface="Cambria Math" panose="02040503050406030204" pitchFamily="18" charset="0"/>
                      </a:rPr>
                      <m:t> </m:t>
                    </m:r>
                  </m:oMath>
                </a14:m>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smtClean="0">
                        <a:solidFill>
                          <a:schemeClr val="accent2">
                            <a:lumMod val="75000"/>
                          </a:schemeClr>
                        </a:solidFill>
                        <a:latin typeface="Cambria Math" panose="02040503050406030204" pitchFamily="18" charset="0"/>
                      </a:rPr>
                      <m:t>𝑭</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-г олох</a:t>
                </a:r>
                <a:r>
                  <a:rPr lang="mn-MN" sz="26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26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59025" y="121326"/>
                <a:ext cx="11781183" cy="768791"/>
              </a:xfrm>
              <a:blipFill>
                <a:blip r:embed="rId3"/>
                <a:stretch>
                  <a:fillRect l="-879" t="-16667" r="-931" b="-261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59024" y="1099254"/>
                <a:ext cx="11781183" cy="4833967"/>
              </a:xfrm>
            </p:spPr>
            <p:txBody>
              <a:bodyPr>
                <a:normAutofit lnSpcReduction="10000"/>
              </a:bodyPr>
              <a:lstStyle/>
              <a:p>
                <a:pPr>
                  <a:spcBef>
                    <a:spcPts val="0"/>
                  </a:spcBef>
                </a:pPr>
                <a:r>
                  <a:rPr lang="mn-MN" dirty="0">
                    <a:solidFill>
                      <a:srgbClr val="002060"/>
                    </a:solidFill>
                    <a:latin typeface="Times New Roman" panose="02020603050405020304" pitchFamily="18" charset="0"/>
                    <a:cs typeface="Times New Roman" panose="02020603050405020304" pitchFamily="18" charset="0"/>
                  </a:rPr>
                  <a:t>Хэрвээ</a:t>
                </a:r>
                <a:r>
                  <a:rPr lang="mn-MN"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a:rPr lang="mn-MN" sz="3600" i="1">
                        <a:solidFill>
                          <a:srgbClr val="FF0000"/>
                        </a:solidFill>
                        <a:latin typeface="Cambria Math" panose="02040503050406030204" pitchFamily="18" charset="0"/>
                      </a:rPr>
                      <m:t>𝑏</m:t>
                    </m:r>
                    <m:r>
                      <a:rPr lang="mn-MN" sz="3600" i="1">
                        <a:solidFill>
                          <a:srgbClr val="FF0000"/>
                        </a:solidFill>
                        <a:latin typeface="Cambria Math" panose="02040503050406030204" pitchFamily="18" charset="0"/>
                      </a:rPr>
                      <m:t>=</m:t>
                    </m:r>
                    <m:sSup>
                      <m:sSupPr>
                        <m:ctrlPr>
                          <a:rPr lang="en-US" sz="3600" i="1">
                            <a:solidFill>
                              <a:srgbClr val="FF0000"/>
                            </a:solidFill>
                            <a:latin typeface="Cambria Math" panose="02040503050406030204" pitchFamily="18" charset="0"/>
                          </a:rPr>
                        </m:ctrlPr>
                      </m:sSupPr>
                      <m:e>
                        <m:d>
                          <m:dPr>
                            <m:ctrlPr>
                              <a:rPr lang="en-US" sz="3600" i="1">
                                <a:solidFill>
                                  <a:srgbClr val="FF0000"/>
                                </a:solidFill>
                                <a:latin typeface="Cambria Math" panose="02040503050406030204" pitchFamily="18" charset="0"/>
                              </a:rPr>
                            </m:ctrlPr>
                          </m:dPr>
                          <m:e>
                            <m:r>
                              <a:rPr lang="en-US" sz="3600">
                                <a:solidFill>
                                  <a:srgbClr val="FF0000"/>
                                </a:solidFill>
                                <a:latin typeface="Cambria Math" panose="02040503050406030204" pitchFamily="18" charset="0"/>
                              </a:rPr>
                              <m:t>1+</m:t>
                            </m:r>
                            <m:r>
                              <a:rPr lang="en-US" sz="3600" i="1">
                                <a:solidFill>
                                  <a:srgbClr val="FF0000"/>
                                </a:solidFill>
                                <a:latin typeface="Cambria Math" panose="02040503050406030204" pitchFamily="18" charset="0"/>
                              </a:rPr>
                              <m:t>𝑖</m:t>
                            </m:r>
                          </m:e>
                        </m:d>
                      </m:e>
                      <m:sup>
                        <m:r>
                          <a:rPr lang="en-US" sz="3600">
                            <a:solidFill>
                              <a:srgbClr val="FF0000"/>
                            </a:solidFill>
                            <a:latin typeface="Cambria Math" panose="02040503050406030204" pitchFamily="18" charset="0"/>
                          </a:rPr>
                          <m:t>−</m:t>
                        </m:r>
                        <m:r>
                          <a:rPr lang="en-US" sz="3600" i="1">
                            <a:solidFill>
                              <a:srgbClr val="FF0000"/>
                            </a:solidFill>
                            <a:latin typeface="Cambria Math" panose="02040503050406030204" pitchFamily="18" charset="0"/>
                          </a:rPr>
                          <m:t>1</m:t>
                        </m:r>
                      </m:sup>
                    </m:sSup>
                  </m:oMath>
                </a14:m>
                <a:r>
                  <a:rPr lang="mn-MN" sz="3600" dirty="0">
                    <a:solidFill>
                      <a:srgbClr val="FF0000"/>
                    </a:solidFill>
                    <a:latin typeface="Times New Roman" panose="02020603050405020304" pitchFamily="18" charset="0"/>
                    <a:cs typeface="Times New Roman" panose="02020603050405020304" pitchFamily="18" charset="0"/>
                  </a:rPr>
                  <a:t>,</a:t>
                </a:r>
                <a:r>
                  <a:rPr lang="en-US" sz="3600"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𝑎</m:t>
                        </m:r>
                      </m:e>
                      <m:sub>
                        <m:r>
                          <a:rPr lang="mn-MN" sz="3600" i="1">
                            <a:solidFill>
                              <a:srgbClr val="FF0000"/>
                            </a:solidFill>
                            <a:latin typeface="Cambria Math" panose="02040503050406030204" pitchFamily="18" charset="0"/>
                          </a:rPr>
                          <m:t>1</m:t>
                        </m:r>
                      </m:sub>
                    </m:sSub>
                    <m:r>
                      <a:rPr lang="en-US" sz="3600" i="1">
                        <a:solidFill>
                          <a:srgbClr val="FF0000"/>
                        </a:solidFill>
                        <a:latin typeface="Cambria Math" panose="02040503050406030204" pitchFamily="18" charset="0"/>
                      </a:rPr>
                      <m:t>=</m:t>
                    </m:r>
                    <m:sSup>
                      <m:sSupPr>
                        <m:ctrlPr>
                          <a:rPr lang="en-US" sz="3600" i="1">
                            <a:solidFill>
                              <a:srgbClr val="FF0000"/>
                            </a:solidFill>
                            <a:latin typeface="Cambria Math" panose="02040503050406030204" pitchFamily="18" charset="0"/>
                          </a:rPr>
                        </m:ctrlPr>
                      </m:sSupPr>
                      <m:e>
                        <m:d>
                          <m:dPr>
                            <m:ctrlPr>
                              <a:rPr lang="en-US" sz="3600" i="1">
                                <a:solidFill>
                                  <a:srgbClr val="FF0000"/>
                                </a:solidFill>
                                <a:latin typeface="Cambria Math" panose="02040503050406030204" pitchFamily="18" charset="0"/>
                              </a:rPr>
                            </m:ctrlPr>
                          </m:dPr>
                          <m:e>
                            <m:r>
                              <a:rPr lang="en-US" sz="3600" i="1">
                                <a:solidFill>
                                  <a:srgbClr val="FF0000"/>
                                </a:solidFill>
                                <a:latin typeface="Cambria Math" panose="02040503050406030204" pitchFamily="18" charset="0"/>
                              </a:rPr>
                              <m:t>1+</m:t>
                            </m:r>
                            <m:r>
                              <a:rPr lang="en-US" sz="3600" i="1">
                                <a:solidFill>
                                  <a:srgbClr val="FF0000"/>
                                </a:solidFill>
                                <a:latin typeface="Cambria Math" panose="02040503050406030204" pitchFamily="18" charset="0"/>
                              </a:rPr>
                              <m:t>𝑖</m:t>
                            </m:r>
                          </m:e>
                        </m:d>
                      </m:e>
                      <m:sup>
                        <m:r>
                          <a:rPr lang="en-US" sz="3600" i="1">
                            <a:solidFill>
                              <a:srgbClr val="FF0000"/>
                            </a:solidFill>
                            <a:latin typeface="Cambria Math" panose="02040503050406030204" pitchFamily="18" charset="0"/>
                          </a:rPr>
                          <m:t>𝑁</m:t>
                        </m:r>
                        <m:r>
                          <a:rPr lang="en-US" sz="3600" i="1">
                            <a:solidFill>
                              <a:srgbClr val="FF0000"/>
                            </a:solidFill>
                            <a:latin typeface="Cambria Math" panose="02040503050406030204" pitchFamily="18" charset="0"/>
                          </a:rPr>
                          <m:t>−1</m:t>
                        </m:r>
                      </m:sup>
                    </m:sSup>
                  </m:oMath>
                </a14:m>
                <a:r>
                  <a:rPr lang="mn-MN" sz="3600" i="1" dirty="0">
                    <a:solidFill>
                      <a:srgbClr val="FF0000"/>
                    </a:solidFill>
                    <a:latin typeface="Times New Roman" panose="02020603050405020304" pitchFamily="18" charset="0"/>
                    <a:cs typeface="Times New Roman" panose="02020603050405020304" pitchFamily="18" charset="0"/>
                  </a:rPr>
                  <a:t>,</a:t>
                </a:r>
                <a:r>
                  <a:rPr lang="en-US" sz="3600" i="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𝑎</m:t>
                        </m:r>
                      </m:e>
                      <m:sub>
                        <m:r>
                          <a:rPr lang="mn-MN" sz="3600" i="1">
                            <a:solidFill>
                              <a:srgbClr val="FF0000"/>
                            </a:solidFill>
                            <a:latin typeface="Cambria Math" panose="02040503050406030204" pitchFamily="18" charset="0"/>
                          </a:rPr>
                          <m:t>𝑁</m:t>
                        </m:r>
                      </m:sub>
                    </m:sSub>
                    <m:r>
                      <a:rPr lang="mn-MN" sz="3600" i="1">
                        <a:solidFill>
                          <a:srgbClr val="FF0000"/>
                        </a:solidFill>
                        <a:latin typeface="Cambria Math" panose="02040503050406030204" pitchFamily="18" charset="0"/>
                      </a:rPr>
                      <m:t>=</m:t>
                    </m:r>
                    <m:sSup>
                      <m:sSupPr>
                        <m:ctrlPr>
                          <a:rPr lang="en-US" sz="3600" i="1">
                            <a:solidFill>
                              <a:srgbClr val="FF0000"/>
                            </a:solidFill>
                            <a:latin typeface="Cambria Math" panose="02040503050406030204" pitchFamily="18" charset="0"/>
                          </a:rPr>
                        </m:ctrlPr>
                      </m:sSupPr>
                      <m:e>
                        <m:d>
                          <m:dPr>
                            <m:ctrlPr>
                              <a:rPr lang="en-US" sz="3600" i="1">
                                <a:solidFill>
                                  <a:srgbClr val="FF0000"/>
                                </a:solidFill>
                                <a:latin typeface="Cambria Math" panose="02040503050406030204" pitchFamily="18" charset="0"/>
                              </a:rPr>
                            </m:ctrlPr>
                          </m:dPr>
                          <m:e>
                            <m:r>
                              <a:rPr lang="en-US" sz="3600" i="1">
                                <a:solidFill>
                                  <a:srgbClr val="FF0000"/>
                                </a:solidFill>
                                <a:latin typeface="Cambria Math" panose="02040503050406030204" pitchFamily="18" charset="0"/>
                              </a:rPr>
                              <m:t>1+</m:t>
                            </m:r>
                            <m:r>
                              <a:rPr lang="en-US" sz="3600" i="1">
                                <a:solidFill>
                                  <a:srgbClr val="FF0000"/>
                                </a:solidFill>
                                <a:latin typeface="Cambria Math" panose="02040503050406030204" pitchFamily="18" charset="0"/>
                              </a:rPr>
                              <m:t>𝑖</m:t>
                            </m:r>
                          </m:e>
                        </m:d>
                      </m:e>
                      <m:sup>
                        <m:r>
                          <a:rPr lang="en-US" sz="3600" i="1">
                            <a:solidFill>
                              <a:srgbClr val="FF0000"/>
                            </a:solidFill>
                            <a:latin typeface="Cambria Math" panose="02040503050406030204" pitchFamily="18" charset="0"/>
                          </a:rPr>
                          <m:t>0</m:t>
                        </m:r>
                      </m:sup>
                    </m:sSup>
                    <m:r>
                      <a:rPr lang="en-US" sz="3600" i="1">
                        <a:solidFill>
                          <a:srgbClr val="FF0000"/>
                        </a:solidFill>
                        <a:latin typeface="Cambria Math" panose="02040503050406030204" pitchFamily="18" charset="0"/>
                      </a:rPr>
                      <m:t> </m:t>
                    </m:r>
                  </m:oMath>
                </a14:m>
                <a:r>
                  <a:rPr lang="mn-MN" dirty="0">
                    <a:solidFill>
                      <a:srgbClr val="002060"/>
                    </a:solidFill>
                    <a:latin typeface="Times New Roman" panose="02020603050405020304" pitchFamily="18" charset="0"/>
                    <a:cs typeface="Times New Roman" panose="02020603050405020304" pitchFamily="18" charset="0"/>
                  </a:rPr>
                  <a:t>бол</a:t>
                </a:r>
              </a:p>
              <a:p>
                <a:pPr>
                  <a:spcBef>
                    <a:spcPts val="0"/>
                  </a:spcBef>
                </a:pPr>
                <a:endParaRPr lang="en-US" sz="1600" dirty="0">
                  <a:solidFill>
                    <a:srgbClr val="002060"/>
                  </a:solidFill>
                  <a:latin typeface="Times New Roman" panose="02020603050405020304" pitchFamily="18" charset="0"/>
                  <a:cs typeface="Times New Roman" panose="02020603050405020304" pitchFamily="18" charset="0"/>
                </a:endParaRPr>
              </a:p>
              <a:p>
                <a:pPr marL="0" indent="0">
                  <a:spcBef>
                    <a:spcPts val="0"/>
                  </a:spcBef>
                  <a:buNone/>
                </a:pPr>
                <a14:m>
                  <m:oMathPara xmlns:m="http://schemas.openxmlformats.org/officeDocument/2006/math">
                    <m:oMathParaPr>
                      <m:jc m:val="centerGroup"/>
                    </m:oMathParaPr>
                    <m:oMath xmlns:m="http://schemas.openxmlformats.org/officeDocument/2006/math">
                      <m:r>
                        <a:rPr lang="mn-MN" sz="3200" i="1" smtClean="0">
                          <a:solidFill>
                            <a:srgbClr val="FF0000"/>
                          </a:solidFill>
                          <a:latin typeface="Cambria Math" panose="02040503050406030204" pitchFamily="18" charset="0"/>
                        </a:rPr>
                        <m:t>𝐹</m:t>
                      </m:r>
                      <m:r>
                        <a:rPr lang="en-US" sz="3200" b="0" i="1" smtClean="0">
                          <a:solidFill>
                            <a:srgbClr val="FF0000"/>
                          </a:solidFill>
                          <a:highlight>
                            <a:srgbClr val="FFFF00"/>
                          </a:highlight>
                          <a:latin typeface="Cambria Math" panose="02040503050406030204" pitchFamily="18" charset="0"/>
                        </a:rPr>
                        <m:t>𝑉𝐴</m:t>
                      </m:r>
                      <m:r>
                        <a:rPr lang="mn-MN" sz="3200" i="1" smtClean="0">
                          <a:solidFill>
                            <a:srgbClr val="FF0000"/>
                          </a:solidFill>
                          <a:latin typeface="Cambria Math" panose="02040503050406030204" pitchFamily="18" charset="0"/>
                        </a:rPr>
                        <m:t>=</m:t>
                      </m:r>
                      <m:r>
                        <a:rPr lang="mn-MN" sz="3200" i="1" smtClean="0">
                          <a:solidFill>
                            <a:srgbClr val="FF0000"/>
                          </a:solidFill>
                          <a:latin typeface="Cambria Math" panose="02040503050406030204" pitchFamily="18" charset="0"/>
                        </a:rPr>
                        <m:t>𝐴</m:t>
                      </m:r>
                      <m:d>
                        <m:dPr>
                          <m:begChr m:val="["/>
                          <m:endChr m:val="]"/>
                          <m:ctrlPr>
                            <a:rPr lang="en-US" sz="3200" i="1">
                              <a:solidFill>
                                <a:srgbClr val="FF0000"/>
                              </a:solidFill>
                              <a:latin typeface="Cambria Math" panose="02040503050406030204" pitchFamily="18" charset="0"/>
                            </a:rPr>
                          </m:ctrlPr>
                        </m:dPr>
                        <m:e>
                          <m:f>
                            <m:fPr>
                              <m:ctrlPr>
                                <a:rPr lang="en-US" sz="3200" i="1">
                                  <a:solidFill>
                                    <a:srgbClr val="FF0000"/>
                                  </a:solidFill>
                                  <a:latin typeface="Cambria Math" panose="02040503050406030204" pitchFamily="18" charset="0"/>
                                </a:rPr>
                              </m:ctrlPr>
                            </m:fPr>
                            <m:num>
                              <m:sSup>
                                <m:sSupPr>
                                  <m:ctrlPr>
                                    <a:rPr lang="en-US" sz="3200" i="1">
                                      <a:solidFill>
                                        <a:srgbClr val="FF0000"/>
                                      </a:solidFill>
                                      <a:latin typeface="Cambria Math" panose="02040503050406030204" pitchFamily="18" charset="0"/>
                                    </a:rPr>
                                  </m:ctrlPr>
                                </m:sSupPr>
                                <m:e>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1+</m:t>
                                      </m:r>
                                      <m:r>
                                        <a:rPr lang="mn-MN" sz="3200" i="1">
                                          <a:solidFill>
                                            <a:srgbClr val="FF0000"/>
                                          </a:solidFill>
                                          <a:latin typeface="Cambria Math" panose="02040503050406030204" pitchFamily="18" charset="0"/>
                                        </a:rPr>
                                        <m:t>𝑖</m:t>
                                      </m:r>
                                    </m:e>
                                  </m:d>
                                </m:e>
                                <m:sup>
                                  <m:r>
                                    <a:rPr lang="mn-MN" sz="3200" i="1">
                                      <a:solidFill>
                                        <a:srgbClr val="FF0000"/>
                                      </a:solidFill>
                                      <a:latin typeface="Cambria Math" panose="02040503050406030204" pitchFamily="18" charset="0"/>
                                    </a:rPr>
                                    <m:t>𝑁</m:t>
                                  </m:r>
                                  <m:r>
                                    <a:rPr lang="mn-MN" sz="3200" i="1">
                                      <a:solidFill>
                                        <a:srgbClr val="FF0000"/>
                                      </a:solidFill>
                                      <a:latin typeface="Cambria Math" panose="02040503050406030204" pitchFamily="18" charset="0"/>
                                    </a:rPr>
                                    <m:t>−1</m:t>
                                  </m:r>
                                </m:sup>
                              </m:sSup>
                              <m:r>
                                <a:rPr lang="mn-MN" sz="3200" i="1">
                                  <a:solidFill>
                                    <a:srgbClr val="FF0000"/>
                                  </a:solidFill>
                                  <a:latin typeface="Cambria Math" panose="02040503050406030204" pitchFamily="18" charset="0"/>
                                </a:rPr>
                                <m:t>−</m:t>
                              </m:r>
                              <m:f>
                                <m:fPr>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1</m:t>
                                  </m:r>
                                </m:num>
                                <m:den>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1+</m:t>
                                      </m:r>
                                      <m:r>
                                        <a:rPr lang="mn-MN" sz="3200" i="1">
                                          <a:solidFill>
                                            <a:srgbClr val="FF0000"/>
                                          </a:solidFill>
                                          <a:latin typeface="Cambria Math" panose="02040503050406030204" pitchFamily="18" charset="0"/>
                                        </a:rPr>
                                        <m:t>𝑖</m:t>
                                      </m:r>
                                    </m:e>
                                  </m:d>
                                </m:den>
                              </m:f>
                            </m:num>
                            <m:den>
                              <m:r>
                                <a:rPr lang="mn-MN" sz="3200" i="1">
                                  <a:solidFill>
                                    <a:srgbClr val="FF0000"/>
                                  </a:solidFill>
                                  <a:latin typeface="Cambria Math" panose="02040503050406030204" pitchFamily="18" charset="0"/>
                                </a:rPr>
                                <m:t>1−</m:t>
                              </m:r>
                              <m:f>
                                <m:fPr>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1</m:t>
                                  </m:r>
                                </m:num>
                                <m:den>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1+</m:t>
                                      </m:r>
                                      <m:r>
                                        <a:rPr lang="mn-MN" sz="3200" i="1">
                                          <a:solidFill>
                                            <a:srgbClr val="FF0000"/>
                                          </a:solidFill>
                                          <a:latin typeface="Cambria Math" panose="02040503050406030204" pitchFamily="18" charset="0"/>
                                        </a:rPr>
                                        <m:t>𝑖</m:t>
                                      </m:r>
                                    </m:e>
                                  </m:d>
                                </m:den>
                              </m:f>
                            </m:den>
                          </m:f>
                        </m:e>
                      </m:d>
                    </m:oMath>
                  </m:oMathPara>
                </a14:m>
                <a:endParaRPr lang="en-US" dirty="0">
                  <a:solidFill>
                    <a:srgbClr val="002060"/>
                  </a:solidFill>
                  <a:latin typeface="Times New Roman" panose="02020603050405020304" pitchFamily="18" charset="0"/>
                  <a:cs typeface="Times New Roman" panose="02020603050405020304" pitchFamily="18" charset="0"/>
                </a:endParaRPr>
              </a:p>
              <a:p>
                <a:pPr>
                  <a:spcBef>
                    <a:spcPts val="0"/>
                  </a:spcBef>
                </a:pPr>
                <a:r>
                  <a:rPr lang="mn-MN" dirty="0">
                    <a:solidFill>
                      <a:srgbClr val="002060"/>
                    </a:solidFill>
                    <a:latin typeface="Times New Roman" panose="02020603050405020304" pitchFamily="18" charset="0"/>
                    <a:cs typeface="Times New Roman" panose="02020603050405020304" pitchFamily="18" charset="0"/>
                  </a:rPr>
                  <a:t>Хялбарчилбал:</a:t>
                </a:r>
              </a:p>
              <a:p>
                <a:pPr marL="0" indent="0">
                  <a:spcBef>
                    <a:spcPts val="0"/>
                  </a:spcBef>
                  <a:buNone/>
                </a:pPr>
                <a14:m>
                  <m:oMathPara xmlns:m="http://schemas.openxmlformats.org/officeDocument/2006/math">
                    <m:oMathParaPr>
                      <m:jc m:val="centerGroup"/>
                    </m:oMathParaPr>
                    <m:oMath xmlns:m="http://schemas.openxmlformats.org/officeDocument/2006/math">
                      <m:sSub>
                        <m:sSubPr>
                          <m:ctrlPr>
                            <a:rPr lang="mn-MN" sz="3600" b="1" i="1">
                              <a:solidFill>
                                <a:srgbClr val="FF0000"/>
                              </a:solidFill>
                              <a:latin typeface="Cambria Math" panose="02040503050406030204" pitchFamily="18" charset="0"/>
                            </a:rPr>
                          </m:ctrlPr>
                        </m:sSubPr>
                        <m:e>
                          <m:r>
                            <a:rPr lang="mn-MN" sz="3600" b="1" i="1">
                              <a:solidFill>
                                <a:srgbClr val="FF0000"/>
                              </a:solidFill>
                              <a:latin typeface="Cambria Math" panose="02040503050406030204" pitchFamily="18" charset="0"/>
                            </a:rPr>
                            <m:t>𝑭</m:t>
                          </m:r>
                          <m:r>
                            <a:rPr lang="en-US" sz="3600" b="1" i="1">
                              <a:solidFill>
                                <a:srgbClr val="FF0000"/>
                              </a:solidFill>
                              <a:latin typeface="Cambria Math" panose="02040503050406030204" pitchFamily="18" charset="0"/>
                            </a:rPr>
                            <m:t>𝑽𝑨</m:t>
                          </m:r>
                        </m:e>
                        <m:sub>
                          <m:r>
                            <a:rPr lang="en-US" sz="3600" b="1" i="1">
                              <a:solidFill>
                                <a:srgbClr val="FF0000"/>
                              </a:solidFill>
                              <a:latin typeface="Cambria Math" panose="02040503050406030204" pitchFamily="18" charset="0"/>
                            </a:rPr>
                            <m:t>𝒏</m:t>
                          </m:r>
                        </m:sub>
                      </m:sSub>
                      <m:r>
                        <a:rPr lang="mn-MN" sz="3600" b="1" i="1" smtClean="0">
                          <a:solidFill>
                            <a:srgbClr val="FF0000"/>
                          </a:solidFill>
                          <a:latin typeface="Cambria Math" panose="02040503050406030204" pitchFamily="18" charset="0"/>
                        </a:rPr>
                        <m:t>=</m:t>
                      </m:r>
                      <m:r>
                        <a:rPr lang="mn-MN" sz="3600" b="1" i="1" smtClean="0">
                          <a:solidFill>
                            <a:srgbClr val="FF0000"/>
                          </a:solidFill>
                          <a:latin typeface="Cambria Math" panose="02040503050406030204" pitchFamily="18" charset="0"/>
                        </a:rPr>
                        <m:t>𝑨</m:t>
                      </m:r>
                      <m:d>
                        <m:dPr>
                          <m:begChr m:val="["/>
                          <m:endChr m:val="]"/>
                          <m:ctrlPr>
                            <a:rPr lang="en-US" sz="3600" b="1" i="1">
                              <a:solidFill>
                                <a:srgbClr val="FF0000"/>
                              </a:solidFill>
                              <a:latin typeface="Cambria Math" panose="02040503050406030204" pitchFamily="18" charset="0"/>
                            </a:rPr>
                          </m:ctrlPr>
                        </m:dPr>
                        <m:e>
                          <m:f>
                            <m:fPr>
                              <m:ctrlPr>
                                <a:rPr lang="en-US" sz="3600" b="1" i="1">
                                  <a:solidFill>
                                    <a:srgbClr val="FF0000"/>
                                  </a:solidFill>
                                  <a:latin typeface="Cambria Math" panose="02040503050406030204" pitchFamily="18" charset="0"/>
                                </a:rPr>
                              </m:ctrlPr>
                            </m:fPr>
                            <m:num>
                              <m:sSup>
                                <m:sSupPr>
                                  <m:ctrlPr>
                                    <a:rPr lang="en-US" sz="3600" b="1" i="1">
                                      <a:solidFill>
                                        <a:srgbClr val="FF0000"/>
                                      </a:solidFill>
                                      <a:latin typeface="Cambria Math" panose="02040503050406030204" pitchFamily="18" charset="0"/>
                                    </a:rPr>
                                  </m:ctrlPr>
                                </m:sSupPr>
                                <m:e>
                                  <m:d>
                                    <m:dPr>
                                      <m:ctrlPr>
                                        <a:rPr lang="en-US" sz="3600" b="1" i="1">
                                          <a:solidFill>
                                            <a:srgbClr val="FF0000"/>
                                          </a:solidFill>
                                          <a:latin typeface="Cambria Math" panose="02040503050406030204" pitchFamily="18" charset="0"/>
                                        </a:rPr>
                                      </m:ctrlPr>
                                    </m:dPr>
                                    <m:e>
                                      <m:r>
                                        <a:rPr lang="mn-MN" sz="3600" b="1" i="1">
                                          <a:solidFill>
                                            <a:srgbClr val="FF0000"/>
                                          </a:solidFill>
                                          <a:latin typeface="Cambria Math" panose="02040503050406030204" pitchFamily="18" charset="0"/>
                                        </a:rPr>
                                        <m:t>𝟏</m:t>
                                      </m:r>
                                      <m:r>
                                        <a:rPr lang="mn-MN" sz="3600" b="1" i="1">
                                          <a:solidFill>
                                            <a:srgbClr val="FF0000"/>
                                          </a:solidFill>
                                          <a:latin typeface="Cambria Math" panose="02040503050406030204" pitchFamily="18" charset="0"/>
                                        </a:rPr>
                                        <m:t>+</m:t>
                                      </m:r>
                                      <m:r>
                                        <a:rPr lang="mn-MN" sz="3600" b="1" i="1">
                                          <a:solidFill>
                                            <a:srgbClr val="FF0000"/>
                                          </a:solidFill>
                                          <a:latin typeface="Cambria Math" panose="02040503050406030204" pitchFamily="18" charset="0"/>
                                        </a:rPr>
                                        <m:t>𝒊</m:t>
                                      </m:r>
                                    </m:e>
                                  </m:d>
                                </m:e>
                                <m:sup>
                                  <m:r>
                                    <a:rPr lang="mn-MN" sz="3600" b="1" i="1">
                                      <a:solidFill>
                                        <a:srgbClr val="FF0000"/>
                                      </a:solidFill>
                                      <a:latin typeface="Cambria Math" panose="02040503050406030204" pitchFamily="18" charset="0"/>
                                    </a:rPr>
                                    <m:t>𝑵</m:t>
                                  </m:r>
                                </m:sup>
                              </m:sSup>
                              <m:r>
                                <a:rPr lang="mn-MN" sz="3600" b="1" i="1">
                                  <a:solidFill>
                                    <a:srgbClr val="FF0000"/>
                                  </a:solidFill>
                                  <a:latin typeface="Cambria Math" panose="02040503050406030204" pitchFamily="18" charset="0"/>
                                </a:rPr>
                                <m:t>−</m:t>
                              </m:r>
                              <m:r>
                                <a:rPr lang="mn-MN" sz="3600" b="1" i="1">
                                  <a:solidFill>
                                    <a:srgbClr val="FF0000"/>
                                  </a:solidFill>
                                  <a:latin typeface="Cambria Math" panose="02040503050406030204" pitchFamily="18" charset="0"/>
                                </a:rPr>
                                <m:t>𝟏</m:t>
                              </m:r>
                            </m:num>
                            <m:den>
                              <m:r>
                                <a:rPr lang="mn-MN" sz="3600" b="1" i="1">
                                  <a:solidFill>
                                    <a:srgbClr val="FF0000"/>
                                  </a:solidFill>
                                  <a:latin typeface="Cambria Math" panose="02040503050406030204" pitchFamily="18" charset="0"/>
                                </a:rPr>
                                <m:t>𝒊</m:t>
                              </m:r>
                            </m:den>
                          </m:f>
                        </m:e>
                      </m:d>
                    </m:oMath>
                  </m:oMathPara>
                </a14:m>
                <a:endParaRPr lang="mn-MN" b="1" dirty="0">
                  <a:solidFill>
                    <a:srgbClr val="002060"/>
                  </a:solidFill>
                  <a:latin typeface="Times New Roman" panose="02020603050405020304" pitchFamily="18" charset="0"/>
                  <a:cs typeface="Times New Roman" panose="02020603050405020304" pitchFamily="18" charset="0"/>
                </a:endParaRPr>
              </a:p>
              <a:p>
                <a:pPr>
                  <a:spcBef>
                    <a:spcPts val="0"/>
                  </a:spcBef>
                </a:pPr>
                <a:endParaRPr lang="mn-MN" dirty="0">
                  <a:solidFill>
                    <a:srgbClr val="002060"/>
                  </a:solidFill>
                  <a:latin typeface="Times New Roman" panose="02020603050405020304" pitchFamily="18" charset="0"/>
                  <a:cs typeface="Times New Roman" panose="02020603050405020304" pitchFamily="18" charset="0"/>
                </a:endParaRPr>
              </a:p>
              <a:p>
                <a:pPr marL="0" indent="0">
                  <a:spcBef>
                    <a:spcPts val="0"/>
                  </a:spcBef>
                  <a:buNone/>
                </a:pPr>
                <a14:m>
                  <m:oMathPara xmlns:m="http://schemas.openxmlformats.org/officeDocument/2006/math">
                    <m:oMathParaPr>
                      <m:jc m:val="centerGroup"/>
                    </m:oMathParaPr>
                    <m:oMath xmlns:m="http://schemas.openxmlformats.org/officeDocument/2006/math">
                      <m:sSub>
                        <m:sSubPr>
                          <m:ctrlPr>
                            <a:rPr lang="en-US" sz="4000" i="1" dirty="0">
                              <a:solidFill>
                                <a:srgbClr val="002060"/>
                              </a:solidFill>
                              <a:latin typeface="Cambria Math" panose="02040503050406030204" pitchFamily="18" charset="0"/>
                            </a:rPr>
                          </m:ctrlPr>
                        </m:sSubPr>
                        <m:e>
                          <m:r>
                            <a:rPr lang="en-US" sz="4000" i="1" dirty="0">
                              <a:solidFill>
                                <a:srgbClr val="002060"/>
                              </a:solidFill>
                              <a:latin typeface="Cambria Math" panose="02040503050406030204" pitchFamily="18" charset="0"/>
                            </a:rPr>
                            <m:t>𝐹𝑉𝐴</m:t>
                          </m:r>
                        </m:e>
                        <m:sub>
                          <m:r>
                            <a:rPr lang="en-US" sz="4000" i="1" dirty="0">
                              <a:solidFill>
                                <a:srgbClr val="002060"/>
                              </a:solidFill>
                              <a:latin typeface="Cambria Math" panose="02040503050406030204" pitchFamily="18" charset="0"/>
                            </a:rPr>
                            <m:t>𝑛</m:t>
                          </m:r>
                        </m:sub>
                      </m:sSub>
                      <m:r>
                        <a:rPr lang="en-US" sz="4000" i="1" dirty="0">
                          <a:solidFill>
                            <a:srgbClr val="002060"/>
                          </a:solidFill>
                          <a:latin typeface="Cambria Math" panose="02040503050406030204" pitchFamily="18" charset="0"/>
                        </a:rPr>
                        <m:t>=</m:t>
                      </m:r>
                      <m:r>
                        <a:rPr lang="en-US" sz="4000" i="1" dirty="0">
                          <a:solidFill>
                            <a:srgbClr val="002060"/>
                          </a:solidFill>
                          <a:latin typeface="Cambria Math" panose="02040503050406030204" pitchFamily="18" charset="0"/>
                        </a:rPr>
                        <m:t>𝐴</m:t>
                      </m:r>
                      <m:r>
                        <a:rPr lang="en-US" sz="4000" i="1" dirty="0">
                          <a:solidFill>
                            <a:srgbClr val="002060"/>
                          </a:solidFill>
                          <a:latin typeface="Cambria Math" panose="02040503050406030204" pitchFamily="18" charset="0"/>
                        </a:rPr>
                        <m:t>(</m:t>
                      </m:r>
                      <m:r>
                        <a:rPr lang="en-US" sz="4000" i="1" dirty="0">
                          <a:solidFill>
                            <a:srgbClr val="002060"/>
                          </a:solidFill>
                          <a:latin typeface="Cambria Math" panose="02040503050406030204" pitchFamily="18" charset="0"/>
                        </a:rPr>
                        <m:t>𝐹</m:t>
                      </m:r>
                      <m:r>
                        <a:rPr lang="en-US" sz="4000" i="1" dirty="0">
                          <a:solidFill>
                            <a:srgbClr val="002060"/>
                          </a:solidFill>
                          <a:latin typeface="Cambria Math" panose="02040503050406030204" pitchFamily="18" charset="0"/>
                        </a:rPr>
                        <m:t>/</m:t>
                      </m:r>
                      <m:r>
                        <a:rPr lang="en-US" sz="4000" i="1" dirty="0">
                          <a:solidFill>
                            <a:srgbClr val="002060"/>
                          </a:solidFill>
                          <a:latin typeface="Cambria Math" panose="02040503050406030204" pitchFamily="18" charset="0"/>
                        </a:rPr>
                        <m:t>𝐴</m:t>
                      </m:r>
                      <m:r>
                        <a:rPr lang="en-US" sz="4000" i="1" dirty="0">
                          <a:solidFill>
                            <a:srgbClr val="002060"/>
                          </a:solidFill>
                          <a:latin typeface="Cambria Math" panose="02040503050406030204" pitchFamily="18" charset="0"/>
                        </a:rPr>
                        <m:t>, </m:t>
                      </m:r>
                      <m:r>
                        <a:rPr lang="en-US" sz="4000" i="1" dirty="0" err="1">
                          <a:solidFill>
                            <a:srgbClr val="002060"/>
                          </a:solidFill>
                          <a:latin typeface="Cambria Math" panose="02040503050406030204" pitchFamily="18" charset="0"/>
                        </a:rPr>
                        <m:t>𝑖</m:t>
                      </m:r>
                      <m:r>
                        <a:rPr lang="en-US" sz="4000" i="1" dirty="0">
                          <a:solidFill>
                            <a:srgbClr val="002060"/>
                          </a:solidFill>
                          <a:latin typeface="Cambria Math" panose="02040503050406030204" pitchFamily="18" charset="0"/>
                        </a:rPr>
                        <m:t>%, </m:t>
                      </m:r>
                      <m:r>
                        <a:rPr lang="en-US" sz="4000" i="1" dirty="0">
                          <a:solidFill>
                            <a:srgbClr val="002060"/>
                          </a:solidFill>
                          <a:latin typeface="Cambria Math" panose="02040503050406030204" pitchFamily="18" charset="0"/>
                        </a:rPr>
                        <m:t>𝑁</m:t>
                      </m:r>
                      <m:r>
                        <a:rPr lang="en-US" sz="4000" i="1" dirty="0">
                          <a:solidFill>
                            <a:srgbClr val="002060"/>
                          </a:solidFill>
                          <a:latin typeface="Cambria Math" panose="02040503050406030204" pitchFamily="18" charset="0"/>
                        </a:rPr>
                        <m:t>)</m:t>
                      </m:r>
                    </m:oMath>
                  </m:oMathPara>
                </a14:m>
                <a:endParaRPr lang="en-US"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59024" y="1099254"/>
                <a:ext cx="11781183" cy="4833967"/>
              </a:xfrm>
              <a:blipFill>
                <a:blip r:embed="rId4"/>
                <a:stretch>
                  <a:fillRect l="-931" t="-416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3D38454-0B2A-2A28-EA71-4C9F0AAD4AC7}"/>
              </a:ext>
            </a:extLst>
          </p:cNvPr>
          <p:cNvSpPr/>
          <p:nvPr/>
        </p:nvSpPr>
        <p:spPr>
          <a:xfrm>
            <a:off x="3375212" y="3605307"/>
            <a:ext cx="5392269" cy="14492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2C8184E-62E0-A7AC-6E6F-BF7A0765C0AD}"/>
              </a:ext>
            </a:extLst>
          </p:cNvPr>
          <p:cNvSpPr/>
          <p:nvPr/>
        </p:nvSpPr>
        <p:spPr>
          <a:xfrm>
            <a:off x="3375212" y="5109439"/>
            <a:ext cx="5392269" cy="8932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85567F8-8204-15C1-5C34-D55AC9BCBB70}"/>
              </a:ext>
            </a:extLst>
          </p:cNvPr>
          <p:cNvSpPr txBox="1"/>
          <p:nvPr/>
        </p:nvSpPr>
        <p:spPr>
          <a:xfrm>
            <a:off x="9528311" y="5218521"/>
            <a:ext cx="2517911" cy="523220"/>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Тэмдэглэгээ</a:t>
            </a:r>
            <a:r>
              <a:rPr lang="en-US" sz="2800" dirty="0">
                <a:solidFill>
                  <a:srgbClr val="00206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62715126-9B85-694F-2BEE-B0AF4E8B91E8}"/>
              </a:ext>
            </a:extLst>
          </p:cNvPr>
          <p:cNvCxnSpPr>
            <a:cxnSpLocks/>
          </p:cNvCxnSpPr>
          <p:nvPr/>
        </p:nvCxnSpPr>
        <p:spPr>
          <a:xfrm flipH="1">
            <a:off x="8901953" y="5519887"/>
            <a:ext cx="663466"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381587A-2E4F-45BF-8991-9321BC6C52BC}"/>
                  </a:ext>
                </a:extLst>
              </p:cNvPr>
              <p:cNvSpPr txBox="1"/>
              <p:nvPr/>
            </p:nvSpPr>
            <p:spPr>
              <a:xfrm>
                <a:off x="8843888" y="2290963"/>
                <a:ext cx="3096320" cy="2308324"/>
              </a:xfrm>
              <a:prstGeom prst="rect">
                <a:avLst/>
              </a:prstGeom>
              <a:solidFill>
                <a:schemeClr val="accent4">
                  <a:lumMod val="20000"/>
                  <a:lumOff val="80000"/>
                </a:schemeClr>
              </a:solidFill>
            </p:spPr>
            <p:txBody>
              <a:bodyPr wrap="square" rtlCol="0">
                <a:spAutoFit/>
              </a:bodyPr>
              <a:lstStyle/>
              <a:p>
                <a:r>
                  <a:rPr lang="mn-MN" sz="2400" dirty="0">
                    <a:solidFill>
                      <a:srgbClr val="002060"/>
                    </a:solidFill>
                    <a:latin typeface="Times New Roman" panose="02020603050405020304" pitchFamily="18" charset="0"/>
                    <a:cs typeface="Times New Roman" panose="02020603050405020304" pitchFamily="18" charset="0"/>
                  </a:rPr>
                  <a:t>Зарим сурах бичигт</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болон санхүүгийн калькулятор, програм хангамжуудад </a:t>
                </a:r>
                <a14:m>
                  <m:oMath xmlns:m="http://schemas.openxmlformats.org/officeDocument/2006/math">
                    <m:r>
                      <a:rPr lang="en-US" sz="2400" b="0" i="1" smtClean="0">
                        <a:solidFill>
                          <a:srgbClr val="FF0000"/>
                        </a:solidFill>
                        <a:latin typeface="Cambria Math" panose="02040503050406030204" pitchFamily="18" charset="0"/>
                      </a:rPr>
                      <m:t>𝐴</m:t>
                    </m:r>
                  </m:oMath>
                </a14:m>
                <a:r>
                  <a:rPr lang="mn-MN" sz="2400" dirty="0">
                    <a:solidFill>
                      <a:srgbClr val="002060"/>
                    </a:solidFill>
                    <a:latin typeface="Times New Roman" panose="02020603050405020304" pitchFamily="18" charset="0"/>
                    <a:cs typeface="Times New Roman" panose="02020603050405020304" pitchFamily="18" charset="0"/>
                  </a:rPr>
                  <a:t>-г </a:t>
                </a:r>
                <a14:m>
                  <m:oMath xmlns:m="http://schemas.openxmlformats.org/officeDocument/2006/math">
                    <m:r>
                      <a:rPr lang="en-US" sz="2400" b="1" i="1" dirty="0" smtClean="0">
                        <a:solidFill>
                          <a:srgbClr val="FF0000"/>
                        </a:solidFill>
                        <a:latin typeface="Cambria Math" panose="02040503050406030204" pitchFamily="18" charset="0"/>
                      </a:rPr>
                      <m:t>𝑷𝑴𝑻</m:t>
                    </m:r>
                    <m:r>
                      <a:rPr lang="en-US" sz="2400" b="1" i="1" dirty="0">
                        <a:solidFill>
                          <a:srgbClr val="FF0000"/>
                        </a:solidFill>
                        <a:latin typeface="Cambria Math" panose="02040503050406030204" pitchFamily="18" charset="0"/>
                      </a:rPr>
                      <m:t> </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𝑷𝒂𝒚𝒎𝒆𝒏𝒕</m:t>
                    </m:r>
                    <m:r>
                      <a:rPr lang="en-US" sz="2400" b="1" i="1" dirty="0" smtClean="0">
                        <a:solidFill>
                          <a:srgbClr val="FF0000"/>
                        </a:solidFill>
                        <a:latin typeface="Cambria Math" panose="02040503050406030204" pitchFamily="18" charset="0"/>
                      </a:rPr>
                      <m:t>) </m:t>
                    </m:r>
                  </m:oMath>
                </a14:m>
                <a:r>
                  <a:rPr lang="mn-MN" sz="2400" dirty="0">
                    <a:solidFill>
                      <a:srgbClr val="002060"/>
                    </a:solidFill>
                    <a:latin typeface="Times New Roman" panose="02020603050405020304" pitchFamily="18" charset="0"/>
                    <a:cs typeface="Times New Roman" panose="02020603050405020304" pitchFamily="18" charset="0"/>
                  </a:rPr>
                  <a:t>гэж тэмдэглэсэн байдаг. </a:t>
                </a:r>
                <a:endParaRPr lang="en-US" sz="24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4381587A-2E4F-45BF-8991-9321BC6C52BC}"/>
                  </a:ext>
                </a:extLst>
              </p:cNvPr>
              <p:cNvSpPr txBox="1">
                <a:spLocks noRot="1" noChangeAspect="1" noMove="1" noResize="1" noEditPoints="1" noAdjustHandles="1" noChangeArrowheads="1" noChangeShapeType="1" noTextEdit="1"/>
              </p:cNvSpPr>
              <p:nvPr/>
            </p:nvSpPr>
            <p:spPr>
              <a:xfrm>
                <a:off x="8843888" y="2290963"/>
                <a:ext cx="3096320" cy="2308324"/>
              </a:xfrm>
              <a:prstGeom prst="rect">
                <a:avLst/>
              </a:prstGeom>
              <a:blipFill>
                <a:blip r:embed="rId5"/>
                <a:stretch>
                  <a:fillRect l="-3150" t="-2116" r="-4134" b="-5291"/>
                </a:stretch>
              </a:blipFill>
            </p:spPr>
            <p:txBody>
              <a:bodyPr/>
              <a:lstStyle/>
              <a:p>
                <a:r>
                  <a:rPr lang="en-US">
                    <a:noFill/>
                  </a:rPr>
                  <a:t> </a:t>
                </a:r>
              </a:p>
            </p:txBody>
          </p:sp>
        </mc:Fallback>
      </mc:AlternateContent>
    </p:spTree>
    <p:extLst>
      <p:ext uri="{BB962C8B-B14F-4D97-AF65-F5344CB8AC3E}">
        <p14:creationId xmlns:p14="http://schemas.microsoft.com/office/powerpoint/2010/main" val="1339219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52400" y="86893"/>
                <a:ext cx="11887200" cy="943182"/>
              </a:xfrm>
            </p:spPr>
            <p:txBody>
              <a:bodyPr>
                <a:noAutofit/>
              </a:bodyPr>
              <a:lstStyle/>
              <a:p>
                <a:r>
                  <a:rPr lang="mn-MN" sz="260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a:t>
                </a:r>
                <a:r>
                  <a:rPr lang="mn-MN" sz="2800" b="1"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mn-MN" sz="2800" b="1" i="1" dirty="0">
                        <a:solidFill>
                          <a:schemeClr val="accent2">
                            <a:lumMod val="75000"/>
                          </a:schemeClr>
                        </a:solidFill>
                        <a:latin typeface="Cambria Math" panose="02040503050406030204" pitchFamily="18" charset="0"/>
                      </a:rPr>
                      <m:t>𝑨</m:t>
                    </m:r>
                    <m:r>
                      <a:rPr lang="mn-MN" sz="2800" b="1" i="1" dirty="0">
                        <a:solidFill>
                          <a:schemeClr val="accent2">
                            <a:lumMod val="75000"/>
                          </a:schemeClr>
                        </a:solidFill>
                        <a:latin typeface="Cambria Math" panose="02040503050406030204" pitchFamily="18" charset="0"/>
                      </a:rPr>
                      <m:t> </m:t>
                    </m:r>
                  </m:oMath>
                </a14:m>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smtClean="0">
                        <a:solidFill>
                          <a:schemeClr val="accent2">
                            <a:lumMod val="75000"/>
                          </a:schemeClr>
                        </a:solidFill>
                        <a:latin typeface="Cambria Math" panose="02040503050406030204" pitchFamily="18" charset="0"/>
                      </a:rPr>
                      <m:t>𝑷</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-г олох </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52400" y="86893"/>
                <a:ext cx="11887200" cy="943182"/>
              </a:xfrm>
              <a:blipFill>
                <a:blip r:embed="rId3"/>
                <a:stretch>
                  <a:fillRect l="-923" t="-3871" r="-1385" b="-1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52400" y="1030454"/>
                <a:ext cx="11887200" cy="4833967"/>
              </a:xfrm>
            </p:spPr>
            <p:txBody>
              <a:bodyPr>
                <a:normAutofit lnSpcReduction="10000"/>
              </a:bodyPr>
              <a:lstStyle/>
              <a:p>
                <a:r>
                  <a:rPr lang="en-US" sz="2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sz="3000">
                        <a:solidFill>
                          <a:srgbClr val="FF0000"/>
                        </a:solidFill>
                        <a:latin typeface="Cambria Math" panose="02040503050406030204" pitchFamily="18" charset="0"/>
                      </a:rPr>
                      <m:t>𝑭</m:t>
                    </m:r>
                    <m:r>
                      <a:rPr lang="en-US" sz="3000" b="0" i="1" smtClean="0">
                        <a:solidFill>
                          <a:srgbClr val="FF0000"/>
                        </a:solidFill>
                        <a:latin typeface="Cambria Math" panose="02040503050406030204" pitchFamily="18" charset="0"/>
                      </a:rPr>
                      <m:t>𝑉</m:t>
                    </m:r>
                    <m:r>
                      <a:rPr lang="en-US" sz="3000">
                        <a:solidFill>
                          <a:srgbClr val="FF0000"/>
                        </a:solidFill>
                        <a:latin typeface="Cambria Math" panose="02040503050406030204" pitchFamily="18" charset="0"/>
                      </a:rPr>
                      <m:t>=</m:t>
                    </m:r>
                    <m:r>
                      <a:rPr lang="en-US" sz="3000">
                        <a:solidFill>
                          <a:srgbClr val="FF0000"/>
                        </a:solidFill>
                        <a:latin typeface="Cambria Math" panose="02040503050406030204" pitchFamily="18" charset="0"/>
                      </a:rPr>
                      <m:t>𝑷</m:t>
                    </m:r>
                    <m:r>
                      <a:rPr lang="en-US" sz="3000" b="0" i="1" smtClean="0">
                        <a:solidFill>
                          <a:srgbClr val="FF0000"/>
                        </a:solidFill>
                        <a:latin typeface="Cambria Math" panose="02040503050406030204" pitchFamily="18" charset="0"/>
                      </a:rPr>
                      <m:t>𝑉</m:t>
                    </m:r>
                    <m:sSup>
                      <m:sSupPr>
                        <m:ctrlPr>
                          <a:rPr lang="en-US" sz="3000" i="1">
                            <a:solidFill>
                              <a:srgbClr val="FF0000"/>
                            </a:solidFill>
                            <a:latin typeface="Cambria Math" panose="02040503050406030204" pitchFamily="18" charset="0"/>
                          </a:rPr>
                        </m:ctrlPr>
                      </m:sSupPr>
                      <m:e>
                        <m:d>
                          <m:dPr>
                            <m:ctrlPr>
                              <a:rPr lang="en-US" sz="3000" i="1">
                                <a:solidFill>
                                  <a:srgbClr val="FF0000"/>
                                </a:solidFill>
                                <a:latin typeface="Cambria Math" panose="02040503050406030204" pitchFamily="18" charset="0"/>
                              </a:rPr>
                            </m:ctrlPr>
                          </m:dPr>
                          <m:e>
                            <m:r>
                              <a:rPr lang="en-US" sz="3000">
                                <a:solidFill>
                                  <a:srgbClr val="FF0000"/>
                                </a:solidFill>
                                <a:latin typeface="Cambria Math" panose="02040503050406030204" pitchFamily="18" charset="0"/>
                              </a:rPr>
                              <m:t>𝟏</m:t>
                            </m:r>
                            <m:r>
                              <a:rPr lang="en-US" sz="3000">
                                <a:solidFill>
                                  <a:srgbClr val="FF0000"/>
                                </a:solidFill>
                                <a:latin typeface="Cambria Math" panose="02040503050406030204" pitchFamily="18" charset="0"/>
                              </a:rPr>
                              <m:t>+</m:t>
                            </m:r>
                            <m:r>
                              <a:rPr lang="en-US" sz="3000">
                                <a:solidFill>
                                  <a:srgbClr val="FF0000"/>
                                </a:solidFill>
                                <a:latin typeface="Cambria Math" panose="02040503050406030204" pitchFamily="18" charset="0"/>
                              </a:rPr>
                              <m:t>𝒊</m:t>
                            </m:r>
                          </m:e>
                        </m:d>
                      </m:e>
                      <m:sup>
                        <m:r>
                          <a:rPr lang="en-US" sz="3000">
                            <a:solidFill>
                              <a:srgbClr val="FF0000"/>
                            </a:solidFill>
                            <a:latin typeface="Cambria Math" panose="02040503050406030204" pitchFamily="18" charset="0"/>
                          </a:rPr>
                          <m:t>𝑵</m:t>
                        </m:r>
                      </m:sup>
                    </m:sSup>
                    <m:r>
                      <a:rPr lang="en-US" sz="3000" i="1">
                        <a:solidFill>
                          <a:srgbClr val="FF0000"/>
                        </a:solidFill>
                        <a:latin typeface="Cambria Math" panose="02040503050406030204" pitchFamily="18" charset="0"/>
                      </a:rPr>
                      <m:t> </m:t>
                    </m:r>
                  </m:oMath>
                </a14:m>
                <a:r>
                  <a:rPr lang="mn-MN" sz="2600" dirty="0">
                    <a:solidFill>
                      <a:srgbClr val="002060"/>
                    </a:solidFill>
                    <a:latin typeface="Times New Roman" panose="02020603050405020304" pitchFamily="18" charset="0"/>
                    <a:cs typeface="Times New Roman" panose="02020603050405020304" pitchFamily="18" charset="0"/>
                  </a:rPr>
                  <a:t>тэгшитгэлийг  </a:t>
                </a:r>
                <a14:m>
                  <m:oMath xmlns:m="http://schemas.openxmlformats.org/officeDocument/2006/math">
                    <m:r>
                      <a:rPr lang="mn-MN" sz="3000" smtClean="0">
                        <a:solidFill>
                          <a:srgbClr val="FF0000"/>
                        </a:solidFill>
                        <a:latin typeface="Cambria Math" panose="02040503050406030204" pitchFamily="18" charset="0"/>
                      </a:rPr>
                      <m:t>𝑭</m:t>
                    </m:r>
                    <m:r>
                      <a:rPr lang="en-US" sz="3000" b="1" i="1" smtClean="0">
                        <a:solidFill>
                          <a:srgbClr val="FF0000"/>
                        </a:solidFill>
                        <a:latin typeface="Cambria Math" panose="02040503050406030204" pitchFamily="18" charset="0"/>
                      </a:rPr>
                      <m:t>𝑽</m:t>
                    </m:r>
                    <m:r>
                      <a:rPr lang="mn-MN" sz="3000" smtClean="0">
                        <a:solidFill>
                          <a:srgbClr val="FF0000"/>
                        </a:solidFill>
                        <a:latin typeface="Cambria Math" panose="02040503050406030204" pitchFamily="18" charset="0"/>
                      </a:rPr>
                      <m:t>=</m:t>
                    </m:r>
                    <m:r>
                      <a:rPr lang="mn-MN" sz="3000" smtClean="0">
                        <a:solidFill>
                          <a:srgbClr val="FF0000"/>
                        </a:solidFill>
                        <a:latin typeface="Cambria Math" panose="02040503050406030204" pitchFamily="18" charset="0"/>
                      </a:rPr>
                      <m:t>𝑨</m:t>
                    </m:r>
                    <m:d>
                      <m:dPr>
                        <m:begChr m:val="["/>
                        <m:endChr m:val="]"/>
                        <m:ctrlPr>
                          <a:rPr lang="en-US" sz="3000" i="1">
                            <a:solidFill>
                              <a:srgbClr val="FF0000"/>
                            </a:solidFill>
                            <a:latin typeface="Cambria Math" panose="02040503050406030204" pitchFamily="18" charset="0"/>
                          </a:rPr>
                        </m:ctrlPr>
                      </m:dPr>
                      <m:e>
                        <m:f>
                          <m:fPr>
                            <m:ctrlPr>
                              <a:rPr lang="en-US" sz="3000" i="1">
                                <a:solidFill>
                                  <a:srgbClr val="FF0000"/>
                                </a:solidFill>
                                <a:latin typeface="Cambria Math" panose="02040503050406030204" pitchFamily="18" charset="0"/>
                              </a:rPr>
                            </m:ctrlPr>
                          </m:fPr>
                          <m:num>
                            <m:sSup>
                              <m:sSupPr>
                                <m:ctrlPr>
                                  <a:rPr lang="en-US" sz="3000" i="1">
                                    <a:solidFill>
                                      <a:srgbClr val="FF0000"/>
                                    </a:solidFill>
                                    <a:latin typeface="Cambria Math" panose="02040503050406030204" pitchFamily="18" charset="0"/>
                                  </a:rPr>
                                </m:ctrlPr>
                              </m:sSupPr>
                              <m:e>
                                <m:d>
                                  <m:dPr>
                                    <m:ctrlPr>
                                      <a:rPr lang="en-US" sz="3000" i="1">
                                        <a:solidFill>
                                          <a:srgbClr val="FF0000"/>
                                        </a:solidFill>
                                        <a:latin typeface="Cambria Math" panose="02040503050406030204" pitchFamily="18" charset="0"/>
                                      </a:rPr>
                                    </m:ctrlPr>
                                  </m:dPr>
                                  <m:e>
                                    <m:r>
                                      <a:rPr lang="mn-MN" sz="3000">
                                        <a:solidFill>
                                          <a:srgbClr val="FF0000"/>
                                        </a:solidFill>
                                        <a:latin typeface="Cambria Math" panose="02040503050406030204" pitchFamily="18" charset="0"/>
                                      </a:rPr>
                                      <m:t>𝟏</m:t>
                                    </m:r>
                                    <m:r>
                                      <a:rPr lang="mn-MN" sz="3000">
                                        <a:solidFill>
                                          <a:srgbClr val="FF0000"/>
                                        </a:solidFill>
                                        <a:latin typeface="Cambria Math" panose="02040503050406030204" pitchFamily="18" charset="0"/>
                                      </a:rPr>
                                      <m:t>+</m:t>
                                    </m:r>
                                    <m:r>
                                      <a:rPr lang="mn-MN" sz="3000">
                                        <a:solidFill>
                                          <a:srgbClr val="FF0000"/>
                                        </a:solidFill>
                                        <a:latin typeface="Cambria Math" panose="02040503050406030204" pitchFamily="18" charset="0"/>
                                      </a:rPr>
                                      <m:t>𝒊</m:t>
                                    </m:r>
                                  </m:e>
                                </m:d>
                              </m:e>
                              <m:sup>
                                <m:r>
                                  <a:rPr lang="mn-MN" sz="3000">
                                    <a:solidFill>
                                      <a:srgbClr val="FF0000"/>
                                    </a:solidFill>
                                    <a:latin typeface="Cambria Math" panose="02040503050406030204" pitchFamily="18" charset="0"/>
                                  </a:rPr>
                                  <m:t>𝑵</m:t>
                                </m:r>
                              </m:sup>
                            </m:sSup>
                            <m:r>
                              <a:rPr lang="mn-MN" sz="3000">
                                <a:solidFill>
                                  <a:srgbClr val="FF0000"/>
                                </a:solidFill>
                                <a:latin typeface="Cambria Math" panose="02040503050406030204" pitchFamily="18" charset="0"/>
                              </a:rPr>
                              <m:t>−</m:t>
                            </m:r>
                            <m:r>
                              <a:rPr lang="mn-MN" sz="3000">
                                <a:solidFill>
                                  <a:srgbClr val="FF0000"/>
                                </a:solidFill>
                                <a:latin typeface="Cambria Math" panose="02040503050406030204" pitchFamily="18" charset="0"/>
                              </a:rPr>
                              <m:t>𝟏</m:t>
                            </m:r>
                          </m:num>
                          <m:den>
                            <m:r>
                              <a:rPr lang="mn-MN" sz="3000">
                                <a:solidFill>
                                  <a:srgbClr val="FF0000"/>
                                </a:solidFill>
                                <a:latin typeface="Cambria Math" panose="02040503050406030204" pitchFamily="18" charset="0"/>
                              </a:rPr>
                              <m:t>𝒊</m:t>
                            </m:r>
                          </m:den>
                        </m:f>
                      </m:e>
                    </m:d>
                  </m:oMath>
                </a14:m>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latin typeface="Times New Roman" panose="02020603050405020304" pitchFamily="18" charset="0"/>
                    <a:cs typeface="Times New Roman" panose="02020603050405020304" pitchFamily="18" charset="0"/>
                  </a:rPr>
                  <a:t>тэгшитгэлд орлуулвал: </a:t>
                </a:r>
              </a:p>
              <a:p>
                <a:pPr marL="0" indent="0">
                  <a:buNone/>
                </a:pPr>
                <a:endParaRPr lang="mn-MN" sz="1400" i="1"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3000" i="1" smtClean="0">
                          <a:solidFill>
                            <a:srgbClr val="FF0000"/>
                          </a:solidFill>
                          <a:latin typeface="Cambria Math" panose="02040503050406030204" pitchFamily="18" charset="0"/>
                        </a:rPr>
                        <m:t>𝑃</m:t>
                      </m:r>
                      <m:r>
                        <a:rPr lang="en-US" sz="3000" b="0" i="1" smtClean="0">
                          <a:solidFill>
                            <a:srgbClr val="FF0000"/>
                          </a:solidFill>
                          <a:latin typeface="Cambria Math" panose="02040503050406030204" pitchFamily="18" charset="0"/>
                        </a:rPr>
                        <m:t>𝑉</m:t>
                      </m:r>
                      <m:sSup>
                        <m:sSupPr>
                          <m:ctrlPr>
                            <a:rPr lang="en-US" sz="3000" i="1">
                              <a:solidFill>
                                <a:srgbClr val="FF0000"/>
                              </a:solidFill>
                              <a:latin typeface="Cambria Math" panose="02040503050406030204" pitchFamily="18" charset="0"/>
                            </a:rPr>
                          </m:ctrlPr>
                        </m:sSupPr>
                        <m:e>
                          <m:d>
                            <m:dPr>
                              <m:ctrlPr>
                                <a:rPr lang="en-US" sz="3000" i="1">
                                  <a:solidFill>
                                    <a:srgbClr val="FF0000"/>
                                  </a:solidFill>
                                  <a:latin typeface="Cambria Math" panose="02040503050406030204" pitchFamily="18" charset="0"/>
                                </a:rPr>
                              </m:ctrlPr>
                            </m:dPr>
                            <m:e>
                              <m:r>
                                <a:rPr lang="en-US" sz="3000">
                                  <a:solidFill>
                                    <a:srgbClr val="FF0000"/>
                                  </a:solidFill>
                                  <a:latin typeface="Cambria Math" panose="02040503050406030204" pitchFamily="18" charset="0"/>
                                </a:rPr>
                                <m:t>1+</m:t>
                              </m:r>
                              <m:r>
                                <a:rPr lang="en-US" sz="3000" i="1">
                                  <a:solidFill>
                                    <a:srgbClr val="FF0000"/>
                                  </a:solidFill>
                                  <a:latin typeface="Cambria Math" panose="02040503050406030204" pitchFamily="18" charset="0"/>
                                </a:rPr>
                                <m:t>𝑖</m:t>
                              </m:r>
                            </m:e>
                          </m:d>
                        </m:e>
                        <m:sup>
                          <m:r>
                            <a:rPr lang="en-US" sz="3000" i="1">
                              <a:solidFill>
                                <a:srgbClr val="FF0000"/>
                              </a:solidFill>
                              <a:latin typeface="Cambria Math" panose="02040503050406030204" pitchFamily="18" charset="0"/>
                            </a:rPr>
                            <m:t>𝑁</m:t>
                          </m:r>
                        </m:sup>
                      </m:sSup>
                      <m:r>
                        <a:rPr lang="en-US" sz="3000">
                          <a:solidFill>
                            <a:srgbClr val="FF0000"/>
                          </a:solidFill>
                          <a:latin typeface="Cambria Math" panose="02040503050406030204" pitchFamily="18" charset="0"/>
                        </a:rPr>
                        <m:t>=</m:t>
                      </m:r>
                      <m:r>
                        <a:rPr lang="en-US" sz="3000" i="1">
                          <a:solidFill>
                            <a:srgbClr val="FF0000"/>
                          </a:solidFill>
                          <a:latin typeface="Cambria Math" panose="02040503050406030204" pitchFamily="18" charset="0"/>
                        </a:rPr>
                        <m:t>𝐴</m:t>
                      </m:r>
                      <m:d>
                        <m:dPr>
                          <m:begChr m:val="["/>
                          <m:endChr m:val="]"/>
                          <m:ctrlPr>
                            <a:rPr lang="en-US" sz="3000" i="1">
                              <a:solidFill>
                                <a:srgbClr val="FF0000"/>
                              </a:solidFill>
                              <a:latin typeface="Cambria Math" panose="02040503050406030204" pitchFamily="18" charset="0"/>
                            </a:rPr>
                          </m:ctrlPr>
                        </m:dPr>
                        <m:e>
                          <m:f>
                            <m:fPr>
                              <m:ctrlPr>
                                <a:rPr lang="en-US" sz="3000" i="1">
                                  <a:solidFill>
                                    <a:srgbClr val="FF0000"/>
                                  </a:solidFill>
                                  <a:latin typeface="Cambria Math" panose="02040503050406030204" pitchFamily="18" charset="0"/>
                                </a:rPr>
                              </m:ctrlPr>
                            </m:fPr>
                            <m:num>
                              <m:sSup>
                                <m:sSupPr>
                                  <m:ctrlPr>
                                    <a:rPr lang="en-US" sz="3000" i="1">
                                      <a:solidFill>
                                        <a:srgbClr val="FF0000"/>
                                      </a:solidFill>
                                      <a:latin typeface="Cambria Math" panose="02040503050406030204" pitchFamily="18" charset="0"/>
                                    </a:rPr>
                                  </m:ctrlPr>
                                </m:sSupPr>
                                <m:e>
                                  <m:d>
                                    <m:dPr>
                                      <m:ctrlPr>
                                        <a:rPr lang="en-US" sz="3000" i="1">
                                          <a:solidFill>
                                            <a:srgbClr val="FF0000"/>
                                          </a:solidFill>
                                          <a:latin typeface="Cambria Math" panose="02040503050406030204" pitchFamily="18" charset="0"/>
                                        </a:rPr>
                                      </m:ctrlPr>
                                    </m:dPr>
                                    <m:e>
                                      <m:r>
                                        <a:rPr lang="en-US" sz="3000">
                                          <a:solidFill>
                                            <a:srgbClr val="FF0000"/>
                                          </a:solidFill>
                                          <a:latin typeface="Cambria Math" panose="02040503050406030204" pitchFamily="18" charset="0"/>
                                        </a:rPr>
                                        <m:t>1+</m:t>
                                      </m:r>
                                      <m:r>
                                        <a:rPr lang="en-US" sz="3000" i="1">
                                          <a:solidFill>
                                            <a:srgbClr val="FF0000"/>
                                          </a:solidFill>
                                          <a:latin typeface="Cambria Math" panose="02040503050406030204" pitchFamily="18" charset="0"/>
                                        </a:rPr>
                                        <m:t>𝑖</m:t>
                                      </m:r>
                                    </m:e>
                                  </m:d>
                                </m:e>
                                <m:sup>
                                  <m:r>
                                    <a:rPr lang="en-US" sz="3000" i="1">
                                      <a:solidFill>
                                        <a:srgbClr val="FF0000"/>
                                      </a:solidFill>
                                      <a:latin typeface="Cambria Math" panose="02040503050406030204" pitchFamily="18" charset="0"/>
                                    </a:rPr>
                                    <m:t>𝑁</m:t>
                                  </m:r>
                                </m:sup>
                              </m:sSup>
                              <m:r>
                                <a:rPr lang="en-US" sz="3000">
                                  <a:solidFill>
                                    <a:srgbClr val="FF0000"/>
                                  </a:solidFill>
                                  <a:latin typeface="Cambria Math" panose="02040503050406030204" pitchFamily="18" charset="0"/>
                                </a:rPr>
                                <m:t>−1</m:t>
                              </m:r>
                            </m:num>
                            <m:den>
                              <m:r>
                                <a:rPr lang="en-US" sz="3000" i="1">
                                  <a:solidFill>
                                    <a:srgbClr val="FF0000"/>
                                  </a:solidFill>
                                  <a:latin typeface="Cambria Math" panose="02040503050406030204" pitchFamily="18" charset="0"/>
                                </a:rPr>
                                <m:t>𝑖</m:t>
                              </m:r>
                            </m:den>
                          </m:f>
                        </m:e>
                      </m:d>
                    </m:oMath>
                  </m:oMathPara>
                </a14:m>
                <a:endParaRPr lang="mn-MN" sz="3000" dirty="0">
                  <a:solidFill>
                    <a:srgbClr val="002060"/>
                  </a:solidFill>
                  <a:latin typeface="Times New Roman" panose="02020603050405020304" pitchFamily="18" charset="0"/>
                  <a:cs typeface="Times New Roman" panose="02020603050405020304" pitchFamily="18" charset="0"/>
                </a:endParaRPr>
              </a:p>
              <a:p>
                <a:r>
                  <a:rPr lang="mn-MN" sz="2600" dirty="0">
                    <a:solidFill>
                      <a:srgbClr val="002060"/>
                    </a:solidFill>
                    <a:latin typeface="Times New Roman" panose="02020603050405020304" pitchFamily="18" charset="0"/>
                    <a:cs typeface="Times New Roman" panose="02020603050405020304" pitchFamily="18" charset="0"/>
                  </a:rPr>
                  <a:t>Тэгшитгэлийг </a:t>
                </a:r>
                <a14:m>
                  <m:oMath xmlns:m="http://schemas.openxmlformats.org/officeDocument/2006/math">
                    <m:sSup>
                      <m:sSupPr>
                        <m:ctrlPr>
                          <a:rPr lang="en-US" sz="3200" i="1" smtClean="0">
                            <a:solidFill>
                              <a:srgbClr val="FF0000"/>
                            </a:solidFill>
                            <a:latin typeface="Cambria Math" panose="02040503050406030204" pitchFamily="18" charset="0"/>
                          </a:rPr>
                        </m:ctrlPr>
                      </m:sSupPr>
                      <m:e>
                        <m:d>
                          <m:dPr>
                            <m:ctrlPr>
                              <a:rPr lang="en-US" sz="3200" i="1">
                                <a:solidFill>
                                  <a:srgbClr val="FF0000"/>
                                </a:solidFill>
                                <a:latin typeface="Cambria Math" panose="02040503050406030204" pitchFamily="18" charset="0"/>
                              </a:rPr>
                            </m:ctrlPr>
                          </m:dPr>
                          <m:e>
                            <m:r>
                              <a:rPr lang="en-US" sz="3200">
                                <a:solidFill>
                                  <a:srgbClr val="FF0000"/>
                                </a:solidFill>
                                <a:latin typeface="Cambria Math" panose="02040503050406030204" pitchFamily="18" charset="0"/>
                              </a:rPr>
                              <m:t>1+</m:t>
                            </m:r>
                            <m:r>
                              <a:rPr lang="en-US" sz="3200" i="1">
                                <a:solidFill>
                                  <a:srgbClr val="FF0000"/>
                                </a:solidFill>
                                <a:latin typeface="Cambria Math" panose="02040503050406030204" pitchFamily="18" charset="0"/>
                              </a:rPr>
                              <m:t>𝑖</m:t>
                            </m:r>
                          </m:e>
                        </m:d>
                      </m:e>
                      <m:sup>
                        <m:r>
                          <a:rPr lang="en-US" sz="3200" i="1">
                            <a:solidFill>
                              <a:srgbClr val="FF0000"/>
                            </a:solidFill>
                            <a:latin typeface="Cambria Math" panose="02040503050406030204" pitchFamily="18" charset="0"/>
                          </a:rPr>
                          <m:t>𝑁</m:t>
                        </m:r>
                      </m:sup>
                    </m:sSup>
                  </m:oMath>
                </a14:m>
                <a:r>
                  <a:rPr lang="mn-MN" sz="2600" dirty="0">
                    <a:solidFill>
                      <a:srgbClr val="002060"/>
                    </a:solidFill>
                    <a:latin typeface="Times New Roman" panose="02020603050405020304" pitchFamily="18" charset="0"/>
                    <a:cs typeface="Times New Roman" panose="02020603050405020304" pitchFamily="18" charset="0"/>
                  </a:rPr>
                  <a:t>-д хуваавал: </a:t>
                </a:r>
              </a:p>
              <a:p>
                <a:endParaRPr lang="mn-MN" sz="2600"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mn-MN" sz="3200" b="1" i="1">
                              <a:solidFill>
                                <a:srgbClr val="FF0000"/>
                              </a:solidFill>
                              <a:latin typeface="Cambria Math" panose="02040503050406030204" pitchFamily="18" charset="0"/>
                            </a:rPr>
                          </m:ctrlPr>
                        </m:sSubPr>
                        <m:e>
                          <m:r>
                            <a:rPr lang="mn-MN" sz="3200" b="1" i="1">
                              <a:solidFill>
                                <a:srgbClr val="FF0000"/>
                              </a:solidFill>
                              <a:latin typeface="Cambria Math" panose="02040503050406030204" pitchFamily="18" charset="0"/>
                            </a:rPr>
                            <m:t>𝑷</m:t>
                          </m:r>
                          <m:r>
                            <a:rPr lang="en-US" sz="3200" b="1" i="1">
                              <a:solidFill>
                                <a:srgbClr val="FF0000"/>
                              </a:solidFill>
                              <a:latin typeface="Cambria Math" panose="02040503050406030204" pitchFamily="18" charset="0"/>
                            </a:rPr>
                            <m:t>𝑽𝑨</m:t>
                          </m:r>
                        </m:e>
                        <m:sub>
                          <m:r>
                            <a:rPr lang="en-US" sz="3200" b="1" i="1">
                              <a:solidFill>
                                <a:srgbClr val="FF0000"/>
                              </a:solidFill>
                              <a:latin typeface="Cambria Math" panose="02040503050406030204" pitchFamily="18" charset="0"/>
                            </a:rPr>
                            <m:t>𝒏</m:t>
                          </m:r>
                        </m:sub>
                      </m:sSub>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𝑨</m:t>
                      </m:r>
                      <m:d>
                        <m:dPr>
                          <m:begChr m:val="["/>
                          <m:endChr m:val="]"/>
                          <m:ctrlPr>
                            <a:rPr lang="en-US" sz="3200" b="1" i="1">
                              <a:solidFill>
                                <a:srgbClr val="FF0000"/>
                              </a:solidFill>
                              <a:latin typeface="Cambria Math" panose="02040503050406030204" pitchFamily="18" charset="0"/>
                            </a:rPr>
                          </m:ctrlPr>
                        </m:dPr>
                        <m:e>
                          <m:f>
                            <m:fPr>
                              <m:ctrlPr>
                                <a:rPr lang="en-US" sz="3200" b="1" i="1">
                                  <a:solidFill>
                                    <a:srgbClr val="FF0000"/>
                                  </a:solidFill>
                                  <a:latin typeface="Cambria Math" panose="02040503050406030204" pitchFamily="18" charset="0"/>
                                </a:rPr>
                              </m:ctrlPr>
                            </m:fPr>
                            <m:num>
                              <m:sSup>
                                <m:sSupPr>
                                  <m:ctrlPr>
                                    <a:rPr lang="en-US" sz="3200" b="1" i="1">
                                      <a:solidFill>
                                        <a:srgbClr val="FF0000"/>
                                      </a:solidFill>
                                      <a:latin typeface="Cambria Math" panose="02040503050406030204" pitchFamily="18" charset="0"/>
                                    </a:rPr>
                                  </m:ctrlPr>
                                </m:sSupPr>
                                <m:e>
                                  <m:d>
                                    <m:dPr>
                                      <m:ctrlPr>
                                        <a:rPr lang="en-US" sz="3200" b="1" i="1">
                                          <a:solidFill>
                                            <a:srgbClr val="FF0000"/>
                                          </a:solidFill>
                                          <a:latin typeface="Cambria Math" panose="02040503050406030204" pitchFamily="18" charset="0"/>
                                        </a:rPr>
                                      </m:ctrlPr>
                                    </m:dPr>
                                    <m:e>
                                      <m:r>
                                        <a:rPr lang="mn-MN" sz="3200" b="1" i="1">
                                          <a:solidFill>
                                            <a:srgbClr val="FF0000"/>
                                          </a:solidFill>
                                          <a:latin typeface="Cambria Math" panose="02040503050406030204" pitchFamily="18" charset="0"/>
                                        </a:rPr>
                                        <m:t>𝟏</m:t>
                                      </m:r>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𝒊</m:t>
                                      </m:r>
                                    </m:e>
                                  </m:d>
                                </m:e>
                                <m:sup>
                                  <m:r>
                                    <a:rPr lang="mn-MN" sz="3200" b="1" i="1">
                                      <a:solidFill>
                                        <a:srgbClr val="FF0000"/>
                                      </a:solidFill>
                                      <a:latin typeface="Cambria Math" panose="02040503050406030204" pitchFamily="18" charset="0"/>
                                    </a:rPr>
                                    <m:t>𝑵</m:t>
                                  </m:r>
                                </m:sup>
                              </m:sSup>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𝟏</m:t>
                              </m:r>
                            </m:num>
                            <m:den>
                              <m:r>
                                <a:rPr lang="mn-MN" sz="3200" b="1" i="1">
                                  <a:solidFill>
                                    <a:srgbClr val="FF0000"/>
                                  </a:solidFill>
                                  <a:latin typeface="Cambria Math" panose="02040503050406030204" pitchFamily="18" charset="0"/>
                                </a:rPr>
                                <m:t>𝒊</m:t>
                              </m:r>
                              <m:sSup>
                                <m:sSupPr>
                                  <m:ctrlPr>
                                    <a:rPr lang="en-US" sz="3200" b="1" i="1">
                                      <a:solidFill>
                                        <a:srgbClr val="FF0000"/>
                                      </a:solidFill>
                                      <a:latin typeface="Cambria Math" panose="02040503050406030204" pitchFamily="18" charset="0"/>
                                    </a:rPr>
                                  </m:ctrlPr>
                                </m:sSupPr>
                                <m:e>
                                  <m:d>
                                    <m:dPr>
                                      <m:ctrlPr>
                                        <a:rPr lang="en-US" sz="3200" b="1" i="1">
                                          <a:solidFill>
                                            <a:srgbClr val="FF0000"/>
                                          </a:solidFill>
                                          <a:latin typeface="Cambria Math" panose="02040503050406030204" pitchFamily="18" charset="0"/>
                                        </a:rPr>
                                      </m:ctrlPr>
                                    </m:dPr>
                                    <m:e>
                                      <m:r>
                                        <a:rPr lang="mn-MN" sz="3200" b="1" i="1">
                                          <a:solidFill>
                                            <a:srgbClr val="FF0000"/>
                                          </a:solidFill>
                                          <a:latin typeface="Cambria Math" panose="02040503050406030204" pitchFamily="18" charset="0"/>
                                        </a:rPr>
                                        <m:t>𝟏</m:t>
                                      </m:r>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𝒊</m:t>
                                      </m:r>
                                    </m:e>
                                  </m:d>
                                </m:e>
                                <m:sup>
                                  <m:r>
                                    <a:rPr lang="mn-MN" sz="3200" b="1" i="1">
                                      <a:solidFill>
                                        <a:srgbClr val="FF0000"/>
                                      </a:solidFill>
                                      <a:latin typeface="Cambria Math" panose="02040503050406030204" pitchFamily="18" charset="0"/>
                                    </a:rPr>
                                    <m:t>𝑵</m:t>
                                  </m:r>
                                </m:sup>
                              </m:sSup>
                            </m:den>
                          </m:f>
                        </m:e>
                      </m:d>
                    </m:oMath>
                  </m:oMathPara>
                </a14:m>
                <a:endParaRPr lang="mn-MN" sz="3000" b="1" dirty="0">
                  <a:solidFill>
                    <a:srgbClr val="002060"/>
                  </a:solidFill>
                  <a:latin typeface="Times New Roman" panose="02020603050405020304" pitchFamily="18" charset="0"/>
                  <a:cs typeface="Times New Roman" panose="02020603050405020304" pitchFamily="18" charset="0"/>
                </a:endParaRPr>
              </a:p>
              <a:p>
                <a:pPr marL="0" indent="0">
                  <a:buNone/>
                </a:pPr>
                <a:endParaRPr lang="mn-MN" sz="2400" b="1"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mn-MN" sz="3200" i="1" dirty="0">
                              <a:solidFill>
                                <a:srgbClr val="002060"/>
                              </a:solidFill>
                              <a:latin typeface="Cambria Math" panose="02040503050406030204" pitchFamily="18" charset="0"/>
                            </a:rPr>
                          </m:ctrlPr>
                        </m:sSubPr>
                        <m:e>
                          <m:r>
                            <a:rPr lang="mn-MN" sz="3200" i="1" dirty="0">
                              <a:solidFill>
                                <a:srgbClr val="002060"/>
                              </a:solidFill>
                              <a:latin typeface="Cambria Math" panose="02040503050406030204" pitchFamily="18" charset="0"/>
                            </a:rPr>
                            <m:t>𝑃</m:t>
                          </m:r>
                          <m:r>
                            <a:rPr lang="en-US" sz="3200" i="1" dirty="0">
                              <a:solidFill>
                                <a:srgbClr val="002060"/>
                              </a:solidFill>
                              <a:latin typeface="Cambria Math" panose="02040503050406030204" pitchFamily="18" charset="0"/>
                            </a:rPr>
                            <m:t>𝑉𝐴</m:t>
                          </m:r>
                        </m:e>
                        <m:sub>
                          <m:r>
                            <a:rPr lang="en-US" sz="3200" i="1" dirty="0">
                              <a:solidFill>
                                <a:srgbClr val="002060"/>
                              </a:solidFill>
                              <a:latin typeface="Cambria Math" panose="02040503050406030204" pitchFamily="18" charset="0"/>
                            </a:rPr>
                            <m:t>𝑛</m:t>
                          </m:r>
                        </m:sub>
                      </m:sSub>
                      <m:r>
                        <a:rPr lang="mn-MN" sz="3200" i="1" dirty="0">
                          <a:solidFill>
                            <a:srgbClr val="002060"/>
                          </a:solidFill>
                          <a:latin typeface="Cambria Math" panose="02040503050406030204" pitchFamily="18" charset="0"/>
                        </a:rPr>
                        <m:t>=</m:t>
                      </m:r>
                      <m:r>
                        <a:rPr lang="en-US" sz="3200" i="1" dirty="0">
                          <a:solidFill>
                            <a:srgbClr val="002060"/>
                          </a:solidFill>
                          <a:latin typeface="Cambria Math" panose="02040503050406030204" pitchFamily="18" charset="0"/>
                        </a:rPr>
                        <m:t>𝐴</m:t>
                      </m:r>
                      <m:r>
                        <a:rPr lang="mn-MN" sz="3200" i="1" dirty="0">
                          <a:solidFill>
                            <a:srgbClr val="002060"/>
                          </a:solidFill>
                          <a:latin typeface="Cambria Math" panose="02040503050406030204" pitchFamily="18" charset="0"/>
                        </a:rPr>
                        <m:t>(</m:t>
                      </m:r>
                      <m:r>
                        <a:rPr lang="mn-MN" sz="3200" i="1" dirty="0">
                          <a:solidFill>
                            <a:srgbClr val="002060"/>
                          </a:solidFill>
                          <a:latin typeface="Cambria Math" panose="02040503050406030204" pitchFamily="18" charset="0"/>
                        </a:rPr>
                        <m:t>𝑃</m:t>
                      </m:r>
                      <m:r>
                        <a:rPr lang="mn-MN" sz="3200" i="1" dirty="0">
                          <a:solidFill>
                            <a:srgbClr val="002060"/>
                          </a:solidFill>
                          <a:latin typeface="Cambria Math" panose="02040503050406030204" pitchFamily="18" charset="0"/>
                        </a:rPr>
                        <m:t>/</m:t>
                      </m:r>
                      <m:r>
                        <a:rPr lang="mn-MN" sz="3200" i="1" dirty="0">
                          <a:solidFill>
                            <a:srgbClr val="002060"/>
                          </a:solidFill>
                          <a:latin typeface="Cambria Math" panose="02040503050406030204" pitchFamily="18" charset="0"/>
                        </a:rPr>
                        <m:t>𝐴</m:t>
                      </m:r>
                      <m:r>
                        <a:rPr lang="mn-MN" sz="3200" i="1" dirty="0">
                          <a:solidFill>
                            <a:srgbClr val="002060"/>
                          </a:solidFill>
                          <a:latin typeface="Cambria Math" panose="02040503050406030204" pitchFamily="18" charset="0"/>
                        </a:rPr>
                        <m:t>,</m:t>
                      </m:r>
                      <m:r>
                        <a:rPr lang="mn-MN" sz="3200" i="1" dirty="0">
                          <a:solidFill>
                            <a:srgbClr val="002060"/>
                          </a:solidFill>
                          <a:latin typeface="Cambria Math" panose="02040503050406030204" pitchFamily="18" charset="0"/>
                        </a:rPr>
                        <m:t>𝑖</m:t>
                      </m:r>
                      <m:r>
                        <a:rPr lang="mn-MN" sz="3200" i="1" dirty="0">
                          <a:solidFill>
                            <a:srgbClr val="002060"/>
                          </a:solidFill>
                          <a:latin typeface="Cambria Math" panose="02040503050406030204" pitchFamily="18" charset="0"/>
                        </a:rPr>
                        <m:t>%,</m:t>
                      </m:r>
                      <m:r>
                        <a:rPr lang="mn-MN" sz="3200" i="1" dirty="0">
                          <a:solidFill>
                            <a:srgbClr val="002060"/>
                          </a:solidFill>
                          <a:latin typeface="Cambria Math" panose="02040503050406030204" pitchFamily="18" charset="0"/>
                        </a:rPr>
                        <m:t>𝑁</m:t>
                      </m:r>
                      <m:r>
                        <a:rPr lang="mn-MN" sz="3200" i="1" dirty="0">
                          <a:solidFill>
                            <a:srgbClr val="002060"/>
                          </a:solidFill>
                          <a:latin typeface="Cambria Math" panose="02040503050406030204" pitchFamily="18" charset="0"/>
                        </a:rPr>
                        <m:t>)</m:t>
                      </m:r>
                    </m:oMath>
                  </m:oMathPara>
                </a14:m>
                <a:endParaRPr lang="mn-MN" sz="4000" b="1" dirty="0">
                  <a:solidFill>
                    <a:srgbClr val="002060"/>
                  </a:solidFill>
                </a:endParaRPr>
              </a:p>
              <a:p>
                <a:endParaRPr lang="en-US" sz="3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52400" y="1030454"/>
                <a:ext cx="11887200" cy="4833967"/>
              </a:xfrm>
              <a:blipFill>
                <a:blip r:embed="rId4"/>
                <a:stretch>
                  <a:fillRect l="-769" t="-378"/>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0D8BA092-B714-BC88-39F8-E0DAE14D0D2E}"/>
              </a:ext>
            </a:extLst>
          </p:cNvPr>
          <p:cNvSpPr/>
          <p:nvPr/>
        </p:nvSpPr>
        <p:spPr>
          <a:xfrm>
            <a:off x="3657601" y="3632965"/>
            <a:ext cx="5082988" cy="12738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1B836F6-8006-EC68-1E08-9F92B5ADDF49}"/>
              </a:ext>
            </a:extLst>
          </p:cNvPr>
          <p:cNvSpPr/>
          <p:nvPr/>
        </p:nvSpPr>
        <p:spPr>
          <a:xfrm>
            <a:off x="3997633" y="5131622"/>
            <a:ext cx="4205073" cy="69592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2F61DE-8BF2-DF4F-0C4C-491E1AA3EE88}"/>
              </a:ext>
            </a:extLst>
          </p:cNvPr>
          <p:cNvSpPr txBox="1"/>
          <p:nvPr/>
        </p:nvSpPr>
        <p:spPr>
          <a:xfrm>
            <a:off x="9147528" y="5206022"/>
            <a:ext cx="2683315" cy="523220"/>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Тэмдэглэгээ</a:t>
            </a:r>
            <a:r>
              <a:rPr lang="en-US" sz="2800" dirty="0">
                <a:solidFill>
                  <a:srgbClr val="00206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2478A963-74F8-3D99-C55D-E37C0319B1CA}"/>
              </a:ext>
            </a:extLst>
          </p:cNvPr>
          <p:cNvCxnSpPr>
            <a:cxnSpLocks/>
          </p:cNvCxnSpPr>
          <p:nvPr/>
        </p:nvCxnSpPr>
        <p:spPr>
          <a:xfrm flipH="1">
            <a:off x="8310444" y="5467632"/>
            <a:ext cx="860290"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669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78904" y="131066"/>
                <a:ext cx="11834191" cy="93688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a:t>
                </a:r>
                <a14:m>
                  <m:oMath xmlns:m="http://schemas.openxmlformats.org/officeDocument/2006/math">
                    <m:r>
                      <a:rPr lang="mn-MN" sz="2800" b="1" i="0" dirty="0" smtClean="0">
                        <a:solidFill>
                          <a:schemeClr val="accent2">
                            <a:lumMod val="75000"/>
                          </a:schemeClr>
                        </a:solidFill>
                        <a:latin typeface="Cambria Math" panose="02040503050406030204" pitchFamily="18" charset="0"/>
                      </a:rPr>
                      <m:t>. </m:t>
                    </m:r>
                    <m:r>
                      <a:rPr lang="en-US" sz="2800" b="1" i="1" dirty="0" smtClean="0">
                        <a:solidFill>
                          <a:schemeClr val="accent2">
                            <a:lumMod val="75000"/>
                          </a:schemeClr>
                        </a:solidFill>
                        <a:latin typeface="Cambria Math" panose="02040503050406030204" pitchFamily="18" charset="0"/>
                      </a:rPr>
                      <m:t>𝑭</m:t>
                    </m:r>
                    <m:r>
                      <a:rPr lang="mn-MN" sz="2800" b="1" i="1" dirty="0">
                        <a:solidFill>
                          <a:schemeClr val="accent2">
                            <a:lumMod val="75000"/>
                          </a:schemeClr>
                        </a:solidFill>
                        <a:latin typeface="Cambria Math" panose="02040503050406030204" pitchFamily="18" charset="0"/>
                      </a:rPr>
                      <m:t> </m:t>
                    </m:r>
                  </m:oMath>
                </a14:m>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smtClean="0">
                        <a:solidFill>
                          <a:schemeClr val="accent2">
                            <a:lumMod val="75000"/>
                          </a:schemeClr>
                        </a:solidFill>
                        <a:latin typeface="Cambria Math" panose="02040503050406030204" pitchFamily="18" charset="0"/>
                      </a:rPr>
                      <m:t>𝑨</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-г олох </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78904" y="131066"/>
                <a:ext cx="11834191" cy="936882"/>
              </a:xfrm>
              <a:blipFill>
                <a:blip r:embed="rId3"/>
                <a:stretch>
                  <a:fillRect l="-772" t="-2614"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86176" y="1088982"/>
                <a:ext cx="11834191" cy="4351338"/>
              </a:xfrm>
            </p:spPr>
            <p:txBody>
              <a:bodyPr>
                <a:normAutofit/>
              </a:bodyPr>
              <a:lstStyle/>
              <a:p>
                <a14:m>
                  <m:oMath xmlns:m="http://schemas.openxmlformats.org/officeDocument/2006/math">
                    <m:r>
                      <a:rPr lang="mn-MN" sz="3200" b="1" i="1" smtClean="0">
                        <a:solidFill>
                          <a:srgbClr val="FF0000"/>
                        </a:solidFill>
                        <a:latin typeface="Cambria Math" panose="02040503050406030204" pitchFamily="18" charset="0"/>
                      </a:rPr>
                      <m:t>𝑭</m:t>
                    </m:r>
                    <m:r>
                      <a:rPr lang="en-US" sz="3200" b="1" i="1">
                        <a:solidFill>
                          <a:srgbClr val="FF0000"/>
                        </a:solidFill>
                        <a:latin typeface="Cambria Math" panose="02040503050406030204" pitchFamily="18" charset="0"/>
                      </a:rPr>
                      <m:t>𝑽</m:t>
                    </m:r>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𝑨</m:t>
                    </m:r>
                    <m:d>
                      <m:dPr>
                        <m:begChr m:val="["/>
                        <m:endChr m:val="]"/>
                        <m:ctrlPr>
                          <a:rPr lang="en-US" sz="3200" b="1" i="1">
                            <a:solidFill>
                              <a:srgbClr val="FF0000"/>
                            </a:solidFill>
                            <a:latin typeface="Cambria Math" panose="02040503050406030204" pitchFamily="18" charset="0"/>
                          </a:rPr>
                        </m:ctrlPr>
                      </m:dPr>
                      <m:e>
                        <m:f>
                          <m:fPr>
                            <m:ctrlPr>
                              <a:rPr lang="en-US" sz="3200" b="1" i="1">
                                <a:solidFill>
                                  <a:srgbClr val="FF0000"/>
                                </a:solidFill>
                                <a:latin typeface="Cambria Math" panose="02040503050406030204" pitchFamily="18" charset="0"/>
                              </a:rPr>
                            </m:ctrlPr>
                          </m:fPr>
                          <m:num>
                            <m:sSup>
                              <m:sSupPr>
                                <m:ctrlPr>
                                  <a:rPr lang="en-US" sz="3200" b="1" i="1">
                                    <a:solidFill>
                                      <a:srgbClr val="FF0000"/>
                                    </a:solidFill>
                                    <a:latin typeface="Cambria Math" panose="02040503050406030204" pitchFamily="18" charset="0"/>
                                  </a:rPr>
                                </m:ctrlPr>
                              </m:sSupPr>
                              <m:e>
                                <m:d>
                                  <m:dPr>
                                    <m:ctrlPr>
                                      <a:rPr lang="en-US" sz="3200" b="1" i="1">
                                        <a:solidFill>
                                          <a:srgbClr val="FF0000"/>
                                        </a:solidFill>
                                        <a:latin typeface="Cambria Math" panose="02040503050406030204" pitchFamily="18" charset="0"/>
                                      </a:rPr>
                                    </m:ctrlPr>
                                  </m:dPr>
                                  <m:e>
                                    <m:r>
                                      <a:rPr lang="mn-MN" sz="3200" b="1" i="1">
                                        <a:solidFill>
                                          <a:srgbClr val="FF0000"/>
                                        </a:solidFill>
                                        <a:latin typeface="Cambria Math" panose="02040503050406030204" pitchFamily="18" charset="0"/>
                                      </a:rPr>
                                      <m:t>𝟏</m:t>
                                    </m:r>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𝒊</m:t>
                                    </m:r>
                                  </m:e>
                                </m:d>
                              </m:e>
                              <m:sup>
                                <m:r>
                                  <a:rPr lang="mn-MN" sz="3200" b="1" i="1">
                                    <a:solidFill>
                                      <a:srgbClr val="FF0000"/>
                                    </a:solidFill>
                                    <a:latin typeface="Cambria Math" panose="02040503050406030204" pitchFamily="18" charset="0"/>
                                  </a:rPr>
                                  <m:t>𝑵</m:t>
                                </m:r>
                              </m:sup>
                            </m:sSup>
                            <m:r>
                              <a:rPr lang="mn-MN" sz="3200" b="1" i="1">
                                <a:solidFill>
                                  <a:srgbClr val="FF0000"/>
                                </a:solidFill>
                                <a:latin typeface="Cambria Math" panose="02040503050406030204" pitchFamily="18" charset="0"/>
                              </a:rPr>
                              <m:t>−</m:t>
                            </m:r>
                            <m:r>
                              <a:rPr lang="mn-MN" sz="3200" b="1" i="1">
                                <a:solidFill>
                                  <a:srgbClr val="FF0000"/>
                                </a:solidFill>
                                <a:latin typeface="Cambria Math" panose="02040503050406030204" pitchFamily="18" charset="0"/>
                              </a:rPr>
                              <m:t>𝟏</m:t>
                            </m:r>
                          </m:num>
                          <m:den>
                            <m:r>
                              <a:rPr lang="mn-MN" sz="3200" b="1" i="1">
                                <a:solidFill>
                                  <a:srgbClr val="FF0000"/>
                                </a:solidFill>
                                <a:latin typeface="Cambria Math" panose="02040503050406030204" pitchFamily="18" charset="0"/>
                              </a:rPr>
                              <m:t>𝒊</m:t>
                            </m:r>
                          </m:den>
                        </m:f>
                      </m:e>
                    </m:d>
                  </m:oMath>
                </a14:m>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тэгшитгэлээс </a:t>
                </a:r>
                <a14:m>
                  <m:oMath xmlns:m="http://schemas.openxmlformats.org/officeDocument/2006/math">
                    <m:r>
                      <a:rPr lang="mn-MN" sz="3200" b="0" i="1">
                        <a:solidFill>
                          <a:srgbClr val="FF0000"/>
                        </a:solidFill>
                        <a:latin typeface="Cambria Math" panose="02040503050406030204" pitchFamily="18" charset="0"/>
                      </a:rPr>
                      <m:t>𝐴</m:t>
                    </m:r>
                  </m:oMath>
                </a14:m>
                <a:r>
                  <a:rPr lang="mn-MN" sz="3200" dirty="0">
                    <a:solidFill>
                      <a:srgbClr val="002060"/>
                    </a:solidFill>
                    <a:latin typeface="Times New Roman" panose="02020603050405020304" pitchFamily="18" charset="0"/>
                    <a:cs typeface="Times New Roman" panose="02020603050405020304" pitchFamily="18" charset="0"/>
                  </a:rPr>
                  <a:t> –г тодорхойлбол:</a:t>
                </a:r>
              </a:p>
              <a:p>
                <a:endParaRPr lang="mn-MN" sz="1400" dirty="0">
                  <a:solidFill>
                    <a:srgbClr val="002060"/>
                  </a:solidFill>
                  <a:latin typeface="Times New Roman" panose="02020603050405020304" pitchFamily="18" charset="0"/>
                  <a:cs typeface="Times New Roman" panose="02020603050405020304" pitchFamily="18" charset="0"/>
                </a:endParaRPr>
              </a:p>
              <a:p>
                <a:pPr marL="2570163" indent="0">
                  <a:buNone/>
                </a:pPr>
                <a14:m>
                  <m:oMathPara xmlns:m="http://schemas.openxmlformats.org/officeDocument/2006/math">
                    <m:oMathParaPr>
                      <m:jc m:val="left"/>
                    </m:oMathParaPr>
                    <m:oMath xmlns:m="http://schemas.openxmlformats.org/officeDocument/2006/math">
                      <m:r>
                        <a:rPr lang="mn-MN" sz="4000" b="1" i="1" smtClean="0">
                          <a:solidFill>
                            <a:srgbClr val="FF0000"/>
                          </a:solidFill>
                          <a:latin typeface="Cambria Math" panose="02040503050406030204" pitchFamily="18" charset="0"/>
                        </a:rPr>
                        <m:t>𝑨</m:t>
                      </m:r>
                      <m:r>
                        <a:rPr lang="mn-MN" sz="4000" b="1" i="1" smtClean="0">
                          <a:solidFill>
                            <a:srgbClr val="FF0000"/>
                          </a:solidFill>
                          <a:latin typeface="Cambria Math" panose="02040503050406030204" pitchFamily="18" charset="0"/>
                        </a:rPr>
                        <m:t>=</m:t>
                      </m:r>
                      <m:r>
                        <a:rPr lang="mn-MN" sz="4000" b="1" i="1" smtClean="0">
                          <a:solidFill>
                            <a:srgbClr val="FF0000"/>
                          </a:solidFill>
                          <a:latin typeface="Cambria Math" panose="02040503050406030204" pitchFamily="18" charset="0"/>
                        </a:rPr>
                        <m:t>𝑭𝑽</m:t>
                      </m:r>
                      <m:d>
                        <m:dPr>
                          <m:begChr m:val="["/>
                          <m:endChr m:val="]"/>
                          <m:ctrlPr>
                            <a:rPr lang="en-US" sz="4000" b="1" i="1">
                              <a:solidFill>
                                <a:srgbClr val="FF0000"/>
                              </a:solidFill>
                              <a:latin typeface="Cambria Math" panose="02040503050406030204" pitchFamily="18" charset="0"/>
                            </a:rPr>
                          </m:ctrlPr>
                        </m:dPr>
                        <m:e>
                          <m:f>
                            <m:fPr>
                              <m:ctrlPr>
                                <a:rPr lang="en-US" sz="4000" b="1" i="1">
                                  <a:solidFill>
                                    <a:srgbClr val="FF0000"/>
                                  </a:solidFill>
                                  <a:latin typeface="Cambria Math" panose="02040503050406030204" pitchFamily="18" charset="0"/>
                                </a:rPr>
                              </m:ctrlPr>
                            </m:fPr>
                            <m:num>
                              <m:r>
                                <a:rPr lang="mn-MN" sz="4000" b="1" i="1">
                                  <a:solidFill>
                                    <a:srgbClr val="FF0000"/>
                                  </a:solidFill>
                                  <a:latin typeface="Cambria Math" panose="02040503050406030204" pitchFamily="18" charset="0"/>
                                </a:rPr>
                                <m:t>𝒊</m:t>
                              </m:r>
                            </m:num>
                            <m:den>
                              <m:sSup>
                                <m:sSupPr>
                                  <m:ctrlPr>
                                    <a:rPr lang="en-US" sz="4000" b="1" i="1">
                                      <a:solidFill>
                                        <a:srgbClr val="FF0000"/>
                                      </a:solidFill>
                                      <a:latin typeface="Cambria Math" panose="02040503050406030204" pitchFamily="18" charset="0"/>
                                    </a:rPr>
                                  </m:ctrlPr>
                                </m:sSupPr>
                                <m:e>
                                  <m:d>
                                    <m:dPr>
                                      <m:ctrlPr>
                                        <a:rPr lang="en-US" sz="4000" b="1" i="1">
                                          <a:solidFill>
                                            <a:srgbClr val="FF0000"/>
                                          </a:solidFill>
                                          <a:latin typeface="Cambria Math" panose="02040503050406030204" pitchFamily="18" charset="0"/>
                                        </a:rPr>
                                      </m:ctrlPr>
                                    </m:dPr>
                                    <m:e>
                                      <m:r>
                                        <a:rPr lang="mn-MN" sz="4000" b="1" i="1">
                                          <a:solidFill>
                                            <a:srgbClr val="FF0000"/>
                                          </a:solidFill>
                                          <a:latin typeface="Cambria Math" panose="02040503050406030204" pitchFamily="18" charset="0"/>
                                        </a:rPr>
                                        <m:t>𝟏</m:t>
                                      </m:r>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𝒊</m:t>
                                      </m:r>
                                    </m:e>
                                  </m:d>
                                </m:e>
                                <m:sup>
                                  <m:r>
                                    <a:rPr lang="mn-MN" sz="4000" b="1" i="1">
                                      <a:solidFill>
                                        <a:srgbClr val="FF0000"/>
                                      </a:solidFill>
                                      <a:latin typeface="Cambria Math" panose="02040503050406030204" pitchFamily="18" charset="0"/>
                                    </a:rPr>
                                    <m:t>𝑵</m:t>
                                  </m:r>
                                </m:sup>
                              </m:sSup>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𝟏</m:t>
                              </m:r>
                            </m:den>
                          </m:f>
                        </m:e>
                      </m:d>
                    </m:oMath>
                  </m:oMathPara>
                </a14:m>
                <a:endParaRPr lang="mn-MN" sz="3200" b="1" dirty="0">
                  <a:solidFill>
                    <a:srgbClr val="002060"/>
                  </a:solidFill>
                  <a:latin typeface="Times New Roman" panose="02020603050405020304" pitchFamily="18" charset="0"/>
                  <a:cs typeface="Times New Roman" panose="02020603050405020304" pitchFamily="18" charset="0"/>
                </a:endParaRPr>
              </a:p>
              <a:p>
                <a:pPr marL="0" indent="0">
                  <a:buNone/>
                </a:pPr>
                <a:endParaRPr lang="mn-MN" sz="3200" dirty="0">
                  <a:solidFill>
                    <a:srgbClr val="002060"/>
                  </a:solidFill>
                  <a:latin typeface="Times New Roman" panose="02020603050405020304" pitchFamily="18" charset="0"/>
                  <a:cs typeface="Times New Roman" panose="02020603050405020304" pitchFamily="18" charset="0"/>
                </a:endParaRPr>
              </a:p>
              <a:p>
                <a:endParaRPr lang="mn-MN" sz="1800" dirty="0">
                  <a:solidFill>
                    <a:srgbClr val="002060"/>
                  </a:solidFill>
                  <a:latin typeface="Times New Roman" panose="02020603050405020304" pitchFamily="18" charset="0"/>
                  <a:cs typeface="Times New Roman" panose="02020603050405020304" pitchFamily="18" charset="0"/>
                </a:endParaRPr>
              </a:p>
              <a:p>
                <a:pPr marL="2570163" indent="0">
                  <a:buNone/>
                </a:pPr>
                <a14:m>
                  <m:oMathPara xmlns:m="http://schemas.openxmlformats.org/officeDocument/2006/math">
                    <m:oMathParaPr>
                      <m:jc m:val="left"/>
                    </m:oMathParaPr>
                    <m:oMath xmlns:m="http://schemas.openxmlformats.org/officeDocument/2006/math">
                      <m:r>
                        <a:rPr lang="mn-MN" sz="4400" i="1" dirty="0" smtClean="0">
                          <a:solidFill>
                            <a:srgbClr val="002060"/>
                          </a:solidFill>
                          <a:latin typeface="Cambria Math" panose="02040503050406030204" pitchFamily="18" charset="0"/>
                        </a:rPr>
                        <m:t>𝐴</m:t>
                      </m:r>
                      <m:r>
                        <a:rPr lang="mn-MN" sz="4400" i="1" dirty="0" smtClean="0">
                          <a:solidFill>
                            <a:srgbClr val="002060"/>
                          </a:solidFill>
                          <a:latin typeface="Cambria Math" panose="02040503050406030204" pitchFamily="18" charset="0"/>
                        </a:rPr>
                        <m:t>=</m:t>
                      </m:r>
                      <m:r>
                        <a:rPr lang="mn-MN" sz="4400" i="1" dirty="0" smtClean="0">
                          <a:solidFill>
                            <a:srgbClr val="002060"/>
                          </a:solidFill>
                          <a:latin typeface="Cambria Math" panose="02040503050406030204" pitchFamily="18" charset="0"/>
                        </a:rPr>
                        <m:t>𝐹𝑉</m:t>
                      </m:r>
                      <m:r>
                        <a:rPr lang="mn-MN" sz="4400" i="1" dirty="0" smtClean="0">
                          <a:solidFill>
                            <a:srgbClr val="002060"/>
                          </a:solidFill>
                          <a:latin typeface="Cambria Math" panose="02040503050406030204" pitchFamily="18" charset="0"/>
                        </a:rPr>
                        <m:t>(</m:t>
                      </m:r>
                      <m:r>
                        <a:rPr lang="mn-MN" sz="4400" i="1" dirty="0" smtClean="0">
                          <a:solidFill>
                            <a:srgbClr val="002060"/>
                          </a:solidFill>
                          <a:latin typeface="Cambria Math" panose="02040503050406030204" pitchFamily="18" charset="0"/>
                        </a:rPr>
                        <m:t>𝐴</m:t>
                      </m:r>
                      <m:r>
                        <a:rPr lang="mn-MN" sz="4400" i="1" dirty="0" smtClean="0">
                          <a:solidFill>
                            <a:srgbClr val="002060"/>
                          </a:solidFill>
                          <a:latin typeface="Cambria Math" panose="02040503050406030204" pitchFamily="18" charset="0"/>
                        </a:rPr>
                        <m:t>/</m:t>
                      </m:r>
                      <m:r>
                        <a:rPr lang="mn-MN" sz="4400" i="1" dirty="0" smtClean="0">
                          <a:solidFill>
                            <a:srgbClr val="002060"/>
                          </a:solidFill>
                          <a:latin typeface="Cambria Math" panose="02040503050406030204" pitchFamily="18" charset="0"/>
                        </a:rPr>
                        <m:t>𝐹</m:t>
                      </m:r>
                      <m:r>
                        <a:rPr lang="mn-MN" sz="4400" i="1" dirty="0" smtClean="0">
                          <a:solidFill>
                            <a:srgbClr val="002060"/>
                          </a:solidFill>
                          <a:latin typeface="Cambria Math" panose="02040503050406030204" pitchFamily="18" charset="0"/>
                        </a:rPr>
                        <m:t>,</m:t>
                      </m:r>
                      <m:r>
                        <a:rPr lang="mn-MN" sz="4400" i="1" cap="none" dirty="0" smtClean="0">
                          <a:solidFill>
                            <a:srgbClr val="002060"/>
                          </a:solidFill>
                          <a:latin typeface="Cambria Math" panose="02040503050406030204" pitchFamily="18" charset="0"/>
                        </a:rPr>
                        <m:t>𝑖</m:t>
                      </m:r>
                      <m:r>
                        <a:rPr lang="mn-MN" sz="4400" i="1" dirty="0" smtClean="0">
                          <a:solidFill>
                            <a:srgbClr val="002060"/>
                          </a:solidFill>
                          <a:latin typeface="Cambria Math" panose="02040503050406030204" pitchFamily="18" charset="0"/>
                        </a:rPr>
                        <m:t>%,</m:t>
                      </m:r>
                      <m:r>
                        <a:rPr lang="mn-MN" sz="4400" i="1" dirty="0" smtClean="0">
                          <a:solidFill>
                            <a:srgbClr val="002060"/>
                          </a:solidFill>
                          <a:latin typeface="Cambria Math" panose="02040503050406030204" pitchFamily="18" charset="0"/>
                        </a:rPr>
                        <m:t>𝑁</m:t>
                      </m:r>
                      <m:r>
                        <a:rPr lang="mn-MN" sz="4400" i="1" dirty="0" smtClean="0">
                          <a:solidFill>
                            <a:srgbClr val="002060"/>
                          </a:solidFill>
                          <a:latin typeface="Cambria Math" panose="02040503050406030204" pitchFamily="18" charset="0"/>
                        </a:rPr>
                        <m:t>)</m:t>
                      </m:r>
                    </m:oMath>
                  </m:oMathPara>
                </a14:m>
                <a:endParaRPr lang="mn-MN" sz="5400" dirty="0">
                  <a:solidFill>
                    <a:srgbClr val="002060"/>
                  </a:solidFill>
                  <a:latin typeface="Times New Roman" panose="02020603050405020304" pitchFamily="18" charset="0"/>
                  <a:cs typeface="Times New Roman" panose="02020603050405020304" pitchFamily="18" charset="0"/>
                </a:endParaRPr>
              </a:p>
              <a:p>
                <a:endParaRPr lang="en-US"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86176" y="1088982"/>
                <a:ext cx="11834191" cy="4351338"/>
              </a:xfrm>
              <a:blipFill>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0D8BA092-B714-BC88-39F8-E0DAE14D0D2E}"/>
              </a:ext>
            </a:extLst>
          </p:cNvPr>
          <p:cNvSpPr/>
          <p:nvPr/>
        </p:nvSpPr>
        <p:spPr>
          <a:xfrm>
            <a:off x="2623929" y="1900223"/>
            <a:ext cx="5128591" cy="16381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1B836F6-8006-EC68-1E08-9F92B5ADDF49}"/>
              </a:ext>
            </a:extLst>
          </p:cNvPr>
          <p:cNvSpPr/>
          <p:nvPr/>
        </p:nvSpPr>
        <p:spPr>
          <a:xfrm>
            <a:off x="2623929" y="4117589"/>
            <a:ext cx="5128591" cy="81221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2F61DE-8BF2-DF4F-0C4C-491E1AA3EE88}"/>
              </a:ext>
            </a:extLst>
          </p:cNvPr>
          <p:cNvSpPr txBox="1"/>
          <p:nvPr/>
        </p:nvSpPr>
        <p:spPr>
          <a:xfrm>
            <a:off x="9078726" y="4262088"/>
            <a:ext cx="2333028" cy="523220"/>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Тэмдэглэгээ</a:t>
            </a:r>
            <a:r>
              <a:rPr lang="en-US" sz="2800" dirty="0">
                <a:solidFill>
                  <a:srgbClr val="00206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2478A963-74F8-3D99-C55D-E37C0319B1CA}"/>
              </a:ext>
            </a:extLst>
          </p:cNvPr>
          <p:cNvCxnSpPr>
            <a:cxnSpLocks/>
          </p:cNvCxnSpPr>
          <p:nvPr/>
        </p:nvCxnSpPr>
        <p:spPr>
          <a:xfrm flipH="1">
            <a:off x="7779024" y="4542932"/>
            <a:ext cx="1207586"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746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45774" y="207628"/>
                <a:ext cx="11900452" cy="781343"/>
              </a:xfrm>
            </p:spPr>
            <p:txBody>
              <a:bodyPr>
                <a:noAutofit/>
              </a:bodyPr>
              <a:lstStyle/>
              <a:p>
                <a:r>
                  <a:rPr lang="mn-MN" sz="265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a:t>
                </a:r>
                <a:br>
                  <a:rPr lang="en-US" sz="2650" b="1" dirty="0">
                    <a:solidFill>
                      <a:srgbClr val="0000FF"/>
                    </a:solidFill>
                    <a:latin typeface="Times New Roman" panose="02020603050405020304" pitchFamily="18" charset="0"/>
                    <a:cs typeface="Times New Roman" panose="02020603050405020304" pitchFamily="18" charset="0"/>
                  </a:rPr>
                </a:br>
                <a:r>
                  <a:rPr lang="mn-MN" sz="2650" b="1"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en-US" sz="2800" b="1" i="1" smtClean="0">
                        <a:solidFill>
                          <a:schemeClr val="accent2">
                            <a:lumMod val="75000"/>
                          </a:schemeClr>
                        </a:solidFill>
                        <a:latin typeface="Cambria Math" panose="02040503050406030204" pitchFamily="18" charset="0"/>
                      </a:rPr>
                      <m:t>𝑷</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өгөгдсөн үед </a:t>
                </a:r>
                <a14:m>
                  <m:oMath xmlns:m="http://schemas.openxmlformats.org/officeDocument/2006/math">
                    <m:r>
                      <a:rPr lang="en-US" sz="2800" b="1" i="1" smtClean="0">
                        <a:solidFill>
                          <a:schemeClr val="accent2">
                            <a:lumMod val="75000"/>
                          </a:schemeClr>
                        </a:solidFill>
                        <a:latin typeface="Cambria Math" panose="02040503050406030204" pitchFamily="18" charset="0"/>
                      </a:rPr>
                      <m:t>𝑨</m:t>
                    </m:r>
                  </m:oMath>
                </a14:m>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-г олох </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45774" y="207628"/>
                <a:ext cx="11900452" cy="781343"/>
              </a:xfrm>
              <a:blipFill>
                <a:blip r:embed="rId3"/>
                <a:stretch>
                  <a:fillRect l="-973" t="-3906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45774" y="1227169"/>
                <a:ext cx="11900452" cy="4833967"/>
              </a:xfrm>
            </p:spPr>
            <p:txBody>
              <a:bodyPr>
                <a:normAutofit/>
              </a:bodyPr>
              <a:lstStyle/>
              <a:p>
                <a:r>
                  <a:rPr lang="en-US" sz="32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mn-MN" sz="4000" b="1" i="1">
                        <a:solidFill>
                          <a:srgbClr val="FF0000"/>
                        </a:solidFill>
                        <a:latin typeface="Cambria Math" panose="02040503050406030204" pitchFamily="18" charset="0"/>
                      </a:rPr>
                      <m:t>𝑷</m:t>
                    </m:r>
                    <m:r>
                      <a:rPr lang="en-US" sz="4000" b="1" i="1" smtClean="0">
                        <a:solidFill>
                          <a:srgbClr val="FF0000"/>
                        </a:solidFill>
                        <a:latin typeface="Cambria Math" panose="02040503050406030204" pitchFamily="18" charset="0"/>
                      </a:rPr>
                      <m:t>𝑽</m:t>
                    </m:r>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𝑨</m:t>
                    </m:r>
                    <m:d>
                      <m:dPr>
                        <m:begChr m:val="["/>
                        <m:endChr m:val="]"/>
                        <m:ctrlPr>
                          <a:rPr lang="en-US" sz="4000" b="1" i="1">
                            <a:solidFill>
                              <a:srgbClr val="FF0000"/>
                            </a:solidFill>
                            <a:latin typeface="Cambria Math" panose="02040503050406030204" pitchFamily="18" charset="0"/>
                          </a:rPr>
                        </m:ctrlPr>
                      </m:dPr>
                      <m:e>
                        <m:f>
                          <m:fPr>
                            <m:ctrlPr>
                              <a:rPr lang="en-US" sz="4000" b="1" i="1">
                                <a:solidFill>
                                  <a:srgbClr val="FF0000"/>
                                </a:solidFill>
                                <a:latin typeface="Cambria Math" panose="02040503050406030204" pitchFamily="18" charset="0"/>
                              </a:rPr>
                            </m:ctrlPr>
                          </m:fPr>
                          <m:num>
                            <m:sSup>
                              <m:sSupPr>
                                <m:ctrlPr>
                                  <a:rPr lang="en-US" sz="4000" b="1" i="1">
                                    <a:solidFill>
                                      <a:srgbClr val="FF0000"/>
                                    </a:solidFill>
                                    <a:latin typeface="Cambria Math" panose="02040503050406030204" pitchFamily="18" charset="0"/>
                                  </a:rPr>
                                </m:ctrlPr>
                              </m:sSupPr>
                              <m:e>
                                <m:d>
                                  <m:dPr>
                                    <m:ctrlPr>
                                      <a:rPr lang="en-US" sz="4000" b="1" i="1">
                                        <a:solidFill>
                                          <a:srgbClr val="FF0000"/>
                                        </a:solidFill>
                                        <a:latin typeface="Cambria Math" panose="02040503050406030204" pitchFamily="18" charset="0"/>
                                      </a:rPr>
                                    </m:ctrlPr>
                                  </m:dPr>
                                  <m:e>
                                    <m:r>
                                      <a:rPr lang="mn-MN" sz="4000" b="1" i="1">
                                        <a:solidFill>
                                          <a:srgbClr val="FF0000"/>
                                        </a:solidFill>
                                        <a:latin typeface="Cambria Math" panose="02040503050406030204" pitchFamily="18" charset="0"/>
                                      </a:rPr>
                                      <m:t>𝟏</m:t>
                                    </m:r>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𝒊</m:t>
                                    </m:r>
                                  </m:e>
                                </m:d>
                              </m:e>
                              <m:sup>
                                <m:r>
                                  <a:rPr lang="mn-MN" sz="4000" b="1" i="1">
                                    <a:solidFill>
                                      <a:srgbClr val="FF0000"/>
                                    </a:solidFill>
                                    <a:latin typeface="Cambria Math" panose="02040503050406030204" pitchFamily="18" charset="0"/>
                                  </a:rPr>
                                  <m:t>𝑵</m:t>
                                </m:r>
                              </m:sup>
                            </m:sSup>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𝟏</m:t>
                            </m:r>
                          </m:num>
                          <m:den>
                            <m:r>
                              <a:rPr lang="mn-MN" sz="4000" b="1" i="1">
                                <a:solidFill>
                                  <a:srgbClr val="FF0000"/>
                                </a:solidFill>
                                <a:latin typeface="Cambria Math" panose="02040503050406030204" pitchFamily="18" charset="0"/>
                              </a:rPr>
                              <m:t>𝒊</m:t>
                            </m:r>
                            <m:sSup>
                              <m:sSupPr>
                                <m:ctrlPr>
                                  <a:rPr lang="en-US" sz="4000" b="1" i="1">
                                    <a:solidFill>
                                      <a:srgbClr val="FF0000"/>
                                    </a:solidFill>
                                    <a:latin typeface="Cambria Math" panose="02040503050406030204" pitchFamily="18" charset="0"/>
                                  </a:rPr>
                                </m:ctrlPr>
                              </m:sSupPr>
                              <m:e>
                                <m:d>
                                  <m:dPr>
                                    <m:ctrlPr>
                                      <a:rPr lang="en-US" sz="4000" b="1" i="1">
                                        <a:solidFill>
                                          <a:srgbClr val="FF0000"/>
                                        </a:solidFill>
                                        <a:latin typeface="Cambria Math" panose="02040503050406030204" pitchFamily="18" charset="0"/>
                                      </a:rPr>
                                    </m:ctrlPr>
                                  </m:dPr>
                                  <m:e>
                                    <m:r>
                                      <a:rPr lang="mn-MN" sz="4000" b="1" i="1">
                                        <a:solidFill>
                                          <a:srgbClr val="FF0000"/>
                                        </a:solidFill>
                                        <a:latin typeface="Cambria Math" panose="02040503050406030204" pitchFamily="18" charset="0"/>
                                      </a:rPr>
                                      <m:t>𝟏</m:t>
                                    </m:r>
                                    <m:r>
                                      <a:rPr lang="mn-MN" sz="4000" b="1" i="1">
                                        <a:solidFill>
                                          <a:srgbClr val="FF0000"/>
                                        </a:solidFill>
                                        <a:latin typeface="Cambria Math" panose="02040503050406030204" pitchFamily="18" charset="0"/>
                                      </a:rPr>
                                      <m:t>+</m:t>
                                    </m:r>
                                    <m:r>
                                      <a:rPr lang="mn-MN" sz="4000" b="1" i="1">
                                        <a:solidFill>
                                          <a:srgbClr val="FF0000"/>
                                        </a:solidFill>
                                        <a:latin typeface="Cambria Math" panose="02040503050406030204" pitchFamily="18" charset="0"/>
                                      </a:rPr>
                                      <m:t>𝒊</m:t>
                                    </m:r>
                                  </m:e>
                                </m:d>
                              </m:e>
                              <m:sup>
                                <m:r>
                                  <a:rPr lang="mn-MN" sz="4000" b="1" i="1">
                                    <a:solidFill>
                                      <a:srgbClr val="FF0000"/>
                                    </a:solidFill>
                                    <a:latin typeface="Cambria Math" panose="02040503050406030204" pitchFamily="18" charset="0"/>
                                  </a:rPr>
                                  <m:t>𝑵</m:t>
                                </m:r>
                              </m:sup>
                            </m:sSup>
                          </m:den>
                        </m:f>
                      </m:e>
                    </m:d>
                    <m:r>
                      <a:rPr lang="mn-MN" sz="4000" b="1" i="1">
                        <a:solidFill>
                          <a:srgbClr val="FF0000"/>
                        </a:solidFill>
                        <a:latin typeface="Cambria Math" panose="02040503050406030204" pitchFamily="18" charset="0"/>
                      </a:rPr>
                      <m:t> </m:t>
                    </m:r>
                  </m:oMath>
                </a14:m>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тэгшитгэлээс </a:t>
                </a:r>
                <a14:m>
                  <m:oMath xmlns:m="http://schemas.openxmlformats.org/officeDocument/2006/math">
                    <m:r>
                      <a:rPr lang="en-US" sz="3200" i="1" dirty="0" smtClean="0">
                        <a:solidFill>
                          <a:srgbClr val="002060"/>
                        </a:solidFill>
                        <a:latin typeface="Cambria Math" panose="02040503050406030204" pitchFamily="18" charset="0"/>
                      </a:rPr>
                      <m:t>𝐴</m:t>
                    </m:r>
                  </m:oMath>
                </a14:m>
                <a:r>
                  <a:rPr lang="mn-MN" sz="3200" dirty="0">
                    <a:solidFill>
                      <a:srgbClr val="002060"/>
                    </a:solidFill>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г тодорхойлвол: </a:t>
                </a:r>
              </a:p>
              <a:p>
                <a:endParaRPr lang="mn-MN" sz="3200"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mn-MN" sz="4400" b="1" i="1" smtClean="0">
                          <a:solidFill>
                            <a:srgbClr val="FF0000"/>
                          </a:solidFill>
                          <a:latin typeface="Cambria Math" panose="02040503050406030204" pitchFamily="18" charset="0"/>
                        </a:rPr>
                        <m:t>𝑨</m:t>
                      </m:r>
                      <m:r>
                        <a:rPr lang="mn-MN" sz="4400" b="1" i="1" smtClean="0">
                          <a:solidFill>
                            <a:srgbClr val="FF0000"/>
                          </a:solidFill>
                          <a:latin typeface="Cambria Math" panose="02040503050406030204" pitchFamily="18" charset="0"/>
                        </a:rPr>
                        <m:t>=</m:t>
                      </m:r>
                      <m:r>
                        <a:rPr lang="mn-MN" sz="4400" b="1" i="1" smtClean="0">
                          <a:solidFill>
                            <a:srgbClr val="FF0000"/>
                          </a:solidFill>
                          <a:latin typeface="Cambria Math" panose="02040503050406030204" pitchFamily="18" charset="0"/>
                        </a:rPr>
                        <m:t>𝑷𝑽</m:t>
                      </m:r>
                      <m:d>
                        <m:dPr>
                          <m:begChr m:val="["/>
                          <m:endChr m:val="]"/>
                          <m:ctrlPr>
                            <a:rPr lang="en-US" sz="4400" b="1" i="1">
                              <a:solidFill>
                                <a:srgbClr val="FF0000"/>
                              </a:solidFill>
                              <a:latin typeface="Cambria Math" panose="02040503050406030204" pitchFamily="18" charset="0"/>
                            </a:rPr>
                          </m:ctrlPr>
                        </m:dPr>
                        <m:e>
                          <m:f>
                            <m:fPr>
                              <m:ctrlPr>
                                <a:rPr lang="en-US" sz="4400" b="1" i="1">
                                  <a:solidFill>
                                    <a:srgbClr val="FF0000"/>
                                  </a:solidFill>
                                  <a:latin typeface="Cambria Math" panose="02040503050406030204" pitchFamily="18" charset="0"/>
                                </a:rPr>
                              </m:ctrlPr>
                            </m:fPr>
                            <m:num>
                              <m:r>
                                <a:rPr lang="mn-MN" sz="4400" b="1" i="1">
                                  <a:solidFill>
                                    <a:srgbClr val="FF0000"/>
                                  </a:solidFill>
                                  <a:latin typeface="Cambria Math" panose="02040503050406030204" pitchFamily="18" charset="0"/>
                                </a:rPr>
                                <m:t>𝒊</m:t>
                              </m:r>
                              <m:sSup>
                                <m:sSupPr>
                                  <m:ctrlPr>
                                    <a:rPr lang="en-US" sz="4400" b="1" i="1">
                                      <a:solidFill>
                                        <a:srgbClr val="FF0000"/>
                                      </a:solidFill>
                                      <a:latin typeface="Cambria Math" panose="02040503050406030204" pitchFamily="18" charset="0"/>
                                    </a:rPr>
                                  </m:ctrlPr>
                                </m:sSupPr>
                                <m:e>
                                  <m:d>
                                    <m:dPr>
                                      <m:ctrlPr>
                                        <a:rPr lang="en-US" sz="4400" b="1" i="1">
                                          <a:solidFill>
                                            <a:srgbClr val="FF0000"/>
                                          </a:solidFill>
                                          <a:latin typeface="Cambria Math" panose="02040503050406030204" pitchFamily="18" charset="0"/>
                                        </a:rPr>
                                      </m:ctrlPr>
                                    </m:dPr>
                                    <m:e>
                                      <m:r>
                                        <a:rPr lang="mn-MN" sz="4400" b="1" i="1">
                                          <a:solidFill>
                                            <a:srgbClr val="FF0000"/>
                                          </a:solidFill>
                                          <a:latin typeface="Cambria Math" panose="02040503050406030204" pitchFamily="18" charset="0"/>
                                        </a:rPr>
                                        <m:t>𝟏</m:t>
                                      </m:r>
                                      <m:r>
                                        <a:rPr lang="mn-MN" sz="4400" b="1" i="1">
                                          <a:solidFill>
                                            <a:srgbClr val="FF0000"/>
                                          </a:solidFill>
                                          <a:latin typeface="Cambria Math" panose="02040503050406030204" pitchFamily="18" charset="0"/>
                                        </a:rPr>
                                        <m:t>+</m:t>
                                      </m:r>
                                      <m:r>
                                        <a:rPr lang="mn-MN" sz="4400" b="1" i="1">
                                          <a:solidFill>
                                            <a:srgbClr val="FF0000"/>
                                          </a:solidFill>
                                          <a:latin typeface="Cambria Math" panose="02040503050406030204" pitchFamily="18" charset="0"/>
                                        </a:rPr>
                                        <m:t>𝒊</m:t>
                                      </m:r>
                                    </m:e>
                                  </m:d>
                                </m:e>
                                <m:sup>
                                  <m:r>
                                    <a:rPr lang="mn-MN" sz="4400" b="1" i="1">
                                      <a:solidFill>
                                        <a:srgbClr val="FF0000"/>
                                      </a:solidFill>
                                      <a:latin typeface="Cambria Math" panose="02040503050406030204" pitchFamily="18" charset="0"/>
                                    </a:rPr>
                                    <m:t>𝑵</m:t>
                                  </m:r>
                                </m:sup>
                              </m:sSup>
                            </m:num>
                            <m:den>
                              <m:sSup>
                                <m:sSupPr>
                                  <m:ctrlPr>
                                    <a:rPr lang="en-US" sz="4400" b="1" i="1">
                                      <a:solidFill>
                                        <a:srgbClr val="FF0000"/>
                                      </a:solidFill>
                                      <a:latin typeface="Cambria Math" panose="02040503050406030204" pitchFamily="18" charset="0"/>
                                    </a:rPr>
                                  </m:ctrlPr>
                                </m:sSupPr>
                                <m:e>
                                  <m:d>
                                    <m:dPr>
                                      <m:ctrlPr>
                                        <a:rPr lang="en-US" sz="4400" b="1" i="1">
                                          <a:solidFill>
                                            <a:srgbClr val="FF0000"/>
                                          </a:solidFill>
                                          <a:latin typeface="Cambria Math" panose="02040503050406030204" pitchFamily="18" charset="0"/>
                                        </a:rPr>
                                      </m:ctrlPr>
                                    </m:dPr>
                                    <m:e>
                                      <m:r>
                                        <a:rPr lang="mn-MN" sz="4400" b="1" i="1">
                                          <a:solidFill>
                                            <a:srgbClr val="FF0000"/>
                                          </a:solidFill>
                                          <a:latin typeface="Cambria Math" panose="02040503050406030204" pitchFamily="18" charset="0"/>
                                        </a:rPr>
                                        <m:t>𝟏</m:t>
                                      </m:r>
                                      <m:r>
                                        <a:rPr lang="mn-MN" sz="4400" b="1" i="1">
                                          <a:solidFill>
                                            <a:srgbClr val="FF0000"/>
                                          </a:solidFill>
                                          <a:latin typeface="Cambria Math" panose="02040503050406030204" pitchFamily="18" charset="0"/>
                                        </a:rPr>
                                        <m:t>+</m:t>
                                      </m:r>
                                      <m:r>
                                        <a:rPr lang="mn-MN" sz="4400" b="1" i="1">
                                          <a:solidFill>
                                            <a:srgbClr val="FF0000"/>
                                          </a:solidFill>
                                          <a:latin typeface="Cambria Math" panose="02040503050406030204" pitchFamily="18" charset="0"/>
                                        </a:rPr>
                                        <m:t>𝒊</m:t>
                                      </m:r>
                                    </m:e>
                                  </m:d>
                                </m:e>
                                <m:sup>
                                  <m:r>
                                    <a:rPr lang="mn-MN" sz="4400" b="1" i="1">
                                      <a:solidFill>
                                        <a:srgbClr val="FF0000"/>
                                      </a:solidFill>
                                      <a:latin typeface="Cambria Math" panose="02040503050406030204" pitchFamily="18" charset="0"/>
                                    </a:rPr>
                                    <m:t>𝑵</m:t>
                                  </m:r>
                                </m:sup>
                              </m:sSup>
                              <m:r>
                                <a:rPr lang="mn-MN" sz="4400" b="1" i="1">
                                  <a:solidFill>
                                    <a:srgbClr val="FF0000"/>
                                  </a:solidFill>
                                  <a:latin typeface="Cambria Math" panose="02040503050406030204" pitchFamily="18" charset="0"/>
                                </a:rPr>
                                <m:t>−</m:t>
                              </m:r>
                              <m:r>
                                <a:rPr lang="mn-MN" sz="4400" b="1" i="1">
                                  <a:solidFill>
                                    <a:srgbClr val="FF0000"/>
                                  </a:solidFill>
                                  <a:latin typeface="Cambria Math" panose="02040503050406030204" pitchFamily="18" charset="0"/>
                                </a:rPr>
                                <m:t>𝟏</m:t>
                              </m:r>
                            </m:den>
                          </m:f>
                        </m:e>
                      </m:d>
                    </m:oMath>
                  </m:oMathPara>
                </a14:m>
                <a:endParaRPr lang="mn-MN" sz="3600" b="1" dirty="0">
                  <a:solidFill>
                    <a:srgbClr val="002060"/>
                  </a:solidFill>
                  <a:latin typeface="Times New Roman" panose="02020603050405020304" pitchFamily="18" charset="0"/>
                  <a:cs typeface="Times New Roman" panose="02020603050405020304" pitchFamily="18" charset="0"/>
                </a:endParaRPr>
              </a:p>
              <a:p>
                <a:pPr marL="0" indent="0">
                  <a:buNone/>
                </a:pPr>
                <a:endParaRPr lang="mn-MN" sz="3600" b="1" dirty="0">
                  <a:solidFill>
                    <a:srgbClr val="00206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mn-MN" sz="4000" b="1" i="1" dirty="0" smtClean="0">
                          <a:solidFill>
                            <a:srgbClr val="002060"/>
                          </a:solidFill>
                          <a:latin typeface="Cambria Math" panose="02040503050406030204" pitchFamily="18" charset="0"/>
                        </a:rPr>
                        <m:t>𝑨</m:t>
                      </m:r>
                      <m:r>
                        <a:rPr lang="mn-MN" sz="4000" b="1" i="1" dirty="0" smtClean="0">
                          <a:solidFill>
                            <a:srgbClr val="002060"/>
                          </a:solidFill>
                          <a:latin typeface="Cambria Math" panose="02040503050406030204" pitchFamily="18" charset="0"/>
                        </a:rPr>
                        <m:t>=</m:t>
                      </m:r>
                      <m:r>
                        <a:rPr lang="en-US" sz="4000" b="1" i="1" dirty="0" smtClean="0">
                          <a:solidFill>
                            <a:srgbClr val="002060"/>
                          </a:solidFill>
                          <a:latin typeface="Cambria Math" panose="02040503050406030204" pitchFamily="18" charset="0"/>
                        </a:rPr>
                        <m:t>𝑷𝑽</m:t>
                      </m:r>
                      <m:r>
                        <a:rPr lang="mn-MN" sz="4000" b="1" i="1" dirty="0" smtClean="0">
                          <a:solidFill>
                            <a:srgbClr val="002060"/>
                          </a:solidFill>
                          <a:latin typeface="Cambria Math" panose="02040503050406030204" pitchFamily="18" charset="0"/>
                        </a:rPr>
                        <m:t>(</m:t>
                      </m:r>
                      <m:r>
                        <a:rPr lang="mn-MN" sz="4000" b="1" i="1" dirty="0" smtClean="0">
                          <a:solidFill>
                            <a:srgbClr val="002060"/>
                          </a:solidFill>
                          <a:latin typeface="Cambria Math" panose="02040503050406030204" pitchFamily="18" charset="0"/>
                        </a:rPr>
                        <m:t>𝑨</m:t>
                      </m:r>
                      <m:r>
                        <a:rPr lang="mn-MN" sz="4000" b="1" i="1" dirty="0" smtClean="0">
                          <a:solidFill>
                            <a:srgbClr val="002060"/>
                          </a:solidFill>
                          <a:latin typeface="Cambria Math" panose="02040503050406030204" pitchFamily="18" charset="0"/>
                        </a:rPr>
                        <m:t>/</m:t>
                      </m:r>
                      <m:r>
                        <a:rPr lang="en-US" sz="4000" b="1" i="1" dirty="0" smtClean="0">
                          <a:solidFill>
                            <a:srgbClr val="002060"/>
                          </a:solidFill>
                          <a:latin typeface="Cambria Math" panose="02040503050406030204" pitchFamily="18" charset="0"/>
                        </a:rPr>
                        <m:t>𝑷</m:t>
                      </m:r>
                      <m:r>
                        <a:rPr lang="mn-MN" sz="4000" b="1" i="1" dirty="0" smtClean="0">
                          <a:solidFill>
                            <a:srgbClr val="002060"/>
                          </a:solidFill>
                          <a:latin typeface="Cambria Math" panose="02040503050406030204" pitchFamily="18" charset="0"/>
                        </a:rPr>
                        <m:t>,</m:t>
                      </m:r>
                      <m:r>
                        <a:rPr lang="mn-MN" sz="4000" b="1" i="1" cap="none" dirty="0" smtClean="0">
                          <a:solidFill>
                            <a:srgbClr val="002060"/>
                          </a:solidFill>
                          <a:latin typeface="Cambria Math" panose="02040503050406030204" pitchFamily="18" charset="0"/>
                        </a:rPr>
                        <m:t>𝒊</m:t>
                      </m:r>
                      <m:r>
                        <a:rPr lang="mn-MN" sz="4000" b="1" i="1" dirty="0" smtClean="0">
                          <a:solidFill>
                            <a:srgbClr val="002060"/>
                          </a:solidFill>
                          <a:latin typeface="Cambria Math" panose="02040503050406030204" pitchFamily="18" charset="0"/>
                        </a:rPr>
                        <m:t>%,</m:t>
                      </m:r>
                      <m:r>
                        <a:rPr lang="mn-MN" sz="4000" b="1" i="1" dirty="0" smtClean="0">
                          <a:solidFill>
                            <a:srgbClr val="002060"/>
                          </a:solidFill>
                          <a:latin typeface="Cambria Math" panose="02040503050406030204" pitchFamily="18" charset="0"/>
                        </a:rPr>
                        <m:t>𝑵</m:t>
                      </m:r>
                      <m:r>
                        <a:rPr lang="mn-MN" sz="4000" b="1" i="1" dirty="0" smtClean="0">
                          <a:solidFill>
                            <a:srgbClr val="002060"/>
                          </a:solidFill>
                          <a:latin typeface="Cambria Math" panose="02040503050406030204" pitchFamily="18" charset="0"/>
                        </a:rPr>
                        <m:t>)</m:t>
                      </m:r>
                    </m:oMath>
                  </m:oMathPara>
                </a14:m>
                <a:endParaRPr lang="mn-MN" sz="4800" b="1" dirty="0">
                  <a:solidFill>
                    <a:srgbClr val="002060"/>
                  </a:solidFill>
                  <a:latin typeface="Times New Roman" panose="02020603050405020304" pitchFamily="18" charset="0"/>
                  <a:cs typeface="Times New Roman" panose="02020603050405020304" pitchFamily="18" charset="0"/>
                </a:endParaRPr>
              </a:p>
              <a:p>
                <a:endParaRPr lang="mn-MN"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45774" y="1227169"/>
                <a:ext cx="11900452" cy="4833967"/>
              </a:xfrm>
              <a:blipFill>
                <a:blip r:embed="rId4"/>
                <a:stretch>
                  <a:fillRect l="-1178"/>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0D8BA092-B714-BC88-39F8-E0DAE14D0D2E}"/>
              </a:ext>
            </a:extLst>
          </p:cNvPr>
          <p:cNvSpPr/>
          <p:nvPr/>
        </p:nvSpPr>
        <p:spPr>
          <a:xfrm>
            <a:off x="3371518" y="2457053"/>
            <a:ext cx="5627098" cy="18552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1B836F6-8006-EC68-1E08-9F92B5ADDF49}"/>
              </a:ext>
            </a:extLst>
          </p:cNvPr>
          <p:cNvSpPr/>
          <p:nvPr/>
        </p:nvSpPr>
        <p:spPr>
          <a:xfrm>
            <a:off x="3344624" y="4652793"/>
            <a:ext cx="5120385" cy="69592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2F61DE-8BF2-DF4F-0C4C-491E1AA3EE88}"/>
              </a:ext>
            </a:extLst>
          </p:cNvPr>
          <p:cNvSpPr txBox="1"/>
          <p:nvPr/>
        </p:nvSpPr>
        <p:spPr>
          <a:xfrm>
            <a:off x="9322309" y="4610893"/>
            <a:ext cx="2312127" cy="523220"/>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Тэмдэглэгээ</a:t>
            </a:r>
            <a:r>
              <a:rPr lang="en-US" sz="2800" dirty="0">
                <a:solidFill>
                  <a:srgbClr val="00206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2478A963-74F8-3D99-C55D-E37C0319B1CA}"/>
              </a:ext>
            </a:extLst>
          </p:cNvPr>
          <p:cNvCxnSpPr>
            <a:cxnSpLocks/>
          </p:cNvCxnSpPr>
          <p:nvPr/>
        </p:nvCxnSpPr>
        <p:spPr>
          <a:xfrm flipH="1">
            <a:off x="8491903" y="4872503"/>
            <a:ext cx="857300"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713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185530" y="100082"/>
                <a:ext cx="11794435" cy="1325563"/>
              </a:xfrm>
            </p:spPr>
            <p:txBody>
              <a:bodyPr>
                <a:noAutofit/>
              </a:bodyPr>
              <a:lstStyle/>
              <a:p>
                <a:r>
                  <a:rPr lang="mn-MN" sz="3200" b="1" dirty="0">
                    <a:solidFill>
                      <a:srgbClr val="0000FF"/>
                    </a:solidFill>
                    <a:latin typeface="Times New Roman" panose="02020603050405020304" pitchFamily="18" charset="0"/>
                    <a:cs typeface="Times New Roman" panose="02020603050405020304" pitchFamily="18" charset="0"/>
                  </a:rPr>
                  <a:t>Энгийн аннуити буюу үе бүрийн төгсгөлд хийх тэнцүү төлбөр, түүний өнөөгийн ба ирээдүйн үнэ цэнийн хоорондох холбоо. </a:t>
                </a:r>
                <a:br>
                  <a:rPr lang="mn-MN" sz="3200" b="1" i="1" dirty="0">
                    <a:solidFill>
                      <a:srgbClr val="0000FF"/>
                    </a:solidFill>
                    <a:latin typeface="Cambria Math" panose="02040503050406030204" pitchFamily="18" charset="0"/>
                  </a:rPr>
                </a:br>
                <a14:m>
                  <m:oMath xmlns:m="http://schemas.openxmlformats.org/officeDocument/2006/math">
                    <m:r>
                      <a:rPr lang="en-US" sz="3200" b="1" i="1" smtClean="0">
                        <a:solidFill>
                          <a:schemeClr val="accent2">
                            <a:lumMod val="75000"/>
                          </a:schemeClr>
                        </a:solidFill>
                        <a:latin typeface="Cambria Math" panose="02040503050406030204" pitchFamily="18" charset="0"/>
                      </a:rPr>
                      <m:t>𝑨</m:t>
                    </m:r>
                    <m:r>
                      <a:rPr lang="en-US" sz="3200" b="1" i="0" smtClean="0">
                        <a:solidFill>
                          <a:schemeClr val="accent2">
                            <a:lumMod val="75000"/>
                          </a:schemeClr>
                        </a:solidFill>
                        <a:latin typeface="Cambria Math" panose="02040503050406030204" pitchFamily="18" charset="0"/>
                      </a:rPr>
                      <m:t>, </m:t>
                    </m:r>
                    <m:r>
                      <a:rPr lang="en-US" sz="3200" b="1" i="1" smtClean="0">
                        <a:solidFill>
                          <a:schemeClr val="accent2">
                            <a:lumMod val="75000"/>
                          </a:schemeClr>
                        </a:solidFill>
                        <a:latin typeface="Cambria Math" panose="02040503050406030204" pitchFamily="18" charset="0"/>
                      </a:rPr>
                      <m:t>𝑷</m:t>
                    </m:r>
                    <m:r>
                      <a:rPr lang="en-US" sz="3200" b="1" i="1" smtClean="0">
                        <a:solidFill>
                          <a:schemeClr val="accent2">
                            <a:lumMod val="75000"/>
                          </a:schemeClr>
                        </a:solidFill>
                        <a:latin typeface="Cambria Math" panose="02040503050406030204" pitchFamily="18" charset="0"/>
                      </a:rPr>
                      <m:t>, </m:t>
                    </m:r>
                    <m:r>
                      <a:rPr lang="en-US" sz="3200" b="1" i="1" smtClean="0">
                        <a:solidFill>
                          <a:schemeClr val="accent2">
                            <a:lumMod val="75000"/>
                          </a:schemeClr>
                        </a:solidFill>
                        <a:latin typeface="Cambria Math" panose="02040503050406030204" pitchFamily="18" charset="0"/>
                      </a:rPr>
                      <m:t>𝑭</m:t>
                    </m:r>
                  </m:oMath>
                </a14:m>
                <a:r>
                  <a:rPr lang="en-US" sz="3200" b="1" dirty="0">
                    <a:solidFill>
                      <a:schemeClr val="accent2">
                        <a:lumMod val="75000"/>
                      </a:schemeClr>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ийн тэгшитгэлүүдийг ашиглан </a:t>
                </a:r>
                <a14:m>
                  <m:oMath xmlns:m="http://schemas.openxmlformats.org/officeDocument/2006/math">
                    <m:r>
                      <a:rPr lang="en-US" sz="3200" b="1" i="1" smtClean="0">
                        <a:solidFill>
                          <a:schemeClr val="accent2">
                            <a:lumMod val="75000"/>
                          </a:schemeClr>
                        </a:solidFill>
                        <a:latin typeface="Cambria Math" panose="02040503050406030204" pitchFamily="18" charset="0"/>
                      </a:rPr>
                      <m:t>𝒊</m:t>
                    </m:r>
                    <m:r>
                      <a:rPr lang="en-US" sz="3200" b="1" i="1" smtClean="0">
                        <a:solidFill>
                          <a:schemeClr val="accent2">
                            <a:lumMod val="75000"/>
                          </a:schemeClr>
                        </a:solidFill>
                        <a:latin typeface="Cambria Math" panose="02040503050406030204" pitchFamily="18" charset="0"/>
                      </a:rPr>
                      <m:t>, </m:t>
                    </m:r>
                    <m:r>
                      <a:rPr lang="en-US" sz="3200" b="1" i="1" smtClean="0">
                        <a:solidFill>
                          <a:schemeClr val="accent2">
                            <a:lumMod val="75000"/>
                          </a:schemeClr>
                        </a:solidFill>
                        <a:latin typeface="Cambria Math" panose="02040503050406030204" pitchFamily="18" charset="0"/>
                      </a:rPr>
                      <m:t>𝑵</m:t>
                    </m:r>
                  </m:oMath>
                </a14:m>
                <a:r>
                  <a:rPr lang="en-US" sz="3200" b="1" dirty="0">
                    <a:solidFill>
                      <a:schemeClr val="accent2">
                        <a:lumMod val="75000"/>
                      </a:schemeClr>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-г олох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415F78D-9EF7-5CF8-33E8-C30A1452309C}"/>
                  </a:ext>
                </a:extLst>
              </p:cNvPr>
              <p:cNvSpPr>
                <a:spLocks noGrp="1" noRot="1" noChangeAspect="1" noMove="1" noResize="1" noEditPoints="1" noAdjustHandles="1" noChangeArrowheads="1" noChangeShapeType="1" noTextEdit="1"/>
              </p:cNvSpPr>
              <p:nvPr>
                <p:ph type="title"/>
              </p:nvPr>
            </p:nvSpPr>
            <p:spPr>
              <a:xfrm>
                <a:off x="185530" y="100082"/>
                <a:ext cx="11794435" cy="1325563"/>
              </a:xfrm>
              <a:blipFill>
                <a:blip r:embed="rId3"/>
                <a:stretch>
                  <a:fillRect l="-1292" t="-12844" r="-1085" b="-178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212035" y="1425645"/>
                <a:ext cx="11794435" cy="4502987"/>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Олон удаагийн мөнгөн урсгалын эквивалент үнэ цэнийн тооцоонд </a:t>
                </a:r>
                <a14:m>
                  <m:oMath xmlns:m="http://schemas.openxmlformats.org/officeDocument/2006/math">
                    <m:r>
                      <a:rPr lang="en-US" sz="3600" b="1" i="1" smtClean="0">
                        <a:solidFill>
                          <a:schemeClr val="accent2">
                            <a:lumMod val="75000"/>
                          </a:schemeClr>
                        </a:solidFill>
                        <a:latin typeface="Cambria Math" panose="02040503050406030204" pitchFamily="18" charset="0"/>
                      </a:rPr>
                      <m:t>𝒊</m:t>
                    </m:r>
                    <m:r>
                      <a:rPr lang="en-US" sz="3600" b="1" i="1" smtClean="0">
                        <a:solidFill>
                          <a:schemeClr val="accent2">
                            <a:lumMod val="75000"/>
                          </a:schemeClr>
                        </a:solidFill>
                        <a:latin typeface="Cambria Math" panose="02040503050406030204" pitchFamily="18" charset="0"/>
                      </a:rPr>
                      <m:t>, </m:t>
                    </m:r>
                    <m:r>
                      <a:rPr lang="en-US" sz="3600" b="1" i="1" smtClean="0">
                        <a:solidFill>
                          <a:schemeClr val="accent2">
                            <a:lumMod val="75000"/>
                          </a:schemeClr>
                        </a:solidFill>
                        <a:latin typeface="Cambria Math" panose="02040503050406030204" pitchFamily="18" charset="0"/>
                      </a:rPr>
                      <m:t>𝑵</m:t>
                    </m:r>
                  </m:oMath>
                </a14:m>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г тодорхойлох тухайлсан тэгшитгэл байдаггүй. </a:t>
                </a:r>
              </a:p>
              <a:p>
                <a:pPr algn="just"/>
                <a:r>
                  <a:rPr lang="mn-MN" sz="3600" dirty="0">
                    <a:solidFill>
                      <a:srgbClr val="002060"/>
                    </a:solidFill>
                    <a:latin typeface="Times New Roman" panose="02020603050405020304" pitchFamily="18" charset="0"/>
                    <a:cs typeface="Times New Roman" panose="02020603050405020304" pitchFamily="18" charset="0"/>
                  </a:rPr>
                  <a:t>Хэрвээ эдгээр үзүүлэлтүүдийг тодорхойлох шаардлагатай бол өмнө үзсэн олон удаагийн эквивалент үнэ цэнийн хамаарлуудыг болон шугаман интерполяцийн аргыг ашиглан ойролцоогоор тодорхойлох боломжтой. </a:t>
                </a: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212035" y="1425645"/>
                <a:ext cx="11794435" cy="4502987"/>
              </a:xfrm>
              <a:blipFill>
                <a:blip r:embed="rId4"/>
                <a:stretch>
                  <a:fillRect l="-1447" t="-3518" r="-1550"/>
                </a:stretch>
              </a:blipFill>
            </p:spPr>
            <p:txBody>
              <a:bodyPr/>
              <a:lstStyle/>
              <a:p>
                <a:r>
                  <a:rPr lang="en-US">
                    <a:noFill/>
                  </a:rPr>
                  <a:t> </a:t>
                </a:r>
              </a:p>
            </p:txBody>
          </p:sp>
        </mc:Fallback>
      </mc:AlternateContent>
    </p:spTree>
    <p:extLst>
      <p:ext uri="{BB962C8B-B14F-4D97-AF65-F5344CB8AC3E}">
        <p14:creationId xmlns:p14="http://schemas.microsoft.com/office/powerpoint/2010/main" val="2869204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00A0355-A8B7-D48F-CDF0-187036135EA4}"/>
              </a:ext>
            </a:extLst>
          </p:cNvPr>
          <p:cNvSpPr>
            <a:spLocks noGrp="1"/>
          </p:cNvSpPr>
          <p:nvPr>
            <p:ph type="title"/>
          </p:nvPr>
        </p:nvSpPr>
        <p:spPr>
          <a:xfrm>
            <a:off x="162340" y="137399"/>
            <a:ext cx="11751364" cy="1043812"/>
          </a:xfrm>
        </p:spPr>
        <p:txBody>
          <a:bodyPr>
            <a:normAutofit fontScale="90000"/>
          </a:bodyPr>
          <a:lstStyle/>
          <a:p>
            <a:r>
              <a:rPr lang="ru-RU" sz="4400" b="1" dirty="0">
                <a:solidFill>
                  <a:srgbClr val="002060"/>
                </a:solidFill>
                <a:latin typeface="Times New Roman" panose="02020603050405020304" pitchFamily="18" charset="0"/>
                <a:cs typeface="Times New Roman" panose="02020603050405020304" pitchFamily="18" charset="0"/>
              </a:rPr>
              <a:t>Хүүний томъёо болон дискрет нийлмэл хүүний хамаарлын тойм</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62340" y="1181211"/>
            <a:ext cx="11867320" cy="1043813"/>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Нийлмэл хүүний хүчин зүйлсийн хооронд хамгийн түгээмэл ашиглагддаг хэд хэдэн хамаарал байдаг:</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C17CDE2-11E7-5EB4-61E1-01DA47B978B1}"/>
                  </a:ext>
                </a:extLst>
              </p:cNvPr>
              <p:cNvSpPr txBox="1"/>
              <p:nvPr/>
            </p:nvSpPr>
            <p:spPr>
              <a:xfrm>
                <a:off x="5390321" y="1984843"/>
                <a:ext cx="6652591" cy="2861809"/>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𝑃</m:t>
                              </m:r>
                            </m:num>
                            <m:den>
                              <m:r>
                                <a:rPr lang="mn-MN" sz="3200" i="1">
                                  <a:solidFill>
                                    <a:srgbClr val="FF0000"/>
                                  </a:solidFill>
                                  <a:latin typeface="Cambria Math" panose="02040503050406030204" pitchFamily="18" charset="0"/>
                                </a:rPr>
                                <m:t>𝐴</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nary>
                        <m:naryPr>
                          <m:chr m:val="∑"/>
                          <m:limLoc m:val="undOvr"/>
                          <m:grow m:val="on"/>
                          <m:ctrlPr>
                            <a:rPr lang="en-US" sz="3200" i="1">
                              <a:solidFill>
                                <a:srgbClr val="FF0000"/>
                              </a:solidFill>
                              <a:latin typeface="Cambria Math" panose="02040503050406030204" pitchFamily="18" charset="0"/>
                            </a:rPr>
                          </m:ctrlPr>
                        </m:naryPr>
                        <m:sub>
                          <m:r>
                            <a:rPr lang="mn-MN" sz="3200" i="1">
                              <a:solidFill>
                                <a:srgbClr val="FF0000"/>
                              </a:solidFill>
                              <a:latin typeface="Cambria Math" panose="02040503050406030204" pitchFamily="18" charset="0"/>
                            </a:rPr>
                            <m:t>𝑘</m:t>
                          </m:r>
                          <m:r>
                            <a:rPr lang="mn-MN" sz="3200" i="1">
                              <a:solidFill>
                                <a:srgbClr val="FF0000"/>
                              </a:solidFill>
                              <a:latin typeface="Cambria Math" panose="02040503050406030204" pitchFamily="18" charset="0"/>
                            </a:rPr>
                            <m:t>=1</m:t>
                          </m:r>
                        </m:sub>
                        <m:sup>
                          <m:r>
                            <a:rPr lang="mn-MN" sz="3200" i="1">
                              <a:solidFill>
                                <a:srgbClr val="FF0000"/>
                              </a:solidFill>
                              <a:latin typeface="Cambria Math" panose="02040503050406030204" pitchFamily="18" charset="0"/>
                            </a:rPr>
                            <m:t>𝑁</m:t>
                          </m:r>
                        </m:sup>
                        <m:e>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𝑃</m:t>
                                  </m:r>
                                </m:num>
                                <m:den>
                                  <m:r>
                                    <a:rPr lang="mn-MN" sz="3200" i="1">
                                      <a:solidFill>
                                        <a:srgbClr val="FF0000"/>
                                      </a:solidFill>
                                      <a:latin typeface="Cambria Math" panose="02040503050406030204" pitchFamily="18" charset="0"/>
                                    </a:rPr>
                                    <m:t>𝐹</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𝑘</m:t>
                              </m:r>
                            </m:e>
                          </m:d>
                        </m:e>
                      </m:nary>
                    </m:oMath>
                  </m:oMathPara>
                </a14:m>
                <a:endParaRPr lang="mn-MN" sz="3200" dirty="0">
                  <a:solidFill>
                    <a:srgbClr val="FF000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𝐹</m:t>
                              </m:r>
                            </m:num>
                            <m:den>
                              <m:r>
                                <a:rPr lang="mn-MN" sz="3200" i="1">
                                  <a:solidFill>
                                    <a:srgbClr val="FF0000"/>
                                  </a:solidFill>
                                  <a:latin typeface="Cambria Math" panose="02040503050406030204" pitchFamily="18" charset="0"/>
                                </a:rPr>
                                <m:t>𝐴</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nary>
                        <m:naryPr>
                          <m:chr m:val="∑"/>
                          <m:limLoc m:val="undOvr"/>
                          <m:grow m:val="on"/>
                          <m:ctrlPr>
                            <a:rPr lang="en-US" sz="3200" i="1">
                              <a:solidFill>
                                <a:srgbClr val="FF0000"/>
                              </a:solidFill>
                              <a:latin typeface="Cambria Math" panose="02040503050406030204" pitchFamily="18" charset="0"/>
                            </a:rPr>
                          </m:ctrlPr>
                        </m:naryPr>
                        <m:sub>
                          <m:r>
                            <a:rPr lang="mn-MN" sz="3200" i="1">
                              <a:solidFill>
                                <a:srgbClr val="FF0000"/>
                              </a:solidFill>
                              <a:latin typeface="Cambria Math" panose="02040503050406030204" pitchFamily="18" charset="0"/>
                            </a:rPr>
                            <m:t>𝑘</m:t>
                          </m:r>
                          <m:r>
                            <a:rPr lang="mn-MN" sz="3200" i="1">
                              <a:solidFill>
                                <a:srgbClr val="FF0000"/>
                              </a:solidFill>
                              <a:latin typeface="Cambria Math" panose="02040503050406030204" pitchFamily="18" charset="0"/>
                            </a:rPr>
                            <m:t>=1</m:t>
                          </m:r>
                        </m:sub>
                        <m:sup>
                          <m:r>
                            <a:rPr lang="mn-MN" sz="3200" i="1">
                              <a:solidFill>
                                <a:srgbClr val="FF0000"/>
                              </a:solidFill>
                              <a:latin typeface="Cambria Math" panose="02040503050406030204" pitchFamily="18" charset="0"/>
                            </a:rPr>
                            <m:t>𝑁</m:t>
                          </m:r>
                        </m:sup>
                        <m:e>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𝐹</m:t>
                                  </m:r>
                                </m:num>
                                <m:den>
                                  <m:r>
                                    <a:rPr lang="mn-MN" sz="3200" i="1">
                                      <a:solidFill>
                                        <a:srgbClr val="FF0000"/>
                                      </a:solidFill>
                                      <a:latin typeface="Cambria Math" panose="02040503050406030204" pitchFamily="18" charset="0"/>
                                    </a:rPr>
                                    <m:t>𝑃</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𝑘</m:t>
                              </m:r>
                            </m:e>
                          </m:d>
                        </m:e>
                      </m:nary>
                    </m:oMath>
                  </m:oMathPara>
                </a14:m>
                <a:endParaRPr lang="mn-MN" sz="32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3C17CDE2-11E7-5EB4-61E1-01DA47B978B1}"/>
                  </a:ext>
                </a:extLst>
              </p:cNvPr>
              <p:cNvSpPr txBox="1">
                <a:spLocks noRot="1" noChangeAspect="1" noMove="1" noResize="1" noEditPoints="1" noAdjustHandles="1" noChangeArrowheads="1" noChangeShapeType="1" noTextEdit="1"/>
              </p:cNvSpPr>
              <p:nvPr/>
            </p:nvSpPr>
            <p:spPr>
              <a:xfrm>
                <a:off x="5390321" y="1984843"/>
                <a:ext cx="6652591" cy="286180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DAC8E45-D34B-4507-E89E-F692CDC8E123}"/>
                  </a:ext>
                </a:extLst>
              </p:cNvPr>
              <p:cNvSpPr txBox="1"/>
              <p:nvPr/>
            </p:nvSpPr>
            <p:spPr>
              <a:xfrm>
                <a:off x="162340" y="2389748"/>
                <a:ext cx="5377069" cy="3076804"/>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𝑃</m:t>
                              </m:r>
                            </m:num>
                            <m:den>
                              <m:r>
                                <a:rPr lang="mn-MN" sz="3200" i="1">
                                  <a:solidFill>
                                    <a:srgbClr val="FF0000"/>
                                  </a:solidFill>
                                  <a:latin typeface="Cambria Math" panose="02040503050406030204" pitchFamily="18" charset="0"/>
                                </a:rPr>
                                <m:t>𝐹</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f>
                        <m:fPr>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1</m:t>
                          </m:r>
                        </m:num>
                        <m:den>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𝐹</m:t>
                                  </m:r>
                                </m:num>
                                <m:den>
                                  <m:r>
                                    <a:rPr lang="mn-MN" sz="3200" i="1">
                                      <a:solidFill>
                                        <a:srgbClr val="FF0000"/>
                                      </a:solidFill>
                                      <a:latin typeface="Cambria Math" panose="02040503050406030204" pitchFamily="18" charset="0"/>
                                    </a:rPr>
                                    <m:t>𝑃</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den>
                      </m:f>
                    </m:oMath>
                  </m:oMathPara>
                </a14:m>
                <a:endParaRPr lang="mn-MN" sz="3200" dirty="0">
                  <a:solidFill>
                    <a:srgbClr val="FF000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𝐴</m:t>
                              </m:r>
                            </m:num>
                            <m:den>
                              <m:r>
                                <a:rPr lang="mn-MN" sz="3200" i="1">
                                  <a:solidFill>
                                    <a:srgbClr val="FF0000"/>
                                  </a:solidFill>
                                  <a:latin typeface="Cambria Math" panose="02040503050406030204" pitchFamily="18" charset="0"/>
                                </a:rPr>
                                <m:t>𝑃</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f>
                        <m:fPr>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1</m:t>
                          </m:r>
                        </m:num>
                        <m:den>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𝑃</m:t>
                                  </m:r>
                                </m:num>
                                <m:den>
                                  <m:r>
                                    <a:rPr lang="mn-MN" sz="3200" i="1">
                                      <a:solidFill>
                                        <a:srgbClr val="FF0000"/>
                                      </a:solidFill>
                                      <a:latin typeface="Cambria Math" panose="02040503050406030204" pitchFamily="18" charset="0"/>
                                    </a:rPr>
                                    <m:t>𝐴</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den>
                      </m:f>
                    </m:oMath>
                  </m:oMathPara>
                </a14:m>
                <a:endParaRPr lang="mn-MN" sz="3200" dirty="0">
                  <a:solidFill>
                    <a:srgbClr val="FF0000"/>
                  </a:solidFill>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𝐴</m:t>
                              </m:r>
                            </m:num>
                            <m:den>
                              <m:r>
                                <a:rPr lang="mn-MN" sz="3200" i="1">
                                  <a:solidFill>
                                    <a:srgbClr val="FF0000"/>
                                  </a:solidFill>
                                  <a:latin typeface="Cambria Math" panose="02040503050406030204" pitchFamily="18" charset="0"/>
                                </a:rPr>
                                <m:t>𝐹</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f>
                        <m:fPr>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1</m:t>
                          </m:r>
                        </m:num>
                        <m:den>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𝐹</m:t>
                                  </m:r>
                                </m:num>
                                <m:den>
                                  <m:r>
                                    <a:rPr lang="mn-MN" sz="3200" i="1">
                                      <a:solidFill>
                                        <a:srgbClr val="FF0000"/>
                                      </a:solidFill>
                                      <a:latin typeface="Cambria Math" panose="02040503050406030204" pitchFamily="18" charset="0"/>
                                    </a:rPr>
                                    <m:t>𝐴</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den>
                      </m:f>
                    </m:oMath>
                  </m:oMathPara>
                </a14:m>
                <a:endParaRPr lang="mn-MN" sz="32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DAC8E45-D34B-4507-E89E-F692CDC8E123}"/>
                  </a:ext>
                </a:extLst>
              </p:cNvPr>
              <p:cNvSpPr txBox="1">
                <a:spLocks noRot="1" noChangeAspect="1" noMove="1" noResize="1" noEditPoints="1" noAdjustHandles="1" noChangeArrowheads="1" noChangeShapeType="1" noTextEdit="1"/>
              </p:cNvSpPr>
              <p:nvPr/>
            </p:nvSpPr>
            <p:spPr>
              <a:xfrm>
                <a:off x="162340" y="2389748"/>
                <a:ext cx="5377069" cy="3076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61C283-DC8E-49CF-5A86-D69E0DA9B6C0}"/>
                  </a:ext>
                </a:extLst>
              </p:cNvPr>
              <p:cNvSpPr txBox="1"/>
              <p:nvPr/>
            </p:nvSpPr>
            <p:spPr>
              <a:xfrm>
                <a:off x="887894" y="5676789"/>
                <a:ext cx="10111409"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sz="4000" i="1" smtClean="0">
                              <a:solidFill>
                                <a:srgbClr val="FF0000"/>
                              </a:solidFill>
                              <a:latin typeface="Cambria Math" panose="02040503050406030204" pitchFamily="18" charset="0"/>
                            </a:rPr>
                          </m:ctrlPr>
                        </m:dPr>
                        <m:e>
                          <m:f>
                            <m:fPr>
                              <m:type m:val="lin"/>
                              <m:ctrlPr>
                                <a:rPr lang="en-US" sz="4000" i="1">
                                  <a:solidFill>
                                    <a:srgbClr val="FF0000"/>
                                  </a:solidFill>
                                  <a:latin typeface="Cambria Math" panose="02040503050406030204" pitchFamily="18" charset="0"/>
                                </a:rPr>
                              </m:ctrlPr>
                            </m:fPr>
                            <m:num>
                              <m:r>
                                <a:rPr lang="mn-MN" sz="4000" i="1">
                                  <a:solidFill>
                                    <a:srgbClr val="FF0000"/>
                                  </a:solidFill>
                                  <a:latin typeface="Cambria Math" panose="02040503050406030204" pitchFamily="18" charset="0"/>
                                </a:rPr>
                                <m:t>𝐹</m:t>
                              </m:r>
                            </m:num>
                            <m:den>
                              <m:r>
                                <a:rPr lang="mn-MN" sz="4000" i="1">
                                  <a:solidFill>
                                    <a:srgbClr val="FF0000"/>
                                  </a:solidFill>
                                  <a:latin typeface="Cambria Math" panose="02040503050406030204" pitchFamily="18" charset="0"/>
                                </a:rPr>
                                <m:t>𝐴</m:t>
                              </m:r>
                            </m:den>
                          </m:f>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𝑖</m:t>
                          </m:r>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𝑁</m:t>
                          </m:r>
                        </m:e>
                      </m:d>
                      <m:r>
                        <a:rPr lang="mn-MN" sz="4000" i="1">
                          <a:solidFill>
                            <a:srgbClr val="FF0000"/>
                          </a:solidFill>
                          <a:latin typeface="Cambria Math" panose="02040503050406030204" pitchFamily="18" charset="0"/>
                        </a:rPr>
                        <m:t>=</m:t>
                      </m:r>
                      <m:d>
                        <m:dPr>
                          <m:ctrlPr>
                            <a:rPr lang="en-US" sz="4000" i="1">
                              <a:solidFill>
                                <a:srgbClr val="FF0000"/>
                              </a:solidFill>
                              <a:latin typeface="Cambria Math" panose="02040503050406030204" pitchFamily="18" charset="0"/>
                            </a:rPr>
                          </m:ctrlPr>
                        </m:dPr>
                        <m:e>
                          <m:f>
                            <m:fPr>
                              <m:type m:val="lin"/>
                              <m:ctrlPr>
                                <a:rPr lang="en-US" sz="4000" i="1">
                                  <a:solidFill>
                                    <a:srgbClr val="FF0000"/>
                                  </a:solidFill>
                                  <a:latin typeface="Cambria Math" panose="02040503050406030204" pitchFamily="18" charset="0"/>
                                </a:rPr>
                              </m:ctrlPr>
                            </m:fPr>
                            <m:num>
                              <m:r>
                                <a:rPr lang="mn-MN" sz="4000" i="1">
                                  <a:solidFill>
                                    <a:srgbClr val="FF0000"/>
                                  </a:solidFill>
                                  <a:latin typeface="Cambria Math" panose="02040503050406030204" pitchFamily="18" charset="0"/>
                                </a:rPr>
                                <m:t>𝑃</m:t>
                              </m:r>
                            </m:num>
                            <m:den>
                              <m:r>
                                <a:rPr lang="mn-MN" sz="4000" i="1">
                                  <a:solidFill>
                                    <a:srgbClr val="FF0000"/>
                                  </a:solidFill>
                                  <a:latin typeface="Cambria Math" panose="02040503050406030204" pitchFamily="18" charset="0"/>
                                </a:rPr>
                                <m:t>𝐴</m:t>
                              </m:r>
                            </m:den>
                          </m:f>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𝑖</m:t>
                          </m:r>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𝑁</m:t>
                          </m:r>
                        </m:e>
                      </m:d>
                      <m:d>
                        <m:dPr>
                          <m:ctrlPr>
                            <a:rPr lang="en-US" sz="4000" i="1">
                              <a:solidFill>
                                <a:srgbClr val="FF0000"/>
                              </a:solidFill>
                              <a:latin typeface="Cambria Math" panose="02040503050406030204" pitchFamily="18" charset="0"/>
                            </a:rPr>
                          </m:ctrlPr>
                        </m:dPr>
                        <m:e>
                          <m:f>
                            <m:fPr>
                              <m:type m:val="lin"/>
                              <m:ctrlPr>
                                <a:rPr lang="en-US" sz="4000" i="1">
                                  <a:solidFill>
                                    <a:srgbClr val="FF0000"/>
                                  </a:solidFill>
                                  <a:latin typeface="Cambria Math" panose="02040503050406030204" pitchFamily="18" charset="0"/>
                                </a:rPr>
                              </m:ctrlPr>
                            </m:fPr>
                            <m:num>
                              <m:r>
                                <a:rPr lang="mn-MN" sz="4000" i="1">
                                  <a:solidFill>
                                    <a:srgbClr val="FF0000"/>
                                  </a:solidFill>
                                  <a:latin typeface="Cambria Math" panose="02040503050406030204" pitchFamily="18" charset="0"/>
                                </a:rPr>
                                <m:t>𝐹</m:t>
                              </m:r>
                            </m:num>
                            <m:den>
                              <m:r>
                                <a:rPr lang="mn-MN" sz="4000" i="1">
                                  <a:solidFill>
                                    <a:srgbClr val="FF0000"/>
                                  </a:solidFill>
                                  <a:latin typeface="Cambria Math" panose="02040503050406030204" pitchFamily="18" charset="0"/>
                                </a:rPr>
                                <m:t>𝑃</m:t>
                              </m:r>
                            </m:den>
                          </m:f>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𝑖</m:t>
                          </m:r>
                          <m:r>
                            <a:rPr lang="mn-MN" sz="4000" i="1">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𝑁</m:t>
                          </m:r>
                        </m:e>
                      </m:d>
                    </m:oMath>
                  </m:oMathPara>
                </a14:m>
                <a:endParaRPr lang="en-US" sz="4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2D61C283-DC8E-49CF-5A86-D69E0DA9B6C0}"/>
                  </a:ext>
                </a:extLst>
              </p:cNvPr>
              <p:cNvSpPr txBox="1">
                <a:spLocks noRot="1" noChangeAspect="1" noMove="1" noResize="1" noEditPoints="1" noAdjustHandles="1" noChangeArrowheads="1" noChangeShapeType="1" noTextEdit="1"/>
              </p:cNvSpPr>
              <p:nvPr/>
            </p:nvSpPr>
            <p:spPr>
              <a:xfrm>
                <a:off x="887894" y="5676789"/>
                <a:ext cx="10111409"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6209861-CBC6-A3B5-E6EB-AF5102970402}"/>
                  </a:ext>
                </a:extLst>
              </p:cNvPr>
              <p:cNvSpPr txBox="1"/>
              <p:nvPr/>
            </p:nvSpPr>
            <p:spPr>
              <a:xfrm>
                <a:off x="5653927" y="4881777"/>
                <a:ext cx="6098874" cy="58477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d>
                        <m:dPr>
                          <m:ctrlPr>
                            <a:rPr lang="en-US" sz="3200" i="1" smtClean="0">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𝐴</m:t>
                              </m:r>
                            </m:num>
                            <m:den>
                              <m:r>
                                <a:rPr lang="mn-MN" sz="3200" i="1">
                                  <a:solidFill>
                                    <a:srgbClr val="FF0000"/>
                                  </a:solidFill>
                                  <a:latin typeface="Cambria Math" panose="02040503050406030204" pitchFamily="18" charset="0"/>
                                </a:rPr>
                                <m:t>𝐹</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d>
                        <m:dPr>
                          <m:ctrlPr>
                            <a:rPr lang="en-US" sz="3200" i="1">
                              <a:solidFill>
                                <a:srgbClr val="FF0000"/>
                              </a:solidFill>
                              <a:latin typeface="Cambria Math" panose="02040503050406030204" pitchFamily="18" charset="0"/>
                            </a:rPr>
                          </m:ctrlPr>
                        </m:dPr>
                        <m:e>
                          <m:f>
                            <m:fPr>
                              <m:type m:val="lin"/>
                              <m:ctrlPr>
                                <a:rPr lang="en-US" sz="3200" i="1">
                                  <a:solidFill>
                                    <a:srgbClr val="FF0000"/>
                                  </a:solidFill>
                                  <a:latin typeface="Cambria Math" panose="02040503050406030204" pitchFamily="18" charset="0"/>
                                </a:rPr>
                              </m:ctrlPr>
                            </m:fPr>
                            <m:num>
                              <m:r>
                                <a:rPr lang="mn-MN" sz="3200" i="1">
                                  <a:solidFill>
                                    <a:srgbClr val="FF0000"/>
                                  </a:solidFill>
                                  <a:latin typeface="Cambria Math" panose="02040503050406030204" pitchFamily="18" charset="0"/>
                                </a:rPr>
                                <m:t>𝐴</m:t>
                              </m:r>
                            </m:num>
                            <m:den>
                              <m:r>
                                <a:rPr lang="mn-MN" sz="3200" i="1">
                                  <a:solidFill>
                                    <a:srgbClr val="FF0000"/>
                                  </a:solidFill>
                                  <a:latin typeface="Cambria Math" panose="02040503050406030204" pitchFamily="18" charset="0"/>
                                </a:rPr>
                                <m:t>𝑃</m:t>
                              </m:r>
                            </m:den>
                          </m:f>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𝑁</m:t>
                          </m:r>
                        </m:e>
                      </m:d>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𝑖</m:t>
                      </m:r>
                    </m:oMath>
                  </m:oMathPara>
                </a14:m>
                <a:endParaRPr lang="mn-MN" sz="32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76209861-CBC6-A3B5-E6EB-AF5102970402}"/>
                  </a:ext>
                </a:extLst>
              </p:cNvPr>
              <p:cNvSpPr txBox="1">
                <a:spLocks noRot="1" noChangeAspect="1" noMove="1" noResize="1" noEditPoints="1" noAdjustHandles="1" noChangeArrowheads="1" noChangeShapeType="1" noTextEdit="1"/>
              </p:cNvSpPr>
              <p:nvPr/>
            </p:nvSpPr>
            <p:spPr>
              <a:xfrm>
                <a:off x="5653927" y="4881777"/>
                <a:ext cx="6098874" cy="58477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97682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33D6-3EBC-A243-7989-F7F7780B4ADC}"/>
              </a:ext>
            </a:extLst>
          </p:cNvPr>
          <p:cNvSpPr>
            <a:spLocks noGrp="1"/>
          </p:cNvSpPr>
          <p:nvPr>
            <p:ph type="title"/>
          </p:nvPr>
        </p:nvSpPr>
        <p:spPr>
          <a:xfrm>
            <a:off x="198783" y="365125"/>
            <a:ext cx="11608904" cy="536023"/>
          </a:xfrm>
        </p:spPr>
        <p:txBody>
          <a:bodyPr>
            <a:noAutofit/>
          </a:bodyPr>
          <a:lstStyle/>
          <a:p>
            <a:pPr algn="just"/>
            <a:r>
              <a:rPr lang="ru-RU" sz="3600" b="1" dirty="0">
                <a:solidFill>
                  <a:srgbClr val="002060"/>
                </a:solidFill>
                <a:latin typeface="Times New Roman" panose="02020603050405020304" pitchFamily="18" charset="0"/>
                <a:cs typeface="Times New Roman" panose="02020603050405020304" pitchFamily="18" charset="0"/>
              </a:rPr>
              <a:t>Хүүний томъёо болон дискрет нийлмэл хүүний хамаарлын тойм</a:t>
            </a:r>
            <a:endParaRPr lang="en-US" sz="36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68A8FDF8-C5C9-D505-8805-E5E082A7C828}"/>
              </a:ext>
            </a:extLst>
          </p:cNvPr>
          <p:cNvPicPr>
            <a:picLocks noChangeAspect="1"/>
          </p:cNvPicPr>
          <p:nvPr/>
        </p:nvPicPr>
        <p:blipFill rotWithShape="1">
          <a:blip r:embed="rId3"/>
          <a:srcRect t="5258"/>
          <a:stretch/>
        </p:blipFill>
        <p:spPr>
          <a:xfrm>
            <a:off x="0" y="1055293"/>
            <a:ext cx="12192000" cy="5597298"/>
          </a:xfrm>
          <a:prstGeom prst="rect">
            <a:avLst/>
          </a:prstGeom>
        </p:spPr>
      </p:pic>
    </p:spTree>
    <p:extLst>
      <p:ext uri="{BB962C8B-B14F-4D97-AF65-F5344CB8AC3E}">
        <p14:creationId xmlns:p14="http://schemas.microsoft.com/office/powerpoint/2010/main" val="3909599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11C6-5A64-F36E-ED8D-4E252CE6DBE3}"/>
              </a:ext>
            </a:extLst>
          </p:cNvPr>
          <p:cNvSpPr>
            <a:spLocks noGrp="1"/>
          </p:cNvSpPr>
          <p:nvPr>
            <p:ph type="title"/>
          </p:nvPr>
        </p:nvSpPr>
        <p:spPr>
          <a:xfrm>
            <a:off x="318655" y="147529"/>
            <a:ext cx="11430000" cy="992620"/>
          </a:xfrm>
        </p:spPr>
        <p:txBody>
          <a:bodyPr>
            <a:noAutofit/>
          </a:bodyPr>
          <a:lstStyle/>
          <a:p>
            <a:r>
              <a:rPr lang="mn-MN" sz="2900" b="1" dirty="0">
                <a:solidFill>
                  <a:srgbClr val="0000FF"/>
                </a:solidFill>
                <a:latin typeface="Times New Roman" panose="02020603050405020304" pitchFamily="18" charset="0"/>
                <a:cs typeface="Times New Roman" panose="02020603050405020304" pitchFamily="18" charset="0"/>
              </a:rPr>
              <a:t>Аннуити Дуэ буюу хугацааны үе бүрийн эхэнд хийх тэнцүү төлбөр, түүний өнөөгийн ба ирээдүйн үнэ цэнийн хоорондох холбоо </a:t>
            </a:r>
            <a:endParaRPr lang="en-US" sz="2900" b="1" dirty="0">
              <a:solidFill>
                <a:srgbClr val="0000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0BCC62D-0374-5131-1195-9FE520D8A0C7}"/>
              </a:ext>
            </a:extLst>
          </p:cNvPr>
          <p:cNvPicPr>
            <a:picLocks noChangeAspect="1"/>
          </p:cNvPicPr>
          <p:nvPr/>
        </p:nvPicPr>
        <p:blipFill>
          <a:blip r:embed="rId3"/>
          <a:stretch>
            <a:fillRect/>
          </a:stretch>
        </p:blipFill>
        <p:spPr>
          <a:xfrm>
            <a:off x="318654" y="1035424"/>
            <a:ext cx="7038110" cy="4222376"/>
          </a:xfrm>
          <a:prstGeom prst="rect">
            <a:avLst/>
          </a:prstGeom>
        </p:spPr>
      </p:pic>
      <p:pic>
        <p:nvPicPr>
          <p:cNvPr id="13" name="Picture 12">
            <a:extLst>
              <a:ext uri="{FF2B5EF4-FFF2-40B4-BE49-F238E27FC236}">
                <a16:creationId xmlns:a16="http://schemas.microsoft.com/office/drawing/2014/main" id="{E742F047-AB66-3374-33CF-0F9C993F21B9}"/>
              </a:ext>
            </a:extLst>
          </p:cNvPr>
          <p:cNvPicPr>
            <a:picLocks noChangeAspect="1"/>
          </p:cNvPicPr>
          <p:nvPr/>
        </p:nvPicPr>
        <p:blipFill>
          <a:blip r:embed="rId4"/>
          <a:stretch>
            <a:fillRect/>
          </a:stretch>
        </p:blipFill>
        <p:spPr>
          <a:xfrm>
            <a:off x="4975412" y="2925232"/>
            <a:ext cx="6961094" cy="365076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51EB69D-1CBE-41A4-645F-61D3C547D765}"/>
                  </a:ext>
                </a:extLst>
              </p:cNvPr>
              <p:cNvSpPr txBox="1"/>
              <p:nvPr/>
            </p:nvSpPr>
            <p:spPr>
              <a:xfrm>
                <a:off x="573743" y="5452446"/>
                <a:ext cx="6054436" cy="1221360"/>
              </a:xfrm>
              <a:prstGeom prst="rect">
                <a:avLst/>
              </a:prstGeom>
              <a:noFill/>
            </p:spPr>
            <p:txBody>
              <a:bodyPr wrap="square">
                <a:spAutoFit/>
              </a:bodyPr>
              <a:lstStyle/>
              <a:p>
                <a:pPr marL="109537" indent="0" algn="ctr">
                  <a:buNone/>
                </a:pPr>
                <a14:m>
                  <m:oMathPara xmlns:m="http://schemas.openxmlformats.org/officeDocument/2006/math">
                    <m:oMathParaPr>
                      <m:jc m:val="centerGroup"/>
                    </m:oMathParaPr>
                    <m:oMath xmlns:m="http://schemas.openxmlformats.org/officeDocument/2006/math">
                      <m:sSub>
                        <m:sSubPr>
                          <m:ctrlPr>
                            <a:rPr lang="mn-MN" sz="3200" b="1" i="1" smtClean="0">
                              <a:solidFill>
                                <a:srgbClr val="FF0000"/>
                              </a:solidFill>
                              <a:latin typeface="Cambria Math" panose="02040503050406030204" pitchFamily="18" charset="0"/>
                              <a:cs typeface="Times New Roman" panose="02020603050405020304" pitchFamily="18" charset="0"/>
                            </a:rPr>
                          </m:ctrlPr>
                        </m:sSubPr>
                        <m:e>
                          <m:r>
                            <a:rPr lang="en-US" sz="3200" b="1" i="1">
                              <a:solidFill>
                                <a:srgbClr val="FF0000"/>
                              </a:solidFill>
                              <a:latin typeface="Cambria Math" panose="02040503050406030204" pitchFamily="18" charset="0"/>
                              <a:cs typeface="Times New Roman" panose="02020603050405020304" pitchFamily="18" charset="0"/>
                            </a:rPr>
                            <m:t>𝑭𝑽𝑨</m:t>
                          </m:r>
                        </m:e>
                        <m:sub>
                          <m:r>
                            <a:rPr lang="en-US" sz="3200" b="1" i="1">
                              <a:solidFill>
                                <a:srgbClr val="FF0000"/>
                              </a:solidFill>
                              <a:latin typeface="Cambria Math" panose="02040503050406030204" pitchFamily="18" charset="0"/>
                              <a:cs typeface="Times New Roman" panose="02020603050405020304" pitchFamily="18" charset="0"/>
                            </a:rPr>
                            <m:t>𝒏</m:t>
                          </m:r>
                        </m:sub>
                      </m:sSub>
                      <m:r>
                        <a:rPr lang="en-US" sz="3200" b="1" i="1">
                          <a:solidFill>
                            <a:srgbClr val="FF0000"/>
                          </a:solidFill>
                          <a:latin typeface="Cambria Math" panose="02040503050406030204" pitchFamily="18" charset="0"/>
                          <a:cs typeface="Times New Roman" panose="02020603050405020304" pitchFamily="18" charset="0"/>
                        </a:rPr>
                        <m:t>=</m:t>
                      </m:r>
                      <m:r>
                        <a:rPr lang="en-US" sz="3200" b="1" i="1" smtClean="0">
                          <a:solidFill>
                            <a:srgbClr val="FF0000"/>
                          </a:solidFill>
                          <a:latin typeface="Cambria Math" panose="02040503050406030204" pitchFamily="18" charset="0"/>
                          <a:cs typeface="Times New Roman" panose="02020603050405020304" pitchFamily="18" charset="0"/>
                        </a:rPr>
                        <m:t>𝑨</m:t>
                      </m:r>
                      <m:d>
                        <m:dPr>
                          <m:ctrlPr>
                            <a:rPr lang="en-US" sz="3200" b="1" i="1" smtClean="0">
                              <a:solidFill>
                                <a:srgbClr val="FF0000"/>
                              </a:solidFill>
                              <a:latin typeface="Cambria Math" panose="02040503050406030204" pitchFamily="18" charset="0"/>
                              <a:cs typeface="Times New Roman" panose="02020603050405020304" pitchFamily="18" charset="0"/>
                            </a:rPr>
                          </m:ctrlPr>
                        </m:dPr>
                        <m:e>
                          <m:f>
                            <m:fPr>
                              <m:ctrlP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d>
                                </m:e>
                                <m:sup>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𝒏</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sup>
                              </m:sSup>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num>
                            <m:den>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den>
                          </m:f>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e>
                      </m:d>
                    </m:oMath>
                  </m:oMathPara>
                </a14:m>
                <a:endParaRPr lang="en-US" sz="2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151EB69D-1CBE-41A4-645F-61D3C547D765}"/>
                  </a:ext>
                </a:extLst>
              </p:cNvPr>
              <p:cNvSpPr txBox="1">
                <a:spLocks noRot="1" noChangeAspect="1" noMove="1" noResize="1" noEditPoints="1" noAdjustHandles="1" noChangeArrowheads="1" noChangeShapeType="1" noTextEdit="1"/>
              </p:cNvSpPr>
              <p:nvPr/>
            </p:nvSpPr>
            <p:spPr>
              <a:xfrm>
                <a:off x="573743" y="5452446"/>
                <a:ext cx="6054436" cy="12213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DDEE374-F3C8-9B86-5605-F1559400CB19}"/>
                  </a:ext>
                </a:extLst>
              </p:cNvPr>
              <p:cNvSpPr txBox="1"/>
              <p:nvPr/>
            </p:nvSpPr>
            <p:spPr>
              <a:xfrm>
                <a:off x="6365755" y="1147393"/>
                <a:ext cx="5611092" cy="1333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mn-MN" sz="3600" b="1" i="1" smtClean="0">
                              <a:solidFill>
                                <a:srgbClr val="FF0000"/>
                              </a:solidFill>
                              <a:latin typeface="Cambria Math" panose="02040503050406030204" pitchFamily="18" charset="0"/>
                              <a:cs typeface="Times New Roman" panose="02020603050405020304" pitchFamily="18" charset="0"/>
                            </a:rPr>
                          </m:ctrlPr>
                        </m:sSubPr>
                        <m:e>
                          <m:r>
                            <a:rPr lang="en-US" sz="3600" b="1" i="1">
                              <a:solidFill>
                                <a:srgbClr val="FF0000"/>
                              </a:solidFill>
                              <a:latin typeface="Cambria Math" panose="02040503050406030204" pitchFamily="18" charset="0"/>
                              <a:cs typeface="Times New Roman" panose="02020603050405020304" pitchFamily="18" charset="0"/>
                            </a:rPr>
                            <m:t>𝑷𝑽𝑨</m:t>
                          </m:r>
                        </m:e>
                        <m:sub>
                          <m:r>
                            <a:rPr lang="en-US" sz="3600" b="1" i="1">
                              <a:solidFill>
                                <a:srgbClr val="FF0000"/>
                              </a:solidFill>
                              <a:latin typeface="Cambria Math" panose="02040503050406030204" pitchFamily="18" charset="0"/>
                              <a:cs typeface="Times New Roman" panose="02020603050405020304" pitchFamily="18" charset="0"/>
                            </a:rPr>
                            <m:t>𝒏</m:t>
                          </m:r>
                        </m:sub>
                      </m:sSub>
                      <m:r>
                        <a:rPr lang="en-US" sz="3600" b="1" i="1" smtClean="0">
                          <a:solidFill>
                            <a:srgbClr val="FF0000"/>
                          </a:solidFill>
                          <a:latin typeface="Cambria Math" panose="02040503050406030204" pitchFamily="18" charset="0"/>
                          <a:cs typeface="Times New Roman" panose="02020603050405020304" pitchFamily="18" charset="0"/>
                        </a:rPr>
                        <m:t>=</m:t>
                      </m:r>
                      <m:r>
                        <a:rPr lang="en-US" sz="3600" b="1" i="1" smtClean="0">
                          <a:solidFill>
                            <a:srgbClr val="FF0000"/>
                          </a:solidFill>
                          <a:latin typeface="Cambria Math" panose="02040503050406030204" pitchFamily="18" charset="0"/>
                          <a:cs typeface="Times New Roman" panose="02020603050405020304" pitchFamily="18" charset="0"/>
                        </a:rPr>
                        <m:t>𝑨</m:t>
                      </m:r>
                      <m:r>
                        <a:rPr lang="en-US" sz="3600" b="1" i="1" smtClean="0">
                          <a:solidFill>
                            <a:srgbClr val="FF0000"/>
                          </a:solidFill>
                          <a:latin typeface="Cambria Math" panose="02040503050406030204" pitchFamily="18" charset="0"/>
                          <a:cs typeface="Times New Roman" panose="02020603050405020304" pitchFamily="18" charset="0"/>
                        </a:rPr>
                        <m:t>∗</m:t>
                      </m:r>
                      <m:f>
                        <m:fPr>
                          <m:ctrlPr>
                            <a:rPr lang="en-US" sz="3600" b="1" i="1" smtClean="0">
                              <a:solidFill>
                                <a:srgbClr val="FF0000"/>
                              </a:solidFill>
                              <a:latin typeface="Cambria Math" panose="02040503050406030204" pitchFamily="18" charset="0"/>
                              <a:cs typeface="Times New Roman" panose="02020603050405020304" pitchFamily="18" charset="0"/>
                            </a:rPr>
                          </m:ctrlPr>
                        </m:fPr>
                        <m:num>
                          <m:d>
                            <m:dPr>
                              <m:ctrlPr>
                                <a:rPr lang="en-US" sz="3600" b="1" i="1" smtClean="0">
                                  <a:solidFill>
                                    <a:srgbClr val="FF0000"/>
                                  </a:solidFill>
                                  <a:latin typeface="Cambria Math" panose="02040503050406030204" pitchFamily="18" charset="0"/>
                                  <a:cs typeface="Times New Roman" panose="02020603050405020304" pitchFamily="18" charset="0"/>
                                </a:rPr>
                              </m:ctrlPr>
                            </m:dPr>
                            <m:e>
                              <m:sSup>
                                <m:sSupPr>
                                  <m:ctrlPr>
                                    <a:rPr lang="en-US" sz="3600" b="1" i="1">
                                      <a:solidFill>
                                        <a:srgbClr val="FF0000"/>
                                      </a:solidFill>
                                      <a:latin typeface="Cambria Math" panose="02040503050406030204" pitchFamily="18" charset="0"/>
                                      <a:cs typeface="Times New Roman" panose="02020603050405020304" pitchFamily="18" charset="0"/>
                                    </a:rPr>
                                  </m:ctrlPr>
                                </m:sSupPr>
                                <m:e>
                                  <m:r>
                                    <a:rPr lang="en-US" sz="3600" b="1" i="1">
                                      <a:solidFill>
                                        <a:srgbClr val="FF0000"/>
                                      </a:solidFill>
                                      <a:latin typeface="Cambria Math" panose="02040503050406030204" pitchFamily="18" charset="0"/>
                                      <a:cs typeface="Times New Roman" panose="02020603050405020304" pitchFamily="18" charset="0"/>
                                    </a:rPr>
                                    <m:t>(</m:t>
                                  </m:r>
                                  <m:r>
                                    <a:rPr lang="en-US" sz="3600" b="1" i="1">
                                      <a:solidFill>
                                        <a:srgbClr val="FF0000"/>
                                      </a:solidFill>
                                      <a:latin typeface="Cambria Math" panose="02040503050406030204" pitchFamily="18" charset="0"/>
                                      <a:cs typeface="Times New Roman" panose="02020603050405020304" pitchFamily="18" charset="0"/>
                                    </a:rPr>
                                    <m:t>𝟏</m:t>
                                  </m:r>
                                  <m:r>
                                    <a:rPr lang="en-US" sz="3600" b="1" i="1">
                                      <a:solidFill>
                                        <a:srgbClr val="FF0000"/>
                                      </a:solidFill>
                                      <a:latin typeface="Cambria Math" panose="02040503050406030204" pitchFamily="18" charset="0"/>
                                      <a:cs typeface="Times New Roman" panose="02020603050405020304" pitchFamily="18" charset="0"/>
                                    </a:rPr>
                                    <m:t>+</m:t>
                                  </m:r>
                                  <m:r>
                                    <a:rPr lang="en-US" sz="3600" b="1" i="1">
                                      <a:solidFill>
                                        <a:srgbClr val="FF0000"/>
                                      </a:solidFill>
                                      <a:latin typeface="Cambria Math" panose="02040503050406030204" pitchFamily="18" charset="0"/>
                                      <a:cs typeface="Times New Roman" panose="02020603050405020304" pitchFamily="18" charset="0"/>
                                    </a:rPr>
                                    <m:t>𝒊</m:t>
                                  </m:r>
                                  <m:r>
                                    <a:rPr lang="en-US" sz="3600" b="1" i="1">
                                      <a:solidFill>
                                        <a:srgbClr val="FF0000"/>
                                      </a:solidFill>
                                      <a:latin typeface="Cambria Math" panose="02040503050406030204" pitchFamily="18" charset="0"/>
                                      <a:cs typeface="Times New Roman" panose="02020603050405020304" pitchFamily="18" charset="0"/>
                                    </a:rPr>
                                    <m:t>)</m:t>
                                  </m:r>
                                </m:e>
                                <m:sup>
                                  <m:r>
                                    <a:rPr lang="en-US" sz="3600" b="1" i="1">
                                      <a:solidFill>
                                        <a:srgbClr val="FF0000"/>
                                      </a:solidFill>
                                      <a:latin typeface="Cambria Math" panose="02040503050406030204" pitchFamily="18" charset="0"/>
                                      <a:cs typeface="Times New Roman" panose="02020603050405020304" pitchFamily="18" charset="0"/>
                                    </a:rPr>
                                    <m:t>𝒏</m:t>
                                  </m:r>
                                </m:sup>
                              </m:sSup>
                              <m:r>
                                <a:rPr lang="en-US" sz="3600" b="1" i="1" smtClean="0">
                                  <a:solidFill>
                                    <a:srgbClr val="FF0000"/>
                                  </a:solidFill>
                                  <a:latin typeface="Cambria Math" panose="02040503050406030204" pitchFamily="18" charset="0"/>
                                  <a:cs typeface="Times New Roman" panose="02020603050405020304" pitchFamily="18" charset="0"/>
                                </a:rPr>
                                <m:t>−</m:t>
                              </m:r>
                              <m:r>
                                <a:rPr lang="en-US" sz="3600" b="1" i="1" smtClean="0">
                                  <a:solidFill>
                                    <a:srgbClr val="FF0000"/>
                                  </a:solidFill>
                                  <a:latin typeface="Cambria Math" panose="02040503050406030204" pitchFamily="18" charset="0"/>
                                  <a:cs typeface="Times New Roman" panose="02020603050405020304" pitchFamily="18" charset="0"/>
                                </a:rPr>
                                <m:t>𝟏</m:t>
                              </m:r>
                            </m:e>
                          </m:d>
                        </m:num>
                        <m:den>
                          <m:r>
                            <a:rPr lang="en-US" sz="3600" b="1" i="1" smtClean="0">
                              <a:solidFill>
                                <a:srgbClr val="FF0000"/>
                              </a:solidFill>
                              <a:latin typeface="Cambria Math" panose="02040503050406030204" pitchFamily="18" charset="0"/>
                              <a:cs typeface="Times New Roman" panose="02020603050405020304" pitchFamily="18" charset="0"/>
                            </a:rPr>
                            <m:t>𝒊</m:t>
                          </m:r>
                          <m:r>
                            <a:rPr lang="en-US" sz="3600" b="1" i="1" smtClean="0">
                              <a:solidFill>
                                <a:srgbClr val="FF0000"/>
                              </a:solidFill>
                              <a:latin typeface="Cambria Math" panose="02040503050406030204" pitchFamily="18" charset="0"/>
                              <a:cs typeface="Times New Roman" panose="02020603050405020304" pitchFamily="18" charset="0"/>
                            </a:rPr>
                            <m:t>∗</m:t>
                          </m:r>
                          <m:sSup>
                            <m:sSupPr>
                              <m:ctrlPr>
                                <a:rPr lang="en-US" sz="3600" b="1" i="1" smtClean="0">
                                  <a:solidFill>
                                    <a:srgbClr val="FF0000"/>
                                  </a:solidFill>
                                  <a:latin typeface="Cambria Math" panose="02040503050406030204" pitchFamily="18" charset="0"/>
                                  <a:cs typeface="Times New Roman" panose="02020603050405020304" pitchFamily="18" charset="0"/>
                                </a:rPr>
                              </m:ctrlPr>
                            </m:sSupPr>
                            <m:e>
                              <m:r>
                                <a:rPr lang="en-US" sz="3600" b="1" i="1" smtClean="0">
                                  <a:solidFill>
                                    <a:srgbClr val="FF0000"/>
                                  </a:solidFill>
                                  <a:latin typeface="Cambria Math" panose="02040503050406030204" pitchFamily="18" charset="0"/>
                                  <a:cs typeface="Times New Roman" panose="02020603050405020304" pitchFamily="18" charset="0"/>
                                </a:rPr>
                                <m:t>(</m:t>
                              </m:r>
                              <m:r>
                                <a:rPr lang="en-US" sz="3600" b="1" i="1" smtClean="0">
                                  <a:solidFill>
                                    <a:srgbClr val="FF0000"/>
                                  </a:solidFill>
                                  <a:latin typeface="Cambria Math" panose="02040503050406030204" pitchFamily="18" charset="0"/>
                                  <a:cs typeface="Times New Roman" panose="02020603050405020304" pitchFamily="18" charset="0"/>
                                </a:rPr>
                                <m:t>𝟏</m:t>
                              </m:r>
                              <m:r>
                                <a:rPr lang="en-US" sz="3600" b="1" i="1" smtClean="0">
                                  <a:solidFill>
                                    <a:srgbClr val="FF0000"/>
                                  </a:solidFill>
                                  <a:latin typeface="Cambria Math" panose="02040503050406030204" pitchFamily="18" charset="0"/>
                                  <a:cs typeface="Times New Roman" panose="02020603050405020304" pitchFamily="18" charset="0"/>
                                </a:rPr>
                                <m:t>+</m:t>
                              </m:r>
                              <m:r>
                                <a:rPr lang="en-US" sz="3600" b="1" i="1" smtClean="0">
                                  <a:solidFill>
                                    <a:srgbClr val="FF0000"/>
                                  </a:solidFill>
                                  <a:latin typeface="Cambria Math" panose="02040503050406030204" pitchFamily="18" charset="0"/>
                                  <a:cs typeface="Times New Roman" panose="02020603050405020304" pitchFamily="18" charset="0"/>
                                </a:rPr>
                                <m:t>𝒊</m:t>
                              </m:r>
                              <m:r>
                                <a:rPr lang="en-US" sz="3600" b="1" i="1" smtClean="0">
                                  <a:solidFill>
                                    <a:srgbClr val="FF0000"/>
                                  </a:solidFill>
                                  <a:latin typeface="Cambria Math" panose="02040503050406030204" pitchFamily="18" charset="0"/>
                                  <a:cs typeface="Times New Roman" panose="02020603050405020304" pitchFamily="18" charset="0"/>
                                </a:rPr>
                                <m:t>)</m:t>
                              </m:r>
                            </m:e>
                            <m:sup>
                              <m:r>
                                <a:rPr lang="en-US" sz="3600" b="1" i="1" smtClean="0">
                                  <a:solidFill>
                                    <a:srgbClr val="FF0000"/>
                                  </a:solidFill>
                                  <a:latin typeface="Cambria Math" panose="02040503050406030204" pitchFamily="18" charset="0"/>
                                  <a:cs typeface="Times New Roman" panose="02020603050405020304" pitchFamily="18" charset="0"/>
                                </a:rPr>
                                <m:t>𝒏</m:t>
                              </m:r>
                              <m:r>
                                <a:rPr lang="en-US" sz="3600" b="1" i="1" smtClean="0">
                                  <a:solidFill>
                                    <a:srgbClr val="FF0000"/>
                                  </a:solidFill>
                                  <a:latin typeface="Cambria Math" panose="02040503050406030204" pitchFamily="18" charset="0"/>
                                  <a:cs typeface="Times New Roman" panose="02020603050405020304" pitchFamily="18" charset="0"/>
                                </a:rPr>
                                <m:t>−</m:t>
                              </m:r>
                              <m:r>
                                <a:rPr lang="en-US" sz="3600" b="1" i="1" smtClean="0">
                                  <a:solidFill>
                                    <a:srgbClr val="FF0000"/>
                                  </a:solidFill>
                                  <a:latin typeface="Cambria Math" panose="02040503050406030204" pitchFamily="18" charset="0"/>
                                  <a:cs typeface="Times New Roman" panose="02020603050405020304" pitchFamily="18" charset="0"/>
                                </a:rPr>
                                <m:t>𝟏</m:t>
                              </m:r>
                            </m:sup>
                          </m:sSup>
                        </m:den>
                      </m:f>
                    </m:oMath>
                  </m:oMathPara>
                </a14:m>
                <a:endParaRPr lang="en-US" sz="3200" b="1" dirty="0">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FDDEE374-F3C8-9B86-5605-F1559400CB19}"/>
                  </a:ext>
                </a:extLst>
              </p:cNvPr>
              <p:cNvSpPr txBox="1">
                <a:spLocks noRot="1" noChangeAspect="1" noMove="1" noResize="1" noEditPoints="1" noAdjustHandles="1" noChangeArrowheads="1" noChangeShapeType="1" noTextEdit="1"/>
              </p:cNvSpPr>
              <p:nvPr/>
            </p:nvSpPr>
            <p:spPr>
              <a:xfrm>
                <a:off x="6365755" y="1147393"/>
                <a:ext cx="5611092" cy="133389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8256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F78D-9EF7-5CF8-33E8-C30A1452309C}"/>
              </a:ext>
            </a:extLst>
          </p:cNvPr>
          <p:cNvSpPr>
            <a:spLocks noGrp="1"/>
          </p:cNvSpPr>
          <p:nvPr>
            <p:ph type="title"/>
          </p:nvPr>
        </p:nvSpPr>
        <p:spPr>
          <a:xfrm>
            <a:off x="354105" y="123079"/>
            <a:ext cx="11627224" cy="643404"/>
          </a:xfrm>
        </p:spPr>
        <p:txBody>
          <a:bodyPr>
            <a:noAutofit/>
          </a:bodyPr>
          <a:lstStyle/>
          <a:p>
            <a:pPr algn="just"/>
            <a:r>
              <a:rPr lang="mn-MN" b="1" dirty="0">
                <a:solidFill>
                  <a:srgbClr val="0000FF"/>
                </a:solidFill>
                <a:latin typeface="Times New Roman" panose="02020603050405020304" pitchFamily="18" charset="0"/>
                <a:cs typeface="Times New Roman" panose="02020603050405020304" pitchFamily="18" charset="0"/>
              </a:rPr>
              <a:t>Перпетуити</a:t>
            </a:r>
            <a:endParaRPr lang="en-US"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803C456-F827-5D38-DDD0-C5A2E724C856}"/>
                  </a:ext>
                </a:extLst>
              </p:cNvPr>
              <p:cNvSpPr>
                <a:spLocks noGrp="1"/>
              </p:cNvSpPr>
              <p:nvPr>
                <p:ph idx="1"/>
              </p:nvPr>
            </p:nvSpPr>
            <p:spPr>
              <a:xfrm>
                <a:off x="108187" y="935589"/>
                <a:ext cx="11873142" cy="5514109"/>
              </a:xfrm>
            </p:spPr>
            <p:txBody>
              <a:bodyPr>
                <a:normAutofit fontScale="92500"/>
              </a:bodyPr>
              <a:lstStyle/>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Ихэнх тогтмол төлбөрүүд гэрээгээр заасан хугацаатай байдаг.</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Гэтэл зарим тохиолдолд хугацаа заагаагүй байх боломжтой. </a:t>
                </a:r>
              </a:p>
              <a:p>
                <a:pPr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Хугацаа тодорхойгүй байх тогтмол төлбөрийг </a:t>
                </a:r>
                <a:r>
                  <a:rPr lang="mn-MN" sz="3600" b="1" dirty="0">
                    <a:solidFill>
                      <a:srgbClr val="002060"/>
                    </a:solidFill>
                    <a:latin typeface="Times New Roman" panose="02020603050405020304" pitchFamily="18" charset="0"/>
                    <a:cs typeface="Times New Roman" panose="02020603050405020304" pitchFamily="18" charset="0"/>
                  </a:rPr>
                  <a:t>Перпетуити </a:t>
                </a:r>
                <a:r>
                  <a:rPr lang="en-US" sz="3600" b="1" dirty="0">
                    <a:solidFill>
                      <a:srgbClr val="002060"/>
                    </a:solidFill>
                    <a:latin typeface="Times New Roman" panose="02020603050405020304" pitchFamily="18" charset="0"/>
                    <a:cs typeface="Times New Roman" panose="02020603050405020304" pitchFamily="18" charset="0"/>
                  </a:rPr>
                  <a:t>(Perpetuities) </a:t>
                </a:r>
                <a:r>
                  <a:rPr lang="mn-MN" sz="3600" dirty="0">
                    <a:solidFill>
                      <a:srgbClr val="002060"/>
                    </a:solidFill>
                    <a:latin typeface="Times New Roman" panose="02020603050405020304" pitchFamily="18" charset="0"/>
                    <a:cs typeface="Times New Roman" panose="02020603050405020304" pitchFamily="18" charset="0"/>
                  </a:rPr>
                  <a:t>гэнэ. </a:t>
                </a:r>
              </a:p>
              <a:p>
                <a:pPr lvl="1" algn="just">
                  <a:spcBef>
                    <a:spcPts val="200"/>
                  </a:spcBef>
                </a:pPr>
                <a:r>
                  <a:rPr lang="en-US" sz="3200" dirty="0">
                    <a:solidFill>
                      <a:srgbClr val="002060"/>
                    </a:solidFill>
                    <a:latin typeface="Times New Roman" panose="02020603050405020304" pitchFamily="18" charset="0"/>
                    <a:cs typeface="Times New Roman" panose="02020603050405020304" pitchFamily="18" charset="0"/>
                  </a:rPr>
                  <a:t>Perpetuity (</a:t>
                </a:r>
                <a:r>
                  <a:rPr lang="mn-MN" sz="3200" dirty="0">
                    <a:solidFill>
                      <a:srgbClr val="002060"/>
                    </a:solidFill>
                    <a:latin typeface="Times New Roman" panose="02020603050405020304" pitchFamily="18" charset="0"/>
                    <a:cs typeface="Times New Roman" panose="02020603050405020304" pitchFamily="18" charset="0"/>
                  </a:rPr>
                  <a:t>англи</a:t>
                </a:r>
                <a:r>
                  <a:rPr lang="en-US" sz="3200" dirty="0">
                    <a:solidFill>
                      <a:srgbClr val="002060"/>
                    </a:solidFill>
                    <a:latin typeface="Times New Roman" panose="02020603050405020304" pitchFamily="18" charset="0"/>
                    <a:cs typeface="Times New Roman" panose="02020603050405020304" pitchFamily="18" charset="0"/>
                  </a:rPr>
                  <a:t>) – </a:t>
                </a:r>
                <a:r>
                  <a:rPr lang="mn-MN" sz="3200" dirty="0">
                    <a:solidFill>
                      <a:srgbClr val="002060"/>
                    </a:solidFill>
                    <a:latin typeface="Times New Roman" panose="02020603050405020304" pitchFamily="18" charset="0"/>
                    <a:cs typeface="Times New Roman" panose="02020603050405020304" pitchFamily="18" charset="0"/>
                  </a:rPr>
                  <a:t>мөнхийн, байнгын, тодорхой бус хугацаатай, насан туршийн эзэмшил гэсэн үг. </a:t>
                </a:r>
              </a:p>
              <a:p>
                <a:pPr algn="just">
                  <a:spcBef>
                    <a:spcPts val="200"/>
                  </a:spcBef>
                </a:pPr>
                <a:r>
                  <a:rPr lang="mn-MN" sz="3600" b="1" dirty="0">
                    <a:solidFill>
                      <a:srgbClr val="002060"/>
                    </a:solidFill>
                    <a:latin typeface="Times New Roman" panose="02020603050405020304" pitchFamily="18" charset="0"/>
                    <a:cs typeface="Times New Roman" panose="02020603050405020304" pitchFamily="18" charset="0"/>
                  </a:rPr>
                  <a:t>Перпетуити – насан туршдаа эзэмшиж, байнгын хүүний орлого авдаг үнэт цаас. </a:t>
                </a:r>
              </a:p>
              <a:p>
                <a:pPr marL="0" indent="0" algn="just">
                  <a:buNone/>
                </a:pPr>
                <a14:m>
                  <m:oMathPara xmlns:m="http://schemas.openxmlformats.org/officeDocument/2006/math">
                    <m:oMathParaPr>
                      <m:jc m:val="centerGroup"/>
                    </m:oMathParaPr>
                    <m:oMath xmlns:m="http://schemas.openxmlformats.org/officeDocument/2006/math">
                      <m:r>
                        <a:rPr lang="en-US" sz="4300" b="1" i="1" smtClean="0">
                          <a:solidFill>
                            <a:srgbClr val="FF0000"/>
                          </a:solidFill>
                          <a:latin typeface="Cambria Math" panose="02040503050406030204" pitchFamily="18" charset="0"/>
                        </a:rPr>
                        <m:t>𝑷𝑽</m:t>
                      </m:r>
                      <m:d>
                        <m:dPr>
                          <m:ctrlPr>
                            <a:rPr lang="en-US" sz="4300" b="1" i="1" smtClean="0">
                              <a:solidFill>
                                <a:srgbClr val="FF0000"/>
                              </a:solidFill>
                              <a:latin typeface="Cambria Math" panose="02040503050406030204" pitchFamily="18" charset="0"/>
                            </a:rPr>
                          </m:ctrlPr>
                        </m:dPr>
                        <m:e>
                          <m:r>
                            <a:rPr lang="en-US" sz="4300" b="1" i="1" smtClean="0">
                              <a:solidFill>
                                <a:srgbClr val="FF0000"/>
                              </a:solidFill>
                              <a:latin typeface="Cambria Math" panose="02040503050406030204" pitchFamily="18" charset="0"/>
                            </a:rPr>
                            <m:t>𝑷𝒆𝒓𝒑𝒆𝒕𝒖𝒊𝒕𝒚</m:t>
                          </m:r>
                        </m:e>
                      </m:d>
                      <m:r>
                        <a:rPr lang="en-US" sz="4300" b="1" i="1" smtClean="0">
                          <a:solidFill>
                            <a:srgbClr val="FF0000"/>
                          </a:solidFill>
                          <a:latin typeface="Cambria Math" panose="02040503050406030204" pitchFamily="18" charset="0"/>
                        </a:rPr>
                        <m:t>=</m:t>
                      </m:r>
                      <m:f>
                        <m:fPr>
                          <m:ctrlPr>
                            <a:rPr lang="en-US" sz="4300" b="1" i="1" smtClean="0">
                              <a:solidFill>
                                <a:srgbClr val="FF0000"/>
                              </a:solidFill>
                              <a:latin typeface="Cambria Math" panose="02040503050406030204" pitchFamily="18" charset="0"/>
                            </a:rPr>
                          </m:ctrlPr>
                        </m:fPr>
                        <m:num>
                          <m:r>
                            <a:rPr lang="en-US" sz="4300" b="1" i="1" smtClean="0">
                              <a:solidFill>
                                <a:srgbClr val="FF0000"/>
                              </a:solidFill>
                              <a:latin typeface="Cambria Math" panose="02040503050406030204" pitchFamily="18" charset="0"/>
                            </a:rPr>
                            <m:t>𝑷𝒂𝒚𝒎𝒆𝒏𝒕</m:t>
                          </m:r>
                        </m:num>
                        <m:den>
                          <m:r>
                            <a:rPr lang="en-US" sz="4300" b="1" i="1" smtClean="0">
                              <a:solidFill>
                                <a:srgbClr val="FF0000"/>
                              </a:solidFill>
                              <a:latin typeface="Cambria Math" panose="02040503050406030204" pitchFamily="18" charset="0"/>
                            </a:rPr>
                            <m:t>𝑰𝒏𝒕𝒆𝒓𝒆𝒔𝒕</m:t>
                          </m:r>
                          <m:r>
                            <a:rPr lang="en-US" sz="4300" b="1" i="1" smtClean="0">
                              <a:solidFill>
                                <a:srgbClr val="FF0000"/>
                              </a:solidFill>
                              <a:latin typeface="Cambria Math" panose="02040503050406030204" pitchFamily="18" charset="0"/>
                            </a:rPr>
                            <m:t> </m:t>
                          </m:r>
                          <m:r>
                            <a:rPr lang="en-US" sz="4300" b="1" i="1" smtClean="0">
                              <a:solidFill>
                                <a:srgbClr val="FF0000"/>
                              </a:solidFill>
                              <a:latin typeface="Cambria Math" panose="02040503050406030204" pitchFamily="18" charset="0"/>
                            </a:rPr>
                            <m:t>𝑹𝒂𝒕𝒆</m:t>
                          </m:r>
                        </m:den>
                      </m:f>
                      <m:r>
                        <a:rPr lang="en-US" sz="4300" b="1" i="1" smtClean="0">
                          <a:solidFill>
                            <a:srgbClr val="FF0000"/>
                          </a:solidFill>
                          <a:latin typeface="Cambria Math" panose="02040503050406030204" pitchFamily="18" charset="0"/>
                        </a:rPr>
                        <m:t>=</m:t>
                      </m:r>
                      <m:f>
                        <m:fPr>
                          <m:ctrlPr>
                            <a:rPr lang="en-US" sz="4300" b="1" i="1" smtClean="0">
                              <a:solidFill>
                                <a:srgbClr val="FF0000"/>
                              </a:solidFill>
                              <a:latin typeface="Cambria Math" panose="02040503050406030204" pitchFamily="18" charset="0"/>
                            </a:rPr>
                          </m:ctrlPr>
                        </m:fPr>
                        <m:num>
                          <m:r>
                            <a:rPr lang="en-US" sz="4300" b="1" i="1" smtClean="0">
                              <a:solidFill>
                                <a:srgbClr val="FF0000"/>
                              </a:solidFill>
                              <a:latin typeface="Cambria Math" panose="02040503050406030204" pitchFamily="18" charset="0"/>
                            </a:rPr>
                            <m:t>𝑷𝑴𝑻</m:t>
                          </m:r>
                        </m:num>
                        <m:den>
                          <m:r>
                            <a:rPr lang="en-US" sz="4300" b="1" i="1" smtClean="0">
                              <a:solidFill>
                                <a:srgbClr val="FF0000"/>
                              </a:solidFill>
                              <a:latin typeface="Cambria Math" panose="02040503050406030204" pitchFamily="18" charset="0"/>
                            </a:rPr>
                            <m:t>𝒊</m:t>
                          </m:r>
                        </m:den>
                      </m:f>
                      <m:r>
                        <a:rPr lang="en-US" sz="4300" b="1" i="1" smtClean="0">
                          <a:solidFill>
                            <a:srgbClr val="FF0000"/>
                          </a:solidFill>
                          <a:latin typeface="Cambria Math" panose="02040503050406030204" pitchFamily="18" charset="0"/>
                        </a:rPr>
                        <m:t>=</m:t>
                      </m:r>
                      <m:f>
                        <m:fPr>
                          <m:ctrlPr>
                            <a:rPr lang="en-US" sz="4300" b="1" i="1" smtClean="0">
                              <a:solidFill>
                                <a:srgbClr val="FF0000"/>
                              </a:solidFill>
                              <a:latin typeface="Cambria Math" panose="02040503050406030204" pitchFamily="18" charset="0"/>
                            </a:rPr>
                          </m:ctrlPr>
                        </m:fPr>
                        <m:num>
                          <m:r>
                            <a:rPr lang="en-US" sz="4300" b="1" i="1" smtClean="0">
                              <a:solidFill>
                                <a:srgbClr val="FF0000"/>
                              </a:solidFill>
                              <a:latin typeface="Cambria Math" panose="02040503050406030204" pitchFamily="18" charset="0"/>
                            </a:rPr>
                            <m:t>𝑨</m:t>
                          </m:r>
                        </m:num>
                        <m:den>
                          <m:r>
                            <a:rPr lang="en-US" sz="4300" b="1" i="1" smtClean="0">
                              <a:solidFill>
                                <a:srgbClr val="FF0000"/>
                              </a:solidFill>
                              <a:latin typeface="Cambria Math" panose="02040503050406030204" pitchFamily="18" charset="0"/>
                            </a:rPr>
                            <m:t>𝒊</m:t>
                          </m:r>
                        </m:den>
                      </m:f>
                    </m:oMath>
                  </m:oMathPara>
                </a14:m>
                <a:endParaRPr lang="mn-MN" sz="36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803C456-F827-5D38-DDD0-C5A2E724C856}"/>
                  </a:ext>
                </a:extLst>
              </p:cNvPr>
              <p:cNvSpPr>
                <a:spLocks noGrp="1" noRot="1" noChangeAspect="1" noMove="1" noResize="1" noEditPoints="1" noAdjustHandles="1" noChangeArrowheads="1" noChangeShapeType="1" noTextEdit="1"/>
              </p:cNvSpPr>
              <p:nvPr>
                <p:ph idx="1"/>
              </p:nvPr>
            </p:nvSpPr>
            <p:spPr>
              <a:xfrm>
                <a:off x="108187" y="935589"/>
                <a:ext cx="11873142" cy="5514109"/>
              </a:xfrm>
              <a:blipFill>
                <a:blip r:embed="rId3"/>
                <a:stretch>
                  <a:fillRect l="-1233" t="-2431" r="-1387"/>
                </a:stretch>
              </a:blipFill>
            </p:spPr>
            <p:txBody>
              <a:bodyPr/>
              <a:lstStyle/>
              <a:p>
                <a:r>
                  <a:rPr lang="en-US">
                    <a:noFill/>
                  </a:rPr>
                  <a:t> </a:t>
                </a:r>
              </a:p>
            </p:txBody>
          </p:sp>
        </mc:Fallback>
      </mc:AlternateContent>
    </p:spTree>
    <p:extLst>
      <p:ext uri="{BB962C8B-B14F-4D97-AF65-F5344CB8AC3E}">
        <p14:creationId xmlns:p14="http://schemas.microsoft.com/office/powerpoint/2010/main" val="4035012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FFF6-F12A-A8F5-E33B-0848A3A5887A}"/>
              </a:ext>
            </a:extLst>
          </p:cNvPr>
          <p:cNvSpPr>
            <a:spLocks noGrp="1"/>
          </p:cNvSpPr>
          <p:nvPr>
            <p:ph type="title"/>
          </p:nvPr>
        </p:nvSpPr>
        <p:spPr>
          <a:xfrm>
            <a:off x="216986" y="65120"/>
            <a:ext cx="11710556" cy="591606"/>
          </a:xfrm>
        </p:spPr>
        <p:txBody>
          <a:bodyPr>
            <a:normAutofit fontScale="90000"/>
          </a:bodyPr>
          <a:lstStyle/>
          <a:p>
            <a:pPr algn="just"/>
            <a:r>
              <a:rPr lang="mn-MN" b="1" dirty="0">
                <a:solidFill>
                  <a:srgbClr val="0000FF"/>
                </a:solidFill>
                <a:latin typeface="Times New Roman" panose="02020603050405020304" pitchFamily="18" charset="0"/>
                <a:cs typeface="Times New Roman" panose="02020603050405020304" pitchFamily="18" charset="0"/>
              </a:rPr>
              <a:t>Хагас жил, улирал, сар бүрийн компаундинг</a:t>
            </a:r>
            <a:endParaRPr lang="en-US"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654EB9-9D78-81C5-1C85-FFC7EB03F024}"/>
              </a:ext>
            </a:extLst>
          </p:cNvPr>
          <p:cNvSpPr>
            <a:spLocks noGrp="1"/>
          </p:cNvSpPr>
          <p:nvPr>
            <p:ph idx="1"/>
          </p:nvPr>
        </p:nvSpPr>
        <p:spPr>
          <a:xfrm>
            <a:off x="216985" y="688244"/>
            <a:ext cx="11710555" cy="5462769"/>
          </a:xfrm>
        </p:spPr>
        <p:txBody>
          <a:bodyPr>
            <a:normAutofit/>
          </a:bodyPr>
          <a:lstStyle/>
          <a:p>
            <a:pPr algn="just">
              <a:spcBef>
                <a:spcPts val="0"/>
              </a:spcBef>
            </a:pPr>
            <a:r>
              <a:rPr lang="mn-MN" sz="2900" dirty="0">
                <a:solidFill>
                  <a:srgbClr val="002060"/>
                </a:solidFill>
                <a:latin typeface="Times New Roman" panose="02020603050405020304" pitchFamily="18" charset="0"/>
                <a:cs typeface="Times New Roman" panose="02020603050405020304" pitchFamily="18" charset="0"/>
              </a:rPr>
              <a:t>Хөрөнгө оруулалтын төрлөөс хамааран янз бүрийн компаундингийн хүү тооцох үеийг ашиглах шаардлага гардаг.</a:t>
            </a:r>
          </a:p>
          <a:p>
            <a:pPr lvl="1" algn="just">
              <a:spcBef>
                <a:spcPts val="0"/>
              </a:spcBef>
            </a:pPr>
            <a:r>
              <a:rPr lang="mn-MN" sz="2600" dirty="0">
                <a:solidFill>
                  <a:srgbClr val="002060"/>
                </a:solidFill>
                <a:latin typeface="Times New Roman" panose="02020603050405020304" pitchFamily="18" charset="0"/>
                <a:cs typeface="Times New Roman" panose="02020603050405020304" pitchFamily="18" charset="0"/>
              </a:rPr>
              <a:t>Бас банк, Хадгаламж зээлийн хоршоо, ББСБ-ууд үргэлжилсэн компаундинг бодох нь элбэг байдаг. </a:t>
            </a:r>
          </a:p>
          <a:p>
            <a:pPr algn="just">
              <a:spcBef>
                <a:spcPts val="0"/>
              </a:spcBef>
            </a:pPr>
            <a:r>
              <a:rPr lang="mn-MN" sz="2900" b="1" dirty="0">
                <a:solidFill>
                  <a:schemeClr val="accent2">
                    <a:lumMod val="75000"/>
                  </a:schemeClr>
                </a:solidFill>
                <a:latin typeface="Times New Roman" panose="02020603050405020304" pitchFamily="18" charset="0"/>
                <a:cs typeface="Times New Roman" panose="02020603050405020304" pitchFamily="18" charset="0"/>
              </a:rPr>
              <a:t>Нэрлэсэн хүү </a:t>
            </a:r>
            <a:r>
              <a:rPr lang="en-US" sz="2900" b="1" dirty="0">
                <a:solidFill>
                  <a:schemeClr val="accent2">
                    <a:lumMod val="75000"/>
                  </a:schemeClr>
                </a:solidFill>
                <a:latin typeface="Times New Roman" panose="02020603050405020304" pitchFamily="18" charset="0"/>
                <a:cs typeface="Times New Roman" panose="02020603050405020304" pitchFamily="18" charset="0"/>
              </a:rPr>
              <a:t>(nominal rate) </a:t>
            </a:r>
            <a:r>
              <a:rPr lang="mn-MN" sz="2900" dirty="0">
                <a:solidFill>
                  <a:srgbClr val="002060"/>
                </a:solidFill>
                <a:latin typeface="Times New Roman" panose="02020603050405020304" pitchFamily="18" charset="0"/>
                <a:cs typeface="Times New Roman" panose="02020603050405020304" pitchFamily="18" charset="0"/>
              </a:rPr>
              <a:t>– Зээлдүүлэгчээс тогтоож, зээлдэгч харилцан зөвшөөрөн гэрээнд тусгасан хүүний хэмжээг хэлнэ.</a:t>
            </a:r>
          </a:p>
          <a:p>
            <a:pPr algn="just">
              <a:spcBef>
                <a:spcPts val="0"/>
              </a:spcBef>
            </a:pPr>
            <a:r>
              <a:rPr lang="mn-MN" sz="2900" b="1" dirty="0">
                <a:solidFill>
                  <a:schemeClr val="accent2">
                    <a:lumMod val="75000"/>
                  </a:schemeClr>
                </a:solidFill>
                <a:latin typeface="Times New Roman" panose="02020603050405020304" pitchFamily="18" charset="0"/>
                <a:cs typeface="Times New Roman" panose="02020603050405020304" pitchFamily="18" charset="0"/>
              </a:rPr>
              <a:t>Үр ашигтай хүү </a:t>
            </a:r>
            <a:r>
              <a:rPr lang="en-US" sz="2900" b="1" dirty="0">
                <a:solidFill>
                  <a:schemeClr val="accent2">
                    <a:lumMod val="75000"/>
                  </a:schemeClr>
                </a:solidFill>
                <a:latin typeface="Times New Roman" panose="02020603050405020304" pitchFamily="18" charset="0"/>
                <a:cs typeface="Times New Roman" panose="02020603050405020304" pitchFamily="18" charset="0"/>
              </a:rPr>
              <a:t>(effective annual rate) </a:t>
            </a:r>
            <a:r>
              <a:rPr lang="mn-MN" sz="2900" dirty="0">
                <a:solidFill>
                  <a:srgbClr val="002060"/>
                </a:solidFill>
                <a:latin typeface="Times New Roman" panose="02020603050405020304" pitchFamily="18" charset="0"/>
                <a:cs typeface="Times New Roman" panose="02020603050405020304" pitchFamily="18" charset="0"/>
              </a:rPr>
              <a:t>– Ашиглаж байгаа нэг мөнгөн нэгжийн эх үүсвэртээ бодитойгоор төлж байгаа хүүг хэлнэ. Өөрөөр хэлбэл, хугацааны эхэнд байгаа мөнгийг хугацааны төгсгөлд байгаа мөнгөтэй тэнцүүлж байгаа юм. </a:t>
            </a:r>
          </a:p>
          <a:p>
            <a:pPr lvl="1" algn="just">
              <a:spcBef>
                <a:spcPts val="0"/>
              </a:spcBef>
            </a:pPr>
            <a:r>
              <a:rPr lang="mn-MN" sz="2600" dirty="0">
                <a:solidFill>
                  <a:srgbClr val="002060"/>
                </a:solidFill>
                <a:latin typeface="Times New Roman" panose="02020603050405020304" pitchFamily="18" charset="0"/>
                <a:cs typeface="Times New Roman" panose="02020603050405020304" pitchFamily="18" charset="0"/>
              </a:rPr>
              <a:t>Хүү тооцох үечлэлээс хамаараад нэрлэсэн ба үр ашигтай хүү зөрүүтэй байна.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9404732-7DAE-FA5F-FD56-633BF69CE0F6}"/>
                  </a:ext>
                </a:extLst>
              </p:cNvPr>
              <p:cNvSpPr txBox="1"/>
              <p:nvPr/>
            </p:nvSpPr>
            <p:spPr>
              <a:xfrm>
                <a:off x="1439649" y="5030989"/>
                <a:ext cx="9713004" cy="1254126"/>
              </a:xfrm>
              <a:prstGeom prst="rect">
                <a:avLst/>
              </a:prstGeom>
              <a:noFill/>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r>
                        <a:rPr lang="en-US" sz="3200" b="1" i="1" smtClean="0">
                          <a:solidFill>
                            <a:srgbClr val="FF0000"/>
                          </a:solidFill>
                          <a:latin typeface="Cambria Math" panose="02040503050406030204" pitchFamily="18" charset="0"/>
                        </a:rPr>
                        <m:t>𝑬𝑨𝑹</m:t>
                      </m:r>
                      <m:d>
                        <m:dPr>
                          <m:ctrlPr>
                            <a:rPr lang="en-US" sz="3200" b="1" i="1" smtClean="0">
                              <a:solidFill>
                                <a:srgbClr val="FF0000"/>
                              </a:solidFill>
                              <a:latin typeface="Cambria Math" panose="02040503050406030204" pitchFamily="18" charset="0"/>
                            </a:rPr>
                          </m:ctrlPr>
                        </m:dPr>
                        <m:e>
                          <m:r>
                            <a:rPr lang="en-US" sz="3200" b="1" i="1" smtClean="0">
                              <a:solidFill>
                                <a:srgbClr val="FF0000"/>
                              </a:solidFill>
                              <a:latin typeface="Cambria Math" panose="02040503050406030204" pitchFamily="18" charset="0"/>
                            </a:rPr>
                            <m:t>𝑬𝒇𝒇𝒆𝒄𝒕𝒊𝒗𝒆</m:t>
                          </m:r>
                          <m:r>
                            <a:rPr lang="en-US" sz="3200" b="1" i="1" smtClean="0">
                              <a:solidFill>
                                <a:srgbClr val="FF0000"/>
                              </a:solidFill>
                              <a:latin typeface="Cambria Math" panose="02040503050406030204" pitchFamily="18" charset="0"/>
                            </a:rPr>
                            <m:t> </m:t>
                          </m:r>
                          <m:r>
                            <a:rPr lang="en-US" sz="3200" b="1" i="1" smtClean="0">
                              <a:solidFill>
                                <a:srgbClr val="FF0000"/>
                              </a:solidFill>
                              <a:latin typeface="Cambria Math" panose="02040503050406030204" pitchFamily="18" charset="0"/>
                            </a:rPr>
                            <m:t>𝑨𝒏𝒏𝒖𝒂𝒍</m:t>
                          </m:r>
                          <m:r>
                            <a:rPr lang="en-US" sz="3200" b="1" i="1" smtClean="0">
                              <a:solidFill>
                                <a:srgbClr val="FF0000"/>
                              </a:solidFill>
                              <a:latin typeface="Cambria Math" panose="02040503050406030204" pitchFamily="18" charset="0"/>
                            </a:rPr>
                            <m:t> </m:t>
                          </m:r>
                          <m:r>
                            <a:rPr lang="en-US" sz="3200" b="1" i="1" smtClean="0">
                              <a:solidFill>
                                <a:srgbClr val="FF0000"/>
                              </a:solidFill>
                              <a:latin typeface="Cambria Math" panose="02040503050406030204" pitchFamily="18" charset="0"/>
                            </a:rPr>
                            <m:t>𝑹𝒂𝒕𝒆</m:t>
                          </m:r>
                        </m:e>
                      </m:d>
                      <m:r>
                        <a:rPr lang="en-US" sz="3200" b="1" i="1" smtClean="0">
                          <a:solidFill>
                            <a:srgbClr val="FF0000"/>
                          </a:solidFill>
                          <a:latin typeface="Cambria Math" panose="02040503050406030204" pitchFamily="18" charset="0"/>
                        </a:rPr>
                        <m:t>=</m:t>
                      </m:r>
                      <m:sSup>
                        <m:sSupPr>
                          <m:ctrlPr>
                            <a:rPr lang="en-US" sz="3200" b="1" i="1" smtClean="0">
                              <a:solidFill>
                                <a:srgbClr val="FF0000"/>
                              </a:solidFill>
                              <a:latin typeface="Cambria Math" panose="02040503050406030204" pitchFamily="18" charset="0"/>
                            </a:rPr>
                          </m:ctrlPr>
                        </m:sSupPr>
                        <m:e>
                          <m:d>
                            <m:dPr>
                              <m:ctrlPr>
                                <a:rPr lang="en-US" sz="3200" b="1" i="1">
                                  <a:solidFill>
                                    <a:srgbClr val="FF0000"/>
                                  </a:solidFill>
                                  <a:latin typeface="Cambria Math" panose="02040503050406030204" pitchFamily="18" charset="0"/>
                                </a:rPr>
                              </m:ctrlPr>
                            </m:dPr>
                            <m:e>
                              <m:r>
                                <a:rPr lang="en-US" sz="3200" b="1" i="1">
                                  <a:solidFill>
                                    <a:srgbClr val="FF0000"/>
                                  </a:solidFill>
                                  <a:latin typeface="Cambria Math" panose="02040503050406030204" pitchFamily="18" charset="0"/>
                                </a:rPr>
                                <m:t>𝟏</m:t>
                              </m:r>
                              <m:r>
                                <a:rPr lang="en-US" sz="3200" b="1" i="1">
                                  <a:solidFill>
                                    <a:srgbClr val="FF0000"/>
                                  </a:solidFill>
                                  <a:latin typeface="Cambria Math" panose="02040503050406030204" pitchFamily="18" charset="0"/>
                                </a:rPr>
                                <m:t>+</m:t>
                              </m:r>
                              <m:f>
                                <m:fPr>
                                  <m:ctrlPr>
                                    <a:rPr lang="en-US" sz="3200" b="1" i="1">
                                      <a:solidFill>
                                        <a:srgbClr val="FF0000"/>
                                      </a:solidFill>
                                      <a:latin typeface="Cambria Math" panose="02040503050406030204" pitchFamily="18" charset="0"/>
                                    </a:rPr>
                                  </m:ctrlPr>
                                </m:fPr>
                                <m:num>
                                  <m:sSub>
                                    <m:sSubPr>
                                      <m:ctrlPr>
                                        <a:rPr lang="en-US" sz="3200" b="1" i="1">
                                          <a:solidFill>
                                            <a:srgbClr val="FF0000"/>
                                          </a:solidFill>
                                          <a:latin typeface="Cambria Math" panose="02040503050406030204" pitchFamily="18" charset="0"/>
                                        </a:rPr>
                                      </m:ctrlPr>
                                    </m:sSubPr>
                                    <m:e>
                                      <m:r>
                                        <a:rPr lang="en-US" sz="3200" b="1" i="1">
                                          <a:solidFill>
                                            <a:srgbClr val="FF0000"/>
                                          </a:solidFill>
                                          <a:latin typeface="Cambria Math" panose="02040503050406030204" pitchFamily="18" charset="0"/>
                                        </a:rPr>
                                        <m:t>𝒊</m:t>
                                      </m:r>
                                    </m:e>
                                    <m:sub>
                                      <m:r>
                                        <a:rPr lang="en-US" sz="3200" b="1" i="1">
                                          <a:solidFill>
                                            <a:srgbClr val="FF0000"/>
                                          </a:solidFill>
                                          <a:latin typeface="Cambria Math" panose="02040503050406030204" pitchFamily="18" charset="0"/>
                                        </a:rPr>
                                        <m:t>𝒏𝒐𝒎</m:t>
                                      </m:r>
                                    </m:sub>
                                  </m:sSub>
                                </m:num>
                                <m:den>
                                  <m:r>
                                    <a:rPr lang="en-US" sz="3200" b="1" i="1">
                                      <a:solidFill>
                                        <a:srgbClr val="FF0000"/>
                                      </a:solidFill>
                                      <a:latin typeface="Cambria Math" panose="02040503050406030204" pitchFamily="18" charset="0"/>
                                    </a:rPr>
                                    <m:t>𝒎</m:t>
                                  </m:r>
                                </m:den>
                              </m:f>
                            </m:e>
                          </m:d>
                        </m:e>
                        <m:sup>
                          <m:r>
                            <a:rPr lang="en-US" sz="3200" b="1" i="1" smtClean="0">
                              <a:solidFill>
                                <a:srgbClr val="FF0000"/>
                              </a:solidFill>
                              <a:latin typeface="Cambria Math" panose="02040503050406030204" pitchFamily="18" charset="0"/>
                            </a:rPr>
                            <m:t>𝒎</m:t>
                          </m:r>
                        </m:sup>
                      </m:sSup>
                      <m:r>
                        <a:rPr lang="en-US" sz="3200" b="1" i="1" smtClean="0">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𝟏</m:t>
                      </m:r>
                    </m:oMath>
                  </m:oMathPara>
                </a14:m>
                <a:endParaRPr lang="mn-MN" sz="32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89404732-7DAE-FA5F-FD56-633BF69CE0F6}"/>
                  </a:ext>
                </a:extLst>
              </p:cNvPr>
              <p:cNvSpPr txBox="1">
                <a:spLocks noRot="1" noChangeAspect="1" noMove="1" noResize="1" noEditPoints="1" noAdjustHandles="1" noChangeArrowheads="1" noChangeShapeType="1" noTextEdit="1"/>
              </p:cNvSpPr>
              <p:nvPr/>
            </p:nvSpPr>
            <p:spPr>
              <a:xfrm>
                <a:off x="1439649" y="5030989"/>
                <a:ext cx="9713004" cy="125412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F17DD7-9F94-F22A-2A24-2D2F80A8FFEA}"/>
                  </a:ext>
                </a:extLst>
              </p:cNvPr>
              <p:cNvSpPr txBox="1"/>
              <p:nvPr/>
            </p:nvSpPr>
            <p:spPr>
              <a:xfrm>
                <a:off x="367653" y="6070332"/>
                <a:ext cx="10685829" cy="553998"/>
              </a:xfrm>
              <a:prstGeom prst="rect">
                <a:avLst/>
              </a:prstGeom>
              <a:noFill/>
            </p:spPr>
            <p:txBody>
              <a:bodyPr wrap="square">
                <a:spAutoFit/>
              </a:bodyPr>
              <a:lstStyle/>
              <a:p>
                <a:pPr algn="just"/>
                <a14:m>
                  <m:oMath xmlns:m="http://schemas.openxmlformats.org/officeDocument/2006/math">
                    <m:sSub>
                      <m:sSubPr>
                        <m:ctrlPr>
                          <a:rPr lang="en-US" sz="3000" i="1" smtClean="0">
                            <a:solidFill>
                              <a:srgbClr val="002060"/>
                            </a:solidFill>
                            <a:latin typeface="Cambria Math" panose="02040503050406030204" pitchFamily="18" charset="0"/>
                          </a:rPr>
                        </m:ctrlPr>
                      </m:sSubPr>
                      <m:e>
                        <m:r>
                          <a:rPr lang="en-US" sz="3000" i="1">
                            <a:solidFill>
                              <a:srgbClr val="002060"/>
                            </a:solidFill>
                            <a:latin typeface="Cambria Math" panose="02040503050406030204" pitchFamily="18" charset="0"/>
                          </a:rPr>
                          <m:t>𝑖</m:t>
                        </m:r>
                      </m:e>
                      <m:sub>
                        <m:r>
                          <a:rPr lang="en-US" sz="3000" i="1">
                            <a:solidFill>
                              <a:srgbClr val="002060"/>
                            </a:solidFill>
                            <a:latin typeface="Cambria Math" panose="02040503050406030204" pitchFamily="18" charset="0"/>
                          </a:rPr>
                          <m:t>𝑛𝑜𝑚</m:t>
                        </m:r>
                      </m:sub>
                    </m:sSub>
                  </m:oMath>
                </a14:m>
                <a:r>
                  <a:rPr lang="en-US" sz="3000" dirty="0">
                    <a:solidFill>
                      <a:srgbClr val="002060"/>
                    </a:solidFill>
                    <a:latin typeface="Times New Roman" panose="02020603050405020304" pitchFamily="18" charset="0"/>
                    <a:cs typeface="Times New Roman" panose="02020603050405020304" pitchFamily="18" charset="0"/>
                  </a:rPr>
                  <a:t> – </a:t>
                </a:r>
                <a:r>
                  <a:rPr lang="mn-MN" sz="3000" dirty="0">
                    <a:solidFill>
                      <a:srgbClr val="002060"/>
                    </a:solidFill>
                    <a:latin typeface="Times New Roman" panose="02020603050405020304" pitchFamily="18" charset="0"/>
                    <a:cs typeface="Times New Roman" panose="02020603050405020304" pitchFamily="18" charset="0"/>
                  </a:rPr>
                  <a:t>нэрлэсэн хүү</a:t>
                </a:r>
                <a:r>
                  <a:rPr lang="en-US" sz="3000"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r>
                      <a:rPr lang="mn-MN" sz="3000" b="0" i="0" dirty="0" smtClean="0">
                        <a:solidFill>
                          <a:srgbClr val="002060"/>
                        </a:solidFill>
                        <a:latin typeface="Cambria Math" panose="02040503050406030204" pitchFamily="18" charset="0"/>
                      </a:rPr>
                      <m:t> </m:t>
                    </m:r>
                    <m:r>
                      <a:rPr lang="en-US" sz="3000" i="1" dirty="0" smtClean="0">
                        <a:solidFill>
                          <a:srgbClr val="002060"/>
                        </a:solidFill>
                        <a:latin typeface="Cambria Math" panose="02040503050406030204" pitchFamily="18" charset="0"/>
                      </a:rPr>
                      <m:t>𝑚</m:t>
                    </m:r>
                  </m:oMath>
                </a14:m>
                <a:r>
                  <a:rPr lang="en-US" sz="3000" dirty="0">
                    <a:solidFill>
                      <a:srgbClr val="002060"/>
                    </a:solidFill>
                    <a:latin typeface="Times New Roman" panose="02020603050405020304" pitchFamily="18" charset="0"/>
                    <a:cs typeface="Times New Roman" panose="02020603050405020304" pitchFamily="18" charset="0"/>
                  </a:rPr>
                  <a:t> – </a:t>
                </a:r>
                <a:r>
                  <a:rPr lang="mn-MN" sz="3000" dirty="0">
                    <a:solidFill>
                      <a:srgbClr val="002060"/>
                    </a:solidFill>
                    <a:latin typeface="Times New Roman" panose="02020603050405020304" pitchFamily="18" charset="0"/>
                    <a:cs typeface="Times New Roman" panose="02020603050405020304" pitchFamily="18" charset="0"/>
                  </a:rPr>
                  <a:t>нэг жилийн турш хүү бодох үеийн тоо. </a:t>
                </a:r>
                <a:endParaRPr lang="en-US" sz="30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80F17DD7-9F94-F22A-2A24-2D2F80A8FFEA}"/>
                  </a:ext>
                </a:extLst>
              </p:cNvPr>
              <p:cNvSpPr txBox="1">
                <a:spLocks noRot="1" noChangeAspect="1" noMove="1" noResize="1" noEditPoints="1" noAdjustHandles="1" noChangeArrowheads="1" noChangeShapeType="1" noTextEdit="1"/>
              </p:cNvSpPr>
              <p:nvPr/>
            </p:nvSpPr>
            <p:spPr>
              <a:xfrm>
                <a:off x="367653" y="6070332"/>
                <a:ext cx="10685829" cy="553998"/>
              </a:xfrm>
              <a:prstGeom prst="rect">
                <a:avLst/>
              </a:prstGeom>
              <a:blipFill>
                <a:blip r:embed="rId4"/>
                <a:stretch>
                  <a:fillRect t="-14286" r="-913" b="-32967"/>
                </a:stretch>
              </a:blipFill>
            </p:spPr>
            <p:txBody>
              <a:bodyPr/>
              <a:lstStyle/>
              <a:p>
                <a:r>
                  <a:rPr lang="en-US">
                    <a:noFill/>
                  </a:rPr>
                  <a:t> </a:t>
                </a:r>
              </a:p>
            </p:txBody>
          </p:sp>
        </mc:Fallback>
      </mc:AlternateContent>
    </p:spTree>
    <p:extLst>
      <p:ext uri="{BB962C8B-B14F-4D97-AF65-F5344CB8AC3E}">
        <p14:creationId xmlns:p14="http://schemas.microsoft.com/office/powerpoint/2010/main" val="3004121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376517" y="365125"/>
            <a:ext cx="11497235" cy="670299"/>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376517" y="1035424"/>
            <a:ext cx="11497235" cy="4351338"/>
          </a:xfrm>
        </p:spPr>
        <p:txBody>
          <a:bodyPr>
            <a:normAutofit/>
          </a:bodyPr>
          <a:lstStyle/>
          <a:p>
            <a:r>
              <a:rPr lang="mn-MN" sz="3200" dirty="0">
                <a:solidFill>
                  <a:srgbClr val="002060"/>
                </a:solidFill>
                <a:latin typeface="Times New Roman" panose="02020603050405020304" pitchFamily="18" charset="0"/>
                <a:cs typeface="Times New Roman" panose="02020603050405020304" pitchFamily="18" charset="0"/>
              </a:rPr>
              <a:t>Т.Нарантуяа нарын бүтээл,  Инженерчлэлийн эдийн засаг, 2019</a:t>
            </a:r>
          </a:p>
          <a:p>
            <a:r>
              <a:rPr lang="mn-MN" sz="3200" dirty="0">
                <a:solidFill>
                  <a:srgbClr val="002060"/>
                </a:solidFill>
                <a:latin typeface="Times New Roman" panose="02020603050405020304" pitchFamily="18" charset="0"/>
                <a:cs typeface="Times New Roman" panose="02020603050405020304" pitchFamily="18" charset="0"/>
              </a:rPr>
              <a:t>Б.Бүжинлхам, Санхүүгийн удирдлага, 2012</a:t>
            </a:r>
          </a:p>
          <a:p>
            <a:r>
              <a:rPr lang="mn-MN" sz="3200" dirty="0">
                <a:solidFill>
                  <a:srgbClr val="002060"/>
                </a:solidFill>
                <a:latin typeface="Times New Roman" panose="02020603050405020304" pitchFamily="18" charset="0"/>
                <a:cs typeface="Times New Roman" panose="02020603050405020304" pitchFamily="18" charset="0"/>
              </a:rPr>
              <a:t>Ж.Бат-Өлзий, Санхүүгийн менежмент, 2017</a:t>
            </a:r>
          </a:p>
          <a:p>
            <a:r>
              <a:rPr lang="mn-MN" sz="3200" dirty="0">
                <a:solidFill>
                  <a:srgbClr val="002060"/>
                </a:solidFill>
                <a:latin typeface="Times New Roman" panose="02020603050405020304" pitchFamily="18" charset="0"/>
                <a:cs typeface="Times New Roman" panose="02020603050405020304" pitchFamily="18" charset="0"/>
              </a:rPr>
              <a:t>М.Довууч, Санхүүгийн менежмент, 2010</a:t>
            </a:r>
          </a:p>
          <a:p>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563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
        <p:nvSpPr>
          <p:cNvPr id="3" name="Title 1">
            <a:extLst>
              <a:ext uri="{FF2B5EF4-FFF2-40B4-BE49-F238E27FC236}">
                <a16:creationId xmlns:a16="http://schemas.microsoft.com/office/drawing/2014/main" id="{17F65653-4C97-41C5-B58C-B996EDA740DF}"/>
              </a:ext>
            </a:extLst>
          </p:cNvPr>
          <p:cNvSpPr>
            <a:spLocks noGrp="1"/>
          </p:cNvSpPr>
          <p:nvPr>
            <p:ph type="title"/>
          </p:nvPr>
        </p:nvSpPr>
        <p:spPr>
          <a:xfrm>
            <a:off x="838200" y="365125"/>
            <a:ext cx="10515600" cy="585851"/>
          </a:xfrm>
        </p:spPr>
        <p:txBody>
          <a:bodyPr>
            <a:normAutofit fontScale="90000"/>
          </a:bodyPr>
          <a:lstStyle/>
          <a:p>
            <a:pPr algn="ctr"/>
            <a:r>
              <a:rPr lang="mn-MN" dirty="0">
                <a:latin typeface="Times New Roman" panose="02020603050405020304" pitchFamily="18" charset="0"/>
                <a:cs typeface="Times New Roman" panose="02020603050405020304" pitchFamily="18" charset="0"/>
              </a:rPr>
              <a:t>Анхаарал тавьсанд баярлалаа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47197DE-F8F9-4708-8DEA-967D45232929"/>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FIRST_PUBLISH" val="1"/>
  <p:tag name="ISPRING_ULTRA_SCORM_COURCE_TITLE" val="S.EEM101_Lecture11_2023-24.B_ByTs.B_2024.04.08"/>
  <p:tag name="ISPRING_SCORM_ENDPOINT" val="&lt;endpoint&gt;&lt;enable&gt;0&lt;/enable&gt;&lt;lrs&gt;http://&lt;/lrs&gt;&lt;auth&gt;0&lt;/auth&gt;&lt;login&gt;&lt;/login&gt;&lt;password&gt;&lt;/password&gt;&lt;key&gt;&lt;/key&gt;&lt;name&gt;&lt;/name&gt;&lt;email&gt;&lt;/email&gt;&lt;/endpoint&gt;&#10;"/>
  <p:tag name="ISPRING_SCORM_RATE_QUIZZES" val="0"/>
  <p:tag name="ISPRING_PRESENTATION_TITLE" val="S.EEM101_Lecture11_2023-24.B_ByTs.B_2024.04.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4808</TotalTime>
  <Words>3986</Words>
  <Application>Microsoft Office PowerPoint</Application>
  <PresentationFormat>Widescreen</PresentationFormat>
  <Paragraphs>455</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Cambria Math</vt:lpstr>
      <vt:lpstr>Times New Roman</vt:lpstr>
      <vt:lpstr>Office Theme</vt:lpstr>
      <vt:lpstr>ЛЕКЦ №11 МӨНГӨНИЙ ЦАГ ХУГАЦААНЫ ҮНЭ ЦЭНЭ</vt:lpstr>
      <vt:lpstr>Хичээлийн суралцахуйн үр дүнгүүд  Оюутан энэ сэдвийг судалснаар дараах ур чадваруудтай болсон байна. </vt:lpstr>
      <vt:lpstr>Хичээлийн агуулга </vt:lpstr>
      <vt:lpstr>Мөнгөний цаг хугацааны үнэ цэн</vt:lpstr>
      <vt:lpstr>Хөрөнгийн эргэлт</vt:lpstr>
      <vt:lpstr>Хөрөнгийн эргэлт</vt:lpstr>
      <vt:lpstr>Хүүний гарал үүсэл</vt:lpstr>
      <vt:lpstr>Хүүний төрлүүд</vt:lpstr>
      <vt:lpstr>Энгийн хүү</vt:lpstr>
      <vt:lpstr>Нийлмэл хүү</vt:lpstr>
      <vt:lpstr>Энгийн болон нийлмэл хүүний график харьцуулалт</vt:lpstr>
      <vt:lpstr>Эквивалентын тухай ойлголт</vt:lpstr>
      <vt:lpstr>Сарын 1%-ийн хүүтэй, дөрвөн сарын хугацаатай $17,000-ын үндсэн зээл болон хүүний төлбөрийн эргэн төлөлтийн гурван хувилбарт төлөвлөгөө (хүснэгт 4.1)</vt:lpstr>
      <vt:lpstr>PowerPoint Presentation</vt:lpstr>
      <vt:lpstr>PowerPoint Presentation</vt:lpstr>
      <vt:lpstr>PowerPoint Presentation</vt:lpstr>
      <vt:lpstr>4.1 хүснэгтийн III төлөвлөгөөний мөнгөн урсгалын диаграм</vt:lpstr>
      <vt:lpstr>Цаг хугацааны шулуун буюу Мөнгөн урсгалын диаграм ба хүснэгт, тайлбар (тэмдэглэгээ)</vt:lpstr>
      <vt:lpstr>Мөнгөн урсгалын ангилал</vt:lpstr>
      <vt:lpstr>Нэг удаагийн мөнгөн урсгалын өнөөгийн болон ирээдүйн эквивалент үнэ цэнийн хоорондох холбоо</vt:lpstr>
      <vt:lpstr>Нэг удаагийн мөнгөн урсгалын өнөөгийн болон ирээдүйн эквивалент үнэ цэнийн хоорондох холбоо. P өгөгдсөн үед F-ийг олох</vt:lpstr>
      <vt:lpstr>Нэг удаагийн мөнгөн урсгалын өнөөгийн болон ирээдүйн эквивалент үнэ цэнийн хоорондох холбоо. F өгөгдсөн үед P-ийг олох</vt:lpstr>
      <vt:lpstr>Нэг удаагийн мөнгөн урсгалын өнөөгийн болон ирээдүйн эквивалент үнэ цэнийн хоорондох холбоо. Мөнгөн урсгалын тооцоонд ашиглах дүрэм</vt:lpstr>
      <vt:lpstr>Нэг удаагийн мөнгөн урсгалын өнөөгийн болон ирээдүйн эквивалент үнэ цэнийн хоорондох холбоо P, F, N өгөгдсөн үед хүүний түвшин i-г олох</vt:lpstr>
      <vt:lpstr>Нэг удаагийн мөнгөн урсгалын өнөөгийн болон ирээдүйн эквивалент үнэ цэнийн хоорондох холбоо. P, F, i өгөгдсөн үед N-г олох</vt:lpstr>
      <vt:lpstr>Үе тутмын тэнцүү төлбөр (Аннуити), түүний өнөөгийн ба ирээдүйн үнэ цэнийн хоорондох холбоо </vt:lpstr>
      <vt:lpstr>Энгийн аннуити буюу үе бүрийн төгсгөлд хийх тэнцүү төлбөр, түүний өнөөгийн ба ирээдүйн үнэ цэнийн хоорондох холбоо </vt:lpstr>
      <vt:lpstr>Энгийн аннуити буюу үе бүрийн төгсгөлд хийх тэнцүү төлбөр, түүний өнөөгийн ба ирээдүйн үнэ цэнийн хоорондох холбоо  A өгөгдсөн үед F -г олох </vt:lpstr>
      <vt:lpstr>Энгийн аннуити буюу үе бүрийн төгсгөлд хийх тэнцүү төлбөр, түүний өнөөгийн ба ирээдүйн үнэ цэнийн хоорондох холбоо. A өгөгдсөн үед F -г олох </vt:lpstr>
      <vt:lpstr>Энгийн аннуити буюу үе бүрийн төгсгөлд хийх тэнцүү төлбөр, түүний өнөөгийн ба ирээдүйн үнэ цэнийн хоорондох холбоо. A өгөгдсөн үед P -г олох </vt:lpstr>
      <vt:lpstr>Энгийн аннуити буюу үе бүрийн төгсгөлд хийх тэнцүү төлбөр, түүний өнөөгийн ба ирээдүйн үнэ цэнийн хоорондох холбоо. F өгөгдсөн үед A -г олох </vt:lpstr>
      <vt:lpstr>Энгийн аннуити буюу үе бүрийн төгсгөлд хийх тэнцүү төлбөр, түүний өнөөгийн ба ирээдүйн үнэ цэнийн хоорондох холбоо  P өгөгдсөн үед A -г олох </vt:lpstr>
      <vt:lpstr>Энгийн аннуити буюу үе бүрийн төгсгөлд хийх тэнцүү төлбөр, түүний өнөөгийн ба ирээдүйн үнэ цэнийн хоорондох холбоо.  A, P, F –ийн тэгшитгэлүүдийг ашиглан i, N -г олох </vt:lpstr>
      <vt:lpstr>Хүүний томъёо болон дискрет нийлмэл хүүний хамаарлын тойм</vt:lpstr>
      <vt:lpstr>Хүүний томъёо болон дискрет нийлмэл хүүний хамаарлын тойм</vt:lpstr>
      <vt:lpstr>Аннуити Дуэ буюу хугацааны үе бүрийн эхэнд хийх тэнцүү төлбөр, түүний өнөөгийн ба ирээдүйн үнэ цэнийн хоорондох холбоо </vt:lpstr>
      <vt:lpstr>Перпетуити</vt:lpstr>
      <vt:lpstr>Хагас жил, улирал, сар бүрийн компаундинг</vt:lpstr>
      <vt:lpstr>Уншиж судлах ном, сурах бичиг</vt:lpstr>
      <vt:lpstr>Анхаарал тавьсанд баярлалаа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S.EEM101_Lecture11_2023-24.B_ByTs.B_2024.04.08</dc:title>
  <dc:creator>Oyu Chuluun</dc:creator>
  <cp:lastModifiedBy>Ganaa begzsuren</cp:lastModifiedBy>
  <cp:revision>157</cp:revision>
  <cp:lastPrinted>2023-10-17T01:33:20Z</cp:lastPrinted>
  <dcterms:created xsi:type="dcterms:W3CDTF">2023-09-05T14:21:28Z</dcterms:created>
  <dcterms:modified xsi:type="dcterms:W3CDTF">2025-04-07T16:14:32Z</dcterms:modified>
</cp:coreProperties>
</file>