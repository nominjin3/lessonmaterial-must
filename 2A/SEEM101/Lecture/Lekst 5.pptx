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408" r:id="rId2"/>
    <p:sldId id="348" r:id="rId3"/>
    <p:sldId id="257" r:id="rId4"/>
    <p:sldId id="380" r:id="rId5"/>
    <p:sldId id="381" r:id="rId6"/>
    <p:sldId id="287" r:id="rId7"/>
    <p:sldId id="259" r:id="rId8"/>
    <p:sldId id="357" r:id="rId9"/>
    <p:sldId id="361" r:id="rId10"/>
    <p:sldId id="375" r:id="rId11"/>
    <p:sldId id="382" r:id="rId12"/>
    <p:sldId id="376" r:id="rId13"/>
    <p:sldId id="377" r:id="rId14"/>
    <p:sldId id="261" r:id="rId15"/>
    <p:sldId id="262" r:id="rId16"/>
    <p:sldId id="383" r:id="rId17"/>
    <p:sldId id="263" r:id="rId18"/>
    <p:sldId id="258" r:id="rId19"/>
    <p:sldId id="345" r:id="rId20"/>
    <p:sldId id="378" r:id="rId21"/>
    <p:sldId id="350" r:id="rId22"/>
    <p:sldId id="384" r:id="rId23"/>
    <p:sldId id="385" r:id="rId24"/>
    <p:sldId id="352" r:id="rId25"/>
    <p:sldId id="374" r:id="rId26"/>
    <p:sldId id="387" r:id="rId27"/>
    <p:sldId id="366" r:id="rId28"/>
    <p:sldId id="367" r:id="rId29"/>
    <p:sldId id="368" r:id="rId30"/>
    <p:sldId id="365" r:id="rId31"/>
    <p:sldId id="379" r:id="rId32"/>
    <p:sldId id="286" r:id="rId33"/>
  </p:sldIdLst>
  <p:sldSz cx="12192000" cy="6858000"/>
  <p:notesSz cx="7315200" cy="9601200"/>
  <p:custDataLst>
    <p:tags r:id="rId3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60FF65C-CA29-52B5-E688-B9F869745318}" name="T B" initials="TB" userId="cc74087b7d702bd4"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535" autoAdjust="0"/>
    <p:restoredTop sz="94893" autoAdjust="0"/>
  </p:normalViewPr>
  <p:slideViewPr>
    <p:cSldViewPr snapToGrid="0">
      <p:cViewPr varScale="1">
        <p:scale>
          <a:sx n="105" d="100"/>
          <a:sy n="105" d="100"/>
        </p:scale>
        <p:origin x="1320"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8/10/relationships/authors" Targe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gs" Target="tags/tag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n-US" dirty="0"/>
          </a:p>
        </p:txBody>
      </p:sp>
      <p:sp>
        <p:nvSpPr>
          <p:cNvPr id="3" name="Date Placeholder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a:lvl1pPr>
          </a:lstStyle>
          <a:p>
            <a:fld id="{4C622D43-C65E-428A-89C7-8C19C0C28B05}" type="datetimeFigureOut">
              <a:rPr lang="en-US" smtClean="0"/>
              <a:t>10/4/2024</a:t>
            </a:fld>
            <a:endParaRPr lang="en-US" dirty="0"/>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61" tIns="48331" rIns="96661" bIns="48331" rtlCol="0" anchor="ctr"/>
          <a:lstStyle/>
          <a:p>
            <a:endParaRPr lang="en-US" dirty="0"/>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a:lvl1pPr>
          </a:lstStyle>
          <a:p>
            <a:endParaRPr lang="en-US" dirty="0"/>
          </a:p>
        </p:txBody>
      </p:sp>
      <p:sp>
        <p:nvSpPr>
          <p:cNvPr id="7" name="Slide Number Placeholder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a:lvl1pPr>
          </a:lstStyle>
          <a:p>
            <a:fld id="{E4CFEF27-99CE-459F-8C01-F12FB244F5E1}" type="slidenum">
              <a:rPr lang="en-US" smtClean="0"/>
              <a:t>‹#›</a:t>
            </a:fld>
            <a:endParaRPr lang="en-US" dirty="0"/>
          </a:p>
        </p:txBody>
      </p:sp>
    </p:spTree>
    <p:extLst>
      <p:ext uri="{BB962C8B-B14F-4D97-AF65-F5344CB8AC3E}">
        <p14:creationId xmlns:p14="http://schemas.microsoft.com/office/powerpoint/2010/main" val="3465220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1</a:t>
            </a:fld>
            <a:endParaRPr lang="en-US" dirty="0"/>
          </a:p>
        </p:txBody>
      </p:sp>
    </p:spTree>
    <p:extLst>
      <p:ext uri="{BB962C8B-B14F-4D97-AF65-F5344CB8AC3E}">
        <p14:creationId xmlns:p14="http://schemas.microsoft.com/office/powerpoint/2010/main" val="41123869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2</a:t>
            </a:fld>
            <a:endParaRPr lang="en-US" dirty="0"/>
          </a:p>
        </p:txBody>
      </p:sp>
    </p:spTree>
    <p:extLst>
      <p:ext uri="{BB962C8B-B14F-4D97-AF65-F5344CB8AC3E}">
        <p14:creationId xmlns:p14="http://schemas.microsoft.com/office/powerpoint/2010/main" val="42596669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3</a:t>
            </a:fld>
            <a:endParaRPr lang="en-US" dirty="0"/>
          </a:p>
        </p:txBody>
      </p:sp>
    </p:spTree>
    <p:extLst>
      <p:ext uri="{BB962C8B-B14F-4D97-AF65-F5344CB8AC3E}">
        <p14:creationId xmlns:p14="http://schemas.microsoft.com/office/powerpoint/2010/main" val="16337333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mn-MN" dirty="0"/>
              <a:t>Үйлдвэрлэл өргөжиж, хөгжих тусам аливаа улс орны </a:t>
            </a:r>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4</a:t>
            </a:fld>
            <a:endParaRPr lang="en-US" dirty="0"/>
          </a:p>
        </p:txBody>
      </p:sp>
    </p:spTree>
    <p:extLst>
      <p:ext uri="{BB962C8B-B14F-4D97-AF65-F5344CB8AC3E}">
        <p14:creationId xmlns:p14="http://schemas.microsoft.com/office/powerpoint/2010/main" val="4741707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4B9590-D258-8051-6677-3DDDF1FBF6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B800BA-0032-1366-CDC1-CFBF677CEB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6606EE-F94C-405D-160E-908DDB6495A2}"/>
              </a:ext>
            </a:extLst>
          </p:cNvPr>
          <p:cNvSpPr>
            <a:spLocks noGrp="1"/>
          </p:cNvSpPr>
          <p:nvPr>
            <p:ph type="body" idx="1"/>
          </p:nvPr>
        </p:nvSpPr>
        <p:spPr/>
        <p:txBody>
          <a:bodyPr/>
          <a:lstStyle/>
          <a:p>
            <a:r>
              <a:rPr lang="mn-MN" dirty="0"/>
              <a:t>18 зууны үед машинт үйлдвэрлэл нэвтрэх үеэс эхлэн үйлдвэрлэлийг нарийвчлан судлах нь маш чухал асуудал болон хувирсан. Үүнтэй холбоотойгоор нэгж хэсгүүдийг оновчтой зохион байгуулах, хийх ажлын норм хэмжээг тогтоох, түүнийг мөрдөх, үйлдвэрлэлийн үйл ажиллагааны хэсгүүдийг хооронд нь нарийн уялдуулах хэрэгцээ шаардлагатай болсон. Орчин үед энэ үйл ажиллагааг улам нарийвчлан боловсронгуй болгосоор байна. </a:t>
            </a:r>
            <a:endParaRPr lang="en-US" dirty="0"/>
          </a:p>
        </p:txBody>
      </p:sp>
      <p:sp>
        <p:nvSpPr>
          <p:cNvPr id="4" name="Slide Number Placeholder 3">
            <a:extLst>
              <a:ext uri="{FF2B5EF4-FFF2-40B4-BE49-F238E27FC236}">
                <a16:creationId xmlns:a16="http://schemas.microsoft.com/office/drawing/2014/main" id="{FDA64C58-0F53-2923-D0B3-4C9E68459727}"/>
              </a:ext>
            </a:extLst>
          </p:cNvPr>
          <p:cNvSpPr>
            <a:spLocks noGrp="1"/>
          </p:cNvSpPr>
          <p:nvPr>
            <p:ph type="sldNum" sz="quarter" idx="5"/>
          </p:nvPr>
        </p:nvSpPr>
        <p:spPr/>
        <p:txBody>
          <a:bodyPr/>
          <a:lstStyle/>
          <a:p>
            <a:fld id="{E4CFEF27-99CE-459F-8C01-F12FB244F5E1}" type="slidenum">
              <a:rPr lang="en-US" smtClean="0"/>
              <a:t>5</a:t>
            </a:fld>
            <a:endParaRPr lang="en-US" dirty="0"/>
          </a:p>
        </p:txBody>
      </p:sp>
    </p:spTree>
    <p:extLst>
      <p:ext uri="{BB962C8B-B14F-4D97-AF65-F5344CB8AC3E}">
        <p14:creationId xmlns:p14="http://schemas.microsoft.com/office/powerpoint/2010/main" val="29172502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973D6-9BD7-A1EB-3667-CE4E4CF388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BCF79A-913B-39AC-1B0B-A46B522DE5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E9D82B-4E13-AE5D-B192-AF744F3A7B19}"/>
              </a:ext>
            </a:extLst>
          </p:cNvPr>
          <p:cNvSpPr>
            <a:spLocks noGrp="1"/>
          </p:cNvSpPr>
          <p:nvPr>
            <p:ph type="body" idx="1"/>
          </p:nvPr>
        </p:nvSpPr>
        <p:spPr/>
        <p:txBody>
          <a:bodyPr/>
          <a:lstStyle/>
          <a:p>
            <a:r>
              <a:rPr lang="mn-MN" sz="1200" dirty="0">
                <a:latin typeface="Arial" panose="020B0604020202020204" pitchFamily="34" charset="0"/>
                <a:cs typeface="Arial" panose="020B0604020202020204" pitchFamily="34" charset="0"/>
              </a:rPr>
              <a:t>Хүчин чадал нь хугацааны янз бүрийн нэгжид ногдох орц, гарцаар тодорхойлогдох бөгөөд хэрхэн хэмжигдэх нь үйлдвэрлэл, үйлчилгээний онцлогоос хамаарна. </a:t>
            </a:r>
          </a:p>
          <a:p>
            <a:r>
              <a:rPr lang="mn-MN" sz="1200" dirty="0">
                <a:latin typeface="Arial" panose="020B0604020202020204" pitchFamily="34" charset="0"/>
                <a:cs typeface="Arial" panose="020B0604020202020204" pitchFamily="34" charset="0"/>
              </a:rPr>
              <a:t>Хүчин чадал (</a:t>
            </a:r>
            <a:r>
              <a:rPr lang="en-US" sz="1200" dirty="0">
                <a:latin typeface="Arial" panose="020B0604020202020204" pitchFamily="34" charset="0"/>
                <a:cs typeface="Arial" panose="020B0604020202020204" pitchFamily="34" charset="0"/>
              </a:rPr>
              <a:t>capacity) </a:t>
            </a:r>
          </a:p>
          <a:p>
            <a:pPr marL="403225" indent="344488"/>
            <a:r>
              <a:rPr lang="en-US" sz="1200" dirty="0">
                <a:latin typeface="Arial" panose="020B0604020202020204" pitchFamily="34" charset="0"/>
                <a:cs typeface="Arial" panose="020B0604020202020204" pitchFamily="34" charset="0"/>
              </a:rPr>
              <a:t>• </a:t>
            </a:r>
            <a:r>
              <a:rPr lang="mn-MN" sz="1200" dirty="0">
                <a:latin typeface="Arial" panose="020B0604020202020204" pitchFamily="34" charset="0"/>
                <a:cs typeface="Arial" panose="020B0604020202020204" pitchFamily="34" charset="0"/>
              </a:rPr>
              <a:t>Орцоор – түүхий эд, материал талаас </a:t>
            </a:r>
            <a:endParaRPr lang="en-US" sz="1200" dirty="0">
              <a:latin typeface="Arial" panose="020B0604020202020204" pitchFamily="34" charset="0"/>
              <a:cs typeface="Arial" panose="020B0604020202020204" pitchFamily="34" charset="0"/>
            </a:endParaRPr>
          </a:p>
          <a:p>
            <a:pPr marL="403225" indent="344488"/>
            <a:r>
              <a:rPr lang="mn-MN" sz="1200" dirty="0">
                <a:latin typeface="Arial" panose="020B0604020202020204" pitchFamily="34" charset="0"/>
                <a:cs typeface="Arial" panose="020B0604020202020204" pitchFamily="34" charset="0"/>
              </a:rPr>
              <a:t>• Гарцаар – эцсийн бүтээгдэхүүн талаас</a:t>
            </a:r>
          </a:p>
        </p:txBody>
      </p:sp>
      <p:sp>
        <p:nvSpPr>
          <p:cNvPr id="4" name="Slide Number Placeholder 3">
            <a:extLst>
              <a:ext uri="{FF2B5EF4-FFF2-40B4-BE49-F238E27FC236}">
                <a16:creationId xmlns:a16="http://schemas.microsoft.com/office/drawing/2014/main" id="{02696A57-4642-6592-5B9B-BBBADFF5E003}"/>
              </a:ext>
            </a:extLst>
          </p:cNvPr>
          <p:cNvSpPr>
            <a:spLocks noGrp="1"/>
          </p:cNvSpPr>
          <p:nvPr>
            <p:ph type="sldNum" sz="quarter" idx="5"/>
          </p:nvPr>
        </p:nvSpPr>
        <p:spPr/>
        <p:txBody>
          <a:bodyPr/>
          <a:lstStyle/>
          <a:p>
            <a:fld id="{E4CFEF27-99CE-459F-8C01-F12FB244F5E1}" type="slidenum">
              <a:rPr lang="en-US" smtClean="0"/>
              <a:t>6</a:t>
            </a:fld>
            <a:endParaRPr lang="en-US" dirty="0"/>
          </a:p>
        </p:txBody>
      </p:sp>
    </p:spTree>
    <p:extLst>
      <p:ext uri="{BB962C8B-B14F-4D97-AF65-F5344CB8AC3E}">
        <p14:creationId xmlns:p14="http://schemas.microsoft.com/office/powerpoint/2010/main" val="17330976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56157C-F715-0C94-11D6-AF82AA36F4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754C0C-3142-13E2-F583-E50BD7885B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A678EF-74AE-4A8D-140F-39E543F2ECDE}"/>
              </a:ext>
            </a:extLst>
          </p:cNvPr>
          <p:cNvSpPr>
            <a:spLocks noGrp="1"/>
          </p:cNvSpPr>
          <p:nvPr>
            <p:ph type="body" idx="1"/>
          </p:nvPr>
        </p:nvSpPr>
        <p:spPr/>
        <p:txBody>
          <a:bodyPr/>
          <a:lstStyle/>
          <a:p>
            <a:r>
              <a:rPr lang="mn-MN" dirty="0"/>
              <a:t>Нөөцийн ашиглалтыг их хэмжээгээр дайчлах нь эрчим хүч, завсар үйлчилгээний зардлыг нэмэгдүүлдэг. </a:t>
            </a:r>
          </a:p>
          <a:p>
            <a:r>
              <a:rPr lang="mn-MN" dirty="0"/>
              <a:t>Бүтээгдэхүүний нэр төрлийн өөрчлөлт, тодорхой үе шаттай хийгддэг тоног төхөөрөмжийн засвар үйлчилгээ, цайны болон амралтын завсарлага, ажлын хуваарь зэрэгтэй холбоотойгоор ашиглалтын хүчин чадал төслийн хүчин чадалд хүрэхгүй байж болно. </a:t>
            </a:r>
            <a:endParaRPr lang="en-US" dirty="0"/>
          </a:p>
        </p:txBody>
      </p:sp>
      <p:sp>
        <p:nvSpPr>
          <p:cNvPr id="4" name="Slide Number Placeholder 3">
            <a:extLst>
              <a:ext uri="{FF2B5EF4-FFF2-40B4-BE49-F238E27FC236}">
                <a16:creationId xmlns:a16="http://schemas.microsoft.com/office/drawing/2014/main" id="{0E4DBA12-CD65-8837-0A45-B4029ACF6216}"/>
              </a:ext>
            </a:extLst>
          </p:cNvPr>
          <p:cNvSpPr>
            <a:spLocks noGrp="1"/>
          </p:cNvSpPr>
          <p:nvPr>
            <p:ph type="sldNum" sz="quarter" idx="5"/>
          </p:nvPr>
        </p:nvSpPr>
        <p:spPr/>
        <p:txBody>
          <a:bodyPr/>
          <a:lstStyle/>
          <a:p>
            <a:fld id="{E4CFEF27-99CE-459F-8C01-F12FB244F5E1}" type="slidenum">
              <a:rPr lang="en-US" smtClean="0"/>
              <a:t>7</a:t>
            </a:fld>
            <a:endParaRPr lang="en-US" dirty="0"/>
          </a:p>
        </p:txBody>
      </p:sp>
    </p:spTree>
    <p:extLst>
      <p:ext uri="{BB962C8B-B14F-4D97-AF65-F5344CB8AC3E}">
        <p14:creationId xmlns:p14="http://schemas.microsoft.com/office/powerpoint/2010/main" val="19510128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8</a:t>
            </a:fld>
            <a:endParaRPr lang="en-US" dirty="0"/>
          </a:p>
        </p:txBody>
      </p:sp>
    </p:spTree>
    <p:extLst>
      <p:ext uri="{BB962C8B-B14F-4D97-AF65-F5344CB8AC3E}">
        <p14:creationId xmlns:p14="http://schemas.microsoft.com/office/powerpoint/2010/main" val="32161708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9</a:t>
            </a:fld>
            <a:endParaRPr lang="en-US" dirty="0"/>
          </a:p>
        </p:txBody>
      </p:sp>
    </p:spTree>
    <p:extLst>
      <p:ext uri="{BB962C8B-B14F-4D97-AF65-F5344CB8AC3E}">
        <p14:creationId xmlns:p14="http://schemas.microsoft.com/office/powerpoint/2010/main" val="42586982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10</a:t>
            </a:fld>
            <a:endParaRPr lang="en-US" dirty="0"/>
          </a:p>
        </p:txBody>
      </p:sp>
    </p:spTree>
    <p:extLst>
      <p:ext uri="{BB962C8B-B14F-4D97-AF65-F5344CB8AC3E}">
        <p14:creationId xmlns:p14="http://schemas.microsoft.com/office/powerpoint/2010/main" val="19484171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11</a:t>
            </a:fld>
            <a:endParaRPr lang="en-US" dirty="0"/>
          </a:p>
        </p:txBody>
      </p:sp>
    </p:spTree>
    <p:extLst>
      <p:ext uri="{BB962C8B-B14F-4D97-AF65-F5344CB8AC3E}">
        <p14:creationId xmlns:p14="http://schemas.microsoft.com/office/powerpoint/2010/main" val="15368575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12</a:t>
            </a:fld>
            <a:endParaRPr lang="en-US" dirty="0"/>
          </a:p>
        </p:txBody>
      </p:sp>
    </p:spTree>
    <p:extLst>
      <p:ext uri="{BB962C8B-B14F-4D97-AF65-F5344CB8AC3E}">
        <p14:creationId xmlns:p14="http://schemas.microsoft.com/office/powerpoint/2010/main" val="23518987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211E5D-B8CC-3DB7-B16F-8CE8D98CFB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868F64-5F80-D44D-8A32-F8A7E525CC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DB54C7-30E1-2081-5982-8743F65E012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378DA96-58DB-A39F-0DE2-CBC3C0778C7B}"/>
              </a:ext>
            </a:extLst>
          </p:cNvPr>
          <p:cNvSpPr>
            <a:spLocks noGrp="1"/>
          </p:cNvSpPr>
          <p:nvPr>
            <p:ph type="sldNum" sz="quarter" idx="5"/>
          </p:nvPr>
        </p:nvSpPr>
        <p:spPr/>
        <p:txBody>
          <a:bodyPr/>
          <a:lstStyle/>
          <a:p>
            <a:fld id="{E4CFEF27-99CE-459F-8C01-F12FB244F5E1}" type="slidenum">
              <a:rPr lang="en-US" smtClean="0"/>
              <a:t>13</a:t>
            </a:fld>
            <a:endParaRPr lang="en-US" dirty="0"/>
          </a:p>
        </p:txBody>
      </p:sp>
    </p:spTree>
    <p:extLst>
      <p:ext uri="{BB962C8B-B14F-4D97-AF65-F5344CB8AC3E}">
        <p14:creationId xmlns:p14="http://schemas.microsoft.com/office/powerpoint/2010/main" val="39310404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CF5224-4824-8004-1D84-E1137B8C93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14D33C-EC2D-0B8B-4971-1C15A91D2B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62BC44-9ECD-2795-0697-9CEF22B63117}"/>
              </a:ext>
            </a:extLst>
          </p:cNvPr>
          <p:cNvSpPr>
            <a:spLocks noGrp="1"/>
          </p:cNvSpPr>
          <p:nvPr>
            <p:ph type="body" idx="1"/>
          </p:nvPr>
        </p:nvSpPr>
        <p:spPr/>
        <p:txBody>
          <a:bodyPr/>
          <a:lstStyle/>
          <a:p>
            <a:endParaRPr lang="mn-MN" dirty="0"/>
          </a:p>
        </p:txBody>
      </p:sp>
      <p:sp>
        <p:nvSpPr>
          <p:cNvPr id="4" name="Slide Number Placeholder 3">
            <a:extLst>
              <a:ext uri="{FF2B5EF4-FFF2-40B4-BE49-F238E27FC236}">
                <a16:creationId xmlns:a16="http://schemas.microsoft.com/office/drawing/2014/main" id="{93FEE2A9-A8D6-5E65-A6D1-F0BCC4A49954}"/>
              </a:ext>
            </a:extLst>
          </p:cNvPr>
          <p:cNvSpPr>
            <a:spLocks noGrp="1"/>
          </p:cNvSpPr>
          <p:nvPr>
            <p:ph type="sldNum" sz="quarter" idx="5"/>
          </p:nvPr>
        </p:nvSpPr>
        <p:spPr/>
        <p:txBody>
          <a:bodyPr/>
          <a:lstStyle/>
          <a:p>
            <a:fld id="{E4CFEF27-99CE-459F-8C01-F12FB244F5E1}" type="slidenum">
              <a:rPr lang="en-US" smtClean="0"/>
              <a:t>14</a:t>
            </a:fld>
            <a:endParaRPr lang="en-US" dirty="0"/>
          </a:p>
        </p:txBody>
      </p:sp>
    </p:spTree>
    <p:extLst>
      <p:ext uri="{BB962C8B-B14F-4D97-AF65-F5344CB8AC3E}">
        <p14:creationId xmlns:p14="http://schemas.microsoft.com/office/powerpoint/2010/main" val="11072642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15</a:t>
            </a:fld>
            <a:endParaRPr lang="en-US" dirty="0"/>
          </a:p>
        </p:txBody>
      </p:sp>
    </p:spTree>
    <p:extLst>
      <p:ext uri="{BB962C8B-B14F-4D97-AF65-F5344CB8AC3E}">
        <p14:creationId xmlns:p14="http://schemas.microsoft.com/office/powerpoint/2010/main" val="34936125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16</a:t>
            </a:fld>
            <a:endParaRPr lang="en-US" dirty="0"/>
          </a:p>
        </p:txBody>
      </p:sp>
    </p:spTree>
    <p:extLst>
      <p:ext uri="{BB962C8B-B14F-4D97-AF65-F5344CB8AC3E}">
        <p14:creationId xmlns:p14="http://schemas.microsoft.com/office/powerpoint/2010/main" val="36013283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D8C1B-53A1-4141-A01B-50274BD5D8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3709FC-0780-5C13-2C51-B5AF46EA6F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D8F814-7B1E-92F1-D87C-FD1FA24DFBC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0D60635-1D83-BC1C-E7B9-B66B246BAC97}"/>
              </a:ext>
            </a:extLst>
          </p:cNvPr>
          <p:cNvSpPr>
            <a:spLocks noGrp="1"/>
          </p:cNvSpPr>
          <p:nvPr>
            <p:ph type="sldNum" sz="quarter" idx="5"/>
          </p:nvPr>
        </p:nvSpPr>
        <p:spPr/>
        <p:txBody>
          <a:bodyPr/>
          <a:lstStyle/>
          <a:p>
            <a:fld id="{E4CFEF27-99CE-459F-8C01-F12FB244F5E1}" type="slidenum">
              <a:rPr lang="en-US" smtClean="0"/>
              <a:t>17</a:t>
            </a:fld>
            <a:endParaRPr lang="en-US" dirty="0"/>
          </a:p>
        </p:txBody>
      </p:sp>
    </p:spTree>
    <p:extLst>
      <p:ext uri="{BB962C8B-B14F-4D97-AF65-F5344CB8AC3E}">
        <p14:creationId xmlns:p14="http://schemas.microsoft.com/office/powerpoint/2010/main" val="14275672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18</a:t>
            </a:fld>
            <a:endParaRPr lang="en-US" dirty="0"/>
          </a:p>
        </p:txBody>
      </p:sp>
    </p:spTree>
    <p:extLst>
      <p:ext uri="{BB962C8B-B14F-4D97-AF65-F5344CB8AC3E}">
        <p14:creationId xmlns:p14="http://schemas.microsoft.com/office/powerpoint/2010/main" val="42658128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19</a:t>
            </a:fld>
            <a:endParaRPr lang="en-US" dirty="0"/>
          </a:p>
        </p:txBody>
      </p:sp>
    </p:spTree>
    <p:extLst>
      <p:ext uri="{BB962C8B-B14F-4D97-AF65-F5344CB8AC3E}">
        <p14:creationId xmlns:p14="http://schemas.microsoft.com/office/powerpoint/2010/main" val="242538336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20</a:t>
            </a:fld>
            <a:endParaRPr lang="en-US" dirty="0"/>
          </a:p>
        </p:txBody>
      </p:sp>
    </p:spTree>
    <p:extLst>
      <p:ext uri="{BB962C8B-B14F-4D97-AF65-F5344CB8AC3E}">
        <p14:creationId xmlns:p14="http://schemas.microsoft.com/office/powerpoint/2010/main" val="66725075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mn-MN" dirty="0">
                <a:solidFill>
                  <a:srgbClr val="002060"/>
                </a:solidFill>
                <a:cs typeface="Arial" panose="020B0604020202020204" pitchFamily="34" charset="0"/>
              </a:rPr>
              <a:t>Нэгтгэсэн төлөвлөгөөг зохиох үед төлөвлөгч үйлдвэрлэх бүтээгдэхүүний хэмжээг ерөнхий дүнгээр нэгтгэн харуулдаг. </a:t>
            </a:r>
          </a:p>
          <a:p>
            <a:r>
              <a:rPr lang="mn-MN" dirty="0"/>
              <a:t>Төлөвлөгөөг </a:t>
            </a:r>
            <a:r>
              <a:rPr lang="mn-MN" b="1" dirty="0"/>
              <a:t>НЭГТГЭСЭН ТӨЛӨВЛӨГӨӨ</a:t>
            </a:r>
            <a:r>
              <a:rPr lang="mn-MN" dirty="0"/>
              <a:t> гэж нэрлэж байгаа гол үндэслэл нь түүнийг бүтээгдэхүүний төрлөөр биш, тэдгээрийг нэгтгэн төлөвлөж харуулдагтай холбоотой. </a:t>
            </a:r>
          </a:p>
          <a:p>
            <a:r>
              <a:rPr lang="mn-MN" dirty="0"/>
              <a:t>Жишээ 1. Газар тариалангийн чиглэлийн компанийн үйл ажиллагааг төлөвлөх үед зөвхөн улаанбуудайн үйлдвэрлэлийг салангид төлөвлөх биш, харин улаанбуудай, арвай, төмс, байцаа болон бусад тариалангийн үйлдвэрлэлийг нэгтгээд газар тариалангийн бүтээгдэхүүн гэж нэг төрлийн бүтээгдэхүүн болгон төлөвлөнө. Үүнийг </a:t>
            </a:r>
            <a:r>
              <a:rPr lang="mn-MN" b="1" dirty="0"/>
              <a:t>НЭГТГЭСЭН ТӨЛӨВЛӨГӨӨ </a:t>
            </a:r>
            <a:r>
              <a:rPr lang="mn-MN" dirty="0"/>
              <a:t>гэнэ. </a:t>
            </a:r>
          </a:p>
          <a:p>
            <a:r>
              <a:rPr lang="mn-MN" b="1" dirty="0"/>
              <a:t>Нэгтгэсэн төлөвлөгөөний гол зорилго – Төлөвлөсөн хугацааны эрэлт, нийлүүлэлтийг аль болох бага зардлаар ойртуулж тэнцүүлэх явдал байна. </a:t>
            </a:r>
            <a:endParaRPr lang="en-US" b="1"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solidFill>
                <a:srgbClr val="002060"/>
              </a:solidFill>
              <a:cs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21</a:t>
            </a:fld>
            <a:endParaRPr lang="en-US" dirty="0"/>
          </a:p>
        </p:txBody>
      </p:sp>
    </p:spTree>
    <p:extLst>
      <p:ext uri="{BB962C8B-B14F-4D97-AF65-F5344CB8AC3E}">
        <p14:creationId xmlns:p14="http://schemas.microsoft.com/office/powerpoint/2010/main" val="221999614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AD3BD7-D14D-603B-A331-B0C6C67814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9454CD-8C2A-77D8-EDC3-FD78B83DEA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55816A-DCD3-2EEE-397B-B8AAD5F39FF2}"/>
              </a:ext>
            </a:extLst>
          </p:cNvPr>
          <p:cNvSpPr>
            <a:spLocks noGrp="1"/>
          </p:cNvSpPr>
          <p:nvPr>
            <p:ph type="body" idx="1"/>
          </p:nvPr>
        </p:nvSpPr>
        <p:spPr/>
        <p:txBody>
          <a:bodyPr/>
          <a:lstStyle/>
          <a:p>
            <a:r>
              <a:rPr lang="mn-MN" dirty="0"/>
              <a:t>Эхний 3-ийг Цэвэр стратеги</a:t>
            </a:r>
          </a:p>
          <a:p>
            <a:r>
              <a:rPr lang="mn-MN" dirty="0"/>
              <a:t>4 дэхийг холимог стратеги гэнэ</a:t>
            </a:r>
            <a:endParaRPr lang="en-US" dirty="0"/>
          </a:p>
        </p:txBody>
      </p:sp>
      <p:sp>
        <p:nvSpPr>
          <p:cNvPr id="4" name="Slide Number Placeholder 3">
            <a:extLst>
              <a:ext uri="{FF2B5EF4-FFF2-40B4-BE49-F238E27FC236}">
                <a16:creationId xmlns:a16="http://schemas.microsoft.com/office/drawing/2014/main" id="{5B8D73D8-BBF0-2DD0-D365-1385601EE198}"/>
              </a:ext>
            </a:extLst>
          </p:cNvPr>
          <p:cNvSpPr>
            <a:spLocks noGrp="1"/>
          </p:cNvSpPr>
          <p:nvPr>
            <p:ph type="sldNum" sz="quarter" idx="5"/>
          </p:nvPr>
        </p:nvSpPr>
        <p:spPr/>
        <p:txBody>
          <a:bodyPr/>
          <a:lstStyle/>
          <a:p>
            <a:fld id="{E4CFEF27-99CE-459F-8C01-F12FB244F5E1}" type="slidenum">
              <a:rPr lang="en-US" smtClean="0"/>
              <a:t>22</a:t>
            </a:fld>
            <a:endParaRPr lang="en-US" dirty="0"/>
          </a:p>
        </p:txBody>
      </p:sp>
    </p:spTree>
    <p:extLst>
      <p:ext uri="{BB962C8B-B14F-4D97-AF65-F5344CB8AC3E}">
        <p14:creationId xmlns:p14="http://schemas.microsoft.com/office/powerpoint/2010/main" val="309475876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23</a:t>
            </a:fld>
            <a:endParaRPr lang="en-US" dirty="0"/>
          </a:p>
        </p:txBody>
      </p:sp>
    </p:spTree>
    <p:extLst>
      <p:ext uri="{BB962C8B-B14F-4D97-AF65-F5344CB8AC3E}">
        <p14:creationId xmlns:p14="http://schemas.microsoft.com/office/powerpoint/2010/main" val="33333765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mn-MN" dirty="0"/>
              <a:t>Бизнес төлөвлөгөөг хөрөнгө оруулагчдад зориулан гаргадаг. </a:t>
            </a:r>
          </a:p>
          <a:p>
            <a:r>
              <a:rPr lang="mn-MN" dirty="0"/>
              <a:t>Жишээлбэл, </a:t>
            </a:r>
          </a:p>
          <a:p>
            <a:pPr marL="228600" indent="-228600">
              <a:buFont typeface="+mj-lt"/>
              <a:buAutoNum type="arabicPeriod"/>
            </a:pPr>
            <a:r>
              <a:rPr lang="mn-MN" dirty="0"/>
              <a:t>Хувьцаа, бонд гаргах </a:t>
            </a:r>
            <a:r>
              <a:rPr lang="en-US" dirty="0"/>
              <a:t>(IPO </a:t>
            </a:r>
            <a:r>
              <a:rPr lang="mn-MN" dirty="0"/>
              <a:t>гаргах</a:t>
            </a:r>
            <a:r>
              <a:rPr lang="en-US" dirty="0"/>
              <a:t>)</a:t>
            </a:r>
            <a:r>
              <a:rPr lang="mn-MN" dirty="0"/>
              <a:t>, </a:t>
            </a:r>
          </a:p>
          <a:p>
            <a:pPr marL="228600" indent="-228600">
              <a:buFont typeface="+mj-lt"/>
              <a:buAutoNum type="arabicPeriod"/>
            </a:pPr>
            <a:r>
              <a:rPr lang="mn-MN" dirty="0"/>
              <a:t>Гадна, дотны санхүүжилт авах, хөрөнгө татах,</a:t>
            </a:r>
          </a:p>
          <a:p>
            <a:pPr marL="228600" indent="-228600">
              <a:buFont typeface="+mj-lt"/>
              <a:buAutoNum type="arabicPeriod"/>
            </a:pPr>
            <a:r>
              <a:rPr lang="mn-MN" dirty="0"/>
              <a:t>Хувьцаа эзэмшигч болон хөрөнгө оруулагчдад зориулж хийдэг. </a:t>
            </a:r>
          </a:p>
          <a:p>
            <a:pPr marL="228600" indent="-228600">
              <a:buFont typeface="+mj-lt"/>
              <a:buAutoNum type="arabicPeriod"/>
            </a:pPr>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24</a:t>
            </a:fld>
            <a:endParaRPr lang="en-US" dirty="0"/>
          </a:p>
        </p:txBody>
      </p:sp>
    </p:spTree>
    <p:extLst>
      <p:ext uri="{BB962C8B-B14F-4D97-AF65-F5344CB8AC3E}">
        <p14:creationId xmlns:p14="http://schemas.microsoft.com/office/powerpoint/2010/main" val="3077059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25</a:t>
            </a:fld>
            <a:endParaRPr lang="en-US" dirty="0"/>
          </a:p>
        </p:txBody>
      </p:sp>
    </p:spTree>
    <p:extLst>
      <p:ext uri="{BB962C8B-B14F-4D97-AF65-F5344CB8AC3E}">
        <p14:creationId xmlns:p14="http://schemas.microsoft.com/office/powerpoint/2010/main" val="93117771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26</a:t>
            </a:fld>
            <a:endParaRPr lang="en-US" dirty="0"/>
          </a:p>
        </p:txBody>
      </p:sp>
    </p:spTree>
    <p:extLst>
      <p:ext uri="{BB962C8B-B14F-4D97-AF65-F5344CB8AC3E}">
        <p14:creationId xmlns:p14="http://schemas.microsoft.com/office/powerpoint/2010/main" val="39187144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mn-MN" dirty="0">
                <a:solidFill>
                  <a:srgbClr val="002060"/>
                </a:solidFill>
              </a:rPr>
              <a:t>БҮЗБ – байгууллагын зорилгодоо хүрэхэд нь чухал нөлөө үзүүлдэг стратегийн асуудал. </a:t>
            </a:r>
          </a:p>
          <a:p>
            <a:pPr lvl="1"/>
            <a:r>
              <a:rPr lang="mn-MN" dirty="0">
                <a:solidFill>
                  <a:srgbClr val="002060"/>
                </a:solidFill>
              </a:rPr>
              <a:t>Энэ нь хэрэглэгчийн хэрэгцээг хангах, БҮ-ний чанарыг сайжруулах, үйлдвэрлэлийн зардлыг бууруулахад гол нөлөө үзүүлнэ. </a:t>
            </a:r>
          </a:p>
          <a:p>
            <a:r>
              <a:rPr lang="mn-MN" dirty="0">
                <a:solidFill>
                  <a:srgbClr val="002060"/>
                </a:solidFill>
              </a:rPr>
              <a:t>БҮ-г ямар загвараар үйлдвэрлэхийг шийдвэрлэхийн өмнө хэрэглэгч юу хүсч байгааг судлах хэрэгтэй. </a:t>
            </a:r>
          </a:p>
          <a:p>
            <a:r>
              <a:rPr lang="mn-MN" dirty="0">
                <a:solidFill>
                  <a:srgbClr val="002060"/>
                </a:solidFill>
              </a:rPr>
              <a:t>Бүтээгдхүүний чанарыг сайжруулахын тул загварыг сайн боловсруулахын зэрэгцээ загварт нь тохируулж үйлдвэрлэх хэрэгтэй, загвар нь хэрэгжих боломжтой байх ёстой. </a:t>
            </a:r>
          </a:p>
          <a:p>
            <a:r>
              <a:rPr lang="mn-MN" b="1" u="sng" dirty="0">
                <a:solidFill>
                  <a:srgbClr val="002060"/>
                </a:solidFill>
              </a:rPr>
              <a:t>Шалтгаан</a:t>
            </a:r>
            <a:r>
              <a:rPr lang="mn-MN" b="1" dirty="0">
                <a:solidFill>
                  <a:srgbClr val="002060"/>
                </a:solidFill>
              </a:rPr>
              <a:t>: </a:t>
            </a:r>
            <a:r>
              <a:rPr lang="mn-MN" dirty="0">
                <a:solidFill>
                  <a:srgbClr val="002060"/>
                </a:solidFill>
              </a:rPr>
              <a:t>Шинэ БҮ, загвар нь өрсөлдөх чадварыг дээшлүүлнэ, бизнес өргөжиж, ашиг нэмэгдэнэ. Бүтээмжийг дээшлүүлэх нь ажлын байрны тоог бууруулдаг байхад шинэ БҮ нь байрыг нэмэгдүүлж, ажилчдыг ажлаар хангах нөхцөлийг бүрдүүлдэг. </a:t>
            </a:r>
          </a:p>
          <a:p>
            <a:r>
              <a:rPr lang="mn-MN" dirty="0">
                <a:solidFill>
                  <a:srgbClr val="002060"/>
                </a:solidFill>
              </a:rPr>
              <a:t>БҮЗБ-д олон тооны асуудлууд гарч байна. Тухайлбал:</a:t>
            </a:r>
          </a:p>
          <a:p>
            <a:pPr lvl="1"/>
            <a:r>
              <a:rPr lang="mn-MN" dirty="0">
                <a:solidFill>
                  <a:srgbClr val="002060"/>
                </a:solidFill>
              </a:rPr>
              <a:t>Чанарын иж бүрэн удирдлагыг хэрэгжүүлэх хөтөлбөрөөр хэрэглэгчийн хэрэгцээг хангаж, өрсөлдөх чадвараа дээшлүүлэхэд онцгой анхаарах,</a:t>
            </a:r>
          </a:p>
          <a:p>
            <a:pPr lvl="1"/>
            <a:r>
              <a:rPr lang="mn-MN" dirty="0">
                <a:solidFill>
                  <a:srgbClr val="002060"/>
                </a:solidFill>
              </a:rPr>
              <a:t>Шинэ БҮ-г аль болох богино хугацаанд үйлдвэрлэхэд анхаарах,</a:t>
            </a:r>
          </a:p>
          <a:p>
            <a:pPr lvl="1"/>
            <a:r>
              <a:rPr lang="mn-MN" dirty="0">
                <a:solidFill>
                  <a:srgbClr val="002060"/>
                </a:solidFill>
              </a:rPr>
              <a:t>БҮ-ий үйлдвэрлэлийг зохион байгуулах, үйлдвэрлэлийн боломжийг сайжруулахад илүү анхаарах,</a:t>
            </a:r>
          </a:p>
          <a:p>
            <a:pPr lvl="1"/>
            <a:r>
              <a:rPr lang="mn-MN" dirty="0">
                <a:solidFill>
                  <a:srgbClr val="002060"/>
                </a:solidFill>
              </a:rPr>
              <a:t>Үйлдвэрлэлийн экологийн асуудалд анхаарч хаягдлыг багасгах, дахин боловсруулах, сав баглаа боодолыг сайжруулахад давхар анхаарах г.м.</a:t>
            </a:r>
          </a:p>
          <a:p>
            <a:r>
              <a:rPr lang="mn-MN" dirty="0">
                <a:solidFill>
                  <a:srgbClr val="002060"/>
                </a:solidFill>
              </a:rPr>
              <a:t>БҮ-ний загвар зохиох үед уг үйлдвэр тухайн загвараар үйлдвэрлэх боломжтой эсэхийг шалгах хэрэгтэй. Загвар боловсруулах, үйлчилгээний төсөл зохиох нь хоорондоо байгууллагын адил асуудал юм. Загварыг олон хувилбараар боловсруулах нь сонголтын боломжийг нэмэгдүүлнэ . </a:t>
            </a:r>
          </a:p>
          <a:p>
            <a:endParaRPr lang="mn-MN" dirty="0">
              <a:solidFill>
                <a:srgbClr val="002060"/>
              </a:solidFill>
            </a:endParaRPr>
          </a:p>
          <a:p>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27</a:t>
            </a:fld>
            <a:endParaRPr lang="en-US" dirty="0"/>
          </a:p>
        </p:txBody>
      </p:sp>
    </p:spTree>
    <p:extLst>
      <p:ext uri="{BB962C8B-B14F-4D97-AF65-F5344CB8AC3E}">
        <p14:creationId xmlns:p14="http://schemas.microsoft.com/office/powerpoint/2010/main" val="150709510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28</a:t>
            </a:fld>
            <a:endParaRPr lang="en-US" dirty="0"/>
          </a:p>
        </p:txBody>
      </p:sp>
    </p:spTree>
    <p:extLst>
      <p:ext uri="{BB962C8B-B14F-4D97-AF65-F5344CB8AC3E}">
        <p14:creationId xmlns:p14="http://schemas.microsoft.com/office/powerpoint/2010/main" val="46884753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29</a:t>
            </a:fld>
            <a:endParaRPr lang="en-US" dirty="0"/>
          </a:p>
        </p:txBody>
      </p:sp>
    </p:spTree>
    <p:extLst>
      <p:ext uri="{BB962C8B-B14F-4D97-AF65-F5344CB8AC3E}">
        <p14:creationId xmlns:p14="http://schemas.microsoft.com/office/powerpoint/2010/main" val="122191249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30</a:t>
            </a:fld>
            <a:endParaRPr lang="en-US" dirty="0"/>
          </a:p>
        </p:txBody>
      </p:sp>
    </p:spTree>
    <p:extLst>
      <p:ext uri="{BB962C8B-B14F-4D97-AF65-F5344CB8AC3E}">
        <p14:creationId xmlns:p14="http://schemas.microsoft.com/office/powerpoint/2010/main" val="214339096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31</a:t>
            </a:fld>
            <a:endParaRPr lang="en-US" dirty="0"/>
          </a:p>
        </p:txBody>
      </p:sp>
    </p:spTree>
    <p:extLst>
      <p:ext uri="{BB962C8B-B14F-4D97-AF65-F5344CB8AC3E}">
        <p14:creationId xmlns:p14="http://schemas.microsoft.com/office/powerpoint/2010/main" val="186180214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32</a:t>
            </a:fld>
            <a:endParaRPr lang="en-US" dirty="0"/>
          </a:p>
        </p:txBody>
      </p:sp>
    </p:spTree>
    <p:extLst>
      <p:ext uri="{BB962C8B-B14F-4D97-AF65-F5344CB8AC3E}">
        <p14:creationId xmlns:p14="http://schemas.microsoft.com/office/powerpoint/2010/main" val="42400131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E7D8C-4D35-6BE7-8913-EE48165F650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1E3668D-C2DB-80DC-A1DD-F60A137AF01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43D1920-FED3-D39C-539E-7B5A566391DD}"/>
              </a:ext>
            </a:extLst>
          </p:cNvPr>
          <p:cNvSpPr>
            <a:spLocks noGrp="1"/>
          </p:cNvSpPr>
          <p:nvPr>
            <p:ph type="dt" sz="half" idx="10"/>
          </p:nvPr>
        </p:nvSpPr>
        <p:spPr/>
        <p:txBody>
          <a:bodyPr/>
          <a:lstStyle/>
          <a:p>
            <a:fld id="{83867F83-6740-47E4-93AE-3D5AB4AA4876}" type="datetimeFigureOut">
              <a:rPr lang="en-US" smtClean="0"/>
              <a:t>10/4/2024</a:t>
            </a:fld>
            <a:endParaRPr lang="en-US" dirty="0"/>
          </a:p>
        </p:txBody>
      </p:sp>
      <p:sp>
        <p:nvSpPr>
          <p:cNvPr id="5" name="Footer Placeholder 4">
            <a:extLst>
              <a:ext uri="{FF2B5EF4-FFF2-40B4-BE49-F238E27FC236}">
                <a16:creationId xmlns:a16="http://schemas.microsoft.com/office/drawing/2014/main" id="{8E53230D-E594-D7A5-32EC-9616DF20868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1421CD8-BAE7-5A75-5A6C-4A94631F2DE0}"/>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10915869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ABC744-581C-A465-D5AD-698E5735688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C00F86A-AA32-A112-1308-F20B349FFD8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38C6181-E825-1285-E416-EE218D446D42}"/>
              </a:ext>
            </a:extLst>
          </p:cNvPr>
          <p:cNvSpPr>
            <a:spLocks noGrp="1"/>
          </p:cNvSpPr>
          <p:nvPr>
            <p:ph type="dt" sz="half" idx="10"/>
          </p:nvPr>
        </p:nvSpPr>
        <p:spPr/>
        <p:txBody>
          <a:bodyPr/>
          <a:lstStyle/>
          <a:p>
            <a:fld id="{83867F83-6740-47E4-93AE-3D5AB4AA4876}" type="datetimeFigureOut">
              <a:rPr lang="en-US" smtClean="0"/>
              <a:t>10/4/2024</a:t>
            </a:fld>
            <a:endParaRPr lang="en-US" dirty="0"/>
          </a:p>
        </p:txBody>
      </p:sp>
      <p:sp>
        <p:nvSpPr>
          <p:cNvPr id="5" name="Footer Placeholder 4">
            <a:extLst>
              <a:ext uri="{FF2B5EF4-FFF2-40B4-BE49-F238E27FC236}">
                <a16:creationId xmlns:a16="http://schemas.microsoft.com/office/drawing/2014/main" id="{572C597F-71A2-6113-48B7-23FBF239C2E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EB3508B-421D-3159-299D-6A50E1BB8ADB}"/>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38789178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2790E7-AF98-583B-B3C9-E30B90DF8A5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8172DBB-25A0-77B9-56E0-E617E9D7AD6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D91DC2C-A214-4BAD-37A9-2AF51A57E355}"/>
              </a:ext>
            </a:extLst>
          </p:cNvPr>
          <p:cNvSpPr>
            <a:spLocks noGrp="1"/>
          </p:cNvSpPr>
          <p:nvPr>
            <p:ph type="dt" sz="half" idx="10"/>
          </p:nvPr>
        </p:nvSpPr>
        <p:spPr/>
        <p:txBody>
          <a:bodyPr/>
          <a:lstStyle/>
          <a:p>
            <a:fld id="{83867F83-6740-47E4-93AE-3D5AB4AA4876}" type="datetimeFigureOut">
              <a:rPr lang="en-US" smtClean="0"/>
              <a:t>10/4/2024</a:t>
            </a:fld>
            <a:endParaRPr lang="en-US" dirty="0"/>
          </a:p>
        </p:txBody>
      </p:sp>
      <p:sp>
        <p:nvSpPr>
          <p:cNvPr id="5" name="Footer Placeholder 4">
            <a:extLst>
              <a:ext uri="{FF2B5EF4-FFF2-40B4-BE49-F238E27FC236}">
                <a16:creationId xmlns:a16="http://schemas.microsoft.com/office/drawing/2014/main" id="{091C845C-023D-8EAD-81C8-4BBE5DA6C63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1E7C64A-2365-EABC-5F33-CDA3D6CE0229}"/>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20414459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100046-0812-2CE0-21AB-F2D471CDD30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6F84E91-81BA-B0C8-43E2-0C1FB07087A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3761BD2-1A58-7C56-D7A7-135866A4DF5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B83FC1E-148B-EB6A-533C-A895CE8A2DE2}"/>
              </a:ext>
            </a:extLst>
          </p:cNvPr>
          <p:cNvSpPr>
            <a:spLocks noGrp="1"/>
          </p:cNvSpPr>
          <p:nvPr>
            <p:ph type="dt" sz="half" idx="10"/>
          </p:nvPr>
        </p:nvSpPr>
        <p:spPr/>
        <p:txBody>
          <a:bodyPr/>
          <a:lstStyle/>
          <a:p>
            <a:fld id="{83867F83-6740-47E4-93AE-3D5AB4AA4876}" type="datetimeFigureOut">
              <a:rPr lang="en-US" smtClean="0"/>
              <a:t>10/4/2024</a:t>
            </a:fld>
            <a:endParaRPr lang="en-US" dirty="0"/>
          </a:p>
        </p:txBody>
      </p:sp>
      <p:sp>
        <p:nvSpPr>
          <p:cNvPr id="6" name="Footer Placeholder 5">
            <a:extLst>
              <a:ext uri="{FF2B5EF4-FFF2-40B4-BE49-F238E27FC236}">
                <a16:creationId xmlns:a16="http://schemas.microsoft.com/office/drawing/2014/main" id="{41E110CF-5980-BE5D-9406-39F27D7591C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E3E86073-4A93-20AE-0F86-129975236E01}"/>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18170676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3A182-292F-33B0-9A13-21D03CA6610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FCB62B1-B0F4-D60D-9CE6-4D0E730C75E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070E5CA-EE3A-F3E7-7FBE-BB5ADF5C647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179186F-B8E2-72F3-72AE-3FA8848ED54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6688BD3-5740-E308-43A7-9518ACE588E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DB1AE7A-40F2-FDED-EA7F-916E5163350B}"/>
              </a:ext>
            </a:extLst>
          </p:cNvPr>
          <p:cNvSpPr>
            <a:spLocks noGrp="1"/>
          </p:cNvSpPr>
          <p:nvPr>
            <p:ph type="dt" sz="half" idx="10"/>
          </p:nvPr>
        </p:nvSpPr>
        <p:spPr/>
        <p:txBody>
          <a:bodyPr/>
          <a:lstStyle/>
          <a:p>
            <a:fld id="{83867F83-6740-47E4-93AE-3D5AB4AA4876}" type="datetimeFigureOut">
              <a:rPr lang="en-US" smtClean="0"/>
              <a:t>10/4/2024</a:t>
            </a:fld>
            <a:endParaRPr lang="en-US" dirty="0"/>
          </a:p>
        </p:txBody>
      </p:sp>
      <p:sp>
        <p:nvSpPr>
          <p:cNvPr id="8" name="Footer Placeholder 7">
            <a:extLst>
              <a:ext uri="{FF2B5EF4-FFF2-40B4-BE49-F238E27FC236}">
                <a16:creationId xmlns:a16="http://schemas.microsoft.com/office/drawing/2014/main" id="{276873A7-8D41-C1BE-DFF8-172CB3F3BF43}"/>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D2C8E814-2557-C6DE-8A25-A4EF60D29B40}"/>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41338224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C7397D-71F1-CCDC-44C6-DBC5BFE1CF4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9E7B16D-F9FC-BCE6-1B42-BDE141D9DF5D}"/>
              </a:ext>
            </a:extLst>
          </p:cNvPr>
          <p:cNvSpPr>
            <a:spLocks noGrp="1"/>
          </p:cNvSpPr>
          <p:nvPr>
            <p:ph type="dt" sz="half" idx="10"/>
          </p:nvPr>
        </p:nvSpPr>
        <p:spPr/>
        <p:txBody>
          <a:bodyPr/>
          <a:lstStyle/>
          <a:p>
            <a:fld id="{83867F83-6740-47E4-93AE-3D5AB4AA4876}" type="datetimeFigureOut">
              <a:rPr lang="en-US" smtClean="0"/>
              <a:t>10/4/2024</a:t>
            </a:fld>
            <a:endParaRPr lang="en-US" dirty="0"/>
          </a:p>
        </p:txBody>
      </p:sp>
      <p:sp>
        <p:nvSpPr>
          <p:cNvPr id="4" name="Footer Placeholder 3">
            <a:extLst>
              <a:ext uri="{FF2B5EF4-FFF2-40B4-BE49-F238E27FC236}">
                <a16:creationId xmlns:a16="http://schemas.microsoft.com/office/drawing/2014/main" id="{0B6116CF-3051-29AA-D7A5-D541C877A317}"/>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AB5D2961-87BC-269D-8A12-082DD2B0C414}"/>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18608122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042EFB-3455-988C-4371-6A02EC617A67}"/>
              </a:ext>
            </a:extLst>
          </p:cNvPr>
          <p:cNvSpPr>
            <a:spLocks noGrp="1"/>
          </p:cNvSpPr>
          <p:nvPr>
            <p:ph type="dt" sz="half" idx="10"/>
          </p:nvPr>
        </p:nvSpPr>
        <p:spPr/>
        <p:txBody>
          <a:bodyPr/>
          <a:lstStyle/>
          <a:p>
            <a:fld id="{83867F83-6740-47E4-93AE-3D5AB4AA4876}" type="datetimeFigureOut">
              <a:rPr lang="en-US" smtClean="0"/>
              <a:t>10/4/2024</a:t>
            </a:fld>
            <a:endParaRPr lang="en-US" dirty="0"/>
          </a:p>
        </p:txBody>
      </p:sp>
      <p:sp>
        <p:nvSpPr>
          <p:cNvPr id="3" name="Footer Placeholder 2">
            <a:extLst>
              <a:ext uri="{FF2B5EF4-FFF2-40B4-BE49-F238E27FC236}">
                <a16:creationId xmlns:a16="http://schemas.microsoft.com/office/drawing/2014/main" id="{E1023196-D0D5-1737-480A-AC1B231A7200}"/>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48AA5807-4B8C-8F0B-1E78-8808049AAFDC}"/>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16229368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7A8877-E86E-7B34-444B-E143B1819AF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7BB929B-DC3D-522B-D048-3021588858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023059F-6707-DF7E-1BE4-62F707BB9E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6BD24B2-E883-95C9-6B96-0C3CA02A0AC4}"/>
              </a:ext>
            </a:extLst>
          </p:cNvPr>
          <p:cNvSpPr>
            <a:spLocks noGrp="1"/>
          </p:cNvSpPr>
          <p:nvPr>
            <p:ph type="dt" sz="half" idx="10"/>
          </p:nvPr>
        </p:nvSpPr>
        <p:spPr/>
        <p:txBody>
          <a:bodyPr/>
          <a:lstStyle/>
          <a:p>
            <a:fld id="{83867F83-6740-47E4-93AE-3D5AB4AA4876}" type="datetimeFigureOut">
              <a:rPr lang="en-US" smtClean="0"/>
              <a:t>10/4/2024</a:t>
            </a:fld>
            <a:endParaRPr lang="en-US" dirty="0"/>
          </a:p>
        </p:txBody>
      </p:sp>
      <p:sp>
        <p:nvSpPr>
          <p:cNvPr id="6" name="Footer Placeholder 5">
            <a:extLst>
              <a:ext uri="{FF2B5EF4-FFF2-40B4-BE49-F238E27FC236}">
                <a16:creationId xmlns:a16="http://schemas.microsoft.com/office/drawing/2014/main" id="{14C2D7E2-C7A6-E14A-739A-278F59E25BE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E64A7BBE-F519-5822-9D2B-941BE610F1AE}"/>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3548966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8129B-0D66-F795-85BE-7E78BDADB10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DEC4CF0-08AB-1C0A-815A-2BA203A8A2B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363B9B51-C177-2817-1D1A-C92F903B4C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1BA76B8-0006-54B6-EC79-B119F0FF5ABE}"/>
              </a:ext>
            </a:extLst>
          </p:cNvPr>
          <p:cNvSpPr>
            <a:spLocks noGrp="1"/>
          </p:cNvSpPr>
          <p:nvPr>
            <p:ph type="dt" sz="half" idx="10"/>
          </p:nvPr>
        </p:nvSpPr>
        <p:spPr/>
        <p:txBody>
          <a:bodyPr/>
          <a:lstStyle/>
          <a:p>
            <a:fld id="{83867F83-6740-47E4-93AE-3D5AB4AA4876}" type="datetimeFigureOut">
              <a:rPr lang="en-US" smtClean="0"/>
              <a:t>10/4/2024</a:t>
            </a:fld>
            <a:endParaRPr lang="en-US" dirty="0"/>
          </a:p>
        </p:txBody>
      </p:sp>
      <p:sp>
        <p:nvSpPr>
          <p:cNvPr id="6" name="Footer Placeholder 5">
            <a:extLst>
              <a:ext uri="{FF2B5EF4-FFF2-40B4-BE49-F238E27FC236}">
                <a16:creationId xmlns:a16="http://schemas.microsoft.com/office/drawing/2014/main" id="{C3DF90E3-24E4-AFFB-E554-B66EC265A297}"/>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FB57FE3-ECEA-4E08-D41E-EA19B38B4AEF}"/>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30428171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C9902-7CD5-F898-A3C7-EA33606C1F8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FD88072-5629-164B-6FBB-FD7D6676D04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854E99-671D-9C4B-5F52-93E666ABDFA2}"/>
              </a:ext>
            </a:extLst>
          </p:cNvPr>
          <p:cNvSpPr>
            <a:spLocks noGrp="1"/>
          </p:cNvSpPr>
          <p:nvPr>
            <p:ph type="dt" sz="half" idx="10"/>
          </p:nvPr>
        </p:nvSpPr>
        <p:spPr/>
        <p:txBody>
          <a:bodyPr/>
          <a:lstStyle/>
          <a:p>
            <a:fld id="{83867F83-6740-47E4-93AE-3D5AB4AA4876}" type="datetimeFigureOut">
              <a:rPr lang="en-US" smtClean="0"/>
              <a:t>10/4/2024</a:t>
            </a:fld>
            <a:endParaRPr lang="en-US" dirty="0"/>
          </a:p>
        </p:txBody>
      </p:sp>
      <p:sp>
        <p:nvSpPr>
          <p:cNvPr id="5" name="Footer Placeholder 4">
            <a:extLst>
              <a:ext uri="{FF2B5EF4-FFF2-40B4-BE49-F238E27FC236}">
                <a16:creationId xmlns:a16="http://schemas.microsoft.com/office/drawing/2014/main" id="{D3052A27-D855-9487-5850-AA12D3CC7AB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7AB33CC-E6C6-4390-2D7D-F9F348F4AFE6}"/>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32064510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1627C86-B539-8330-A66A-0FE29628B19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E18C975-ECBF-3772-1D5D-5F4B5DD6591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A6307C-889B-74E9-03D3-079595FBAA0C}"/>
              </a:ext>
            </a:extLst>
          </p:cNvPr>
          <p:cNvSpPr>
            <a:spLocks noGrp="1"/>
          </p:cNvSpPr>
          <p:nvPr>
            <p:ph type="dt" sz="half" idx="10"/>
          </p:nvPr>
        </p:nvSpPr>
        <p:spPr/>
        <p:txBody>
          <a:bodyPr/>
          <a:lstStyle/>
          <a:p>
            <a:fld id="{83867F83-6740-47E4-93AE-3D5AB4AA4876}" type="datetimeFigureOut">
              <a:rPr lang="en-US" smtClean="0"/>
              <a:t>10/4/2024</a:t>
            </a:fld>
            <a:endParaRPr lang="en-US" dirty="0"/>
          </a:p>
        </p:txBody>
      </p:sp>
      <p:sp>
        <p:nvSpPr>
          <p:cNvPr id="5" name="Footer Placeholder 4">
            <a:extLst>
              <a:ext uri="{FF2B5EF4-FFF2-40B4-BE49-F238E27FC236}">
                <a16:creationId xmlns:a16="http://schemas.microsoft.com/office/drawing/2014/main" id="{0F71C601-CDCF-8113-0351-6229FE21451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8145360-2CBE-551F-CCEE-8E997F9ABDA1}"/>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32159790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6787FCA-762D-6470-BFF4-B2C55CEA101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424B729-E129-522C-12D0-6FFCA7620B4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D80C4F-690A-D0BF-6490-9F27DEC27C8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3867F83-6740-47E4-93AE-3D5AB4AA4876}" type="datetimeFigureOut">
              <a:rPr lang="en-US" smtClean="0"/>
              <a:t>10/4/2024</a:t>
            </a:fld>
            <a:endParaRPr lang="en-US" dirty="0"/>
          </a:p>
        </p:txBody>
      </p:sp>
      <p:sp>
        <p:nvSpPr>
          <p:cNvPr id="5" name="Footer Placeholder 4">
            <a:extLst>
              <a:ext uri="{FF2B5EF4-FFF2-40B4-BE49-F238E27FC236}">
                <a16:creationId xmlns:a16="http://schemas.microsoft.com/office/drawing/2014/main" id="{AB97EBD5-0880-276D-00D3-BDE8B6BCD3E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D2495C48-2E4B-20AA-E642-20DF5BE9E62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2E28A5F-89C8-4E63-9CC2-CD7E02775F2F}" type="slidenum">
              <a:rPr lang="en-US" smtClean="0"/>
              <a:t>‹#›</a:t>
            </a:fld>
            <a:endParaRPr lang="en-US" dirty="0"/>
          </a:p>
        </p:txBody>
      </p:sp>
    </p:spTree>
    <p:extLst>
      <p:ext uri="{BB962C8B-B14F-4D97-AF65-F5344CB8AC3E}">
        <p14:creationId xmlns:p14="http://schemas.microsoft.com/office/powerpoint/2010/main" val="18875617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54490-C09C-F2C1-1BED-C30E9C6493C0}"/>
              </a:ext>
            </a:extLst>
          </p:cNvPr>
          <p:cNvSpPr>
            <a:spLocks noGrp="1"/>
          </p:cNvSpPr>
          <p:nvPr>
            <p:ph type="ctrTitle"/>
          </p:nvPr>
        </p:nvSpPr>
        <p:spPr>
          <a:xfrm>
            <a:off x="1523999" y="1823767"/>
            <a:ext cx="10195249" cy="1828799"/>
          </a:xfrm>
        </p:spPr>
        <p:txBody>
          <a:bodyPr>
            <a:noAutofit/>
          </a:bodyPr>
          <a:lstStyle/>
          <a:p>
            <a:r>
              <a:rPr lang="mn-MN" sz="4800" b="1" dirty="0">
                <a:solidFill>
                  <a:srgbClr val="002060"/>
                </a:solidFill>
                <a:latin typeface="Times New Roman" panose="02020603050405020304" pitchFamily="18" charset="0"/>
                <a:cs typeface="Times New Roman" panose="02020603050405020304" pitchFamily="18" charset="0"/>
              </a:rPr>
              <a:t>Лекц </a:t>
            </a:r>
            <a:r>
              <a:rPr lang="en-US" sz="4800" b="1" dirty="0">
                <a:solidFill>
                  <a:srgbClr val="002060"/>
                </a:solidFill>
                <a:latin typeface="Times New Roman" panose="02020603050405020304" pitchFamily="18" charset="0"/>
                <a:cs typeface="Times New Roman" panose="02020603050405020304" pitchFamily="18" charset="0"/>
              </a:rPr>
              <a:t>5</a:t>
            </a:r>
            <a:r>
              <a:rPr lang="mn-MN" sz="4800" b="1" dirty="0">
                <a:solidFill>
                  <a:srgbClr val="002060"/>
                </a:solidFill>
                <a:latin typeface="Times New Roman" panose="02020603050405020304" pitchFamily="18" charset="0"/>
                <a:cs typeface="Times New Roman" panose="02020603050405020304" pitchFamily="18" charset="0"/>
              </a:rPr>
              <a:t>.</a:t>
            </a:r>
            <a:br>
              <a:rPr lang="en-US" sz="4800" b="1" dirty="0">
                <a:solidFill>
                  <a:srgbClr val="002060"/>
                </a:solidFill>
                <a:latin typeface="Times New Roman" panose="02020603050405020304" pitchFamily="18" charset="0"/>
                <a:cs typeface="Times New Roman" panose="02020603050405020304" pitchFamily="18" charset="0"/>
              </a:rPr>
            </a:br>
            <a:r>
              <a:rPr lang="mn-MN" b="1" dirty="0">
                <a:solidFill>
                  <a:srgbClr val="002060"/>
                </a:solidFill>
                <a:latin typeface="Times New Roman" panose="02020603050405020304" pitchFamily="18" charset="0"/>
                <a:cs typeface="Times New Roman" panose="02020603050405020304" pitchFamily="18" charset="0"/>
              </a:rPr>
              <a:t>Үйлдвэрлэл, хүчин чадлын төлөвлөлт</a:t>
            </a:r>
            <a:endParaRPr lang="en-US" sz="4800" b="1" dirty="0">
              <a:solidFill>
                <a:srgbClr val="002060"/>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384687C9-0602-4AB3-C68B-47EB63DFD361}"/>
              </a:ext>
            </a:extLst>
          </p:cNvPr>
          <p:cNvSpPr>
            <a:spLocks noGrp="1"/>
          </p:cNvSpPr>
          <p:nvPr>
            <p:ph type="subTitle" idx="1"/>
          </p:nvPr>
        </p:nvSpPr>
        <p:spPr>
          <a:xfrm>
            <a:off x="1524000" y="5497475"/>
            <a:ext cx="9144000" cy="871267"/>
          </a:xfrm>
        </p:spPr>
        <p:txBody>
          <a:bodyPr>
            <a:normAutofit lnSpcReduction="10000"/>
          </a:bodyPr>
          <a:lstStyle/>
          <a:p>
            <a:r>
              <a:rPr lang="mn-MN" dirty="0">
                <a:solidFill>
                  <a:srgbClr val="002060"/>
                </a:solidFill>
                <a:latin typeface="Times New Roman" panose="02020603050405020304" pitchFamily="18" charset="0"/>
                <a:cs typeface="Times New Roman" panose="02020603050405020304" pitchFamily="18" charset="0"/>
              </a:rPr>
              <a:t>ШУТИС-ийн МХТС, Холбооны салбарын ахлах багш Ц.Ариунаа</a:t>
            </a:r>
          </a:p>
          <a:p>
            <a:r>
              <a:rPr lang="mn-MN" dirty="0">
                <a:solidFill>
                  <a:srgbClr val="002060"/>
                </a:solidFill>
                <a:latin typeface="Times New Roman" panose="02020603050405020304" pitchFamily="18" charset="0"/>
                <a:cs typeface="Times New Roman" panose="02020603050405020304" pitchFamily="18" charset="0"/>
              </a:rPr>
              <a:t>Улаанбаатар хот. </a:t>
            </a:r>
            <a:r>
              <a:rPr lang="ru-RU" dirty="0">
                <a:solidFill>
                  <a:srgbClr val="002060"/>
                </a:solidFill>
                <a:latin typeface="Times New Roman" panose="02020603050405020304" pitchFamily="18" charset="0"/>
                <a:cs typeface="Times New Roman" panose="02020603050405020304" pitchFamily="18" charset="0"/>
              </a:rPr>
              <a:t>2024-2025 оны хичээлийн жилийн Намрын улирал</a:t>
            </a:r>
            <a:endParaRPr lang="en-US" dirty="0">
              <a:solidFill>
                <a:srgbClr val="002060"/>
              </a:solidFill>
              <a:latin typeface="Times New Roman" panose="02020603050405020304" pitchFamily="18" charset="0"/>
              <a:cs typeface="Times New Roman" panose="02020603050405020304" pitchFamily="18" charset="0"/>
            </a:endParaRPr>
          </a:p>
        </p:txBody>
      </p:sp>
      <p:pic>
        <p:nvPicPr>
          <p:cNvPr id="8" name="Picture 2">
            <a:extLst>
              <a:ext uri="{FF2B5EF4-FFF2-40B4-BE49-F238E27FC236}">
                <a16:creationId xmlns:a16="http://schemas.microsoft.com/office/drawing/2014/main" id="{AB551975-1CE2-308D-D250-4B65BD2EFCE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5458" y="16278"/>
            <a:ext cx="4957464" cy="1363947"/>
          </a:xfrm>
          <a:prstGeom prst="rect">
            <a:avLst/>
          </a:prstGeom>
          <a:noFill/>
          <a:extLst>
            <a:ext uri="{909E8E84-426E-40DD-AFC4-6F175D3DCCD1}">
              <a14:hiddenFill xmlns:a14="http://schemas.microsoft.com/office/drawing/2010/main">
                <a:solidFill>
                  <a:srgbClr val="FFFFFF"/>
                </a:solidFill>
              </a14:hiddenFill>
            </a:ext>
          </a:extLst>
        </p:spPr>
      </p:pic>
      <p:sp>
        <p:nvSpPr>
          <p:cNvPr id="5" name="Subtitle 2">
            <a:extLst>
              <a:ext uri="{FF2B5EF4-FFF2-40B4-BE49-F238E27FC236}">
                <a16:creationId xmlns:a16="http://schemas.microsoft.com/office/drawing/2014/main" id="{D493B6D6-2330-40E5-BEBE-D3505B39EAF9}"/>
              </a:ext>
            </a:extLst>
          </p:cNvPr>
          <p:cNvSpPr txBox="1">
            <a:spLocks/>
          </p:cNvSpPr>
          <p:nvPr/>
        </p:nvSpPr>
        <p:spPr>
          <a:xfrm>
            <a:off x="1751012" y="3905250"/>
            <a:ext cx="8689976" cy="1339541"/>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en-US" sz="3200" b="1" dirty="0">
                <a:solidFill>
                  <a:schemeClr val="tx2"/>
                </a:solidFill>
                <a:effectLst>
                  <a:outerShdw blurRad="63500" dist="38100" dir="5400000" algn="t" rotWithShape="0">
                    <a:prstClr val="black">
                      <a:alpha val="25000"/>
                    </a:prstClr>
                  </a:outerShdw>
                </a:effectLst>
                <a:latin typeface="Times New Roman" panose="02020603050405020304" pitchFamily="18" charset="0"/>
                <a:cs typeface="Times New Roman" panose="02020603050405020304" pitchFamily="18" charset="0"/>
              </a:rPr>
              <a:t>S</a:t>
            </a:r>
            <a:r>
              <a:rPr lang="ru-RU" altLang="en-US" sz="3200" b="1" dirty="0">
                <a:solidFill>
                  <a:schemeClr val="tx2"/>
                </a:solidFill>
                <a:effectLst>
                  <a:outerShdw blurRad="63500" dist="38100" dir="5400000" algn="t" rotWithShape="0">
                    <a:prstClr val="black">
                      <a:alpha val="25000"/>
                    </a:prstClr>
                  </a:outerShdw>
                </a:effectLst>
                <a:latin typeface="Times New Roman" panose="02020603050405020304" pitchFamily="18" charset="0"/>
                <a:cs typeface="Times New Roman" panose="02020603050405020304" pitchFamily="18" charset="0"/>
              </a:rPr>
              <a:t>.</a:t>
            </a:r>
            <a:r>
              <a:rPr lang="en-US" altLang="en-US" sz="3200" b="1" dirty="0">
                <a:solidFill>
                  <a:schemeClr val="tx2"/>
                </a:solidFill>
                <a:effectLst>
                  <a:outerShdw blurRad="63500" dist="38100" dir="5400000" algn="t" rotWithShape="0">
                    <a:prstClr val="black">
                      <a:alpha val="25000"/>
                    </a:prstClr>
                  </a:outerShdw>
                </a:effectLst>
                <a:latin typeface="Times New Roman" panose="02020603050405020304" pitchFamily="18" charset="0"/>
                <a:cs typeface="Times New Roman" panose="02020603050405020304" pitchFamily="18" charset="0"/>
              </a:rPr>
              <a:t>EEM101  </a:t>
            </a:r>
            <a:br>
              <a:rPr lang="en-US" altLang="en-US" sz="3200" b="1" dirty="0">
                <a:solidFill>
                  <a:schemeClr val="tx2"/>
                </a:solidFill>
                <a:effectLst>
                  <a:outerShdw blurRad="63500" dist="38100" dir="5400000" algn="t" rotWithShape="0">
                    <a:prstClr val="black">
                      <a:alpha val="25000"/>
                    </a:prstClr>
                  </a:outerShdw>
                </a:effectLst>
                <a:latin typeface="Times New Roman" panose="02020603050405020304" pitchFamily="18" charset="0"/>
                <a:cs typeface="Times New Roman" panose="02020603050405020304" pitchFamily="18" charset="0"/>
              </a:rPr>
            </a:br>
            <a:r>
              <a:rPr lang="mn-MN" altLang="en-US" sz="3200" b="1" dirty="0">
                <a:solidFill>
                  <a:schemeClr val="tx2"/>
                </a:solidFill>
                <a:effectLst>
                  <a:outerShdw blurRad="63500" dist="38100" dir="5400000" algn="t" rotWithShape="0">
                    <a:prstClr val="black">
                      <a:alpha val="25000"/>
                    </a:prstClr>
                  </a:outerShdw>
                </a:effectLst>
                <a:latin typeface="Times New Roman" panose="02020603050405020304" pitchFamily="18" charset="0"/>
                <a:cs typeface="Times New Roman" panose="02020603050405020304" pitchFamily="18" charset="0"/>
              </a:rPr>
              <a:t>Инженерчлэлийн эдийн засаг</a:t>
            </a:r>
            <a:br>
              <a:rPr lang="mn-MN" altLang="en-US" sz="3200" b="1" dirty="0">
                <a:solidFill>
                  <a:schemeClr val="tx2"/>
                </a:solidFill>
                <a:effectLst>
                  <a:outerShdw blurRad="63500" dist="38100" dir="5400000" algn="t" rotWithShape="0">
                    <a:prstClr val="black">
                      <a:alpha val="25000"/>
                    </a:prstClr>
                  </a:outerShdw>
                </a:effectLst>
                <a:latin typeface="Times New Roman" panose="02020603050405020304" pitchFamily="18" charset="0"/>
                <a:cs typeface="Times New Roman" panose="02020603050405020304" pitchFamily="18" charset="0"/>
              </a:rPr>
            </a:br>
            <a:r>
              <a:rPr lang="en-US" altLang="en-US" sz="3200" b="1" dirty="0">
                <a:solidFill>
                  <a:schemeClr val="tx2"/>
                </a:solidFill>
                <a:effectLst>
                  <a:outerShdw blurRad="63500" dist="38100" dir="5400000" algn="t" rotWithShape="0">
                    <a:prstClr val="black">
                      <a:alpha val="25000"/>
                    </a:prstClr>
                  </a:outerShdw>
                </a:effectLst>
                <a:latin typeface="Times New Roman" panose="02020603050405020304" pitchFamily="18" charset="0"/>
                <a:cs typeface="Times New Roman" panose="02020603050405020304" pitchFamily="18" charset="0"/>
              </a:rPr>
              <a:t>Engineering Economy</a:t>
            </a:r>
            <a:endParaRPr lang="mn-MN" altLang="en-US" sz="3200" b="1"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827454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18F32-BFE1-C21B-C995-8F54A877F02F}"/>
              </a:ext>
            </a:extLst>
          </p:cNvPr>
          <p:cNvSpPr>
            <a:spLocks noGrp="1"/>
          </p:cNvSpPr>
          <p:nvPr>
            <p:ph type="title"/>
          </p:nvPr>
        </p:nvSpPr>
        <p:spPr>
          <a:xfrm>
            <a:off x="196515" y="105225"/>
            <a:ext cx="11819021" cy="696882"/>
          </a:xfrm>
        </p:spPr>
        <p:txBody>
          <a:bodyPr>
            <a:normAutofit fontScale="90000"/>
          </a:bodyPr>
          <a:lstStyle/>
          <a:p>
            <a:r>
              <a:rPr lang="mn-MN" b="1" dirty="0">
                <a:solidFill>
                  <a:srgbClr val="002060"/>
                </a:solidFill>
                <a:latin typeface="Times New Roman" panose="02020603050405020304" pitchFamily="18" charset="0"/>
                <a:cs typeface="Times New Roman" panose="02020603050405020304" pitchFamily="18" charset="0"/>
              </a:rPr>
              <a:t>Хичээлийн суралцахуйн үр дүнгүүд </a:t>
            </a:r>
            <a:br>
              <a:rPr lang="mn-MN" b="1" dirty="0">
                <a:solidFill>
                  <a:srgbClr val="002060"/>
                </a:solidFill>
                <a:latin typeface="Times New Roman" panose="02020603050405020304" pitchFamily="18" charset="0"/>
                <a:cs typeface="Times New Roman" panose="02020603050405020304" pitchFamily="18" charset="0"/>
              </a:rPr>
            </a:br>
            <a:r>
              <a:rPr lang="mn-MN" sz="2700" b="1" dirty="0">
                <a:solidFill>
                  <a:srgbClr val="002060"/>
                </a:solidFill>
                <a:latin typeface="Times New Roman" panose="02020603050405020304" pitchFamily="18" charset="0"/>
                <a:cs typeface="Times New Roman" panose="02020603050405020304" pitchFamily="18" charset="0"/>
              </a:rPr>
              <a:t>Оюутан энэ сэдвийг судалснаар дараах ур чадваруудтай болсон байна. </a:t>
            </a:r>
            <a:endParaRPr lang="en-US" b="1" dirty="0">
              <a:solidFill>
                <a:srgbClr val="002060"/>
              </a:solidFill>
              <a:latin typeface="Times New Roman" panose="02020603050405020304" pitchFamily="18" charset="0"/>
              <a:cs typeface="Times New Roman" panose="02020603050405020304" pitchFamily="18" charset="0"/>
            </a:endParaRPr>
          </a:p>
        </p:txBody>
      </p:sp>
      <p:graphicFrame>
        <p:nvGraphicFramePr>
          <p:cNvPr id="4" name="Table 4">
            <a:extLst>
              <a:ext uri="{FF2B5EF4-FFF2-40B4-BE49-F238E27FC236}">
                <a16:creationId xmlns:a16="http://schemas.microsoft.com/office/drawing/2014/main" id="{5DFE0557-5EF0-6AAF-FD86-D7A6892F3C29}"/>
              </a:ext>
            </a:extLst>
          </p:cNvPr>
          <p:cNvGraphicFramePr>
            <a:graphicFrameLocks noGrp="1"/>
          </p:cNvGraphicFramePr>
          <p:nvPr>
            <p:ph idx="1"/>
            <p:extLst>
              <p:ext uri="{D42A27DB-BD31-4B8C-83A1-F6EECF244321}">
                <p14:modId xmlns:p14="http://schemas.microsoft.com/office/powerpoint/2010/main" val="3796882284"/>
              </p:ext>
            </p:extLst>
          </p:nvPr>
        </p:nvGraphicFramePr>
        <p:xfrm>
          <a:off x="176464" y="946483"/>
          <a:ext cx="11819021" cy="5868183"/>
        </p:xfrm>
        <a:graphic>
          <a:graphicData uri="http://schemas.openxmlformats.org/drawingml/2006/table">
            <a:tbl>
              <a:tblPr firstRow="1" bandRow="1">
                <a:tableStyleId>{5C22544A-7EE6-4342-B048-85BDC9FD1C3A}</a:tableStyleId>
              </a:tblPr>
              <a:tblGrid>
                <a:gridCol w="730160">
                  <a:extLst>
                    <a:ext uri="{9D8B030D-6E8A-4147-A177-3AD203B41FA5}">
                      <a16:colId xmlns:a16="http://schemas.microsoft.com/office/drawing/2014/main" val="78146492"/>
                    </a:ext>
                  </a:extLst>
                </a:gridCol>
                <a:gridCol w="5055862">
                  <a:extLst>
                    <a:ext uri="{9D8B030D-6E8A-4147-A177-3AD203B41FA5}">
                      <a16:colId xmlns:a16="http://schemas.microsoft.com/office/drawing/2014/main" val="2993372031"/>
                    </a:ext>
                  </a:extLst>
                </a:gridCol>
                <a:gridCol w="2626067">
                  <a:extLst>
                    <a:ext uri="{9D8B030D-6E8A-4147-A177-3AD203B41FA5}">
                      <a16:colId xmlns:a16="http://schemas.microsoft.com/office/drawing/2014/main" val="3377302877"/>
                    </a:ext>
                  </a:extLst>
                </a:gridCol>
                <a:gridCol w="2107740">
                  <a:extLst>
                    <a:ext uri="{9D8B030D-6E8A-4147-A177-3AD203B41FA5}">
                      <a16:colId xmlns:a16="http://schemas.microsoft.com/office/drawing/2014/main" val="574671118"/>
                    </a:ext>
                  </a:extLst>
                </a:gridCol>
                <a:gridCol w="1299192">
                  <a:extLst>
                    <a:ext uri="{9D8B030D-6E8A-4147-A177-3AD203B41FA5}">
                      <a16:colId xmlns:a16="http://schemas.microsoft.com/office/drawing/2014/main" val="1155244748"/>
                    </a:ext>
                  </a:extLst>
                </a:gridCol>
              </a:tblGrid>
              <a:tr h="1004516">
                <a:tc>
                  <a:txBody>
                    <a:bodyPr/>
                    <a:lstStyle/>
                    <a:p>
                      <a:pPr algn="just">
                        <a:lnSpc>
                          <a:spcPct val="115000"/>
                        </a:lnSpc>
                        <a:spcAft>
                          <a:spcPts val="0"/>
                        </a:spcAft>
                      </a:pPr>
                      <a:r>
                        <a:rPr lang="mn-MN" sz="2000" b="1"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д/д</a:t>
                      </a:r>
                      <a:endParaRPr lang="en-US" sz="20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nchor="ctr">
                    <a:solidFill>
                      <a:schemeClr val="accent1">
                        <a:lumMod val="20000"/>
                        <a:lumOff val="80000"/>
                      </a:schemeClr>
                    </a:solidFill>
                  </a:tcPr>
                </a:tc>
                <a:tc>
                  <a:txBody>
                    <a:bodyPr/>
                    <a:lstStyle/>
                    <a:p>
                      <a:pPr algn="just">
                        <a:lnSpc>
                          <a:spcPct val="115000"/>
                        </a:lnSpc>
                        <a:spcAft>
                          <a:spcPts val="0"/>
                        </a:spcAft>
                      </a:pPr>
                      <a:r>
                        <a:rPr lang="mn-MN" sz="2000" b="1"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Суралцахуйн үр дүнгүүд</a:t>
                      </a:r>
                      <a:endParaRPr lang="en-US" sz="20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nchor="ctr">
                    <a:solidFill>
                      <a:schemeClr val="accent1">
                        <a:lumMod val="20000"/>
                        <a:lumOff val="80000"/>
                      </a:schemeClr>
                    </a:solidFill>
                  </a:tcPr>
                </a:tc>
                <a:tc>
                  <a:txBody>
                    <a:bodyPr/>
                    <a:lstStyle/>
                    <a:p>
                      <a:pPr algn="just">
                        <a:lnSpc>
                          <a:spcPct val="115000"/>
                        </a:lnSpc>
                        <a:spcAft>
                          <a:spcPts val="0"/>
                        </a:spcAft>
                      </a:pPr>
                      <a:r>
                        <a:rPr lang="mn-MN" sz="2000" b="1"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Суралцахуйн үр дүнг илэрхийлэх үйл үг</a:t>
                      </a:r>
                      <a:endParaRPr lang="en-US" sz="20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nchor="ctr">
                    <a:solidFill>
                      <a:schemeClr val="accent1">
                        <a:lumMod val="20000"/>
                        <a:lumOff val="80000"/>
                      </a:schemeClr>
                    </a:solidFill>
                  </a:tcPr>
                </a:tc>
                <a:tc>
                  <a:txBody>
                    <a:bodyPr/>
                    <a:lstStyle/>
                    <a:p>
                      <a:pPr algn="just">
                        <a:lnSpc>
                          <a:spcPct val="115000"/>
                        </a:lnSpc>
                        <a:spcAft>
                          <a:spcPts val="0"/>
                        </a:spcAft>
                      </a:pPr>
                      <a:r>
                        <a:rPr lang="mn-MN" sz="2000" b="1"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Суралцахуйн үр дүнгийн түвшин</a:t>
                      </a:r>
                      <a:endParaRPr lang="en-US" sz="20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p>
                      <a:pPr algn="just">
                        <a:lnSpc>
                          <a:spcPct val="115000"/>
                        </a:lnSpc>
                        <a:spcAft>
                          <a:spcPts val="0"/>
                        </a:spcAft>
                      </a:pPr>
                      <a:r>
                        <a:rPr lang="en-US" sz="2000" b="1"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a:t>
                      </a:r>
                      <a:r>
                        <a:rPr lang="mn-MN" sz="2000" b="1"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Блумын</a:t>
                      </a:r>
                      <a:r>
                        <a:rPr lang="en-US" sz="2000" b="1"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a:t>
                      </a:r>
                      <a:endParaRPr lang="en-US" sz="20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solidFill>
                      <a:schemeClr val="accent1">
                        <a:lumMod val="20000"/>
                        <a:lumOff val="80000"/>
                      </a:schemeClr>
                    </a:solidFill>
                  </a:tcPr>
                </a:tc>
                <a:tc>
                  <a:txBody>
                    <a:bodyPr/>
                    <a:lstStyle/>
                    <a:p>
                      <a:pPr algn="just">
                        <a:lnSpc>
                          <a:spcPct val="115000"/>
                        </a:lnSpc>
                        <a:spcAft>
                          <a:spcPts val="0"/>
                        </a:spcAft>
                      </a:pPr>
                      <a:r>
                        <a:rPr lang="en-US" sz="2000" b="1"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CLOs</a:t>
                      </a:r>
                      <a:r>
                        <a:rPr lang="mn-MN" sz="2000" b="1"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 хамаарал</a:t>
                      </a:r>
                      <a:endParaRPr lang="en-US" sz="20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nchor="ctr">
                    <a:solidFill>
                      <a:schemeClr val="accent1">
                        <a:lumMod val="20000"/>
                        <a:lumOff val="80000"/>
                      </a:schemeClr>
                    </a:solidFill>
                  </a:tcPr>
                </a:tc>
                <a:extLst>
                  <a:ext uri="{0D108BD9-81ED-4DB2-BD59-A6C34878D82A}">
                    <a16:rowId xmlns:a16="http://schemas.microsoft.com/office/drawing/2014/main" val="2494423415"/>
                  </a:ext>
                </a:extLst>
              </a:tr>
              <a:tr h="1077001">
                <a:tc>
                  <a:txBody>
                    <a:bodyPr/>
                    <a:lstStyle/>
                    <a:p>
                      <a:pPr algn="ctr">
                        <a:lnSpc>
                          <a:spcPct val="115000"/>
                        </a:lnSpc>
                        <a:spcAft>
                          <a:spcPts val="0"/>
                        </a:spcAft>
                      </a:pPr>
                      <a:r>
                        <a:rPr lang="en-US" sz="24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1</a:t>
                      </a:r>
                    </a:p>
                  </a:txBody>
                  <a:tcPr marL="68586" marR="68586" marT="0" marB="0" anchor="ctr">
                    <a:solidFill>
                      <a:schemeClr val="accent1">
                        <a:lumMod val="20000"/>
                        <a:lumOff val="80000"/>
                      </a:schemeClr>
                    </a:solid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mn-MN" sz="2400" dirty="0">
                          <a:solidFill>
                            <a:srgbClr val="002060"/>
                          </a:solidFill>
                          <a:latin typeface="Times New Roman" panose="02020603050405020304" pitchFamily="18" charset="0"/>
                          <a:cs typeface="Times New Roman" panose="02020603050405020304" pitchFamily="18" charset="0"/>
                        </a:rPr>
                        <a:t>Үйлдвэрлэлийн тухай үндсэн ойлголтуудыг ойлгох, </a:t>
                      </a:r>
                      <a:r>
                        <a:rPr lang="mn-MN" altLang="en-US" sz="2400" kern="1200" dirty="0">
                          <a:solidFill>
                            <a:srgbClr val="002060"/>
                          </a:solidFill>
                          <a:latin typeface="Times New Roman" panose="02020603050405020304" pitchFamily="18" charset="0"/>
                          <a:ea typeface="+mn-ea"/>
                          <a:cs typeface="Times New Roman" panose="02020603050405020304" pitchFamily="18" charset="0"/>
                        </a:rPr>
                        <a:t>тайлбарлах, хэрэглэх. </a:t>
                      </a:r>
                      <a:endParaRPr lang="en-US" sz="2400" kern="1200" dirty="0">
                        <a:solidFill>
                          <a:srgbClr val="002060"/>
                        </a:solidFill>
                        <a:latin typeface="Times New Roman" panose="02020603050405020304" pitchFamily="18" charset="0"/>
                        <a:ea typeface="+mn-ea"/>
                        <a:cs typeface="Times New Roman" panose="02020603050405020304" pitchFamily="18" charset="0"/>
                      </a:endParaRPr>
                    </a:p>
                  </a:txBody>
                  <a:tcPr marL="68586" marR="68586" marT="0" marB="0" anchor="ctr">
                    <a:solidFill>
                      <a:schemeClr val="accent1">
                        <a:lumMod val="20000"/>
                        <a:lumOff val="80000"/>
                      </a:schemeClr>
                    </a:solidFill>
                  </a:tcPr>
                </a:tc>
                <a:tc>
                  <a:txBody>
                    <a:bodyPr/>
                    <a:lstStyle/>
                    <a:p>
                      <a:pPr algn="just">
                        <a:lnSpc>
                          <a:spcPct val="115000"/>
                        </a:lnSpc>
                        <a:spcAft>
                          <a:spcPts val="0"/>
                        </a:spcAft>
                      </a:pPr>
                      <a:r>
                        <a:rPr lang="mn-MN" sz="2400" kern="12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Хэрэглэх</a:t>
                      </a:r>
                      <a:endParaRPr lang="en-US" sz="2400" kern="12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p>
                      <a:pPr algn="just">
                        <a:lnSpc>
                          <a:spcPct val="115000"/>
                        </a:lnSpc>
                        <a:spcAft>
                          <a:spcPts val="0"/>
                        </a:spcAft>
                      </a:pPr>
                      <a:r>
                        <a:rPr lang="en-US" sz="2400" kern="12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(Apply)</a:t>
                      </a:r>
                    </a:p>
                  </a:txBody>
                  <a:tcPr marL="68586" marR="68586" marT="0" marB="0" anchor="ctr">
                    <a:solidFill>
                      <a:schemeClr val="accent1">
                        <a:lumMod val="20000"/>
                        <a:lumOff val="80000"/>
                      </a:schemeClr>
                    </a:solidFill>
                  </a:tcPr>
                </a:tc>
                <a:tc>
                  <a:txBody>
                    <a:bodyPr/>
                    <a:lstStyle/>
                    <a:p>
                      <a:pPr algn="just">
                        <a:lnSpc>
                          <a:spcPct val="115000"/>
                        </a:lnSpc>
                        <a:spcAft>
                          <a:spcPts val="0"/>
                        </a:spcAft>
                      </a:pPr>
                      <a:r>
                        <a:rPr lang="mn-MN" sz="2400" kern="12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Хэрэглэх</a:t>
                      </a:r>
                      <a:r>
                        <a:rPr lang="en-US" sz="2400" kern="12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 </a:t>
                      </a:r>
                    </a:p>
                  </a:txBody>
                  <a:tcPr marL="68586" marR="68586" marT="0" marB="0" anchor="ctr">
                    <a:solidFill>
                      <a:schemeClr val="accent1">
                        <a:lumMod val="20000"/>
                        <a:lumOff val="80000"/>
                      </a:schemeClr>
                    </a:solidFill>
                  </a:tcPr>
                </a:tc>
                <a:tc>
                  <a:txBody>
                    <a:bodyPr/>
                    <a:lstStyle/>
                    <a:p>
                      <a:pPr algn="just">
                        <a:lnSpc>
                          <a:spcPct val="115000"/>
                        </a:lnSpc>
                        <a:spcAft>
                          <a:spcPts val="0"/>
                        </a:spcAft>
                      </a:pPr>
                      <a:r>
                        <a:rPr lang="mn-MN" sz="2400" kern="12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1, 3</a:t>
                      </a:r>
                      <a:endParaRPr lang="en-US" sz="2400" kern="12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nchor="ctr">
                    <a:solidFill>
                      <a:schemeClr val="accent1">
                        <a:lumMod val="20000"/>
                        <a:lumOff val="80000"/>
                      </a:schemeClr>
                    </a:solidFill>
                  </a:tcPr>
                </a:tc>
                <a:extLst>
                  <a:ext uri="{0D108BD9-81ED-4DB2-BD59-A6C34878D82A}">
                    <a16:rowId xmlns:a16="http://schemas.microsoft.com/office/drawing/2014/main" val="3954028067"/>
                  </a:ext>
                </a:extLst>
              </a:tr>
              <a:tr h="1330533">
                <a:tc>
                  <a:txBody>
                    <a:bodyPr/>
                    <a:lstStyle/>
                    <a:p>
                      <a:pPr algn="ctr">
                        <a:lnSpc>
                          <a:spcPct val="115000"/>
                        </a:lnSpc>
                        <a:spcAft>
                          <a:spcPts val="0"/>
                        </a:spcAft>
                      </a:pPr>
                      <a:r>
                        <a:rPr lang="en-US" sz="24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2</a:t>
                      </a:r>
                    </a:p>
                  </a:txBody>
                  <a:tcPr marL="68586" marR="68586" marT="0" marB="0" anchor="ctr">
                    <a:solidFill>
                      <a:schemeClr val="accent1">
                        <a:lumMod val="20000"/>
                        <a:lumOff val="80000"/>
                      </a:schemeClr>
                    </a:solidFill>
                  </a:tcPr>
                </a:tc>
                <a:tc>
                  <a:txBody>
                    <a:bodyPr/>
                    <a:lstStyle/>
                    <a:p>
                      <a:pPr marL="0" marR="0" lvl="0" indent="0" algn="just" defTabSz="914400" rtl="0" eaLnBrk="1" fontAlgn="auto" latinLnBrk="0" hangingPunct="1">
                        <a:lnSpc>
                          <a:spcPct val="115000"/>
                        </a:lnSpc>
                        <a:spcBef>
                          <a:spcPts val="0"/>
                        </a:spcBef>
                        <a:spcAft>
                          <a:spcPts val="0"/>
                        </a:spcAft>
                        <a:buClrTx/>
                        <a:buSzTx/>
                        <a:buFontTx/>
                        <a:buNone/>
                        <a:tabLst/>
                        <a:defRPr/>
                      </a:pPr>
                      <a:r>
                        <a:rPr lang="mn-MN" sz="2400" dirty="0">
                          <a:solidFill>
                            <a:srgbClr val="002060"/>
                          </a:solidFill>
                          <a:latin typeface="Times New Roman" panose="02020603050405020304" pitchFamily="18" charset="0"/>
                          <a:cs typeface="Times New Roman" panose="02020603050405020304" pitchFamily="18" charset="0"/>
                        </a:rPr>
                        <a:t>Үйлдвэрлэлийн хүчин чадлын төрөл, үзүүлэлтүүдийг ойлгох, </a:t>
                      </a:r>
                      <a:r>
                        <a:rPr lang="mn-MN" altLang="en-US" sz="2400" kern="1200" dirty="0">
                          <a:solidFill>
                            <a:srgbClr val="002060"/>
                          </a:solidFill>
                          <a:latin typeface="Times New Roman" panose="02020603050405020304" pitchFamily="18" charset="0"/>
                          <a:ea typeface="+mn-ea"/>
                          <a:cs typeface="Times New Roman" panose="02020603050405020304" pitchFamily="18" charset="0"/>
                        </a:rPr>
                        <a:t>тайлбарлах, тооцоолох. </a:t>
                      </a:r>
                      <a:endParaRPr lang="en-US" sz="2400" kern="1200" dirty="0">
                        <a:solidFill>
                          <a:srgbClr val="002060"/>
                        </a:solidFill>
                        <a:latin typeface="Times New Roman" panose="02020603050405020304" pitchFamily="18" charset="0"/>
                        <a:ea typeface="+mn-ea"/>
                        <a:cs typeface="Times New Roman" panose="02020603050405020304" pitchFamily="18" charset="0"/>
                      </a:endParaRPr>
                    </a:p>
                  </a:txBody>
                  <a:tcPr marL="68586" marR="68586" marT="0" marB="0" anchor="ctr">
                    <a:solidFill>
                      <a:schemeClr val="accent1">
                        <a:lumMod val="20000"/>
                        <a:lumOff val="80000"/>
                      </a:schemeClr>
                    </a:solidFill>
                  </a:tcPr>
                </a:tc>
                <a:tc>
                  <a:txBody>
                    <a:bodyPr/>
                    <a:lstStyle/>
                    <a:p>
                      <a:pPr algn="just">
                        <a:lnSpc>
                          <a:spcPct val="115000"/>
                        </a:lnSpc>
                        <a:spcAft>
                          <a:spcPts val="0"/>
                        </a:spcAft>
                      </a:pPr>
                      <a:r>
                        <a:rPr lang="mn-MN" sz="2400" kern="12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Тооцоолох</a:t>
                      </a:r>
                      <a:endParaRPr lang="en-US" sz="2400" kern="12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p>
                      <a:pPr algn="just">
                        <a:lnSpc>
                          <a:spcPct val="115000"/>
                        </a:lnSpc>
                        <a:spcAft>
                          <a:spcPts val="0"/>
                        </a:spcAft>
                      </a:pPr>
                      <a:r>
                        <a:rPr lang="en-US" sz="2400" kern="12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(Compute)</a:t>
                      </a:r>
                    </a:p>
                  </a:txBody>
                  <a:tcPr marL="68586" marR="68586" marT="0" marB="0" anchor="ctr">
                    <a:solidFill>
                      <a:schemeClr val="accent1">
                        <a:lumMod val="20000"/>
                        <a:lumOff val="80000"/>
                      </a:schemeClr>
                    </a:solidFill>
                  </a:tcPr>
                </a:tc>
                <a:tc>
                  <a:txBody>
                    <a:bodyPr/>
                    <a:lstStyle/>
                    <a:p>
                      <a:pPr algn="just">
                        <a:lnSpc>
                          <a:spcPct val="115000"/>
                        </a:lnSpc>
                        <a:spcAft>
                          <a:spcPts val="0"/>
                        </a:spcAft>
                      </a:pPr>
                      <a:r>
                        <a:rPr lang="mn-MN" sz="2400" kern="12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Хэрэглэх </a:t>
                      </a:r>
                      <a:endParaRPr lang="en-US" sz="2400" kern="12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nchor="ctr">
                    <a:solidFill>
                      <a:schemeClr val="accent1">
                        <a:lumMod val="20000"/>
                        <a:lumOff val="80000"/>
                      </a:schemeClr>
                    </a:solidFill>
                  </a:tcPr>
                </a:tc>
                <a:tc>
                  <a:txBody>
                    <a:bodyPr/>
                    <a:lstStyle/>
                    <a:p>
                      <a:pPr marL="0" marR="0" lvl="0" indent="0" algn="just" defTabSz="914400" rtl="0" eaLnBrk="1" fontAlgn="auto" latinLnBrk="0" hangingPunct="1">
                        <a:lnSpc>
                          <a:spcPct val="115000"/>
                        </a:lnSpc>
                        <a:spcBef>
                          <a:spcPts val="0"/>
                        </a:spcBef>
                        <a:spcAft>
                          <a:spcPts val="0"/>
                        </a:spcAft>
                        <a:buClrTx/>
                        <a:buSzTx/>
                        <a:buFontTx/>
                        <a:buNone/>
                        <a:tabLst/>
                        <a:defRPr/>
                      </a:pPr>
                      <a:r>
                        <a:rPr lang="mn-MN" sz="2400" kern="12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1, 3</a:t>
                      </a:r>
                      <a:endParaRPr lang="en-US" sz="2400" kern="12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nchor="ctr">
                    <a:solidFill>
                      <a:schemeClr val="accent1">
                        <a:lumMod val="20000"/>
                        <a:lumOff val="80000"/>
                      </a:schemeClr>
                    </a:solidFill>
                  </a:tcPr>
                </a:tc>
                <a:extLst>
                  <a:ext uri="{0D108BD9-81ED-4DB2-BD59-A6C34878D82A}">
                    <a16:rowId xmlns:a16="http://schemas.microsoft.com/office/drawing/2014/main" val="1491289944"/>
                  </a:ext>
                </a:extLst>
              </a:tr>
              <a:tr h="1188786">
                <a:tc>
                  <a:txBody>
                    <a:bodyPr/>
                    <a:lstStyle/>
                    <a:p>
                      <a:pPr algn="ctr">
                        <a:lnSpc>
                          <a:spcPct val="115000"/>
                        </a:lnSpc>
                        <a:spcAft>
                          <a:spcPts val="0"/>
                        </a:spcAft>
                      </a:pPr>
                      <a:r>
                        <a:rPr lang="mn-MN" sz="24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3</a:t>
                      </a:r>
                      <a:endParaRPr lang="en-US" sz="24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nchor="ctr">
                    <a:solidFill>
                      <a:schemeClr val="accent1">
                        <a:lumMod val="20000"/>
                        <a:lumOff val="80000"/>
                      </a:schemeClr>
                    </a:solid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mn-MN" sz="2400" dirty="0">
                          <a:solidFill>
                            <a:srgbClr val="002060"/>
                          </a:solidFill>
                          <a:latin typeface="Times New Roman" panose="02020603050405020304" pitchFamily="18" charset="0"/>
                          <a:cs typeface="Times New Roman" panose="02020603050405020304" pitchFamily="18" charset="0"/>
                        </a:rPr>
                        <a:t>Үйлдвэрлэлийн хүчин чадалд нөлөөлөх хүчин зүйлсийг ойлгох </a:t>
                      </a:r>
                      <a:r>
                        <a:rPr lang="mn-MN" altLang="en-US" sz="2400" dirty="0">
                          <a:solidFill>
                            <a:srgbClr val="002060"/>
                          </a:solidFill>
                          <a:latin typeface="Times New Roman" panose="02020603050405020304" pitchFamily="18" charset="0"/>
                          <a:cs typeface="Times New Roman" panose="02020603050405020304" pitchFamily="18" charset="0"/>
                        </a:rPr>
                        <a:t>тайлбарлах, хэрэглэх, тооцоолох. </a:t>
                      </a:r>
                      <a:endParaRPr lang="en-US" sz="24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solidFill>
                      <a:schemeClr val="accent1">
                        <a:lumMod val="20000"/>
                        <a:lumOff val="80000"/>
                      </a:schemeClr>
                    </a:solidFill>
                  </a:tcPr>
                </a:tc>
                <a:tc>
                  <a:txBody>
                    <a:bodyPr/>
                    <a:lstStyle/>
                    <a:p>
                      <a:pPr algn="just">
                        <a:lnSpc>
                          <a:spcPct val="115000"/>
                        </a:lnSpc>
                        <a:spcAft>
                          <a:spcPts val="0"/>
                        </a:spcAft>
                      </a:pPr>
                      <a:r>
                        <a:rPr lang="mn-MN" sz="24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Тооцоолох </a:t>
                      </a:r>
                      <a:endParaRPr lang="en-US" sz="24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p>
                      <a:pPr algn="just">
                        <a:lnSpc>
                          <a:spcPct val="115000"/>
                        </a:lnSpc>
                        <a:spcAft>
                          <a:spcPts val="0"/>
                        </a:spcAft>
                      </a:pPr>
                      <a:r>
                        <a:rPr lang="en-US" sz="24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(Compute)</a:t>
                      </a:r>
                    </a:p>
                  </a:txBody>
                  <a:tcPr marL="68586" marR="68586" marT="0" marB="0" anchor="ctr">
                    <a:solidFill>
                      <a:schemeClr val="accent1">
                        <a:lumMod val="20000"/>
                        <a:lumOff val="80000"/>
                      </a:schemeClr>
                    </a:solidFill>
                  </a:tcPr>
                </a:tc>
                <a:tc>
                  <a:txBody>
                    <a:bodyPr/>
                    <a:lstStyle/>
                    <a:p>
                      <a:pPr algn="just">
                        <a:lnSpc>
                          <a:spcPct val="115000"/>
                        </a:lnSpc>
                        <a:spcAft>
                          <a:spcPts val="0"/>
                        </a:spcAft>
                      </a:pPr>
                      <a:r>
                        <a:rPr lang="mn-MN" sz="24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Шинжлэх</a:t>
                      </a:r>
                      <a:r>
                        <a:rPr lang="en-US" sz="24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 </a:t>
                      </a:r>
                    </a:p>
                  </a:txBody>
                  <a:tcPr marL="68586" marR="68586" marT="0" marB="0" anchor="ctr">
                    <a:solidFill>
                      <a:schemeClr val="accent1">
                        <a:lumMod val="20000"/>
                        <a:lumOff val="80000"/>
                      </a:schemeClr>
                    </a:solidFill>
                  </a:tcPr>
                </a:tc>
                <a:tc>
                  <a:txBody>
                    <a:bodyPr/>
                    <a:lstStyle/>
                    <a:p>
                      <a:pPr algn="just">
                        <a:lnSpc>
                          <a:spcPct val="115000"/>
                        </a:lnSpc>
                        <a:spcAft>
                          <a:spcPts val="0"/>
                        </a:spcAft>
                      </a:pPr>
                      <a:r>
                        <a:rPr lang="mn-MN" sz="24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1, </a:t>
                      </a:r>
                      <a:r>
                        <a:rPr lang="en-US" sz="24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3</a:t>
                      </a:r>
                    </a:p>
                  </a:txBody>
                  <a:tcPr marL="68586" marR="68586" marT="0" marB="0" anchor="ctr">
                    <a:solidFill>
                      <a:schemeClr val="accent1">
                        <a:lumMod val="20000"/>
                        <a:lumOff val="80000"/>
                      </a:schemeClr>
                    </a:solidFill>
                  </a:tcPr>
                </a:tc>
                <a:extLst>
                  <a:ext uri="{0D108BD9-81ED-4DB2-BD59-A6C34878D82A}">
                    <a16:rowId xmlns:a16="http://schemas.microsoft.com/office/drawing/2014/main" val="3810878109"/>
                  </a:ext>
                </a:extLst>
              </a:tr>
              <a:tr h="1205456">
                <a:tc>
                  <a:txBody>
                    <a:bodyPr/>
                    <a:lstStyle/>
                    <a:p>
                      <a:pPr algn="ctr">
                        <a:lnSpc>
                          <a:spcPct val="115000"/>
                        </a:lnSpc>
                        <a:spcAft>
                          <a:spcPts val="0"/>
                        </a:spcAft>
                      </a:pPr>
                      <a:r>
                        <a:rPr lang="mn-MN" sz="24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4</a:t>
                      </a:r>
                      <a:endParaRPr lang="en-US" sz="24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nchor="ctr">
                    <a:solidFill>
                      <a:schemeClr val="accent1">
                        <a:lumMod val="20000"/>
                        <a:lumOff val="80000"/>
                      </a:schemeClr>
                    </a:solidFill>
                  </a:tcPr>
                </a:tc>
                <a:tc>
                  <a:txBody>
                    <a:bodyPr/>
                    <a:lstStyle/>
                    <a:p>
                      <a:pPr marL="0" marR="0" lvl="0" indent="0" algn="just" defTabSz="914400" rtl="0" eaLnBrk="1" fontAlgn="auto" latinLnBrk="0" hangingPunct="1">
                        <a:lnSpc>
                          <a:spcPct val="115000"/>
                        </a:lnSpc>
                        <a:spcBef>
                          <a:spcPts val="0"/>
                        </a:spcBef>
                        <a:spcAft>
                          <a:spcPts val="0"/>
                        </a:spcAft>
                        <a:buClrTx/>
                        <a:buSzTx/>
                        <a:buFontTx/>
                        <a:buNone/>
                        <a:tabLst/>
                        <a:defRPr/>
                      </a:pPr>
                      <a:r>
                        <a:rPr lang="mn-MN" sz="2400" dirty="0">
                          <a:solidFill>
                            <a:srgbClr val="002060"/>
                          </a:solidFill>
                          <a:latin typeface="Times New Roman" panose="02020603050405020304" pitchFamily="18" charset="0"/>
                          <a:cs typeface="Times New Roman" panose="02020603050405020304" pitchFamily="18" charset="0"/>
                        </a:rPr>
                        <a:t>Үйлдвэрлэлийн хүчин чадлыг төлөвлөх аргуудыг ойлгох, тайлбарлах, </a:t>
                      </a:r>
                      <a:r>
                        <a:rPr lang="mn-MN" altLang="en-US" sz="2400" dirty="0">
                          <a:solidFill>
                            <a:srgbClr val="002060"/>
                          </a:solidFill>
                          <a:latin typeface="Times New Roman" panose="02020603050405020304" pitchFamily="18" charset="0"/>
                          <a:cs typeface="Times New Roman" panose="02020603050405020304" pitchFamily="18" charset="0"/>
                        </a:rPr>
                        <a:t>хэрэглэх</a:t>
                      </a:r>
                      <a:endParaRPr lang="en-US" sz="24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solidFill>
                      <a:schemeClr val="accent1">
                        <a:lumMod val="20000"/>
                        <a:lumOff val="80000"/>
                      </a:schemeClr>
                    </a:solidFill>
                  </a:tcPr>
                </a:tc>
                <a:tc>
                  <a:txBody>
                    <a:bodyPr/>
                    <a:lstStyle/>
                    <a:p>
                      <a:pPr algn="just">
                        <a:lnSpc>
                          <a:spcPct val="115000"/>
                        </a:lnSpc>
                        <a:spcAft>
                          <a:spcPts val="0"/>
                        </a:spcAft>
                      </a:pPr>
                      <a:r>
                        <a:rPr lang="mn-MN" sz="2400" kern="12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Хэрэглэх</a:t>
                      </a:r>
                      <a:endParaRPr lang="en-US" sz="2400" kern="12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p>
                      <a:pPr algn="just">
                        <a:lnSpc>
                          <a:spcPct val="115000"/>
                        </a:lnSpc>
                        <a:spcAft>
                          <a:spcPts val="0"/>
                        </a:spcAft>
                      </a:pPr>
                      <a:r>
                        <a:rPr lang="en-US" sz="2400" kern="12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(Apply)</a:t>
                      </a:r>
                    </a:p>
                  </a:txBody>
                  <a:tcPr marL="68586" marR="68586" marT="0" marB="0" anchor="ctr">
                    <a:solidFill>
                      <a:schemeClr val="accent1">
                        <a:lumMod val="20000"/>
                        <a:lumOff val="80000"/>
                      </a:schemeClr>
                    </a:solidFill>
                  </a:tcPr>
                </a:tc>
                <a:tc>
                  <a:txBody>
                    <a:bodyPr/>
                    <a:lstStyle/>
                    <a:p>
                      <a:pPr algn="just">
                        <a:lnSpc>
                          <a:spcPct val="115000"/>
                        </a:lnSpc>
                        <a:spcAft>
                          <a:spcPts val="0"/>
                        </a:spcAft>
                      </a:pPr>
                      <a:r>
                        <a:rPr lang="mn-MN" sz="2400" kern="12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Хэрэглэх</a:t>
                      </a:r>
                      <a:r>
                        <a:rPr lang="mn-MN" sz="24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 </a:t>
                      </a:r>
                      <a:endParaRPr lang="en-US" sz="24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nchor="ctr">
                    <a:solidFill>
                      <a:schemeClr val="accent1">
                        <a:lumMod val="20000"/>
                        <a:lumOff val="80000"/>
                      </a:schemeClr>
                    </a:solidFill>
                  </a:tcPr>
                </a:tc>
                <a:tc>
                  <a:txBody>
                    <a:bodyPr/>
                    <a:lstStyle/>
                    <a:p>
                      <a:pPr algn="just">
                        <a:lnSpc>
                          <a:spcPct val="115000"/>
                        </a:lnSpc>
                        <a:spcAft>
                          <a:spcPts val="0"/>
                        </a:spcAft>
                      </a:pPr>
                      <a:r>
                        <a:rPr lang="mn-MN" sz="24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1, 3</a:t>
                      </a:r>
                      <a:endParaRPr lang="en-US" sz="24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nchor="ctr">
                    <a:solidFill>
                      <a:schemeClr val="accent1">
                        <a:lumMod val="20000"/>
                        <a:lumOff val="80000"/>
                      </a:schemeClr>
                    </a:solidFill>
                  </a:tcPr>
                </a:tc>
                <a:extLst>
                  <a:ext uri="{0D108BD9-81ED-4DB2-BD59-A6C34878D82A}">
                    <a16:rowId xmlns:a16="http://schemas.microsoft.com/office/drawing/2014/main" val="1746794371"/>
                  </a:ext>
                </a:extLst>
              </a:tr>
            </a:tbl>
          </a:graphicData>
        </a:graphic>
      </p:graphicFrame>
    </p:spTree>
    <p:extLst>
      <p:ext uri="{BB962C8B-B14F-4D97-AF65-F5344CB8AC3E}">
        <p14:creationId xmlns:p14="http://schemas.microsoft.com/office/powerpoint/2010/main" val="27583204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0" name="Picture 6" descr="What is Capacity Planning? (Strategies, Process, and Best Practices)">
            <a:extLst>
              <a:ext uri="{FF2B5EF4-FFF2-40B4-BE49-F238E27FC236}">
                <a16:creationId xmlns:a16="http://schemas.microsoft.com/office/drawing/2014/main" id="{9ECD6119-AA13-46BE-4B5F-AD6E834ADB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72064" y="0"/>
            <a:ext cx="6175557" cy="345872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Production Planning">
            <a:extLst>
              <a:ext uri="{FF2B5EF4-FFF2-40B4-BE49-F238E27FC236}">
                <a16:creationId xmlns:a16="http://schemas.microsoft.com/office/drawing/2014/main" id="{995B8122-D3DF-7C27-5863-D3C19548B5A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1778" r="11778"/>
          <a:stretch/>
        </p:blipFill>
        <p:spPr bwMode="auto">
          <a:xfrm>
            <a:off x="6108457" y="3410597"/>
            <a:ext cx="5939164" cy="325874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18284979-432A-FF79-CEB4-02905EE440F1}"/>
              </a:ext>
            </a:extLst>
          </p:cNvPr>
          <p:cNvSpPr>
            <a:spLocks noGrp="1"/>
          </p:cNvSpPr>
          <p:nvPr>
            <p:ph type="title"/>
          </p:nvPr>
        </p:nvSpPr>
        <p:spPr>
          <a:xfrm>
            <a:off x="144378" y="140536"/>
            <a:ext cx="11209421" cy="581360"/>
          </a:xfrm>
        </p:spPr>
        <p:txBody>
          <a:bodyPr>
            <a:normAutofit fontScale="90000"/>
          </a:bodyPr>
          <a:lstStyle/>
          <a:p>
            <a:r>
              <a:rPr lang="mn-MN" sz="4800" b="1" dirty="0">
                <a:solidFill>
                  <a:srgbClr val="002060"/>
                </a:solidFill>
                <a:latin typeface="Times New Roman" panose="02020603050405020304" pitchFamily="18" charset="0"/>
                <a:cs typeface="Times New Roman" panose="02020603050405020304" pitchFamily="18" charset="0"/>
              </a:rPr>
              <a:t>Хичээлийн агуулга </a:t>
            </a:r>
            <a:endParaRPr lang="en-US" sz="4800" b="1"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9314662-AB2C-97F1-A468-80697FD949D7}"/>
              </a:ext>
            </a:extLst>
          </p:cNvPr>
          <p:cNvSpPr>
            <a:spLocks noGrp="1"/>
          </p:cNvSpPr>
          <p:nvPr>
            <p:ph idx="1"/>
          </p:nvPr>
        </p:nvSpPr>
        <p:spPr>
          <a:xfrm>
            <a:off x="144379" y="721896"/>
            <a:ext cx="5951621" cy="5995568"/>
          </a:xfrm>
        </p:spPr>
        <p:txBody>
          <a:bodyPr>
            <a:normAutofit fontScale="92500" lnSpcReduction="20000"/>
          </a:bodyPr>
          <a:lstStyle/>
          <a:p>
            <a:pPr algn="just">
              <a:lnSpc>
                <a:spcPct val="110000"/>
              </a:lnSpc>
              <a:spcBef>
                <a:spcPts val="200"/>
              </a:spcBef>
            </a:pPr>
            <a:r>
              <a:rPr lang="mn-MN" sz="3600" dirty="0">
                <a:solidFill>
                  <a:srgbClr val="002060"/>
                </a:solidFill>
                <a:latin typeface="Times New Roman" panose="02020603050405020304" pitchFamily="18" charset="0"/>
                <a:cs typeface="Times New Roman" panose="02020603050405020304" pitchFamily="18" charset="0"/>
              </a:rPr>
              <a:t>Үйлдвэрлэлийн тухай ойлголт</a:t>
            </a:r>
          </a:p>
          <a:p>
            <a:pPr algn="just">
              <a:lnSpc>
                <a:spcPct val="110000"/>
              </a:lnSpc>
              <a:spcBef>
                <a:spcPts val="200"/>
              </a:spcBef>
            </a:pPr>
            <a:r>
              <a:rPr lang="mn-MN" sz="3600" dirty="0">
                <a:solidFill>
                  <a:srgbClr val="002060"/>
                </a:solidFill>
                <a:latin typeface="Times New Roman" panose="02020603050405020304" pitchFamily="18" charset="0"/>
                <a:cs typeface="Times New Roman" panose="02020603050405020304" pitchFamily="18" charset="0"/>
              </a:rPr>
              <a:t>Үйлдвэрлэлийн хүчин чадлын</a:t>
            </a:r>
            <a:r>
              <a:rPr lang="en-US" sz="3600" dirty="0">
                <a:solidFill>
                  <a:srgbClr val="002060"/>
                </a:solidFill>
                <a:latin typeface="Times New Roman" panose="02020603050405020304" pitchFamily="18" charset="0"/>
                <a:cs typeface="Times New Roman" panose="02020603050405020304" pitchFamily="18" charset="0"/>
              </a:rPr>
              <a:t> </a:t>
            </a:r>
            <a:r>
              <a:rPr lang="mn-MN" sz="3600" dirty="0">
                <a:solidFill>
                  <a:srgbClr val="002060"/>
                </a:solidFill>
                <a:latin typeface="Times New Roman" panose="02020603050405020304" pitchFamily="18" charset="0"/>
                <a:cs typeface="Times New Roman" panose="02020603050405020304" pitchFamily="18" charset="0"/>
              </a:rPr>
              <a:t>төрөл, үзүүлэлтүүд</a:t>
            </a:r>
          </a:p>
          <a:p>
            <a:pPr lvl="1" algn="just">
              <a:lnSpc>
                <a:spcPct val="110000"/>
              </a:lnSpc>
              <a:spcBef>
                <a:spcPts val="200"/>
              </a:spcBef>
            </a:pPr>
            <a:r>
              <a:rPr lang="mn-MN" sz="3200" dirty="0">
                <a:solidFill>
                  <a:srgbClr val="002060"/>
                </a:solidFill>
                <a:latin typeface="Times New Roman" panose="02020603050405020304" pitchFamily="18" charset="0"/>
                <a:cs typeface="Times New Roman" panose="02020603050405020304" pitchFamily="18" charset="0"/>
              </a:rPr>
              <a:t>Төслийн хүчин чадал</a:t>
            </a:r>
          </a:p>
          <a:p>
            <a:pPr lvl="1" algn="just">
              <a:lnSpc>
                <a:spcPct val="110000"/>
              </a:lnSpc>
              <a:spcBef>
                <a:spcPts val="200"/>
              </a:spcBef>
            </a:pPr>
            <a:r>
              <a:rPr lang="mn-MN" sz="3200" dirty="0">
                <a:solidFill>
                  <a:srgbClr val="002060"/>
                </a:solidFill>
                <a:latin typeface="Times New Roman" panose="02020603050405020304" pitchFamily="18" charset="0"/>
                <a:cs typeface="Times New Roman" panose="02020603050405020304" pitchFamily="18" charset="0"/>
              </a:rPr>
              <a:t>Ашиглалтын хүчин чадал</a:t>
            </a:r>
          </a:p>
          <a:p>
            <a:pPr lvl="1" algn="just">
              <a:lnSpc>
                <a:spcPct val="110000"/>
              </a:lnSpc>
              <a:spcBef>
                <a:spcPts val="200"/>
              </a:spcBef>
            </a:pPr>
            <a:r>
              <a:rPr lang="mn-MN" sz="3200" dirty="0">
                <a:solidFill>
                  <a:srgbClr val="002060"/>
                </a:solidFill>
                <a:latin typeface="Times New Roman" panose="02020603050405020304" pitchFamily="18" charset="0"/>
                <a:cs typeface="Times New Roman" panose="02020603050405020304" pitchFamily="18" charset="0"/>
              </a:rPr>
              <a:t>Бодит хүчин чадал</a:t>
            </a:r>
          </a:p>
          <a:p>
            <a:pPr lvl="1" algn="just">
              <a:lnSpc>
                <a:spcPct val="110000"/>
              </a:lnSpc>
              <a:spcBef>
                <a:spcPts val="200"/>
              </a:spcBef>
            </a:pPr>
            <a:r>
              <a:rPr lang="mn-MN" sz="3200" dirty="0">
                <a:solidFill>
                  <a:srgbClr val="002060"/>
                </a:solidFill>
                <a:latin typeface="Times New Roman" panose="02020603050405020304" pitchFamily="18" charset="0"/>
                <a:cs typeface="Times New Roman" panose="02020603050405020304" pitchFamily="18" charset="0"/>
              </a:rPr>
              <a:t>Ашигт ажиллагааны түвшин</a:t>
            </a:r>
          </a:p>
          <a:p>
            <a:pPr lvl="1" algn="just">
              <a:lnSpc>
                <a:spcPct val="110000"/>
              </a:lnSpc>
              <a:spcBef>
                <a:spcPts val="200"/>
              </a:spcBef>
            </a:pPr>
            <a:r>
              <a:rPr lang="mn-MN" sz="3200" dirty="0">
                <a:solidFill>
                  <a:srgbClr val="002060"/>
                </a:solidFill>
                <a:latin typeface="Times New Roman" panose="02020603050405020304" pitchFamily="18" charset="0"/>
                <a:cs typeface="Times New Roman" panose="02020603050405020304" pitchFamily="18" charset="0"/>
              </a:rPr>
              <a:t>Хүчин чадал ашиглалтын түвшин</a:t>
            </a:r>
          </a:p>
          <a:p>
            <a:pPr algn="just">
              <a:lnSpc>
                <a:spcPct val="110000"/>
              </a:lnSpc>
              <a:spcBef>
                <a:spcPts val="200"/>
              </a:spcBef>
            </a:pPr>
            <a:r>
              <a:rPr lang="mn-MN" sz="3200" dirty="0">
                <a:solidFill>
                  <a:srgbClr val="002060"/>
                </a:solidFill>
                <a:latin typeface="Times New Roman" panose="02020603050405020304" pitchFamily="18" charset="0"/>
                <a:cs typeface="Times New Roman" panose="02020603050405020304" pitchFamily="18" charset="0"/>
              </a:rPr>
              <a:t>Үйлдвэрлэлийн хүчин чадалд нөлөөлөх хүчин зүйлс</a:t>
            </a:r>
          </a:p>
          <a:p>
            <a:pPr algn="just">
              <a:lnSpc>
                <a:spcPct val="110000"/>
              </a:lnSpc>
              <a:spcBef>
                <a:spcPts val="200"/>
              </a:spcBef>
            </a:pPr>
            <a:r>
              <a:rPr lang="mn-MN" sz="3200" dirty="0">
                <a:solidFill>
                  <a:srgbClr val="002060"/>
                </a:solidFill>
                <a:latin typeface="Times New Roman" panose="02020603050405020304" pitchFamily="18" charset="0"/>
                <a:cs typeface="Times New Roman" panose="02020603050405020304" pitchFamily="18" charset="0"/>
              </a:rPr>
              <a:t>Үйлдвэрлэлийн хүчин чадлыг төлөвлөх аргууд</a:t>
            </a:r>
          </a:p>
        </p:txBody>
      </p:sp>
    </p:spTree>
    <p:extLst>
      <p:ext uri="{BB962C8B-B14F-4D97-AF65-F5344CB8AC3E}">
        <p14:creationId xmlns:p14="http://schemas.microsoft.com/office/powerpoint/2010/main" val="23209162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6EB6B51-51C8-0C19-E72E-EB946B0B41C3}"/>
              </a:ext>
            </a:extLst>
          </p:cNvPr>
          <p:cNvSpPr>
            <a:spLocks noGrp="1"/>
          </p:cNvSpPr>
          <p:nvPr>
            <p:ph type="title"/>
          </p:nvPr>
        </p:nvSpPr>
        <p:spPr>
          <a:xfrm>
            <a:off x="180473" y="32829"/>
            <a:ext cx="11786937" cy="733757"/>
          </a:xfrm>
        </p:spPr>
        <p:txBody>
          <a:bodyPr>
            <a:normAutofit/>
          </a:bodyPr>
          <a:lstStyle/>
          <a:p>
            <a:pPr algn="just"/>
            <a:r>
              <a:rPr lang="mn-MN" sz="4000" b="1" dirty="0">
                <a:solidFill>
                  <a:srgbClr val="002060"/>
                </a:solidFill>
                <a:latin typeface="Times New Roman" panose="02020603050405020304" pitchFamily="18" charset="0"/>
                <a:cs typeface="Times New Roman" panose="02020603050405020304" pitchFamily="18" charset="0"/>
              </a:rPr>
              <a:t>Үйлдвэрлэлийн тухай ойлголт</a:t>
            </a:r>
            <a:endParaRPr lang="en-US" sz="4000" b="1" dirty="0">
              <a:solidFill>
                <a:srgbClr val="002060"/>
              </a:solidFill>
              <a:latin typeface="Times New Roman" panose="02020603050405020304" pitchFamily="18" charset="0"/>
              <a:cs typeface="Times New Roman" panose="02020603050405020304" pitchFamily="18" charset="0"/>
            </a:endParaRPr>
          </a:p>
        </p:txBody>
      </p:sp>
      <p:sp>
        <p:nvSpPr>
          <p:cNvPr id="9" name="Content Placeholder 8">
            <a:extLst>
              <a:ext uri="{FF2B5EF4-FFF2-40B4-BE49-F238E27FC236}">
                <a16:creationId xmlns:a16="http://schemas.microsoft.com/office/drawing/2014/main" id="{8E06D9F8-EE10-CE5F-0F0C-01C394B3E364}"/>
              </a:ext>
            </a:extLst>
          </p:cNvPr>
          <p:cNvSpPr>
            <a:spLocks noGrp="1"/>
          </p:cNvSpPr>
          <p:nvPr>
            <p:ph idx="1"/>
          </p:nvPr>
        </p:nvSpPr>
        <p:spPr>
          <a:xfrm>
            <a:off x="180472" y="698983"/>
            <a:ext cx="11786937" cy="6041570"/>
          </a:xfrm>
        </p:spPr>
        <p:txBody>
          <a:bodyPr>
            <a:normAutofit/>
          </a:bodyPr>
          <a:lstStyle/>
          <a:p>
            <a:pPr algn="just"/>
            <a:r>
              <a:rPr lang="mn-MN" sz="3200" dirty="0">
                <a:solidFill>
                  <a:srgbClr val="002060"/>
                </a:solidFill>
                <a:latin typeface="Times New Roman" panose="02020603050405020304" pitchFamily="18" charset="0"/>
                <a:cs typeface="Times New Roman" panose="02020603050405020304" pitchFamily="18" charset="0"/>
              </a:rPr>
              <a:t>Хүн төрөлхтний өдөр тутмын үйл ажиллагаандаа хэрэглэж буй бүхий л зүйлс үйлдвэрлэл явагдсаны үр дүнд бий болдог. </a:t>
            </a:r>
          </a:p>
          <a:p>
            <a:pPr algn="just"/>
            <a:r>
              <a:rPr lang="mn-MN" sz="3200" b="1" dirty="0">
                <a:solidFill>
                  <a:schemeClr val="accent2">
                    <a:lumMod val="75000"/>
                  </a:schemeClr>
                </a:solidFill>
                <a:latin typeface="Times New Roman" panose="02020603050405020304" pitchFamily="18" charset="0"/>
                <a:cs typeface="Times New Roman" panose="02020603050405020304" pitchFamily="18" charset="0"/>
              </a:rPr>
              <a:t>ҮЙЛДВЭРЛЭЛ</a:t>
            </a:r>
            <a:r>
              <a:rPr lang="mn-MN" sz="3200" dirty="0">
                <a:solidFill>
                  <a:schemeClr val="accent2">
                    <a:lumMod val="75000"/>
                  </a:schemeClr>
                </a:solidFill>
                <a:latin typeface="Times New Roman" panose="02020603050405020304" pitchFamily="18" charset="0"/>
                <a:cs typeface="Times New Roman" panose="02020603050405020304" pitchFamily="18" charset="0"/>
              </a:rPr>
              <a:t> – </a:t>
            </a:r>
          </a:p>
          <a:p>
            <a:pPr lvl="1" algn="just"/>
            <a:r>
              <a:rPr lang="mn-MN" sz="2800" dirty="0">
                <a:solidFill>
                  <a:srgbClr val="002060"/>
                </a:solidFill>
                <a:latin typeface="Times New Roman" panose="02020603050405020304" pitchFamily="18" charset="0"/>
                <a:cs typeface="Times New Roman" panose="02020603050405020304" pitchFamily="18" charset="0"/>
              </a:rPr>
              <a:t>Үйлдвэрлэлийн анхдагч </a:t>
            </a:r>
            <a:r>
              <a:rPr lang="en-US" dirty="0">
                <a:solidFill>
                  <a:srgbClr val="002060"/>
                </a:solidFill>
                <a:latin typeface="Times New Roman" panose="02020603050405020304" pitchFamily="18" charset="0"/>
                <a:cs typeface="Times New Roman" panose="02020603050405020304" pitchFamily="18" charset="0"/>
              </a:rPr>
              <a:t>(</a:t>
            </a:r>
            <a:r>
              <a:rPr lang="mn-MN" dirty="0">
                <a:solidFill>
                  <a:srgbClr val="002060"/>
                </a:solidFill>
                <a:latin typeface="Times New Roman" panose="02020603050405020304" pitchFamily="18" charset="0"/>
                <a:cs typeface="Times New Roman" panose="02020603050405020304" pitchFamily="18" charset="0"/>
              </a:rPr>
              <a:t>хөдөлмөр, капитал</a:t>
            </a:r>
            <a:r>
              <a:rPr lang="en-US" dirty="0">
                <a:solidFill>
                  <a:srgbClr val="002060"/>
                </a:solidFill>
                <a:latin typeface="Times New Roman" panose="02020603050405020304" pitchFamily="18" charset="0"/>
                <a:cs typeface="Times New Roman" panose="02020603050405020304" pitchFamily="18" charset="0"/>
              </a:rPr>
              <a:t>) </a:t>
            </a:r>
            <a:r>
              <a:rPr lang="mn-MN" sz="2800" dirty="0">
                <a:solidFill>
                  <a:srgbClr val="002060"/>
                </a:solidFill>
                <a:latin typeface="Times New Roman" panose="02020603050405020304" pitchFamily="18" charset="0"/>
                <a:cs typeface="Times New Roman" panose="02020603050405020304" pitchFamily="18" charset="0"/>
              </a:rPr>
              <a:t>болон завсрын </a:t>
            </a:r>
            <a:r>
              <a:rPr lang="en-US" sz="2800" dirty="0">
                <a:solidFill>
                  <a:srgbClr val="002060"/>
                </a:solidFill>
                <a:latin typeface="Times New Roman" panose="02020603050405020304" pitchFamily="18" charset="0"/>
                <a:cs typeface="Times New Roman" panose="02020603050405020304" pitchFamily="18" charset="0"/>
              </a:rPr>
              <a:t>(</a:t>
            </a:r>
            <a:r>
              <a:rPr lang="mn-MN" dirty="0">
                <a:solidFill>
                  <a:srgbClr val="002060"/>
                </a:solidFill>
                <a:latin typeface="Times New Roman" panose="02020603050405020304" pitchFamily="18" charset="0"/>
                <a:cs typeface="Times New Roman" panose="02020603050405020304" pitchFamily="18" charset="0"/>
              </a:rPr>
              <a:t>түүхий эд материал гэх мэт</a:t>
            </a:r>
            <a:r>
              <a:rPr lang="en-US" dirty="0">
                <a:solidFill>
                  <a:srgbClr val="002060"/>
                </a:solidFill>
                <a:latin typeface="Times New Roman" panose="02020603050405020304" pitchFamily="18" charset="0"/>
                <a:cs typeface="Times New Roman" panose="02020603050405020304" pitchFamily="18" charset="0"/>
              </a:rPr>
              <a:t>) </a:t>
            </a:r>
            <a:r>
              <a:rPr lang="mn-MN" sz="2800" dirty="0">
                <a:solidFill>
                  <a:srgbClr val="002060"/>
                </a:solidFill>
                <a:latin typeface="Times New Roman" panose="02020603050405020304" pitchFamily="18" charset="0"/>
                <a:cs typeface="Times New Roman" panose="02020603050405020304" pitchFamily="18" charset="0"/>
              </a:rPr>
              <a:t>хүчин зүйлсийг ашиглан ямар нэгэн бүтээгдэхүүн бүтээх </a:t>
            </a:r>
            <a:r>
              <a:rPr lang="en-US" dirty="0">
                <a:solidFill>
                  <a:srgbClr val="002060"/>
                </a:solidFill>
                <a:latin typeface="Times New Roman" panose="02020603050405020304" pitchFamily="18" charset="0"/>
                <a:cs typeface="Times New Roman" panose="02020603050405020304" pitchFamily="18" charset="0"/>
              </a:rPr>
              <a:t>(</a:t>
            </a:r>
            <a:r>
              <a:rPr lang="mn-MN" dirty="0">
                <a:solidFill>
                  <a:srgbClr val="002060"/>
                </a:solidFill>
                <a:latin typeface="Times New Roman" panose="02020603050405020304" pitchFamily="18" charset="0"/>
                <a:cs typeface="Times New Roman" panose="02020603050405020304" pitchFamily="18" charset="0"/>
              </a:rPr>
              <a:t>бий болгох</a:t>
            </a:r>
            <a:r>
              <a:rPr lang="en-US" dirty="0">
                <a:solidFill>
                  <a:srgbClr val="002060"/>
                </a:solidFill>
                <a:latin typeface="Times New Roman" panose="02020603050405020304" pitchFamily="18" charset="0"/>
                <a:cs typeface="Times New Roman" panose="02020603050405020304" pitchFamily="18" charset="0"/>
              </a:rPr>
              <a:t>)</a:t>
            </a:r>
            <a:r>
              <a:rPr lang="mn-MN" dirty="0">
                <a:solidFill>
                  <a:srgbClr val="002060"/>
                </a:solidFill>
                <a:latin typeface="Times New Roman" panose="02020603050405020304" pitchFamily="18" charset="0"/>
                <a:cs typeface="Times New Roman" panose="02020603050405020304" pitchFamily="18" charset="0"/>
              </a:rPr>
              <a:t> </a:t>
            </a:r>
            <a:r>
              <a:rPr lang="mn-MN" sz="2800" dirty="0">
                <a:solidFill>
                  <a:srgbClr val="002060"/>
                </a:solidFill>
                <a:latin typeface="Times New Roman" panose="02020603050405020304" pitchFamily="18" charset="0"/>
                <a:cs typeface="Times New Roman" panose="02020603050405020304" pitchFamily="18" charset="0"/>
              </a:rPr>
              <a:t>үйл явц. </a:t>
            </a:r>
          </a:p>
          <a:p>
            <a:pPr lvl="1" algn="just"/>
            <a:r>
              <a:rPr lang="mn-MN" sz="2800" dirty="0">
                <a:solidFill>
                  <a:srgbClr val="002060"/>
                </a:solidFill>
                <a:latin typeface="Times New Roman" panose="02020603050405020304" pitchFamily="18" charset="0"/>
                <a:cs typeface="Times New Roman" panose="02020603050405020304" pitchFamily="18" charset="0"/>
              </a:rPr>
              <a:t>Байгаль болон хүний хоорондох нэгэн төрлийн онцлог бодисын солилцоо. </a:t>
            </a:r>
          </a:p>
          <a:p>
            <a:pPr lvl="1" algn="just"/>
            <a:r>
              <a:rPr lang="mn-MN" sz="2800" dirty="0">
                <a:solidFill>
                  <a:srgbClr val="002060"/>
                </a:solidFill>
                <a:latin typeface="Times New Roman" panose="02020603050405020304" pitchFamily="18" charset="0"/>
                <a:cs typeface="Times New Roman" panose="02020603050405020304" pitchFamily="18" charset="0"/>
              </a:rPr>
              <a:t>Хүмүүсийн байгалийн нөөц баялгийг хувиргах идэвхтэй үйл ажиллагаа. </a:t>
            </a:r>
          </a:p>
          <a:p>
            <a:pPr lvl="1" algn="just"/>
            <a:r>
              <a:rPr lang="mn-MN" sz="2800" dirty="0">
                <a:solidFill>
                  <a:srgbClr val="002060"/>
                </a:solidFill>
                <a:latin typeface="Times New Roman" panose="02020603050405020304" pitchFamily="18" charset="0"/>
                <a:cs typeface="Times New Roman" panose="02020603050405020304" pitchFamily="18" charset="0"/>
              </a:rPr>
              <a:t>Төрөл бүрийн материаллаг </a:t>
            </a:r>
            <a:r>
              <a:rPr lang="mn-MN" dirty="0">
                <a:solidFill>
                  <a:srgbClr val="002060"/>
                </a:solidFill>
                <a:latin typeface="Times New Roman" panose="02020603050405020304" pitchFamily="18" charset="0"/>
                <a:cs typeface="Times New Roman" panose="02020603050405020304" pitchFamily="18" charset="0"/>
              </a:rPr>
              <a:t>(металл, мод, шил, хуванцар гэх мэт) </a:t>
            </a:r>
            <a:r>
              <a:rPr lang="mn-MN" sz="2800" dirty="0">
                <a:solidFill>
                  <a:srgbClr val="002060"/>
                </a:solidFill>
                <a:latin typeface="Times New Roman" panose="02020603050405020304" pitchFamily="18" charset="0"/>
                <a:cs typeface="Times New Roman" panose="02020603050405020304" pitchFamily="18" charset="0"/>
              </a:rPr>
              <a:t>болон материаллаг бус </a:t>
            </a:r>
            <a:r>
              <a:rPr lang="mn-MN" dirty="0">
                <a:solidFill>
                  <a:srgbClr val="002060"/>
                </a:solidFill>
                <a:latin typeface="Times New Roman" panose="02020603050405020304" pitchFamily="18" charset="0"/>
                <a:cs typeface="Times New Roman" panose="02020603050405020304" pitchFamily="18" charset="0"/>
              </a:rPr>
              <a:t>(төлөвлөгөө, мэдлэг гэх мэт) </a:t>
            </a:r>
            <a:r>
              <a:rPr lang="mn-MN" sz="2800" dirty="0">
                <a:solidFill>
                  <a:srgbClr val="002060"/>
                </a:solidFill>
                <a:latin typeface="Times New Roman" panose="02020603050405020304" pitchFamily="18" charset="0"/>
                <a:cs typeface="Times New Roman" panose="02020603050405020304" pitchFamily="18" charset="0"/>
              </a:rPr>
              <a:t>орцуудыг нэгтгэж, бүтээгдэхүүн </a:t>
            </a:r>
            <a:r>
              <a:rPr lang="en-US" dirty="0">
                <a:solidFill>
                  <a:srgbClr val="002060"/>
                </a:solidFill>
                <a:latin typeface="Times New Roman" panose="02020603050405020304" pitchFamily="18" charset="0"/>
                <a:cs typeface="Times New Roman" panose="02020603050405020304" pitchFamily="18" charset="0"/>
              </a:rPr>
              <a:t>(</a:t>
            </a:r>
            <a:r>
              <a:rPr lang="mn-MN" dirty="0">
                <a:solidFill>
                  <a:srgbClr val="002060"/>
                </a:solidFill>
                <a:latin typeface="Times New Roman" panose="02020603050405020304" pitchFamily="18" charset="0"/>
                <a:cs typeface="Times New Roman" panose="02020603050405020304" pitchFamily="18" charset="0"/>
              </a:rPr>
              <a:t>бараа, үйлчилгээ</a:t>
            </a:r>
            <a:r>
              <a:rPr lang="en-US" dirty="0">
                <a:solidFill>
                  <a:srgbClr val="002060"/>
                </a:solidFill>
                <a:latin typeface="Times New Roman" panose="02020603050405020304" pitchFamily="18" charset="0"/>
                <a:cs typeface="Times New Roman" panose="02020603050405020304" pitchFamily="18" charset="0"/>
              </a:rPr>
              <a:t>) </a:t>
            </a:r>
            <a:r>
              <a:rPr lang="mn-MN" sz="2800" dirty="0">
                <a:solidFill>
                  <a:srgbClr val="002060"/>
                </a:solidFill>
                <a:latin typeface="Times New Roman" panose="02020603050405020304" pitchFamily="18" charset="0"/>
                <a:cs typeface="Times New Roman" panose="02020603050405020304" pitchFamily="18" charset="0"/>
              </a:rPr>
              <a:t>бий болгох үйл явц.</a:t>
            </a:r>
            <a:endParaRPr lang="en-US" sz="28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595169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D2631E-A77C-A94C-9B8A-71BEBBF7E049}"/>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C4523D7-174F-6DD3-FE6B-5C1FA9A2F101}"/>
              </a:ext>
            </a:extLst>
          </p:cNvPr>
          <p:cNvSpPr>
            <a:spLocks noGrp="1"/>
          </p:cNvSpPr>
          <p:nvPr>
            <p:ph type="title"/>
          </p:nvPr>
        </p:nvSpPr>
        <p:spPr>
          <a:xfrm>
            <a:off x="132348" y="64168"/>
            <a:ext cx="8466221" cy="777874"/>
          </a:xfrm>
        </p:spPr>
        <p:txBody>
          <a:bodyPr/>
          <a:lstStyle/>
          <a:p>
            <a:pPr algn="just"/>
            <a:r>
              <a:rPr lang="mn-MN" b="1" dirty="0">
                <a:solidFill>
                  <a:srgbClr val="002060"/>
                </a:solidFill>
                <a:latin typeface="Times New Roman" panose="02020603050405020304" pitchFamily="18" charset="0"/>
                <a:cs typeface="Times New Roman" panose="02020603050405020304" pitchFamily="18" charset="0"/>
              </a:rPr>
              <a:t>Үйлдвэрлэлийн тухай ойлголт</a:t>
            </a:r>
            <a:endParaRPr lang="en-US" b="1" dirty="0">
              <a:solidFill>
                <a:srgbClr val="002060"/>
              </a:solidFill>
              <a:latin typeface="Times New Roman" panose="02020603050405020304" pitchFamily="18" charset="0"/>
              <a:cs typeface="Times New Roman" panose="02020603050405020304" pitchFamily="18" charset="0"/>
            </a:endParaRPr>
          </a:p>
        </p:txBody>
      </p:sp>
      <p:sp>
        <p:nvSpPr>
          <p:cNvPr id="9" name="Content Placeholder 8">
            <a:extLst>
              <a:ext uri="{FF2B5EF4-FFF2-40B4-BE49-F238E27FC236}">
                <a16:creationId xmlns:a16="http://schemas.microsoft.com/office/drawing/2014/main" id="{3711268D-1B47-733D-050D-6C612478384F}"/>
              </a:ext>
            </a:extLst>
          </p:cNvPr>
          <p:cNvSpPr>
            <a:spLocks noGrp="1"/>
          </p:cNvSpPr>
          <p:nvPr>
            <p:ph idx="1"/>
          </p:nvPr>
        </p:nvSpPr>
        <p:spPr>
          <a:xfrm>
            <a:off x="164432" y="842042"/>
            <a:ext cx="7810500" cy="5951790"/>
          </a:xfrm>
        </p:spPr>
        <p:txBody>
          <a:bodyPr>
            <a:normAutofit fontScale="92500"/>
          </a:bodyPr>
          <a:lstStyle/>
          <a:p>
            <a:pPr algn="just"/>
            <a:r>
              <a:rPr lang="mn-MN" sz="3200" b="1" i="1" dirty="0">
                <a:solidFill>
                  <a:schemeClr val="accent6">
                    <a:lumMod val="75000"/>
                  </a:schemeClr>
                </a:solidFill>
                <a:latin typeface="Times New Roman" panose="02020603050405020304" pitchFamily="18" charset="0"/>
                <a:cs typeface="Times New Roman" panose="02020603050405020304" pitchFamily="18" charset="0"/>
              </a:rPr>
              <a:t>Үйлдвэрлэл өргөжиж, хөгжих тусам аливаа улс орны эдийн засаг бэхжиж, хүн амын амьжиргааны түвшин дээшлэн, хэрэглээ нь төгөлдөрших зүй тогтолтой. </a:t>
            </a:r>
          </a:p>
          <a:p>
            <a:pPr algn="just"/>
            <a:r>
              <a:rPr lang="mn-MN" sz="3200" b="1" dirty="0">
                <a:solidFill>
                  <a:srgbClr val="002060"/>
                </a:solidFill>
                <a:latin typeface="Times New Roman" panose="02020603050405020304" pitchFamily="18" charset="0"/>
                <a:cs typeface="Times New Roman" panose="02020603050405020304" pitchFamily="18" charset="0"/>
              </a:rPr>
              <a:t>Үйлдвэрлэлийн гол зорилго </a:t>
            </a:r>
            <a:r>
              <a:rPr lang="mn-MN" sz="3200" dirty="0">
                <a:solidFill>
                  <a:srgbClr val="002060"/>
                </a:solidFill>
                <a:latin typeface="Times New Roman" panose="02020603050405020304" pitchFamily="18" charset="0"/>
                <a:cs typeface="Times New Roman" panose="02020603050405020304" pitchFamily="18" charset="0"/>
              </a:rPr>
              <a:t>– </a:t>
            </a:r>
          </a:p>
          <a:p>
            <a:pPr lvl="1" algn="just"/>
            <a:r>
              <a:rPr lang="mn-MN" sz="2800" dirty="0">
                <a:solidFill>
                  <a:srgbClr val="002060"/>
                </a:solidFill>
                <a:latin typeface="Times New Roman" panose="02020603050405020304" pitchFamily="18" charset="0"/>
                <a:cs typeface="Times New Roman" panose="02020603050405020304" pitchFamily="18" charset="0"/>
              </a:rPr>
              <a:t>Бэлэн бүтээгдэхүүнийг бий болгох</a:t>
            </a:r>
            <a:r>
              <a:rPr lang="en-US" sz="2800" dirty="0">
                <a:solidFill>
                  <a:srgbClr val="002060"/>
                </a:solidFill>
                <a:latin typeface="Times New Roman" panose="02020603050405020304" pitchFamily="18" charset="0"/>
                <a:cs typeface="Times New Roman" panose="02020603050405020304" pitchFamily="18" charset="0"/>
              </a:rPr>
              <a:t>;</a:t>
            </a:r>
          </a:p>
          <a:p>
            <a:pPr lvl="1" algn="just"/>
            <a:r>
              <a:rPr lang="mn-MN" sz="2800" dirty="0">
                <a:solidFill>
                  <a:srgbClr val="002060"/>
                </a:solidFill>
                <a:latin typeface="Times New Roman" panose="02020603050405020304" pitchFamily="18" charset="0"/>
                <a:cs typeface="Times New Roman" panose="02020603050405020304" pitchFamily="18" charset="0"/>
              </a:rPr>
              <a:t>Хэрэглэгчдэд янз бүрийн үйлчилгээ үзүүлэх. </a:t>
            </a:r>
            <a:endParaRPr lang="en-US" sz="2800" dirty="0">
              <a:solidFill>
                <a:srgbClr val="002060"/>
              </a:solidFill>
              <a:latin typeface="Times New Roman" panose="02020603050405020304" pitchFamily="18" charset="0"/>
              <a:cs typeface="Times New Roman" panose="02020603050405020304" pitchFamily="18" charset="0"/>
            </a:endParaRPr>
          </a:p>
          <a:p>
            <a:pPr algn="just"/>
            <a:r>
              <a:rPr lang="mn-MN" sz="3200" b="1" dirty="0">
                <a:solidFill>
                  <a:srgbClr val="002060"/>
                </a:solidFill>
                <a:latin typeface="Times New Roman" panose="02020603050405020304" pitchFamily="18" charset="0"/>
                <a:cs typeface="Times New Roman" panose="02020603050405020304" pitchFamily="18" charset="0"/>
              </a:rPr>
              <a:t>Аливаа үйлдвэрлэл, үйлчилгээний газрын гол зорилго </a:t>
            </a:r>
            <a:r>
              <a:rPr lang="mn-MN" sz="3200" dirty="0">
                <a:solidFill>
                  <a:srgbClr val="002060"/>
                </a:solidFill>
                <a:latin typeface="Times New Roman" panose="02020603050405020304" pitchFamily="18" charset="0"/>
                <a:cs typeface="Times New Roman" panose="02020603050405020304" pitchFamily="18" charset="0"/>
              </a:rPr>
              <a:t>– </a:t>
            </a:r>
          </a:p>
          <a:p>
            <a:pPr lvl="1" algn="just"/>
            <a:r>
              <a:rPr lang="mn-MN" sz="2800" dirty="0">
                <a:solidFill>
                  <a:srgbClr val="002060"/>
                </a:solidFill>
                <a:latin typeface="Times New Roman" panose="02020603050405020304" pitchFamily="18" charset="0"/>
                <a:cs typeface="Times New Roman" panose="02020603050405020304" pitchFamily="18" charset="0"/>
              </a:rPr>
              <a:t>Бүтээгдэхүүн үйлдвэрлэж, үйлчилгээ явуулаад зогсохгүй үйлдвэрлэсэн бүтээгдэхүүнээ </a:t>
            </a:r>
            <a:r>
              <a:rPr lang="en-US" sz="2800" dirty="0">
                <a:solidFill>
                  <a:srgbClr val="002060"/>
                </a:solidFill>
                <a:latin typeface="Times New Roman" panose="02020603050405020304" pitchFamily="18" charset="0"/>
                <a:cs typeface="Times New Roman" panose="02020603050405020304" pitchFamily="18" charset="0"/>
              </a:rPr>
              <a:t>(</a:t>
            </a:r>
            <a:r>
              <a:rPr lang="mn-MN" sz="2800" dirty="0">
                <a:solidFill>
                  <a:srgbClr val="002060"/>
                </a:solidFill>
                <a:latin typeface="Times New Roman" panose="02020603050405020304" pitchFamily="18" charset="0"/>
                <a:cs typeface="Times New Roman" panose="02020603050405020304" pitchFamily="18" charset="0"/>
              </a:rPr>
              <a:t>бараа, үйлчилгээ</a:t>
            </a:r>
            <a:r>
              <a:rPr lang="en-US" sz="2800" dirty="0">
                <a:solidFill>
                  <a:srgbClr val="002060"/>
                </a:solidFill>
                <a:latin typeface="Times New Roman" panose="02020603050405020304" pitchFamily="18" charset="0"/>
                <a:cs typeface="Times New Roman" panose="02020603050405020304" pitchFamily="18" charset="0"/>
              </a:rPr>
              <a:t>) </a:t>
            </a:r>
            <a:r>
              <a:rPr lang="mn-MN" sz="2800" dirty="0">
                <a:solidFill>
                  <a:srgbClr val="002060"/>
                </a:solidFill>
                <a:latin typeface="Times New Roman" panose="02020603050405020304" pitchFamily="18" charset="0"/>
                <a:cs typeface="Times New Roman" panose="02020603050405020304" pitchFamily="18" charset="0"/>
              </a:rPr>
              <a:t>тодорхой зах зээл дээр гаргаж, хэрэглэгчдийг өөртөө татах замаар ашиг олох явдал байдаг. </a:t>
            </a:r>
          </a:p>
        </p:txBody>
      </p:sp>
      <p:sp>
        <p:nvSpPr>
          <p:cNvPr id="7" name="TextBox 6">
            <a:extLst>
              <a:ext uri="{FF2B5EF4-FFF2-40B4-BE49-F238E27FC236}">
                <a16:creationId xmlns:a16="http://schemas.microsoft.com/office/drawing/2014/main" id="{C1907C8B-CAB4-1A91-7E8B-5AD4208ED88D}"/>
              </a:ext>
            </a:extLst>
          </p:cNvPr>
          <p:cNvSpPr txBox="1"/>
          <p:nvPr/>
        </p:nvSpPr>
        <p:spPr>
          <a:xfrm>
            <a:off x="7974932" y="281088"/>
            <a:ext cx="4052636" cy="2862322"/>
          </a:xfrm>
          <a:prstGeom prst="rect">
            <a:avLst/>
          </a:prstGeom>
          <a:solidFill>
            <a:schemeClr val="accent4">
              <a:lumMod val="20000"/>
              <a:lumOff val="80000"/>
            </a:schemeClr>
          </a:solidFill>
        </p:spPr>
        <p:txBody>
          <a:bodyPr wrap="square">
            <a:spAutoFit/>
          </a:bodyPr>
          <a:lstStyle/>
          <a:p>
            <a:pPr algn="ctr"/>
            <a:r>
              <a:rPr lang="mn-MN" sz="3000" b="1" dirty="0">
                <a:solidFill>
                  <a:srgbClr val="002060"/>
                </a:solidFill>
                <a:latin typeface="Times New Roman" panose="02020603050405020304" pitchFamily="18" charset="0"/>
                <a:cs typeface="Times New Roman" panose="02020603050405020304" pitchFamily="18" charset="0"/>
              </a:rPr>
              <a:t>Иймд үйлдвэрлэл, үйл ажиллагааг зөв удирдахын тулд үйлдвэрлэлийг маш нарийн судлах хэрэгтэй. </a:t>
            </a:r>
            <a:endParaRPr lang="en-US" sz="3000" b="1" dirty="0">
              <a:solidFill>
                <a:srgbClr val="002060"/>
              </a:solidFill>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FD492D81-358C-2F55-4421-E6784A4B33BC}"/>
              </a:ext>
            </a:extLst>
          </p:cNvPr>
          <p:cNvSpPr txBox="1"/>
          <p:nvPr/>
        </p:nvSpPr>
        <p:spPr>
          <a:xfrm>
            <a:off x="7974932" y="3323815"/>
            <a:ext cx="4052636" cy="2862322"/>
          </a:xfrm>
          <a:prstGeom prst="rect">
            <a:avLst/>
          </a:prstGeom>
          <a:solidFill>
            <a:schemeClr val="accent6">
              <a:lumMod val="20000"/>
              <a:lumOff val="80000"/>
            </a:schemeClr>
          </a:solidFill>
        </p:spPr>
        <p:txBody>
          <a:bodyPr wrap="square">
            <a:spAutoFit/>
          </a:bodyPr>
          <a:lstStyle/>
          <a:p>
            <a:pPr algn="ctr"/>
            <a:r>
              <a:rPr lang="mn-MN" sz="3000" b="1" dirty="0">
                <a:solidFill>
                  <a:srgbClr val="002060"/>
                </a:solidFill>
                <a:latin typeface="Times New Roman" panose="02020603050405020304" pitchFamily="18" charset="0"/>
                <a:cs typeface="Times New Roman" panose="02020603050405020304" pitchFamily="18" charset="0"/>
              </a:rPr>
              <a:t>Байгууллагын үйл ажиллагааны 3 үндсэн чиглэл: </a:t>
            </a:r>
          </a:p>
          <a:p>
            <a:pPr marL="514350" indent="-290513" algn="just">
              <a:buAutoNum type="arabicPeriod"/>
            </a:pPr>
            <a:r>
              <a:rPr lang="mn-MN" sz="3000" b="1" dirty="0">
                <a:solidFill>
                  <a:srgbClr val="002060"/>
                </a:solidFill>
                <a:latin typeface="Times New Roman" panose="02020603050405020304" pitchFamily="18" charset="0"/>
                <a:cs typeface="Times New Roman" panose="02020603050405020304" pitchFamily="18" charset="0"/>
              </a:rPr>
              <a:t>Үйлдвэрлэлийн</a:t>
            </a:r>
          </a:p>
          <a:p>
            <a:pPr marL="514350" indent="-290513" algn="just">
              <a:buAutoNum type="arabicPeriod"/>
            </a:pPr>
            <a:r>
              <a:rPr lang="mn-MN" sz="3000" b="1" dirty="0">
                <a:solidFill>
                  <a:srgbClr val="002060"/>
                </a:solidFill>
                <a:latin typeface="Times New Roman" panose="02020603050405020304" pitchFamily="18" charset="0"/>
                <a:cs typeface="Times New Roman" panose="02020603050405020304" pitchFamily="18" charset="0"/>
              </a:rPr>
              <a:t>Санхүүгийн </a:t>
            </a:r>
          </a:p>
          <a:p>
            <a:pPr marL="514350" indent="-290513" algn="just">
              <a:buAutoNum type="arabicPeriod"/>
            </a:pPr>
            <a:r>
              <a:rPr lang="mn-MN" sz="3000" b="1" dirty="0">
                <a:solidFill>
                  <a:srgbClr val="002060"/>
                </a:solidFill>
                <a:latin typeface="Times New Roman" panose="02020603050405020304" pitchFamily="18" charset="0"/>
                <a:cs typeface="Times New Roman" panose="02020603050405020304" pitchFamily="18" charset="0"/>
              </a:rPr>
              <a:t>Маркетингийн</a:t>
            </a:r>
            <a:endParaRPr lang="en-US" sz="3000" b="1"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088689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585DF4-B0C8-6C63-5806-12E22CBD7E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14F1B1-F1A8-1CC5-71AA-62E03A01FCB9}"/>
              </a:ext>
            </a:extLst>
          </p:cNvPr>
          <p:cNvSpPr>
            <a:spLocks noGrp="1"/>
          </p:cNvSpPr>
          <p:nvPr>
            <p:ph type="title"/>
          </p:nvPr>
        </p:nvSpPr>
        <p:spPr>
          <a:xfrm>
            <a:off x="192434" y="124494"/>
            <a:ext cx="11338842" cy="457185"/>
          </a:xfrm>
        </p:spPr>
        <p:txBody>
          <a:bodyPr>
            <a:normAutofit fontScale="90000"/>
          </a:bodyPr>
          <a:lstStyle/>
          <a:p>
            <a:r>
              <a:rPr lang="mn-MN" sz="4000" b="1" dirty="0">
                <a:solidFill>
                  <a:srgbClr val="002060"/>
                </a:solidFill>
                <a:latin typeface="Times New Roman" panose="02020603050405020304" pitchFamily="18" charset="0"/>
                <a:cs typeface="Times New Roman" panose="02020603050405020304" pitchFamily="18" charset="0"/>
              </a:rPr>
              <a:t>Үйлдвэрлэлийн хүчин чадал</a:t>
            </a:r>
            <a:endParaRPr lang="en-US" sz="4000"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F04941D-8B6B-CB0C-67C3-F96CD068292C}"/>
              </a:ext>
            </a:extLst>
          </p:cNvPr>
          <p:cNvSpPr>
            <a:spLocks noGrp="1"/>
          </p:cNvSpPr>
          <p:nvPr>
            <p:ph idx="1"/>
          </p:nvPr>
        </p:nvSpPr>
        <p:spPr>
          <a:xfrm>
            <a:off x="80210" y="581679"/>
            <a:ext cx="11823032" cy="6083529"/>
          </a:xfrm>
        </p:spPr>
        <p:txBody>
          <a:bodyPr>
            <a:normAutofit lnSpcReduction="10000"/>
          </a:bodyPr>
          <a:lstStyle/>
          <a:p>
            <a:pPr algn="just">
              <a:spcBef>
                <a:spcPts val="200"/>
              </a:spcBef>
            </a:pPr>
            <a:r>
              <a:rPr lang="mn-MN" sz="3200" dirty="0">
                <a:solidFill>
                  <a:srgbClr val="002060"/>
                </a:solidFill>
                <a:latin typeface="Times New Roman" panose="02020603050405020304" pitchFamily="18" charset="0"/>
                <a:cs typeface="Times New Roman" panose="02020603050405020304" pitchFamily="18" charset="0"/>
              </a:rPr>
              <a:t>Үйлдвэрлэлийн хэмжээг оновчтой тогтоох нь амжилтад хүргэх гол хүчин зүйл. </a:t>
            </a:r>
          </a:p>
          <a:p>
            <a:pPr algn="just">
              <a:spcBef>
                <a:spcPts val="200"/>
              </a:spcBef>
            </a:pPr>
            <a:r>
              <a:rPr lang="mn-MN" sz="3200" dirty="0">
                <a:solidFill>
                  <a:srgbClr val="002060"/>
                </a:solidFill>
                <a:latin typeface="Times New Roman" panose="02020603050405020304" pitchFamily="18" charset="0"/>
                <a:cs typeface="Times New Roman" panose="02020603050405020304" pitchFamily="18" charset="0"/>
              </a:rPr>
              <a:t>Үйлдвэрлэлийн оновчтой хүчин чадлыг тогтоохын тулд эрэлтийг маш нарийн судалж, тэдгээрийн тэнцвэржилтийг хангах нь чухал. </a:t>
            </a:r>
          </a:p>
          <a:p>
            <a:pPr algn="just">
              <a:spcBef>
                <a:spcPts val="200"/>
              </a:spcBef>
            </a:pPr>
            <a:r>
              <a:rPr lang="mn-MN" sz="3200" b="1" dirty="0">
                <a:solidFill>
                  <a:schemeClr val="accent2">
                    <a:lumMod val="75000"/>
                  </a:schemeClr>
                </a:solidFill>
                <a:latin typeface="Times New Roman" panose="02020603050405020304" pitchFamily="18" charset="0"/>
                <a:cs typeface="Times New Roman" panose="02020603050405020304" pitchFamily="18" charset="0"/>
              </a:rPr>
              <a:t>ХҮЧИН ЧАДАЛ </a:t>
            </a:r>
            <a:r>
              <a:rPr lang="mn-MN" sz="3200" dirty="0">
                <a:solidFill>
                  <a:srgbClr val="002060"/>
                </a:solidFill>
                <a:latin typeface="Times New Roman" panose="02020603050405020304" pitchFamily="18" charset="0"/>
                <a:cs typeface="Times New Roman" panose="02020603050405020304" pitchFamily="18" charset="0"/>
              </a:rPr>
              <a:t>– </a:t>
            </a:r>
          </a:p>
          <a:p>
            <a:pPr lvl="1" algn="just">
              <a:spcBef>
                <a:spcPts val="200"/>
              </a:spcBef>
            </a:pPr>
            <a:r>
              <a:rPr lang="mn-MN" sz="2800" dirty="0">
                <a:solidFill>
                  <a:srgbClr val="002060"/>
                </a:solidFill>
                <a:latin typeface="Times New Roman" panose="02020603050405020304" pitchFamily="18" charset="0"/>
                <a:cs typeface="Times New Roman" panose="02020603050405020304" pitchFamily="18" charset="0"/>
              </a:rPr>
              <a:t>Үйлдвэрийн газар, үйлдвэрлэлийн нэгж, тоног төхөөрөмжийн нэгж хугацаанд үйлдвэрлэж чадах бүтээгдэхүүний тоо хэмжээгээр тодорхойлогдоно. </a:t>
            </a:r>
          </a:p>
          <a:p>
            <a:pPr lvl="2" algn="just">
              <a:spcBef>
                <a:spcPts val="200"/>
              </a:spcBef>
            </a:pPr>
            <a:r>
              <a:rPr lang="mn-MN" sz="2400" dirty="0">
                <a:solidFill>
                  <a:srgbClr val="002060"/>
                </a:solidFill>
                <a:latin typeface="Times New Roman" panose="02020603050405020304" pitchFamily="18" charset="0"/>
                <a:cs typeface="Times New Roman" panose="02020603050405020304" pitchFamily="18" charset="0"/>
              </a:rPr>
              <a:t>Өөрөөр хэлбэл, үйлдвэрийн газар, үйлдвэрлэлийн нэгж, ээлж, машин тоног төхөөрөмж, агуулахын ачааллын дээд хэмжээг харуулдаг. </a:t>
            </a:r>
          </a:p>
          <a:p>
            <a:pPr lvl="1" algn="just">
              <a:spcBef>
                <a:spcPts val="200"/>
              </a:spcBef>
            </a:pPr>
            <a:r>
              <a:rPr lang="mn-MN" sz="2800" dirty="0">
                <a:solidFill>
                  <a:srgbClr val="002060"/>
                </a:solidFill>
                <a:latin typeface="Times New Roman" panose="02020603050405020304" pitchFamily="18" charset="0"/>
                <a:cs typeface="Times New Roman" panose="02020603050405020304" pitchFamily="18" charset="0"/>
              </a:rPr>
              <a:t>Үйлдвэрлэл, үйлчилгээний тодорхой хугацаанд бүтээгдэхүүн, үйлчилгээг бий болгох хязгаарлагдмал чадвар. </a:t>
            </a:r>
          </a:p>
          <a:p>
            <a:pPr algn="just">
              <a:spcBef>
                <a:spcPts val="200"/>
              </a:spcBef>
            </a:pPr>
            <a:r>
              <a:rPr lang="mn-MN" sz="3200" dirty="0">
                <a:solidFill>
                  <a:srgbClr val="002060"/>
                </a:solidFill>
                <a:latin typeface="Times New Roman" panose="02020603050405020304" pitchFamily="18" charset="0"/>
                <a:cs typeface="Times New Roman" panose="02020603050405020304" pitchFamily="18" charset="0"/>
              </a:rPr>
              <a:t>Ачааллыг орц, гарцын үзүүлэлтээр хэмжинэ. </a:t>
            </a:r>
          </a:p>
          <a:p>
            <a:pPr lvl="1" algn="just">
              <a:spcBef>
                <a:spcPts val="200"/>
              </a:spcBef>
            </a:pPr>
            <a:r>
              <a:rPr lang="mn-MN" sz="2800" dirty="0">
                <a:solidFill>
                  <a:srgbClr val="002060"/>
                </a:solidFill>
                <a:latin typeface="Times New Roman" panose="02020603050405020304" pitchFamily="18" charset="0"/>
                <a:cs typeface="Times New Roman" panose="02020603050405020304" pitchFamily="18" charset="0"/>
              </a:rPr>
              <a:t>Гэхдээ практикт гарцаар нь тодорхойлоход илүү үр дүнтэй. </a:t>
            </a:r>
            <a:endParaRPr lang="en-US" sz="2800" dirty="0">
              <a:solidFill>
                <a:srgbClr val="002060"/>
              </a:solidFill>
              <a:latin typeface="Times New Roman" panose="02020603050405020304" pitchFamily="18" charset="0"/>
              <a:cs typeface="Times New Roman" panose="02020603050405020304" pitchFamily="18" charset="0"/>
            </a:endParaRPr>
          </a:p>
        </p:txBody>
      </p:sp>
      <p:pic>
        <p:nvPicPr>
          <p:cNvPr id="5" name="Picture 2" descr="Image result for Capacity Planning">
            <a:extLst>
              <a:ext uri="{FF2B5EF4-FFF2-40B4-BE49-F238E27FC236}">
                <a16:creationId xmlns:a16="http://schemas.microsoft.com/office/drawing/2014/main" id="{7A4FA718-B405-EE01-53C1-5D36EF9E36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09669" y="5025628"/>
            <a:ext cx="3339442" cy="16395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44369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E8B44C-BB17-92C2-1A37-D43FF90274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2B6394-DC2F-C3D3-0E3C-05606F23A981}"/>
              </a:ext>
            </a:extLst>
          </p:cNvPr>
          <p:cNvSpPr>
            <a:spLocks noGrp="1"/>
          </p:cNvSpPr>
          <p:nvPr>
            <p:ph type="title"/>
          </p:nvPr>
        </p:nvSpPr>
        <p:spPr>
          <a:xfrm>
            <a:off x="116305" y="140537"/>
            <a:ext cx="11899232" cy="533232"/>
          </a:xfrm>
        </p:spPr>
        <p:txBody>
          <a:bodyPr>
            <a:normAutofit fontScale="90000"/>
          </a:bodyPr>
          <a:lstStyle/>
          <a:p>
            <a:pPr algn="just"/>
            <a:r>
              <a:rPr lang="mn-MN" b="1" dirty="0">
                <a:solidFill>
                  <a:srgbClr val="002060"/>
                </a:solidFill>
                <a:latin typeface="Times New Roman" panose="02020603050405020304" pitchFamily="18" charset="0"/>
                <a:cs typeface="Times New Roman" panose="02020603050405020304" pitchFamily="18" charset="0"/>
              </a:rPr>
              <a:t>Хүчин чадлын төрөл, үзүүлэлтүүд</a:t>
            </a:r>
            <a:endParaRPr lang="en-US" b="1"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23BEEEF-7768-AF7D-D4E4-28A0967A6386}"/>
              </a:ext>
            </a:extLst>
          </p:cNvPr>
          <p:cNvSpPr>
            <a:spLocks noGrp="1"/>
          </p:cNvSpPr>
          <p:nvPr>
            <p:ph idx="1"/>
          </p:nvPr>
        </p:nvSpPr>
        <p:spPr>
          <a:xfrm>
            <a:off x="116305" y="673769"/>
            <a:ext cx="11899232" cy="6043694"/>
          </a:xfrm>
        </p:spPr>
        <p:txBody>
          <a:bodyPr>
            <a:normAutofit/>
          </a:bodyPr>
          <a:lstStyle/>
          <a:p>
            <a:pPr algn="just"/>
            <a:r>
              <a:rPr lang="mn-MN" sz="3200" b="1" dirty="0">
                <a:solidFill>
                  <a:srgbClr val="002060"/>
                </a:solidFill>
                <a:latin typeface="Times New Roman" panose="02020603050405020304" pitchFamily="18" charset="0"/>
                <a:cs typeface="Times New Roman" panose="02020603050405020304" pitchFamily="18" charset="0"/>
              </a:rPr>
              <a:t>Төслийн хүчин чадал</a:t>
            </a:r>
            <a:r>
              <a:rPr lang="mn-MN" sz="3200" dirty="0">
                <a:solidFill>
                  <a:srgbClr val="002060"/>
                </a:solidFill>
                <a:latin typeface="Times New Roman" panose="02020603050405020304" pitchFamily="18" charset="0"/>
                <a:cs typeface="Times New Roman" panose="02020603050405020304" pitchFamily="18" charset="0"/>
              </a:rPr>
              <a:t> </a:t>
            </a:r>
            <a:r>
              <a:rPr lang="en-US" sz="3200" b="1" dirty="0">
                <a:solidFill>
                  <a:srgbClr val="002060"/>
                </a:solidFill>
                <a:latin typeface="Times New Roman" panose="02020603050405020304" pitchFamily="18" charset="0"/>
                <a:cs typeface="Times New Roman" panose="02020603050405020304" pitchFamily="18" charset="0"/>
              </a:rPr>
              <a:t>(Design capacity) </a:t>
            </a:r>
            <a:r>
              <a:rPr lang="mn-MN" sz="3200" dirty="0">
                <a:solidFill>
                  <a:srgbClr val="002060"/>
                </a:solidFill>
                <a:latin typeface="Times New Roman" panose="02020603050405020304" pitchFamily="18" charset="0"/>
                <a:cs typeface="Times New Roman" panose="02020603050405020304" pitchFamily="18" charset="0"/>
              </a:rPr>
              <a:t>– тухайн үйлдвэрийн газрыг анх байгуулах үед үйлдвэрлэхээр төлөвлөсөн бүтээгдэхүүний тоогоор хэмжинэ. </a:t>
            </a:r>
          </a:p>
          <a:p>
            <a:pPr algn="just"/>
            <a:r>
              <a:rPr lang="mn-MN" sz="3200" b="1" dirty="0">
                <a:solidFill>
                  <a:srgbClr val="002060"/>
                </a:solidFill>
                <a:latin typeface="Times New Roman" panose="02020603050405020304" pitchFamily="18" charset="0"/>
                <a:cs typeface="Times New Roman" panose="02020603050405020304" pitchFamily="18" charset="0"/>
              </a:rPr>
              <a:t>Ашиглалтын хүчин чадал</a:t>
            </a:r>
            <a:r>
              <a:rPr lang="mn-MN" sz="3200" dirty="0">
                <a:solidFill>
                  <a:srgbClr val="002060"/>
                </a:solidFill>
                <a:latin typeface="Times New Roman" panose="02020603050405020304" pitchFamily="18" charset="0"/>
                <a:cs typeface="Times New Roman" panose="02020603050405020304" pitchFamily="18" charset="0"/>
              </a:rPr>
              <a:t> </a:t>
            </a:r>
            <a:r>
              <a:rPr lang="en-US" sz="3200" b="1" dirty="0">
                <a:solidFill>
                  <a:srgbClr val="002060"/>
                </a:solidFill>
                <a:latin typeface="Times New Roman" panose="02020603050405020304" pitchFamily="18" charset="0"/>
                <a:cs typeface="Times New Roman" panose="02020603050405020304" pitchFamily="18" charset="0"/>
              </a:rPr>
              <a:t>(Effective capacity) </a:t>
            </a:r>
            <a:r>
              <a:rPr lang="mn-MN" sz="3200" dirty="0">
                <a:solidFill>
                  <a:srgbClr val="002060"/>
                </a:solidFill>
                <a:latin typeface="Times New Roman" panose="02020603050405020304" pitchFamily="18" charset="0"/>
                <a:cs typeface="Times New Roman" panose="02020603050405020304" pitchFamily="18" charset="0"/>
              </a:rPr>
              <a:t>– бүх нөөцийг хамгийн дээд зэргээр бүтээмжтэй ашиглан үйлдвэрлэх бүтээгдэхүүний хэмжээгээр тодорхойлогдоно. </a:t>
            </a:r>
          </a:p>
          <a:p>
            <a:pPr lvl="1" algn="just"/>
            <a:r>
              <a:rPr lang="mn-MN" sz="2800" dirty="0">
                <a:solidFill>
                  <a:srgbClr val="002060"/>
                </a:solidFill>
                <a:latin typeface="Times New Roman" panose="02020603050405020304" pitchFamily="18" charset="0"/>
                <a:cs typeface="Times New Roman" panose="02020603050405020304" pitchFamily="18" charset="0"/>
              </a:rPr>
              <a:t>Гэхдээ ингэж нөөцийг дээд зэргээр дайчлан ашиглах явдал зарим үед хэрэгжихгүй, эсвэл үр ашиггүй байж болно. </a:t>
            </a:r>
          </a:p>
          <a:p>
            <a:pPr algn="just"/>
            <a:r>
              <a:rPr lang="mn-MN" sz="3200" b="1" dirty="0">
                <a:solidFill>
                  <a:srgbClr val="002060"/>
                </a:solidFill>
                <a:latin typeface="Times New Roman" panose="02020603050405020304" pitchFamily="18" charset="0"/>
                <a:cs typeface="Times New Roman" panose="02020603050405020304" pitchFamily="18" charset="0"/>
              </a:rPr>
              <a:t>Бодит хүчин чадал </a:t>
            </a:r>
            <a:r>
              <a:rPr lang="en-US" sz="3200" b="1" dirty="0">
                <a:solidFill>
                  <a:srgbClr val="002060"/>
                </a:solidFill>
                <a:latin typeface="Times New Roman" panose="02020603050405020304" pitchFamily="18" charset="0"/>
                <a:cs typeface="Times New Roman" panose="02020603050405020304" pitchFamily="18" charset="0"/>
              </a:rPr>
              <a:t>(Actual output) </a:t>
            </a:r>
            <a:r>
              <a:rPr lang="mn-MN" sz="3200" dirty="0">
                <a:solidFill>
                  <a:srgbClr val="002060"/>
                </a:solidFill>
                <a:latin typeface="Times New Roman" panose="02020603050405020304" pitchFamily="18" charset="0"/>
                <a:cs typeface="Times New Roman" panose="02020603050405020304" pitchFamily="18" charset="0"/>
              </a:rPr>
              <a:t>– бодитоор үйлдвэрлэж байгаа бүтээгдэхүүний хэмжээгээр тодорхойлогдоно. </a:t>
            </a:r>
          </a:p>
          <a:p>
            <a:pPr lvl="1" algn="just"/>
            <a:r>
              <a:rPr lang="mn-MN" sz="2800" dirty="0">
                <a:solidFill>
                  <a:srgbClr val="002060"/>
                </a:solidFill>
                <a:latin typeface="Times New Roman" panose="02020603050405020304" pitchFamily="18" charset="0"/>
                <a:cs typeface="Times New Roman" panose="02020603050405020304" pitchFamily="18" charset="0"/>
              </a:rPr>
              <a:t>Янз бүрийн эвдрэл, саатал, бүтээгдэхүүний гологдол, материал түүхий эдийн дутагдал зэрэг шалтгааны улмаас бодит хүчин чадал төслийн болон ашиглалтын хүчин чадалд хүрдэггүй. </a:t>
            </a:r>
          </a:p>
        </p:txBody>
      </p:sp>
    </p:spTree>
    <p:extLst>
      <p:ext uri="{BB962C8B-B14F-4D97-AF65-F5344CB8AC3E}">
        <p14:creationId xmlns:p14="http://schemas.microsoft.com/office/powerpoint/2010/main" val="33016958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E1D0AB-DC2F-4EBC-93EE-40A1B7C55B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27CE5E-85C2-3C51-A3F9-396CF75BE409}"/>
              </a:ext>
            </a:extLst>
          </p:cNvPr>
          <p:cNvSpPr>
            <a:spLocks noGrp="1"/>
          </p:cNvSpPr>
          <p:nvPr>
            <p:ph type="title"/>
          </p:nvPr>
        </p:nvSpPr>
        <p:spPr>
          <a:xfrm>
            <a:off x="28852" y="81024"/>
            <a:ext cx="11909612" cy="608788"/>
          </a:xfrm>
        </p:spPr>
        <p:txBody>
          <a:bodyPr>
            <a:noAutofit/>
          </a:bodyPr>
          <a:lstStyle/>
          <a:p>
            <a:r>
              <a:rPr lang="mn-MN" sz="3000" b="1" dirty="0">
                <a:solidFill>
                  <a:srgbClr val="002060"/>
                </a:solidFill>
                <a:latin typeface="Times New Roman" panose="02020603050405020304" pitchFamily="18" charset="0"/>
                <a:cs typeface="Times New Roman" panose="02020603050405020304" pitchFamily="18" charset="0"/>
              </a:rPr>
              <a:t>Хүчин чадал ашиглалтын түвшин</a:t>
            </a:r>
            <a:r>
              <a:rPr lang="en-US" sz="3000" b="1" dirty="0">
                <a:solidFill>
                  <a:srgbClr val="002060"/>
                </a:solidFill>
                <a:latin typeface="Times New Roman" panose="02020603050405020304" pitchFamily="18" charset="0"/>
                <a:cs typeface="Times New Roman" panose="02020603050405020304" pitchFamily="18" charset="0"/>
              </a:rPr>
              <a:t> </a:t>
            </a:r>
            <a:r>
              <a:rPr lang="mn-MN" sz="3000" b="1" dirty="0">
                <a:solidFill>
                  <a:srgbClr val="002060"/>
                </a:solidFill>
                <a:latin typeface="Times New Roman" panose="02020603050405020304" pitchFamily="18" charset="0"/>
                <a:cs typeface="Times New Roman" panose="02020603050405020304" pitchFamily="18" charset="0"/>
              </a:rPr>
              <a:t>(</a:t>
            </a:r>
            <a:r>
              <a:rPr lang="en-US" sz="3000" b="1" dirty="0">
                <a:solidFill>
                  <a:srgbClr val="002060"/>
                </a:solidFill>
                <a:latin typeface="Times New Roman" panose="02020603050405020304" pitchFamily="18" charset="0"/>
                <a:cs typeface="Times New Roman" panose="02020603050405020304" pitchFamily="18" charset="0"/>
              </a:rPr>
              <a:t>utilization)</a:t>
            </a:r>
            <a:r>
              <a:rPr lang="mn-MN" sz="3000" b="1" dirty="0">
                <a:solidFill>
                  <a:srgbClr val="002060"/>
                </a:solidFill>
                <a:latin typeface="Times New Roman" panose="02020603050405020304" pitchFamily="18" charset="0"/>
                <a:cs typeface="Times New Roman" panose="02020603050405020304" pitchFamily="18" charset="0"/>
              </a:rPr>
              <a:t>, үр ашиг</a:t>
            </a:r>
            <a:r>
              <a:rPr lang="en-US" sz="3000" b="1" dirty="0">
                <a:solidFill>
                  <a:srgbClr val="002060"/>
                </a:solidFill>
                <a:latin typeface="Times New Roman" panose="02020603050405020304" pitchFamily="18" charset="0"/>
                <a:cs typeface="Times New Roman" panose="02020603050405020304" pitchFamily="18" charset="0"/>
              </a:rPr>
              <a:t> </a:t>
            </a:r>
            <a:r>
              <a:rPr lang="mn-MN" sz="3000" b="1" dirty="0">
                <a:solidFill>
                  <a:srgbClr val="002060"/>
                </a:solidFill>
                <a:latin typeface="Times New Roman" panose="02020603050405020304" pitchFamily="18" charset="0"/>
                <a:cs typeface="Times New Roman" panose="02020603050405020304" pitchFamily="18" charset="0"/>
              </a:rPr>
              <a:t>(</a:t>
            </a:r>
            <a:r>
              <a:rPr lang="en-US" sz="3000" b="1" dirty="0">
                <a:solidFill>
                  <a:srgbClr val="002060"/>
                </a:solidFill>
                <a:latin typeface="Times New Roman" panose="02020603050405020304" pitchFamily="18" charset="0"/>
                <a:cs typeface="Times New Roman" panose="02020603050405020304" pitchFamily="18" charset="0"/>
              </a:rPr>
              <a:t>efficiency)</a:t>
            </a:r>
          </a:p>
        </p:txBody>
      </p:sp>
      <p:pic>
        <p:nvPicPr>
          <p:cNvPr id="6" name="Content Placeholder 5">
            <a:extLst>
              <a:ext uri="{FF2B5EF4-FFF2-40B4-BE49-F238E27FC236}">
                <a16:creationId xmlns:a16="http://schemas.microsoft.com/office/drawing/2014/main" id="{BEA473A9-1DB6-F16D-6F2A-25193C15BCDD}"/>
              </a:ext>
            </a:extLst>
          </p:cNvPr>
          <p:cNvPicPr>
            <a:picLocks noGrp="1" noChangeAspect="1"/>
          </p:cNvPicPr>
          <p:nvPr>
            <p:ph idx="1"/>
          </p:nvPr>
        </p:nvPicPr>
        <p:blipFill>
          <a:blip r:embed="rId3"/>
          <a:stretch>
            <a:fillRect/>
          </a:stretch>
        </p:blipFill>
        <p:spPr>
          <a:xfrm>
            <a:off x="267961" y="2245895"/>
            <a:ext cx="6155987" cy="4435645"/>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4CB177F3-9CC8-EFF3-D902-0576C2BC3A19}"/>
                  </a:ext>
                </a:extLst>
              </p:cNvPr>
              <p:cNvSpPr txBox="1"/>
              <p:nvPr/>
            </p:nvSpPr>
            <p:spPr>
              <a:xfrm>
                <a:off x="141279" y="667895"/>
                <a:ext cx="11653324" cy="76354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mn-MN" sz="2400" b="1" i="1" smtClean="0">
                          <a:solidFill>
                            <a:srgbClr val="FF0000"/>
                          </a:solidFill>
                          <a:latin typeface="Cambria Math" panose="02040503050406030204" pitchFamily="18" charset="0"/>
                        </a:rPr>
                        <m:t>Хүчин чадал ашиглалтын үр ашиг</m:t>
                      </m:r>
                      <m:r>
                        <a:rPr lang="en-US" sz="2400" b="1" i="1" smtClean="0">
                          <a:solidFill>
                            <a:srgbClr val="FF0000"/>
                          </a:solidFill>
                          <a:latin typeface="Cambria Math" panose="02040503050406030204" pitchFamily="18" charset="0"/>
                        </a:rPr>
                        <m:t> (</m:t>
                      </m:r>
                      <m:r>
                        <a:rPr lang="en-US" sz="2400" b="0" i="1" smtClean="0">
                          <a:solidFill>
                            <a:srgbClr val="FF0000"/>
                          </a:solidFill>
                          <a:latin typeface="Cambria Math" panose="02040503050406030204" pitchFamily="18" charset="0"/>
                        </a:rPr>
                        <m:t>𝐸</m:t>
                      </m:r>
                      <m:r>
                        <a:rPr lang="en-US" sz="2400" b="1" i="1" smtClean="0">
                          <a:solidFill>
                            <a:srgbClr val="FF0000"/>
                          </a:solidFill>
                          <a:latin typeface="Cambria Math" panose="02040503050406030204" pitchFamily="18" charset="0"/>
                        </a:rPr>
                        <m:t>)</m:t>
                      </m:r>
                      <m:r>
                        <a:rPr lang="en-US" sz="2400" b="0" i="1" smtClean="0">
                          <a:solidFill>
                            <a:srgbClr val="FF0000"/>
                          </a:solidFill>
                          <a:latin typeface="Cambria Math" panose="02040503050406030204" pitchFamily="18" charset="0"/>
                        </a:rPr>
                        <m:t>=</m:t>
                      </m:r>
                      <m:f>
                        <m:fPr>
                          <m:ctrlPr>
                            <a:rPr lang="en-US" sz="2400" b="0" i="1" smtClean="0">
                              <a:solidFill>
                                <a:srgbClr val="FF0000"/>
                              </a:solidFill>
                              <a:latin typeface="Cambria Math" panose="02040503050406030204" pitchFamily="18" charset="0"/>
                            </a:rPr>
                          </m:ctrlPr>
                        </m:fPr>
                        <m:num>
                          <m:r>
                            <a:rPr lang="mn-MN" sz="2400" b="0" i="1" smtClean="0">
                              <a:solidFill>
                                <a:srgbClr val="FF0000"/>
                              </a:solidFill>
                              <a:latin typeface="Cambria Math" panose="02040503050406030204" pitchFamily="18" charset="0"/>
                            </a:rPr>
                            <m:t>Үйлдвэрлэх бүтээгдэхүүний бодит хэмжээ</m:t>
                          </m:r>
                        </m:num>
                        <m:den>
                          <m:r>
                            <a:rPr lang="mn-MN" sz="2400" b="0" i="1" smtClean="0">
                              <a:solidFill>
                                <a:srgbClr val="FF0000"/>
                              </a:solidFill>
                              <a:latin typeface="Cambria Math" panose="02040503050406030204" pitchFamily="18" charset="0"/>
                            </a:rPr>
                            <m:t>Ашиглалтын хүчин чадал</m:t>
                          </m:r>
                        </m:den>
                      </m:f>
                    </m:oMath>
                  </m:oMathPara>
                </a14:m>
                <a:endParaRPr lang="en-US" sz="2400"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7" name="TextBox 6">
                <a:extLst>
                  <a:ext uri="{FF2B5EF4-FFF2-40B4-BE49-F238E27FC236}">
                    <a16:creationId xmlns:a16="http://schemas.microsoft.com/office/drawing/2014/main" id="{4CB177F3-9CC8-EFF3-D902-0576C2BC3A19}"/>
                  </a:ext>
                </a:extLst>
              </p:cNvPr>
              <p:cNvSpPr txBox="1">
                <a:spLocks noRot="1" noChangeAspect="1" noMove="1" noResize="1" noEditPoints="1" noAdjustHandles="1" noChangeArrowheads="1" noChangeShapeType="1" noTextEdit="1"/>
              </p:cNvSpPr>
              <p:nvPr/>
            </p:nvSpPr>
            <p:spPr>
              <a:xfrm>
                <a:off x="141279" y="667895"/>
                <a:ext cx="11653324" cy="76354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E9917F73-BAAB-EEFB-6C4A-C83C0C97B994}"/>
                  </a:ext>
                </a:extLst>
              </p:cNvPr>
              <p:cNvSpPr txBox="1"/>
              <p:nvPr/>
            </p:nvSpPr>
            <p:spPr>
              <a:xfrm>
                <a:off x="267962" y="1683287"/>
                <a:ext cx="11656076" cy="76354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mn-MN" sz="2400" b="0" i="1" smtClean="0">
                          <a:solidFill>
                            <a:srgbClr val="FF0000"/>
                          </a:solidFill>
                          <a:latin typeface="Cambria Math" panose="02040503050406030204" pitchFamily="18" charset="0"/>
                        </a:rPr>
                        <m:t>Хүчин чадал ашиглалтын түвшин</m:t>
                      </m:r>
                      <m:r>
                        <a:rPr lang="en-US" sz="2400" b="0" i="1" smtClean="0">
                          <a:solidFill>
                            <a:srgbClr val="FF0000"/>
                          </a:solidFill>
                          <a:latin typeface="Cambria Math" panose="02040503050406030204" pitchFamily="18" charset="0"/>
                        </a:rPr>
                        <m:t> (</m:t>
                      </m:r>
                      <m:r>
                        <a:rPr lang="en-US" sz="2400" b="0" i="1" smtClean="0">
                          <a:solidFill>
                            <a:srgbClr val="FF0000"/>
                          </a:solidFill>
                          <a:latin typeface="Cambria Math" panose="02040503050406030204" pitchFamily="18" charset="0"/>
                        </a:rPr>
                        <m:t>𝑈</m:t>
                      </m:r>
                      <m:r>
                        <a:rPr lang="en-US" sz="2400" b="0" i="1" smtClean="0">
                          <a:solidFill>
                            <a:srgbClr val="FF0000"/>
                          </a:solidFill>
                          <a:latin typeface="Cambria Math" panose="02040503050406030204" pitchFamily="18" charset="0"/>
                        </a:rPr>
                        <m:t>)=</m:t>
                      </m:r>
                      <m:f>
                        <m:fPr>
                          <m:ctrlPr>
                            <a:rPr lang="en-US" sz="2400" b="0" i="1" smtClean="0">
                              <a:solidFill>
                                <a:srgbClr val="FF0000"/>
                              </a:solidFill>
                              <a:latin typeface="Cambria Math" panose="02040503050406030204" pitchFamily="18" charset="0"/>
                            </a:rPr>
                          </m:ctrlPr>
                        </m:fPr>
                        <m:num>
                          <m:r>
                            <a:rPr lang="mn-MN" sz="2400" b="0" i="1" smtClean="0">
                              <a:solidFill>
                                <a:srgbClr val="FF0000"/>
                              </a:solidFill>
                              <a:latin typeface="Cambria Math" panose="02040503050406030204" pitchFamily="18" charset="0"/>
                            </a:rPr>
                            <m:t>Үйлдвэрлэх бүтээгдэхүүний бодит хэмжээ</m:t>
                          </m:r>
                        </m:num>
                        <m:den>
                          <m:r>
                            <a:rPr lang="mn-MN" sz="2400" b="0" i="1" smtClean="0">
                              <a:solidFill>
                                <a:srgbClr val="FF0000"/>
                              </a:solidFill>
                              <a:latin typeface="Cambria Math" panose="02040503050406030204" pitchFamily="18" charset="0"/>
                            </a:rPr>
                            <m:t>Төслийн хүчин чадал</m:t>
                          </m:r>
                        </m:den>
                      </m:f>
                    </m:oMath>
                  </m:oMathPara>
                </a14:m>
                <a:endParaRPr lang="en-US" sz="2400"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8" name="TextBox 7">
                <a:extLst>
                  <a:ext uri="{FF2B5EF4-FFF2-40B4-BE49-F238E27FC236}">
                    <a16:creationId xmlns:a16="http://schemas.microsoft.com/office/drawing/2014/main" id="{E9917F73-BAAB-EEFB-6C4A-C83C0C97B994}"/>
                  </a:ext>
                </a:extLst>
              </p:cNvPr>
              <p:cNvSpPr txBox="1">
                <a:spLocks noRot="1" noChangeAspect="1" noMove="1" noResize="1" noEditPoints="1" noAdjustHandles="1" noChangeArrowheads="1" noChangeShapeType="1" noTextEdit="1"/>
              </p:cNvSpPr>
              <p:nvPr/>
            </p:nvSpPr>
            <p:spPr>
              <a:xfrm>
                <a:off x="267962" y="1683287"/>
                <a:ext cx="11656076" cy="763542"/>
              </a:xfrm>
              <a:prstGeom prst="rect">
                <a:avLst/>
              </a:prstGeom>
              <a:blipFill>
                <a:blip r:embed="rId5"/>
                <a:stretch>
                  <a:fillRect/>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5A616633-DFAD-0A94-F60F-1D1596FD051E}"/>
              </a:ext>
            </a:extLst>
          </p:cNvPr>
          <p:cNvSpPr txBox="1"/>
          <p:nvPr/>
        </p:nvSpPr>
        <p:spPr>
          <a:xfrm>
            <a:off x="6423949" y="3276023"/>
            <a:ext cx="5370654" cy="2062103"/>
          </a:xfrm>
          <a:prstGeom prst="rect">
            <a:avLst/>
          </a:prstGeom>
          <a:noFill/>
        </p:spPr>
        <p:txBody>
          <a:bodyPr wrap="square" rtlCol="0">
            <a:spAutoFit/>
          </a:bodyPr>
          <a:lstStyle/>
          <a:p>
            <a:pPr algn="ctr"/>
            <a:r>
              <a:rPr lang="mn-MN" sz="3200" dirty="0">
                <a:solidFill>
                  <a:srgbClr val="002060"/>
                </a:solidFill>
                <a:latin typeface="Times New Roman" panose="02020603050405020304" pitchFamily="18" charset="0"/>
                <a:cs typeface="Times New Roman" panose="02020603050405020304" pitchFamily="18" charset="0"/>
              </a:rPr>
              <a:t>Төслийн хүчин чадлын ашиглалтыг сайжруулахад ихээхэн анхаарах хэрэгтэй байдаг. </a:t>
            </a:r>
            <a:endParaRPr lang="en-US" sz="32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815525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A92E1A-AE01-10B9-491B-D7E67D71D8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02D183-D671-53FB-0AA2-F8E524D96B01}"/>
              </a:ext>
            </a:extLst>
          </p:cNvPr>
          <p:cNvSpPr>
            <a:spLocks noGrp="1"/>
          </p:cNvSpPr>
          <p:nvPr>
            <p:ph type="title"/>
          </p:nvPr>
        </p:nvSpPr>
        <p:spPr>
          <a:xfrm>
            <a:off x="180473" y="140537"/>
            <a:ext cx="11802979" cy="449178"/>
          </a:xfrm>
        </p:spPr>
        <p:txBody>
          <a:bodyPr>
            <a:noAutofit/>
          </a:bodyPr>
          <a:lstStyle/>
          <a:p>
            <a:pPr algn="just"/>
            <a:r>
              <a:rPr lang="mn-MN" sz="3600" b="1" dirty="0">
                <a:solidFill>
                  <a:srgbClr val="002060"/>
                </a:solidFill>
                <a:latin typeface="Times New Roman" panose="02020603050405020304" pitchFamily="18" charset="0"/>
                <a:cs typeface="Times New Roman" panose="02020603050405020304" pitchFamily="18" charset="0"/>
              </a:rPr>
              <a:t>Үйлдвэрлэлийн хүчин чадалд нөлөөлөх хүчин зүйлс</a:t>
            </a:r>
            <a:endParaRPr lang="en-US" sz="3600" b="1"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A6FCB29-4160-7CE0-3795-25569E8E31C9}"/>
              </a:ext>
            </a:extLst>
          </p:cNvPr>
          <p:cNvSpPr>
            <a:spLocks noGrp="1"/>
          </p:cNvSpPr>
          <p:nvPr>
            <p:ph idx="1"/>
          </p:nvPr>
        </p:nvSpPr>
        <p:spPr>
          <a:xfrm>
            <a:off x="180473" y="589715"/>
            <a:ext cx="11802979" cy="6127748"/>
          </a:xfrm>
        </p:spPr>
        <p:txBody>
          <a:bodyPr>
            <a:normAutofit/>
          </a:bodyPr>
          <a:lstStyle/>
          <a:p>
            <a:pPr algn="just"/>
            <a:r>
              <a:rPr lang="mn-MN" sz="3600" dirty="0">
                <a:solidFill>
                  <a:srgbClr val="002060"/>
                </a:solidFill>
                <a:latin typeface="Times New Roman" panose="02020603050405020304" pitchFamily="18" charset="0"/>
                <a:cs typeface="Times New Roman" panose="02020603050405020304" pitchFamily="18" charset="0"/>
              </a:rPr>
              <a:t>Гадаад хүчин зүйлс: </a:t>
            </a:r>
          </a:p>
          <a:p>
            <a:pPr lvl="1" algn="just"/>
            <a:r>
              <a:rPr lang="mn-MN" sz="3200" dirty="0">
                <a:solidFill>
                  <a:srgbClr val="002060"/>
                </a:solidFill>
                <a:latin typeface="Times New Roman" panose="02020603050405020304" pitchFamily="18" charset="0"/>
                <a:cs typeface="Times New Roman" panose="02020603050405020304" pitchFamily="18" charset="0"/>
              </a:rPr>
              <a:t>Ажлын цаг</a:t>
            </a:r>
          </a:p>
          <a:p>
            <a:pPr lvl="1" algn="just"/>
            <a:r>
              <a:rPr lang="mn-MN" sz="3200" dirty="0">
                <a:solidFill>
                  <a:srgbClr val="002060"/>
                </a:solidFill>
                <a:latin typeface="Times New Roman" panose="02020603050405020304" pitchFamily="18" charset="0"/>
                <a:cs typeface="Times New Roman" panose="02020603050405020304" pitchFamily="18" charset="0"/>
              </a:rPr>
              <a:t>Ажиллагсдын аюулгүй ажиллагааг хангах талаарх Засгийн газрын зохицуулалтын бодлого</a:t>
            </a:r>
          </a:p>
          <a:p>
            <a:pPr lvl="1" algn="just"/>
            <a:r>
              <a:rPr lang="mn-MN" sz="3200" dirty="0">
                <a:solidFill>
                  <a:srgbClr val="002060"/>
                </a:solidFill>
                <a:latin typeface="Times New Roman" panose="02020603050405020304" pitchFamily="18" charset="0"/>
                <a:cs typeface="Times New Roman" panose="02020603050405020304" pitchFamily="18" charset="0"/>
              </a:rPr>
              <a:t>Гэрээний нөхцөл</a:t>
            </a:r>
          </a:p>
          <a:p>
            <a:pPr lvl="1" algn="just"/>
            <a:r>
              <a:rPr lang="mn-MN" sz="3200" dirty="0">
                <a:solidFill>
                  <a:srgbClr val="002060"/>
                </a:solidFill>
                <a:latin typeface="Times New Roman" panose="02020603050405020304" pitchFamily="18" charset="0"/>
                <a:cs typeface="Times New Roman" panose="02020603050405020304" pitchFamily="18" charset="0"/>
              </a:rPr>
              <a:t>Нийлүүлэлтийн боломж зэрэг хүчин зүйлс орно. </a:t>
            </a:r>
          </a:p>
          <a:p>
            <a:pPr algn="just"/>
            <a:r>
              <a:rPr lang="mn-MN" sz="3600" dirty="0">
                <a:solidFill>
                  <a:srgbClr val="002060"/>
                </a:solidFill>
                <a:latin typeface="Times New Roman" panose="02020603050405020304" pitchFamily="18" charset="0"/>
                <a:cs typeface="Times New Roman" panose="02020603050405020304" pitchFamily="18" charset="0"/>
              </a:rPr>
              <a:t>Дотоод хүчин зүйлс:</a:t>
            </a:r>
          </a:p>
          <a:p>
            <a:pPr lvl="1" algn="just"/>
            <a:r>
              <a:rPr lang="mn-MN" sz="3200" dirty="0">
                <a:solidFill>
                  <a:srgbClr val="002060"/>
                </a:solidFill>
                <a:latin typeface="Times New Roman" panose="02020603050405020304" pitchFamily="18" charset="0"/>
                <a:cs typeface="Times New Roman" panose="02020603050405020304" pitchFamily="18" charset="0"/>
              </a:rPr>
              <a:t>Тоног төхөөрөмжийн хүчин зүйлс</a:t>
            </a:r>
          </a:p>
          <a:p>
            <a:pPr lvl="1" algn="just"/>
            <a:r>
              <a:rPr lang="mn-MN" sz="3200" dirty="0">
                <a:solidFill>
                  <a:srgbClr val="002060"/>
                </a:solidFill>
                <a:latin typeface="Times New Roman" panose="02020603050405020304" pitchFamily="18" charset="0"/>
                <a:cs typeface="Times New Roman" panose="02020603050405020304" pitchFamily="18" charset="0"/>
              </a:rPr>
              <a:t>Бүтээгдэхүүн үйлчилгээний хүчин зүйлс</a:t>
            </a:r>
          </a:p>
          <a:p>
            <a:pPr lvl="1" algn="just"/>
            <a:r>
              <a:rPr lang="mn-MN" sz="3200" dirty="0">
                <a:solidFill>
                  <a:srgbClr val="002060"/>
                </a:solidFill>
                <a:latin typeface="Times New Roman" panose="02020603050405020304" pitchFamily="18" charset="0"/>
                <a:cs typeface="Times New Roman" panose="02020603050405020304" pitchFamily="18" charset="0"/>
              </a:rPr>
              <a:t>Хүний хүчин зүйлс</a:t>
            </a:r>
          </a:p>
          <a:p>
            <a:pPr lvl="1" algn="just"/>
            <a:r>
              <a:rPr lang="mn-MN" sz="3200" dirty="0">
                <a:solidFill>
                  <a:srgbClr val="002060"/>
                </a:solidFill>
                <a:latin typeface="Times New Roman" panose="02020603050405020304" pitchFamily="18" charset="0"/>
                <a:cs typeface="Times New Roman" panose="02020603050405020304" pitchFamily="18" charset="0"/>
              </a:rPr>
              <a:t>Үйл ажиллагааны хүчин зүйлс зэрэг орно. </a:t>
            </a:r>
          </a:p>
        </p:txBody>
      </p:sp>
    </p:spTree>
    <p:extLst>
      <p:ext uri="{BB962C8B-B14F-4D97-AF65-F5344CB8AC3E}">
        <p14:creationId xmlns:p14="http://schemas.microsoft.com/office/powerpoint/2010/main" val="40367100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40852-7D65-6D8E-A29B-DA1957D9FE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2BCD75-8E5C-3270-D23B-9446E23772E5}"/>
              </a:ext>
            </a:extLst>
          </p:cNvPr>
          <p:cNvSpPr>
            <a:spLocks noGrp="1"/>
          </p:cNvSpPr>
          <p:nvPr>
            <p:ph type="title"/>
          </p:nvPr>
        </p:nvSpPr>
        <p:spPr>
          <a:xfrm>
            <a:off x="164432" y="48483"/>
            <a:ext cx="11967516" cy="384654"/>
          </a:xfrm>
        </p:spPr>
        <p:txBody>
          <a:bodyPr>
            <a:normAutofit fontScale="90000"/>
          </a:bodyPr>
          <a:lstStyle/>
          <a:p>
            <a:r>
              <a:rPr lang="mn-MN" sz="2400" b="1" dirty="0">
                <a:solidFill>
                  <a:srgbClr val="002060"/>
                </a:solidFill>
                <a:latin typeface="Times New Roman" panose="02020603050405020304" pitchFamily="18" charset="0"/>
                <a:cs typeface="Times New Roman" panose="02020603050405020304" pitchFamily="18" charset="0"/>
              </a:rPr>
              <a:t>Хүчин чадлын ашиглалтын үр ашгийг тодорхойлогч хүчин зүйлс</a:t>
            </a:r>
            <a:endParaRPr lang="en-US" sz="2400" b="1" dirty="0">
              <a:solidFill>
                <a:srgbClr val="002060"/>
              </a:solidFill>
              <a:latin typeface="Times New Roman" panose="02020603050405020304" pitchFamily="18" charset="0"/>
              <a:cs typeface="Times New Roman" panose="02020603050405020304" pitchFamily="18" charset="0"/>
            </a:endParaRPr>
          </a:p>
        </p:txBody>
      </p:sp>
      <p:graphicFrame>
        <p:nvGraphicFramePr>
          <p:cNvPr id="5" name="Table 5">
            <a:extLst>
              <a:ext uri="{FF2B5EF4-FFF2-40B4-BE49-F238E27FC236}">
                <a16:creationId xmlns:a16="http://schemas.microsoft.com/office/drawing/2014/main" id="{FB54FA33-55F0-A121-9640-CEB814A9C55A}"/>
              </a:ext>
            </a:extLst>
          </p:cNvPr>
          <p:cNvGraphicFramePr>
            <a:graphicFrameLocks noGrp="1"/>
          </p:cNvGraphicFramePr>
          <p:nvPr>
            <p:ph idx="1"/>
            <p:extLst>
              <p:ext uri="{D42A27DB-BD31-4B8C-83A1-F6EECF244321}">
                <p14:modId xmlns:p14="http://schemas.microsoft.com/office/powerpoint/2010/main" val="1210547977"/>
              </p:ext>
            </p:extLst>
          </p:nvPr>
        </p:nvGraphicFramePr>
        <p:xfrm>
          <a:off x="548147" y="433137"/>
          <a:ext cx="11290927" cy="6177280"/>
        </p:xfrm>
        <a:graphic>
          <a:graphicData uri="http://schemas.openxmlformats.org/drawingml/2006/table">
            <a:tbl>
              <a:tblPr firstRow="1" bandRow="1">
                <a:tableStyleId>{5C22544A-7EE6-4342-B048-85BDC9FD1C3A}</a:tableStyleId>
              </a:tblPr>
              <a:tblGrid>
                <a:gridCol w="4881864">
                  <a:extLst>
                    <a:ext uri="{9D8B030D-6E8A-4147-A177-3AD203B41FA5}">
                      <a16:colId xmlns:a16="http://schemas.microsoft.com/office/drawing/2014/main" val="4064277520"/>
                    </a:ext>
                  </a:extLst>
                </a:gridCol>
                <a:gridCol w="6409063">
                  <a:extLst>
                    <a:ext uri="{9D8B030D-6E8A-4147-A177-3AD203B41FA5}">
                      <a16:colId xmlns:a16="http://schemas.microsoft.com/office/drawing/2014/main" val="718358060"/>
                    </a:ext>
                  </a:extLst>
                </a:gridCol>
              </a:tblGrid>
              <a:tr h="370840">
                <a:tc>
                  <a:txBody>
                    <a:bodyPr/>
                    <a:lstStyle/>
                    <a:p>
                      <a:r>
                        <a:rPr lang="mn-MN" sz="1800" dirty="0">
                          <a:latin typeface="Times New Roman" panose="02020603050405020304" pitchFamily="18" charset="0"/>
                          <a:cs typeface="Times New Roman" panose="02020603050405020304" pitchFamily="18" charset="0"/>
                        </a:rPr>
                        <a:t>Хүчин зүйлс</a:t>
                      </a:r>
                      <a:endParaRPr lang="en-US" sz="1800" dirty="0">
                        <a:latin typeface="Times New Roman" panose="02020603050405020304" pitchFamily="18" charset="0"/>
                        <a:cs typeface="Times New Roman" panose="02020603050405020304" pitchFamily="18" charset="0"/>
                      </a:endParaRPr>
                    </a:p>
                  </a:txBody>
                  <a:tcPr/>
                </a:tc>
                <a:tc>
                  <a:txBody>
                    <a:bodyPr/>
                    <a:lstStyle/>
                    <a:p>
                      <a:endParaRPr lang="en-US"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48200511"/>
                  </a:ext>
                </a:extLst>
              </a:tr>
              <a:tr h="370840">
                <a:tc>
                  <a:txBody>
                    <a:bodyPr/>
                    <a:lstStyle/>
                    <a:p>
                      <a:r>
                        <a:rPr lang="mn-MN" sz="1800" dirty="0">
                          <a:latin typeface="Times New Roman" panose="02020603050405020304" pitchFamily="18" charset="0"/>
                          <a:cs typeface="Times New Roman" panose="02020603050405020304" pitchFamily="18" charset="0"/>
                        </a:rPr>
                        <a:t>Үйлдвэрийн газрын </a:t>
                      </a:r>
                      <a:endParaRPr lang="en-US" sz="1800" dirty="0">
                        <a:latin typeface="Times New Roman" panose="02020603050405020304" pitchFamily="18" charset="0"/>
                        <a:cs typeface="Times New Roman" panose="02020603050405020304" pitchFamily="18" charset="0"/>
                      </a:endParaRPr>
                    </a:p>
                  </a:txBody>
                  <a:tcPr/>
                </a:tc>
                <a:tc>
                  <a:txBody>
                    <a:bodyPr/>
                    <a:lstStyle/>
                    <a:p>
                      <a:r>
                        <a:rPr lang="mn-MN" sz="1500" dirty="0">
                          <a:latin typeface="Times New Roman" panose="02020603050405020304" pitchFamily="18" charset="0"/>
                          <a:cs typeface="Times New Roman" panose="02020603050405020304" pitchFamily="18" charset="0"/>
                        </a:rPr>
                        <a:t>Төсөл</a:t>
                      </a:r>
                      <a:r>
                        <a:rPr lang="en-US" sz="1500" dirty="0">
                          <a:latin typeface="Times New Roman" panose="02020603050405020304" pitchFamily="18" charset="0"/>
                          <a:cs typeface="Times New Roman" panose="02020603050405020304" pitchFamily="18" charset="0"/>
                        </a:rPr>
                        <a:t>: </a:t>
                      </a:r>
                      <a:r>
                        <a:rPr lang="mn-MN" sz="1500" dirty="0">
                          <a:latin typeface="Times New Roman" panose="02020603050405020304" pitchFamily="18" charset="0"/>
                          <a:cs typeface="Times New Roman" panose="02020603050405020304" pitchFamily="18" charset="0"/>
                        </a:rPr>
                        <a:t>Үйлдвэрийн газрын байршил</a:t>
                      </a:r>
                    </a:p>
                    <a:p>
                      <a:r>
                        <a:rPr lang="mn-MN" sz="1500" dirty="0">
                          <a:latin typeface="Times New Roman" panose="02020603050405020304" pitchFamily="18" charset="0"/>
                          <a:cs typeface="Times New Roman" panose="02020603050405020304" pitchFamily="18" charset="0"/>
                        </a:rPr>
                        <a:t>Тоног төхөөрөмжийн байршил</a:t>
                      </a:r>
                    </a:p>
                    <a:p>
                      <a:r>
                        <a:rPr lang="mn-MN" sz="1500" dirty="0">
                          <a:latin typeface="Times New Roman" panose="02020603050405020304" pitchFamily="18" charset="0"/>
                          <a:cs typeface="Times New Roman" panose="02020603050405020304" pitchFamily="18" charset="0"/>
                        </a:rPr>
                        <a:t>Хүрээлэн байгаа орчин</a:t>
                      </a:r>
                      <a:endParaRPr lang="en-US" sz="15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159348177"/>
                  </a:ext>
                </a:extLst>
              </a:tr>
              <a:tr h="370840">
                <a:tc>
                  <a:txBody>
                    <a:bodyPr/>
                    <a:lstStyle/>
                    <a:p>
                      <a:r>
                        <a:rPr lang="mn-MN" sz="1800" dirty="0">
                          <a:latin typeface="Times New Roman" panose="02020603050405020304" pitchFamily="18" charset="0"/>
                          <a:cs typeface="Times New Roman" panose="02020603050405020304" pitchFamily="18" charset="0"/>
                        </a:rPr>
                        <a:t>Бүтээгдэхүүн, үйлчилгээний</a:t>
                      </a:r>
                      <a:endParaRPr lang="en-US" sz="1800" dirty="0">
                        <a:latin typeface="Times New Roman" panose="02020603050405020304" pitchFamily="18" charset="0"/>
                        <a:cs typeface="Times New Roman" panose="02020603050405020304" pitchFamily="18" charset="0"/>
                      </a:endParaRPr>
                    </a:p>
                  </a:txBody>
                  <a:tcPr/>
                </a:tc>
                <a:tc>
                  <a:txBody>
                    <a:bodyPr/>
                    <a:lstStyle/>
                    <a:p>
                      <a:r>
                        <a:rPr lang="mn-MN" sz="1500" dirty="0">
                          <a:latin typeface="Times New Roman" panose="02020603050405020304" pitchFamily="18" charset="0"/>
                          <a:cs typeface="Times New Roman" panose="02020603050405020304" pitchFamily="18" charset="0"/>
                        </a:rPr>
                        <a:t>Хийц загвар</a:t>
                      </a:r>
                    </a:p>
                    <a:p>
                      <a:r>
                        <a:rPr lang="mn-MN" sz="1500" dirty="0">
                          <a:latin typeface="Times New Roman" panose="02020603050405020304" pitchFamily="18" charset="0"/>
                          <a:cs typeface="Times New Roman" panose="02020603050405020304" pitchFamily="18" charset="0"/>
                        </a:rPr>
                        <a:t>Төрөл</a:t>
                      </a:r>
                      <a:endParaRPr lang="en-US" sz="15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501579947"/>
                  </a:ext>
                </a:extLst>
              </a:tr>
              <a:tr h="370840">
                <a:tc>
                  <a:txBody>
                    <a:bodyPr/>
                    <a:lstStyle/>
                    <a:p>
                      <a:r>
                        <a:rPr lang="mn-MN" sz="1800" dirty="0">
                          <a:latin typeface="Times New Roman" panose="02020603050405020304" pitchFamily="18" charset="0"/>
                          <a:cs typeface="Times New Roman" panose="02020603050405020304" pitchFamily="18" charset="0"/>
                        </a:rPr>
                        <a:t>Үйлдвэрлэлийн үйл ажиллагааны</a:t>
                      </a:r>
                      <a:endParaRPr lang="en-US" sz="1800" dirty="0">
                        <a:latin typeface="Times New Roman" panose="02020603050405020304" pitchFamily="18" charset="0"/>
                        <a:cs typeface="Times New Roman" panose="02020603050405020304" pitchFamily="18" charset="0"/>
                      </a:endParaRPr>
                    </a:p>
                  </a:txBody>
                  <a:tcPr/>
                </a:tc>
                <a:tc>
                  <a:txBody>
                    <a:bodyPr/>
                    <a:lstStyle/>
                    <a:p>
                      <a:r>
                        <a:rPr lang="mn-MN" sz="1500" dirty="0">
                          <a:latin typeface="Times New Roman" panose="02020603050405020304" pitchFamily="18" charset="0"/>
                          <a:cs typeface="Times New Roman" panose="02020603050405020304" pitchFamily="18" charset="0"/>
                        </a:rPr>
                        <a:t>Тоон үзүүлэлт</a:t>
                      </a:r>
                    </a:p>
                    <a:p>
                      <a:r>
                        <a:rPr lang="mn-MN" sz="1500" dirty="0">
                          <a:latin typeface="Times New Roman" panose="02020603050405020304" pitchFamily="18" charset="0"/>
                          <a:cs typeface="Times New Roman" panose="02020603050405020304" pitchFamily="18" charset="0"/>
                        </a:rPr>
                        <a:t>Чанарын үзүүлэлт</a:t>
                      </a:r>
                      <a:endParaRPr lang="en-US" sz="15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319328781"/>
                  </a:ext>
                </a:extLst>
              </a:tr>
              <a:tr h="370840">
                <a:tc>
                  <a:txBody>
                    <a:bodyPr/>
                    <a:lstStyle/>
                    <a:p>
                      <a:r>
                        <a:rPr lang="mn-MN" sz="1800" dirty="0">
                          <a:latin typeface="Times New Roman" panose="02020603050405020304" pitchFamily="18" charset="0"/>
                          <a:cs typeface="Times New Roman" panose="02020603050405020304" pitchFamily="18" charset="0"/>
                        </a:rPr>
                        <a:t>Хүний</a:t>
                      </a:r>
                      <a:endParaRPr lang="en-US" sz="1800" dirty="0">
                        <a:latin typeface="Times New Roman" panose="02020603050405020304" pitchFamily="18" charset="0"/>
                        <a:cs typeface="Times New Roman" panose="02020603050405020304" pitchFamily="18" charset="0"/>
                      </a:endParaRPr>
                    </a:p>
                  </a:txBody>
                  <a:tcPr/>
                </a:tc>
                <a:tc>
                  <a:txBody>
                    <a:bodyPr/>
                    <a:lstStyle/>
                    <a:p>
                      <a:r>
                        <a:rPr lang="mn-MN" sz="1500" dirty="0">
                          <a:latin typeface="Times New Roman" panose="02020603050405020304" pitchFamily="18" charset="0"/>
                          <a:cs typeface="Times New Roman" panose="02020603050405020304" pitchFamily="18" charset="0"/>
                        </a:rPr>
                        <a:t>Ажлын агуулга</a:t>
                      </a:r>
                    </a:p>
                    <a:p>
                      <a:r>
                        <a:rPr lang="mn-MN" sz="1500" dirty="0">
                          <a:latin typeface="Times New Roman" panose="02020603050405020304" pitchFamily="18" charset="0"/>
                          <a:cs typeface="Times New Roman" panose="02020603050405020304" pitchFamily="18" charset="0"/>
                        </a:rPr>
                        <a:t>Ажлын зохион байгуулалт</a:t>
                      </a:r>
                    </a:p>
                    <a:p>
                      <a:r>
                        <a:rPr lang="mn-MN" sz="1500" dirty="0">
                          <a:latin typeface="Times New Roman" panose="02020603050405020304" pitchFamily="18" charset="0"/>
                          <a:cs typeface="Times New Roman" panose="02020603050405020304" pitchFamily="18" charset="0"/>
                        </a:rPr>
                        <a:t>Ажилчдын дадлага, туршлага, мэдлэг, чадвар</a:t>
                      </a:r>
                    </a:p>
                    <a:p>
                      <a:r>
                        <a:rPr lang="mn-MN" sz="1500" dirty="0">
                          <a:latin typeface="Times New Roman" panose="02020603050405020304" pitchFamily="18" charset="0"/>
                          <a:cs typeface="Times New Roman" panose="02020603050405020304" pitchFamily="18" charset="0"/>
                        </a:rPr>
                        <a:t>Идэвхжүүлэлт </a:t>
                      </a:r>
                    </a:p>
                    <a:p>
                      <a:r>
                        <a:rPr lang="mn-MN" sz="1500" dirty="0">
                          <a:latin typeface="Times New Roman" panose="02020603050405020304" pitchFamily="18" charset="0"/>
                          <a:cs typeface="Times New Roman" panose="02020603050405020304" pitchFamily="18" charset="0"/>
                        </a:rPr>
                        <a:t>Цалин хөлсний хэлбэр, систем</a:t>
                      </a:r>
                    </a:p>
                    <a:p>
                      <a:r>
                        <a:rPr lang="mn-MN" sz="1500" dirty="0">
                          <a:latin typeface="Times New Roman" panose="02020603050405020304" pitchFamily="18" charset="0"/>
                          <a:cs typeface="Times New Roman" panose="02020603050405020304" pitchFamily="18" charset="0"/>
                        </a:rPr>
                        <a:t>Боловсролын түвшин</a:t>
                      </a:r>
                    </a:p>
                    <a:p>
                      <a:r>
                        <a:rPr lang="mn-MN" sz="1500" dirty="0">
                          <a:latin typeface="Times New Roman" panose="02020603050405020304" pitchFamily="18" charset="0"/>
                          <a:cs typeface="Times New Roman" panose="02020603050405020304" pitchFamily="18" charset="0"/>
                        </a:rPr>
                        <a:t>Ажлын цаг ашиглалт, ажил таслалт</a:t>
                      </a:r>
                      <a:endParaRPr lang="en-US" sz="15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982078327"/>
                  </a:ext>
                </a:extLst>
              </a:tr>
              <a:tr h="370840">
                <a:tc>
                  <a:txBody>
                    <a:bodyPr/>
                    <a:lstStyle/>
                    <a:p>
                      <a:r>
                        <a:rPr lang="mn-MN" sz="1800" dirty="0">
                          <a:latin typeface="Times New Roman" panose="02020603050405020304" pitchFamily="18" charset="0"/>
                          <a:cs typeface="Times New Roman" panose="02020603050405020304" pitchFamily="18" charset="0"/>
                        </a:rPr>
                        <a:t>Үйлдвэрлэлийн </a:t>
                      </a:r>
                      <a:endParaRPr lang="en-US" sz="1800" dirty="0">
                        <a:latin typeface="Times New Roman" panose="02020603050405020304" pitchFamily="18" charset="0"/>
                        <a:cs typeface="Times New Roman" panose="02020603050405020304" pitchFamily="18" charset="0"/>
                      </a:endParaRPr>
                    </a:p>
                  </a:txBody>
                  <a:tcPr/>
                </a:tc>
                <a:tc>
                  <a:txBody>
                    <a:bodyPr/>
                    <a:lstStyle/>
                    <a:p>
                      <a:r>
                        <a:rPr lang="mn-MN" sz="1500" dirty="0">
                          <a:latin typeface="Times New Roman" panose="02020603050405020304" pitchFamily="18" charset="0"/>
                          <a:cs typeface="Times New Roman" panose="02020603050405020304" pitchFamily="18" charset="0"/>
                        </a:rPr>
                        <a:t>Ажил явуулах график</a:t>
                      </a:r>
                    </a:p>
                    <a:p>
                      <a:r>
                        <a:rPr lang="mn-MN" sz="1500" dirty="0">
                          <a:latin typeface="Times New Roman" panose="02020603050405020304" pitchFamily="18" charset="0"/>
                          <a:cs typeface="Times New Roman" panose="02020603050405020304" pitchFamily="18" charset="0"/>
                        </a:rPr>
                        <a:t>Материалын нөөцийн удирдлага</a:t>
                      </a:r>
                    </a:p>
                    <a:p>
                      <a:r>
                        <a:rPr lang="mn-MN" sz="1500" dirty="0">
                          <a:latin typeface="Times New Roman" panose="02020603050405020304" pitchFamily="18" charset="0"/>
                          <a:cs typeface="Times New Roman" panose="02020603050405020304" pitchFamily="18" charset="0"/>
                        </a:rPr>
                        <a:t>Чанарын удирдлага</a:t>
                      </a:r>
                    </a:p>
                    <a:p>
                      <a:r>
                        <a:rPr lang="mn-MN" sz="1500" dirty="0">
                          <a:latin typeface="Times New Roman" panose="02020603050405020304" pitchFamily="18" charset="0"/>
                          <a:cs typeface="Times New Roman" panose="02020603050405020304" pitchFamily="18" charset="0"/>
                        </a:rPr>
                        <a:t>Тоног төхөөрөмжийн ашиглалт</a:t>
                      </a:r>
                    </a:p>
                    <a:p>
                      <a:r>
                        <a:rPr lang="mn-MN" sz="1500" dirty="0">
                          <a:latin typeface="Times New Roman" panose="02020603050405020304" pitchFamily="18" charset="0"/>
                          <a:cs typeface="Times New Roman" panose="02020603050405020304" pitchFamily="18" charset="0"/>
                        </a:rPr>
                        <a:t>Тоног төхөөрөмжийн эвдрэл</a:t>
                      </a:r>
                      <a:endParaRPr lang="en-US" sz="15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659162747"/>
                  </a:ext>
                </a:extLst>
              </a:tr>
              <a:tr h="370840">
                <a:tc>
                  <a:txBody>
                    <a:bodyPr/>
                    <a:lstStyle/>
                    <a:p>
                      <a:r>
                        <a:rPr lang="mn-MN" sz="1800" dirty="0">
                          <a:latin typeface="Times New Roman" panose="02020603050405020304" pitchFamily="18" charset="0"/>
                          <a:cs typeface="Times New Roman" panose="02020603050405020304" pitchFamily="18" charset="0"/>
                        </a:rPr>
                        <a:t>Гадаад </a:t>
                      </a:r>
                      <a:endParaRPr lang="en-US" sz="1800" dirty="0">
                        <a:latin typeface="Times New Roman" panose="02020603050405020304" pitchFamily="18" charset="0"/>
                        <a:cs typeface="Times New Roman" panose="02020603050405020304" pitchFamily="18" charset="0"/>
                      </a:endParaRPr>
                    </a:p>
                  </a:txBody>
                  <a:tcPr/>
                </a:tc>
                <a:tc>
                  <a:txBody>
                    <a:bodyPr/>
                    <a:lstStyle/>
                    <a:p>
                      <a:r>
                        <a:rPr lang="mn-MN" sz="1500" dirty="0">
                          <a:latin typeface="Times New Roman" panose="02020603050405020304" pitchFamily="18" charset="0"/>
                          <a:cs typeface="Times New Roman" panose="02020603050405020304" pitchFamily="18" charset="0"/>
                        </a:rPr>
                        <a:t>Бүтээгдэхүүний стандарт</a:t>
                      </a:r>
                    </a:p>
                    <a:p>
                      <a:r>
                        <a:rPr lang="mn-MN" sz="1500" dirty="0">
                          <a:latin typeface="Times New Roman" panose="02020603050405020304" pitchFamily="18" charset="0"/>
                          <a:cs typeface="Times New Roman" panose="02020603050405020304" pitchFamily="18" charset="0"/>
                        </a:rPr>
                        <a:t>Ажиллагсадын аюулгүй байдлыг хамгаалах арга хэмжээ</a:t>
                      </a:r>
                    </a:p>
                    <a:p>
                      <a:r>
                        <a:rPr lang="mn-MN" sz="1500" dirty="0">
                          <a:latin typeface="Times New Roman" panose="02020603050405020304" pitchFamily="18" charset="0"/>
                          <a:cs typeface="Times New Roman" panose="02020603050405020304" pitchFamily="18" charset="0"/>
                        </a:rPr>
                        <a:t>Үйлдвэрчиний эвлэлийн үйл ажиллагаа</a:t>
                      </a:r>
                    </a:p>
                    <a:p>
                      <a:r>
                        <a:rPr lang="mn-MN" sz="1500" dirty="0">
                          <a:latin typeface="Times New Roman" panose="02020603050405020304" pitchFamily="18" charset="0"/>
                          <a:cs typeface="Times New Roman" panose="02020603050405020304" pitchFamily="18" charset="0"/>
                        </a:rPr>
                        <a:t>Хүрээлэн байга орчны бохирдолд хяналт тавих арга хэмжээ</a:t>
                      </a:r>
                      <a:endParaRPr lang="en-US" sz="15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502667309"/>
                  </a:ext>
                </a:extLst>
              </a:tr>
            </a:tbl>
          </a:graphicData>
        </a:graphic>
      </p:graphicFrame>
    </p:spTree>
    <p:extLst>
      <p:ext uri="{BB962C8B-B14F-4D97-AF65-F5344CB8AC3E}">
        <p14:creationId xmlns:p14="http://schemas.microsoft.com/office/powerpoint/2010/main" val="11449826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6D5625-2A97-2ACA-D9F0-984064C6F9C0}"/>
              </a:ext>
            </a:extLst>
          </p:cNvPr>
          <p:cNvSpPr>
            <a:spLocks noGrp="1"/>
          </p:cNvSpPr>
          <p:nvPr>
            <p:ph type="title"/>
          </p:nvPr>
        </p:nvSpPr>
        <p:spPr>
          <a:xfrm>
            <a:off x="93994" y="23806"/>
            <a:ext cx="10515600" cy="357667"/>
          </a:xfrm>
        </p:spPr>
        <p:txBody>
          <a:bodyPr>
            <a:normAutofit fontScale="90000"/>
          </a:bodyPr>
          <a:lstStyle/>
          <a:p>
            <a:r>
              <a:rPr lang="mn-MN" sz="2400" b="1" dirty="0">
                <a:solidFill>
                  <a:srgbClr val="002060"/>
                </a:solidFill>
                <a:latin typeface="Times New Roman" panose="02020603050405020304" pitchFamily="18" charset="0"/>
                <a:cs typeface="Times New Roman" panose="02020603050405020304" pitchFamily="18" charset="0"/>
              </a:rPr>
              <a:t>Хүчин чадлын зохистой түвшин</a:t>
            </a:r>
            <a:endParaRPr lang="en-US" sz="2400" b="1"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64D72AC-E352-6CF3-9887-CEF8D2499986}"/>
              </a:ext>
            </a:extLst>
          </p:cNvPr>
          <p:cNvSpPr>
            <a:spLocks noGrp="1"/>
          </p:cNvSpPr>
          <p:nvPr>
            <p:ph idx="1"/>
          </p:nvPr>
        </p:nvSpPr>
        <p:spPr>
          <a:xfrm>
            <a:off x="93994" y="381473"/>
            <a:ext cx="11856291" cy="4957763"/>
          </a:xfrm>
        </p:spPr>
        <p:txBody>
          <a:bodyPr>
            <a:normAutofit/>
          </a:bodyPr>
          <a:lstStyle/>
          <a:p>
            <a:pPr algn="just">
              <a:spcBef>
                <a:spcPts val="0"/>
              </a:spcBef>
            </a:pPr>
            <a:r>
              <a:rPr lang="mn-MN" sz="2300" b="1" dirty="0">
                <a:solidFill>
                  <a:srgbClr val="002060"/>
                </a:solidFill>
                <a:latin typeface="Times New Roman" panose="02020603050405020304" pitchFamily="18" charset="0"/>
                <a:cs typeface="Times New Roman" panose="02020603050405020304" pitchFamily="18" charset="0"/>
              </a:rPr>
              <a:t>Үйлдвэрлэлийн оновчтой хэмжээ </a:t>
            </a:r>
            <a:r>
              <a:rPr lang="mn-MN" sz="2300" dirty="0">
                <a:solidFill>
                  <a:srgbClr val="002060"/>
                </a:solidFill>
                <a:latin typeface="Times New Roman" panose="02020603050405020304" pitchFamily="18" charset="0"/>
                <a:cs typeface="Times New Roman" panose="02020603050405020304" pitchFamily="18" charset="0"/>
              </a:rPr>
              <a:t>– нэгж бүтээгдэхүүнд ногдох жилийн дундаж зардал хамгийн бага байх хэмжээ. </a:t>
            </a:r>
          </a:p>
          <a:p>
            <a:pPr algn="just">
              <a:spcBef>
                <a:spcPts val="0"/>
              </a:spcBef>
            </a:pPr>
            <a:r>
              <a:rPr lang="mn-MN" sz="2300" b="1" dirty="0">
                <a:solidFill>
                  <a:srgbClr val="002060"/>
                </a:solidFill>
                <a:latin typeface="Times New Roman" panose="02020603050405020304" pitchFamily="18" charset="0"/>
                <a:cs typeface="Times New Roman" panose="02020603050405020304" pitchFamily="18" charset="0"/>
              </a:rPr>
              <a:t>Үйл ажиллагааны зохистой түвшин </a:t>
            </a:r>
            <a:r>
              <a:rPr lang="mn-MN" sz="2300" dirty="0">
                <a:solidFill>
                  <a:srgbClr val="002060"/>
                </a:solidFill>
                <a:latin typeface="Times New Roman" panose="02020603050405020304" pitchFamily="18" charset="0"/>
                <a:cs typeface="Times New Roman" panose="02020603050405020304" pitchFamily="18" charset="0"/>
              </a:rPr>
              <a:t>– бүтээгдэхүүнд хамгийн бага зардал гаргаж үйлдвэрлэл явуулах хүчин чадлын хэмжээ. </a:t>
            </a:r>
            <a:endParaRPr lang="en-US" sz="2300" dirty="0">
              <a:solidFill>
                <a:srgbClr val="002060"/>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DB063F49-5ABA-D730-81EB-A340FF26FC95}"/>
              </a:ext>
            </a:extLst>
          </p:cNvPr>
          <p:cNvPicPr>
            <a:picLocks noChangeAspect="1"/>
          </p:cNvPicPr>
          <p:nvPr/>
        </p:nvPicPr>
        <p:blipFill>
          <a:blip r:embed="rId3"/>
          <a:stretch>
            <a:fillRect/>
          </a:stretch>
        </p:blipFill>
        <p:spPr>
          <a:xfrm>
            <a:off x="-85725" y="1531591"/>
            <a:ext cx="6705600" cy="5193059"/>
          </a:xfrm>
          <a:prstGeom prst="rect">
            <a:avLst/>
          </a:prstGeom>
        </p:spPr>
      </p:pic>
      <p:sp>
        <p:nvSpPr>
          <p:cNvPr id="9" name="TextBox 8">
            <a:extLst>
              <a:ext uri="{FF2B5EF4-FFF2-40B4-BE49-F238E27FC236}">
                <a16:creationId xmlns:a16="http://schemas.microsoft.com/office/drawing/2014/main" id="{DB3D6959-0244-A744-50F8-48772AC6E393}"/>
              </a:ext>
            </a:extLst>
          </p:cNvPr>
          <p:cNvSpPr txBox="1"/>
          <p:nvPr/>
        </p:nvSpPr>
        <p:spPr>
          <a:xfrm>
            <a:off x="6438899" y="1663149"/>
            <a:ext cx="5557089" cy="2092881"/>
          </a:xfrm>
          <a:prstGeom prst="rect">
            <a:avLst/>
          </a:prstGeom>
          <a:solidFill>
            <a:schemeClr val="accent6">
              <a:lumMod val="20000"/>
              <a:lumOff val="80000"/>
            </a:schemeClr>
          </a:solidFill>
        </p:spPr>
        <p:txBody>
          <a:bodyPr wrap="square">
            <a:spAutoFit/>
          </a:bodyPr>
          <a:lstStyle/>
          <a:p>
            <a:pPr algn="just"/>
            <a:r>
              <a:rPr lang="mn-MN" sz="2600" dirty="0">
                <a:solidFill>
                  <a:srgbClr val="002060"/>
                </a:solidFill>
                <a:latin typeface="Times New Roman" panose="02020603050405020304" pitchFamily="18" charset="0"/>
                <a:cs typeface="Times New Roman" panose="02020603050405020304" pitchFamily="18" charset="0"/>
              </a:rPr>
              <a:t>Үйлдвэрлэлийн хэмжээ томорч, бүтээгдэхүүний тоо хэмжээ өсөх тусам бүтээгдэхүүний нэгжид ногдох зардал </a:t>
            </a:r>
            <a:r>
              <a:rPr lang="en-US" sz="2600" dirty="0">
                <a:solidFill>
                  <a:srgbClr val="002060"/>
                </a:solidFill>
                <a:latin typeface="Times New Roman" panose="02020603050405020304" pitchFamily="18" charset="0"/>
                <a:cs typeface="Times New Roman" panose="02020603050405020304" pitchFamily="18" charset="0"/>
              </a:rPr>
              <a:t>(</a:t>
            </a:r>
            <a:r>
              <a:rPr lang="mn-MN" sz="2600" dirty="0">
                <a:solidFill>
                  <a:srgbClr val="002060"/>
                </a:solidFill>
                <a:latin typeface="Times New Roman" panose="02020603050405020304" pitchFamily="18" charset="0"/>
                <a:cs typeface="Times New Roman" panose="02020603050405020304" pitchFamily="18" charset="0"/>
              </a:rPr>
              <a:t>тэр дундаа тогтмол зардал</a:t>
            </a:r>
            <a:r>
              <a:rPr lang="en-US" sz="2600" dirty="0">
                <a:solidFill>
                  <a:srgbClr val="002060"/>
                </a:solidFill>
                <a:latin typeface="Times New Roman" panose="02020603050405020304" pitchFamily="18" charset="0"/>
                <a:cs typeface="Times New Roman" panose="02020603050405020304" pitchFamily="18" charset="0"/>
              </a:rPr>
              <a:t>) </a:t>
            </a:r>
            <a:r>
              <a:rPr lang="mn-MN" sz="2600" dirty="0">
                <a:solidFill>
                  <a:srgbClr val="002060"/>
                </a:solidFill>
                <a:latin typeface="Times New Roman" panose="02020603050405020304" pitchFamily="18" charset="0"/>
                <a:cs typeface="Times New Roman" panose="02020603050405020304" pitchFamily="18" charset="0"/>
              </a:rPr>
              <a:t>буурах хандлагатай байна. </a:t>
            </a:r>
            <a:endParaRPr lang="en-US" sz="2600"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055156AD-3CF9-C410-FEBA-114A0A2C981F}"/>
              </a:ext>
            </a:extLst>
          </p:cNvPr>
          <p:cNvSpPr txBox="1"/>
          <p:nvPr/>
        </p:nvSpPr>
        <p:spPr>
          <a:xfrm>
            <a:off x="6438900" y="3948356"/>
            <a:ext cx="5557088" cy="2492990"/>
          </a:xfrm>
          <a:prstGeom prst="rect">
            <a:avLst/>
          </a:prstGeom>
          <a:solidFill>
            <a:schemeClr val="accent4">
              <a:lumMod val="20000"/>
              <a:lumOff val="80000"/>
            </a:schemeClr>
          </a:solidFill>
        </p:spPr>
        <p:txBody>
          <a:bodyPr wrap="square">
            <a:spAutoFit/>
          </a:bodyPr>
          <a:lstStyle/>
          <a:p>
            <a:pPr algn="just"/>
            <a:r>
              <a:rPr lang="mn-MN" sz="2600" dirty="0">
                <a:solidFill>
                  <a:srgbClr val="002060"/>
                </a:solidFill>
                <a:latin typeface="Times New Roman" panose="02020603050405020304" pitchFamily="18" charset="0"/>
                <a:cs typeface="Times New Roman" panose="02020603050405020304" pitchFamily="18" charset="0"/>
              </a:rPr>
              <a:t>Энэ </a:t>
            </a:r>
            <a:r>
              <a:rPr lang="mn-MN" sz="2600" b="1" dirty="0">
                <a:solidFill>
                  <a:srgbClr val="002060"/>
                </a:solidFill>
                <a:latin typeface="Times New Roman" panose="02020603050405020304" pitchFamily="18" charset="0"/>
                <a:cs typeface="Times New Roman" panose="02020603050405020304" pitchFamily="18" charset="0"/>
              </a:rPr>
              <a:t>зардал буурах хандлага </a:t>
            </a:r>
            <a:r>
              <a:rPr lang="mn-MN" sz="2600" dirty="0">
                <a:solidFill>
                  <a:srgbClr val="002060"/>
                </a:solidFill>
                <a:latin typeface="Times New Roman" panose="02020603050405020304" pitchFamily="18" charset="0"/>
                <a:cs typeface="Times New Roman" panose="02020603050405020304" pitchFamily="18" charset="0"/>
              </a:rPr>
              <a:t>үйлдвэрлэлийн хэмжээ харьцангуйгаар томорч, материал нөөцийн зарцуулалт болон ажиллах хүчний хослол зардал өндөртэй болж эхлэх хүртэл үргэлжилнэ. </a:t>
            </a:r>
            <a:endParaRPr lang="en-US"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962861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A0C5E4-4252-D2B7-0974-5C27D32AAA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F557E3-3C28-653C-4393-519AF2E64361}"/>
              </a:ext>
            </a:extLst>
          </p:cNvPr>
          <p:cNvSpPr>
            <a:spLocks noGrp="1"/>
          </p:cNvSpPr>
          <p:nvPr>
            <p:ph type="title"/>
          </p:nvPr>
        </p:nvSpPr>
        <p:spPr>
          <a:xfrm>
            <a:off x="184198" y="115043"/>
            <a:ext cx="10515600" cy="565317"/>
          </a:xfrm>
        </p:spPr>
        <p:txBody>
          <a:bodyPr>
            <a:normAutofit fontScale="90000"/>
          </a:bodyPr>
          <a:lstStyle/>
          <a:p>
            <a:r>
              <a:rPr lang="mn-MN" b="1" dirty="0">
                <a:solidFill>
                  <a:srgbClr val="002060"/>
                </a:solidFill>
                <a:latin typeface="Times New Roman" panose="02020603050405020304" pitchFamily="18" charset="0"/>
                <a:cs typeface="Times New Roman" panose="02020603050405020304" pitchFamily="18" charset="0"/>
              </a:rPr>
              <a:t>Хүчин чадал ашиглалтын стратегиуд</a:t>
            </a:r>
            <a:endParaRPr lang="en-US" b="1"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AAFA48D-FCA9-372B-F128-33EE4234AE1A}"/>
              </a:ext>
            </a:extLst>
          </p:cNvPr>
          <p:cNvSpPr>
            <a:spLocks noGrp="1"/>
          </p:cNvSpPr>
          <p:nvPr>
            <p:ph idx="1"/>
          </p:nvPr>
        </p:nvSpPr>
        <p:spPr>
          <a:xfrm>
            <a:off x="216283" y="728487"/>
            <a:ext cx="4997401" cy="5966344"/>
          </a:xfrm>
        </p:spPr>
        <p:txBody>
          <a:bodyPr>
            <a:normAutofit/>
          </a:bodyPr>
          <a:lstStyle/>
          <a:p>
            <a:pPr algn="just"/>
            <a:r>
              <a:rPr lang="mn-MN" dirty="0">
                <a:solidFill>
                  <a:srgbClr val="002060"/>
                </a:solidFill>
                <a:latin typeface="Times New Roman" panose="02020603050405020304" pitchFamily="18" charset="0"/>
                <a:cs typeface="Times New Roman" panose="02020603050405020304" pitchFamily="18" charset="0"/>
              </a:rPr>
              <a:t>Хүчин чадал ашиглалтыг нэмэгдүүлэх боломжууд </a:t>
            </a:r>
          </a:p>
          <a:p>
            <a:pPr lvl="1" algn="just"/>
            <a:r>
              <a:rPr lang="mn-MN" dirty="0">
                <a:solidFill>
                  <a:srgbClr val="002060"/>
                </a:solidFill>
                <a:latin typeface="Times New Roman" panose="02020603050405020304" pitchFamily="18" charset="0"/>
                <a:cs typeface="Times New Roman" panose="02020603050405020304" pitchFamily="18" charset="0"/>
              </a:rPr>
              <a:t>Эрэлтийн таамаглал</a:t>
            </a:r>
          </a:p>
          <a:p>
            <a:pPr lvl="1" algn="just"/>
            <a:r>
              <a:rPr lang="mn-MN" dirty="0">
                <a:solidFill>
                  <a:srgbClr val="002060"/>
                </a:solidFill>
                <a:latin typeface="Times New Roman" panose="02020603050405020304" pitchFamily="18" charset="0"/>
                <a:cs typeface="Times New Roman" panose="02020603050405020304" pitchFamily="18" charset="0"/>
              </a:rPr>
              <a:t>Технологи ба хүчин чадал өөрчлөлт </a:t>
            </a:r>
          </a:p>
          <a:p>
            <a:pPr lvl="1" algn="just"/>
            <a:r>
              <a:rPr lang="mn-MN" dirty="0">
                <a:solidFill>
                  <a:srgbClr val="002060"/>
                </a:solidFill>
                <a:latin typeface="Times New Roman" panose="02020603050405020304" pitchFamily="18" charset="0"/>
                <a:cs typeface="Times New Roman" panose="02020603050405020304" pitchFamily="18" charset="0"/>
              </a:rPr>
              <a:t>Үйлдвэрлэлийн оновчтой хэмжээ </a:t>
            </a:r>
          </a:p>
          <a:p>
            <a:pPr lvl="1" algn="just"/>
            <a:r>
              <a:rPr lang="mn-MN" dirty="0">
                <a:solidFill>
                  <a:srgbClr val="002060"/>
                </a:solidFill>
                <a:latin typeface="Times New Roman" panose="02020603050405020304" pitchFamily="18" charset="0"/>
                <a:cs typeface="Times New Roman" panose="02020603050405020304" pitchFamily="18" charset="0"/>
              </a:rPr>
              <a:t>Процессын уян хатан байдал, өөрчлөлт </a:t>
            </a:r>
          </a:p>
          <a:p>
            <a:pPr algn="just"/>
            <a:r>
              <a:rPr lang="mn-MN" dirty="0">
                <a:solidFill>
                  <a:srgbClr val="002060"/>
                </a:solidFill>
                <a:latin typeface="Times New Roman" panose="02020603050405020304" pitchFamily="18" charset="0"/>
                <a:cs typeface="Times New Roman" panose="02020603050405020304" pitchFamily="18" charset="0"/>
              </a:rPr>
              <a:t>Хүчин чадал ашиглалтыг нэмэгдүүлэх </a:t>
            </a:r>
          </a:p>
          <a:p>
            <a:pPr lvl="1" algn="just"/>
            <a:r>
              <a:rPr lang="mn-MN" dirty="0">
                <a:solidFill>
                  <a:srgbClr val="002060"/>
                </a:solidFill>
                <a:latin typeface="Times New Roman" panose="02020603050405020304" pitchFamily="18" charset="0"/>
                <a:cs typeface="Times New Roman" panose="02020603050405020304" pitchFamily="18" charset="0"/>
              </a:rPr>
              <a:t>Эрэлт илүүдэх тохиолдол </a:t>
            </a:r>
          </a:p>
          <a:p>
            <a:pPr lvl="1" algn="just"/>
            <a:r>
              <a:rPr lang="mn-MN" dirty="0">
                <a:solidFill>
                  <a:srgbClr val="002060"/>
                </a:solidFill>
                <a:latin typeface="Times New Roman" panose="02020603050405020304" pitchFamily="18" charset="0"/>
                <a:cs typeface="Times New Roman" panose="02020603050405020304" pitchFamily="18" charset="0"/>
              </a:rPr>
              <a:t>Эрэлт хомсдох тохиолдол </a:t>
            </a:r>
          </a:p>
          <a:p>
            <a:pPr lvl="1" algn="just"/>
            <a:r>
              <a:rPr lang="mn-MN" dirty="0">
                <a:solidFill>
                  <a:srgbClr val="002060"/>
                </a:solidFill>
                <a:latin typeface="Times New Roman" panose="02020603050405020304" pitchFamily="18" charset="0"/>
                <a:cs typeface="Times New Roman" panose="02020603050405020304" pitchFamily="18" charset="0"/>
              </a:rPr>
              <a:t>Эрэлт тогтворгүй байх тохиолдол (улирлын нөлөө)</a:t>
            </a:r>
            <a:endParaRPr lang="en-US" dirty="0">
              <a:solidFill>
                <a:srgbClr val="00206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DA8D4347-28BF-25E8-6A3D-323BDD32AC2E}"/>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5454316" y="728487"/>
            <a:ext cx="6659917" cy="5592102"/>
          </a:xfrm>
          <a:prstGeom prst="rect">
            <a:avLst/>
          </a:prstGeom>
        </p:spPr>
      </p:pic>
    </p:spTree>
    <p:extLst>
      <p:ext uri="{BB962C8B-B14F-4D97-AF65-F5344CB8AC3E}">
        <p14:creationId xmlns:p14="http://schemas.microsoft.com/office/powerpoint/2010/main" val="29841157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D05FAC-7AF7-E5C5-7AC5-4455CC1D73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381654-1FF5-00FF-6090-03B47A76BC17}"/>
              </a:ext>
            </a:extLst>
          </p:cNvPr>
          <p:cNvSpPr>
            <a:spLocks noGrp="1"/>
          </p:cNvSpPr>
          <p:nvPr>
            <p:ph type="title"/>
          </p:nvPr>
        </p:nvSpPr>
        <p:spPr>
          <a:xfrm>
            <a:off x="148712" y="92409"/>
            <a:ext cx="10515600" cy="628117"/>
          </a:xfrm>
        </p:spPr>
        <p:txBody>
          <a:bodyPr>
            <a:normAutofit fontScale="90000"/>
          </a:bodyPr>
          <a:lstStyle/>
          <a:p>
            <a:r>
              <a:rPr lang="mn-MN" b="1" dirty="0">
                <a:solidFill>
                  <a:srgbClr val="002060"/>
                </a:solidFill>
                <a:latin typeface="Times New Roman" panose="02020603050405020304" pitchFamily="18" charset="0"/>
                <a:cs typeface="Times New Roman" panose="02020603050405020304" pitchFamily="18" charset="0"/>
              </a:rPr>
              <a:t>Хүчин чадал ашиглалтын стратегиуд</a:t>
            </a:r>
            <a:endParaRPr lang="en-US" b="1" dirty="0">
              <a:solidFill>
                <a:srgbClr val="002060"/>
              </a:solidFill>
              <a:latin typeface="Times New Roman" panose="02020603050405020304" pitchFamily="18" charset="0"/>
              <a:cs typeface="Times New Roman" panose="02020603050405020304" pitchFamily="18" charset="0"/>
            </a:endParaRPr>
          </a:p>
        </p:txBody>
      </p:sp>
      <p:sp>
        <p:nvSpPr>
          <p:cNvPr id="6" name="Content Placeholder 2">
            <a:extLst>
              <a:ext uri="{FF2B5EF4-FFF2-40B4-BE49-F238E27FC236}">
                <a16:creationId xmlns:a16="http://schemas.microsoft.com/office/drawing/2014/main" id="{AEF03E6A-2EBB-D525-AB75-101B7DE1ACAB}"/>
              </a:ext>
            </a:extLst>
          </p:cNvPr>
          <p:cNvSpPr txBox="1">
            <a:spLocks/>
          </p:cNvSpPr>
          <p:nvPr/>
        </p:nvSpPr>
        <p:spPr>
          <a:xfrm>
            <a:off x="148712" y="701895"/>
            <a:ext cx="11787640" cy="507473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mn-MN" sz="1600" dirty="0">
                <a:solidFill>
                  <a:srgbClr val="002060"/>
                </a:solidFill>
                <a:latin typeface="Times New Roman" panose="02020603050405020304" pitchFamily="18" charset="0"/>
                <a:cs typeface="Times New Roman" panose="02020603050405020304" pitchFamily="18" charset="0"/>
              </a:rPr>
              <a:t>Манлайлах стратеги (</a:t>
            </a:r>
            <a:r>
              <a:rPr lang="en-US" sz="1600" dirty="0">
                <a:solidFill>
                  <a:srgbClr val="002060"/>
                </a:solidFill>
                <a:latin typeface="Times New Roman" panose="02020603050405020304" pitchFamily="18" charset="0"/>
                <a:cs typeface="Times New Roman" panose="02020603050405020304" pitchFamily="18" charset="0"/>
              </a:rPr>
              <a:t>proactive strategy)                  </a:t>
            </a:r>
            <a:r>
              <a:rPr lang="mn-MN" sz="1600" dirty="0">
                <a:solidFill>
                  <a:srgbClr val="002060"/>
                </a:solidFill>
                <a:latin typeface="Times New Roman" panose="02020603050405020304" pitchFamily="18" charset="0"/>
                <a:cs typeface="Times New Roman" panose="02020603050405020304" pitchFamily="18" charset="0"/>
              </a:rPr>
              <a:t>Хоёрдмол стратеги (</a:t>
            </a:r>
            <a:r>
              <a:rPr lang="en-US" sz="1600" dirty="0">
                <a:solidFill>
                  <a:srgbClr val="002060"/>
                </a:solidFill>
                <a:latin typeface="Times New Roman" panose="02020603050405020304" pitchFamily="18" charset="0"/>
                <a:cs typeface="Times New Roman" panose="02020603050405020304" pitchFamily="18" charset="0"/>
              </a:rPr>
              <a:t>neutral strategy)          </a:t>
            </a:r>
            <a:r>
              <a:rPr lang="mn-MN" sz="1100" dirty="0">
                <a:solidFill>
                  <a:srgbClr val="002060"/>
                </a:solidFill>
                <a:latin typeface="Times New Roman" panose="02020603050405020304" pitchFamily="18" charset="0"/>
                <a:cs typeface="Times New Roman" panose="02020603050405020304" pitchFamily="18" charset="0"/>
              </a:rPr>
              <a:t> </a:t>
            </a:r>
            <a:r>
              <a:rPr lang="en-US" sz="1100" dirty="0">
                <a:solidFill>
                  <a:srgbClr val="002060"/>
                </a:solidFill>
                <a:latin typeface="Times New Roman" panose="02020603050405020304" pitchFamily="18" charset="0"/>
                <a:cs typeface="Times New Roman" panose="02020603050405020304" pitchFamily="18" charset="0"/>
              </a:rPr>
              <a:t>     </a:t>
            </a:r>
            <a:r>
              <a:rPr lang="mn-MN" sz="1600" dirty="0">
                <a:solidFill>
                  <a:srgbClr val="002060"/>
                </a:solidFill>
                <a:latin typeface="Times New Roman" panose="02020603050405020304" pitchFamily="18" charset="0"/>
                <a:cs typeface="Times New Roman" panose="02020603050405020304" pitchFamily="18" charset="0"/>
              </a:rPr>
              <a:t>Хоцрох стратеги (</a:t>
            </a:r>
            <a:r>
              <a:rPr lang="en-US" sz="1600" dirty="0">
                <a:solidFill>
                  <a:srgbClr val="002060"/>
                </a:solidFill>
                <a:latin typeface="Times New Roman" panose="02020603050405020304" pitchFamily="18" charset="0"/>
                <a:cs typeface="Times New Roman" panose="02020603050405020304" pitchFamily="18" charset="0"/>
              </a:rPr>
              <a:t>reactive strategy)  </a:t>
            </a:r>
          </a:p>
          <a:p>
            <a:pPr marL="0" indent="0">
              <a:buFont typeface="Arial" panose="020B0604020202020204" pitchFamily="34" charset="0"/>
              <a:buNone/>
            </a:pPr>
            <a:r>
              <a:rPr lang="mn-MN" sz="2400" dirty="0">
                <a:solidFill>
                  <a:srgbClr val="002060"/>
                </a:solidFill>
                <a:latin typeface="Times New Roman" panose="02020603050405020304" pitchFamily="18" charset="0"/>
                <a:cs typeface="Times New Roman" panose="02020603050405020304" pitchFamily="18" charset="0"/>
              </a:rPr>
              <a:t> </a:t>
            </a:r>
            <a:endParaRPr lang="en-US" sz="2400" dirty="0">
              <a:solidFill>
                <a:srgbClr val="002060"/>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B3C885ED-66D0-8072-8106-5AD8B80EE261}"/>
              </a:ext>
            </a:extLst>
          </p:cNvPr>
          <p:cNvPicPr>
            <a:picLocks noChangeAspect="1"/>
          </p:cNvPicPr>
          <p:nvPr/>
        </p:nvPicPr>
        <p:blipFill>
          <a:blip r:embed="rId3"/>
          <a:stretch>
            <a:fillRect/>
          </a:stretch>
        </p:blipFill>
        <p:spPr>
          <a:xfrm>
            <a:off x="148712" y="1122949"/>
            <a:ext cx="3974756" cy="550244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8" name="Picture 7">
            <a:extLst>
              <a:ext uri="{FF2B5EF4-FFF2-40B4-BE49-F238E27FC236}">
                <a16:creationId xmlns:a16="http://schemas.microsoft.com/office/drawing/2014/main" id="{978F41EA-36F9-BCFE-677E-CBBC384DC46A}"/>
              </a:ext>
            </a:extLst>
          </p:cNvPr>
          <p:cNvPicPr>
            <a:picLocks noChangeAspect="1"/>
          </p:cNvPicPr>
          <p:nvPr/>
        </p:nvPicPr>
        <p:blipFill>
          <a:blip r:embed="rId4"/>
          <a:stretch>
            <a:fillRect/>
          </a:stretch>
        </p:blipFill>
        <p:spPr>
          <a:xfrm>
            <a:off x="4269883" y="1122949"/>
            <a:ext cx="3731195" cy="550244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9" name="Picture 8">
            <a:extLst>
              <a:ext uri="{FF2B5EF4-FFF2-40B4-BE49-F238E27FC236}">
                <a16:creationId xmlns:a16="http://schemas.microsoft.com/office/drawing/2014/main" id="{A60FA7BE-C86A-0049-3520-D7FD4F339504}"/>
              </a:ext>
            </a:extLst>
          </p:cNvPr>
          <p:cNvPicPr>
            <a:picLocks noChangeAspect="1"/>
          </p:cNvPicPr>
          <p:nvPr/>
        </p:nvPicPr>
        <p:blipFill>
          <a:blip r:embed="rId5"/>
          <a:stretch>
            <a:fillRect/>
          </a:stretch>
        </p:blipFill>
        <p:spPr>
          <a:xfrm>
            <a:off x="8140492" y="1122949"/>
            <a:ext cx="3902796" cy="550244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123177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1B8FC5-317F-5CDB-6B12-6C410D3071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A2088D-BDDE-C281-064E-0564DB2ED5F2}"/>
              </a:ext>
            </a:extLst>
          </p:cNvPr>
          <p:cNvSpPr>
            <a:spLocks noGrp="1"/>
          </p:cNvSpPr>
          <p:nvPr>
            <p:ph type="title"/>
          </p:nvPr>
        </p:nvSpPr>
        <p:spPr>
          <a:xfrm>
            <a:off x="132346" y="124494"/>
            <a:ext cx="10776285" cy="741780"/>
          </a:xfrm>
        </p:spPr>
        <p:txBody>
          <a:bodyPr/>
          <a:lstStyle/>
          <a:p>
            <a:pPr algn="just"/>
            <a:r>
              <a:rPr lang="mn-MN" b="1" dirty="0">
                <a:solidFill>
                  <a:srgbClr val="002060"/>
                </a:solidFill>
                <a:latin typeface="Times New Roman" panose="02020603050405020304" pitchFamily="18" charset="0"/>
                <a:cs typeface="Times New Roman" panose="02020603050405020304" pitchFamily="18" charset="0"/>
              </a:rPr>
              <a:t>Хүчин чадлын төлөвлөлт </a:t>
            </a:r>
            <a:r>
              <a:rPr lang="en-US" b="1" dirty="0">
                <a:solidFill>
                  <a:srgbClr val="002060"/>
                </a:solidFill>
                <a:latin typeface="Times New Roman" panose="02020603050405020304" pitchFamily="18" charset="0"/>
                <a:cs typeface="Times New Roman" panose="02020603050405020304" pitchFamily="18" charset="0"/>
              </a:rPr>
              <a:t>(1)</a:t>
            </a:r>
          </a:p>
        </p:txBody>
      </p:sp>
      <p:sp>
        <p:nvSpPr>
          <p:cNvPr id="3" name="Content Placeholder 2">
            <a:extLst>
              <a:ext uri="{FF2B5EF4-FFF2-40B4-BE49-F238E27FC236}">
                <a16:creationId xmlns:a16="http://schemas.microsoft.com/office/drawing/2014/main" id="{90803ABA-DB39-F600-7E7E-1523D2BD06FB}"/>
              </a:ext>
            </a:extLst>
          </p:cNvPr>
          <p:cNvSpPr>
            <a:spLocks noGrp="1"/>
          </p:cNvSpPr>
          <p:nvPr>
            <p:ph idx="1"/>
          </p:nvPr>
        </p:nvSpPr>
        <p:spPr>
          <a:xfrm>
            <a:off x="132346" y="866274"/>
            <a:ext cx="11177338" cy="5871410"/>
          </a:xfrm>
        </p:spPr>
        <p:txBody>
          <a:bodyPr>
            <a:normAutofit lnSpcReduction="10000"/>
          </a:bodyPr>
          <a:lstStyle/>
          <a:p>
            <a:pPr marL="514350" indent="-514350" algn="just">
              <a:buFont typeface="+mj-lt"/>
              <a:buAutoNum type="arabicPeriod"/>
            </a:pPr>
            <a:r>
              <a:rPr lang="mn-MN" b="1" dirty="0">
                <a:solidFill>
                  <a:srgbClr val="002060"/>
                </a:solidFill>
                <a:latin typeface="Times New Roman" panose="02020603050405020304" pitchFamily="18" charset="0"/>
                <a:cs typeface="Times New Roman" panose="02020603050405020304" pitchFamily="18" charset="0"/>
              </a:rPr>
              <a:t>Эрэлтийг оновчтой таамаглах </a:t>
            </a:r>
          </a:p>
          <a:p>
            <a:pPr lvl="1" algn="just"/>
            <a:r>
              <a:rPr lang="mn-MN" dirty="0">
                <a:solidFill>
                  <a:srgbClr val="002060"/>
                </a:solidFill>
                <a:latin typeface="Times New Roman" panose="02020603050405020304" pitchFamily="18" charset="0"/>
                <a:cs typeface="Times New Roman" panose="02020603050405020304" pitchFamily="18" charset="0"/>
              </a:rPr>
              <a:t>Бүтээгдэхүүн тус бүрээр эрэлтийг таамаглах </a:t>
            </a:r>
          </a:p>
          <a:p>
            <a:pPr lvl="1" algn="just"/>
            <a:r>
              <a:rPr lang="mn-MN" dirty="0">
                <a:solidFill>
                  <a:srgbClr val="002060"/>
                </a:solidFill>
                <a:latin typeface="Times New Roman" panose="02020603050405020304" pitchFamily="18" charset="0"/>
                <a:cs typeface="Times New Roman" panose="02020603050405020304" pitchFamily="18" charset="0"/>
              </a:rPr>
              <a:t>Үйлдвэрлэлийн шугам тус бүрээр</a:t>
            </a:r>
            <a:endParaRPr lang="en-US" dirty="0">
              <a:solidFill>
                <a:srgbClr val="002060"/>
              </a:solidFill>
              <a:latin typeface="Times New Roman" panose="02020603050405020304" pitchFamily="18" charset="0"/>
              <a:cs typeface="Times New Roman" panose="02020603050405020304" pitchFamily="18" charset="0"/>
            </a:endParaRPr>
          </a:p>
          <a:p>
            <a:pPr marL="457200" lvl="1" indent="0" algn="just">
              <a:buNone/>
            </a:pPr>
            <a:r>
              <a:rPr lang="en-US" dirty="0">
                <a:solidFill>
                  <a:srgbClr val="002060"/>
                </a:solidFill>
                <a:latin typeface="Times New Roman" panose="02020603050405020304" pitchFamily="18" charset="0"/>
                <a:cs typeface="Times New Roman" panose="02020603050405020304" pitchFamily="18" charset="0"/>
              </a:rPr>
              <a:t>    </a:t>
            </a:r>
            <a:r>
              <a:rPr lang="mn-MN" dirty="0">
                <a:solidFill>
                  <a:srgbClr val="002060"/>
                </a:solidFill>
                <a:latin typeface="Times New Roman" panose="02020603050405020304" pitchFamily="18" charset="0"/>
                <a:cs typeface="Times New Roman" panose="02020603050405020304" pitchFamily="18" charset="0"/>
              </a:rPr>
              <a:t>үйлдвэрлэлийн хэмжээг таамаглах</a:t>
            </a:r>
          </a:p>
          <a:p>
            <a:pPr lvl="1" algn="just"/>
            <a:r>
              <a:rPr lang="mn-MN" dirty="0">
                <a:solidFill>
                  <a:srgbClr val="002060"/>
                </a:solidFill>
                <a:latin typeface="Times New Roman" panose="02020603050405020304" pitchFamily="18" charset="0"/>
                <a:cs typeface="Times New Roman" panose="02020603050405020304" pitchFamily="18" charset="0"/>
              </a:rPr>
              <a:t>Шугам тус бүрийн үйлдвэрлэлд шаардагдах</a:t>
            </a:r>
            <a:endParaRPr lang="en-US" dirty="0">
              <a:solidFill>
                <a:srgbClr val="002060"/>
              </a:solidFill>
              <a:latin typeface="Times New Roman" panose="02020603050405020304" pitchFamily="18" charset="0"/>
              <a:cs typeface="Times New Roman" panose="02020603050405020304" pitchFamily="18" charset="0"/>
            </a:endParaRPr>
          </a:p>
          <a:p>
            <a:pPr marL="457200" lvl="1" indent="0" algn="just">
              <a:buNone/>
            </a:pPr>
            <a:r>
              <a:rPr lang="en-US" dirty="0">
                <a:solidFill>
                  <a:srgbClr val="002060"/>
                </a:solidFill>
                <a:latin typeface="Times New Roman" panose="02020603050405020304" pitchFamily="18" charset="0"/>
                <a:cs typeface="Times New Roman" panose="02020603050405020304" pitchFamily="18" charset="0"/>
              </a:rPr>
              <a:t>   </a:t>
            </a:r>
            <a:r>
              <a:rPr lang="mn-MN" dirty="0">
                <a:solidFill>
                  <a:srgbClr val="002060"/>
                </a:solidFill>
                <a:latin typeface="Times New Roman" panose="02020603050405020304" pitchFamily="18" charset="0"/>
                <a:cs typeface="Times New Roman" panose="02020603050405020304" pitchFamily="18" charset="0"/>
              </a:rPr>
              <a:t>хөдөлмөр, тоног төхөөрөмжийн хэрэгцээг</a:t>
            </a:r>
            <a:endParaRPr lang="en-US" dirty="0">
              <a:solidFill>
                <a:srgbClr val="002060"/>
              </a:solidFill>
              <a:latin typeface="Times New Roman" panose="02020603050405020304" pitchFamily="18" charset="0"/>
              <a:cs typeface="Times New Roman" panose="02020603050405020304" pitchFamily="18" charset="0"/>
            </a:endParaRPr>
          </a:p>
          <a:p>
            <a:pPr marL="457200" lvl="1" indent="0" algn="just">
              <a:buNone/>
            </a:pPr>
            <a:r>
              <a:rPr lang="en-US" dirty="0">
                <a:solidFill>
                  <a:srgbClr val="002060"/>
                </a:solidFill>
                <a:latin typeface="Times New Roman" panose="02020603050405020304" pitchFamily="18" charset="0"/>
                <a:cs typeface="Times New Roman" panose="02020603050405020304" pitchFamily="18" charset="0"/>
              </a:rPr>
              <a:t>   </a:t>
            </a:r>
            <a:r>
              <a:rPr lang="mn-MN" dirty="0">
                <a:solidFill>
                  <a:srgbClr val="002060"/>
                </a:solidFill>
                <a:latin typeface="Times New Roman" panose="02020603050405020304" pitchFamily="18" charset="0"/>
                <a:cs typeface="Times New Roman" panose="02020603050405020304" pitchFamily="18" charset="0"/>
              </a:rPr>
              <a:t>төлөвлөх</a:t>
            </a:r>
          </a:p>
          <a:p>
            <a:pPr lvl="1" algn="just"/>
            <a:r>
              <a:rPr lang="mn-MN" dirty="0">
                <a:solidFill>
                  <a:srgbClr val="002060"/>
                </a:solidFill>
                <a:latin typeface="Times New Roman" panose="02020603050405020304" pitchFamily="18" charset="0"/>
                <a:cs typeface="Times New Roman" panose="02020603050405020304" pitchFamily="18" charset="0"/>
              </a:rPr>
              <a:t>Шугам тус бүрээр шаардагдах түүхий эд,</a:t>
            </a:r>
            <a:endParaRPr lang="en-US" dirty="0">
              <a:solidFill>
                <a:srgbClr val="002060"/>
              </a:solidFill>
              <a:latin typeface="Times New Roman" panose="02020603050405020304" pitchFamily="18" charset="0"/>
              <a:cs typeface="Times New Roman" panose="02020603050405020304" pitchFamily="18" charset="0"/>
            </a:endParaRPr>
          </a:p>
          <a:p>
            <a:pPr marL="457200" lvl="1" indent="0" algn="just">
              <a:buNone/>
            </a:pPr>
            <a:r>
              <a:rPr lang="en-US" dirty="0">
                <a:solidFill>
                  <a:srgbClr val="002060"/>
                </a:solidFill>
                <a:latin typeface="Times New Roman" panose="02020603050405020304" pitchFamily="18" charset="0"/>
                <a:cs typeface="Times New Roman" panose="02020603050405020304" pitchFamily="18" charset="0"/>
              </a:rPr>
              <a:t>   </a:t>
            </a:r>
            <a:r>
              <a:rPr lang="mn-MN" dirty="0">
                <a:solidFill>
                  <a:srgbClr val="002060"/>
                </a:solidFill>
                <a:latin typeface="Times New Roman" panose="02020603050405020304" pitchFamily="18" charset="0"/>
                <a:cs typeface="Times New Roman" panose="02020603050405020304" pitchFamily="18" charset="0"/>
              </a:rPr>
              <a:t>материалын хэрэгцээг төлөвлөх</a:t>
            </a:r>
          </a:p>
          <a:p>
            <a:pPr lvl="1" algn="just"/>
            <a:r>
              <a:rPr lang="mn-MN" dirty="0">
                <a:solidFill>
                  <a:srgbClr val="002060"/>
                </a:solidFill>
                <a:latin typeface="Times New Roman" panose="02020603050405020304" pitchFamily="18" charset="0"/>
                <a:cs typeface="Times New Roman" panose="02020603050405020304" pitchFamily="18" charset="0"/>
              </a:rPr>
              <a:t>Бэлэн байгаа хөдөлмөр, тоног төхөөрөмж,</a:t>
            </a:r>
            <a:endParaRPr lang="en-US" dirty="0">
              <a:solidFill>
                <a:srgbClr val="002060"/>
              </a:solidFill>
              <a:latin typeface="Times New Roman" panose="02020603050405020304" pitchFamily="18" charset="0"/>
              <a:cs typeface="Times New Roman" panose="02020603050405020304" pitchFamily="18" charset="0"/>
            </a:endParaRPr>
          </a:p>
          <a:p>
            <a:pPr marL="457200" lvl="1" indent="0" algn="just">
              <a:buNone/>
            </a:pPr>
            <a:r>
              <a:rPr lang="en-US" dirty="0">
                <a:solidFill>
                  <a:srgbClr val="002060"/>
                </a:solidFill>
                <a:latin typeface="Times New Roman" panose="02020603050405020304" pitchFamily="18" charset="0"/>
                <a:cs typeface="Times New Roman" panose="02020603050405020304" pitchFamily="18" charset="0"/>
              </a:rPr>
              <a:t>   </a:t>
            </a:r>
            <a:r>
              <a:rPr lang="mn-MN" dirty="0">
                <a:solidFill>
                  <a:srgbClr val="002060"/>
                </a:solidFill>
                <a:latin typeface="Times New Roman" panose="02020603050405020304" pitchFamily="18" charset="0"/>
                <a:cs typeface="Times New Roman" panose="02020603050405020304" pitchFamily="18" charset="0"/>
              </a:rPr>
              <a:t>түүхий эд материалын нөөцийн хэмжээг гаргах замаар шинээр нэмж ажиллуулах хөдөлмөр, тоног төхөөрөмж, худалдан авах түүхий эд материалын тооцоог гаргах </a:t>
            </a:r>
          </a:p>
          <a:p>
            <a:pPr marL="514350" indent="-514350" algn="just">
              <a:buFont typeface="+mj-lt"/>
              <a:buAutoNum type="arabicPeriod"/>
            </a:pPr>
            <a:r>
              <a:rPr lang="mn-MN" b="1" dirty="0">
                <a:solidFill>
                  <a:srgbClr val="002060"/>
                </a:solidFill>
                <a:latin typeface="Times New Roman" panose="02020603050405020304" pitchFamily="18" charset="0"/>
                <a:cs typeface="Times New Roman" panose="02020603050405020304" pitchFamily="18" charset="0"/>
              </a:rPr>
              <a:t>Хугарлын цэгийн шинжилгээ хийх </a:t>
            </a:r>
          </a:p>
          <a:p>
            <a:pPr lvl="1" algn="just"/>
            <a:r>
              <a:rPr lang="mn-MN" dirty="0">
                <a:solidFill>
                  <a:srgbClr val="002060"/>
                </a:solidFill>
                <a:latin typeface="Times New Roman" panose="02020603050405020304" pitchFamily="18" charset="0"/>
                <a:cs typeface="Times New Roman" panose="02020603050405020304" pitchFamily="18" charset="0"/>
              </a:rPr>
              <a:t>Бүтээгдэхүүний нэгжээр</a:t>
            </a:r>
          </a:p>
          <a:p>
            <a:pPr lvl="1" algn="just"/>
            <a:r>
              <a:rPr lang="mn-MN" dirty="0">
                <a:solidFill>
                  <a:srgbClr val="002060"/>
                </a:solidFill>
                <a:latin typeface="Times New Roman" panose="02020603050405020304" pitchFamily="18" charset="0"/>
                <a:cs typeface="Times New Roman" panose="02020603050405020304" pitchFamily="18" charset="0"/>
              </a:rPr>
              <a:t>Орлогоор</a:t>
            </a:r>
          </a:p>
        </p:txBody>
      </p:sp>
      <p:pic>
        <p:nvPicPr>
          <p:cNvPr id="4" name="Picture 6" descr="Capacity Planning Template In Excel Spreadsheet | Excel template ...">
            <a:extLst>
              <a:ext uri="{FF2B5EF4-FFF2-40B4-BE49-F238E27FC236}">
                <a16:creationId xmlns:a16="http://schemas.microsoft.com/office/drawing/2014/main" id="{A9A16D13-4D4E-8BCF-7E7F-47A970FD95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3156" y="120315"/>
            <a:ext cx="4506498" cy="43286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89622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11EFA8-46B3-F2D4-11C5-794340B0C0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D79897-4F78-08BE-7CE7-D8F0B787543B}"/>
              </a:ext>
            </a:extLst>
          </p:cNvPr>
          <p:cNvSpPr>
            <a:spLocks noGrp="1"/>
          </p:cNvSpPr>
          <p:nvPr>
            <p:ph type="title"/>
          </p:nvPr>
        </p:nvSpPr>
        <p:spPr>
          <a:xfrm>
            <a:off x="196514" y="124495"/>
            <a:ext cx="7070559" cy="570563"/>
          </a:xfrm>
        </p:spPr>
        <p:txBody>
          <a:bodyPr>
            <a:noAutofit/>
          </a:bodyPr>
          <a:lstStyle/>
          <a:p>
            <a:r>
              <a:rPr lang="mn-MN" sz="4000" b="1" dirty="0">
                <a:solidFill>
                  <a:srgbClr val="002060"/>
                </a:solidFill>
                <a:latin typeface="Times New Roman" panose="02020603050405020304" pitchFamily="18" charset="0"/>
                <a:cs typeface="Times New Roman" panose="02020603050405020304" pitchFamily="18" charset="0"/>
              </a:rPr>
              <a:t>Хүчин чадлын төлөвлөлт</a:t>
            </a:r>
            <a:r>
              <a:rPr lang="en-US" sz="4000" b="1" dirty="0">
                <a:solidFill>
                  <a:srgbClr val="002060"/>
                </a:solidFill>
                <a:latin typeface="Times New Roman" panose="02020603050405020304" pitchFamily="18" charset="0"/>
                <a:cs typeface="Times New Roman" panose="02020603050405020304" pitchFamily="18" charset="0"/>
              </a:rPr>
              <a:t> </a:t>
            </a:r>
            <a:r>
              <a:rPr lang="mn-MN" sz="4000" b="1" dirty="0">
                <a:solidFill>
                  <a:srgbClr val="002060"/>
                </a:solidFill>
                <a:latin typeface="Times New Roman" panose="02020603050405020304" pitchFamily="18" charset="0"/>
                <a:cs typeface="Times New Roman" panose="02020603050405020304" pitchFamily="18" charset="0"/>
              </a:rPr>
              <a:t> </a:t>
            </a:r>
            <a:r>
              <a:rPr lang="en-US" sz="4000" b="1" dirty="0">
                <a:solidFill>
                  <a:srgbClr val="002060"/>
                </a:solidFill>
                <a:latin typeface="Times New Roman" panose="02020603050405020304" pitchFamily="18" charset="0"/>
                <a:cs typeface="Times New Roman" panose="02020603050405020304" pitchFamily="18" charset="0"/>
              </a:rPr>
              <a:t>(2)</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3FC1A34-265E-FF1D-8615-D7BC668AA4B9}"/>
                  </a:ext>
                </a:extLst>
              </p:cNvPr>
              <p:cNvSpPr>
                <a:spLocks noGrp="1"/>
              </p:cNvSpPr>
              <p:nvPr>
                <p:ph idx="1"/>
              </p:nvPr>
            </p:nvSpPr>
            <p:spPr>
              <a:xfrm>
                <a:off x="196515" y="695059"/>
                <a:ext cx="6500149" cy="6038446"/>
              </a:xfrm>
            </p:spPr>
            <p:txBody>
              <a:bodyPr>
                <a:normAutofit lnSpcReduction="10000"/>
              </a:bodyPr>
              <a:lstStyle/>
              <a:p>
                <a:pPr marL="0" indent="0" algn="just">
                  <a:buNone/>
                </a:pPr>
                <a:r>
                  <a:rPr lang="en-US" b="1" dirty="0">
                    <a:solidFill>
                      <a:srgbClr val="002060"/>
                    </a:solidFill>
                    <a:latin typeface="Times New Roman" panose="02020603050405020304" pitchFamily="18" charset="0"/>
                    <a:cs typeface="Times New Roman" panose="02020603050405020304" pitchFamily="18" charset="0"/>
                  </a:rPr>
                  <a:t>3. </a:t>
                </a:r>
                <a:r>
                  <a:rPr lang="mn-MN" b="1" dirty="0">
                    <a:solidFill>
                      <a:srgbClr val="002060"/>
                    </a:solidFill>
                    <a:latin typeface="Times New Roman" panose="02020603050405020304" pitchFamily="18" charset="0"/>
                    <a:cs typeface="Times New Roman" panose="02020603050405020304" pitchFamily="18" charset="0"/>
                  </a:rPr>
                  <a:t>Шийдвэрийн модны аргыг ашиглах</a:t>
                </a:r>
              </a:p>
              <a:p>
                <a:pPr lvl="1" algn="just"/>
                <a:r>
                  <a:rPr lang="mn-MN" dirty="0">
                    <a:solidFill>
                      <a:srgbClr val="002060"/>
                    </a:solidFill>
                    <a:latin typeface="Times New Roman" panose="02020603050405020304" pitchFamily="18" charset="0"/>
                    <a:cs typeface="Times New Roman" panose="02020603050405020304" pitchFamily="18" charset="0"/>
                  </a:rPr>
                  <a:t>Хөрөнгө оруулалтын шийдвэр гаргахад шаардагдах мэдээллийг цуглуулна, үүнд: </a:t>
                </a:r>
              </a:p>
              <a:p>
                <a:pPr lvl="2" algn="just"/>
                <a:r>
                  <a:rPr lang="mn-MN" dirty="0">
                    <a:solidFill>
                      <a:srgbClr val="002060"/>
                    </a:solidFill>
                    <a:latin typeface="Times New Roman" panose="02020603050405020304" pitchFamily="18" charset="0"/>
                    <a:cs typeface="Times New Roman" panose="02020603050405020304" pitchFamily="18" charset="0"/>
                  </a:rPr>
                  <a:t>Хувилбаруудын хүчин чадлын үзүүлэлтүүд </a:t>
                </a:r>
              </a:p>
              <a:p>
                <a:pPr lvl="2" algn="just"/>
                <a:r>
                  <a:rPr lang="mn-MN" dirty="0">
                    <a:solidFill>
                      <a:srgbClr val="002060"/>
                    </a:solidFill>
                    <a:latin typeface="Times New Roman" panose="02020603050405020304" pitchFamily="18" charset="0"/>
                    <a:cs typeface="Times New Roman" panose="02020603050405020304" pitchFamily="18" charset="0"/>
                  </a:rPr>
                  <a:t>Хувилбаруудын хүлээгдэж буй эрэлтийн хэмжээ буюу борлуулалт </a:t>
                </a:r>
              </a:p>
              <a:p>
                <a:pPr lvl="2" algn="just"/>
                <a:r>
                  <a:rPr lang="mn-MN" dirty="0">
                    <a:solidFill>
                      <a:srgbClr val="002060"/>
                    </a:solidFill>
                    <a:latin typeface="Times New Roman" panose="02020603050405020304" pitchFamily="18" charset="0"/>
                    <a:cs typeface="Times New Roman" panose="02020603050405020304" pitchFamily="18" charset="0"/>
                  </a:rPr>
                  <a:t>Хувилбаруудын хэрэгжиж болохуйц магадлалыг тодорхойлох </a:t>
                </a:r>
              </a:p>
              <a:p>
                <a:pPr algn="just"/>
                <a:r>
                  <a:rPr lang="mn-MN" dirty="0">
                    <a:solidFill>
                      <a:srgbClr val="002060"/>
                    </a:solidFill>
                    <a:latin typeface="Times New Roman" panose="02020603050405020304" pitchFamily="18" charset="0"/>
                    <a:cs typeface="Times New Roman" panose="02020603050405020304" pitchFamily="18" charset="0"/>
                  </a:rPr>
                  <a:t>Шийдвэрийн модыг зурна </a:t>
                </a:r>
              </a:p>
              <a:p>
                <a:pPr algn="just"/>
                <a:r>
                  <a:rPr lang="mn-MN" dirty="0">
                    <a:solidFill>
                      <a:srgbClr val="002060"/>
                    </a:solidFill>
                    <a:latin typeface="Times New Roman" panose="02020603050405020304" pitchFamily="18" charset="0"/>
                    <a:cs typeface="Times New Roman" panose="02020603050405020304" pitchFamily="18" charset="0"/>
                  </a:rPr>
                  <a:t>Хүлээгдэж буй өгөөжийг тодорхойлно: </a:t>
                </a:r>
                <a:endParaRPr lang="en-US" dirty="0">
                  <a:solidFill>
                    <a:srgbClr val="002060"/>
                  </a:solidFill>
                  <a:latin typeface="Times New Roman" panose="02020603050405020304" pitchFamily="18" charset="0"/>
                  <a:cs typeface="Times New Roman" panose="02020603050405020304" pitchFamily="18" charset="0"/>
                </a:endParaRPr>
              </a:p>
              <a:p>
                <a:pPr marL="0" indent="0" algn="just">
                  <a:buNone/>
                </a:pPr>
                <a:r>
                  <a:rPr lang="en-US" b="0" dirty="0">
                    <a:solidFill>
                      <a:srgbClr val="002060"/>
                    </a:solidFill>
                  </a:rPr>
                  <a:t>   </a:t>
                </a:r>
                <a14:m>
                  <m:oMath xmlns:m="http://schemas.openxmlformats.org/officeDocument/2006/math">
                    <m:r>
                      <a:rPr lang="en-US" b="0" i="1" smtClean="0">
                        <a:solidFill>
                          <a:srgbClr val="002060"/>
                        </a:solidFill>
                        <a:latin typeface="Cambria Math" panose="02040503050406030204" pitchFamily="18" charset="0"/>
                      </a:rPr>
                      <m:t>𝐸𝑉</m:t>
                    </m:r>
                    <m:r>
                      <a:rPr lang="en-US" b="0" i="1" smtClean="0">
                        <a:solidFill>
                          <a:srgbClr val="002060"/>
                        </a:solidFill>
                        <a:latin typeface="Cambria Math" panose="02040503050406030204" pitchFamily="18" charset="0"/>
                      </a:rPr>
                      <m:t>=</m:t>
                    </m:r>
                    <m:nary>
                      <m:naryPr>
                        <m:chr m:val="∑"/>
                        <m:ctrlPr>
                          <a:rPr lang="en-US" b="0" i="1" smtClean="0">
                            <a:solidFill>
                              <a:srgbClr val="002060"/>
                            </a:solidFill>
                            <a:latin typeface="Cambria Math" panose="02040503050406030204" pitchFamily="18" charset="0"/>
                          </a:rPr>
                        </m:ctrlPr>
                      </m:naryPr>
                      <m:sub>
                        <m:r>
                          <m:rPr>
                            <m:brk m:alnAt="23"/>
                          </m:rPr>
                          <a:rPr lang="en-US" b="0" i="1" smtClean="0">
                            <a:solidFill>
                              <a:srgbClr val="002060"/>
                            </a:solidFill>
                            <a:latin typeface="Cambria Math" panose="02040503050406030204" pitchFamily="18" charset="0"/>
                          </a:rPr>
                          <m:t>𝑛</m:t>
                        </m:r>
                        <m:r>
                          <a:rPr lang="en-US" b="0" i="1" smtClean="0">
                            <a:solidFill>
                              <a:srgbClr val="002060"/>
                            </a:solidFill>
                            <a:latin typeface="Cambria Math" panose="02040503050406030204" pitchFamily="18" charset="0"/>
                          </a:rPr>
                          <m:t>=1</m:t>
                        </m:r>
                      </m:sub>
                      <m:sup>
                        <m:r>
                          <a:rPr lang="en-US" b="0" i="1" smtClean="0">
                            <a:solidFill>
                              <a:srgbClr val="002060"/>
                            </a:solidFill>
                            <a:latin typeface="Cambria Math" panose="02040503050406030204" pitchFamily="18" charset="0"/>
                          </a:rPr>
                          <m:t>𝑛</m:t>
                        </m:r>
                      </m:sup>
                      <m:e>
                        <m:r>
                          <a:rPr lang="en-US" b="0" i="1" smtClean="0">
                            <a:solidFill>
                              <a:srgbClr val="002060"/>
                            </a:solidFill>
                            <a:latin typeface="Cambria Math" panose="02040503050406030204" pitchFamily="18" charset="0"/>
                          </a:rPr>
                          <m:t>𝐵𝑖</m:t>
                        </m:r>
                        <m:r>
                          <a:rPr lang="en-US" b="0" i="1" smtClean="0">
                            <a:solidFill>
                              <a:srgbClr val="002060"/>
                            </a:solidFill>
                            <a:latin typeface="Cambria Math" panose="02040503050406030204" pitchFamily="18" charset="0"/>
                            <a:ea typeface="Cambria Math" panose="02040503050406030204" pitchFamily="18" charset="0"/>
                          </a:rPr>
                          <m:t>∙</m:t>
                        </m:r>
                        <m:r>
                          <a:rPr lang="en-US" b="0" i="1" smtClean="0">
                            <a:solidFill>
                              <a:srgbClr val="002060"/>
                            </a:solidFill>
                            <a:latin typeface="Cambria Math" panose="02040503050406030204" pitchFamily="18" charset="0"/>
                            <a:ea typeface="Cambria Math" panose="02040503050406030204" pitchFamily="18" charset="0"/>
                          </a:rPr>
                          <m:t>𝑝𝑖</m:t>
                        </m:r>
                      </m:e>
                    </m:nary>
                  </m:oMath>
                </a14:m>
                <a:r>
                  <a:rPr lang="mn-MN" dirty="0">
                    <a:solidFill>
                      <a:srgbClr val="002060"/>
                    </a:solidFill>
                    <a:latin typeface="Times New Roman" panose="02020603050405020304" pitchFamily="18" charset="0"/>
                    <a:cs typeface="Times New Roman" panose="02020603050405020304" pitchFamily="18" charset="0"/>
                  </a:rPr>
                  <a:t> </a:t>
                </a:r>
              </a:p>
              <a:p>
                <a:pPr algn="just"/>
                <a:r>
                  <a:rPr lang="mn-MN" dirty="0">
                    <a:solidFill>
                      <a:srgbClr val="002060"/>
                    </a:solidFill>
                    <a:latin typeface="Times New Roman" panose="02020603050405020304" pitchFamily="18" charset="0"/>
                    <a:cs typeface="Times New Roman" panose="02020603050405020304" pitchFamily="18" charset="0"/>
                  </a:rPr>
                  <a:t>Хүлээгдэж буй өгөөжийг хувилбар тус бүрээр тооцно:</a:t>
                </a:r>
              </a:p>
              <a:p>
                <a:pPr algn="just"/>
                <a:r>
                  <a:rPr lang="mn-MN" dirty="0">
                    <a:solidFill>
                      <a:srgbClr val="002060"/>
                    </a:solidFill>
                    <a:latin typeface="Times New Roman" panose="02020603050405020304" pitchFamily="18" charset="0"/>
                    <a:cs typeface="Times New Roman" panose="02020603050405020304" pitchFamily="18" charset="0"/>
                  </a:rPr>
                  <a:t>Хувилбаруудыг харьцуулж, өгөөж өндөртэй хувилбарыг сонгоно</a:t>
                </a:r>
                <a:r>
                  <a:rPr lang="en-US" dirty="0">
                    <a:solidFill>
                      <a:srgbClr val="002060"/>
                    </a:solidFill>
                    <a:latin typeface="Times New Roman" panose="02020603050405020304" pitchFamily="18" charset="0"/>
                    <a:cs typeface="Times New Roman" panose="02020603050405020304" pitchFamily="18" charset="0"/>
                  </a:rPr>
                  <a:t>.</a:t>
                </a:r>
              </a:p>
            </p:txBody>
          </p:sp>
        </mc:Choice>
        <mc:Fallback xmlns="">
          <p:sp>
            <p:nvSpPr>
              <p:cNvPr id="3" name="Content Placeholder 2">
                <a:extLst>
                  <a:ext uri="{FF2B5EF4-FFF2-40B4-BE49-F238E27FC236}">
                    <a16:creationId xmlns:a16="http://schemas.microsoft.com/office/drawing/2014/main" id="{63FC1A34-265E-FF1D-8615-D7BC668AA4B9}"/>
                  </a:ext>
                </a:extLst>
              </p:cNvPr>
              <p:cNvSpPr>
                <a:spLocks noGrp="1" noRot="1" noChangeAspect="1" noMove="1" noResize="1" noEditPoints="1" noAdjustHandles="1" noChangeArrowheads="1" noChangeShapeType="1" noTextEdit="1"/>
              </p:cNvSpPr>
              <p:nvPr>
                <p:ph idx="1"/>
              </p:nvPr>
            </p:nvSpPr>
            <p:spPr>
              <a:xfrm>
                <a:off x="196515" y="695059"/>
                <a:ext cx="6500149" cy="6038446"/>
              </a:xfrm>
              <a:blipFill>
                <a:blip r:embed="rId3"/>
                <a:stretch>
                  <a:fillRect l="-1874" t="-2422" r="-1874"/>
                </a:stretch>
              </a:blipFill>
            </p:spPr>
            <p:txBody>
              <a:bodyPr/>
              <a:lstStyle/>
              <a:p>
                <a:r>
                  <a:rPr lang="en-US">
                    <a:noFill/>
                  </a:rPr>
                  <a:t> </a:t>
                </a:r>
              </a:p>
            </p:txBody>
          </p:sp>
        </mc:Fallback>
      </mc:AlternateContent>
      <p:pic>
        <p:nvPicPr>
          <p:cNvPr id="1026" name="Picture 2">
            <a:extLst>
              <a:ext uri="{FF2B5EF4-FFF2-40B4-BE49-F238E27FC236}">
                <a16:creationId xmlns:a16="http://schemas.microsoft.com/office/drawing/2014/main" id="{C4FCB022-6F14-4B07-78E6-90E0DC22FE9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073" t="2182" r="9936" b="2616"/>
          <a:stretch/>
        </p:blipFill>
        <p:spPr bwMode="auto">
          <a:xfrm>
            <a:off x="6696664" y="2883737"/>
            <a:ext cx="5298821" cy="384976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mobile phone production decision tree example">
            <a:extLst>
              <a:ext uri="{FF2B5EF4-FFF2-40B4-BE49-F238E27FC236}">
                <a16:creationId xmlns:a16="http://schemas.microsoft.com/office/drawing/2014/main" id="{F70B1ADA-29E8-6BC7-826E-43270299C98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27161" y="1"/>
            <a:ext cx="4567534" cy="27592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07389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140BC-7B54-C058-01E6-EB78BCF5155F}"/>
              </a:ext>
            </a:extLst>
          </p:cNvPr>
          <p:cNvSpPr>
            <a:spLocks noGrp="1"/>
          </p:cNvSpPr>
          <p:nvPr>
            <p:ph type="title"/>
          </p:nvPr>
        </p:nvSpPr>
        <p:spPr>
          <a:xfrm>
            <a:off x="117451" y="96252"/>
            <a:ext cx="10515600" cy="573674"/>
          </a:xfrm>
        </p:spPr>
        <p:txBody>
          <a:bodyPr>
            <a:normAutofit fontScale="90000"/>
          </a:bodyPr>
          <a:lstStyle/>
          <a:p>
            <a:r>
              <a:rPr lang="mn-MN" b="1" dirty="0">
                <a:solidFill>
                  <a:srgbClr val="002060"/>
                </a:solidFill>
                <a:latin typeface="Times New Roman" panose="02020603050405020304" pitchFamily="18" charset="0"/>
                <a:cs typeface="Times New Roman" panose="02020603050405020304" pitchFamily="18" charset="0"/>
              </a:rPr>
              <a:t>Хүчин чадлын төлөвлөлт</a:t>
            </a:r>
            <a:r>
              <a:rPr lang="en-US" b="1" dirty="0">
                <a:solidFill>
                  <a:srgbClr val="002060"/>
                </a:solidFill>
                <a:latin typeface="Times New Roman" panose="02020603050405020304" pitchFamily="18" charset="0"/>
                <a:cs typeface="Times New Roman" panose="02020603050405020304" pitchFamily="18" charset="0"/>
              </a:rPr>
              <a:t> </a:t>
            </a:r>
            <a:r>
              <a:rPr lang="mn-MN" b="1" dirty="0">
                <a:solidFill>
                  <a:srgbClr val="002060"/>
                </a:solidFill>
                <a:latin typeface="Times New Roman" panose="02020603050405020304" pitchFamily="18" charset="0"/>
                <a:cs typeface="Times New Roman" panose="02020603050405020304" pitchFamily="18" charset="0"/>
              </a:rPr>
              <a:t> </a:t>
            </a:r>
            <a:r>
              <a:rPr lang="en-US" b="1" dirty="0">
                <a:solidFill>
                  <a:srgbClr val="002060"/>
                </a:solidFill>
                <a:latin typeface="Times New Roman" panose="02020603050405020304" pitchFamily="18" charset="0"/>
                <a:cs typeface="Times New Roman" panose="02020603050405020304" pitchFamily="18" charset="0"/>
              </a:rPr>
              <a:t>(3)</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BA5E25E-07A3-99F0-F469-619C96B1E313}"/>
              </a:ext>
            </a:extLst>
          </p:cNvPr>
          <p:cNvSpPr>
            <a:spLocks noGrp="1"/>
          </p:cNvSpPr>
          <p:nvPr>
            <p:ph idx="1"/>
          </p:nvPr>
        </p:nvSpPr>
        <p:spPr>
          <a:xfrm>
            <a:off x="117451" y="669926"/>
            <a:ext cx="6784175" cy="5424355"/>
          </a:xfrm>
        </p:spPr>
        <p:txBody>
          <a:bodyPr/>
          <a:lstStyle/>
          <a:p>
            <a:pPr marL="0" indent="0" algn="just">
              <a:buNone/>
            </a:pPr>
            <a:r>
              <a:rPr lang="mn-MN" b="1" dirty="0">
                <a:solidFill>
                  <a:srgbClr val="002060"/>
                </a:solidFill>
                <a:latin typeface="Times New Roman" panose="02020603050405020304" pitchFamily="18" charset="0"/>
                <a:cs typeface="Times New Roman" panose="02020603050405020304" pitchFamily="18" charset="0"/>
              </a:rPr>
              <a:t>4. Гаднаас худалдан авах, өөрөө үйлдвэрлэх талаар шийдвэр гаргах </a:t>
            </a:r>
          </a:p>
          <a:p>
            <a:pPr lvl="1" algn="just"/>
            <a:r>
              <a:rPr lang="mn-MN" dirty="0">
                <a:solidFill>
                  <a:srgbClr val="002060"/>
                </a:solidFill>
                <a:latin typeface="Times New Roman" panose="02020603050405020304" pitchFamily="18" charset="0"/>
                <a:cs typeface="Times New Roman" panose="02020603050405020304" pitchFamily="18" charset="0"/>
              </a:rPr>
              <a:t>Эрэлт хүчин чадлаас хэтэрсэн буюу зах зээлд хомсдол бий болсон үед </a:t>
            </a:r>
          </a:p>
          <a:p>
            <a:pPr lvl="1" algn="just"/>
            <a:r>
              <a:rPr lang="mn-MN" dirty="0">
                <a:solidFill>
                  <a:srgbClr val="002060"/>
                </a:solidFill>
                <a:latin typeface="Times New Roman" panose="02020603050405020304" pitchFamily="18" charset="0"/>
                <a:cs typeface="Times New Roman" panose="02020603050405020304" pitchFamily="18" charset="0"/>
              </a:rPr>
              <a:t>Бусад байгууллагын зарим эд анги, бүтээгдэхүүний зах зээлд борлуулж үнэ тухайн байгууллагын үйлдвэрлэсэн зардлаас хямд байх тохиолдолд </a:t>
            </a:r>
          </a:p>
          <a:p>
            <a:pPr lvl="1" algn="just"/>
            <a:r>
              <a:rPr lang="mn-MN" dirty="0">
                <a:solidFill>
                  <a:srgbClr val="002060"/>
                </a:solidFill>
                <a:latin typeface="Times New Roman" panose="02020603050405020304" pitchFamily="18" charset="0"/>
                <a:cs typeface="Times New Roman" panose="02020603050405020304" pitchFamily="18" charset="0"/>
              </a:rPr>
              <a:t>Бусад байгууллагын зарим эд анги, бүтээгдэхүүний чанар тухайн байгууллагын үйлдвэрлэсэн эд анги, бүтээгдэхүүнээс чанартай байх тохиолдолд</a:t>
            </a:r>
            <a:endParaRPr lang="en-US"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E3CEA37E-9F87-8679-2F3A-E96B3CDA3EF4}"/>
              </a:ext>
            </a:extLst>
          </p:cNvPr>
          <p:cNvPicPr>
            <a:picLocks noChangeAspect="1"/>
          </p:cNvPicPr>
          <p:nvPr/>
        </p:nvPicPr>
        <p:blipFill>
          <a:blip r:embed="rId3"/>
          <a:stretch>
            <a:fillRect/>
          </a:stretch>
        </p:blipFill>
        <p:spPr>
          <a:xfrm>
            <a:off x="1674842" y="5026444"/>
            <a:ext cx="4996294" cy="1641511"/>
          </a:xfrm>
          <a:prstGeom prst="rect">
            <a:avLst/>
          </a:prstGeom>
        </p:spPr>
      </p:pic>
      <p:pic>
        <p:nvPicPr>
          <p:cNvPr id="6" name="Picture 5">
            <a:extLst>
              <a:ext uri="{FF2B5EF4-FFF2-40B4-BE49-F238E27FC236}">
                <a16:creationId xmlns:a16="http://schemas.microsoft.com/office/drawing/2014/main" id="{89F9C789-57C5-2E1F-C108-526276D8BE76}"/>
              </a:ext>
            </a:extLst>
          </p:cNvPr>
          <p:cNvPicPr>
            <a:picLocks noChangeAspect="1"/>
          </p:cNvPicPr>
          <p:nvPr/>
        </p:nvPicPr>
        <p:blipFill>
          <a:blip r:embed="rId4"/>
          <a:stretch>
            <a:fillRect/>
          </a:stretch>
        </p:blipFill>
        <p:spPr>
          <a:xfrm>
            <a:off x="6901627" y="433138"/>
            <a:ext cx="5061892" cy="5881944"/>
          </a:xfrm>
          <a:prstGeom prst="rect">
            <a:avLst/>
          </a:prstGeom>
        </p:spPr>
      </p:pic>
    </p:spTree>
    <p:extLst>
      <p:ext uri="{BB962C8B-B14F-4D97-AF65-F5344CB8AC3E}">
        <p14:creationId xmlns:p14="http://schemas.microsoft.com/office/powerpoint/2010/main" val="16987360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7051F4-17D2-5551-2320-C1F563E32B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9DA073-CD41-CDF3-5285-BEBB5B772BB1}"/>
              </a:ext>
            </a:extLst>
          </p:cNvPr>
          <p:cNvSpPr>
            <a:spLocks noGrp="1"/>
          </p:cNvSpPr>
          <p:nvPr>
            <p:ph type="title"/>
          </p:nvPr>
        </p:nvSpPr>
        <p:spPr>
          <a:xfrm>
            <a:off x="212557" y="172620"/>
            <a:ext cx="11770895" cy="549275"/>
          </a:xfrm>
        </p:spPr>
        <p:txBody>
          <a:bodyPr>
            <a:normAutofit fontScale="90000"/>
          </a:bodyPr>
          <a:lstStyle/>
          <a:p>
            <a:r>
              <a:rPr lang="mn-MN" b="1" dirty="0">
                <a:solidFill>
                  <a:srgbClr val="002060"/>
                </a:solidFill>
                <a:latin typeface="Times New Roman" panose="02020603050405020304" pitchFamily="18" charset="0"/>
                <a:cs typeface="Times New Roman" panose="02020603050405020304" pitchFamily="18" charset="0"/>
              </a:rPr>
              <a:t>Хүчин чадлын төлөвлөлт</a:t>
            </a:r>
            <a:r>
              <a:rPr lang="en-US" b="1" dirty="0">
                <a:solidFill>
                  <a:srgbClr val="002060"/>
                </a:solidFill>
                <a:latin typeface="Times New Roman" panose="02020603050405020304" pitchFamily="18" charset="0"/>
                <a:cs typeface="Times New Roman" panose="02020603050405020304" pitchFamily="18" charset="0"/>
              </a:rPr>
              <a:t> </a:t>
            </a:r>
            <a:r>
              <a:rPr lang="mn-MN" b="1" dirty="0">
                <a:solidFill>
                  <a:srgbClr val="002060"/>
                </a:solidFill>
                <a:latin typeface="Times New Roman" panose="02020603050405020304" pitchFamily="18" charset="0"/>
                <a:cs typeface="Times New Roman" panose="02020603050405020304" pitchFamily="18" charset="0"/>
              </a:rPr>
              <a:t> </a:t>
            </a:r>
            <a:r>
              <a:rPr lang="en-US" b="1" dirty="0">
                <a:solidFill>
                  <a:srgbClr val="002060"/>
                </a:solidFill>
                <a:latin typeface="Times New Roman" panose="02020603050405020304" pitchFamily="18" charset="0"/>
                <a:cs typeface="Times New Roman" panose="02020603050405020304" pitchFamily="18" charset="0"/>
              </a:rPr>
              <a:t>(4)</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D40F9D9-A46B-F4E6-CEDE-31AAA58A5455}"/>
                  </a:ext>
                </a:extLst>
              </p:cNvPr>
              <p:cNvSpPr>
                <a:spLocks noGrp="1"/>
              </p:cNvSpPr>
              <p:nvPr>
                <p:ph idx="1"/>
              </p:nvPr>
            </p:nvSpPr>
            <p:spPr>
              <a:xfrm>
                <a:off x="212557" y="721895"/>
                <a:ext cx="11770895" cy="5578473"/>
              </a:xfrm>
            </p:spPr>
            <p:txBody>
              <a:bodyPr>
                <a:normAutofit lnSpcReduction="10000"/>
              </a:bodyPr>
              <a:lstStyle/>
              <a:p>
                <a:pPr marL="0" indent="0">
                  <a:buNone/>
                </a:pPr>
                <a:r>
                  <a:rPr lang="en-US" sz="3200" b="1" dirty="0">
                    <a:solidFill>
                      <a:srgbClr val="002060"/>
                    </a:solidFill>
                    <a:latin typeface="Times New Roman" panose="02020603050405020304" pitchFamily="18" charset="0"/>
                    <a:cs typeface="Times New Roman" panose="02020603050405020304" pitchFamily="18" charset="0"/>
                  </a:rPr>
                  <a:t>5. </a:t>
                </a:r>
                <a:r>
                  <a:rPr lang="mn-MN" sz="3200" b="1" dirty="0">
                    <a:solidFill>
                      <a:srgbClr val="002060"/>
                    </a:solidFill>
                    <a:latin typeface="Times New Roman" panose="02020603050405020304" pitchFamily="18" charset="0"/>
                    <a:cs typeface="Times New Roman" panose="02020603050405020304" pitchFamily="18" charset="0"/>
                  </a:rPr>
                  <a:t>Хүчин чадлын стратеги боловсруулах</a:t>
                </a:r>
                <a:endParaRPr lang="en-US" sz="3200" b="1" dirty="0">
                  <a:solidFill>
                    <a:srgbClr val="002060"/>
                  </a:solidFill>
                  <a:latin typeface="Times New Roman" panose="02020603050405020304" pitchFamily="18" charset="0"/>
                  <a:cs typeface="Times New Roman" panose="02020603050405020304" pitchFamily="18" charset="0"/>
                </a:endParaRPr>
              </a:p>
              <a:p>
                <a:pPr lvl="1"/>
                <a:r>
                  <a:rPr lang="mn-MN" sz="2800" dirty="0">
                    <a:solidFill>
                      <a:srgbClr val="002060"/>
                    </a:solidFill>
                    <a:latin typeface="Times New Roman" panose="02020603050405020304" pitchFamily="18" charset="0"/>
                    <a:cs typeface="Times New Roman" panose="02020603050405020304" pitchFamily="18" charset="0"/>
                  </a:rPr>
                  <a:t>Хүчин чадлын харьцаа (</a:t>
                </a:r>
                <a:r>
                  <a:rPr lang="en-US" sz="2800" dirty="0">
                    <a:solidFill>
                      <a:srgbClr val="002060"/>
                    </a:solidFill>
                    <a:latin typeface="Times New Roman" panose="02020603050405020304" pitchFamily="18" charset="0"/>
                    <a:cs typeface="Times New Roman" panose="02020603050405020304" pitchFamily="18" charset="0"/>
                  </a:rPr>
                  <a:t>Capacity Ratio):</a:t>
                </a:r>
                <a:endParaRPr lang="mn-MN" sz="2800" dirty="0">
                  <a:solidFill>
                    <a:srgbClr val="002060"/>
                  </a:solidFill>
                  <a:latin typeface="Times New Roman" panose="02020603050405020304" pitchFamily="18" charset="0"/>
                  <a:cs typeface="Times New Roman" panose="02020603050405020304" pitchFamily="18" charset="0"/>
                </a:endParaRPr>
              </a:p>
              <a:p>
                <a:pPr lvl="1"/>
                <a:endParaRPr lang="en-US" sz="800" dirty="0">
                  <a:solidFill>
                    <a:srgbClr val="002060"/>
                  </a:solidFill>
                  <a:latin typeface="Times New Roman" panose="02020603050405020304" pitchFamily="18"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r>
                        <a:rPr lang="en-US" sz="4800" b="1" i="1" smtClean="0">
                          <a:solidFill>
                            <a:srgbClr val="0000FF"/>
                          </a:solidFill>
                          <a:latin typeface="Cambria Math" panose="02040503050406030204" pitchFamily="18" charset="0"/>
                        </a:rPr>
                        <m:t>𝑪𝑹</m:t>
                      </m:r>
                      <m:r>
                        <a:rPr lang="en-US" sz="4800" b="1" i="1" smtClean="0">
                          <a:solidFill>
                            <a:srgbClr val="0000FF"/>
                          </a:solidFill>
                          <a:latin typeface="Cambria Math" panose="02040503050406030204" pitchFamily="18" charset="0"/>
                        </a:rPr>
                        <m:t>=</m:t>
                      </m:r>
                      <m:f>
                        <m:fPr>
                          <m:ctrlPr>
                            <a:rPr lang="en-US" sz="4800" b="1" i="1" smtClean="0">
                              <a:solidFill>
                                <a:srgbClr val="0000FF"/>
                              </a:solidFill>
                              <a:latin typeface="Cambria Math" panose="02040503050406030204" pitchFamily="18" charset="0"/>
                            </a:rPr>
                          </m:ctrlPr>
                        </m:fPr>
                        <m:num>
                          <m:sSub>
                            <m:sSubPr>
                              <m:ctrlPr>
                                <a:rPr lang="en-US" sz="4800" b="1" i="1" smtClean="0">
                                  <a:solidFill>
                                    <a:srgbClr val="0000FF"/>
                                  </a:solidFill>
                                  <a:latin typeface="Cambria Math" panose="02040503050406030204" pitchFamily="18" charset="0"/>
                                </a:rPr>
                              </m:ctrlPr>
                            </m:sSubPr>
                            <m:e>
                              <m:r>
                                <a:rPr lang="en-US" sz="4800" b="1" i="1" smtClean="0">
                                  <a:solidFill>
                                    <a:srgbClr val="0000FF"/>
                                  </a:solidFill>
                                  <a:latin typeface="Cambria Math" panose="02040503050406030204" pitchFamily="18" charset="0"/>
                                </a:rPr>
                                <m:t>𝑪</m:t>
                              </m:r>
                            </m:e>
                            <m:sub>
                              <m:r>
                                <a:rPr lang="en-US" sz="4800" b="1" i="1" smtClean="0">
                                  <a:solidFill>
                                    <a:srgbClr val="0000FF"/>
                                  </a:solidFill>
                                  <a:latin typeface="Cambria Math" panose="02040503050406030204" pitchFamily="18" charset="0"/>
                                </a:rPr>
                                <m:t>𝑺</m:t>
                              </m:r>
                            </m:sub>
                          </m:sSub>
                          <m:r>
                            <a:rPr lang="en-US" sz="4800" b="1" i="1" smtClean="0">
                              <a:solidFill>
                                <a:srgbClr val="0000FF"/>
                              </a:solidFill>
                              <a:latin typeface="Cambria Math" panose="02040503050406030204" pitchFamily="18" charset="0"/>
                            </a:rPr>
                            <m:t>−</m:t>
                          </m:r>
                          <m:sSub>
                            <m:sSubPr>
                              <m:ctrlPr>
                                <a:rPr lang="en-US" sz="4800" b="1" i="1">
                                  <a:solidFill>
                                    <a:srgbClr val="0000FF"/>
                                  </a:solidFill>
                                  <a:latin typeface="Cambria Math" panose="02040503050406030204" pitchFamily="18" charset="0"/>
                                </a:rPr>
                              </m:ctrlPr>
                            </m:sSubPr>
                            <m:e>
                              <m:r>
                                <a:rPr lang="en-US" sz="4800" b="1" i="1">
                                  <a:solidFill>
                                    <a:srgbClr val="0000FF"/>
                                  </a:solidFill>
                                  <a:latin typeface="Cambria Math" panose="02040503050406030204" pitchFamily="18" charset="0"/>
                                </a:rPr>
                                <m:t>𝑪</m:t>
                              </m:r>
                            </m:e>
                            <m:sub>
                              <m:r>
                                <a:rPr lang="en-US" sz="4800" b="1" i="1" smtClean="0">
                                  <a:solidFill>
                                    <a:srgbClr val="0000FF"/>
                                  </a:solidFill>
                                  <a:latin typeface="Cambria Math" panose="02040503050406030204" pitchFamily="18" charset="0"/>
                                </a:rPr>
                                <m:t>𝒆</m:t>
                              </m:r>
                            </m:sub>
                          </m:sSub>
                        </m:num>
                        <m:den>
                          <m:sSub>
                            <m:sSubPr>
                              <m:ctrlPr>
                                <a:rPr lang="en-US" sz="4800" b="1" i="1">
                                  <a:solidFill>
                                    <a:srgbClr val="0000FF"/>
                                  </a:solidFill>
                                  <a:latin typeface="Cambria Math" panose="02040503050406030204" pitchFamily="18" charset="0"/>
                                </a:rPr>
                              </m:ctrlPr>
                            </m:sSubPr>
                            <m:e>
                              <m:r>
                                <a:rPr lang="en-US" sz="4800" b="1" i="1">
                                  <a:solidFill>
                                    <a:srgbClr val="0000FF"/>
                                  </a:solidFill>
                                  <a:latin typeface="Cambria Math" panose="02040503050406030204" pitchFamily="18" charset="0"/>
                                </a:rPr>
                                <m:t>𝑪</m:t>
                              </m:r>
                            </m:e>
                            <m:sub>
                              <m:r>
                                <a:rPr lang="en-US" sz="4800" b="1" i="1">
                                  <a:solidFill>
                                    <a:srgbClr val="0000FF"/>
                                  </a:solidFill>
                                  <a:latin typeface="Cambria Math" panose="02040503050406030204" pitchFamily="18" charset="0"/>
                                </a:rPr>
                                <m:t>𝑺</m:t>
                              </m:r>
                            </m:sub>
                          </m:sSub>
                        </m:den>
                      </m:f>
                    </m:oMath>
                  </m:oMathPara>
                </a14:m>
                <a:endParaRPr lang="en-US" sz="3200" b="1" dirty="0">
                  <a:solidFill>
                    <a:srgbClr val="002060"/>
                  </a:solidFill>
                  <a:latin typeface="Times New Roman" panose="02020603050405020304" pitchFamily="18" charset="0"/>
                  <a:cs typeface="Times New Roman" panose="02020603050405020304" pitchFamily="18" charset="0"/>
                </a:endParaRPr>
              </a:p>
              <a:p>
                <a:pPr lvl="2"/>
                <a:r>
                  <a:rPr lang="en-US" sz="4000" dirty="0">
                    <a:solidFill>
                      <a:srgbClr val="0000FF"/>
                    </a:solidFill>
                    <a:latin typeface="Times New Roman" panose="02020603050405020304" pitchFamily="18" charset="0"/>
                    <a:cs typeface="Times New Roman" panose="02020603050405020304" pitchFamily="18" charset="0"/>
                  </a:rPr>
                  <a:t>𝐶𝑅</a:t>
                </a:r>
                <a:r>
                  <a:rPr lang="en-US" sz="2400" dirty="0">
                    <a:solidFill>
                      <a:srgbClr val="002060"/>
                    </a:solidFill>
                    <a:latin typeface="Times New Roman" panose="02020603050405020304" pitchFamily="18" charset="0"/>
                    <a:cs typeface="Times New Roman" panose="02020603050405020304" pitchFamily="18" charset="0"/>
                  </a:rPr>
                  <a:t> – </a:t>
                </a:r>
                <a:r>
                  <a:rPr lang="mn-MN" sz="2400" dirty="0">
                    <a:solidFill>
                      <a:srgbClr val="002060"/>
                    </a:solidFill>
                    <a:latin typeface="Times New Roman" panose="02020603050405020304" pitchFamily="18" charset="0"/>
                    <a:cs typeface="Times New Roman" panose="02020603050405020304" pitchFamily="18" charset="0"/>
                  </a:rPr>
                  <a:t>хүчин чадлын харьцаа</a:t>
                </a:r>
                <a:endParaRPr lang="en-US" sz="2400" dirty="0">
                  <a:solidFill>
                    <a:srgbClr val="002060"/>
                  </a:solidFill>
                  <a:latin typeface="Times New Roman" panose="02020603050405020304" pitchFamily="18" charset="0"/>
                  <a:cs typeface="Times New Roman" panose="02020603050405020304" pitchFamily="18" charset="0"/>
                </a:endParaRPr>
              </a:p>
              <a:p>
                <a:pPr lvl="2"/>
                <a14:m>
                  <m:oMath xmlns:m="http://schemas.openxmlformats.org/officeDocument/2006/math">
                    <m:sSub>
                      <m:sSubPr>
                        <m:ctrlPr>
                          <a:rPr lang="en-US" sz="4000" b="0" i="1" smtClean="0">
                            <a:solidFill>
                              <a:srgbClr val="0000FF"/>
                            </a:solidFill>
                            <a:latin typeface="Cambria Math" panose="02040503050406030204" pitchFamily="18" charset="0"/>
                          </a:rPr>
                        </m:ctrlPr>
                      </m:sSubPr>
                      <m:e>
                        <m:r>
                          <a:rPr lang="en-US" sz="4000" b="0" i="1" smtClean="0">
                            <a:solidFill>
                              <a:srgbClr val="0000FF"/>
                            </a:solidFill>
                            <a:latin typeface="Cambria Math" panose="02040503050406030204" pitchFamily="18" charset="0"/>
                          </a:rPr>
                          <m:t>𝐶</m:t>
                        </m:r>
                      </m:e>
                      <m:sub>
                        <m:r>
                          <a:rPr lang="en-US" sz="4000" b="0" i="1" smtClean="0">
                            <a:solidFill>
                              <a:srgbClr val="0000FF"/>
                            </a:solidFill>
                            <a:latin typeface="Cambria Math" panose="02040503050406030204" pitchFamily="18" charset="0"/>
                          </a:rPr>
                          <m:t>𝑆</m:t>
                        </m:r>
                      </m:sub>
                    </m:sSub>
                  </m:oMath>
                </a14:m>
                <a:r>
                  <a:rPr lang="mn-MN" sz="4000" dirty="0">
                    <a:solidFill>
                      <a:srgbClr val="0000FF"/>
                    </a:solidFill>
                    <a:latin typeface="Times New Roman" panose="02020603050405020304" pitchFamily="18" charset="0"/>
                    <a:cs typeface="Times New Roman" panose="02020603050405020304" pitchFamily="18" charset="0"/>
                  </a:rPr>
                  <a:t> </a:t>
                </a:r>
                <a:r>
                  <a:rPr lang="mn-MN" sz="2400" dirty="0">
                    <a:solidFill>
                      <a:srgbClr val="002060"/>
                    </a:solidFill>
                    <a:latin typeface="Times New Roman" panose="02020603050405020304" pitchFamily="18" charset="0"/>
                    <a:cs typeface="Times New Roman" panose="02020603050405020304" pitchFamily="18" charset="0"/>
                  </a:rPr>
                  <a:t>– хүчин чадал тасалдлын зардал, нэгж</a:t>
                </a:r>
                <a:endParaRPr lang="en-US" sz="2400" dirty="0">
                  <a:solidFill>
                    <a:srgbClr val="002060"/>
                  </a:solidFill>
                  <a:latin typeface="Times New Roman" panose="02020603050405020304" pitchFamily="18" charset="0"/>
                  <a:cs typeface="Times New Roman" panose="02020603050405020304" pitchFamily="18" charset="0"/>
                </a:endParaRPr>
              </a:p>
              <a:p>
                <a:pPr lvl="2"/>
                <a14:m>
                  <m:oMath xmlns:m="http://schemas.openxmlformats.org/officeDocument/2006/math">
                    <m:sSub>
                      <m:sSubPr>
                        <m:ctrlPr>
                          <a:rPr lang="en-US" sz="4000" i="1" smtClean="0">
                            <a:solidFill>
                              <a:srgbClr val="0000FF"/>
                            </a:solidFill>
                            <a:latin typeface="Cambria Math" panose="02040503050406030204" pitchFamily="18" charset="0"/>
                          </a:rPr>
                        </m:ctrlPr>
                      </m:sSubPr>
                      <m:e>
                        <m:r>
                          <a:rPr lang="en-US" sz="4000" i="1">
                            <a:solidFill>
                              <a:srgbClr val="0000FF"/>
                            </a:solidFill>
                            <a:latin typeface="Cambria Math" panose="02040503050406030204" pitchFamily="18" charset="0"/>
                          </a:rPr>
                          <m:t>𝐶</m:t>
                        </m:r>
                      </m:e>
                      <m:sub>
                        <m:r>
                          <a:rPr lang="en-US" sz="4000" b="0" i="1" smtClean="0">
                            <a:solidFill>
                              <a:srgbClr val="0000FF"/>
                            </a:solidFill>
                            <a:latin typeface="Cambria Math" panose="02040503050406030204" pitchFamily="18" charset="0"/>
                          </a:rPr>
                          <m:t>𝑒</m:t>
                        </m:r>
                      </m:sub>
                    </m:sSub>
                  </m:oMath>
                </a14:m>
                <a:r>
                  <a:rPr lang="mn-MN" sz="4000" dirty="0">
                    <a:solidFill>
                      <a:srgbClr val="0000FF"/>
                    </a:solidFill>
                    <a:latin typeface="Times New Roman" panose="02020603050405020304" pitchFamily="18" charset="0"/>
                    <a:cs typeface="Times New Roman" panose="02020603050405020304" pitchFamily="18" charset="0"/>
                  </a:rPr>
                  <a:t> </a:t>
                </a:r>
                <a:r>
                  <a:rPr lang="mn-MN" sz="2400" dirty="0">
                    <a:solidFill>
                      <a:srgbClr val="002060"/>
                    </a:solidFill>
                    <a:latin typeface="Times New Roman" panose="02020603050405020304" pitchFamily="18" charset="0"/>
                    <a:cs typeface="Times New Roman" panose="02020603050405020304" pitchFamily="18" charset="0"/>
                  </a:rPr>
                  <a:t>– хүчин чадал илүүдлийн зардал, нэгж</a:t>
                </a:r>
                <a:endParaRPr lang="en-US" sz="2400" dirty="0">
                  <a:solidFill>
                    <a:srgbClr val="002060"/>
                  </a:solidFill>
                  <a:latin typeface="Times New Roman" panose="02020603050405020304" pitchFamily="18" charset="0"/>
                  <a:cs typeface="Times New Roman" panose="02020603050405020304" pitchFamily="18" charset="0"/>
                </a:endParaRPr>
              </a:p>
              <a:p>
                <a:pPr lvl="1"/>
                <a:r>
                  <a:rPr lang="mn-MN" sz="2800" dirty="0">
                    <a:solidFill>
                      <a:srgbClr val="002060"/>
                    </a:solidFill>
                    <a:latin typeface="Times New Roman" panose="02020603050405020304" pitchFamily="18" charset="0"/>
                    <a:cs typeface="Times New Roman" panose="02020603050405020304" pitchFamily="18" charset="0"/>
                  </a:rPr>
                  <a:t>-0.5-аас +0.5-ын хооронд – хоёрдмол стратеги (</a:t>
                </a:r>
                <a:r>
                  <a:rPr lang="en-US" sz="2800" dirty="0">
                    <a:solidFill>
                      <a:srgbClr val="002060"/>
                    </a:solidFill>
                    <a:latin typeface="Times New Roman" panose="02020603050405020304" pitchFamily="18" charset="0"/>
                    <a:cs typeface="Times New Roman" panose="02020603050405020304" pitchFamily="18" charset="0"/>
                  </a:rPr>
                  <a:t>neutral strategy)</a:t>
                </a:r>
              </a:p>
              <a:p>
                <a:pPr lvl="1"/>
                <a:r>
                  <a:rPr lang="en-US" sz="2800" dirty="0">
                    <a:solidFill>
                      <a:srgbClr val="002060"/>
                    </a:solidFill>
                    <a:latin typeface="Times New Roman" panose="02020603050405020304" pitchFamily="18" charset="0"/>
                    <a:cs typeface="Times New Roman" panose="02020603050405020304" pitchFamily="18" charset="0"/>
                  </a:rPr>
                  <a:t>+0.5-</a:t>
                </a:r>
                <a:r>
                  <a:rPr lang="mn-MN" sz="2800" dirty="0">
                    <a:solidFill>
                      <a:srgbClr val="002060"/>
                    </a:solidFill>
                    <a:latin typeface="Times New Roman" panose="02020603050405020304" pitchFamily="18" charset="0"/>
                    <a:cs typeface="Times New Roman" panose="02020603050405020304" pitchFamily="18" charset="0"/>
                  </a:rPr>
                  <a:t>аас их – Хоцрох стратеги (</a:t>
                </a:r>
                <a:r>
                  <a:rPr lang="en-US" sz="2800" dirty="0">
                    <a:solidFill>
                      <a:srgbClr val="002060"/>
                    </a:solidFill>
                    <a:latin typeface="Times New Roman" panose="02020603050405020304" pitchFamily="18" charset="0"/>
                    <a:cs typeface="Times New Roman" panose="02020603050405020304" pitchFamily="18" charset="0"/>
                  </a:rPr>
                  <a:t>reactive strategy)</a:t>
                </a:r>
              </a:p>
              <a:p>
                <a:pPr lvl="1"/>
                <a:r>
                  <a:rPr lang="en-US" sz="2800" dirty="0">
                    <a:solidFill>
                      <a:srgbClr val="002060"/>
                    </a:solidFill>
                    <a:latin typeface="Times New Roman" panose="02020603050405020304" pitchFamily="18" charset="0"/>
                    <a:cs typeface="Times New Roman" panose="02020603050405020304" pitchFamily="18" charset="0"/>
                  </a:rPr>
                  <a:t>-0.5-</a:t>
                </a:r>
                <a:r>
                  <a:rPr lang="mn-MN" sz="2800" dirty="0">
                    <a:solidFill>
                      <a:srgbClr val="002060"/>
                    </a:solidFill>
                    <a:latin typeface="Times New Roman" panose="02020603050405020304" pitchFamily="18" charset="0"/>
                    <a:cs typeface="Times New Roman" panose="02020603050405020304" pitchFamily="18" charset="0"/>
                  </a:rPr>
                  <a:t>аас бага – Манлайлах стратеги (</a:t>
                </a:r>
                <a:r>
                  <a:rPr lang="en-US" sz="2800" dirty="0">
                    <a:solidFill>
                      <a:srgbClr val="002060"/>
                    </a:solidFill>
                    <a:latin typeface="Times New Roman" panose="02020603050405020304" pitchFamily="18" charset="0"/>
                    <a:cs typeface="Times New Roman" panose="02020603050405020304" pitchFamily="18" charset="0"/>
                  </a:rPr>
                  <a:t>proactive strategy)</a:t>
                </a:r>
              </a:p>
            </p:txBody>
          </p:sp>
        </mc:Choice>
        <mc:Fallback xmlns="">
          <p:sp>
            <p:nvSpPr>
              <p:cNvPr id="3" name="Content Placeholder 2">
                <a:extLst>
                  <a:ext uri="{FF2B5EF4-FFF2-40B4-BE49-F238E27FC236}">
                    <a16:creationId xmlns:a16="http://schemas.microsoft.com/office/drawing/2014/main" id="{FD40F9D9-A46B-F4E6-CEDE-31AAA58A5455}"/>
                  </a:ext>
                </a:extLst>
              </p:cNvPr>
              <p:cNvSpPr>
                <a:spLocks noGrp="1" noRot="1" noChangeAspect="1" noMove="1" noResize="1" noEditPoints="1" noAdjustHandles="1" noChangeArrowheads="1" noChangeShapeType="1" noTextEdit="1"/>
              </p:cNvSpPr>
              <p:nvPr>
                <p:ph idx="1"/>
              </p:nvPr>
            </p:nvSpPr>
            <p:spPr>
              <a:xfrm>
                <a:off x="212557" y="721895"/>
                <a:ext cx="11770895" cy="5578473"/>
              </a:xfrm>
              <a:blipFill>
                <a:blip r:embed="rId3"/>
                <a:stretch>
                  <a:fillRect l="-1346" t="-3275"/>
                </a:stretch>
              </a:blipFill>
            </p:spPr>
            <p:txBody>
              <a:bodyPr/>
              <a:lstStyle/>
              <a:p>
                <a:r>
                  <a:rPr lang="en-US">
                    <a:noFill/>
                  </a:rPr>
                  <a:t> </a:t>
                </a:r>
              </a:p>
            </p:txBody>
          </p:sp>
        </mc:Fallback>
      </mc:AlternateContent>
    </p:spTree>
    <p:extLst>
      <p:ext uri="{BB962C8B-B14F-4D97-AF65-F5344CB8AC3E}">
        <p14:creationId xmlns:p14="http://schemas.microsoft.com/office/powerpoint/2010/main" val="11528016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2D4298-089F-FC5C-D385-52629522C97F}"/>
              </a:ext>
            </a:extLst>
          </p:cNvPr>
          <p:cNvSpPr>
            <a:spLocks noGrp="1"/>
          </p:cNvSpPr>
          <p:nvPr>
            <p:ph type="title"/>
          </p:nvPr>
        </p:nvSpPr>
        <p:spPr>
          <a:xfrm>
            <a:off x="183051" y="188663"/>
            <a:ext cx="11446329" cy="404895"/>
          </a:xfrm>
        </p:spPr>
        <p:txBody>
          <a:bodyPr>
            <a:normAutofit fontScale="90000"/>
          </a:bodyPr>
          <a:lstStyle/>
          <a:p>
            <a:pPr algn="just"/>
            <a:r>
              <a:rPr lang="mn-MN" sz="4000" b="1" dirty="0">
                <a:solidFill>
                  <a:srgbClr val="002060"/>
                </a:solidFill>
                <a:latin typeface="Times New Roman" panose="02020603050405020304" pitchFamily="18" charset="0"/>
                <a:cs typeface="Times New Roman" panose="02020603050405020304" pitchFamily="18" charset="0"/>
              </a:rPr>
              <a:t>Үйлдвэрлэлийн төлөвлөлтийн мөн чанар, төрлүүд</a:t>
            </a:r>
            <a:endParaRPr lang="en-US" sz="4000" b="1"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2C1D5CA-D0F8-57F9-C2FF-65BB6C543AD4}"/>
              </a:ext>
            </a:extLst>
          </p:cNvPr>
          <p:cNvSpPr>
            <a:spLocks noGrp="1"/>
          </p:cNvSpPr>
          <p:nvPr>
            <p:ph idx="1"/>
          </p:nvPr>
        </p:nvSpPr>
        <p:spPr>
          <a:xfrm>
            <a:off x="183050" y="702129"/>
            <a:ext cx="11688107" cy="5967208"/>
          </a:xfrm>
        </p:spPr>
        <p:txBody>
          <a:bodyPr>
            <a:normAutofit lnSpcReduction="10000"/>
          </a:bodyPr>
          <a:lstStyle/>
          <a:p>
            <a:pPr algn="just"/>
            <a:r>
              <a:rPr lang="mn-MN" sz="3200" dirty="0">
                <a:solidFill>
                  <a:srgbClr val="002060"/>
                </a:solidFill>
                <a:latin typeface="Times New Roman" panose="02020603050405020304" pitchFamily="18" charset="0"/>
                <a:cs typeface="Times New Roman" panose="02020603050405020304" pitchFamily="18" charset="0"/>
              </a:rPr>
              <a:t>Ямар ч байгууллага үйл ажиллагаагаа төлөвлөгөөгөөр эхэлдэг. </a:t>
            </a:r>
          </a:p>
          <a:p>
            <a:pPr algn="just"/>
            <a:r>
              <a:rPr lang="mn-MN" sz="3200" dirty="0">
                <a:solidFill>
                  <a:srgbClr val="002060"/>
                </a:solidFill>
                <a:latin typeface="Times New Roman" panose="02020603050405020304" pitchFamily="18" charset="0"/>
                <a:cs typeface="Times New Roman" panose="02020603050405020304" pitchFamily="18" charset="0"/>
              </a:rPr>
              <a:t>Байгууллага үйлдвэрлэлийг хөгжүүлэх талаар </a:t>
            </a:r>
          </a:p>
          <a:p>
            <a:pPr lvl="1" algn="just"/>
            <a:r>
              <a:rPr lang="mn-MN" sz="2800" b="1" dirty="0">
                <a:solidFill>
                  <a:srgbClr val="002060"/>
                </a:solidFill>
                <a:latin typeface="Times New Roman" panose="02020603050405020304" pitchFamily="18" charset="0"/>
                <a:cs typeface="Times New Roman" panose="02020603050405020304" pitchFamily="18" charset="0"/>
              </a:rPr>
              <a:t>Урт хугацааны </a:t>
            </a:r>
            <a:r>
              <a:rPr lang="en-US" sz="2800" b="1" dirty="0">
                <a:solidFill>
                  <a:srgbClr val="002060"/>
                </a:solidFill>
                <a:latin typeface="Times New Roman" panose="02020603050405020304" pitchFamily="18" charset="0"/>
                <a:cs typeface="Times New Roman" panose="02020603050405020304" pitchFamily="18" charset="0"/>
              </a:rPr>
              <a:t>(</a:t>
            </a:r>
            <a:r>
              <a:rPr lang="mn-MN" sz="2800" b="1" dirty="0">
                <a:solidFill>
                  <a:srgbClr val="002060"/>
                </a:solidFill>
                <a:latin typeface="Times New Roman" panose="02020603050405020304" pitchFamily="18" charset="0"/>
                <a:cs typeface="Times New Roman" panose="02020603050405020304" pitchFamily="18" charset="0"/>
              </a:rPr>
              <a:t>Стратеги төлөвлөгөө</a:t>
            </a:r>
            <a:r>
              <a:rPr lang="en-US" sz="2800" b="1" dirty="0">
                <a:solidFill>
                  <a:srgbClr val="002060"/>
                </a:solidFill>
                <a:latin typeface="Times New Roman" panose="02020603050405020304" pitchFamily="18" charset="0"/>
                <a:cs typeface="Times New Roman" panose="02020603050405020304" pitchFamily="18" charset="0"/>
              </a:rPr>
              <a:t>)</a:t>
            </a:r>
            <a:endParaRPr lang="mn-MN" sz="2800" b="1" dirty="0">
              <a:solidFill>
                <a:srgbClr val="002060"/>
              </a:solidFill>
              <a:latin typeface="Times New Roman" panose="02020603050405020304" pitchFamily="18" charset="0"/>
              <a:cs typeface="Times New Roman" panose="02020603050405020304" pitchFamily="18" charset="0"/>
            </a:endParaRPr>
          </a:p>
          <a:p>
            <a:pPr lvl="2" algn="just"/>
            <a:r>
              <a:rPr lang="mn-MN" sz="2400" dirty="0">
                <a:solidFill>
                  <a:srgbClr val="002060"/>
                </a:solidFill>
                <a:latin typeface="Times New Roman" panose="02020603050405020304" pitchFamily="18" charset="0"/>
                <a:cs typeface="Times New Roman" panose="02020603050405020304" pitchFamily="18" charset="0"/>
              </a:rPr>
              <a:t>Урт хугацаанд шийдвэрлэгдэх асуудалд бүтээгдэхүүн, үйлчилгээний нэр төрөл, түүний хэмжээг тогтоох, үйлдвэрийн газрыг байршуулах, тоног төхөөрөмжийг сонгох, тэдгээрийг байршуулах асуудал хамаарна. </a:t>
            </a:r>
          </a:p>
          <a:p>
            <a:pPr lvl="1" algn="just"/>
            <a:r>
              <a:rPr lang="mn-MN" sz="2800" b="1" dirty="0">
                <a:solidFill>
                  <a:srgbClr val="002060"/>
                </a:solidFill>
                <a:latin typeface="Times New Roman" panose="02020603050405020304" pitchFamily="18" charset="0"/>
                <a:cs typeface="Times New Roman" panose="02020603050405020304" pitchFamily="18" charset="0"/>
              </a:rPr>
              <a:t>Дунд хугацааны </a:t>
            </a:r>
            <a:r>
              <a:rPr lang="en-US" sz="2800" b="1" dirty="0">
                <a:solidFill>
                  <a:srgbClr val="002060"/>
                </a:solidFill>
                <a:latin typeface="Times New Roman" panose="02020603050405020304" pitchFamily="18" charset="0"/>
                <a:cs typeface="Times New Roman" panose="02020603050405020304" pitchFamily="18" charset="0"/>
              </a:rPr>
              <a:t>(</a:t>
            </a:r>
            <a:r>
              <a:rPr lang="mn-MN" sz="2800" b="1" dirty="0">
                <a:solidFill>
                  <a:srgbClr val="002060"/>
                </a:solidFill>
                <a:latin typeface="Times New Roman" panose="02020603050405020304" pitchFamily="18" charset="0"/>
                <a:cs typeface="Times New Roman" panose="02020603050405020304" pitchFamily="18" charset="0"/>
              </a:rPr>
              <a:t>Нэгтгэсэн төлөвлөгөө</a:t>
            </a:r>
            <a:r>
              <a:rPr lang="en-US" sz="2800" b="1" dirty="0">
                <a:solidFill>
                  <a:srgbClr val="002060"/>
                </a:solidFill>
                <a:latin typeface="Times New Roman" panose="02020603050405020304" pitchFamily="18" charset="0"/>
                <a:cs typeface="Times New Roman" panose="02020603050405020304" pitchFamily="18" charset="0"/>
              </a:rPr>
              <a:t>)</a:t>
            </a:r>
            <a:endParaRPr lang="mn-MN" sz="2800" b="1" dirty="0">
              <a:solidFill>
                <a:srgbClr val="002060"/>
              </a:solidFill>
              <a:latin typeface="Times New Roman" panose="02020603050405020304" pitchFamily="18" charset="0"/>
              <a:cs typeface="Times New Roman" panose="02020603050405020304" pitchFamily="18" charset="0"/>
            </a:endParaRPr>
          </a:p>
          <a:p>
            <a:pPr lvl="2" algn="just"/>
            <a:r>
              <a:rPr lang="mn-MN" sz="2400" dirty="0">
                <a:solidFill>
                  <a:srgbClr val="002060"/>
                </a:solidFill>
                <a:latin typeface="Times New Roman" panose="02020603050405020304" pitchFamily="18" charset="0"/>
                <a:cs typeface="Times New Roman" panose="02020603050405020304" pitchFamily="18" charset="0"/>
              </a:rPr>
              <a:t>Дунд хугацааны төлөвлөлтөөр ажил эрхлэлтийн түвшин, үйлдвэрлэх бүтээгдэхүүн ба материалын түвшин, үйлдвэрлэх бүтээгдэхүүн ба материалын нөөцийн хэмжээ, богино хугацааны төлөвлөлтийн хүрээнд шийдвэрлэх шаардлагатай асуудлууд орно. </a:t>
            </a:r>
          </a:p>
          <a:p>
            <a:pPr lvl="1" algn="just"/>
            <a:r>
              <a:rPr lang="mn-MN" sz="2800" b="1" dirty="0">
                <a:solidFill>
                  <a:srgbClr val="002060"/>
                </a:solidFill>
                <a:latin typeface="Times New Roman" panose="02020603050405020304" pitchFamily="18" charset="0"/>
                <a:cs typeface="Times New Roman" panose="02020603050405020304" pitchFamily="18" charset="0"/>
              </a:rPr>
              <a:t>Богино хугацааны </a:t>
            </a:r>
            <a:r>
              <a:rPr lang="mn-MN" sz="2800" dirty="0">
                <a:solidFill>
                  <a:srgbClr val="002060"/>
                </a:solidFill>
                <a:latin typeface="Times New Roman" panose="02020603050405020304" pitchFamily="18" charset="0"/>
                <a:cs typeface="Times New Roman" panose="02020603050405020304" pitchFamily="18" charset="0"/>
              </a:rPr>
              <a:t>гэсэн гурван түвшинд шийдвэр гаргах шаардлагатай болдог. </a:t>
            </a:r>
          </a:p>
          <a:p>
            <a:pPr lvl="2" algn="just"/>
            <a:r>
              <a:rPr lang="mn-MN" sz="2400" dirty="0">
                <a:solidFill>
                  <a:srgbClr val="002060"/>
                </a:solidFill>
                <a:latin typeface="Times New Roman" panose="02020603050405020304" pitchFamily="18" charset="0"/>
                <a:cs typeface="Times New Roman" panose="02020603050405020304" pitchFamily="18" charset="0"/>
              </a:rPr>
              <a:t>Богино хугацааны төлөвлөлтийн гол асуудал бол хүссэн үр дүндээ хүрэх оновчтой арга замыг тодорхойлох явдал юм.</a:t>
            </a:r>
            <a:endParaRPr lang="en-US" sz="24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744550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E01A8-19EC-869C-3ACB-59656F465B59}"/>
              </a:ext>
            </a:extLst>
          </p:cNvPr>
          <p:cNvSpPr>
            <a:spLocks noGrp="1"/>
          </p:cNvSpPr>
          <p:nvPr>
            <p:ph type="title"/>
          </p:nvPr>
        </p:nvSpPr>
        <p:spPr>
          <a:xfrm>
            <a:off x="116305" y="124495"/>
            <a:ext cx="11931315" cy="469063"/>
          </a:xfrm>
        </p:spPr>
        <p:txBody>
          <a:bodyPr>
            <a:noAutofit/>
          </a:bodyPr>
          <a:lstStyle/>
          <a:p>
            <a:pPr algn="just"/>
            <a:r>
              <a:rPr lang="mn-MN" sz="3600" b="1" dirty="0">
                <a:solidFill>
                  <a:srgbClr val="002060"/>
                </a:solidFill>
                <a:latin typeface="Times New Roman" panose="02020603050405020304" pitchFamily="18" charset="0"/>
                <a:cs typeface="Times New Roman" panose="02020603050405020304" pitchFamily="18" charset="0"/>
              </a:rPr>
              <a:t>Урт хугацааны төлөвлөлт – Стратегийн төлөвлөлт</a:t>
            </a:r>
            <a:endParaRPr lang="en-US" sz="3600" b="1"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926E7B8-5142-C186-F75C-BEAAEDEB0162}"/>
              </a:ext>
            </a:extLst>
          </p:cNvPr>
          <p:cNvSpPr>
            <a:spLocks noGrp="1"/>
          </p:cNvSpPr>
          <p:nvPr>
            <p:ph idx="1"/>
          </p:nvPr>
        </p:nvSpPr>
        <p:spPr>
          <a:xfrm>
            <a:off x="116305" y="593558"/>
            <a:ext cx="11931315" cy="6015789"/>
          </a:xfrm>
        </p:spPr>
        <p:txBody>
          <a:bodyPr>
            <a:normAutofit lnSpcReduction="10000"/>
          </a:bodyPr>
          <a:lstStyle/>
          <a:p>
            <a:pPr algn="just"/>
            <a:r>
              <a:rPr lang="mn-MN" sz="3200" dirty="0">
                <a:solidFill>
                  <a:srgbClr val="002060"/>
                </a:solidFill>
                <a:latin typeface="Times New Roman" panose="02020603050405020304" pitchFamily="18" charset="0"/>
                <a:cs typeface="Times New Roman" panose="02020603050405020304" pitchFamily="18" charset="0"/>
              </a:rPr>
              <a:t>Байгууллагын урт хугацааны төлөвлөлтийн үндсэн хэлбэр нь </a:t>
            </a:r>
            <a:r>
              <a:rPr lang="mn-MN" sz="3200" b="1" i="1" dirty="0">
                <a:solidFill>
                  <a:srgbClr val="002060"/>
                </a:solidFill>
                <a:latin typeface="Times New Roman" panose="02020603050405020304" pitchFamily="18" charset="0"/>
                <a:cs typeface="Times New Roman" panose="02020603050405020304" pitchFamily="18" charset="0"/>
              </a:rPr>
              <a:t>Стратегийн төлөвлөлт </a:t>
            </a:r>
            <a:r>
              <a:rPr lang="mn-MN" sz="3200" dirty="0">
                <a:solidFill>
                  <a:srgbClr val="002060"/>
                </a:solidFill>
                <a:latin typeface="Times New Roman" panose="02020603050405020304" pitchFamily="18" charset="0"/>
                <a:cs typeface="Times New Roman" panose="02020603050405020304" pitchFamily="18" charset="0"/>
              </a:rPr>
              <a:t>байдаг. </a:t>
            </a:r>
          </a:p>
          <a:p>
            <a:pPr algn="just"/>
            <a:r>
              <a:rPr lang="mn-MN" sz="3200" dirty="0">
                <a:solidFill>
                  <a:srgbClr val="002060"/>
                </a:solidFill>
                <a:latin typeface="Times New Roman" panose="02020603050405020304" pitchFamily="18" charset="0"/>
                <a:cs typeface="Times New Roman" panose="02020603050405020304" pitchFamily="18" charset="0"/>
              </a:rPr>
              <a:t>Стратеги төлөвлөгөөг </a:t>
            </a:r>
          </a:p>
          <a:p>
            <a:pPr lvl="1" algn="just"/>
            <a:r>
              <a:rPr lang="mn-MN" sz="2800" dirty="0">
                <a:solidFill>
                  <a:srgbClr val="002060"/>
                </a:solidFill>
                <a:latin typeface="Times New Roman" panose="02020603050405020304" pitchFamily="18" charset="0"/>
                <a:cs typeface="Times New Roman" panose="02020603050405020304" pitchFamily="18" charset="0"/>
              </a:rPr>
              <a:t>Байгууллагын эрхэм зорилго </a:t>
            </a:r>
          </a:p>
          <a:p>
            <a:pPr lvl="1" algn="just"/>
            <a:r>
              <a:rPr lang="mn-MN" sz="2800" dirty="0">
                <a:solidFill>
                  <a:srgbClr val="002060"/>
                </a:solidFill>
                <a:latin typeface="Times New Roman" panose="02020603050405020304" pitchFamily="18" charset="0"/>
                <a:cs typeface="Times New Roman" panose="02020603050405020304" pitchFamily="18" charset="0"/>
              </a:rPr>
              <a:t>Зорилтууд </a:t>
            </a:r>
          </a:p>
          <a:p>
            <a:pPr lvl="2" algn="just"/>
            <a:r>
              <a:rPr lang="mn-MN" sz="2400" dirty="0">
                <a:solidFill>
                  <a:srgbClr val="002060"/>
                </a:solidFill>
                <a:latin typeface="Times New Roman" panose="02020603050405020304" pitchFamily="18" charset="0"/>
                <a:cs typeface="Times New Roman" panose="02020603050405020304" pitchFamily="18" charset="0"/>
              </a:rPr>
              <a:t>Ойрын 2-с 10 жилд шийдвэрлэгдэх зорилтуудыг тодорхойлохоос эхэлнэ. </a:t>
            </a:r>
          </a:p>
          <a:p>
            <a:pPr algn="just"/>
            <a:r>
              <a:rPr lang="mn-MN" sz="3200" dirty="0">
                <a:solidFill>
                  <a:srgbClr val="002060"/>
                </a:solidFill>
                <a:latin typeface="Times New Roman" panose="02020603050405020304" pitchFamily="18" charset="0"/>
                <a:cs typeface="Times New Roman" panose="02020603050405020304" pitchFamily="18" charset="0"/>
              </a:rPr>
              <a:t>Стратеги төлөвлөгөөг үндэслэн зах зээл, бүтээгдэхүүн үйлдвэрлэлийн төлөвлөгөөг зохионо. </a:t>
            </a:r>
          </a:p>
          <a:p>
            <a:pPr algn="just"/>
            <a:r>
              <a:rPr lang="mn-MN" sz="3200" dirty="0">
                <a:solidFill>
                  <a:srgbClr val="002060"/>
                </a:solidFill>
                <a:latin typeface="Times New Roman" panose="02020603050405020304" pitchFamily="18" charset="0"/>
                <a:cs typeface="Times New Roman" panose="02020603050405020304" pitchFamily="18" charset="0"/>
              </a:rPr>
              <a:t>Үүний зэрэгцээ, урт хугацааны зорилтыг хэрэгжүүлэхэд шаардагдах капиталын хэрэгцээ, хөрөнгө оруулалтыг тусгасан санхүүгийн төлөвлөгөөг зохионо. </a:t>
            </a:r>
          </a:p>
          <a:p>
            <a:pPr algn="just"/>
            <a:r>
              <a:rPr lang="mn-MN" sz="3200" dirty="0">
                <a:solidFill>
                  <a:srgbClr val="002060"/>
                </a:solidFill>
                <a:latin typeface="Times New Roman" panose="02020603050405020304" pitchFamily="18" charset="0"/>
                <a:cs typeface="Times New Roman" panose="02020603050405020304" pitchFamily="18" charset="0"/>
              </a:rPr>
              <a:t>Мөн тоног төхөөрөмж, хүний нөөц, үйлдвэрлэлийн хүчин чадлын хэмжээ төлөвлөгдөнө. </a:t>
            </a:r>
          </a:p>
        </p:txBody>
      </p:sp>
    </p:spTree>
    <p:extLst>
      <p:ext uri="{BB962C8B-B14F-4D97-AF65-F5344CB8AC3E}">
        <p14:creationId xmlns:p14="http://schemas.microsoft.com/office/powerpoint/2010/main" val="38400235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60018F8-BD47-4F7F-5EE1-5D98C8051074}"/>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AAF350C0-0355-22CC-3994-F97FCC61D21E}"/>
              </a:ext>
            </a:extLst>
          </p:cNvPr>
          <p:cNvPicPr>
            <a:picLocks noChangeAspect="1"/>
          </p:cNvPicPr>
          <p:nvPr/>
        </p:nvPicPr>
        <p:blipFill rotWithShape="1">
          <a:blip r:embed="rId3"/>
          <a:srcRect t="547" b="-1"/>
          <a:stretch/>
        </p:blipFill>
        <p:spPr>
          <a:xfrm>
            <a:off x="222862" y="71438"/>
            <a:ext cx="11872886" cy="6521868"/>
          </a:xfrm>
          <a:prstGeom prst="rect">
            <a:avLst/>
          </a:prstGeom>
        </p:spPr>
      </p:pic>
    </p:spTree>
    <p:extLst>
      <p:ext uri="{BB962C8B-B14F-4D97-AF65-F5344CB8AC3E}">
        <p14:creationId xmlns:p14="http://schemas.microsoft.com/office/powerpoint/2010/main" val="13507694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1BF74D-A7B5-E56E-9CAD-25F66228BCBC}"/>
              </a:ext>
            </a:extLst>
          </p:cNvPr>
          <p:cNvSpPr>
            <a:spLocks noGrp="1"/>
          </p:cNvSpPr>
          <p:nvPr>
            <p:ph type="title"/>
          </p:nvPr>
        </p:nvSpPr>
        <p:spPr>
          <a:xfrm>
            <a:off x="180474" y="140537"/>
            <a:ext cx="11754852" cy="436979"/>
          </a:xfrm>
        </p:spPr>
        <p:txBody>
          <a:bodyPr>
            <a:normAutofit fontScale="90000"/>
          </a:bodyPr>
          <a:lstStyle/>
          <a:p>
            <a:pPr algn="just"/>
            <a:r>
              <a:rPr lang="mn-MN" b="1" dirty="0">
                <a:solidFill>
                  <a:srgbClr val="002060"/>
                </a:solidFill>
                <a:latin typeface="Times New Roman" panose="02020603050405020304" pitchFamily="18" charset="0"/>
                <a:cs typeface="Times New Roman" panose="02020603050405020304" pitchFamily="18" charset="0"/>
              </a:rPr>
              <a:t>Дунд хугацааны төлөвлөлт – Нэгтгэсэн төлөвлөлт</a:t>
            </a:r>
            <a:endParaRPr lang="en-US" dirty="0">
              <a:solidFill>
                <a:srgbClr val="002060"/>
              </a:solidFill>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E39CE029-A18C-CC74-8DFC-CB7494A690B9}"/>
              </a:ext>
            </a:extLst>
          </p:cNvPr>
          <p:cNvSpPr>
            <a:spLocks noGrp="1"/>
          </p:cNvSpPr>
          <p:nvPr>
            <p:ph idx="1"/>
          </p:nvPr>
        </p:nvSpPr>
        <p:spPr>
          <a:xfrm>
            <a:off x="180474" y="577516"/>
            <a:ext cx="11754852" cy="5941595"/>
          </a:xfrm>
        </p:spPr>
        <p:txBody>
          <a:bodyPr>
            <a:normAutofit lnSpcReduction="10000"/>
          </a:bodyPr>
          <a:lstStyle/>
          <a:p>
            <a:pPr algn="just"/>
            <a:r>
              <a:rPr lang="mn-MN" sz="3200" dirty="0">
                <a:solidFill>
                  <a:srgbClr val="002060"/>
                </a:solidFill>
                <a:latin typeface="Times New Roman" panose="02020603050405020304" pitchFamily="18" charset="0"/>
                <a:cs typeface="Times New Roman" panose="02020603050405020304" pitchFamily="18" charset="0"/>
              </a:rPr>
              <a:t>Дунд хугацааны төлөвлөлт </a:t>
            </a:r>
            <a:r>
              <a:rPr lang="mn-MN" sz="3200" b="1" i="1" dirty="0">
                <a:solidFill>
                  <a:srgbClr val="002060"/>
                </a:solidFill>
                <a:latin typeface="Times New Roman" panose="02020603050405020304" pitchFamily="18" charset="0"/>
                <a:cs typeface="Times New Roman" panose="02020603050405020304" pitchFamily="18" charset="0"/>
              </a:rPr>
              <a:t>үйлдвэрлэлийн нэгтгэсэн төлөвлөгөө </a:t>
            </a:r>
            <a:r>
              <a:rPr lang="mn-MN" sz="3200" dirty="0">
                <a:solidFill>
                  <a:srgbClr val="002060"/>
                </a:solidFill>
                <a:latin typeface="Times New Roman" panose="02020603050405020304" pitchFamily="18" charset="0"/>
                <a:cs typeface="Times New Roman" panose="02020603050405020304" pitchFamily="18" charset="0"/>
              </a:rPr>
              <a:t>зохиохоос эхэлнэ. </a:t>
            </a:r>
          </a:p>
          <a:p>
            <a:pPr algn="just"/>
            <a:r>
              <a:rPr lang="mn-MN" sz="3200" dirty="0">
                <a:solidFill>
                  <a:srgbClr val="002060"/>
                </a:solidFill>
                <a:latin typeface="Times New Roman" panose="02020603050405020304" pitchFamily="18" charset="0"/>
                <a:cs typeface="Times New Roman" panose="02020603050405020304" pitchFamily="18" charset="0"/>
              </a:rPr>
              <a:t>Энэ төлөвлөгөөнд </a:t>
            </a:r>
          </a:p>
          <a:p>
            <a:pPr lvl="1" algn="just"/>
            <a:r>
              <a:rPr lang="mn-MN" sz="2800" dirty="0">
                <a:solidFill>
                  <a:srgbClr val="002060"/>
                </a:solidFill>
                <a:latin typeface="Times New Roman" panose="02020603050405020304" pitchFamily="18" charset="0"/>
                <a:cs typeface="Times New Roman" panose="02020603050405020304" pitchFamily="18" charset="0"/>
              </a:rPr>
              <a:t>Бүтээгдэхүүний эрэлтийг үндэслэн үйлдвэрлэх бүтээгдэхүүний хэмжээг төлөвлөнө. </a:t>
            </a:r>
          </a:p>
          <a:p>
            <a:pPr lvl="1" algn="just"/>
            <a:r>
              <a:rPr lang="mn-MN" sz="2800" dirty="0">
                <a:solidFill>
                  <a:srgbClr val="002060"/>
                </a:solidFill>
                <a:latin typeface="Times New Roman" panose="02020603050405020304" pitchFamily="18" charset="0"/>
                <a:cs typeface="Times New Roman" panose="02020603050405020304" pitchFamily="18" charset="0"/>
              </a:rPr>
              <a:t>Бэлэн байгаа нөөцийн хэмжээг харгалзан үндсэн болон илүү цагт үйлдвэрлэх норм хэмжээ, үндсэн болон гэрээт ажилтанаар гүйцэтгүүлэх төлөвлөлтийг сар сараар хуваарилж харуулна. </a:t>
            </a:r>
          </a:p>
          <a:p>
            <a:pPr algn="just"/>
            <a:r>
              <a:rPr lang="mn-MN" sz="3200" dirty="0">
                <a:solidFill>
                  <a:srgbClr val="002060"/>
                </a:solidFill>
                <a:latin typeface="Times New Roman" panose="02020603050405020304" pitchFamily="18" charset="0"/>
                <a:cs typeface="Times New Roman" panose="02020603050405020304" pitchFamily="18" charset="0"/>
              </a:rPr>
              <a:t>Энэ төлөвлөгөөг урт хугацааны </a:t>
            </a:r>
            <a:r>
              <a:rPr lang="mn-MN" sz="3200" b="1" i="1" dirty="0">
                <a:solidFill>
                  <a:srgbClr val="002060"/>
                </a:solidFill>
                <a:latin typeface="Times New Roman" panose="02020603050405020304" pitchFamily="18" charset="0"/>
                <a:cs typeface="Times New Roman" panose="02020603050405020304" pitchFamily="18" charset="0"/>
              </a:rPr>
              <a:t>бүтээгдэхүүн үйлдвэрлэлийн </a:t>
            </a:r>
            <a:r>
              <a:rPr lang="mn-MN" sz="3200" dirty="0">
                <a:solidFill>
                  <a:srgbClr val="002060"/>
                </a:solidFill>
                <a:latin typeface="Times New Roman" panose="02020603050405020304" pitchFamily="18" charset="0"/>
                <a:cs typeface="Times New Roman" panose="02020603050405020304" pitchFamily="18" charset="0"/>
              </a:rPr>
              <a:t>болон </a:t>
            </a:r>
            <a:r>
              <a:rPr lang="mn-MN" sz="3200" b="1" i="1" dirty="0">
                <a:solidFill>
                  <a:srgbClr val="002060"/>
                </a:solidFill>
                <a:latin typeface="Times New Roman" panose="02020603050405020304" pitchFamily="18" charset="0"/>
                <a:cs typeface="Times New Roman" panose="02020603050405020304" pitchFamily="18" charset="0"/>
              </a:rPr>
              <a:t>хүчин чадлын төлөвлөгөөг </a:t>
            </a:r>
            <a:r>
              <a:rPr lang="mn-MN" sz="3200" dirty="0">
                <a:solidFill>
                  <a:srgbClr val="002060"/>
                </a:solidFill>
                <a:latin typeface="Times New Roman" panose="02020603050405020304" pitchFamily="18" charset="0"/>
                <a:cs typeface="Times New Roman" panose="02020603050405020304" pitchFamily="18" charset="0"/>
              </a:rPr>
              <a:t>үндэслэн зохионо. </a:t>
            </a:r>
          </a:p>
          <a:p>
            <a:pPr algn="just"/>
            <a:r>
              <a:rPr lang="mn-MN" sz="3200" b="1" i="1" dirty="0">
                <a:solidFill>
                  <a:srgbClr val="002060"/>
                </a:solidFill>
                <a:latin typeface="Times New Roman" panose="02020603050405020304" pitchFamily="18" charset="0"/>
                <a:cs typeface="Times New Roman" panose="02020603050405020304" pitchFamily="18" charset="0"/>
              </a:rPr>
              <a:t>Үйлдвэрлэлийн нэгтгэсэн төлөвлөгөө </a:t>
            </a:r>
            <a:r>
              <a:rPr lang="mn-MN" sz="3200" dirty="0">
                <a:solidFill>
                  <a:srgbClr val="002060"/>
                </a:solidFill>
                <a:latin typeface="Times New Roman" panose="02020603050405020304" pitchFamily="18" charset="0"/>
                <a:cs typeface="Times New Roman" panose="02020603050405020304" pitchFamily="18" charset="0"/>
              </a:rPr>
              <a:t>– ажиллах нөөц болон бусад бүх нөөцийг хамгийн оновчтойгоор ашиглан нэгж бүтээгдэхүүнд хамгийн бага зардал гарган үйлдвэрлэх бүтээгдэхүүний хэмжээг тодорхойлоход чиглэнэ.</a:t>
            </a:r>
            <a:endParaRPr lang="en-US" sz="32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714445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53ADF0-E816-ECEE-A6D5-5535C5B9D2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73A582-0F77-C668-858D-5D0BF0E3B5D6}"/>
              </a:ext>
            </a:extLst>
          </p:cNvPr>
          <p:cNvSpPr>
            <a:spLocks noGrp="1"/>
          </p:cNvSpPr>
          <p:nvPr>
            <p:ph type="title"/>
          </p:nvPr>
        </p:nvSpPr>
        <p:spPr>
          <a:xfrm>
            <a:off x="207805" y="124495"/>
            <a:ext cx="11647311" cy="859518"/>
          </a:xfrm>
        </p:spPr>
        <p:txBody>
          <a:bodyPr>
            <a:noAutofit/>
          </a:bodyPr>
          <a:lstStyle/>
          <a:p>
            <a:r>
              <a:rPr lang="mn-MN" sz="3200" b="1" dirty="0">
                <a:solidFill>
                  <a:srgbClr val="002060"/>
                </a:solidFill>
                <a:latin typeface="Times New Roman" panose="02020603050405020304" pitchFamily="18" charset="0"/>
                <a:cs typeface="Times New Roman" panose="02020603050405020304" pitchFamily="18" charset="0"/>
              </a:rPr>
              <a:t>Нэгтгэсэн төлөвлөгөө зохиоход баримтлах стратегиуд </a:t>
            </a:r>
            <a:r>
              <a:rPr lang="mn-MN" sz="3200" b="1" dirty="0">
                <a:solidFill>
                  <a:schemeClr val="accent2">
                    <a:lumMod val="75000"/>
                  </a:schemeClr>
                </a:solidFill>
                <a:latin typeface="Times New Roman" panose="02020603050405020304" pitchFamily="18" charset="0"/>
                <a:cs typeface="Times New Roman" panose="02020603050405020304" pitchFamily="18" charset="0"/>
              </a:rPr>
              <a:t>Тодорхой бус эрэлттэй нөхцөлд</a:t>
            </a:r>
            <a:endParaRPr lang="en-US" sz="3200" dirty="0">
              <a:solidFill>
                <a:schemeClr val="accent2">
                  <a:lumMod val="75000"/>
                </a:schemeClr>
              </a:solidFill>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08E284F7-151F-2216-033D-D3DFE4E62A3E}"/>
              </a:ext>
            </a:extLst>
          </p:cNvPr>
          <p:cNvSpPr>
            <a:spLocks noGrp="1"/>
          </p:cNvSpPr>
          <p:nvPr>
            <p:ph idx="1"/>
          </p:nvPr>
        </p:nvSpPr>
        <p:spPr>
          <a:xfrm>
            <a:off x="759767" y="984013"/>
            <a:ext cx="11224428" cy="4588329"/>
          </a:xfrm>
        </p:spPr>
        <p:txBody>
          <a:bodyPr>
            <a:normAutofit lnSpcReduction="10000"/>
          </a:bodyPr>
          <a:lstStyle/>
          <a:p>
            <a:pPr marL="690563" lvl="1" indent="-457200" algn="just">
              <a:buFont typeface="+mj-lt"/>
              <a:buAutoNum type="arabicPeriod"/>
            </a:pPr>
            <a:r>
              <a:rPr lang="mn-MN" b="1" dirty="0">
                <a:solidFill>
                  <a:srgbClr val="002060"/>
                </a:solidFill>
                <a:latin typeface="Times New Roman" panose="02020603050405020304" pitchFamily="18" charset="0"/>
                <a:cs typeface="Times New Roman" panose="02020603050405020304" pitchFamily="18" charset="0"/>
              </a:rPr>
              <a:t>Ажиллах хүчний түвшинг тогтвортой байлгах. </a:t>
            </a:r>
            <a:r>
              <a:rPr lang="mn-MN" dirty="0">
                <a:solidFill>
                  <a:srgbClr val="002060"/>
                </a:solidFill>
                <a:latin typeface="Times New Roman" panose="02020603050405020304" pitchFamily="18" charset="0"/>
                <a:cs typeface="Times New Roman" panose="02020603050405020304" pitchFamily="18" charset="0"/>
              </a:rPr>
              <a:t>Янз бүрийн эрэлтийн түвшинд илүү цаг, давхар гэрээ,түр болон хагас цагаар ажиллагсадыг авах,захиалгыг хойшлуулах гэх мэт арга хэрэглэн ажиллах хүчний түвшинг тогтоох. </a:t>
            </a:r>
          </a:p>
          <a:p>
            <a:pPr marL="690563" lvl="1" indent="-457200" algn="just">
              <a:buFont typeface="+mj-lt"/>
              <a:buAutoNum type="arabicPeriod"/>
            </a:pPr>
            <a:r>
              <a:rPr lang="mn-MN" b="1" dirty="0">
                <a:solidFill>
                  <a:srgbClr val="002060"/>
                </a:solidFill>
                <a:latin typeface="Times New Roman" panose="02020603050405020304" pitchFamily="18" charset="0"/>
                <a:cs typeface="Times New Roman" panose="02020603050405020304" pitchFamily="18" charset="0"/>
              </a:rPr>
              <a:t>Бүтээгдэхүүн үйлдвэрлэлийн хэмжээг тогтвортой байлгах. </a:t>
            </a:r>
            <a:r>
              <a:rPr lang="mn-MN" dirty="0">
                <a:solidFill>
                  <a:srgbClr val="002060"/>
                </a:solidFill>
                <a:latin typeface="Times New Roman" panose="02020603050405020304" pitchFamily="18" charset="0"/>
                <a:cs typeface="Times New Roman" panose="02020603050405020304" pitchFamily="18" charset="0"/>
              </a:rPr>
              <a:t>гэдэг нь эрэлт их байхад нөөцөөрөө хангах, эрэлт бага байхад маркетингийн арга хэрэгслэлүүдийг хэрэглэн бүтээгдэхүүний борлуулалтыг нэмэгдүүлэх зэргээр гарцыг тогтмол байлгах </a:t>
            </a:r>
          </a:p>
          <a:p>
            <a:pPr marL="690563" lvl="1" indent="-457200" algn="just">
              <a:buFont typeface="+mj-lt"/>
              <a:buAutoNum type="arabicPeriod"/>
            </a:pPr>
            <a:r>
              <a:rPr lang="mn-MN" b="1" dirty="0">
                <a:solidFill>
                  <a:srgbClr val="002060"/>
                </a:solidFill>
                <a:latin typeface="Times New Roman" panose="02020603050405020304" pitchFamily="18" charset="0"/>
                <a:cs typeface="Times New Roman" panose="02020603050405020304" pitchFamily="18" charset="0"/>
              </a:rPr>
              <a:t>Янз бүрийн хугацааны эрэлтийг хангах буюу эрэлтийг хөөх. </a:t>
            </a:r>
            <a:r>
              <a:rPr lang="mn-MN" dirty="0">
                <a:solidFill>
                  <a:srgbClr val="002060"/>
                </a:solidFill>
                <a:latin typeface="Times New Roman" panose="02020603050405020304" pitchFamily="18" charset="0"/>
                <a:cs typeface="Times New Roman" panose="02020603050405020304" pitchFamily="18" charset="0"/>
              </a:rPr>
              <a:t>Өөрөөр хэлбэл эрэлт ихсэхэд үйлдвэрлэлийг ихэсгээд, эрэлт багасахад үйлдвэрлэлийг мөн багасгаж болно. Үүнийг ажиллах хүчнийг нэмэгдүүлэх болон багасгах замаар хэрэгжүүлдэг. </a:t>
            </a:r>
          </a:p>
          <a:p>
            <a:pPr marL="690563" lvl="1" indent="-457200" algn="just">
              <a:buFont typeface="+mj-lt"/>
              <a:buAutoNum type="arabicPeriod"/>
            </a:pPr>
            <a:r>
              <a:rPr lang="mn-MN" dirty="0">
                <a:solidFill>
                  <a:srgbClr val="002060"/>
                </a:solidFill>
                <a:latin typeface="Times New Roman" panose="02020603050405020304" pitchFamily="18" charset="0"/>
                <a:cs typeface="Times New Roman" panose="02020603050405020304" pitchFamily="18" charset="0"/>
              </a:rPr>
              <a:t>Эдгээр аргуудын хослуулан хэрэглэх тохиолдол байдаг. Гэхдээ энэ арга нь зардлын хувьд бага байх, эсвэл эрэлт огцом өсөхөд хэрэглэдэг арга юм.</a:t>
            </a:r>
          </a:p>
        </p:txBody>
      </p:sp>
      <p:sp>
        <p:nvSpPr>
          <p:cNvPr id="3" name="Left Brace 2">
            <a:extLst>
              <a:ext uri="{FF2B5EF4-FFF2-40B4-BE49-F238E27FC236}">
                <a16:creationId xmlns:a16="http://schemas.microsoft.com/office/drawing/2014/main" id="{72C5148C-B052-A69A-19F6-89E411C4AEE2}"/>
              </a:ext>
            </a:extLst>
          </p:cNvPr>
          <p:cNvSpPr/>
          <p:nvPr/>
        </p:nvSpPr>
        <p:spPr>
          <a:xfrm>
            <a:off x="663515" y="1084561"/>
            <a:ext cx="461666" cy="3494315"/>
          </a:xfrm>
          <a:prstGeom prst="leftBrace">
            <a:avLst>
              <a:gd name="adj1" fmla="val 60310"/>
              <a:gd name="adj2" fmla="val 46786"/>
            </a:avLst>
          </a:prstGeom>
        </p:spPr>
        <p:style>
          <a:lnRef idx="1">
            <a:schemeClr val="accent1"/>
          </a:lnRef>
          <a:fillRef idx="0">
            <a:schemeClr val="accent1"/>
          </a:fillRef>
          <a:effectRef idx="0">
            <a:schemeClr val="accent1"/>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23D474E1-31DB-393F-565B-2280362D33DE}"/>
              </a:ext>
            </a:extLst>
          </p:cNvPr>
          <p:cNvSpPr txBox="1"/>
          <p:nvPr/>
        </p:nvSpPr>
        <p:spPr>
          <a:xfrm rot="16200000">
            <a:off x="-1008043" y="2688113"/>
            <a:ext cx="2775856" cy="461665"/>
          </a:xfrm>
          <a:prstGeom prst="rect">
            <a:avLst/>
          </a:prstGeom>
          <a:noFill/>
        </p:spPr>
        <p:txBody>
          <a:bodyPr wrap="square">
            <a:spAutoFit/>
          </a:bodyPr>
          <a:lstStyle/>
          <a:p>
            <a:pPr algn="ctr"/>
            <a:r>
              <a:rPr lang="mn-MN" sz="2400" b="1" dirty="0">
                <a:solidFill>
                  <a:schemeClr val="accent2">
                    <a:lumMod val="75000"/>
                  </a:schemeClr>
                </a:solidFill>
                <a:latin typeface="Times New Roman" panose="02020603050405020304" pitchFamily="18" charset="0"/>
                <a:cs typeface="Times New Roman" panose="02020603050405020304" pitchFamily="18" charset="0"/>
              </a:rPr>
              <a:t>Цэвэр стратеги</a:t>
            </a:r>
            <a:endParaRPr lang="en-US" sz="2400" b="1" dirty="0">
              <a:solidFill>
                <a:schemeClr val="accent2">
                  <a:lumMod val="75000"/>
                </a:schemeClr>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3CBDAE7D-9340-56F6-3A96-D0ECB12F7438}"/>
              </a:ext>
            </a:extLst>
          </p:cNvPr>
          <p:cNvSpPr txBox="1"/>
          <p:nvPr/>
        </p:nvSpPr>
        <p:spPr>
          <a:xfrm>
            <a:off x="0" y="4918046"/>
            <a:ext cx="1491916" cy="830997"/>
          </a:xfrm>
          <a:prstGeom prst="rect">
            <a:avLst/>
          </a:prstGeom>
          <a:noFill/>
        </p:spPr>
        <p:txBody>
          <a:bodyPr wrap="square">
            <a:spAutoFit/>
          </a:bodyPr>
          <a:lstStyle/>
          <a:p>
            <a:pPr algn="ctr"/>
            <a:r>
              <a:rPr lang="mn-MN" sz="2400" b="1" dirty="0">
                <a:solidFill>
                  <a:schemeClr val="accent2">
                    <a:lumMod val="75000"/>
                  </a:schemeClr>
                </a:solidFill>
                <a:latin typeface="Times New Roman" panose="02020603050405020304" pitchFamily="18" charset="0"/>
                <a:cs typeface="Times New Roman" panose="02020603050405020304" pitchFamily="18" charset="0"/>
              </a:rPr>
              <a:t>Холимог стратеги</a:t>
            </a:r>
            <a:endParaRPr lang="en-US" sz="2400" b="1" dirty="0">
              <a:solidFill>
                <a:schemeClr val="accent2">
                  <a:lumMod val="75000"/>
                </a:schemeClr>
              </a:solidFill>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AF1EE6BA-DE19-BBF8-D322-3A8EF0BA61B6}"/>
              </a:ext>
            </a:extLst>
          </p:cNvPr>
          <p:cNvSpPr txBox="1"/>
          <p:nvPr/>
        </p:nvSpPr>
        <p:spPr>
          <a:xfrm>
            <a:off x="2181367" y="5335378"/>
            <a:ext cx="8960402" cy="1077218"/>
          </a:xfrm>
          <a:prstGeom prst="rect">
            <a:avLst/>
          </a:prstGeom>
          <a:solidFill>
            <a:schemeClr val="accent4">
              <a:lumMod val="20000"/>
              <a:lumOff val="80000"/>
            </a:schemeClr>
          </a:solidFill>
        </p:spPr>
        <p:txBody>
          <a:bodyPr wrap="square">
            <a:spAutoFit/>
          </a:bodyPr>
          <a:lstStyle/>
          <a:p>
            <a:pPr algn="ctr"/>
            <a:r>
              <a:rPr lang="mn-MN" sz="3200" b="1" dirty="0">
                <a:solidFill>
                  <a:srgbClr val="002060"/>
                </a:solidFill>
                <a:latin typeface="Times New Roman" panose="02020603050405020304" pitchFamily="18" charset="0"/>
                <a:cs typeface="Times New Roman" panose="02020603050405020304" pitchFamily="18" charset="0"/>
              </a:rPr>
              <a:t>Эдгээр стратегийн сонголт нь ихэнхдээ зардлын харьцуулалтын үндсэн дээр хийгддэг.</a:t>
            </a:r>
            <a:endParaRPr lang="en-US" sz="3200" b="1"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291809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055AF-6C9E-0D93-4E8C-A4C86659A32A}"/>
              </a:ext>
            </a:extLst>
          </p:cNvPr>
          <p:cNvSpPr>
            <a:spLocks noGrp="1"/>
          </p:cNvSpPr>
          <p:nvPr>
            <p:ph type="title"/>
          </p:nvPr>
        </p:nvSpPr>
        <p:spPr>
          <a:xfrm>
            <a:off x="212557" y="140537"/>
            <a:ext cx="11658601" cy="449178"/>
          </a:xfrm>
        </p:spPr>
        <p:txBody>
          <a:bodyPr>
            <a:normAutofit fontScale="90000"/>
          </a:bodyPr>
          <a:lstStyle/>
          <a:p>
            <a:pPr algn="just"/>
            <a:r>
              <a:rPr lang="mn-MN" sz="4000" b="1" dirty="0">
                <a:solidFill>
                  <a:srgbClr val="002060"/>
                </a:solidFill>
                <a:latin typeface="Times New Roman" panose="02020603050405020304" pitchFamily="18" charset="0"/>
                <a:cs typeface="Times New Roman" panose="02020603050405020304" pitchFamily="18" charset="0"/>
              </a:rPr>
              <a:t>Үйлдвэрлэлийн нэгтгэсэн төлөвлөлт хийх зарчим</a:t>
            </a:r>
            <a:endParaRPr lang="en-US" sz="4000" b="1"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2127BF9-E50F-E11A-B12E-DC195CEC35FA}"/>
              </a:ext>
            </a:extLst>
          </p:cNvPr>
          <p:cNvSpPr>
            <a:spLocks noGrp="1"/>
          </p:cNvSpPr>
          <p:nvPr>
            <p:ph idx="1"/>
          </p:nvPr>
        </p:nvSpPr>
        <p:spPr>
          <a:xfrm>
            <a:off x="212558" y="589715"/>
            <a:ext cx="11658600" cy="6127748"/>
          </a:xfrm>
        </p:spPr>
        <p:txBody>
          <a:bodyPr>
            <a:normAutofit lnSpcReduction="10000"/>
          </a:bodyPr>
          <a:lstStyle/>
          <a:p>
            <a:pPr algn="just"/>
            <a:r>
              <a:rPr lang="mn-MN" sz="3200" dirty="0">
                <a:solidFill>
                  <a:srgbClr val="002060"/>
                </a:solidFill>
                <a:latin typeface="Times New Roman" panose="02020603050405020304" pitchFamily="18" charset="0"/>
                <a:cs typeface="Times New Roman" panose="02020603050405020304" pitchFamily="18" charset="0"/>
              </a:rPr>
              <a:t>Нэгтгэсэн төлөвлөлтийг кохиохдоо дараах дэс дарааллыг баримтлана. </a:t>
            </a:r>
          </a:p>
          <a:p>
            <a:pPr marL="914400" lvl="1" indent="-457200" algn="just">
              <a:buFont typeface="+mj-lt"/>
              <a:buAutoNum type="arabicPeriod"/>
            </a:pPr>
            <a:r>
              <a:rPr lang="mn-MN" sz="2800" dirty="0">
                <a:solidFill>
                  <a:srgbClr val="002060"/>
                </a:solidFill>
                <a:latin typeface="Times New Roman" panose="02020603050405020304" pitchFamily="18" charset="0"/>
                <a:cs typeface="Times New Roman" panose="02020603050405020304" pitchFamily="18" charset="0"/>
              </a:rPr>
              <a:t>Үе тус бүрийн (өдөр, долоо хоног, сар, улирал гэх мэт) эрэлтийг тодорхойлно. </a:t>
            </a:r>
          </a:p>
          <a:p>
            <a:pPr marL="914400" lvl="1" indent="-457200" algn="just">
              <a:buFont typeface="+mj-lt"/>
              <a:buAutoNum type="arabicPeriod"/>
            </a:pPr>
            <a:r>
              <a:rPr lang="mn-MN" sz="2800" dirty="0">
                <a:solidFill>
                  <a:srgbClr val="002060"/>
                </a:solidFill>
                <a:latin typeface="Times New Roman" panose="02020603050405020304" pitchFamily="18" charset="0"/>
                <a:cs typeface="Times New Roman" panose="02020603050405020304" pitchFamily="18" charset="0"/>
              </a:rPr>
              <a:t>Үйлдвэрлэлийн одоо байгаа хүчин чадал нь эрэлтийг хангахуйц байгаа эсэхээс хамаарч хүчин чадлыг эрэлттэйгээ зохицуулсан төлөвлөлт хийх боломжтой болно. Энэ нь хэд хэдэн хувилбар байж болно. </a:t>
            </a:r>
          </a:p>
          <a:p>
            <a:pPr marL="914400" lvl="1" indent="-457200" algn="just">
              <a:buFont typeface="+mj-lt"/>
              <a:buAutoNum type="arabicPeriod"/>
            </a:pPr>
            <a:r>
              <a:rPr lang="mn-MN" sz="2800" dirty="0">
                <a:solidFill>
                  <a:srgbClr val="002060"/>
                </a:solidFill>
                <a:latin typeface="Times New Roman" panose="02020603050405020304" pitchFamily="18" charset="0"/>
                <a:cs typeface="Times New Roman" panose="02020603050405020304" pitchFamily="18" charset="0"/>
              </a:rPr>
              <a:t>Байгууллагын нэгж, хэсэг бүрийн хүчин чадалд хамааралтай бодлогыг тодорхойлно. Жишээ нь, зайлшгүй нөөцийн хэмжээг тодорхойлох, ажиллах хүчний тоог тодорхойлох, түүнийг тогтвортой байлгах бодлого зэргийг нэрлэж болно. </a:t>
            </a:r>
          </a:p>
          <a:p>
            <a:pPr marL="914400" lvl="1" indent="-457200" algn="just">
              <a:buFont typeface="+mj-lt"/>
              <a:buAutoNum type="arabicPeriod"/>
            </a:pPr>
            <a:r>
              <a:rPr lang="mn-MN" sz="2800" dirty="0">
                <a:solidFill>
                  <a:srgbClr val="002060"/>
                </a:solidFill>
                <a:latin typeface="Times New Roman" panose="02020603050405020304" pitchFamily="18" charset="0"/>
                <a:cs typeface="Times New Roman" panose="02020603050405020304" pitchFamily="18" charset="0"/>
              </a:rPr>
              <a:t>Төлөвлөлт хийж болох хувилбар бүрийн хувьд гарах зардлыг тооцно. </a:t>
            </a:r>
          </a:p>
          <a:p>
            <a:pPr marL="914400" lvl="1" indent="-457200" algn="just">
              <a:buFont typeface="+mj-lt"/>
              <a:buAutoNum type="arabicPeriod"/>
            </a:pPr>
            <a:r>
              <a:rPr lang="mn-MN" sz="2800" dirty="0">
                <a:solidFill>
                  <a:srgbClr val="002060"/>
                </a:solidFill>
                <a:latin typeface="Times New Roman" panose="02020603050405020304" pitchFamily="18" charset="0"/>
                <a:cs typeface="Times New Roman" panose="02020603050405020304" pitchFamily="18" charset="0"/>
              </a:rPr>
              <a:t>Төлөвлөгөөний боломжит хувилбаруудыг тодорхой шалгуурын дагуу үнэлж нийт зардлыг тооцно. </a:t>
            </a:r>
          </a:p>
          <a:p>
            <a:pPr marL="914400" lvl="1" indent="-457200" algn="just">
              <a:buFont typeface="+mj-lt"/>
              <a:buAutoNum type="arabicPeriod"/>
            </a:pPr>
            <a:r>
              <a:rPr lang="mn-MN" sz="2800" dirty="0">
                <a:solidFill>
                  <a:srgbClr val="002060"/>
                </a:solidFill>
                <a:latin typeface="Times New Roman" panose="02020603050405020304" pitchFamily="18" charset="0"/>
                <a:cs typeface="Times New Roman" panose="02020603050405020304" pitchFamily="18" charset="0"/>
              </a:rPr>
              <a:t>Хувилбаруудаас сонголт хийнэ. Сонгосон хувилбарыг хэрэгжүүлнэ. </a:t>
            </a:r>
            <a:endParaRPr lang="en-US" sz="28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595704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CE8E6-5592-2433-4523-C2BD6B0D6F5A}"/>
              </a:ext>
            </a:extLst>
          </p:cNvPr>
          <p:cNvSpPr>
            <a:spLocks noGrp="1"/>
          </p:cNvSpPr>
          <p:nvPr>
            <p:ph type="title"/>
          </p:nvPr>
        </p:nvSpPr>
        <p:spPr>
          <a:xfrm>
            <a:off x="244641" y="124495"/>
            <a:ext cx="11738811" cy="321545"/>
          </a:xfrm>
        </p:spPr>
        <p:txBody>
          <a:bodyPr>
            <a:normAutofit fontScale="90000"/>
          </a:bodyPr>
          <a:lstStyle/>
          <a:p>
            <a:pPr algn="just"/>
            <a:r>
              <a:rPr lang="mn-MN" b="1" dirty="0">
                <a:solidFill>
                  <a:srgbClr val="002060"/>
                </a:solidFill>
                <a:latin typeface="Times New Roman" panose="02020603050405020304" pitchFamily="18" charset="0"/>
                <a:cs typeface="Times New Roman" panose="02020603050405020304" pitchFamily="18" charset="0"/>
              </a:rPr>
              <a:t>Бизнес төлөвлөгөө, түүний зорилго</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0C8969A-D363-5F77-1B08-B6C135F956D4}"/>
              </a:ext>
            </a:extLst>
          </p:cNvPr>
          <p:cNvSpPr>
            <a:spLocks noGrp="1"/>
          </p:cNvSpPr>
          <p:nvPr>
            <p:ph idx="1"/>
          </p:nvPr>
        </p:nvSpPr>
        <p:spPr>
          <a:xfrm>
            <a:off x="244641" y="641685"/>
            <a:ext cx="11738811" cy="6091820"/>
          </a:xfrm>
        </p:spPr>
        <p:txBody>
          <a:bodyPr>
            <a:normAutofit/>
          </a:bodyPr>
          <a:lstStyle/>
          <a:p>
            <a:pPr algn="just"/>
            <a:r>
              <a:rPr lang="mn-MN" dirty="0">
                <a:solidFill>
                  <a:srgbClr val="002060"/>
                </a:solidFill>
                <a:latin typeface="Times New Roman" panose="02020603050405020304" pitchFamily="18" charset="0"/>
                <a:cs typeface="Times New Roman" panose="02020603050405020304" pitchFamily="18" charset="0"/>
              </a:rPr>
              <a:t>Урт, дунд хугацааны төлөвлөлтийн асуудлыг багтаасан </a:t>
            </a:r>
            <a:r>
              <a:rPr lang="mn-MN" b="1" dirty="0">
                <a:solidFill>
                  <a:srgbClr val="002060"/>
                </a:solidFill>
                <a:latin typeface="Times New Roman" panose="02020603050405020304" pitchFamily="18" charset="0"/>
                <a:cs typeface="Times New Roman" panose="02020603050405020304" pitchFamily="18" charset="0"/>
              </a:rPr>
              <a:t>БИЗНЕС ТӨЛӨВЛӨГӨӨ</a:t>
            </a:r>
            <a:r>
              <a:rPr lang="mn-MN" dirty="0">
                <a:solidFill>
                  <a:srgbClr val="002060"/>
                </a:solidFill>
                <a:latin typeface="Times New Roman" panose="02020603050405020304" pitchFamily="18" charset="0"/>
                <a:cs typeface="Times New Roman" panose="02020603050405020304" pitchFamily="18" charset="0"/>
              </a:rPr>
              <a:t> зохиох хэрэгцээ шаардлага урган гардаг. </a:t>
            </a:r>
          </a:p>
          <a:p>
            <a:pPr algn="just"/>
            <a:r>
              <a:rPr lang="mn-MN" b="1" dirty="0">
                <a:solidFill>
                  <a:srgbClr val="002060"/>
                </a:solidFill>
                <a:latin typeface="Times New Roman" panose="02020603050405020304" pitchFamily="18" charset="0"/>
                <a:cs typeface="Times New Roman" panose="02020603050405020304" pitchFamily="18" charset="0"/>
              </a:rPr>
              <a:t>БИЗНЕС ТӨЛӨВЛӨГӨӨ</a:t>
            </a:r>
            <a:r>
              <a:rPr lang="mn-MN" dirty="0">
                <a:solidFill>
                  <a:srgbClr val="002060"/>
                </a:solidFill>
                <a:latin typeface="Times New Roman" panose="02020603050405020304" pitchFamily="18" charset="0"/>
                <a:cs typeface="Times New Roman" panose="02020603050405020304" pitchFamily="18" charset="0"/>
              </a:rPr>
              <a:t> – Байгууллагын стратеги, бүтээгдэхүүн үйлчилгээний эрэлтийн таамаглал, эдийн засаг, өрсөлдөөн, улс төрийн байдал зэрэг хүчин зүйлсийг харгалзаж, байгууллагын хөгжлийн ерөнхий хандлага, чиглэлийг тодорхойлдог. </a:t>
            </a:r>
          </a:p>
          <a:p>
            <a:pPr algn="just"/>
            <a:r>
              <a:rPr lang="mn-MN" b="1" dirty="0">
                <a:solidFill>
                  <a:srgbClr val="002060"/>
                </a:solidFill>
                <a:latin typeface="Times New Roman" panose="02020603050405020304" pitchFamily="18" charset="0"/>
                <a:cs typeface="Times New Roman" panose="02020603050405020304" pitchFamily="18" charset="0"/>
              </a:rPr>
              <a:t>Бизнес төлөвлөгөөний гол зорилго </a:t>
            </a:r>
            <a:r>
              <a:rPr lang="mn-MN" dirty="0">
                <a:solidFill>
                  <a:srgbClr val="002060"/>
                </a:solidFill>
                <a:latin typeface="Times New Roman" panose="02020603050405020304" pitchFamily="18" charset="0"/>
                <a:cs typeface="Times New Roman" panose="02020603050405020304" pitchFamily="18" charset="0"/>
              </a:rPr>
              <a:t>– дунд хугацаанд байгууллагын маркетинг, үйлдвэрлэл, санхүүгийн үйл ажиллагаа хэрхэн явагдахыг урьдчилан тодорхойлж, тэдгээрийг хооронд нь оновчтойгоор уялдуулан холбох явдал юм. </a:t>
            </a:r>
          </a:p>
          <a:p>
            <a:pPr algn="just"/>
            <a:r>
              <a:rPr lang="mn-MN" dirty="0">
                <a:solidFill>
                  <a:srgbClr val="002060"/>
                </a:solidFill>
                <a:latin typeface="Times New Roman" panose="02020603050405020304" pitchFamily="18" charset="0"/>
                <a:cs typeface="Times New Roman" panose="02020603050405020304" pitchFamily="18" charset="0"/>
              </a:rPr>
              <a:t>Бизнес төлөвлөгөөг үйл ажиллагааны чиглэл тус бүрээр боловсруулдаг. </a:t>
            </a:r>
          </a:p>
          <a:p>
            <a:pPr lvl="1" algn="just"/>
            <a:r>
              <a:rPr lang="mn-MN" dirty="0">
                <a:solidFill>
                  <a:srgbClr val="002060"/>
                </a:solidFill>
                <a:latin typeface="Times New Roman" panose="02020603050405020304" pitchFamily="18" charset="0"/>
                <a:cs typeface="Times New Roman" panose="02020603050405020304" pitchFamily="18" charset="0"/>
              </a:rPr>
              <a:t>Үйлдвэрлэлийн салбарт – үйлдвэрлэлийн төлөвлөгөө</a:t>
            </a:r>
          </a:p>
          <a:p>
            <a:pPr lvl="1" algn="just"/>
            <a:r>
              <a:rPr lang="mn-MN" dirty="0">
                <a:solidFill>
                  <a:srgbClr val="002060"/>
                </a:solidFill>
                <a:latin typeface="Times New Roman" panose="02020603050405020304" pitchFamily="18" charset="0"/>
                <a:cs typeface="Times New Roman" panose="02020603050405020304" pitchFamily="18" charset="0"/>
              </a:rPr>
              <a:t>Үйлчилгээний салбарт – үйл ажиллагааны төлөвлөгөө</a:t>
            </a:r>
            <a:endParaRPr lang="en-US"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619621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AB521-4109-6065-3CFE-41CA15EDE9FB}"/>
              </a:ext>
            </a:extLst>
          </p:cNvPr>
          <p:cNvSpPr>
            <a:spLocks noGrp="1"/>
          </p:cNvSpPr>
          <p:nvPr>
            <p:ph type="title"/>
          </p:nvPr>
        </p:nvSpPr>
        <p:spPr>
          <a:xfrm>
            <a:off x="228600" y="178320"/>
            <a:ext cx="10515600" cy="404896"/>
          </a:xfrm>
        </p:spPr>
        <p:txBody>
          <a:bodyPr>
            <a:normAutofit fontScale="90000"/>
          </a:bodyPr>
          <a:lstStyle/>
          <a:p>
            <a:r>
              <a:rPr lang="mn-MN" b="1" dirty="0">
                <a:solidFill>
                  <a:srgbClr val="002060"/>
                </a:solidFill>
                <a:latin typeface="Times New Roman" panose="02020603050405020304" pitchFamily="18" charset="0"/>
                <a:cs typeface="Times New Roman" panose="02020603050405020304" pitchFamily="18" charset="0"/>
              </a:rPr>
              <a:t>Төлөвлөгөө зохиох дараалал</a:t>
            </a:r>
            <a:endParaRPr lang="en-US" b="1" dirty="0">
              <a:solidFill>
                <a:srgbClr val="002060"/>
              </a:solidFill>
              <a:latin typeface="Times New Roman" panose="02020603050405020304" pitchFamily="18" charset="0"/>
              <a:cs typeface="Times New Roman" panose="02020603050405020304" pitchFamily="18" charset="0"/>
            </a:endParaRPr>
          </a:p>
        </p:txBody>
      </p:sp>
      <p:pic>
        <p:nvPicPr>
          <p:cNvPr id="11" name="Content Placeholder 10">
            <a:extLst>
              <a:ext uri="{FF2B5EF4-FFF2-40B4-BE49-F238E27FC236}">
                <a16:creationId xmlns:a16="http://schemas.microsoft.com/office/drawing/2014/main" id="{1424D08E-AD3B-3F2E-B772-F6CEEDC2F9A0}"/>
              </a:ext>
            </a:extLst>
          </p:cNvPr>
          <p:cNvPicPr>
            <a:picLocks noGrp="1" noChangeAspect="1"/>
          </p:cNvPicPr>
          <p:nvPr>
            <p:ph idx="1"/>
          </p:nvPr>
        </p:nvPicPr>
        <p:blipFill>
          <a:blip r:embed="rId3"/>
          <a:stretch>
            <a:fillRect/>
          </a:stretch>
        </p:blipFill>
        <p:spPr>
          <a:xfrm>
            <a:off x="414900" y="631342"/>
            <a:ext cx="11561870" cy="6000212"/>
          </a:xfrm>
        </p:spPr>
      </p:pic>
    </p:spTree>
    <p:extLst>
      <p:ext uri="{BB962C8B-B14F-4D97-AF65-F5344CB8AC3E}">
        <p14:creationId xmlns:p14="http://schemas.microsoft.com/office/powerpoint/2010/main" val="27321068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28978-CFC1-60C5-056D-E44F956DF34E}"/>
              </a:ext>
            </a:extLst>
          </p:cNvPr>
          <p:cNvSpPr>
            <a:spLocks noGrp="1"/>
          </p:cNvSpPr>
          <p:nvPr>
            <p:ph type="title"/>
          </p:nvPr>
        </p:nvSpPr>
        <p:spPr>
          <a:xfrm>
            <a:off x="148389" y="156578"/>
            <a:ext cx="11851105" cy="629485"/>
          </a:xfrm>
        </p:spPr>
        <p:txBody>
          <a:bodyPr>
            <a:noAutofit/>
          </a:bodyPr>
          <a:lstStyle/>
          <a:p>
            <a:r>
              <a:rPr lang="mn-MN" sz="3600" b="1" dirty="0">
                <a:solidFill>
                  <a:srgbClr val="002060"/>
                </a:solidFill>
                <a:latin typeface="Times New Roman" panose="02020603050405020304" pitchFamily="18" charset="0"/>
                <a:cs typeface="Times New Roman" panose="02020603050405020304" pitchFamily="18" charset="0"/>
              </a:rPr>
              <a:t>Богино хугацааны төлөвлөлт </a:t>
            </a:r>
            <a:br>
              <a:rPr lang="mn-MN" sz="3600" b="1" dirty="0">
                <a:solidFill>
                  <a:srgbClr val="002060"/>
                </a:solidFill>
                <a:latin typeface="Times New Roman" panose="02020603050405020304" pitchFamily="18" charset="0"/>
                <a:cs typeface="Times New Roman" panose="02020603050405020304" pitchFamily="18" charset="0"/>
              </a:rPr>
            </a:br>
            <a:r>
              <a:rPr lang="mn-MN" sz="3600" b="1" dirty="0">
                <a:solidFill>
                  <a:schemeClr val="accent2">
                    <a:lumMod val="75000"/>
                  </a:schemeClr>
                </a:solidFill>
                <a:latin typeface="Times New Roman" panose="02020603050405020304" pitchFamily="18" charset="0"/>
                <a:cs typeface="Times New Roman" panose="02020603050405020304" pitchFamily="18" charset="0"/>
              </a:rPr>
              <a:t>Ажлын хуваарь </a:t>
            </a:r>
            <a:r>
              <a:rPr lang="en-US" sz="3600" b="1" dirty="0">
                <a:solidFill>
                  <a:schemeClr val="accent2">
                    <a:lumMod val="75000"/>
                  </a:schemeClr>
                </a:solidFill>
                <a:latin typeface="Times New Roman" panose="02020603050405020304" pitchFamily="18" charset="0"/>
                <a:cs typeface="Times New Roman" panose="02020603050405020304" pitchFamily="18" charset="0"/>
              </a:rPr>
              <a:t>(</a:t>
            </a:r>
            <a:r>
              <a:rPr lang="mn-MN" sz="3600" b="1" dirty="0">
                <a:solidFill>
                  <a:schemeClr val="accent2">
                    <a:lumMod val="75000"/>
                  </a:schemeClr>
                </a:solidFill>
                <a:latin typeface="Times New Roman" panose="02020603050405020304" pitchFamily="18" charset="0"/>
                <a:cs typeface="Times New Roman" panose="02020603050405020304" pitchFamily="18" charset="0"/>
              </a:rPr>
              <a:t>ажлын төлөвлөгөө</a:t>
            </a:r>
            <a:r>
              <a:rPr lang="en-US" sz="3600" b="1" dirty="0">
                <a:solidFill>
                  <a:schemeClr val="accent2">
                    <a:lumMod val="75000"/>
                  </a:schemeClr>
                </a:solidFill>
                <a:latin typeface="Times New Roman" panose="02020603050405020304" pitchFamily="18" charset="0"/>
                <a:cs typeface="Times New Roman" panose="02020603050405020304" pitchFamily="18" charset="0"/>
              </a:rPr>
              <a:t>)</a:t>
            </a:r>
          </a:p>
        </p:txBody>
      </p:sp>
      <p:sp>
        <p:nvSpPr>
          <p:cNvPr id="3" name="Content Placeholder 2">
            <a:extLst>
              <a:ext uri="{FF2B5EF4-FFF2-40B4-BE49-F238E27FC236}">
                <a16:creationId xmlns:a16="http://schemas.microsoft.com/office/drawing/2014/main" id="{EF468175-1B9A-A21C-8A06-120B0A7C81DD}"/>
              </a:ext>
            </a:extLst>
          </p:cNvPr>
          <p:cNvSpPr>
            <a:spLocks noGrp="1"/>
          </p:cNvSpPr>
          <p:nvPr>
            <p:ph idx="1"/>
          </p:nvPr>
        </p:nvSpPr>
        <p:spPr>
          <a:xfrm>
            <a:off x="148389" y="898359"/>
            <a:ext cx="11851105" cy="5959642"/>
          </a:xfrm>
        </p:spPr>
        <p:txBody>
          <a:bodyPr>
            <a:normAutofit lnSpcReduction="10000"/>
          </a:bodyPr>
          <a:lstStyle/>
          <a:p>
            <a:r>
              <a:rPr lang="mn-MN" sz="3200" b="1" dirty="0">
                <a:solidFill>
                  <a:srgbClr val="002060"/>
                </a:solidFill>
                <a:latin typeface="Times New Roman" panose="02020603050405020304" pitchFamily="18" charset="0"/>
                <a:cs typeface="Times New Roman" panose="02020603050405020304" pitchFamily="18" charset="0"/>
              </a:rPr>
              <a:t>Ажлын график төлөвлөгөөны гол зорилго </a:t>
            </a:r>
            <a:r>
              <a:rPr lang="mn-MN" sz="3200" dirty="0">
                <a:solidFill>
                  <a:srgbClr val="002060"/>
                </a:solidFill>
                <a:latin typeface="Times New Roman" panose="02020603050405020304" pitchFamily="18" charset="0"/>
                <a:cs typeface="Times New Roman" panose="02020603050405020304" pitchFamily="18" charset="0"/>
              </a:rPr>
              <a:t>– Боловсон хүчин, тоног төхөөрөмж, үйлдвэрлэлийн хүчин чадлыг оновчтой ашиглах, үйлдвэрлэл явуулах хугацааг богиносгох, захиалагчийн хүлээх хугацааг богиносгох юм. </a:t>
            </a:r>
          </a:p>
          <a:p>
            <a:pPr lvl="1"/>
            <a:r>
              <a:rPr lang="mn-MN" sz="2800" b="1" dirty="0">
                <a:solidFill>
                  <a:srgbClr val="002060"/>
                </a:solidFill>
                <a:latin typeface="Times New Roman" panose="02020603050405020304" pitchFamily="18" charset="0"/>
                <a:cs typeface="Times New Roman" panose="02020603050405020304" pitchFamily="18" charset="0"/>
              </a:rPr>
              <a:t>Том үйлдвэрийн график төлөвлөгөө</a:t>
            </a:r>
            <a:r>
              <a:rPr lang="mn-MN" sz="2800" dirty="0">
                <a:solidFill>
                  <a:srgbClr val="002060"/>
                </a:solidFill>
                <a:latin typeface="Times New Roman" panose="02020603050405020304" pitchFamily="18" charset="0"/>
                <a:cs typeface="Times New Roman" panose="02020603050405020304" pitchFamily="18" charset="0"/>
              </a:rPr>
              <a:t> </a:t>
            </a:r>
            <a:r>
              <a:rPr lang="en-US" sz="2800" dirty="0">
                <a:solidFill>
                  <a:srgbClr val="002060"/>
                </a:solidFill>
                <a:latin typeface="Times New Roman" panose="02020603050405020304" pitchFamily="18" charset="0"/>
                <a:cs typeface="Times New Roman" panose="02020603050405020304" pitchFamily="18" charset="0"/>
              </a:rPr>
              <a:t>(</a:t>
            </a:r>
            <a:r>
              <a:rPr lang="mn-MN" sz="2800" dirty="0">
                <a:solidFill>
                  <a:srgbClr val="002060"/>
                </a:solidFill>
                <a:latin typeface="Times New Roman" panose="02020603050405020304" pitchFamily="18" charset="0"/>
                <a:cs typeface="Times New Roman" panose="02020603050405020304" pitchFamily="18" charset="0"/>
              </a:rPr>
              <a:t>урсгал системийн хуваарь төлөвлөгөө</a:t>
            </a:r>
            <a:r>
              <a:rPr lang="en-US" sz="2800" dirty="0">
                <a:solidFill>
                  <a:srgbClr val="002060"/>
                </a:solidFill>
                <a:latin typeface="Times New Roman" panose="02020603050405020304" pitchFamily="18" charset="0"/>
                <a:cs typeface="Times New Roman" panose="02020603050405020304" pitchFamily="18" charset="0"/>
              </a:rPr>
              <a:t>)</a:t>
            </a:r>
            <a:endParaRPr lang="mn-MN" sz="2800" dirty="0">
              <a:solidFill>
                <a:srgbClr val="002060"/>
              </a:solidFill>
              <a:latin typeface="Times New Roman" panose="02020603050405020304" pitchFamily="18" charset="0"/>
              <a:cs typeface="Times New Roman" panose="02020603050405020304" pitchFamily="18" charset="0"/>
            </a:endParaRPr>
          </a:p>
          <a:p>
            <a:pPr lvl="1"/>
            <a:r>
              <a:rPr lang="mn-MN" sz="2800" b="1" dirty="0">
                <a:solidFill>
                  <a:srgbClr val="002060"/>
                </a:solidFill>
                <a:latin typeface="Times New Roman" panose="02020603050405020304" pitchFamily="18" charset="0"/>
                <a:cs typeface="Times New Roman" panose="02020603050405020304" pitchFamily="18" charset="0"/>
              </a:rPr>
              <a:t>Дунд хэмжээний үйлдвэрийн график төлөвлөгөө </a:t>
            </a:r>
          </a:p>
          <a:p>
            <a:pPr lvl="2"/>
            <a:r>
              <a:rPr lang="mn-MN" sz="2400" dirty="0">
                <a:solidFill>
                  <a:srgbClr val="002060"/>
                </a:solidFill>
                <a:latin typeface="Times New Roman" panose="02020603050405020304" pitchFamily="18" charset="0"/>
                <a:cs typeface="Times New Roman" panose="02020603050405020304" pitchFamily="18" charset="0"/>
              </a:rPr>
              <a:t>Ийм үйлдвэрийн хувьд 3 хүчин зүйлсийг зөв шийдвэрлэхэд онцгой анхаарах хэрэгтэй. </a:t>
            </a:r>
          </a:p>
          <a:p>
            <a:pPr lvl="3"/>
            <a:r>
              <a:rPr lang="mn-MN" sz="2000" dirty="0">
                <a:solidFill>
                  <a:srgbClr val="002060"/>
                </a:solidFill>
                <a:latin typeface="Times New Roman" panose="02020603050405020304" pitchFamily="18" charset="0"/>
                <a:cs typeface="Times New Roman" panose="02020603050405020304" pitchFamily="18" charset="0"/>
              </a:rPr>
              <a:t>Үйлдвэрлэх багцын хэмжээг зохистой тогтоох</a:t>
            </a:r>
            <a:r>
              <a:rPr lang="en-US" sz="2000" dirty="0">
                <a:solidFill>
                  <a:srgbClr val="002060"/>
                </a:solidFill>
                <a:latin typeface="Times New Roman" panose="02020603050405020304" pitchFamily="18" charset="0"/>
                <a:cs typeface="Times New Roman" panose="02020603050405020304" pitchFamily="18" charset="0"/>
              </a:rPr>
              <a:t>;</a:t>
            </a:r>
          </a:p>
          <a:p>
            <a:pPr lvl="3"/>
            <a:r>
              <a:rPr lang="mn-MN" sz="2000" dirty="0">
                <a:solidFill>
                  <a:srgbClr val="002060"/>
                </a:solidFill>
                <a:latin typeface="Times New Roman" panose="02020603050405020304" pitchFamily="18" charset="0"/>
                <a:cs typeface="Times New Roman" panose="02020603050405020304" pitchFamily="18" charset="0"/>
              </a:rPr>
              <a:t>Ажилбаруудын хэрэгжүүлэх хугацааг оновчтой хуваарилах</a:t>
            </a:r>
            <a:r>
              <a:rPr lang="en-US" sz="2000" dirty="0">
                <a:solidFill>
                  <a:srgbClr val="002060"/>
                </a:solidFill>
                <a:latin typeface="Times New Roman" panose="02020603050405020304" pitchFamily="18" charset="0"/>
                <a:cs typeface="Times New Roman" panose="02020603050405020304" pitchFamily="18" charset="0"/>
              </a:rPr>
              <a:t>;</a:t>
            </a:r>
          </a:p>
          <a:p>
            <a:pPr lvl="3"/>
            <a:r>
              <a:rPr lang="mn-MN" sz="2000" dirty="0">
                <a:solidFill>
                  <a:srgbClr val="002060"/>
                </a:solidFill>
                <a:latin typeface="Times New Roman" panose="02020603050405020304" pitchFamily="18" charset="0"/>
                <a:cs typeface="Times New Roman" panose="02020603050405020304" pitchFamily="18" charset="0"/>
              </a:rPr>
              <a:t>Ажилбаруудын</a:t>
            </a:r>
            <a:r>
              <a:rPr lang="en-US" sz="2000" dirty="0">
                <a:solidFill>
                  <a:srgbClr val="002060"/>
                </a:solidFill>
                <a:latin typeface="Times New Roman" panose="02020603050405020304" pitchFamily="18" charset="0"/>
                <a:cs typeface="Times New Roman" panose="02020603050405020304" pitchFamily="18" charset="0"/>
              </a:rPr>
              <a:t> </a:t>
            </a:r>
            <a:r>
              <a:rPr lang="mn-MN" sz="2000" dirty="0">
                <a:solidFill>
                  <a:srgbClr val="002060"/>
                </a:solidFill>
                <a:latin typeface="Times New Roman" panose="02020603050405020304" pitchFamily="18" charset="0"/>
                <a:cs typeface="Times New Roman" panose="02020603050405020304" pitchFamily="18" charset="0"/>
              </a:rPr>
              <a:t>гүйцэтгэх дарааллыг зөв тогтоох.</a:t>
            </a:r>
          </a:p>
          <a:p>
            <a:pPr lvl="1"/>
            <a:r>
              <a:rPr lang="mn-MN" sz="2800" b="1" dirty="0">
                <a:solidFill>
                  <a:srgbClr val="002060"/>
                </a:solidFill>
                <a:latin typeface="Times New Roman" panose="02020603050405020304" pitchFamily="18" charset="0"/>
                <a:cs typeface="Times New Roman" panose="02020603050405020304" pitchFamily="18" charset="0"/>
              </a:rPr>
              <a:t>Жижиг үйлдвэрийн график төлөвлөгөө</a:t>
            </a:r>
            <a:r>
              <a:rPr lang="mn-MN" sz="2800" dirty="0">
                <a:solidFill>
                  <a:srgbClr val="002060"/>
                </a:solidFill>
                <a:latin typeface="Times New Roman" panose="02020603050405020304" pitchFamily="18" charset="0"/>
                <a:cs typeface="Times New Roman" panose="02020603050405020304" pitchFamily="18" charset="0"/>
              </a:rPr>
              <a:t> </a:t>
            </a:r>
            <a:r>
              <a:rPr lang="en-US" sz="2800" dirty="0">
                <a:solidFill>
                  <a:srgbClr val="002060"/>
                </a:solidFill>
                <a:latin typeface="Times New Roman" panose="02020603050405020304" pitchFamily="18" charset="0"/>
                <a:cs typeface="Times New Roman" panose="02020603050405020304" pitchFamily="18" charset="0"/>
              </a:rPr>
              <a:t>(</a:t>
            </a:r>
            <a:r>
              <a:rPr lang="mn-MN" sz="2800" dirty="0">
                <a:solidFill>
                  <a:srgbClr val="002060"/>
                </a:solidFill>
                <a:latin typeface="Times New Roman" panose="02020603050405020304" pitchFamily="18" charset="0"/>
                <a:cs typeface="Times New Roman" panose="02020603050405020304" pitchFamily="18" charset="0"/>
              </a:rPr>
              <a:t>захиалгат бүтээгдэхүүн</a:t>
            </a:r>
            <a:r>
              <a:rPr lang="en-US" sz="2800" dirty="0">
                <a:solidFill>
                  <a:srgbClr val="002060"/>
                </a:solidFill>
                <a:latin typeface="Times New Roman" panose="02020603050405020304" pitchFamily="18" charset="0"/>
                <a:cs typeface="Times New Roman" panose="02020603050405020304" pitchFamily="18" charset="0"/>
              </a:rPr>
              <a:t>)</a:t>
            </a:r>
            <a:endParaRPr lang="mn-MN" sz="2800" dirty="0">
              <a:solidFill>
                <a:srgbClr val="002060"/>
              </a:solidFill>
              <a:latin typeface="Times New Roman" panose="02020603050405020304" pitchFamily="18" charset="0"/>
              <a:cs typeface="Times New Roman" panose="02020603050405020304" pitchFamily="18" charset="0"/>
            </a:endParaRPr>
          </a:p>
          <a:p>
            <a:pPr lvl="2"/>
            <a:r>
              <a:rPr lang="mn-MN" sz="2400" dirty="0">
                <a:solidFill>
                  <a:srgbClr val="002060"/>
                </a:solidFill>
                <a:latin typeface="Times New Roman" panose="02020603050405020304" pitchFamily="18" charset="0"/>
                <a:cs typeface="Times New Roman" panose="02020603050405020304" pitchFamily="18" charset="0"/>
              </a:rPr>
              <a:t>2 үндсэн асуудал дэвшүүлдэг. </a:t>
            </a:r>
          </a:p>
          <a:p>
            <a:pPr lvl="3"/>
            <a:r>
              <a:rPr lang="mn-MN" sz="2000" dirty="0">
                <a:solidFill>
                  <a:srgbClr val="002060"/>
                </a:solidFill>
                <a:latin typeface="Times New Roman" panose="02020603050405020304" pitchFamily="18" charset="0"/>
                <a:cs typeface="Times New Roman" panose="02020603050405020304" pitchFamily="18" charset="0"/>
              </a:rPr>
              <a:t>Ажилчид ба ажлын хэсгүүдийн ачааллыг тодорхойлох</a:t>
            </a:r>
            <a:r>
              <a:rPr lang="en-US" sz="2000" dirty="0">
                <a:solidFill>
                  <a:srgbClr val="002060"/>
                </a:solidFill>
                <a:latin typeface="Times New Roman" panose="02020603050405020304" pitchFamily="18" charset="0"/>
                <a:cs typeface="Times New Roman" panose="02020603050405020304" pitchFamily="18" charset="0"/>
              </a:rPr>
              <a:t>;</a:t>
            </a:r>
          </a:p>
          <a:p>
            <a:pPr lvl="3"/>
            <a:r>
              <a:rPr lang="mn-MN" sz="2000" dirty="0">
                <a:solidFill>
                  <a:srgbClr val="002060"/>
                </a:solidFill>
                <a:latin typeface="Times New Roman" panose="02020603050405020304" pitchFamily="18" charset="0"/>
                <a:cs typeface="Times New Roman" panose="02020603050405020304" pitchFamily="18" charset="0"/>
              </a:rPr>
              <a:t>Ажилбарууд ямар дарааллаар явагдахыг тодорхойлох. </a:t>
            </a:r>
            <a:endParaRPr lang="en-US" sz="28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678871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378B50-C045-4E51-02D5-45CD7A5DE076}"/>
              </a:ext>
            </a:extLst>
          </p:cNvPr>
          <p:cNvSpPr>
            <a:spLocks noGrp="1"/>
          </p:cNvSpPr>
          <p:nvPr>
            <p:ph type="title"/>
          </p:nvPr>
        </p:nvSpPr>
        <p:spPr>
          <a:xfrm>
            <a:off x="180473" y="156578"/>
            <a:ext cx="11612727" cy="766229"/>
          </a:xfrm>
        </p:spPr>
        <p:txBody>
          <a:bodyPr>
            <a:noAutofit/>
          </a:bodyPr>
          <a:lstStyle/>
          <a:p>
            <a:r>
              <a:rPr lang="mn-MN" sz="3200" b="1" dirty="0">
                <a:solidFill>
                  <a:srgbClr val="002060"/>
                </a:solidFill>
                <a:latin typeface="Times New Roman" panose="02020603050405020304" pitchFamily="18" charset="0"/>
                <a:cs typeface="Times New Roman" panose="02020603050405020304" pitchFamily="18" charset="0"/>
              </a:rPr>
              <a:t>Үйлдвэрлэлийн хүчин чадалд нөлөөлөх хүчин зүйлс</a:t>
            </a:r>
            <a:br>
              <a:rPr lang="mn-MN" sz="3200" b="1" dirty="0">
                <a:solidFill>
                  <a:srgbClr val="002060"/>
                </a:solidFill>
                <a:latin typeface="Times New Roman" panose="02020603050405020304" pitchFamily="18" charset="0"/>
                <a:cs typeface="Times New Roman" panose="02020603050405020304" pitchFamily="18" charset="0"/>
              </a:rPr>
            </a:br>
            <a:r>
              <a:rPr lang="mn-MN" sz="3200" b="1" dirty="0">
                <a:solidFill>
                  <a:schemeClr val="accent2">
                    <a:lumMod val="75000"/>
                  </a:schemeClr>
                </a:solidFill>
                <a:latin typeface="Times New Roman" panose="02020603050405020304" pitchFamily="18" charset="0"/>
                <a:cs typeface="Times New Roman" panose="02020603050405020304" pitchFamily="18" charset="0"/>
              </a:rPr>
              <a:t>Технологийн үйл ажиллагааны сонголт</a:t>
            </a:r>
            <a:endParaRPr lang="en-US" sz="3200" b="1" dirty="0">
              <a:solidFill>
                <a:schemeClr val="accent2">
                  <a:lumMod val="7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BAB1B93-76BA-C901-E582-6C3CBA4C130B}"/>
              </a:ext>
            </a:extLst>
          </p:cNvPr>
          <p:cNvSpPr>
            <a:spLocks noGrp="1"/>
          </p:cNvSpPr>
          <p:nvPr>
            <p:ph idx="1"/>
          </p:nvPr>
        </p:nvSpPr>
        <p:spPr>
          <a:xfrm>
            <a:off x="145551" y="970692"/>
            <a:ext cx="11647650" cy="1998255"/>
          </a:xfrm>
        </p:spPr>
        <p:txBody>
          <a:bodyPr>
            <a:normAutofit lnSpcReduction="10000"/>
          </a:bodyPr>
          <a:lstStyle/>
          <a:p>
            <a:pPr algn="just"/>
            <a:r>
              <a:rPr lang="mn-MN" dirty="0">
                <a:solidFill>
                  <a:srgbClr val="002060"/>
                </a:solidFill>
                <a:latin typeface="Times New Roman" panose="02020603050405020304" pitchFamily="18" charset="0"/>
                <a:cs typeface="Times New Roman" panose="02020603050405020304" pitchFamily="18" charset="0"/>
              </a:rPr>
              <a:t>Үйл ажиллагааг сонгох асуудлын хамгийн гол зүйл нь бүтээгдэхүүн үйлдвэрлэх технологийг сонгож, хүчин зүйлсийг тодорхойлох асуудал юм. </a:t>
            </a:r>
          </a:p>
          <a:p>
            <a:pPr algn="just"/>
            <a:r>
              <a:rPr lang="mn-MN" dirty="0">
                <a:solidFill>
                  <a:srgbClr val="002060"/>
                </a:solidFill>
                <a:latin typeface="Times New Roman" panose="02020603050405020304" pitchFamily="18" charset="0"/>
                <a:cs typeface="Times New Roman" panose="02020603050405020304" pitchFamily="18" charset="0"/>
              </a:rPr>
              <a:t>Үйл ажиллагааны сонголт нь хүчин чадлыг төлөвлөх, төхөөрөмжийг сонгох, байршуулах, ажлын системийн төлөвлөх асуудлуудад нөлөөлнө. </a:t>
            </a:r>
          </a:p>
        </p:txBody>
      </p:sp>
      <p:sp>
        <p:nvSpPr>
          <p:cNvPr id="4" name="Content Placeholder 2">
            <a:extLst>
              <a:ext uri="{FF2B5EF4-FFF2-40B4-BE49-F238E27FC236}">
                <a16:creationId xmlns:a16="http://schemas.microsoft.com/office/drawing/2014/main" id="{6849BD15-4C2D-BA96-EB30-3E822E8CBB67}"/>
              </a:ext>
            </a:extLst>
          </p:cNvPr>
          <p:cNvSpPr txBox="1">
            <a:spLocks/>
          </p:cNvSpPr>
          <p:nvPr/>
        </p:nvSpPr>
        <p:spPr>
          <a:xfrm>
            <a:off x="398799" y="3412589"/>
            <a:ext cx="4039209" cy="640751"/>
          </a:xfrm>
          <a:prstGeom prst="rect">
            <a:avLst/>
          </a:prstGeom>
          <a:ln/>
          <a:effectLst/>
        </p:spPr>
        <p:style>
          <a:lnRef idx="2">
            <a:schemeClr val="accent5"/>
          </a:lnRef>
          <a:fillRef idx="1">
            <a:schemeClr val="lt1"/>
          </a:fillRef>
          <a:effectRef idx="0">
            <a:schemeClr val="accent5"/>
          </a:effectRef>
          <a:fontRef idx="minor">
            <a:schemeClr val="dk1"/>
          </a:fontRef>
        </p:style>
        <p:txBody>
          <a:bodyPr vert="horz" lIns="91440" tIns="0" rIns="9144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mn-MN" altLang="en-US" sz="2400" dirty="0">
                <a:solidFill>
                  <a:srgbClr val="002060"/>
                </a:solidFill>
                <a:latin typeface="Times New Roman" panose="02020603050405020304" pitchFamily="18" charset="0"/>
                <a:cs typeface="Times New Roman" panose="02020603050405020304" pitchFamily="18" charset="0"/>
              </a:rPr>
              <a:t>Бүтээгдэхүүн үйлчилгээний загвар боловсруулах</a:t>
            </a:r>
            <a:endParaRPr lang="mn-MN" sz="2400" dirty="0">
              <a:solidFill>
                <a:srgbClr val="002060"/>
              </a:solidFill>
              <a:latin typeface="Times New Roman" panose="02020603050405020304" pitchFamily="18" charset="0"/>
              <a:cs typeface="Times New Roman" panose="02020603050405020304" pitchFamily="18" charset="0"/>
            </a:endParaRPr>
          </a:p>
        </p:txBody>
      </p:sp>
      <p:sp>
        <p:nvSpPr>
          <p:cNvPr id="5" name="Content Placeholder 2">
            <a:extLst>
              <a:ext uri="{FF2B5EF4-FFF2-40B4-BE49-F238E27FC236}">
                <a16:creationId xmlns:a16="http://schemas.microsoft.com/office/drawing/2014/main" id="{5E77C067-893F-67C3-E264-55A56E478992}"/>
              </a:ext>
            </a:extLst>
          </p:cNvPr>
          <p:cNvSpPr txBox="1">
            <a:spLocks/>
          </p:cNvSpPr>
          <p:nvPr/>
        </p:nvSpPr>
        <p:spPr>
          <a:xfrm>
            <a:off x="7312882" y="3037731"/>
            <a:ext cx="4039209" cy="365760"/>
          </a:xfrm>
          <a:prstGeom prst="rect">
            <a:avLst/>
          </a:prstGeom>
          <a:ln/>
          <a:effectLst/>
        </p:spPr>
        <p:style>
          <a:lnRef idx="2">
            <a:schemeClr val="accent5"/>
          </a:lnRef>
          <a:fillRef idx="1">
            <a:schemeClr val="lt1"/>
          </a:fillRef>
          <a:effectRef idx="0">
            <a:schemeClr val="accent5"/>
          </a:effectRef>
          <a:fontRef idx="minor">
            <a:schemeClr val="dk1"/>
          </a:fontRef>
        </p:style>
        <p:txBody>
          <a:bodyPr vert="horz" lIns="91440" tIns="0" rIns="9144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mn-MN" altLang="en-US" sz="2400" dirty="0">
                <a:solidFill>
                  <a:srgbClr val="002060"/>
                </a:solidFill>
                <a:latin typeface="Times New Roman" panose="02020603050405020304" pitchFamily="18" charset="0"/>
                <a:cs typeface="Times New Roman" panose="02020603050405020304" pitchFamily="18" charset="0"/>
              </a:rPr>
              <a:t>Хүчин чадлын төлөвлөлт</a:t>
            </a:r>
            <a:endParaRPr lang="mn-MN" sz="2400" dirty="0">
              <a:solidFill>
                <a:srgbClr val="002060"/>
              </a:solidFill>
              <a:latin typeface="Times New Roman" panose="02020603050405020304" pitchFamily="18" charset="0"/>
              <a:cs typeface="Times New Roman" panose="02020603050405020304" pitchFamily="18" charset="0"/>
            </a:endParaRPr>
          </a:p>
        </p:txBody>
      </p:sp>
      <p:sp>
        <p:nvSpPr>
          <p:cNvPr id="6" name="Content Placeholder 2">
            <a:extLst>
              <a:ext uri="{FF2B5EF4-FFF2-40B4-BE49-F238E27FC236}">
                <a16:creationId xmlns:a16="http://schemas.microsoft.com/office/drawing/2014/main" id="{F1915AD4-9F8D-0754-FA8B-7EBA1DF167C2}"/>
              </a:ext>
            </a:extLst>
          </p:cNvPr>
          <p:cNvSpPr txBox="1">
            <a:spLocks/>
          </p:cNvSpPr>
          <p:nvPr/>
        </p:nvSpPr>
        <p:spPr>
          <a:xfrm>
            <a:off x="7312882" y="3540096"/>
            <a:ext cx="4039209" cy="594360"/>
          </a:xfrm>
          <a:prstGeom prst="rect">
            <a:avLst/>
          </a:prstGeom>
          <a:ln/>
          <a:effectLst/>
        </p:spPr>
        <p:style>
          <a:lnRef idx="2">
            <a:schemeClr val="accent5"/>
          </a:lnRef>
          <a:fillRef idx="1">
            <a:schemeClr val="lt1"/>
          </a:fillRef>
          <a:effectRef idx="0">
            <a:schemeClr val="accent5"/>
          </a:effectRef>
          <a:fontRef idx="minor">
            <a:schemeClr val="dk1"/>
          </a:fontRef>
        </p:style>
        <p:txBody>
          <a:bodyPr vert="horz" lIns="91440" tIns="0" rIns="9144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mn-MN" altLang="en-US" sz="2400" dirty="0">
                <a:solidFill>
                  <a:srgbClr val="002060"/>
                </a:solidFill>
                <a:latin typeface="Times New Roman" panose="02020603050405020304" pitchFamily="18" charset="0"/>
                <a:cs typeface="Times New Roman" panose="02020603050405020304" pitchFamily="18" charset="0"/>
              </a:rPr>
              <a:t>Машин, тоног төхөөрөмжийн сонголт</a:t>
            </a:r>
            <a:endParaRPr lang="mn-MN" sz="2400" dirty="0">
              <a:solidFill>
                <a:srgbClr val="002060"/>
              </a:solidFill>
              <a:latin typeface="Times New Roman" panose="02020603050405020304" pitchFamily="18" charset="0"/>
              <a:cs typeface="Times New Roman" panose="02020603050405020304" pitchFamily="18" charset="0"/>
            </a:endParaRPr>
          </a:p>
        </p:txBody>
      </p:sp>
      <p:sp>
        <p:nvSpPr>
          <p:cNvPr id="7" name="Content Placeholder 2">
            <a:extLst>
              <a:ext uri="{FF2B5EF4-FFF2-40B4-BE49-F238E27FC236}">
                <a16:creationId xmlns:a16="http://schemas.microsoft.com/office/drawing/2014/main" id="{2AD3A5D1-3076-D161-AE03-841890FF5F50}"/>
              </a:ext>
            </a:extLst>
          </p:cNvPr>
          <p:cNvSpPr txBox="1">
            <a:spLocks/>
          </p:cNvSpPr>
          <p:nvPr/>
        </p:nvSpPr>
        <p:spPr>
          <a:xfrm>
            <a:off x="7312882" y="4327668"/>
            <a:ext cx="4039209" cy="594360"/>
          </a:xfrm>
          <a:prstGeom prst="rect">
            <a:avLst/>
          </a:prstGeom>
          <a:ln/>
          <a:effectLst/>
        </p:spPr>
        <p:style>
          <a:lnRef idx="2">
            <a:schemeClr val="accent5"/>
          </a:lnRef>
          <a:fillRef idx="1">
            <a:schemeClr val="lt1"/>
          </a:fillRef>
          <a:effectRef idx="0">
            <a:schemeClr val="accent5"/>
          </a:effectRef>
          <a:fontRef idx="minor">
            <a:schemeClr val="dk1"/>
          </a:fontRef>
        </p:style>
        <p:txBody>
          <a:bodyPr vert="horz" lIns="91440" tIns="0" rIns="9144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mn-MN" altLang="en-US" sz="2400" dirty="0">
                <a:solidFill>
                  <a:srgbClr val="002060"/>
                </a:solidFill>
                <a:latin typeface="Times New Roman" panose="02020603050405020304" pitchFamily="18" charset="0"/>
                <a:cs typeface="Times New Roman" panose="02020603050405020304" pitchFamily="18" charset="0"/>
              </a:rPr>
              <a:t>Үйлдвэрлэл ба тоног төхөөрөмжийн сонголт</a:t>
            </a:r>
            <a:endParaRPr lang="mn-MN" sz="2400" dirty="0">
              <a:solidFill>
                <a:srgbClr val="002060"/>
              </a:solidFill>
              <a:latin typeface="Times New Roman" panose="02020603050405020304" pitchFamily="18" charset="0"/>
              <a:cs typeface="Times New Roman" panose="02020603050405020304" pitchFamily="18" charset="0"/>
            </a:endParaRPr>
          </a:p>
        </p:txBody>
      </p:sp>
      <p:sp>
        <p:nvSpPr>
          <p:cNvPr id="8" name="Content Placeholder 2">
            <a:extLst>
              <a:ext uri="{FF2B5EF4-FFF2-40B4-BE49-F238E27FC236}">
                <a16:creationId xmlns:a16="http://schemas.microsoft.com/office/drawing/2014/main" id="{91D050F7-2A2C-8A5A-DF86-6E5346B93B76}"/>
              </a:ext>
            </a:extLst>
          </p:cNvPr>
          <p:cNvSpPr txBox="1">
            <a:spLocks/>
          </p:cNvSpPr>
          <p:nvPr/>
        </p:nvSpPr>
        <p:spPr>
          <a:xfrm>
            <a:off x="7309359" y="5097162"/>
            <a:ext cx="4039209" cy="594360"/>
          </a:xfrm>
          <a:prstGeom prst="rect">
            <a:avLst/>
          </a:prstGeom>
          <a:ln/>
          <a:effectLst/>
        </p:spPr>
        <p:style>
          <a:lnRef idx="2">
            <a:schemeClr val="accent5"/>
          </a:lnRef>
          <a:fillRef idx="1">
            <a:schemeClr val="lt1"/>
          </a:fillRef>
          <a:effectRef idx="0">
            <a:schemeClr val="accent5"/>
          </a:effectRef>
          <a:fontRef idx="minor">
            <a:schemeClr val="dk1"/>
          </a:fontRef>
        </p:style>
        <p:txBody>
          <a:bodyPr vert="horz" lIns="91440" tIns="0" rIns="9144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mn-MN" altLang="en-US" sz="2400" dirty="0">
                <a:solidFill>
                  <a:srgbClr val="002060"/>
                </a:solidFill>
                <a:latin typeface="Times New Roman" panose="02020603050405020304" pitchFamily="18" charset="0"/>
                <a:cs typeface="Times New Roman" panose="02020603050405020304" pitchFamily="18" charset="0"/>
              </a:rPr>
              <a:t>Үйл ажиллагааг гүйцэтгэх төсөл боловсруулах</a:t>
            </a:r>
            <a:endParaRPr lang="mn-MN" sz="2400" dirty="0">
              <a:solidFill>
                <a:srgbClr val="002060"/>
              </a:solidFill>
              <a:latin typeface="Times New Roman" panose="02020603050405020304" pitchFamily="18" charset="0"/>
              <a:cs typeface="Times New Roman" panose="02020603050405020304" pitchFamily="18" charset="0"/>
            </a:endParaRPr>
          </a:p>
        </p:txBody>
      </p:sp>
      <p:cxnSp>
        <p:nvCxnSpPr>
          <p:cNvPr id="9" name="Straight Arrow Connector 8">
            <a:extLst>
              <a:ext uri="{FF2B5EF4-FFF2-40B4-BE49-F238E27FC236}">
                <a16:creationId xmlns:a16="http://schemas.microsoft.com/office/drawing/2014/main" id="{A3EE5CF6-0EF6-B538-3BDE-35231D56383D}"/>
              </a:ext>
            </a:extLst>
          </p:cNvPr>
          <p:cNvCxnSpPr>
            <a:cxnSpLocks/>
          </p:cNvCxnSpPr>
          <p:nvPr/>
        </p:nvCxnSpPr>
        <p:spPr>
          <a:xfrm>
            <a:off x="4068768" y="3732964"/>
            <a:ext cx="706862" cy="0"/>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p:sp>
        <p:nvSpPr>
          <p:cNvPr id="10" name="Content Placeholder 2">
            <a:extLst>
              <a:ext uri="{FF2B5EF4-FFF2-40B4-BE49-F238E27FC236}">
                <a16:creationId xmlns:a16="http://schemas.microsoft.com/office/drawing/2014/main" id="{2510D11A-0854-E40B-16F3-24881A96DFEB}"/>
              </a:ext>
            </a:extLst>
          </p:cNvPr>
          <p:cNvSpPr txBox="1">
            <a:spLocks/>
          </p:cNvSpPr>
          <p:nvPr/>
        </p:nvSpPr>
        <p:spPr>
          <a:xfrm>
            <a:off x="419959" y="4630123"/>
            <a:ext cx="4039209" cy="640751"/>
          </a:xfrm>
          <a:prstGeom prst="rect">
            <a:avLst/>
          </a:prstGeom>
          <a:ln/>
          <a:effectLst/>
        </p:spPr>
        <p:style>
          <a:lnRef idx="2">
            <a:schemeClr val="accent5"/>
          </a:lnRef>
          <a:fillRef idx="1">
            <a:schemeClr val="lt1"/>
          </a:fillRef>
          <a:effectRef idx="0">
            <a:schemeClr val="accent5"/>
          </a:effectRef>
          <a:fontRef idx="minor">
            <a:schemeClr val="dk1"/>
          </a:fontRef>
        </p:style>
        <p:txBody>
          <a:bodyPr vert="horz" lIns="91440" tIns="0" rIns="9144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mn-MN" altLang="en-US" sz="2400" dirty="0">
                <a:solidFill>
                  <a:srgbClr val="002060"/>
                </a:solidFill>
                <a:latin typeface="Times New Roman" panose="02020603050405020304" pitchFamily="18" charset="0"/>
                <a:cs typeface="Times New Roman" panose="02020603050405020304" pitchFamily="18" charset="0"/>
              </a:rPr>
              <a:t>Бүтээгдэхүүн үйлчилгээний загвар боловсруулах</a:t>
            </a:r>
            <a:endParaRPr lang="mn-MN" sz="2400" dirty="0">
              <a:solidFill>
                <a:srgbClr val="002060"/>
              </a:solidFill>
              <a:latin typeface="Times New Roman" panose="02020603050405020304" pitchFamily="18" charset="0"/>
              <a:cs typeface="Times New Roman" panose="02020603050405020304" pitchFamily="18" charset="0"/>
            </a:endParaRPr>
          </a:p>
        </p:txBody>
      </p:sp>
      <p:sp>
        <p:nvSpPr>
          <p:cNvPr id="11" name="Rectangle: Rounded Corners 10">
            <a:extLst>
              <a:ext uri="{FF2B5EF4-FFF2-40B4-BE49-F238E27FC236}">
                <a16:creationId xmlns:a16="http://schemas.microsoft.com/office/drawing/2014/main" id="{422ED987-39DF-90C3-1AB3-F23E55C3233B}"/>
              </a:ext>
            </a:extLst>
          </p:cNvPr>
          <p:cNvSpPr/>
          <p:nvPr/>
        </p:nvSpPr>
        <p:spPr>
          <a:xfrm>
            <a:off x="4717992" y="2964936"/>
            <a:ext cx="2135006" cy="272162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mn-MN" altLang="en-US" sz="2800" b="1" dirty="0">
                <a:solidFill>
                  <a:schemeClr val="bg1"/>
                </a:solidFill>
                <a:latin typeface="Times New Roman" panose="02020603050405020304" pitchFamily="18" charset="0"/>
                <a:cs typeface="Times New Roman" panose="02020603050405020304" pitchFamily="18" charset="0"/>
              </a:rPr>
              <a:t>Үйл ажиллагаа-ны сонголт</a:t>
            </a:r>
            <a:endParaRPr lang="mn-MN" sz="2800" b="1" dirty="0">
              <a:solidFill>
                <a:schemeClr val="bg1"/>
              </a:solidFill>
              <a:latin typeface="Times New Roman" panose="02020603050405020304" pitchFamily="18" charset="0"/>
              <a:cs typeface="Times New Roman" panose="02020603050405020304" pitchFamily="18" charset="0"/>
            </a:endParaRPr>
          </a:p>
          <a:p>
            <a:pPr algn="ctr"/>
            <a:endParaRPr lang="en-US" sz="2400" dirty="0">
              <a:solidFill>
                <a:srgbClr val="002060"/>
              </a:solidFill>
              <a:latin typeface="Times New Roman" panose="02020603050405020304" pitchFamily="18" charset="0"/>
              <a:cs typeface="Times New Roman" panose="02020603050405020304" pitchFamily="18" charset="0"/>
            </a:endParaRPr>
          </a:p>
        </p:txBody>
      </p:sp>
      <p:cxnSp>
        <p:nvCxnSpPr>
          <p:cNvPr id="12" name="Straight Arrow Connector 11">
            <a:extLst>
              <a:ext uri="{FF2B5EF4-FFF2-40B4-BE49-F238E27FC236}">
                <a16:creationId xmlns:a16="http://schemas.microsoft.com/office/drawing/2014/main" id="{4947100C-3664-89A3-6623-AF45A0832C7B}"/>
              </a:ext>
            </a:extLst>
          </p:cNvPr>
          <p:cNvCxnSpPr>
            <a:cxnSpLocks/>
          </p:cNvCxnSpPr>
          <p:nvPr/>
        </p:nvCxnSpPr>
        <p:spPr>
          <a:xfrm>
            <a:off x="4077912" y="4950163"/>
            <a:ext cx="706862" cy="0"/>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7DCBA5EC-A013-8F8E-0710-5BCF631D4BEB}"/>
              </a:ext>
            </a:extLst>
          </p:cNvPr>
          <p:cNvCxnSpPr>
            <a:cxnSpLocks/>
          </p:cNvCxnSpPr>
          <p:nvPr/>
        </p:nvCxnSpPr>
        <p:spPr>
          <a:xfrm>
            <a:off x="6642499" y="3215503"/>
            <a:ext cx="716960" cy="0"/>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6EF69B61-FDE0-1EB9-9669-97917F5C56C3}"/>
              </a:ext>
            </a:extLst>
          </p:cNvPr>
          <p:cNvCxnSpPr>
            <a:cxnSpLocks/>
          </p:cNvCxnSpPr>
          <p:nvPr/>
        </p:nvCxnSpPr>
        <p:spPr>
          <a:xfrm>
            <a:off x="6651291" y="3834095"/>
            <a:ext cx="706862" cy="0"/>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0DFFCD7B-14E7-8BBB-4F29-6822DE7D02A3}"/>
              </a:ext>
            </a:extLst>
          </p:cNvPr>
          <p:cNvCxnSpPr>
            <a:cxnSpLocks/>
          </p:cNvCxnSpPr>
          <p:nvPr/>
        </p:nvCxnSpPr>
        <p:spPr>
          <a:xfrm>
            <a:off x="6651291" y="5391556"/>
            <a:ext cx="706862" cy="0"/>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9872E0A7-2A6B-B92E-F32F-696A8E531E0E}"/>
              </a:ext>
            </a:extLst>
          </p:cNvPr>
          <p:cNvCxnSpPr>
            <a:cxnSpLocks/>
          </p:cNvCxnSpPr>
          <p:nvPr/>
        </p:nvCxnSpPr>
        <p:spPr>
          <a:xfrm>
            <a:off x="6651291" y="4630123"/>
            <a:ext cx="706862" cy="0"/>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034783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8F1CD-AC3D-74A8-424C-3AA048EBBC18}"/>
              </a:ext>
            </a:extLst>
          </p:cNvPr>
          <p:cNvSpPr>
            <a:spLocks noGrp="1"/>
          </p:cNvSpPr>
          <p:nvPr>
            <p:ph type="title"/>
          </p:nvPr>
        </p:nvSpPr>
        <p:spPr>
          <a:xfrm>
            <a:off x="112293" y="124494"/>
            <a:ext cx="11664369" cy="364792"/>
          </a:xfrm>
        </p:spPr>
        <p:txBody>
          <a:bodyPr>
            <a:noAutofit/>
          </a:bodyPr>
          <a:lstStyle/>
          <a:p>
            <a:pPr algn="just"/>
            <a:r>
              <a:rPr lang="mn-MN" sz="3200" b="1" dirty="0">
                <a:solidFill>
                  <a:schemeClr val="accent2">
                    <a:lumMod val="75000"/>
                  </a:schemeClr>
                </a:solidFill>
                <a:latin typeface="Times New Roman" panose="02020603050405020304" pitchFamily="18" charset="0"/>
                <a:cs typeface="Times New Roman" panose="02020603050405020304" pitchFamily="18" charset="0"/>
              </a:rPr>
              <a:t>Технологийн үйл ажиллагааны сонголт</a:t>
            </a:r>
            <a:endParaRPr lang="en-US" sz="3200" dirty="0">
              <a:solidFill>
                <a:schemeClr val="accent2">
                  <a:lumMod val="75000"/>
                </a:schemeClr>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411FCBE-DE6E-170D-7A2E-ED122380E017}"/>
                  </a:ext>
                </a:extLst>
              </p:cNvPr>
              <p:cNvSpPr>
                <a:spLocks noGrp="1"/>
              </p:cNvSpPr>
              <p:nvPr>
                <p:ph idx="1"/>
              </p:nvPr>
            </p:nvSpPr>
            <p:spPr>
              <a:xfrm>
                <a:off x="112293" y="489286"/>
                <a:ext cx="11903243" cy="6244220"/>
              </a:xfrm>
            </p:spPr>
            <p:txBody>
              <a:bodyPr>
                <a:normAutofit fontScale="92500"/>
              </a:bodyPr>
              <a:lstStyle/>
              <a:p>
                <a:pPr algn="just"/>
                <a:r>
                  <a:rPr lang="mn-MN" sz="2400" dirty="0">
                    <a:solidFill>
                      <a:srgbClr val="002060"/>
                    </a:solidFill>
                    <a:latin typeface="Times New Roman" panose="02020603050405020304" pitchFamily="18" charset="0"/>
                    <a:cs typeface="Times New Roman" panose="02020603050405020304" pitchFamily="18" charset="0"/>
                  </a:rPr>
                  <a:t>Шинэ бүтээгдэхүүн үйлдвэрлэх үед үйл ажиллагааг сонгох асуудлыг зайлшгүй шийдэх ёстой. </a:t>
                </a:r>
              </a:p>
              <a:p>
                <a:pPr algn="just">
                  <a:spcBef>
                    <a:spcPts val="200"/>
                  </a:spcBef>
                </a:pPr>
                <a:r>
                  <a:rPr lang="mn-MN" sz="2200" b="1" dirty="0">
                    <a:solidFill>
                      <a:srgbClr val="002060"/>
                    </a:solidFill>
                    <a:latin typeface="Times New Roman" panose="02020603050405020304" pitchFamily="18" charset="0"/>
                    <a:cs typeface="Times New Roman" panose="02020603050405020304" pitchFamily="18" charset="0"/>
                  </a:rPr>
                  <a:t>АСУУЛТ?</a:t>
                </a:r>
                <a:r>
                  <a:rPr lang="mn-MN" sz="2200" dirty="0">
                    <a:solidFill>
                      <a:srgbClr val="002060"/>
                    </a:solidFill>
                    <a:latin typeface="Times New Roman" panose="02020603050405020304" pitchFamily="18" charset="0"/>
                    <a:cs typeface="Times New Roman" panose="02020603050405020304" pitchFamily="18" charset="0"/>
                  </a:rPr>
                  <a:t> </a:t>
                </a:r>
              </a:p>
              <a:p>
                <a:pPr lvl="1" algn="just"/>
                <a:r>
                  <a:rPr lang="mn-MN" sz="2200" dirty="0">
                    <a:solidFill>
                      <a:srgbClr val="002060"/>
                    </a:solidFill>
                    <a:latin typeface="Times New Roman" panose="02020603050405020304" pitchFamily="18" charset="0"/>
                    <a:cs typeface="Times New Roman" panose="02020603050405020304" pitchFamily="18" charset="0"/>
                  </a:rPr>
                  <a:t>Бүтээгдэхүүнийг бүхэлд нь эсвэл тодорхой хэсгийг өөрөө үйлдвэрлэх үү?, </a:t>
                </a:r>
              </a:p>
              <a:p>
                <a:pPr lvl="1" algn="just"/>
                <a:r>
                  <a:rPr lang="mn-MN" sz="2200" dirty="0">
                    <a:solidFill>
                      <a:srgbClr val="002060"/>
                    </a:solidFill>
                    <a:latin typeface="Times New Roman" panose="02020603050405020304" pitchFamily="18" charset="0"/>
                    <a:cs typeface="Times New Roman" panose="02020603050405020304" pitchFamily="18" charset="0"/>
                  </a:rPr>
                  <a:t>Худалдан авах уу? </a:t>
                </a:r>
              </a:p>
              <a:p>
                <a:pPr marL="0" indent="0" algn="just">
                  <a:spcBef>
                    <a:spcPts val="200"/>
                  </a:spcBef>
                  <a:buNone/>
                </a:pPr>
                <a:r>
                  <a:rPr lang="mn-MN" sz="2400" dirty="0">
                    <a:solidFill>
                      <a:srgbClr val="002060"/>
                    </a:solidFill>
                    <a:latin typeface="Times New Roman" panose="02020603050405020304" pitchFamily="18" charset="0"/>
                    <a:cs typeface="Times New Roman" panose="02020603050405020304" pitchFamily="18" charset="0"/>
                  </a:rPr>
                  <a:t>	эсэхийг шийднэ. Хэрэв бүрдэл хэсгүүдийг худалдан авах бол үйл ажиллагааг сонгох шаардлагагүй. </a:t>
                </a:r>
              </a:p>
              <a:p>
                <a:pPr algn="just">
                  <a:spcBef>
                    <a:spcPts val="200"/>
                  </a:spcBef>
                </a:pPr>
                <a:r>
                  <a:rPr lang="mn-MN" sz="2400" dirty="0">
                    <a:solidFill>
                      <a:srgbClr val="002060"/>
                    </a:solidFill>
                    <a:latin typeface="Times New Roman" panose="02020603050405020304" pitchFamily="18" charset="0"/>
                    <a:cs typeface="Times New Roman" panose="02020603050405020304" pitchFamily="18" charset="0"/>
                  </a:rPr>
                  <a:t>Худалдан авах уу, үйлдвэрлэх үү гэдгийг шийдэх үед дараах хүчин зүйлсийг харгалзана. </a:t>
                </a:r>
              </a:p>
              <a:p>
                <a:pPr lvl="1" algn="just"/>
                <a:r>
                  <a:rPr lang="mn-MN" sz="1800" dirty="0">
                    <a:solidFill>
                      <a:srgbClr val="002060"/>
                    </a:solidFill>
                    <a:latin typeface="Times New Roman" panose="02020603050405020304" pitchFamily="18" charset="0"/>
                    <a:cs typeface="Times New Roman" panose="02020603050405020304" pitchFamily="18" charset="0"/>
                  </a:rPr>
                  <a:t>Одоогийн </a:t>
                </a:r>
                <a:r>
                  <a:rPr lang="mn-MN" sz="1800" b="1" dirty="0">
                    <a:solidFill>
                      <a:srgbClr val="002060"/>
                    </a:solidFill>
                    <a:latin typeface="Times New Roman" panose="02020603050405020304" pitchFamily="18" charset="0"/>
                    <a:cs typeface="Times New Roman" panose="02020603050405020304" pitchFamily="18" charset="0"/>
                  </a:rPr>
                  <a:t>үйлдвэрийн хүчин чадлыг </a:t>
                </a:r>
                <a:r>
                  <a:rPr lang="mn-MN" sz="1800" dirty="0">
                    <a:solidFill>
                      <a:srgbClr val="002060"/>
                    </a:solidFill>
                    <a:latin typeface="Times New Roman" panose="02020603050405020304" pitchFamily="18" charset="0"/>
                    <a:cs typeface="Times New Roman" panose="02020603050405020304" pitchFamily="18" charset="0"/>
                  </a:rPr>
                  <a:t>харгалзана. Хангалттай бол худалдан авахаас зайлсхийнэ.</a:t>
                </a:r>
              </a:p>
              <a:p>
                <a:pPr lvl="1" algn="just"/>
                <a:r>
                  <a:rPr lang="mn-MN" sz="1800" b="1" dirty="0">
                    <a:solidFill>
                      <a:srgbClr val="002060"/>
                    </a:solidFill>
                    <a:latin typeface="Times New Roman" panose="02020603050405020304" pitchFamily="18" charset="0"/>
                    <a:cs typeface="Times New Roman" panose="02020603050405020304" pitchFamily="18" charset="0"/>
                  </a:rPr>
                  <a:t>Тусгай мэдлэг: </a:t>
                </a:r>
                <a:r>
                  <a:rPr lang="mn-MN" sz="1800" dirty="0">
                    <a:solidFill>
                      <a:srgbClr val="002060"/>
                    </a:solidFill>
                    <a:latin typeface="Times New Roman" panose="02020603050405020304" pitchFamily="18" charset="0"/>
                    <a:cs typeface="Times New Roman" panose="02020603050405020304" pitchFamily="18" charset="0"/>
                  </a:rPr>
                  <a:t>Ажлыг чанартай хийхэд шаардагдах мэдлэг, чадвар хангалттай биш байвал худалдан авахыг зохистой гэж үзнэ.</a:t>
                </a:r>
              </a:p>
              <a:p>
                <a:pPr lvl="1" algn="just"/>
                <a:r>
                  <a:rPr lang="mn-MN" sz="1800" b="1" dirty="0">
                    <a:solidFill>
                      <a:srgbClr val="002060"/>
                    </a:solidFill>
                    <a:latin typeface="Times New Roman" panose="02020603050405020304" pitchFamily="18" charset="0"/>
                    <a:cs typeface="Times New Roman" panose="02020603050405020304" pitchFamily="18" charset="0"/>
                  </a:rPr>
                  <a:t>Чанарын хүчин зүйлс: </a:t>
                </a:r>
                <a:r>
                  <a:rPr lang="mn-MN" sz="1800" dirty="0">
                    <a:solidFill>
                      <a:srgbClr val="002060"/>
                    </a:solidFill>
                    <a:latin typeface="Times New Roman" panose="02020603050405020304" pitchFamily="18" charset="0"/>
                    <a:cs typeface="Times New Roman" panose="02020603050405020304" pitchFamily="18" charset="0"/>
                  </a:rPr>
                  <a:t>Нарийн төрөлжсөн үйлдвэр илүү чанартай үйлдвэрлэнэ. Иймд тухайн үйлдвэрийн газар уг бүтээгдэхүүнийг үйлдвэрлэхээр төрөлжсөн бол худалдан авсанаас үйлдвэрлэх нь дээр байдаг.</a:t>
                </a:r>
              </a:p>
              <a:p>
                <a:pPr lvl="1" algn="just"/>
                <a:r>
                  <a:rPr lang="mn-MN" sz="1800" b="1" dirty="0">
                    <a:solidFill>
                      <a:srgbClr val="002060"/>
                    </a:solidFill>
                    <a:latin typeface="Times New Roman" panose="02020603050405020304" pitchFamily="18" charset="0"/>
                    <a:cs typeface="Times New Roman" panose="02020603050405020304" pitchFamily="18" charset="0"/>
                  </a:rPr>
                  <a:t>Эрэлтийн өөрчлөлтийн хандлага: </a:t>
                </a:r>
                <a:r>
                  <a:rPr lang="mn-MN" sz="1800" dirty="0">
                    <a:solidFill>
                      <a:srgbClr val="002060"/>
                    </a:solidFill>
                    <a:latin typeface="Times New Roman" panose="02020603050405020304" pitchFamily="18" charset="0"/>
                    <a:cs typeface="Times New Roman" panose="02020603050405020304" pitchFamily="18" charset="0"/>
                  </a:rPr>
                  <a:t>Хэрэв эрэлт өндөр, тогтвортой байвал өөрөө үйлдвэрлэсэн нь дээр. Эрэлт бага, хэлбэлзэлтэй бусад байгууллагаар үйлдвэрлэсэн нь дээр байж болно. </a:t>
                </a:r>
              </a:p>
              <a:p>
                <a:pPr lvl="1" algn="just"/>
                <a:r>
                  <a:rPr lang="mn-MN" sz="1800" b="1" dirty="0">
                    <a:solidFill>
                      <a:srgbClr val="002060"/>
                    </a:solidFill>
                    <a:latin typeface="Times New Roman" panose="02020603050405020304" pitchFamily="18" charset="0"/>
                    <a:cs typeface="Times New Roman" panose="02020603050405020304" pitchFamily="18" charset="0"/>
                  </a:rPr>
                  <a:t>Зардал:</a:t>
                </a:r>
                <a:r>
                  <a:rPr lang="mn-MN" sz="1800" dirty="0">
                    <a:solidFill>
                      <a:srgbClr val="002060"/>
                    </a:solidFill>
                    <a:latin typeface="Times New Roman" panose="02020603050405020304" pitchFamily="18" charset="0"/>
                    <a:cs typeface="Times New Roman" panose="02020603050405020304" pitchFamily="18" charset="0"/>
                  </a:rPr>
                  <a:t> Үйлдвэрлэх үү, худалдан авах эсэхийг шийдэхийн тулд зардлыг тооцоолно. </a:t>
                </a:r>
                <a:r>
                  <a:rPr lang="mn-MN" sz="1800" b="1" dirty="0">
                    <a:solidFill>
                      <a:srgbClr val="002060"/>
                    </a:solidFill>
                    <a:latin typeface="Times New Roman" panose="02020603050405020304" pitchFamily="18" charset="0"/>
                    <a:cs typeface="Times New Roman" panose="02020603050405020304" pitchFamily="18" charset="0"/>
                  </a:rPr>
                  <a:t>Зардлын шинжилгээ</a:t>
                </a:r>
                <a:r>
                  <a:rPr lang="mn-MN" sz="1800" dirty="0">
                    <a:solidFill>
                      <a:srgbClr val="002060"/>
                    </a:solidFill>
                    <a:latin typeface="Times New Roman" panose="02020603050405020304" pitchFamily="18" charset="0"/>
                    <a:cs typeface="Times New Roman" panose="02020603050405020304" pitchFamily="18" charset="0"/>
                  </a:rPr>
                  <a:t>:</a:t>
                </a:r>
              </a:p>
              <a:p>
                <a:pPr marL="457200" lvl="1" indent="0" algn="just">
                  <a:buNone/>
                </a:pPr>
                <a14:m>
                  <m:oMathPara xmlns:m="http://schemas.openxmlformats.org/officeDocument/2006/math">
                    <m:oMathParaPr>
                      <m:jc m:val="centerGroup"/>
                    </m:oMathParaPr>
                    <m:oMath xmlns:m="http://schemas.openxmlformats.org/officeDocument/2006/math">
                      <m:sSub>
                        <m:sSubPr>
                          <m:ctrlPr>
                            <a:rPr lang="mn-MN" altLang="en-US" sz="3000" b="1" i="1" smtClean="0">
                              <a:solidFill>
                                <a:srgbClr val="0000FF"/>
                              </a:solidFill>
                              <a:latin typeface="Cambria Math" panose="02040503050406030204" pitchFamily="18" charset="0"/>
                              <a:cs typeface="Times New Roman" pitchFamily="18" charset="0"/>
                            </a:rPr>
                          </m:ctrlPr>
                        </m:sSubPr>
                        <m:e>
                          <m:r>
                            <a:rPr lang="en-US" altLang="en-US" sz="3000" b="1" i="1" smtClean="0">
                              <a:solidFill>
                                <a:srgbClr val="0000FF"/>
                              </a:solidFill>
                              <a:latin typeface="Cambria Math" panose="02040503050406030204" pitchFamily="18" charset="0"/>
                              <a:cs typeface="Times New Roman" pitchFamily="18" charset="0"/>
                            </a:rPr>
                            <m:t>𝑸</m:t>
                          </m:r>
                        </m:e>
                        <m:sub>
                          <m:r>
                            <a:rPr lang="en-US" altLang="en-US" sz="3000" b="1" i="1" smtClean="0">
                              <a:solidFill>
                                <a:srgbClr val="0000FF"/>
                              </a:solidFill>
                              <a:latin typeface="Cambria Math" panose="02040503050406030204" pitchFamily="18" charset="0"/>
                              <a:cs typeface="Times New Roman" pitchFamily="18" charset="0"/>
                            </a:rPr>
                            <m:t>𝒊</m:t>
                          </m:r>
                        </m:sub>
                      </m:sSub>
                      <m:r>
                        <a:rPr lang="en-US" altLang="en-US" sz="3000" b="1" i="1" smtClean="0">
                          <a:solidFill>
                            <a:srgbClr val="0000FF"/>
                          </a:solidFill>
                          <a:latin typeface="Cambria Math" panose="02040503050406030204" pitchFamily="18" charset="0"/>
                          <a:cs typeface="Times New Roman" pitchFamily="18" charset="0"/>
                        </a:rPr>
                        <m:t>=</m:t>
                      </m:r>
                      <m:f>
                        <m:fPr>
                          <m:ctrlPr>
                            <a:rPr lang="en-US" altLang="en-US" sz="3000" b="1" i="1" smtClean="0">
                              <a:solidFill>
                                <a:srgbClr val="0000FF"/>
                              </a:solidFill>
                              <a:latin typeface="Cambria Math" panose="02040503050406030204" pitchFamily="18" charset="0"/>
                              <a:cs typeface="Times New Roman" pitchFamily="18" charset="0"/>
                            </a:rPr>
                          </m:ctrlPr>
                        </m:fPr>
                        <m:num>
                          <m:sSub>
                            <m:sSubPr>
                              <m:ctrlPr>
                                <a:rPr lang="en-US" altLang="en-US" sz="3000" b="1" i="1" smtClean="0">
                                  <a:solidFill>
                                    <a:srgbClr val="0000FF"/>
                                  </a:solidFill>
                                  <a:latin typeface="Cambria Math" panose="02040503050406030204" pitchFamily="18" charset="0"/>
                                  <a:cs typeface="Times New Roman" pitchFamily="18" charset="0"/>
                                </a:rPr>
                              </m:ctrlPr>
                            </m:sSubPr>
                            <m:e>
                              <m:r>
                                <a:rPr lang="en-US" altLang="en-US" sz="3000" b="1" i="1">
                                  <a:solidFill>
                                    <a:srgbClr val="0000FF"/>
                                  </a:solidFill>
                                  <a:latin typeface="Cambria Math" panose="02040503050406030204" pitchFamily="18" charset="0"/>
                                  <a:cs typeface="Times New Roman" pitchFamily="18" charset="0"/>
                                </a:rPr>
                                <m:t>𝑻𝑭𝑪</m:t>
                              </m:r>
                            </m:e>
                            <m:sub>
                              <m:r>
                                <a:rPr lang="mn-MN" altLang="en-US" sz="3000" b="1" i="1" smtClean="0">
                                  <a:solidFill>
                                    <a:srgbClr val="0000FF"/>
                                  </a:solidFill>
                                  <a:latin typeface="Cambria Math" panose="02040503050406030204" pitchFamily="18" charset="0"/>
                                  <a:cs typeface="Times New Roman" pitchFamily="18" charset="0"/>
                                </a:rPr>
                                <m:t>худалдан авах</m:t>
                              </m:r>
                            </m:sub>
                          </m:sSub>
                          <m:r>
                            <a:rPr lang="en-US" altLang="en-US" sz="3000" b="1" i="1" smtClean="0">
                              <a:solidFill>
                                <a:srgbClr val="0000FF"/>
                              </a:solidFill>
                              <a:latin typeface="Cambria Math" panose="02040503050406030204" pitchFamily="18" charset="0"/>
                              <a:cs typeface="Times New Roman" pitchFamily="18" charset="0"/>
                            </a:rPr>
                            <m:t>−</m:t>
                          </m:r>
                          <m:sSub>
                            <m:sSubPr>
                              <m:ctrlPr>
                                <a:rPr lang="en-US" altLang="en-US" sz="3000" b="1" i="1">
                                  <a:solidFill>
                                    <a:srgbClr val="0000FF"/>
                                  </a:solidFill>
                                  <a:latin typeface="Cambria Math" panose="02040503050406030204" pitchFamily="18" charset="0"/>
                                  <a:cs typeface="Times New Roman" pitchFamily="18" charset="0"/>
                                </a:rPr>
                              </m:ctrlPr>
                            </m:sSubPr>
                            <m:e>
                              <m:r>
                                <a:rPr lang="en-US" altLang="en-US" sz="3000" b="1" i="1">
                                  <a:solidFill>
                                    <a:srgbClr val="0000FF"/>
                                  </a:solidFill>
                                  <a:latin typeface="Cambria Math" panose="02040503050406030204" pitchFamily="18" charset="0"/>
                                  <a:cs typeface="Times New Roman" pitchFamily="18" charset="0"/>
                                </a:rPr>
                                <m:t>𝑻𝑭𝑪</m:t>
                              </m:r>
                            </m:e>
                            <m:sub>
                              <m:r>
                                <a:rPr lang="mn-MN" altLang="en-US" sz="3000" b="1" i="1" smtClean="0">
                                  <a:solidFill>
                                    <a:srgbClr val="0000FF"/>
                                  </a:solidFill>
                                  <a:latin typeface="Cambria Math" panose="02040503050406030204" pitchFamily="18" charset="0"/>
                                  <a:cs typeface="Times New Roman" pitchFamily="18" charset="0"/>
                                </a:rPr>
                                <m:t>өөрөө үйлдвэрлэх</m:t>
                              </m:r>
                            </m:sub>
                          </m:sSub>
                        </m:num>
                        <m:den>
                          <m:sSub>
                            <m:sSubPr>
                              <m:ctrlPr>
                                <a:rPr lang="en-US" altLang="en-US" sz="3000" b="1" i="1">
                                  <a:solidFill>
                                    <a:srgbClr val="0000FF"/>
                                  </a:solidFill>
                                  <a:latin typeface="Cambria Math" panose="02040503050406030204" pitchFamily="18" charset="0"/>
                                  <a:cs typeface="Times New Roman" pitchFamily="18" charset="0"/>
                                </a:rPr>
                              </m:ctrlPr>
                            </m:sSubPr>
                            <m:e>
                              <m:sSub>
                                <m:sSubPr>
                                  <m:ctrlPr>
                                    <a:rPr lang="en-US" altLang="en-US" sz="3000" b="1" i="1">
                                      <a:solidFill>
                                        <a:srgbClr val="0000FF"/>
                                      </a:solidFill>
                                      <a:latin typeface="Cambria Math" panose="02040503050406030204" pitchFamily="18" charset="0"/>
                                      <a:cs typeface="Times New Roman" pitchFamily="18" charset="0"/>
                                    </a:rPr>
                                  </m:ctrlPr>
                                </m:sSubPr>
                                <m:e>
                                  <m:r>
                                    <a:rPr lang="en-US" altLang="en-US" sz="3000" b="1" i="1" smtClean="0">
                                      <a:solidFill>
                                        <a:srgbClr val="0000FF"/>
                                      </a:solidFill>
                                      <a:latin typeface="Cambria Math" panose="02040503050406030204" pitchFamily="18" charset="0"/>
                                      <a:cs typeface="Times New Roman" pitchFamily="18" charset="0"/>
                                    </a:rPr>
                                    <m:t>𝑨𝑽𝑪</m:t>
                                  </m:r>
                                </m:e>
                                <m:sub>
                                  <m:r>
                                    <a:rPr lang="mn-MN" altLang="en-US" sz="3000" b="1" i="1">
                                      <a:solidFill>
                                        <a:srgbClr val="0000FF"/>
                                      </a:solidFill>
                                      <a:latin typeface="Cambria Math" panose="02040503050406030204" pitchFamily="18" charset="0"/>
                                      <a:cs typeface="Times New Roman" pitchFamily="18" charset="0"/>
                                    </a:rPr>
                                    <m:t>өөрөө үйлдвэрлэх</m:t>
                                  </m:r>
                                </m:sub>
                              </m:sSub>
                              <m:r>
                                <a:rPr lang="mn-MN" altLang="en-US" sz="3000" b="1" i="1" smtClean="0">
                                  <a:solidFill>
                                    <a:srgbClr val="0000FF"/>
                                  </a:solidFill>
                                  <a:latin typeface="Cambria Math" panose="02040503050406030204" pitchFamily="18" charset="0"/>
                                  <a:cs typeface="Times New Roman" pitchFamily="18" charset="0"/>
                                </a:rPr>
                                <m:t>−</m:t>
                              </m:r>
                              <m:r>
                                <a:rPr lang="en-US" altLang="en-US" sz="3000" b="1" i="1" smtClean="0">
                                  <a:solidFill>
                                    <a:srgbClr val="0000FF"/>
                                  </a:solidFill>
                                  <a:latin typeface="Cambria Math" panose="02040503050406030204" pitchFamily="18" charset="0"/>
                                  <a:cs typeface="Times New Roman" pitchFamily="18" charset="0"/>
                                </a:rPr>
                                <m:t>𝑨𝑽𝑪</m:t>
                              </m:r>
                            </m:e>
                            <m:sub>
                              <m:r>
                                <a:rPr lang="mn-MN" altLang="en-US" sz="3000" b="1" i="1">
                                  <a:solidFill>
                                    <a:srgbClr val="0000FF"/>
                                  </a:solidFill>
                                  <a:latin typeface="Cambria Math" panose="02040503050406030204" pitchFamily="18" charset="0"/>
                                  <a:cs typeface="Times New Roman" pitchFamily="18" charset="0"/>
                                </a:rPr>
                                <m:t>худалдан авах</m:t>
                              </m:r>
                            </m:sub>
                          </m:sSub>
                        </m:den>
                      </m:f>
                    </m:oMath>
                  </m:oMathPara>
                </a14:m>
                <a:endParaRPr lang="mn-MN" sz="1800" b="1" dirty="0">
                  <a:solidFill>
                    <a:srgbClr val="002060"/>
                  </a:solidFill>
                  <a:latin typeface="Times New Roman" panose="02020603050405020304" pitchFamily="18" charset="0"/>
                  <a:cs typeface="Times New Roman" panose="02020603050405020304" pitchFamily="18" charset="0"/>
                </a:endParaRPr>
              </a:p>
              <a:p>
                <a:pPr lvl="2" algn="just"/>
                <a14:m>
                  <m:oMath xmlns:m="http://schemas.openxmlformats.org/officeDocument/2006/math">
                    <m:sSub>
                      <m:sSubPr>
                        <m:ctrlPr>
                          <a:rPr lang="mn-MN" altLang="en-US" sz="1600" b="0" i="1" smtClean="0">
                            <a:solidFill>
                              <a:srgbClr val="002060"/>
                            </a:solidFill>
                            <a:latin typeface="Cambria Math" panose="02040503050406030204" pitchFamily="18" charset="0"/>
                            <a:cs typeface="Times New Roman" pitchFamily="18" charset="0"/>
                          </a:rPr>
                        </m:ctrlPr>
                      </m:sSubPr>
                      <m:e>
                        <m:r>
                          <a:rPr lang="en-US" altLang="en-US" sz="1600" b="0" i="1" smtClean="0">
                            <a:solidFill>
                              <a:srgbClr val="002060"/>
                            </a:solidFill>
                            <a:latin typeface="Cambria Math" panose="02040503050406030204" pitchFamily="18" charset="0"/>
                            <a:cs typeface="Times New Roman" pitchFamily="18" charset="0"/>
                          </a:rPr>
                          <m:t>𝑄</m:t>
                        </m:r>
                      </m:e>
                      <m:sub>
                        <m:r>
                          <a:rPr lang="en-US" altLang="en-US" sz="1600" b="0" i="1" smtClean="0">
                            <a:solidFill>
                              <a:srgbClr val="002060"/>
                            </a:solidFill>
                            <a:latin typeface="Cambria Math" panose="02040503050406030204" pitchFamily="18" charset="0"/>
                            <a:cs typeface="Times New Roman" pitchFamily="18" charset="0"/>
                          </a:rPr>
                          <m:t>𝑖</m:t>
                        </m:r>
                      </m:sub>
                    </m:sSub>
                    <m:r>
                      <a:rPr lang="en-US" altLang="en-US" sz="1600" b="0" i="1" smtClean="0">
                        <a:solidFill>
                          <a:srgbClr val="002060"/>
                        </a:solidFill>
                        <a:latin typeface="Cambria Math" panose="02040503050406030204" pitchFamily="18" charset="0"/>
                        <a:cs typeface="Times New Roman" pitchFamily="18" charset="0"/>
                      </a:rPr>
                      <m:t> </m:t>
                    </m:r>
                  </m:oMath>
                </a14:m>
                <a:r>
                  <a:rPr lang="mn-MN" sz="1600" dirty="0">
                    <a:solidFill>
                      <a:srgbClr val="002060"/>
                    </a:solidFill>
                    <a:latin typeface="Times New Roman" panose="02020603050405020304" pitchFamily="18" charset="0"/>
                    <a:cs typeface="Times New Roman" panose="02020603050405020304" pitchFamily="18" charset="0"/>
                  </a:rPr>
                  <a:t>- 2 хувилбарын зардал тэнцүү байх бүтээгдэхүүний хэмжээ. </a:t>
                </a:r>
              </a:p>
              <a:p>
                <a:pPr marL="457200" lvl="1" indent="0" algn="just">
                  <a:buNone/>
                </a:pPr>
                <a:r>
                  <a:rPr lang="mn-MN" sz="1800" dirty="0">
                    <a:solidFill>
                      <a:srgbClr val="002060"/>
                    </a:solidFill>
                    <a:latin typeface="Times New Roman" panose="02020603050405020304" pitchFamily="18" charset="0"/>
                    <a:cs typeface="Times New Roman" panose="02020603050405020304" pitchFamily="18" charset="0"/>
                  </a:rPr>
                  <a:t>	Энэ хэмжээнээс илүү байвал өөрөө үйлдвэрлэх нь зардал багатай, харин бага байвал гаднаас худалдан 	авсан нь зардал багатай байна гэсэн үг.  Дээрх тохиолдолд аль зардал багатайг нь сонгоно. </a:t>
                </a:r>
              </a:p>
            </p:txBody>
          </p:sp>
        </mc:Choice>
        <mc:Fallback xmlns="">
          <p:sp>
            <p:nvSpPr>
              <p:cNvPr id="3" name="Content Placeholder 2">
                <a:extLst>
                  <a:ext uri="{FF2B5EF4-FFF2-40B4-BE49-F238E27FC236}">
                    <a16:creationId xmlns:a16="http://schemas.microsoft.com/office/drawing/2014/main" id="{2411FCBE-DE6E-170D-7A2E-ED122380E017}"/>
                  </a:ext>
                </a:extLst>
              </p:cNvPr>
              <p:cNvSpPr>
                <a:spLocks noGrp="1" noRot="1" noChangeAspect="1" noMove="1" noResize="1" noEditPoints="1" noAdjustHandles="1" noChangeArrowheads="1" noChangeShapeType="1" noTextEdit="1"/>
              </p:cNvSpPr>
              <p:nvPr>
                <p:ph idx="1"/>
              </p:nvPr>
            </p:nvSpPr>
            <p:spPr>
              <a:xfrm>
                <a:off x="112293" y="489286"/>
                <a:ext cx="11903243" cy="6244220"/>
              </a:xfrm>
              <a:blipFill>
                <a:blip r:embed="rId3"/>
                <a:stretch>
                  <a:fillRect l="-666" t="-1073" r="-614"/>
                </a:stretch>
              </a:blipFill>
            </p:spPr>
            <p:txBody>
              <a:bodyPr/>
              <a:lstStyle/>
              <a:p>
                <a:r>
                  <a:rPr lang="en-US">
                    <a:noFill/>
                  </a:rPr>
                  <a:t> </a:t>
                </a:r>
              </a:p>
            </p:txBody>
          </p:sp>
        </mc:Fallback>
      </mc:AlternateContent>
    </p:spTree>
    <p:extLst>
      <p:ext uri="{BB962C8B-B14F-4D97-AF65-F5344CB8AC3E}">
        <p14:creationId xmlns:p14="http://schemas.microsoft.com/office/powerpoint/2010/main" val="18645882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0DF605-781C-36D8-8E4E-0ED312D5B288}"/>
              </a:ext>
            </a:extLst>
          </p:cNvPr>
          <p:cNvSpPr>
            <a:spLocks noGrp="1"/>
          </p:cNvSpPr>
          <p:nvPr>
            <p:ph type="title"/>
          </p:nvPr>
        </p:nvSpPr>
        <p:spPr>
          <a:xfrm>
            <a:off x="160421" y="140535"/>
            <a:ext cx="11871158" cy="420939"/>
          </a:xfrm>
        </p:spPr>
        <p:txBody>
          <a:bodyPr>
            <a:noAutofit/>
          </a:bodyPr>
          <a:lstStyle/>
          <a:p>
            <a:pPr algn="just"/>
            <a:r>
              <a:rPr lang="mn-MN" sz="3600" b="1" dirty="0">
                <a:solidFill>
                  <a:schemeClr val="accent2">
                    <a:lumMod val="75000"/>
                  </a:schemeClr>
                </a:solidFill>
                <a:latin typeface="Times New Roman" panose="02020603050405020304" pitchFamily="18" charset="0"/>
                <a:cs typeface="Times New Roman" panose="02020603050405020304" pitchFamily="18" charset="0"/>
              </a:rPr>
              <a:t>Технологийн үйл ажиллагааны сонголт</a:t>
            </a:r>
            <a:endParaRPr lang="en-US" sz="3600"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7E1F8B1-A958-E20E-5580-5DDF94C1A111}"/>
              </a:ext>
            </a:extLst>
          </p:cNvPr>
          <p:cNvSpPr>
            <a:spLocks noGrp="1"/>
          </p:cNvSpPr>
          <p:nvPr>
            <p:ph idx="1"/>
          </p:nvPr>
        </p:nvSpPr>
        <p:spPr>
          <a:xfrm>
            <a:off x="160421" y="561474"/>
            <a:ext cx="11871158" cy="6095999"/>
          </a:xfrm>
        </p:spPr>
        <p:txBody>
          <a:bodyPr>
            <a:normAutofit lnSpcReduction="10000"/>
          </a:bodyPr>
          <a:lstStyle/>
          <a:p>
            <a:pPr algn="just"/>
            <a:r>
              <a:rPr lang="mn-MN" sz="3200" dirty="0">
                <a:solidFill>
                  <a:srgbClr val="002060"/>
                </a:solidFill>
                <a:latin typeface="Times New Roman" panose="02020603050405020304" pitchFamily="18" charset="0"/>
                <a:cs typeface="Times New Roman" panose="02020603050405020304" pitchFamily="18" charset="0"/>
              </a:rPr>
              <a:t>Бүтээгдэхүүнийг өөрөө үйлдвэрлэх шийдвэр гарсан үед үйл ажиллагааны сонголт хийнэ. </a:t>
            </a:r>
          </a:p>
          <a:p>
            <a:pPr algn="just"/>
            <a:r>
              <a:rPr lang="mn-MN" sz="3200" dirty="0">
                <a:solidFill>
                  <a:srgbClr val="002060"/>
                </a:solidFill>
                <a:latin typeface="Times New Roman" panose="02020603050405020304" pitchFamily="18" charset="0"/>
                <a:cs typeface="Times New Roman" panose="02020603050405020304" pitchFamily="18" charset="0"/>
              </a:rPr>
              <a:t>Түүхий эд материалыг бэлэн бүтээгдэхүүн болгон хувиргах үйл явцыг </a:t>
            </a:r>
            <a:r>
              <a:rPr lang="mn-MN" sz="3200" b="1" dirty="0">
                <a:solidFill>
                  <a:srgbClr val="002060"/>
                </a:solidFill>
                <a:latin typeface="Times New Roman" panose="02020603050405020304" pitchFamily="18" charset="0"/>
                <a:cs typeface="Times New Roman" panose="02020603050405020304" pitchFamily="18" charset="0"/>
              </a:rPr>
              <a:t>үйлдвэрлэлийн үйл ажиллагаа </a:t>
            </a:r>
            <a:r>
              <a:rPr lang="mn-MN" sz="3200" dirty="0">
                <a:solidFill>
                  <a:srgbClr val="002060"/>
                </a:solidFill>
                <a:latin typeface="Times New Roman" panose="02020603050405020304" pitchFamily="18" charset="0"/>
                <a:cs typeface="Times New Roman" panose="02020603050405020304" pitchFamily="18" charset="0"/>
              </a:rPr>
              <a:t>гэнэ. </a:t>
            </a:r>
          </a:p>
          <a:p>
            <a:pPr algn="just"/>
            <a:r>
              <a:rPr lang="mn-MN" sz="3200" b="1" dirty="0">
                <a:solidFill>
                  <a:srgbClr val="002060"/>
                </a:solidFill>
                <a:latin typeface="Times New Roman" panose="02020603050405020304" pitchFamily="18" charset="0"/>
                <a:cs typeface="Times New Roman" panose="02020603050405020304" pitchFamily="18" charset="0"/>
              </a:rPr>
              <a:t>Үйлдвэрлэлийн үйл ажиллагааны ангилал</a:t>
            </a:r>
            <a:r>
              <a:rPr lang="mn-MN" sz="3200" dirty="0">
                <a:solidFill>
                  <a:srgbClr val="002060"/>
                </a:solidFill>
                <a:latin typeface="Times New Roman" panose="02020603050405020304" pitchFamily="18" charset="0"/>
                <a:cs typeface="Times New Roman" panose="02020603050405020304" pitchFamily="18" charset="0"/>
              </a:rPr>
              <a:t>: </a:t>
            </a:r>
          </a:p>
          <a:p>
            <a:pPr lvl="1" algn="just"/>
            <a:r>
              <a:rPr lang="mn-MN" sz="2800" dirty="0">
                <a:solidFill>
                  <a:srgbClr val="002060"/>
                </a:solidFill>
                <a:latin typeface="Times New Roman" panose="02020603050405020304" pitchFamily="18" charset="0"/>
                <a:cs typeface="Times New Roman" panose="02020603050405020304" pitchFamily="18" charset="0"/>
              </a:rPr>
              <a:t>Тасралтгүй үйл ажиллагаа – Өндөр стандарттай бүтээгдэхүүн үйлдвэрлэхэд хэрэглэнэ. Ж: шар айраг, сахар, хуванцар эдлэл гэх мэт</a:t>
            </a:r>
          </a:p>
          <a:p>
            <a:pPr lvl="1" algn="just"/>
            <a:r>
              <a:rPr lang="mn-MN" sz="2800" dirty="0">
                <a:solidFill>
                  <a:srgbClr val="002060"/>
                </a:solidFill>
                <a:latin typeface="Times New Roman" panose="02020603050405020304" pitchFamily="18" charset="0"/>
                <a:cs typeface="Times New Roman" panose="02020603050405020304" pitchFamily="18" charset="0"/>
              </a:rPr>
              <a:t>Их хэмжээгээр, дамжлагаар үйлдвэрлэх – үйл ажиллагаа нь хэсэгчилсэн байдлаар тасралтгүй явагддаг үйлдвэрлэл. Нэг болон хоорондоо төсөөтэй хэд хэдэн бүтээгдэхүүн их хэмжээгээр үйлдвэрлэхэд ашиглана. </a:t>
            </a:r>
          </a:p>
          <a:p>
            <a:pPr lvl="1" algn="just"/>
            <a:r>
              <a:rPr lang="mn-MN" sz="2800" dirty="0">
                <a:solidFill>
                  <a:srgbClr val="002060"/>
                </a:solidFill>
                <a:latin typeface="Times New Roman" panose="02020603050405020304" pitchFamily="18" charset="0"/>
                <a:cs typeface="Times New Roman" panose="02020603050405020304" pitchFamily="18" charset="0"/>
              </a:rPr>
              <a:t>Давталттай үйл ажиллагаа – өмнө үйлдвэрлэсэн адил бүтээгдэхүүнийг яг ижил үйл ажиллагаагаар их хэмжээгээр үйлдвэрлэхийг хэлнэ. </a:t>
            </a:r>
          </a:p>
          <a:p>
            <a:pPr lvl="1" algn="just"/>
            <a:r>
              <a:rPr lang="mn-MN" sz="2800" dirty="0">
                <a:solidFill>
                  <a:srgbClr val="002060"/>
                </a:solidFill>
                <a:latin typeface="Times New Roman" panose="02020603050405020304" pitchFamily="18" charset="0"/>
                <a:cs typeface="Times New Roman" panose="02020603050405020304" pitchFamily="18" charset="0"/>
              </a:rPr>
              <a:t>Тасралттай үйл ажиллагаа – яг хэрэглэгчийн хүссэн зүйлийг бага хэмжээгээр, эсвэл багцаар үйлдвэрлэхийг хэлнэ. </a:t>
            </a:r>
            <a:r>
              <a:rPr lang="en-US" sz="2800" dirty="0">
                <a:solidFill>
                  <a:srgbClr val="002060"/>
                </a:solidFill>
                <a:latin typeface="Times New Roman" panose="02020603050405020304" pitchFamily="18" charset="0"/>
                <a:cs typeface="Times New Roman" panose="02020603050405020304" pitchFamily="18" charset="0"/>
              </a:rPr>
              <a:t>(</a:t>
            </a:r>
            <a:r>
              <a:rPr lang="mn-MN" sz="2800" dirty="0">
                <a:solidFill>
                  <a:srgbClr val="002060"/>
                </a:solidFill>
                <a:latin typeface="Times New Roman" panose="02020603050405020304" pitchFamily="18" charset="0"/>
                <a:cs typeface="Times New Roman" panose="02020603050405020304" pitchFamily="18" charset="0"/>
              </a:rPr>
              <a:t>Захиалгын дагуу</a:t>
            </a:r>
            <a:r>
              <a:rPr lang="en-US" sz="2800" dirty="0">
                <a:solidFill>
                  <a:srgbClr val="002060"/>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0483430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004C1-60CD-F70E-683C-F1BA89A2EC66}"/>
              </a:ext>
            </a:extLst>
          </p:cNvPr>
          <p:cNvSpPr>
            <a:spLocks noGrp="1"/>
          </p:cNvSpPr>
          <p:nvPr>
            <p:ph type="title"/>
          </p:nvPr>
        </p:nvSpPr>
        <p:spPr>
          <a:xfrm>
            <a:off x="132347" y="96252"/>
            <a:ext cx="11899232" cy="561474"/>
          </a:xfrm>
        </p:spPr>
        <p:txBody>
          <a:bodyPr>
            <a:normAutofit fontScale="90000"/>
          </a:bodyPr>
          <a:lstStyle/>
          <a:p>
            <a:pPr algn="just"/>
            <a:r>
              <a:rPr lang="mn-MN" sz="4000" b="1" dirty="0">
                <a:solidFill>
                  <a:srgbClr val="002060"/>
                </a:solidFill>
                <a:latin typeface="Times New Roman" panose="02020603050405020304" pitchFamily="18" charset="0"/>
                <a:cs typeface="Times New Roman" panose="02020603050405020304" pitchFamily="18" charset="0"/>
              </a:rPr>
              <a:t>Стандартчилал</a:t>
            </a:r>
            <a:endParaRPr lang="en-US" sz="4000"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19181BA-9CD3-7DC2-6313-E271B3A0928B}"/>
              </a:ext>
            </a:extLst>
          </p:cNvPr>
          <p:cNvSpPr>
            <a:spLocks noGrp="1"/>
          </p:cNvSpPr>
          <p:nvPr>
            <p:ph idx="1"/>
          </p:nvPr>
        </p:nvSpPr>
        <p:spPr>
          <a:xfrm>
            <a:off x="132347" y="657726"/>
            <a:ext cx="11899232" cy="6104022"/>
          </a:xfrm>
        </p:spPr>
        <p:txBody>
          <a:bodyPr>
            <a:normAutofit fontScale="92500" lnSpcReduction="10000"/>
          </a:bodyPr>
          <a:lstStyle/>
          <a:p>
            <a:pPr algn="just"/>
            <a:r>
              <a:rPr lang="mn-MN" dirty="0">
                <a:solidFill>
                  <a:srgbClr val="002060"/>
                </a:solidFill>
                <a:latin typeface="Times New Roman" panose="02020603050405020304" pitchFamily="18" charset="0"/>
                <a:cs typeface="Times New Roman" panose="02020603050405020304" pitchFamily="18" charset="0"/>
              </a:rPr>
              <a:t>БҮ-ний загвар, төсөл боловсруулахад тулгардаг чухал асуудал бол стандартчилал. </a:t>
            </a:r>
          </a:p>
          <a:p>
            <a:pPr algn="just"/>
            <a:r>
              <a:rPr lang="mn-MN" dirty="0">
                <a:solidFill>
                  <a:srgbClr val="002060"/>
                </a:solidFill>
                <a:latin typeface="Times New Roman" panose="02020603050405020304" pitchFamily="18" charset="0"/>
                <a:cs typeface="Times New Roman" panose="02020603050405020304" pitchFamily="18" charset="0"/>
              </a:rPr>
              <a:t>Стандартчилал – Бүтээгдэхүүн, үйлчилгээ, үйл ажиллагаанд гарах өөрчлөлт, хэлбэлзлүүдийг багасгахад чиглэдэг. </a:t>
            </a:r>
          </a:p>
          <a:p>
            <a:pPr lvl="1" algn="just"/>
            <a:r>
              <a:rPr lang="mn-MN" dirty="0">
                <a:solidFill>
                  <a:srgbClr val="002060"/>
                </a:solidFill>
                <a:latin typeface="Times New Roman" panose="02020603050405020304" pitchFamily="18" charset="0"/>
                <a:cs typeface="Times New Roman" panose="02020603050405020304" pitchFamily="18" charset="0"/>
              </a:rPr>
              <a:t>Стандартчилагдсан үйлчилгээ – хэрэглэгч яг адилхан үйлчилгээ авахыг хэлнэ. </a:t>
            </a:r>
          </a:p>
          <a:p>
            <a:pPr lvl="1" algn="just"/>
            <a:r>
              <a:rPr lang="mn-MN" dirty="0">
                <a:solidFill>
                  <a:srgbClr val="002060"/>
                </a:solidFill>
                <a:latin typeface="Times New Roman" panose="02020603050405020304" pitchFamily="18" charset="0"/>
                <a:cs typeface="Times New Roman" panose="02020603050405020304" pitchFamily="18" charset="0"/>
              </a:rPr>
              <a:t>Стандартчилагдсан бүтээгдэхүүн – их хэмжээгээр үйлдвэрлэх боломжтой болдог. </a:t>
            </a:r>
          </a:p>
          <a:p>
            <a:pPr lvl="1" algn="just"/>
            <a:r>
              <a:rPr lang="mn-MN" dirty="0">
                <a:solidFill>
                  <a:srgbClr val="002060"/>
                </a:solidFill>
                <a:latin typeface="Times New Roman" panose="02020603050405020304" pitchFamily="18" charset="0"/>
                <a:cs typeface="Times New Roman" panose="02020603050405020304" pitchFamily="18" charset="0"/>
              </a:rPr>
              <a:t>Стандартчилагдсан үйл ажиллагаа – стандартчилагдсан бүтээгдэхүүн үйлдвэрлэж, стандартчилагдсан үйлчилгээ үзүүлдэг. </a:t>
            </a:r>
          </a:p>
          <a:p>
            <a:pPr algn="just"/>
            <a:r>
              <a:rPr lang="mn-MN" dirty="0">
                <a:solidFill>
                  <a:srgbClr val="002060"/>
                </a:solidFill>
                <a:latin typeface="Times New Roman" panose="02020603050405020304" pitchFamily="18" charset="0"/>
                <a:cs typeface="Times New Roman" panose="02020603050405020304" pitchFamily="18" charset="0"/>
              </a:rPr>
              <a:t>Стандарчилалын давуу тал: </a:t>
            </a:r>
          </a:p>
          <a:p>
            <a:pPr lvl="1" algn="just"/>
            <a:r>
              <a:rPr lang="mn-MN" dirty="0">
                <a:solidFill>
                  <a:srgbClr val="002060"/>
                </a:solidFill>
                <a:latin typeface="Times New Roman" panose="02020603050405020304" pitchFamily="18" charset="0"/>
                <a:cs typeface="Times New Roman" panose="02020603050405020304" pitchFamily="18" charset="0"/>
              </a:rPr>
              <a:t>Үйлдвэрлэхэд, эд ангийг харилцан солилцох, засварлах, үйлдвэрлэх хугацааг багасгахад, бүтээмж, чанарыг сайжруулахад, зардал хэмнэхэд тустай. </a:t>
            </a:r>
          </a:p>
          <a:p>
            <a:pPr lvl="1" algn="just"/>
            <a:r>
              <a:rPr lang="mn-MN" dirty="0">
                <a:solidFill>
                  <a:srgbClr val="002060"/>
                </a:solidFill>
                <a:latin typeface="Times New Roman" panose="02020603050405020304" pitchFamily="18" charset="0"/>
                <a:cs typeface="Times New Roman" panose="02020603050405020304" pitchFamily="18" charset="0"/>
              </a:rPr>
              <a:t>Боловсон хүчнийг сургах хугацаа, зардлыг хэмнэнэ. </a:t>
            </a:r>
          </a:p>
          <a:p>
            <a:pPr lvl="1" algn="just"/>
            <a:r>
              <a:rPr lang="mn-MN" dirty="0">
                <a:solidFill>
                  <a:srgbClr val="002060"/>
                </a:solidFill>
                <a:latin typeface="Times New Roman" panose="02020603050405020304" pitchFamily="18" charset="0"/>
                <a:cs typeface="Times New Roman" panose="02020603050405020304" pitchFamily="18" charset="0"/>
              </a:rPr>
              <a:t>Үйлдвэрлэлийн график зохиох, нөөцийг удирдах, худалдан авалт, бүртгэл нэг загвараар явагдах боломж бүрдэнэ. </a:t>
            </a:r>
          </a:p>
          <a:p>
            <a:pPr algn="just"/>
            <a:r>
              <a:rPr lang="mn-MN" dirty="0">
                <a:solidFill>
                  <a:srgbClr val="002060"/>
                </a:solidFill>
                <a:latin typeface="Times New Roman" panose="02020603050405020304" pitchFamily="18" charset="0"/>
                <a:cs typeface="Times New Roman" panose="02020603050405020304" pitchFamily="18" charset="0"/>
              </a:rPr>
              <a:t>Стандартчилалын сул тал:</a:t>
            </a:r>
          </a:p>
          <a:p>
            <a:pPr lvl="1" algn="just"/>
            <a:r>
              <a:rPr lang="mn-MN" dirty="0">
                <a:solidFill>
                  <a:srgbClr val="002060"/>
                </a:solidFill>
                <a:latin typeface="Times New Roman" panose="02020603050405020304" pitchFamily="18" charset="0"/>
                <a:cs typeface="Times New Roman" panose="02020603050405020304" pitchFamily="18" charset="0"/>
              </a:rPr>
              <a:t>Бүтээгдэхүүний нэр төрлийг олшруулж, сонголт хийхэд муугаар нөлөөлдөг. Хэрэглэгчийн тоо цөөрөхөд хүргэнэ.</a:t>
            </a:r>
          </a:p>
          <a:p>
            <a:pPr lvl="1" algn="just"/>
            <a:r>
              <a:rPr lang="mn-MN" dirty="0">
                <a:solidFill>
                  <a:srgbClr val="002060"/>
                </a:solidFill>
                <a:latin typeface="Times New Roman" panose="02020603050405020304" pitchFamily="18" charset="0"/>
                <a:cs typeface="Times New Roman" panose="02020603050405020304" pitchFamily="18" charset="0"/>
              </a:rPr>
              <a:t>Бүтээгдэхүүнийг шинэчилж, сайжруулахад саад учруулдаг.</a:t>
            </a:r>
          </a:p>
        </p:txBody>
      </p:sp>
    </p:spTree>
    <p:extLst>
      <p:ext uri="{BB962C8B-B14F-4D97-AF65-F5344CB8AC3E}">
        <p14:creationId xmlns:p14="http://schemas.microsoft.com/office/powerpoint/2010/main" val="35950009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32878-A0F5-19C4-3E51-C4A71A313123}"/>
              </a:ext>
            </a:extLst>
          </p:cNvPr>
          <p:cNvSpPr>
            <a:spLocks noGrp="1"/>
          </p:cNvSpPr>
          <p:nvPr>
            <p:ph type="title"/>
          </p:nvPr>
        </p:nvSpPr>
        <p:spPr>
          <a:xfrm>
            <a:off x="272716" y="252831"/>
            <a:ext cx="11646568" cy="709696"/>
          </a:xfrm>
        </p:spPr>
        <p:txBody>
          <a:bodyPr/>
          <a:lstStyle/>
          <a:p>
            <a:pPr algn="just"/>
            <a:r>
              <a:rPr lang="mn-MN" b="1" dirty="0">
                <a:solidFill>
                  <a:srgbClr val="002060"/>
                </a:solidFill>
                <a:latin typeface="Times New Roman" panose="02020603050405020304" pitchFamily="18" charset="0"/>
                <a:cs typeface="Times New Roman" panose="02020603050405020304" pitchFamily="18" charset="0"/>
              </a:rPr>
              <a:t>Уншиж судлах ном, сурах бичиг</a:t>
            </a:r>
            <a:endParaRPr lang="en-US" b="1"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0D6ECD2-1478-C382-3CB4-7AE5501AC3DD}"/>
              </a:ext>
            </a:extLst>
          </p:cNvPr>
          <p:cNvSpPr>
            <a:spLocks noGrp="1"/>
          </p:cNvSpPr>
          <p:nvPr>
            <p:ph idx="1"/>
          </p:nvPr>
        </p:nvSpPr>
        <p:spPr>
          <a:xfrm>
            <a:off x="272716" y="1171074"/>
            <a:ext cx="11646568" cy="4893594"/>
          </a:xfrm>
        </p:spPr>
        <p:txBody>
          <a:bodyPr>
            <a:normAutofit/>
          </a:bodyPr>
          <a:lstStyle/>
          <a:p>
            <a:pPr algn="just"/>
            <a:r>
              <a:rPr lang="mn-MN" sz="3200" dirty="0">
                <a:solidFill>
                  <a:srgbClr val="002060"/>
                </a:solidFill>
                <a:latin typeface="Times New Roman" panose="02020603050405020304" pitchFamily="18" charset="0"/>
                <a:cs typeface="Times New Roman" panose="02020603050405020304" pitchFamily="18" charset="0"/>
              </a:rPr>
              <a:t>Л.Наранхүү нарын бүтээл, Үйлдвэрлэл, үйл ажиллагааны менежмент, 2012</a:t>
            </a:r>
          </a:p>
        </p:txBody>
      </p:sp>
    </p:spTree>
    <p:extLst>
      <p:ext uri="{BB962C8B-B14F-4D97-AF65-F5344CB8AC3E}">
        <p14:creationId xmlns:p14="http://schemas.microsoft.com/office/powerpoint/2010/main" val="8375632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4">
            <a:extLst>
              <a:ext uri="{FF2B5EF4-FFF2-40B4-BE49-F238E27FC236}">
                <a16:creationId xmlns:a16="http://schemas.microsoft.com/office/drawing/2014/main" id="{EB99C4FA-7FF9-AF4B-1EC1-2FF43FDE8BC5}"/>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643467" y="1520612"/>
            <a:ext cx="10905066" cy="3816774"/>
          </a:xfrm>
          <a:prstGeom prst="rect">
            <a:avLst/>
          </a:prstGeom>
          <a:ln>
            <a:noFill/>
          </a:ln>
          <a:scene3d>
            <a:camera prst="orthographicFront"/>
            <a:lightRig rig="threePt" dir="t">
              <a:rot lat="0" lon="0" rev="2700000"/>
            </a:lightRig>
          </a:scene3d>
          <a:sp3d contourW="6350">
            <a:bevelT h="38100"/>
            <a:contourClr>
              <a:srgbClr val="C0C0C0"/>
            </a:contourClr>
          </a:sp3d>
        </p:spPr>
      </p:pic>
    </p:spTree>
    <p:extLst>
      <p:ext uri="{BB962C8B-B14F-4D97-AF65-F5344CB8AC3E}">
        <p14:creationId xmlns:p14="http://schemas.microsoft.com/office/powerpoint/2010/main" val="426421632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LMS_API_VERSION" val="SCORM 2004 (2nd edition)"/>
  <p:tag name="ISPRING_ULTRA_SCORM_COURSE_ID" val="B10C3D95-144B-4BA8-8E3F-CE45AE417BE1"/>
  <p:tag name="ISPRING_CMI5_LAUNCH_METHOD" val="any window"/>
  <p:tag name="ISPRINGCLOUDFOLDERID" val="1"/>
  <p:tag name="ISPRINGONLINEFOLDERID" val="1"/>
  <p:tag name="ISPRING_OUTPUT_FOLDER" val="[[&quot;\uFFFD12\u001E{5CDD3A6F-82E0-49E5-B476-77BB91554EEC}&quot;,&quot;C:\\Users\\217\\Downloads&quot;]]"/>
  <p:tag name="ISPRING_PUBLISH_SETTINGS" val="{&quot;commonSettings&quot;:{&quot;webSettings&quot;:{&quot;useMobileViewer&quot;:&quot;T_FALSE&quot;},&quot;lmsSettings&quot;:{&quot;useMobileViewer&quot;:&quot;T_FALSE&quot;},&quot;cloudSettings&quot;:{&quot;useMobileViewer&quot;:&quot;T_FALSE&quot;},&quot;ispringLmsSettings&quot;:{&quot;useMobileViewer&quot;:&quot;T_FALSE&quot;},&quot;playerId&quot;:&quot;universal&quot;,&quot;studioSettings&quot;:{&quot;useMobileViewer&quot;:&quot;T_FALSE&quot;}},&quot;advancedSettings&quot;:{&quot;enableTextAllocation&quot;:&quot;T_TRUE&quot;,&quot;viewingFromLocalDrive&quot;:&quot;T_TRUE&quot;,&quot;contentScale&quot;:75,&quot;contentScaleMode&quot;:&quot;SCALE&quot;},&quot;accessibilitySettings&quot;:{&quot;enabled&quot;:&quot;T_FALSE&quot;},&quot;compressionSettings&quot;:{&quot;imageSettings&quot;:{&quot;jpegQuality&quot;:70,&quot;optimizeImageForResolution&quot;:&quot;T_FALSE&quot;},&quot;audioQuality&quot;:70,&quot;videoQuality&quot;:65},&quot;protectionSettings&quot;:{&quot;watermarkEnabled&quot;:&quot;T_FALSE&quot;,&quot;watermarkPosition&quot;:&quot;MIDDLE_CENTER&quot;,&quot;openWatermarkUrl&quot;:&quot;T_FALSE&quot;,&quot;openWatermarkWebPageInNewWindow&quot;:&quot;T_FALSE&quot;,&quot;displayAfterEnabled&quot;:&quot;T_FALSE&quot;,&quot;displayUntilEnabled&quot;:&quot;T_FALSE&quot;,&quot;domainRestrictionEnabled&quot;:&quot;T_FALSE&quot;,&quot;enablePassword&quot;:&quot;T_FALSE&quot;},&quot;videoSettings&quot;:{&quot;videoCompressionSettings&quot;:{&quot;audioQuality&quot;:70,&quot;videoQuality&quot;:75},&quot;secondsOnEachSlide&quot;:5,&quot;hostingSettings&quot;:{}},&quot;ispringOnlineSettings&quot;:{&quot;onlineDestinationFolderId&quot;:&quot;1&quot;},&quot;cloudSettings&quot;:{&quot;onlineDestinationFolderId&quot;:&quot;1&quot;},&quot;publishDestination&quot;:&quot;LMS&quot;,&quot;wordSettings&quot;:{&quot;printCopies&quot;:1}}"/>
  <p:tag name="ISPRING_SCORM_RATE_SLIDES" val="0"/>
  <p:tag name="ISPRING_SCORM_PASSING_SCORE" val="0.000000"/>
  <p:tag name="ISPRING_CURRENT_PLAYER_ID" val="universal"/>
  <p:tag name="ISPRING_FIRST_PUBLISH" val="1"/>
  <p:tag name="ISPRING_ULTRA_SCORM_COURCE_TITLE" val="S.EEM101_Lecture05_2023-24.B_ByTs.B_2024.02.28"/>
  <p:tag name="ISPRING_SCORM_ENDPOINT" val="&lt;endpoint&gt;&lt;enable&gt;0&lt;/enable&gt;&lt;lrs&gt;http://&lt;/lrs&gt;&lt;auth&gt;0&lt;/auth&gt;&lt;login&gt;&lt;/login&gt;&lt;password&gt;&lt;/password&gt;&lt;key&gt;&lt;/key&gt;&lt;name&gt;&lt;/name&gt;&lt;email&gt;&lt;/email&gt;&lt;/endpoint&gt;&#10;"/>
  <p:tag name="ISPRING_SCORM_RATE_QUIZZES" val="0"/>
  <p:tag name="ISPRING_PRESENTATION_TITLE" val="S.EEM101_Lecture05_2023-24.B_ByTs.B_2024.02.28"/>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3254</TotalTime>
  <Words>3077</Words>
  <Application>Microsoft Office PowerPoint</Application>
  <PresentationFormat>Widescreen</PresentationFormat>
  <Paragraphs>356</Paragraphs>
  <Slides>32</Slides>
  <Notes>32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Arial</vt:lpstr>
      <vt:lpstr>Calibri</vt:lpstr>
      <vt:lpstr>Calibri Light</vt:lpstr>
      <vt:lpstr>Cambria Math</vt:lpstr>
      <vt:lpstr>Times New Roman</vt:lpstr>
      <vt:lpstr>Office Theme</vt:lpstr>
      <vt:lpstr>Лекц 5. Үйлдвэрлэл, хүчин чадлын төлөвлөлт</vt:lpstr>
      <vt:lpstr>Хичээлийн суралцахуйн үр дүнгүүд  Оюутан энэ сэдвийг судалснаар дараах ур чадваруудтай болсон байна. </vt:lpstr>
      <vt:lpstr>Хичээлийн агуулга </vt:lpstr>
      <vt:lpstr>Үйлдвэрлэлийн тухай ойлголт</vt:lpstr>
      <vt:lpstr>Үйлдвэрлэлийн тухай ойлголт</vt:lpstr>
      <vt:lpstr>Үйлдвэрлэлийн хүчин чадал</vt:lpstr>
      <vt:lpstr>Хүчин чадлын төрөл, үзүүлэлтүүд</vt:lpstr>
      <vt:lpstr>Хүчин чадал ашиглалтын түвшин (utilization), үр ашиг (efficiency)</vt:lpstr>
      <vt:lpstr>Үйлдвэрлэлийн хүчин чадалд нөлөөлөх хүчин зүйлс</vt:lpstr>
      <vt:lpstr>Хүчин чадлын ашиглалтын үр ашгийг тодорхойлогч хүчин зүйлс</vt:lpstr>
      <vt:lpstr>Хүчин чадлын зохистой түвшин</vt:lpstr>
      <vt:lpstr>Хүчин чадал ашиглалтын стратегиуд</vt:lpstr>
      <vt:lpstr>Хүчин чадал ашиглалтын стратегиуд</vt:lpstr>
      <vt:lpstr>Хүчин чадлын төлөвлөлт (1)</vt:lpstr>
      <vt:lpstr>Хүчин чадлын төлөвлөлт  (2)</vt:lpstr>
      <vt:lpstr>Хүчин чадлын төлөвлөлт  (3)</vt:lpstr>
      <vt:lpstr>Хүчин чадлын төлөвлөлт  (4)</vt:lpstr>
      <vt:lpstr>Үйлдвэрлэлийн төлөвлөлтийн мөн чанар, төрлүүд</vt:lpstr>
      <vt:lpstr>Урт хугацааны төлөвлөлт – Стратегийн төлөвлөлт</vt:lpstr>
      <vt:lpstr>PowerPoint Presentation</vt:lpstr>
      <vt:lpstr>Дунд хугацааны төлөвлөлт – Нэгтгэсэн төлөвлөлт</vt:lpstr>
      <vt:lpstr>Нэгтгэсэн төлөвлөгөө зохиоход баримтлах стратегиуд Тодорхой бус эрэлттэй нөхцөлд</vt:lpstr>
      <vt:lpstr>Үйлдвэрлэлийн нэгтгэсэн төлөвлөлт хийх зарчим</vt:lpstr>
      <vt:lpstr>Бизнес төлөвлөгөө, түүний зорилго</vt:lpstr>
      <vt:lpstr>Төлөвлөгөө зохиох дараалал</vt:lpstr>
      <vt:lpstr>Богино хугацааны төлөвлөлт  Ажлын хуваарь (ажлын төлөвлөгөө)</vt:lpstr>
      <vt:lpstr>Үйлдвэрлэлийн хүчин чадалд нөлөөлөх хүчин зүйлс Технологийн үйл ажиллагааны сонголт</vt:lpstr>
      <vt:lpstr>Технологийн үйл ажиллагааны сонголт</vt:lpstr>
      <vt:lpstr>Технологийн үйл ажиллагааны сонголт</vt:lpstr>
      <vt:lpstr>Стандартчилал</vt:lpstr>
      <vt:lpstr>Уншиж судлах ном, сурах бичиг</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S.EEM101_Lecture05_2023-24.B_ByTs.B_2024.02.28</dc:title>
  <dc:creator>Oyu Chuluun</dc:creator>
  <cp:lastModifiedBy>Ganaa begzsuren</cp:lastModifiedBy>
  <cp:revision>150</cp:revision>
  <cp:lastPrinted>2024-02-18T13:02:50Z</cp:lastPrinted>
  <dcterms:created xsi:type="dcterms:W3CDTF">2023-09-05T14:21:28Z</dcterms:created>
  <dcterms:modified xsi:type="dcterms:W3CDTF">2024-10-04T06:36:57Z</dcterms:modified>
</cp:coreProperties>
</file>