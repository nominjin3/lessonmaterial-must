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408" r:id="rId2"/>
    <p:sldId id="348" r:id="rId3"/>
    <p:sldId id="257" r:id="rId4"/>
    <p:sldId id="380" r:id="rId5"/>
    <p:sldId id="381" r:id="rId6"/>
    <p:sldId id="382" r:id="rId7"/>
    <p:sldId id="383" r:id="rId8"/>
    <p:sldId id="384" r:id="rId9"/>
    <p:sldId id="259" r:id="rId10"/>
    <p:sldId id="387" r:id="rId11"/>
    <p:sldId id="385" r:id="rId12"/>
    <p:sldId id="386" r:id="rId13"/>
    <p:sldId id="388" r:id="rId14"/>
    <p:sldId id="389" r:id="rId15"/>
    <p:sldId id="390" r:id="rId16"/>
    <p:sldId id="391" r:id="rId17"/>
    <p:sldId id="392" r:id="rId18"/>
    <p:sldId id="394" r:id="rId19"/>
    <p:sldId id="395" r:id="rId20"/>
    <p:sldId id="396" r:id="rId21"/>
    <p:sldId id="397" r:id="rId22"/>
    <p:sldId id="393" r:id="rId23"/>
    <p:sldId id="398" r:id="rId24"/>
    <p:sldId id="401" r:id="rId25"/>
    <p:sldId id="400" r:id="rId26"/>
    <p:sldId id="402" r:id="rId27"/>
    <p:sldId id="403" r:id="rId28"/>
    <p:sldId id="404" r:id="rId29"/>
    <p:sldId id="406" r:id="rId30"/>
    <p:sldId id="379" r:id="rId31"/>
    <p:sldId id="286" r:id="rId32"/>
  </p:sldIdLst>
  <p:sldSz cx="12192000" cy="6858000"/>
  <p:notesSz cx="7315200" cy="96012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2408" autoAdjust="0"/>
  </p:normalViewPr>
  <p:slideViewPr>
    <p:cSldViewPr snapToGrid="0">
      <p:cViewPr varScale="1">
        <p:scale>
          <a:sx n="102" d="100"/>
          <a:sy n="102" d="100"/>
        </p:scale>
        <p:origin x="9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C622D43-C65E-428A-89C7-8C19C0C28B05}" type="datetimeFigureOut">
              <a:rPr lang="en-US" smtClean="0"/>
              <a:t>2/25/2025</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a:t>
            </a:fld>
            <a:endParaRPr lang="en-US" dirty="0"/>
          </a:p>
        </p:txBody>
      </p:sp>
    </p:spTree>
    <p:extLst>
      <p:ext uri="{BB962C8B-B14F-4D97-AF65-F5344CB8AC3E}">
        <p14:creationId xmlns:p14="http://schemas.microsoft.com/office/powerpoint/2010/main" val="411238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1834728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1058778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Одоогийн нөхцөл байдлыг шинжилсэний үндсэн дээр зорилго зорилтуудаа болон эдгээр зорилго зоритууддаа хүрэх арга зам буюу стратегийг тодорхойлно. </a:t>
            </a:r>
          </a:p>
          <a:p>
            <a:r>
              <a:rPr lang="mn-MN" dirty="0"/>
              <a:t>Зорилго – уулын орой</a:t>
            </a:r>
          </a:p>
          <a:p>
            <a:r>
              <a:rPr lang="mn-MN" dirty="0"/>
              <a:t>Стратеги – уулын оройд хүрэх зам.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273759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2134921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Маркетингийн төлөвлөгөө нь тодорхой нэг бизнес, бүтээгдэхүүн, брэндийн хувьд хийгдэх боломжтой.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1085486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1653" indent="-241653">
              <a:buFont typeface="+mj-lt"/>
              <a:buAutoNum type="arabicPeriod"/>
            </a:pPr>
            <a:r>
              <a:rPr lang="mn-MN" b="1" dirty="0"/>
              <a:t>Товч хураангуй </a:t>
            </a:r>
            <a:r>
              <a:rPr lang="mn-MN" dirty="0"/>
              <a:t>– Маркетингийн төлөвлөгөө нь товч агуулгыг илтгэсэн, үндсэн зорилго, стратеги, санал зөвлөмжийг тусгасан товч хураангуйгээр эхлэнэ. Товч хураангуйн дараа төлөвлөгөөний агуулга бичигдэнэ.</a:t>
            </a:r>
          </a:p>
          <a:p>
            <a:pPr marL="241653" indent="-241653">
              <a:buFont typeface="+mj-lt"/>
              <a:buAutoNum type="arabicPeriod"/>
            </a:pPr>
            <a:r>
              <a:rPr lang="mn-MN" b="1" dirty="0"/>
              <a:t>Нөхцөл байдлын судалгаа </a:t>
            </a:r>
            <a:r>
              <a:rPr lang="mn-MN" dirty="0"/>
              <a:t>– Энэ хэсэгт макро болон микро орчны тухай мэдээлэл байна. Тухайлбал микро орчны хүрээнд зах зээлийн өрсөлдөөн, нийлүүлэгчид ба хэрэглэгчдийн талаарх мэдээлэл, борлуулалт, үнэ, бүтээгдэхүүн, хуваарилалт, идэвхжүүлэлтийн талаар компаний бодлого одоогийн нөхцөл байдал тусгагдана. Макро орчны хүрээнд байгууллагын үйл ажиллагаанд нөлөөлөх эдийн засаг, улс төр, эрх зүй, хүн ам зүй, байгаль орчин, технологийн хүчин зүйлсийн тухай мэдээлэл цуглуулах шаардлагатай. Энэ хэсэгт цуглуулсан мэдээлэл дээр үндэслэн нөхцөл байдлын шинжилгээг гүйцэтгэнэ.</a:t>
            </a:r>
          </a:p>
          <a:p>
            <a:pPr marL="241653" indent="-241653">
              <a:buFont typeface="+mj-lt"/>
              <a:buAutoNum type="arabicPeriod"/>
            </a:pPr>
            <a:r>
              <a:rPr lang="mn-MN" b="1" dirty="0"/>
              <a:t>Нөхцөл байдлын шинжилгээ </a:t>
            </a:r>
            <a:r>
              <a:rPr lang="mn-MN" dirty="0"/>
              <a:t>– Өмнөх хэсэгт цуглуулсан мэдээлэлд шинжилгээ хийснээр байгууллагын давуу болон сул талуудыг, гадны аюул занал, боломжуудын хамтаар тодорхойлно. Нөхцөл байдлын шинжилгээнд түгээмэл хэрэглэгдэх </a:t>
            </a:r>
            <a:r>
              <a:rPr lang="en-US" dirty="0"/>
              <a:t>SWOT </a:t>
            </a:r>
            <a:r>
              <a:rPr lang="mn-MN" dirty="0"/>
              <a:t>шинжилгээнд байгууллагын хамгийн чухал гэж үзсэн ашиглаж болох давуу талууд, арилгах сул талууд, саад болж буй гадны аюул занал, ашиг авчрах боломжуудыг тусгах хэрэгтэй.</a:t>
            </a:r>
          </a:p>
          <a:p>
            <a:pPr marL="241653" indent="-241653">
              <a:buFont typeface="+mj-lt"/>
              <a:buAutoNum type="arabicPeriod"/>
            </a:pPr>
            <a:r>
              <a:rPr lang="mn-MN" b="1" dirty="0"/>
              <a:t>Зорилго, зорилтууд </a:t>
            </a:r>
            <a:r>
              <a:rPr lang="mn-MN" dirty="0"/>
              <a:t>– Нөхцөл байдалд хийсэн шинжилгээний үр дүнд тулгуурлан зорилго, зорилтуудаа тодорхойлно. Зорилтот борлуулалтын хэмжээ, зах зээлд эзлэх хувь, ашиг зэрэг үзүүлэлтүүдийг ашиглана.</a:t>
            </a:r>
          </a:p>
          <a:p>
            <a:pPr marL="241653" indent="-241653">
              <a:buFont typeface="+mj-lt"/>
              <a:buAutoNum type="arabicPeriod"/>
            </a:pPr>
            <a:r>
              <a:rPr lang="mn-MN" b="1" dirty="0"/>
              <a:t>Баримтлах стратеги </a:t>
            </a:r>
            <a:r>
              <a:rPr lang="mn-MN" dirty="0"/>
              <a:t>– Маркетингийн төлөвлөгөөний энэ хэсэгт менежер зорилтот зах зээлийн сегментүүд, тэдгээрийн онцлог шинжүүдийг тодорхойлон зорилгодоо хүрэхийн тулд ямар арга зам баримтлахаа боловсруулна. Маркетингийн стратеги нь дараах асуудлуудыг хамрана. Үүнд:</a:t>
            </a:r>
          </a:p>
          <a:p>
            <a:pPr marL="181240" indent="-181240">
              <a:buFont typeface="Arial" panose="020B0604020202020204" pitchFamily="34" charset="0"/>
              <a:buChar char="•"/>
            </a:pPr>
            <a:r>
              <a:rPr lang="mn-MN" dirty="0"/>
              <a:t>Зорилтот зах зээл (Бидний хэрэглэгч хэн бэ? Тэд юу хүсэж байна?)</a:t>
            </a:r>
          </a:p>
          <a:p>
            <a:pPr marL="181240" indent="-181240">
              <a:buFont typeface="Arial" panose="020B0604020202020204" pitchFamily="34" charset="0"/>
              <a:buChar char="•"/>
            </a:pPr>
            <a:r>
              <a:rPr lang="mn-MN" dirty="0"/>
              <a:t>Өрсөлдөгчид (Бидний өрсөлдөгчид хэн бэ? Тэд ямар бодлого баримталж байна вэ? Бид яах вэ?)</a:t>
            </a:r>
          </a:p>
          <a:p>
            <a:pPr marL="181240" indent="-181240">
              <a:buFont typeface="Arial" panose="020B0604020202020204" pitchFamily="34" charset="0"/>
              <a:buChar char="•"/>
            </a:pPr>
            <a:r>
              <a:rPr lang="mn-MN" dirty="0"/>
              <a:t>Бүтээгдэхүүний хоногшуулалт (Бүтээгдэхүүнээ зорилтот хэрэглэгчдийн ухамсарт ямар онцлог шинжээр нь хэрхэн хоногшуулах вэ?)</a:t>
            </a:r>
          </a:p>
          <a:p>
            <a:pPr marL="181240" indent="-181240">
              <a:buFont typeface="Arial" panose="020B0604020202020204" pitchFamily="34" charset="0"/>
              <a:buChar char="•"/>
            </a:pPr>
            <a:r>
              <a:rPr lang="mn-MN" dirty="0"/>
              <a:t>Маркетингийн иж бүрдэл</a:t>
            </a:r>
          </a:p>
          <a:p>
            <a:pPr marL="664546" lvl="1" indent="-181240">
              <a:buFont typeface="Arial" panose="020B0604020202020204" pitchFamily="34" charset="0"/>
              <a:buChar char="•"/>
            </a:pPr>
            <a:r>
              <a:rPr lang="mn-MN" dirty="0"/>
              <a:t>Бүтээгдэхүүн- Ямар бүтээгдэхүүн байх вэ?</a:t>
            </a:r>
          </a:p>
          <a:p>
            <a:pPr marL="664546" lvl="1" indent="-181240">
              <a:buFont typeface="Arial" panose="020B0604020202020204" pitchFamily="34" charset="0"/>
              <a:buChar char="•"/>
            </a:pPr>
            <a:r>
              <a:rPr lang="mn-MN" dirty="0"/>
              <a:t>Үнэ- Бүтээгдэхүүн ямар үнэтэй байх вэ?</a:t>
            </a:r>
          </a:p>
          <a:p>
            <a:pPr marL="664546" lvl="1" indent="-181240">
              <a:buFont typeface="Arial" panose="020B0604020202020204" pitchFamily="34" charset="0"/>
              <a:buChar char="•"/>
            </a:pPr>
            <a:r>
              <a:rPr lang="mn-MN" dirty="0"/>
              <a:t>Хуваарилалт- Бүтээгдэхүүнийг хэрэглэгчдэд хэрхэн хүргэх вэ? </a:t>
            </a:r>
          </a:p>
          <a:p>
            <a:pPr marL="664546" lvl="1" indent="-181240">
              <a:buFont typeface="Arial" panose="020B0604020202020204" pitchFamily="34" charset="0"/>
              <a:buChar char="•"/>
            </a:pPr>
            <a:r>
              <a:rPr lang="mn-MN" dirty="0"/>
              <a:t>Идэвхжүүлэлт- Бүтээгдэхүүнийг хэрэглэгчдэд хэрхэн таниулж, худалдан авалт хийхэд нь ятгаж, сануулах вэ?</a:t>
            </a:r>
          </a:p>
          <a:p>
            <a:r>
              <a:rPr lang="mn-MN" b="1" dirty="0"/>
              <a:t>6. Үйл ажиллагааны хөтөлбөр </a:t>
            </a:r>
            <a:r>
              <a:rPr lang="mn-MN" dirty="0"/>
              <a:t>– Маркетингийн стратегийг тодорхойлсны дараа ямар ажил хийж гүйцэтгэх, хэзээ хийж гүйцэтгэх, хэн гүйцэтгэх зэрэг асуудлуудыг нарийвчилж тусгасан үил ажиллагааны хөтөлбөр гаргана.</a:t>
            </a:r>
          </a:p>
          <a:p>
            <a:r>
              <a:rPr lang="mn-MN" b="1" dirty="0"/>
              <a:t>7. Төсөв </a:t>
            </a:r>
            <a:r>
              <a:rPr lang="mn-MN" dirty="0"/>
              <a:t>– Үйл ажиллагааны төлөвлөгөө нь госов годорхойлоход туслана. Бүтээгдэхүүний дундаж үнэ ба борлуулалтын таамаглал дээр гулгуурлан борлуулалтын орлогын хэмжээг урьдчилсан байдлаар гаргана. Төлөвлөгөөний дагуу зардлуудаа тооцож, толөвлөсөн борлуулалтын орлогоос хассанаар урьдчилсан байдлаар ашгаа тооцно. Байгууллагын Удирдлагаар батлуулсан гөсөв нь цаашдын үйл ажиллагааны үндэс суурь нь болно.</a:t>
            </a:r>
          </a:p>
          <a:p>
            <a:r>
              <a:rPr lang="mn-MN" b="1" dirty="0"/>
              <a:t>8. Хяналт. </a:t>
            </a:r>
            <a:r>
              <a:rPr lang="mn-MN" dirty="0"/>
              <a:t>Маркетингийн төлөвлөогөөний сүүлийн хэсэгт төлөвлөгөөний биелэлтэнд тавих хяналтыг тусгана. Компаний удирдлага сар, улирал эсвэл жилийн сүүлээр төлөвлөгөөний биелэлтэнд хяналт тавьж шаардлагатай бол засаж залруулах арга хэмжээ авна.</a:t>
            </a:r>
          </a:p>
          <a:p>
            <a:endParaRPr lang="mn-MN" dirty="0"/>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880647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1657626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3660206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B2E8B-83CA-BF77-1833-74650FD24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A985C-A14A-600D-BCB7-97E18C5DBB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19E0A-4988-DF7A-314B-45080A2184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D4BFB9-873A-B882-7D61-D1B836FA2977}"/>
              </a:ext>
            </a:extLst>
          </p:cNvPr>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570191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1007636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4229233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3987137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12566353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26808779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2073100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1107991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264827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1975965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1715069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42597555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4198681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3515670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2189071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27897508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16C2C-99C5-F3BA-A3E3-5897FBDB76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DCA58-8C23-2180-8EBF-578EF15704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7F1D4-35A4-8369-9250-FF1EBC3122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DEE7B-1F7E-9F19-C508-1483220E6494}"/>
              </a:ext>
            </a:extLst>
          </p:cNvPr>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41303828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D222-83ED-AC25-DEE2-C321DD2B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3FCAA-9213-B3AC-A3FF-E9F7FAEA3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C864B-FE9D-517B-9EC4-BA0A507FED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F1918-1270-F5EA-E10D-6F28A799040E}"/>
              </a:ext>
            </a:extLst>
          </p:cNvPr>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18659261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46FD-D038-7418-8837-C79B3A98B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EADAB-A329-5F1E-7938-9FEDE9616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E16308-6809-66CD-379E-5594556F44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2E9F9D-292F-AC44-F31F-F457D70F1F1C}"/>
              </a:ext>
            </a:extLst>
          </p:cNvPr>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3302883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46758-BDB3-E9F5-D650-CF932ADFF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C727E-4873-34A7-2A16-0CFB0F287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60451-CE3F-90A9-48FC-BD22C54FCF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82C41F-6377-4D8C-D4EB-E85C517714BB}"/>
              </a:ext>
            </a:extLst>
          </p:cNvPr>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25891593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30</a:t>
            </a:fld>
            <a:endParaRPr lang="en-US" dirty="0"/>
          </a:p>
        </p:txBody>
      </p:sp>
    </p:spTree>
    <p:extLst>
      <p:ext uri="{BB962C8B-B14F-4D97-AF65-F5344CB8AC3E}">
        <p14:creationId xmlns:p14="http://schemas.microsoft.com/office/powerpoint/2010/main" val="1875634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31</a:t>
            </a:fld>
            <a:endParaRPr lang="en-US" dirty="0"/>
          </a:p>
        </p:txBody>
      </p:sp>
    </p:spTree>
    <p:extLst>
      <p:ext uri="{BB962C8B-B14F-4D97-AF65-F5344CB8AC3E}">
        <p14:creationId xmlns:p14="http://schemas.microsoft.com/office/powerpoint/2010/main" val="1101645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2/25/2025</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2/25/2025</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4490-C09C-F2C1-1BED-C30E9C6493C0}"/>
              </a:ext>
            </a:extLst>
          </p:cNvPr>
          <p:cNvSpPr>
            <a:spLocks noGrp="1"/>
          </p:cNvSpPr>
          <p:nvPr>
            <p:ph type="ctrTitle"/>
          </p:nvPr>
        </p:nvSpPr>
        <p:spPr>
          <a:xfrm>
            <a:off x="1523999" y="1823767"/>
            <a:ext cx="10195249" cy="1828799"/>
          </a:xfrm>
        </p:spPr>
        <p:txBody>
          <a:bodyPr>
            <a:noAutofit/>
          </a:bodyPr>
          <a:lstStyle/>
          <a:p>
            <a:r>
              <a:rPr lang="mn-MN" sz="4800" b="1" dirty="0">
                <a:solidFill>
                  <a:srgbClr val="002060"/>
                </a:solidFill>
                <a:latin typeface="Times New Roman" panose="02020603050405020304" pitchFamily="18" charset="0"/>
                <a:cs typeface="Times New Roman" panose="02020603050405020304" pitchFamily="18" charset="0"/>
              </a:rPr>
              <a:t>Лекц 4.</a:t>
            </a:r>
            <a:br>
              <a:rPr lang="en-US" sz="4800" b="1" dirty="0">
                <a:solidFill>
                  <a:srgbClr val="002060"/>
                </a:solidFill>
                <a:latin typeface="Times New Roman" panose="02020603050405020304" pitchFamily="18" charset="0"/>
                <a:cs typeface="Times New Roman" panose="02020603050405020304" pitchFamily="18" charset="0"/>
              </a:rPr>
            </a:br>
            <a:r>
              <a:rPr lang="mn-MN" b="1" dirty="0">
                <a:solidFill>
                  <a:srgbClr val="002060"/>
                </a:solidFill>
                <a:latin typeface="Times New Roman" panose="02020603050405020304" pitchFamily="18" charset="0"/>
                <a:cs typeface="Times New Roman" panose="02020603050405020304" pitchFamily="18" charset="0"/>
              </a:rPr>
              <a:t>Маркетингийн төлөвлөгөө ба борлуулалтын таамаглал</a:t>
            </a:r>
            <a:endParaRPr lang="en-US" sz="4800" b="1"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84687C9-0602-4AB3-C68B-47EB63DFD361}"/>
              </a:ext>
            </a:extLst>
          </p:cNvPr>
          <p:cNvSpPr>
            <a:spLocks noGrp="1"/>
          </p:cNvSpPr>
          <p:nvPr>
            <p:ph type="subTitle" idx="1"/>
          </p:nvPr>
        </p:nvSpPr>
        <p:spPr>
          <a:xfrm>
            <a:off x="1524000" y="5497475"/>
            <a:ext cx="9144000" cy="871267"/>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ШУТИС-ийн МХТС, холбооны салбарын багш Ц.Балжинням</a:t>
            </a:r>
          </a:p>
          <a:p>
            <a:r>
              <a:rPr lang="mn-MN" dirty="0">
                <a:solidFill>
                  <a:srgbClr val="002060"/>
                </a:solidFill>
                <a:latin typeface="Times New Roman" panose="02020603050405020304" pitchFamily="18" charset="0"/>
                <a:cs typeface="Times New Roman" panose="02020603050405020304" pitchFamily="18" charset="0"/>
              </a:rPr>
              <a:t>Улаанбаатар хот. 2023-24.Хавар.</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AB551975-1CE2-308D-D250-4B65BD2EFC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458" y="16278"/>
            <a:ext cx="4957464" cy="136394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493B6D6-2330-40E5-BEBE-D3505B39EAF9}"/>
              </a:ext>
            </a:extLst>
          </p:cNvPr>
          <p:cNvSpPr txBox="1">
            <a:spLocks/>
          </p:cNvSpPr>
          <p:nvPr/>
        </p:nvSpPr>
        <p:spPr>
          <a:xfrm>
            <a:off x="1751012" y="3905250"/>
            <a:ext cx="8689976" cy="133954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a:t>
            </a:r>
            <a:r>
              <a:rPr lang="ru-RU"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a:t>
            </a: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EEM101  </a:t>
            </a:r>
            <a:b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Инженерчлэлийн эдийн засаг</a:t>
            </a:r>
            <a:br>
              <a:rPr lang="mn-MN"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32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3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745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47735" y="108172"/>
            <a:ext cx="11814110" cy="787567"/>
          </a:xfrm>
        </p:spPr>
        <p:txBody>
          <a:bodyPr>
            <a:normAutofit fontScale="90000"/>
          </a:bodyPr>
          <a:lstStyle/>
          <a:p>
            <a:r>
              <a:rPr lang="mn-MN" sz="4000"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b="1" dirty="0">
                <a:solidFill>
                  <a:srgbClr val="002060"/>
                </a:solidFill>
                <a:latin typeface="Times New Roman" panose="02020603050405020304" pitchFamily="18" charset="0"/>
                <a:cs typeface="Times New Roman" panose="02020603050405020304" pitchFamily="18" charset="0"/>
              </a:rPr>
            </a:br>
            <a:r>
              <a:rPr lang="mn-MN" sz="27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150830993"/>
              </p:ext>
            </p:extLst>
          </p:nvPr>
        </p:nvGraphicFramePr>
        <p:xfrm>
          <a:off x="192833" y="1036041"/>
          <a:ext cx="11814110" cy="5468499"/>
        </p:xfrm>
        <a:graphic>
          <a:graphicData uri="http://schemas.openxmlformats.org/drawingml/2006/table">
            <a:tbl>
              <a:tblPr firstRow="1" bandRow="1">
                <a:tableStyleId>{5C22544A-7EE6-4342-B048-85BDC9FD1C3A}</a:tableStyleId>
              </a:tblPr>
              <a:tblGrid>
                <a:gridCol w="729857">
                  <a:extLst>
                    <a:ext uri="{9D8B030D-6E8A-4147-A177-3AD203B41FA5}">
                      <a16:colId xmlns:a16="http://schemas.microsoft.com/office/drawing/2014/main" val="78146492"/>
                    </a:ext>
                  </a:extLst>
                </a:gridCol>
                <a:gridCol w="5053761">
                  <a:extLst>
                    <a:ext uri="{9D8B030D-6E8A-4147-A177-3AD203B41FA5}">
                      <a16:colId xmlns:a16="http://schemas.microsoft.com/office/drawing/2014/main" val="2993372031"/>
                    </a:ext>
                  </a:extLst>
                </a:gridCol>
                <a:gridCol w="2624976">
                  <a:extLst>
                    <a:ext uri="{9D8B030D-6E8A-4147-A177-3AD203B41FA5}">
                      <a16:colId xmlns:a16="http://schemas.microsoft.com/office/drawing/2014/main" val="3377302877"/>
                    </a:ext>
                  </a:extLst>
                </a:gridCol>
                <a:gridCol w="2106864">
                  <a:extLst>
                    <a:ext uri="{9D8B030D-6E8A-4147-A177-3AD203B41FA5}">
                      <a16:colId xmlns:a16="http://schemas.microsoft.com/office/drawing/2014/main" val="574671118"/>
                    </a:ext>
                  </a:extLst>
                </a:gridCol>
                <a:gridCol w="1298652">
                  <a:extLst>
                    <a:ext uri="{9D8B030D-6E8A-4147-A177-3AD203B41FA5}">
                      <a16:colId xmlns:a16="http://schemas.microsoft.com/office/drawing/2014/main" val="1155244748"/>
                    </a:ext>
                  </a:extLst>
                </a:gridCol>
              </a:tblGrid>
              <a:tr h="830081">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үр.дүнтүвшин</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4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90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1168527">
                <a:tc>
                  <a:txBody>
                    <a:bodyPr/>
                    <a:lstStyle/>
                    <a:p>
                      <a:pPr algn="ctr">
                        <a:lnSpc>
                          <a:spcPct val="90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Төлөвлөлт, стратегийн болон маркетингийн төлөвлөлт, түүний үндсэн ойлголтуудыг ойлгох, </a:t>
                      </a:r>
                      <a:r>
                        <a:rPr lang="mn-MN" altLang="en-US" sz="2400" kern="1200" dirty="0">
                          <a:solidFill>
                            <a:srgbClr val="002060"/>
                          </a:solidFill>
                          <a:latin typeface="Times New Roman" panose="02020603050405020304" pitchFamily="18" charset="0"/>
                          <a:ea typeface="+mn-ea"/>
                          <a:cs typeface="Times New Roman" panose="02020603050405020304" pitchFamily="18" charset="0"/>
                        </a:rPr>
                        <a:t>тайлбарлах, хэрэглэх. </a:t>
                      </a:r>
                      <a:endParaRPr lang="en-US" sz="2400" kern="1200" dirty="0">
                        <a:solidFill>
                          <a:srgbClr val="002060"/>
                        </a:solidFill>
                        <a:latin typeface="Times New Roman" panose="02020603050405020304" pitchFamily="18" charset="0"/>
                        <a:ea typeface="+mn-ea"/>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3954028067"/>
                  </a:ext>
                </a:extLst>
              </a:tr>
              <a:tr h="859923">
                <a:tc>
                  <a:txBody>
                    <a:bodyPr/>
                    <a:lstStyle/>
                    <a:p>
                      <a:pPr algn="ctr">
                        <a:lnSpc>
                          <a:spcPct val="90000"/>
                        </a:lnSpc>
                        <a:spcAft>
                          <a:spcPts val="0"/>
                        </a:spcAft>
                      </a:pPr>
                      <a:r>
                        <a:rPr lang="en-US" sz="240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Маркетингийн төлөвлөгөө, түүний үе шатуудыг ойлгох, </a:t>
                      </a:r>
                      <a:r>
                        <a:rPr lang="mn-MN" altLang="en-US" sz="2400" kern="1200" dirty="0">
                          <a:solidFill>
                            <a:srgbClr val="002060"/>
                          </a:solidFill>
                          <a:latin typeface="Times New Roman" panose="02020603050405020304" pitchFamily="18" charset="0"/>
                          <a:ea typeface="+mn-ea"/>
                          <a:cs typeface="Times New Roman" panose="02020603050405020304" pitchFamily="18" charset="0"/>
                        </a:rPr>
                        <a:t>тайлбарлах, хэрэглэх. </a:t>
                      </a:r>
                      <a:endParaRPr lang="en-US" sz="2400" kern="1200" dirty="0">
                        <a:solidFill>
                          <a:srgbClr val="002060"/>
                        </a:solidFill>
                        <a:latin typeface="Times New Roman" panose="02020603050405020304" pitchFamily="18" charset="0"/>
                        <a:ea typeface="+mn-ea"/>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 </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491289944"/>
                  </a:ext>
                </a:extLst>
              </a:tr>
              <a:tr h="1168527">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just">
                        <a:lnSpc>
                          <a:spcPct val="90000"/>
                        </a:lnSpc>
                      </a:pPr>
                      <a:r>
                        <a:rPr lang="mn-MN" sz="2400" dirty="0">
                          <a:solidFill>
                            <a:srgbClr val="002060"/>
                          </a:solidFill>
                          <a:latin typeface="Times New Roman" panose="02020603050405020304" pitchFamily="18" charset="0"/>
                          <a:cs typeface="Times New Roman" panose="02020603050405020304" pitchFamily="18" charset="0"/>
                        </a:rPr>
                        <a:t>Зах зээл, зах зээлийн таамаглал, борлуулалтын таамаглал хийх аргуудыг ойлгох </a:t>
                      </a:r>
                      <a:r>
                        <a:rPr lang="mn-MN" altLang="en-US" sz="2400" dirty="0">
                          <a:solidFill>
                            <a:srgbClr val="002060"/>
                          </a:solidFill>
                          <a:latin typeface="Times New Roman" panose="02020603050405020304" pitchFamily="18" charset="0"/>
                          <a:cs typeface="Times New Roman" panose="02020603050405020304" pitchFamily="18" charset="0"/>
                        </a:rPr>
                        <a:t>тайлбарлах, хэрэглэх, тооцоолох.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Тооцоолох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(Compute)</a:t>
                      </a: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Шинжлэх</a:t>
                      </a: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a:t>
                      </a: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p>
                  </a:txBody>
                  <a:tcPr marL="68586" marR="68586" marT="0" marB="0" anchor="ctr">
                    <a:solidFill>
                      <a:schemeClr val="accent1">
                        <a:lumMod val="20000"/>
                        <a:lumOff val="80000"/>
                      </a:schemeClr>
                    </a:solidFill>
                  </a:tcPr>
                </a:tc>
                <a:extLst>
                  <a:ext uri="{0D108BD9-81ED-4DB2-BD59-A6C34878D82A}">
                    <a16:rowId xmlns:a16="http://schemas.microsoft.com/office/drawing/2014/main" val="3810878109"/>
                  </a:ext>
                </a:extLst>
              </a:tr>
              <a:tr h="859923">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mn-MN" sz="2400" dirty="0">
                          <a:solidFill>
                            <a:srgbClr val="002060"/>
                          </a:solidFill>
                          <a:latin typeface="Times New Roman" panose="02020603050405020304" pitchFamily="18" charset="0"/>
                          <a:cs typeface="Times New Roman" panose="02020603050405020304" pitchFamily="18" charset="0"/>
                        </a:rPr>
                        <a:t>Маркетингийн иж бүрдлийг ойлгох, тайлбарлах, </a:t>
                      </a:r>
                      <a:r>
                        <a:rPr lang="mn-MN" altLang="en-US" sz="2400" dirty="0">
                          <a:solidFill>
                            <a:srgbClr val="002060"/>
                          </a:solidFill>
                          <a:latin typeface="Times New Roman" panose="02020603050405020304" pitchFamily="18" charset="0"/>
                          <a:cs typeface="Times New Roman" panose="02020603050405020304" pitchFamily="18" charset="0"/>
                        </a:rPr>
                        <a:t>хэрэглэх</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90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endPar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90000"/>
                        </a:lnSpc>
                        <a:spcAft>
                          <a:spcPts val="0"/>
                        </a:spcAft>
                      </a:pPr>
                      <a:r>
                        <a:rPr lang="en-US"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(Apply)</a:t>
                      </a: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kern="12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Хэрэглэх</a:t>
                      </a: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90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1, 3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85057" y="58534"/>
            <a:ext cx="11821886" cy="528626"/>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Хичээлийн агуулга </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85057" y="587160"/>
            <a:ext cx="5910943" cy="6102889"/>
          </a:xfrm>
        </p:spPr>
        <p:txBody>
          <a:bodyPr>
            <a:normAutofit fontScale="92500" lnSpcReduction="20000"/>
          </a:bodyPr>
          <a:lstStyle/>
          <a:p>
            <a:pPr algn="just"/>
            <a:r>
              <a:rPr lang="mn-MN" sz="3200" dirty="0">
                <a:solidFill>
                  <a:srgbClr val="002060"/>
                </a:solidFill>
                <a:latin typeface="Times New Roman" panose="02020603050405020304" pitchFamily="18" charset="0"/>
                <a:cs typeface="Times New Roman" panose="02020603050405020304" pitchFamily="18" charset="0"/>
              </a:rPr>
              <a:t>Төлөвлөлт, нэр томъёо, тодорхойлолт, стратегийн болон маркетингийн төлөвлөлт</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Маркетингийн төлөвлөгөө</a:t>
            </a:r>
          </a:p>
          <a:p>
            <a:pPr algn="just"/>
            <a:r>
              <a:rPr lang="mn-MN" sz="3200" dirty="0">
                <a:solidFill>
                  <a:srgbClr val="002060"/>
                </a:solidFill>
                <a:latin typeface="Times New Roman" panose="02020603050405020304" pitchFamily="18" charset="0"/>
                <a:cs typeface="Times New Roman" panose="02020603050405020304" pitchFamily="18" charset="0"/>
              </a:rPr>
              <a:t>Зах зээл, зах зээлийн таамаглал</a:t>
            </a:r>
          </a:p>
          <a:p>
            <a:pPr algn="just"/>
            <a:r>
              <a:rPr lang="mn-MN" sz="3200" dirty="0">
                <a:solidFill>
                  <a:srgbClr val="002060"/>
                </a:solidFill>
                <a:latin typeface="Times New Roman" panose="02020603050405020304" pitchFamily="18" charset="0"/>
                <a:cs typeface="Times New Roman" panose="02020603050405020304" pitchFamily="18" charset="0"/>
              </a:rPr>
              <a:t>Борлуулалтын таамаглал хийх аргууд</a:t>
            </a:r>
          </a:p>
          <a:p>
            <a:pPr lvl="1" algn="just"/>
            <a:r>
              <a:rPr lang="mn-MN" sz="2800" dirty="0">
                <a:solidFill>
                  <a:srgbClr val="002060"/>
                </a:solidFill>
                <a:latin typeface="Times New Roman" panose="02020603050405020304" pitchFamily="18" charset="0"/>
                <a:cs typeface="Times New Roman" panose="02020603050405020304" pitchFamily="18" charset="0"/>
              </a:rPr>
              <a:t>Борлуулалтыг таамаглах чанарын арга </a:t>
            </a:r>
          </a:p>
          <a:p>
            <a:pPr lvl="1" algn="just"/>
            <a:r>
              <a:rPr lang="mn-MN" sz="2800" dirty="0">
                <a:solidFill>
                  <a:srgbClr val="002060"/>
                </a:solidFill>
                <a:latin typeface="Times New Roman" panose="02020603050405020304" pitchFamily="18" charset="0"/>
                <a:cs typeface="Times New Roman" panose="02020603050405020304" pitchFamily="18" charset="0"/>
              </a:rPr>
              <a:t>Борлуулалтыг таамаглах тоон аргууд</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Маркетингийн иж бүрдэл</a:t>
            </a:r>
          </a:p>
          <a:p>
            <a:pPr lvl="1" algn="just"/>
            <a:r>
              <a:rPr lang="mn-MN" sz="2800" dirty="0">
                <a:solidFill>
                  <a:srgbClr val="002060"/>
                </a:solidFill>
                <a:latin typeface="Times New Roman" panose="02020603050405020304" pitchFamily="18" charset="0"/>
                <a:cs typeface="Times New Roman" panose="02020603050405020304" pitchFamily="18" charset="0"/>
              </a:rPr>
              <a:t>Бүтээгдэхүүний бодлого</a:t>
            </a:r>
          </a:p>
          <a:p>
            <a:pPr lvl="1" algn="just"/>
            <a:r>
              <a:rPr lang="mn-MN" sz="2800" dirty="0">
                <a:solidFill>
                  <a:srgbClr val="002060"/>
                </a:solidFill>
                <a:latin typeface="Times New Roman" panose="02020603050405020304" pitchFamily="18" charset="0"/>
                <a:cs typeface="Times New Roman" panose="02020603050405020304" pitchFamily="18" charset="0"/>
              </a:rPr>
              <a:t>Үнийн бодлого</a:t>
            </a:r>
          </a:p>
          <a:p>
            <a:pPr lvl="1" algn="just"/>
            <a:r>
              <a:rPr lang="mn-MN" sz="2800" dirty="0">
                <a:solidFill>
                  <a:srgbClr val="002060"/>
                </a:solidFill>
                <a:latin typeface="Times New Roman" panose="02020603050405020304" pitchFamily="18" charset="0"/>
                <a:cs typeface="Times New Roman" panose="02020603050405020304" pitchFamily="18" charset="0"/>
              </a:rPr>
              <a:t>Идэвхижүүлэлтийн бодлого</a:t>
            </a:r>
          </a:p>
          <a:p>
            <a:pPr lvl="1" algn="just"/>
            <a:r>
              <a:rPr lang="mn-MN" sz="2800" dirty="0">
                <a:solidFill>
                  <a:srgbClr val="002060"/>
                </a:solidFill>
                <a:latin typeface="Times New Roman" panose="02020603050405020304" pitchFamily="18" charset="0"/>
                <a:cs typeface="Times New Roman" panose="02020603050405020304" pitchFamily="18" charset="0"/>
              </a:rPr>
              <a:t>Хуваарилалтын бодлого</a:t>
            </a:r>
          </a:p>
        </p:txBody>
      </p:sp>
      <p:pic>
        <p:nvPicPr>
          <p:cNvPr id="4" name="Picture 3" descr="PPT - Restaurant Operations PowerPoint Presentation, free download - ID ...">
            <a:extLst>
              <a:ext uri="{FF2B5EF4-FFF2-40B4-BE49-F238E27FC236}">
                <a16:creationId xmlns:a16="http://schemas.microsoft.com/office/drawing/2014/main" id="{5ECA8703-7455-C6F1-4175-FC91C1A531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471" t="4383" r="23179" b="15097"/>
          <a:stretch/>
        </p:blipFill>
        <p:spPr bwMode="auto">
          <a:xfrm>
            <a:off x="6096000" y="58534"/>
            <a:ext cx="2193471" cy="24371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Production forecast">
            <a:extLst>
              <a:ext uri="{FF2B5EF4-FFF2-40B4-BE49-F238E27FC236}">
                <a16:creationId xmlns:a16="http://schemas.microsoft.com/office/drawing/2014/main" id="{B8A1469C-A46B-7B59-D666-4593EF62BC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5158" y="4855192"/>
            <a:ext cx="2601684" cy="177490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las 4P del marketing">
            <a:extLst>
              <a:ext uri="{FF2B5EF4-FFF2-40B4-BE49-F238E27FC236}">
                <a16:creationId xmlns:a16="http://schemas.microsoft.com/office/drawing/2014/main" id="{91C385A1-CD65-DA71-24A8-DAEC79591C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6842" y="1866122"/>
            <a:ext cx="4727025"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FA7B2-93DD-ECF9-B3B0-087E03743E25}"/>
              </a:ext>
            </a:extLst>
          </p:cNvPr>
          <p:cNvSpPr>
            <a:spLocks noGrp="1"/>
          </p:cNvSpPr>
          <p:nvPr>
            <p:ph type="title"/>
          </p:nvPr>
        </p:nvSpPr>
        <p:spPr>
          <a:xfrm>
            <a:off x="155511" y="122533"/>
            <a:ext cx="11442624" cy="325336"/>
          </a:xfrm>
        </p:spPr>
        <p:txBody>
          <a:bodyPr>
            <a:noAutofit/>
          </a:bodyPr>
          <a:lstStyle/>
          <a:p>
            <a:r>
              <a:rPr lang="mn-MN" b="1" dirty="0">
                <a:solidFill>
                  <a:schemeClr val="accent2">
                    <a:lumMod val="75000"/>
                  </a:schemeClr>
                </a:solidFill>
                <a:latin typeface="Times New Roman" panose="02020603050405020304" pitchFamily="18" charset="0"/>
                <a:cs typeface="Times New Roman" panose="02020603050405020304" pitchFamily="18" charset="0"/>
              </a:rPr>
              <a:t>Өмнөх хичээлээс ...</a:t>
            </a:r>
            <a:endParaRPr lang="en-US"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626DC1-1AD9-8D70-7D4B-D1E57B217C43}"/>
              </a:ext>
            </a:extLst>
          </p:cNvPr>
          <p:cNvSpPr>
            <a:spLocks noGrp="1"/>
          </p:cNvSpPr>
          <p:nvPr>
            <p:ph idx="1"/>
          </p:nvPr>
        </p:nvSpPr>
        <p:spPr>
          <a:xfrm>
            <a:off x="143069" y="2687216"/>
            <a:ext cx="11905861" cy="4048251"/>
          </a:xfrm>
        </p:spPr>
        <p:txBody>
          <a:bodyPr>
            <a:normAutofit fontScale="92500"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Төлөвлөлт бол маркетингийн үндсэн чиг үүрэг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функц</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 –үүдийн нэг. </a:t>
            </a:r>
          </a:p>
          <a:p>
            <a:pPr algn="just"/>
            <a:r>
              <a:rPr lang="mn-MN" sz="3200" dirty="0">
                <a:solidFill>
                  <a:srgbClr val="002060"/>
                </a:solidFill>
                <a:latin typeface="Times New Roman" panose="02020603050405020304" pitchFamily="18" charset="0"/>
                <a:cs typeface="Times New Roman" panose="02020603050405020304" pitchFamily="18" charset="0"/>
              </a:rPr>
              <a:t>Аливаа үйл ажиллагааг төлөвлөхийн тулд нөхцөл байдлыг заавал </a:t>
            </a:r>
            <a:r>
              <a:rPr lang="mn-MN" sz="3200" b="1" dirty="0">
                <a:solidFill>
                  <a:srgbClr val="002060"/>
                </a:solidFill>
                <a:latin typeface="Times New Roman" panose="02020603050405020304" pitchFamily="18" charset="0"/>
                <a:cs typeface="Times New Roman" panose="02020603050405020304" pitchFamily="18" charset="0"/>
              </a:rPr>
              <a:t>судалж шинжилдэг.</a:t>
            </a:r>
          </a:p>
          <a:p>
            <a:pPr algn="just"/>
            <a:r>
              <a:rPr lang="mn-MN" sz="3200" dirty="0">
                <a:solidFill>
                  <a:srgbClr val="002060"/>
                </a:solidFill>
                <a:latin typeface="Times New Roman" panose="02020603050405020304" pitchFamily="18" charset="0"/>
                <a:cs typeface="Times New Roman" panose="02020603050405020304" pitchFamily="18" charset="0"/>
              </a:rPr>
              <a:t>Гадаад дотоод орчноо шинжилсэний үр дүнд цаашид юу хийхээ </a:t>
            </a:r>
            <a:r>
              <a:rPr lang="mn-MN" sz="3200" b="1" dirty="0">
                <a:solidFill>
                  <a:srgbClr val="002060"/>
                </a:solidFill>
                <a:latin typeface="Times New Roman" panose="02020603050405020304" pitchFamily="18" charset="0"/>
                <a:cs typeface="Times New Roman" panose="02020603050405020304" pitchFamily="18" charset="0"/>
              </a:rPr>
              <a:t>шийдэж</a:t>
            </a:r>
            <a:r>
              <a:rPr lang="mn-MN" sz="3200" dirty="0">
                <a:solidFill>
                  <a:srgbClr val="002060"/>
                </a:solidFill>
                <a:latin typeface="Times New Roman" panose="02020603050405020304" pitchFamily="18" charset="0"/>
                <a:cs typeface="Times New Roman" panose="02020603050405020304" pitchFamily="18" charset="0"/>
              </a:rPr>
              <a:t>, үйл ажиллагаагаа </a:t>
            </a:r>
            <a:r>
              <a:rPr lang="mn-MN" sz="3200" b="1" dirty="0">
                <a:solidFill>
                  <a:srgbClr val="002060"/>
                </a:solidFill>
                <a:latin typeface="Times New Roman" panose="02020603050405020304" pitchFamily="18" charset="0"/>
                <a:cs typeface="Times New Roman" panose="02020603050405020304" pitchFamily="18" charset="0"/>
              </a:rPr>
              <a:t>төлөвлөнө</a:t>
            </a:r>
            <a:r>
              <a:rPr lang="mn-MN" sz="3200" dirty="0">
                <a:solidFill>
                  <a:srgbClr val="002060"/>
                </a:solidFill>
                <a:latin typeface="Times New Roman" panose="02020603050405020304" pitchFamily="18" charset="0"/>
                <a:cs typeface="Times New Roman" panose="02020603050405020304" pitchFamily="18" charset="0"/>
              </a:rPr>
              <a:t>.</a:t>
            </a:r>
          </a:p>
          <a:p>
            <a:pPr algn="just"/>
            <a:r>
              <a:rPr lang="mn-MN" sz="3200" dirty="0">
                <a:solidFill>
                  <a:srgbClr val="002060"/>
                </a:solidFill>
                <a:latin typeface="Times New Roman" panose="02020603050405020304" pitchFamily="18" charset="0"/>
                <a:cs typeface="Times New Roman" panose="02020603050405020304" pitchFamily="18" charset="0"/>
              </a:rPr>
              <a:t>Төлөвлөснөө </a:t>
            </a:r>
            <a:r>
              <a:rPr lang="mn-MN" sz="3200" b="1" dirty="0">
                <a:solidFill>
                  <a:srgbClr val="002060"/>
                </a:solidFill>
                <a:latin typeface="Times New Roman" panose="02020603050405020304" pitchFamily="18" charset="0"/>
                <a:cs typeface="Times New Roman" panose="02020603050405020304" pitchFamily="18" charset="0"/>
              </a:rPr>
              <a:t>хэрэгжүүлнэ</a:t>
            </a:r>
            <a:r>
              <a:rPr lang="mn-MN" sz="3200" dirty="0">
                <a:solidFill>
                  <a:srgbClr val="002060"/>
                </a:solidFill>
                <a:latin typeface="Times New Roman" panose="02020603050405020304" pitchFamily="18" charset="0"/>
                <a:cs typeface="Times New Roman" panose="02020603050405020304" pitchFamily="18" charset="0"/>
              </a:rPr>
              <a:t>. </a:t>
            </a:r>
          </a:p>
          <a:p>
            <a:pPr algn="just"/>
            <a:r>
              <a:rPr lang="mn-MN" sz="3200" dirty="0">
                <a:solidFill>
                  <a:srgbClr val="002060"/>
                </a:solidFill>
                <a:latin typeface="Times New Roman" panose="02020603050405020304" pitchFamily="18" charset="0"/>
                <a:cs typeface="Times New Roman" panose="02020603050405020304" pitchFamily="18" charset="0"/>
              </a:rPr>
              <a:t>Хэрэгжсэний явцад болон дараа </a:t>
            </a:r>
            <a:r>
              <a:rPr lang="mn-MN" sz="3200" b="1" dirty="0">
                <a:solidFill>
                  <a:srgbClr val="002060"/>
                </a:solidFill>
                <a:latin typeface="Times New Roman" panose="02020603050405020304" pitchFamily="18" charset="0"/>
                <a:cs typeface="Times New Roman" panose="02020603050405020304" pitchFamily="18" charset="0"/>
              </a:rPr>
              <a:t>хянана</a:t>
            </a:r>
            <a:r>
              <a:rPr lang="mn-MN" sz="3200" dirty="0">
                <a:solidFill>
                  <a:srgbClr val="002060"/>
                </a:solidFill>
                <a:latin typeface="Times New Roman" panose="02020603050405020304" pitchFamily="18" charset="0"/>
                <a:cs typeface="Times New Roman" panose="02020603050405020304" pitchFamily="18" charset="0"/>
              </a:rPr>
              <a:t>. Шаардлагатай бол төлөвлөгөөнд нэмэлт, өөрчлөлт оруулах, сайжруулах арга хэмжээ авна. </a:t>
            </a:r>
          </a:p>
        </p:txBody>
      </p:sp>
      <p:pic>
        <p:nvPicPr>
          <p:cNvPr id="32" name="Picture 31">
            <a:extLst>
              <a:ext uri="{FF2B5EF4-FFF2-40B4-BE49-F238E27FC236}">
                <a16:creationId xmlns:a16="http://schemas.microsoft.com/office/drawing/2014/main" id="{DBBE51B4-7111-9350-6C1F-A351CF732EA8}"/>
              </a:ext>
            </a:extLst>
          </p:cNvPr>
          <p:cNvPicPr>
            <a:picLocks noChangeAspect="1"/>
          </p:cNvPicPr>
          <p:nvPr/>
        </p:nvPicPr>
        <p:blipFill>
          <a:blip r:embed="rId3"/>
          <a:stretch>
            <a:fillRect/>
          </a:stretch>
        </p:blipFill>
        <p:spPr>
          <a:xfrm>
            <a:off x="74646" y="447870"/>
            <a:ext cx="12117354" cy="2239346"/>
          </a:xfrm>
          <a:prstGeom prst="rect">
            <a:avLst/>
          </a:prstGeom>
        </p:spPr>
      </p:pic>
    </p:spTree>
    <p:extLst>
      <p:ext uri="{BB962C8B-B14F-4D97-AF65-F5344CB8AC3E}">
        <p14:creationId xmlns:p14="http://schemas.microsoft.com/office/powerpoint/2010/main" val="3722878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7B7FB-7661-B5C9-0CFD-DF6DA0BB3664}"/>
              </a:ext>
            </a:extLst>
          </p:cNvPr>
          <p:cNvSpPr>
            <a:spLocks noGrp="1"/>
          </p:cNvSpPr>
          <p:nvPr>
            <p:ph type="title"/>
          </p:nvPr>
        </p:nvSpPr>
        <p:spPr>
          <a:xfrm>
            <a:off x="143070" y="122531"/>
            <a:ext cx="11756572" cy="474628"/>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Төлөвлөлт</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A67AFC-5B8D-6AF2-813C-32D2B65D7685}"/>
              </a:ext>
            </a:extLst>
          </p:cNvPr>
          <p:cNvSpPr>
            <a:spLocks noGrp="1"/>
          </p:cNvSpPr>
          <p:nvPr>
            <p:ph idx="1"/>
          </p:nvPr>
        </p:nvSpPr>
        <p:spPr>
          <a:xfrm>
            <a:off x="143070" y="597159"/>
            <a:ext cx="11756572" cy="6138310"/>
          </a:xfrm>
        </p:spPr>
        <p:txBody>
          <a:bodyPr>
            <a:norm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ТӨЛӨВЛӨЛТ</a:t>
            </a:r>
            <a:r>
              <a:rPr lang="mn-MN" sz="3200" dirty="0">
                <a:solidFill>
                  <a:srgbClr val="002060"/>
                </a:solidFill>
                <a:latin typeface="Times New Roman" panose="02020603050405020304" pitchFamily="18" charset="0"/>
                <a:cs typeface="Times New Roman" panose="02020603050405020304" pitchFamily="18" charset="0"/>
              </a:rPr>
              <a:t> – </a:t>
            </a:r>
          </a:p>
          <a:p>
            <a:pPr lvl="1" algn="just"/>
            <a:r>
              <a:rPr lang="mn-MN" sz="2800" dirty="0">
                <a:solidFill>
                  <a:srgbClr val="002060"/>
                </a:solidFill>
                <a:latin typeface="Times New Roman" panose="02020603050405020304" pitchFamily="18" charset="0"/>
                <a:cs typeface="Times New Roman" panose="02020603050405020304" pitchFamily="18" charset="0"/>
              </a:rPr>
              <a:t>Ирээдүйд юу хийхээ урьдчилан тогтоож, шийдвэрлэх үйл ажиллагаа.</a:t>
            </a:r>
            <a:endParaRPr lang="en-US" sz="2800" dirty="0">
              <a:solidFill>
                <a:srgbClr val="002060"/>
              </a:solidFill>
              <a:latin typeface="Times New Roman" panose="02020603050405020304" pitchFamily="18" charset="0"/>
              <a:cs typeface="Times New Roman" panose="02020603050405020304" pitchFamily="18" charset="0"/>
            </a:endParaRPr>
          </a:p>
          <a:p>
            <a:pPr lvl="1" algn="just"/>
            <a:r>
              <a:rPr lang="mn-MN" sz="2800"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Аж ахуйг зорилго чиглэлтэй хөтлөн явуулах үзэл баримтлал</a:t>
            </a:r>
          </a:p>
          <a:p>
            <a:pPr lvl="1" algn="just"/>
            <a:r>
              <a:rPr lang="mn-MN" sz="2800"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Хүсэн хүлээж буй ирээдүйг төсөөлж, түүнд хэрхэн хүрэх шийдлийг тодорхойлох үйл ажиллагаа юм. </a:t>
            </a:r>
          </a:p>
          <a:p>
            <a:pPr algn="just"/>
            <a:r>
              <a:rPr lang="mn-MN" sz="3200" b="1" dirty="0">
                <a:solidFill>
                  <a:srgbClr val="002060"/>
                </a:solidFill>
                <a:latin typeface="Times New Roman" panose="02020603050405020304" pitchFamily="18" charset="0"/>
                <a:cs typeface="Times New Roman" panose="02020603050405020304" pitchFamily="18" charset="0"/>
              </a:rPr>
              <a:t>Төлөвлөлт хийсний давуу талууд: </a:t>
            </a:r>
          </a:p>
          <a:p>
            <a:pPr lvl="1" algn="just"/>
            <a:r>
              <a:rPr lang="mn-MN" sz="2800" dirty="0">
                <a:solidFill>
                  <a:srgbClr val="002060"/>
                </a:solidFill>
                <a:latin typeface="Times New Roman" panose="02020603050405020304" pitchFamily="18" charset="0"/>
                <a:cs typeface="Times New Roman" panose="02020603050405020304" pitchFamily="18" charset="0"/>
              </a:rPr>
              <a:t>Цаашид авч хэрэгжүүлэх арга хэмжээний талаар нухацтай бодох боломж олгоно. </a:t>
            </a:r>
          </a:p>
          <a:p>
            <a:pPr lvl="1" algn="just"/>
            <a:r>
              <a:rPr lang="mn-MN" sz="2800" dirty="0">
                <a:solidFill>
                  <a:srgbClr val="002060"/>
                </a:solidFill>
                <a:latin typeface="Times New Roman" panose="02020603050405020304" pitchFamily="18" charset="0"/>
                <a:cs typeface="Times New Roman" panose="02020603050405020304" pitchFamily="18" charset="0"/>
              </a:rPr>
              <a:t>Зорилго, зорилт, стратегийг тодорхойлсоноор ажилтан бүр юу хийх талаар тодорхой төсөөлөлтэй болж, өөр хоорондоо илүү уялдаатай ажиллана. </a:t>
            </a:r>
          </a:p>
          <a:p>
            <a:pPr lvl="1" algn="just"/>
            <a:r>
              <a:rPr lang="mn-MN" sz="2800" dirty="0">
                <a:solidFill>
                  <a:srgbClr val="002060"/>
                </a:solidFill>
                <a:latin typeface="Times New Roman" panose="02020603050405020304" pitchFamily="18" charset="0"/>
                <a:cs typeface="Times New Roman" panose="02020603050405020304" pitchFamily="18" charset="0"/>
              </a:rPr>
              <a:t>Сайтар хийсэн төлөвлөлт – орчны таагүй нөлөөллийг саармагжуулах, гэнэтийн аюул заналыг даван туулахад тусална. </a:t>
            </a:r>
          </a:p>
        </p:txBody>
      </p:sp>
    </p:spTree>
    <p:extLst>
      <p:ext uri="{BB962C8B-B14F-4D97-AF65-F5344CB8AC3E}">
        <p14:creationId xmlns:p14="http://schemas.microsoft.com/office/powerpoint/2010/main" val="905922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CB624-FA80-9212-508E-CB217C6FABC0}"/>
              </a:ext>
            </a:extLst>
          </p:cNvPr>
          <p:cNvSpPr>
            <a:spLocks noGrp="1"/>
          </p:cNvSpPr>
          <p:nvPr>
            <p:ph type="title"/>
          </p:nvPr>
        </p:nvSpPr>
        <p:spPr>
          <a:xfrm>
            <a:off x="158022" y="103676"/>
            <a:ext cx="11831216" cy="856344"/>
          </a:xfrm>
        </p:spPr>
        <p:txBody>
          <a:bodyPr>
            <a:no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Төлөвлөлтийг нийт байгууллагын болон үйл ажиллагааны нэгжийн түвшинд хийж гүйцэтгэх боломжтой.</a:t>
            </a:r>
            <a:endParaRPr lang="en-US" sz="32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A341E758-995C-0D51-8373-0AEFE19D6009}"/>
              </a:ext>
            </a:extLst>
          </p:cNvPr>
          <p:cNvSpPr>
            <a:spLocks noGrp="1"/>
          </p:cNvSpPr>
          <p:nvPr>
            <p:ph idx="1"/>
          </p:nvPr>
        </p:nvSpPr>
        <p:spPr>
          <a:xfrm>
            <a:off x="-9804" y="3349945"/>
            <a:ext cx="11999041" cy="3404379"/>
          </a:xfrm>
        </p:spPr>
        <p:txBody>
          <a:bodyPr>
            <a:normAutofit fontScale="92500" lnSpcReduction="10000"/>
          </a:bodyPr>
          <a:lstStyle/>
          <a:p>
            <a:r>
              <a:rPr lang="mn-MN" sz="3200" b="1" dirty="0">
                <a:solidFill>
                  <a:srgbClr val="002060"/>
                </a:solidFill>
                <a:latin typeface="Times New Roman" panose="02020603050405020304" pitchFamily="18" charset="0"/>
                <a:cs typeface="Times New Roman" panose="02020603050405020304" pitchFamily="18" charset="0"/>
              </a:rPr>
              <a:t>Стратегийн төлөвлөлт </a:t>
            </a:r>
            <a:r>
              <a:rPr lang="mn-MN" sz="3200" dirty="0">
                <a:solidFill>
                  <a:srgbClr val="002060"/>
                </a:solidFill>
                <a:latin typeface="Times New Roman" panose="02020603050405020304" pitchFamily="18" charset="0"/>
                <a:cs typeface="Times New Roman" panose="02020603050405020304" pitchFamily="18" charset="0"/>
              </a:rPr>
              <a:t>– нийт байгууллагын хүрээнд урт хугацааны </a:t>
            </a:r>
            <a:r>
              <a:rPr lang="en-US" sz="3200" dirty="0">
                <a:solidFill>
                  <a:srgbClr val="002060"/>
                </a:solidFill>
                <a:latin typeface="Times New Roman" panose="02020603050405020304" pitchFamily="18" charset="0"/>
                <a:cs typeface="Times New Roman" panose="02020603050405020304" pitchFamily="18" charset="0"/>
              </a:rPr>
              <a:t>(3-</a:t>
            </a:r>
            <a:r>
              <a:rPr lang="mn-MN" sz="3200" dirty="0">
                <a:solidFill>
                  <a:srgbClr val="002060"/>
                </a:solidFill>
                <a:latin typeface="Times New Roman" panose="02020603050405020304" pitchFamily="18" charset="0"/>
                <a:cs typeface="Times New Roman" panose="02020603050405020304" pitchFamily="18" charset="0"/>
              </a:rPr>
              <a:t>с дээш</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 үйл ажиллагааны ерөнхий чиглэлийг тодорхойлж, дотоод нэгжүүдийн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санхүү, хүний нөөц, үйлдвэрлэл, маркетинг гэх мэт</a:t>
            </a:r>
            <a:r>
              <a:rPr lang="en-US"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 төлөвлөгөөний үндэс суурийг бүрдүүлдэг. </a:t>
            </a:r>
          </a:p>
          <a:p>
            <a:r>
              <a:rPr lang="mn-MN" sz="3200" b="1" dirty="0">
                <a:solidFill>
                  <a:srgbClr val="002060"/>
                </a:solidFill>
                <a:latin typeface="Times New Roman" panose="02020603050405020304" pitchFamily="18" charset="0"/>
                <a:cs typeface="Times New Roman" panose="02020603050405020304" pitchFamily="18" charset="0"/>
              </a:rPr>
              <a:t>Маркетингийн төлөвлөлт </a:t>
            </a:r>
            <a:r>
              <a:rPr lang="mn-MN" sz="3200" dirty="0">
                <a:solidFill>
                  <a:srgbClr val="002060"/>
                </a:solidFill>
                <a:latin typeface="Times New Roman" panose="02020603050405020304" pitchFamily="18" charset="0"/>
                <a:cs typeface="Times New Roman" panose="02020603050405020304" pitchFamily="18" charset="0"/>
              </a:rPr>
              <a:t>– байгууллагын стратегийн зорилго, зорилтуудад хүрэхийн тулд тухайн нэгжид тодорхой хугацаанд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гол төлөв 1 жил</a:t>
            </a:r>
            <a:r>
              <a:rPr lang="en-US"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 хийж гүйцэтгэх ажлуудыг, шаардагдах хөрөнгө, хариуцах эзэн, гүйцэтгэлийг хянах хэмжүүртэй нь тодорхойлох үйл ажиллагаа.</a:t>
            </a:r>
            <a:endParaRPr lang="en-US" sz="3200"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DA76563-812A-78DA-0245-B92DB9F1050D}"/>
              </a:ext>
            </a:extLst>
          </p:cNvPr>
          <p:cNvPicPr>
            <a:picLocks noChangeAspect="1"/>
          </p:cNvPicPr>
          <p:nvPr/>
        </p:nvPicPr>
        <p:blipFill>
          <a:blip r:embed="rId3"/>
          <a:stretch>
            <a:fillRect/>
          </a:stretch>
        </p:blipFill>
        <p:spPr>
          <a:xfrm>
            <a:off x="180392" y="935912"/>
            <a:ext cx="11831216" cy="2479094"/>
          </a:xfrm>
          <a:prstGeom prst="rect">
            <a:avLst/>
          </a:prstGeom>
        </p:spPr>
      </p:pic>
    </p:spTree>
    <p:extLst>
      <p:ext uri="{BB962C8B-B14F-4D97-AF65-F5344CB8AC3E}">
        <p14:creationId xmlns:p14="http://schemas.microsoft.com/office/powerpoint/2010/main" val="2887258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884E-3FB3-EDF1-800E-50A404E9D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80A9C-6BA2-F236-2BA6-1F51573022C8}"/>
              </a:ext>
            </a:extLst>
          </p:cNvPr>
          <p:cNvSpPr>
            <a:spLocks noGrp="1"/>
          </p:cNvSpPr>
          <p:nvPr>
            <p:ph type="title"/>
          </p:nvPr>
        </p:nvSpPr>
        <p:spPr>
          <a:xfrm>
            <a:off x="132185" y="317162"/>
            <a:ext cx="6940419" cy="336783"/>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Маркетингийн төлөвлөгөө</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118CA7-6B33-FC96-661B-68A4ACD2D7CE}"/>
              </a:ext>
            </a:extLst>
          </p:cNvPr>
          <p:cNvSpPr>
            <a:spLocks noGrp="1"/>
          </p:cNvSpPr>
          <p:nvPr>
            <p:ph idx="1"/>
          </p:nvPr>
        </p:nvSpPr>
        <p:spPr>
          <a:xfrm>
            <a:off x="188169" y="822336"/>
            <a:ext cx="4458475" cy="2360597"/>
          </a:xfrm>
        </p:spPr>
        <p:txBody>
          <a:bodyPr>
            <a:normAutofit/>
          </a:bodyPr>
          <a:lstStyle/>
          <a:p>
            <a:r>
              <a:rPr lang="mn-MN" dirty="0">
                <a:solidFill>
                  <a:srgbClr val="002060"/>
                </a:solidFill>
                <a:latin typeface="Times New Roman" panose="02020603050405020304" pitchFamily="18" charset="0"/>
                <a:cs typeface="Times New Roman" panose="02020603050405020304" pitchFamily="18" charset="0"/>
              </a:rPr>
              <a:t>Маркетингийн төлөвлөгөөг тодорхой нэг салбар, бизнес, бүтээгдэхүүн, брэндийн хувьд хийх боломжтой. </a:t>
            </a:r>
            <a:endParaRPr lang="en-US" dirty="0">
              <a:solidFill>
                <a:srgbClr val="002060"/>
              </a:solidFill>
              <a:latin typeface="Times New Roman" panose="02020603050405020304" pitchFamily="18" charset="0"/>
              <a:cs typeface="Times New Roman" panose="02020603050405020304" pitchFamily="18" charset="0"/>
            </a:endParaRPr>
          </a:p>
          <a:p>
            <a:endParaRPr lang="mn-MN" dirty="0">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AA492CA-C0F8-6D1A-5519-DFC5E5CDB528}"/>
              </a:ext>
            </a:extLst>
          </p:cNvPr>
          <p:cNvPicPr>
            <a:picLocks noChangeAspect="1"/>
          </p:cNvPicPr>
          <p:nvPr/>
        </p:nvPicPr>
        <p:blipFill>
          <a:blip r:embed="rId3"/>
          <a:stretch>
            <a:fillRect/>
          </a:stretch>
        </p:blipFill>
        <p:spPr>
          <a:xfrm>
            <a:off x="4739949" y="148771"/>
            <a:ext cx="7545356" cy="6560458"/>
          </a:xfrm>
          <a:prstGeom prst="rect">
            <a:avLst/>
          </a:prstGeom>
        </p:spPr>
      </p:pic>
      <p:sp>
        <p:nvSpPr>
          <p:cNvPr id="10" name="Content Placeholder 2">
            <a:extLst>
              <a:ext uri="{FF2B5EF4-FFF2-40B4-BE49-F238E27FC236}">
                <a16:creationId xmlns:a16="http://schemas.microsoft.com/office/drawing/2014/main" id="{EFD985CE-73E0-1518-8E58-E08E3813E76D}"/>
              </a:ext>
            </a:extLst>
          </p:cNvPr>
          <p:cNvSpPr txBox="1">
            <a:spLocks/>
          </p:cNvSpPr>
          <p:nvPr/>
        </p:nvSpPr>
        <p:spPr>
          <a:xfrm>
            <a:off x="188169" y="3003263"/>
            <a:ext cx="6884435" cy="3537575"/>
          </a:xfrm>
          <a:prstGeom prst="rect">
            <a:avLst/>
          </a:prstGeom>
          <a:solidFill>
            <a:schemeClr val="accent4">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mn-MN" b="1"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   Төлөвлөгөө </a:t>
            </a:r>
          </a:p>
          <a:p>
            <a:pPr lvl="1"/>
            <a:r>
              <a:rPr lang="mn-MN" dirty="0">
                <a:solidFill>
                  <a:srgbClr val="002060"/>
                </a:solidFill>
                <a:latin typeface="Times New Roman" panose="02020603050405020304" pitchFamily="18" charset="0"/>
                <a:cs typeface="Times New Roman" panose="02020603050405020304" pitchFamily="18" charset="0"/>
              </a:rPr>
              <a:t>Төлөвлөлтийн үйл ажиллагааны үр дүнд бий болсон хэн, хэзээ, юу хийхийг тодорхойлж өгсөн шийдвэр. </a:t>
            </a:r>
          </a:p>
          <a:p>
            <a:pPr marL="0" indent="0">
              <a:buNone/>
            </a:pPr>
            <a:r>
              <a:rPr lang="mn-MN" b="1" dirty="0">
                <a:solidFill>
                  <a:srgbClr val="002060"/>
                </a:solidFill>
                <a:latin typeface="Times New Roman" panose="02020603050405020304" pitchFamily="18" charset="0"/>
                <a:cs typeface="Times New Roman" panose="02020603050405020304" pitchFamily="18" charset="0"/>
              </a:rPr>
              <a:t>   Төлөвлөлт ба төлөвлөгөөний уялдаа </a:t>
            </a:r>
            <a:r>
              <a:rPr lang="mn-MN" b="1"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p>
          <a:p>
            <a:pPr lvl="1"/>
            <a:r>
              <a:rPr lang="mn-MN"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Төлөвлөлт бол үйл ажиллагаа буюу процесс. </a:t>
            </a:r>
          </a:p>
          <a:p>
            <a:pPr lvl="1"/>
            <a:r>
              <a:rPr lang="mn-MN"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Төлөвлөгөө бол төлөвлөлтийн үр дүнд бий болсон удирдлагын бичиг баримт. </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300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55C9-0214-38CD-A575-7F458078C6A3}"/>
              </a:ext>
            </a:extLst>
          </p:cNvPr>
          <p:cNvSpPr>
            <a:spLocks noGrp="1"/>
          </p:cNvSpPr>
          <p:nvPr>
            <p:ph type="title"/>
          </p:nvPr>
        </p:nvSpPr>
        <p:spPr>
          <a:xfrm>
            <a:off x="166399" y="141193"/>
            <a:ext cx="11969617" cy="720161"/>
          </a:xfrm>
          <a:solidFill>
            <a:schemeClr val="accent6">
              <a:lumMod val="20000"/>
              <a:lumOff val="80000"/>
            </a:schemeClr>
          </a:solidFill>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Маркетингийн судалгаа хийх хамгийн чухал шалтгаан бол зах зээлийн эрэлтийг тодорхойлох явдал мөн. </a:t>
            </a:r>
            <a:endParaRPr lang="en-US" sz="2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A5F8DEF-5BCC-783A-ED9A-FF6DDACDC171}"/>
              </a:ext>
            </a:extLst>
          </p:cNvPr>
          <p:cNvSpPr>
            <a:spLocks noGrp="1"/>
          </p:cNvSpPr>
          <p:nvPr>
            <p:ph idx="1"/>
          </p:nvPr>
        </p:nvSpPr>
        <p:spPr>
          <a:xfrm>
            <a:off x="222384" y="861354"/>
            <a:ext cx="11803218" cy="4494418"/>
          </a:xfrm>
        </p:spPr>
        <p:txBody>
          <a:bodyPr>
            <a:normAutofit fontScale="92500"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Зах зээлийн судалгаа – хэрэглэгч, өрсөлдөгч, нийлүүлэгчийг хамарсан олон төрлийн судалгаанууд байдаг.</a:t>
            </a:r>
          </a:p>
          <a:p>
            <a:pPr algn="just"/>
            <a:r>
              <a:rPr lang="mn-MN" sz="3200" dirty="0">
                <a:solidFill>
                  <a:srgbClr val="002060"/>
                </a:solidFill>
                <a:latin typeface="Times New Roman" panose="02020603050405020304" pitchFamily="18" charset="0"/>
                <a:cs typeface="Times New Roman" panose="02020603050405020304" pitchFamily="18" charset="0"/>
              </a:rPr>
              <a:t>Зах зээлийн судалгаа бол маркетингийн судалгаа байдаг. </a:t>
            </a:r>
          </a:p>
          <a:p>
            <a:pPr algn="just"/>
            <a:r>
              <a:rPr lang="mn-MN" sz="3200" dirty="0">
                <a:solidFill>
                  <a:srgbClr val="002060"/>
                </a:solidFill>
                <a:latin typeface="Times New Roman" panose="02020603050405020304" pitchFamily="18" charset="0"/>
                <a:cs typeface="Times New Roman" panose="02020603050405020304" pitchFamily="18" charset="0"/>
              </a:rPr>
              <a:t>Маркетинг – эцсийн болон бизнесийн хэрэглэгчдэд бүтээгдэхүүн, үйлчилгээг зориулж шинээр бүтээх, идэвхжүүлэх, хүргэх үйл явц. </a:t>
            </a:r>
          </a:p>
          <a:p>
            <a:pPr algn="just"/>
            <a:r>
              <a:rPr lang="mn-MN" sz="3200" dirty="0">
                <a:solidFill>
                  <a:srgbClr val="002060"/>
                </a:solidFill>
                <a:latin typeface="Times New Roman" panose="02020603050405020304" pitchFamily="18" charset="0"/>
                <a:cs typeface="Times New Roman" panose="02020603050405020304" pitchFamily="18" charset="0"/>
              </a:rPr>
              <a:t>Үүнд: 							</a:t>
            </a:r>
          </a:p>
          <a:p>
            <a:pPr algn="just"/>
            <a:endParaRPr lang="mn-MN" sz="3200" dirty="0">
              <a:solidFill>
                <a:srgbClr val="002060"/>
              </a:solidFill>
              <a:latin typeface="Times New Roman" panose="02020603050405020304" pitchFamily="18" charset="0"/>
              <a:cs typeface="Times New Roman" panose="02020603050405020304" pitchFamily="18" charset="0"/>
            </a:endParaRPr>
          </a:p>
          <a:p>
            <a:pPr algn="just"/>
            <a:endParaRPr lang="mn-MN" sz="3200" dirty="0">
              <a:solidFill>
                <a:srgbClr val="002060"/>
              </a:solidFill>
              <a:latin typeface="Times New Roman" panose="02020603050405020304" pitchFamily="18" charset="0"/>
              <a:cs typeface="Times New Roman" panose="02020603050405020304" pitchFamily="18" charset="0"/>
            </a:endParaRPr>
          </a:p>
          <a:p>
            <a:pPr marL="0" indent="0" algn="just">
              <a:buNone/>
            </a:pPr>
            <a:r>
              <a:rPr lang="mn-MN" sz="3200" dirty="0">
                <a:solidFill>
                  <a:srgbClr val="002060"/>
                </a:solidFill>
                <a:latin typeface="Times New Roman" panose="02020603050405020304" pitchFamily="18" charset="0"/>
                <a:cs typeface="Times New Roman" panose="02020603050405020304" pitchFamily="18" charset="0"/>
              </a:rPr>
              <a:t>									              </a:t>
            </a:r>
            <a:r>
              <a:rPr lang="mn-MN" sz="4300" dirty="0">
                <a:solidFill>
                  <a:srgbClr val="002060"/>
                </a:solidFill>
                <a:latin typeface="Times New Roman" panose="02020603050405020304" pitchFamily="18" charset="0"/>
                <a:cs typeface="Times New Roman" panose="02020603050405020304" pitchFamily="18" charset="0"/>
              </a:rPr>
              <a:t>багтана. </a:t>
            </a:r>
            <a:endParaRPr lang="mn-MN" sz="3200" dirty="0">
              <a:solidFill>
                <a:srgbClr val="002060"/>
              </a:solidFill>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9E92BFF3-2DD2-EF34-A84C-C2EF92D1617E}"/>
              </a:ext>
            </a:extLst>
          </p:cNvPr>
          <p:cNvGraphicFramePr>
            <a:graphicFrameLocks noGrp="1"/>
          </p:cNvGraphicFramePr>
          <p:nvPr>
            <p:extLst>
              <p:ext uri="{D42A27DB-BD31-4B8C-83A1-F6EECF244321}">
                <p14:modId xmlns:p14="http://schemas.microsoft.com/office/powerpoint/2010/main" val="446411488"/>
              </p:ext>
            </p:extLst>
          </p:nvPr>
        </p:nvGraphicFramePr>
        <p:xfrm>
          <a:off x="653143" y="3545634"/>
          <a:ext cx="8901404" cy="3059205"/>
        </p:xfrm>
        <a:graphic>
          <a:graphicData uri="http://schemas.openxmlformats.org/drawingml/2006/table">
            <a:tbl>
              <a:tblPr firstRow="1" bandRow="1">
                <a:tableStyleId>{5C22544A-7EE6-4342-B048-85BDC9FD1C3A}</a:tableStyleId>
              </a:tblPr>
              <a:tblGrid>
                <a:gridCol w="5713010">
                  <a:extLst>
                    <a:ext uri="{9D8B030D-6E8A-4147-A177-3AD203B41FA5}">
                      <a16:colId xmlns:a16="http://schemas.microsoft.com/office/drawing/2014/main" val="4220238719"/>
                    </a:ext>
                  </a:extLst>
                </a:gridCol>
                <a:gridCol w="3188394">
                  <a:extLst>
                    <a:ext uri="{9D8B030D-6E8A-4147-A177-3AD203B41FA5}">
                      <a16:colId xmlns:a16="http://schemas.microsoft.com/office/drawing/2014/main" val="4192322242"/>
                    </a:ext>
                  </a:extLst>
                </a:gridCol>
              </a:tblGrid>
              <a:tr h="611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3200" b="0" dirty="0">
                          <a:solidFill>
                            <a:srgbClr val="002060"/>
                          </a:solidFill>
                          <a:latin typeface="Times New Roman" panose="02020603050405020304" pitchFamily="18" charset="0"/>
                          <a:cs typeface="Times New Roman" panose="02020603050405020304" pitchFamily="18" charset="0"/>
                        </a:rPr>
                        <a:t>Бараа</a:t>
                      </a:r>
                    </a:p>
                  </a:txBody>
                  <a:tcPr>
                    <a:noFill/>
                  </a:tcPr>
                </a:tc>
                <a:tc>
                  <a:txBody>
                    <a:bodyPr/>
                    <a:lstStyle/>
                    <a:p>
                      <a:r>
                        <a:rPr lang="mn-MN" sz="3200" b="0" dirty="0">
                          <a:solidFill>
                            <a:srgbClr val="002060"/>
                          </a:solidFill>
                          <a:latin typeface="Times New Roman" panose="02020603050405020304" pitchFamily="18" charset="0"/>
                          <a:cs typeface="Times New Roman" panose="02020603050405020304" pitchFamily="18" charset="0"/>
                        </a:rPr>
                        <a:t>Байрлал</a:t>
                      </a:r>
                      <a:endParaRPr lang="en-US" sz="3200" b="0" dirty="0">
                        <a:solidFill>
                          <a:srgbClr val="002060"/>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3103434928"/>
                  </a:ext>
                </a:extLst>
              </a:tr>
              <a:tr h="611841">
                <a:tc>
                  <a:txBody>
                    <a:bodyPr/>
                    <a:lstStyle/>
                    <a:p>
                      <a:r>
                        <a:rPr lang="mn-MN" sz="3200" dirty="0">
                          <a:solidFill>
                            <a:srgbClr val="002060"/>
                          </a:solidFill>
                          <a:latin typeface="Times New Roman" panose="02020603050405020304" pitchFamily="18" charset="0"/>
                          <a:cs typeface="Times New Roman" panose="02020603050405020304" pitchFamily="18" charset="0"/>
                        </a:rPr>
                        <a:t>Үйлчилгээ</a:t>
                      </a:r>
                      <a:endParaRPr lang="en-US" sz="3200" dirty="0">
                        <a:solidFill>
                          <a:srgbClr val="002060"/>
                        </a:solidFill>
                        <a:latin typeface="Times New Roman" panose="02020603050405020304" pitchFamily="18" charset="0"/>
                        <a:cs typeface="Times New Roman" panose="02020603050405020304" pitchFamily="18" charset="0"/>
                      </a:endParaRPr>
                    </a:p>
                  </a:txBody>
                  <a:tcPr>
                    <a:noFill/>
                  </a:tcPr>
                </a:tc>
                <a:tc>
                  <a:txBody>
                    <a:bodyPr/>
                    <a:lstStyle/>
                    <a:p>
                      <a:r>
                        <a:rPr lang="mn-MN" sz="3200" dirty="0">
                          <a:solidFill>
                            <a:srgbClr val="002060"/>
                          </a:solidFill>
                          <a:latin typeface="Times New Roman" panose="02020603050405020304" pitchFamily="18" charset="0"/>
                          <a:cs typeface="Times New Roman" panose="02020603050405020304" pitchFamily="18" charset="0"/>
                        </a:rPr>
                        <a:t>Өмч</a:t>
                      </a:r>
                      <a:endParaRPr lang="en-US" sz="3200" dirty="0">
                        <a:solidFill>
                          <a:srgbClr val="002060"/>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921603095"/>
                  </a:ext>
                </a:extLst>
              </a:tr>
              <a:tr h="611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3200" dirty="0">
                          <a:solidFill>
                            <a:srgbClr val="002060"/>
                          </a:solidFill>
                          <a:latin typeface="Times New Roman" panose="02020603050405020304" pitchFamily="18" charset="0"/>
                          <a:cs typeface="Times New Roman" panose="02020603050405020304" pitchFamily="18" charset="0"/>
                        </a:rPr>
                        <a:t>Туршлага</a:t>
                      </a:r>
                    </a:p>
                  </a:txBody>
                  <a:tcPr>
                    <a:noFill/>
                  </a:tcPr>
                </a:tc>
                <a:tc>
                  <a:txBody>
                    <a:bodyPr/>
                    <a:lstStyle/>
                    <a:p>
                      <a:r>
                        <a:rPr lang="mn-MN" sz="3200" dirty="0">
                          <a:solidFill>
                            <a:srgbClr val="002060"/>
                          </a:solidFill>
                          <a:latin typeface="Times New Roman" panose="02020603050405020304" pitchFamily="18" charset="0"/>
                          <a:cs typeface="Times New Roman" panose="02020603050405020304" pitchFamily="18" charset="0"/>
                        </a:rPr>
                        <a:t>Байгууллага  </a:t>
                      </a:r>
                      <a:endParaRPr lang="en-US" sz="3200" dirty="0">
                        <a:solidFill>
                          <a:srgbClr val="002060"/>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4284522886"/>
                  </a:ext>
                </a:extLst>
              </a:tr>
              <a:tr h="611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3200" dirty="0">
                          <a:solidFill>
                            <a:srgbClr val="002060"/>
                          </a:solidFill>
                          <a:latin typeface="Times New Roman" panose="02020603050405020304" pitchFamily="18" charset="0"/>
                          <a:cs typeface="Times New Roman" panose="02020603050405020304" pitchFamily="18" charset="0"/>
                        </a:rPr>
                        <a:t>Тэмдэглэлт, онцгой үйл явдал</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3200" dirty="0">
                          <a:solidFill>
                            <a:srgbClr val="002060"/>
                          </a:solidFill>
                          <a:latin typeface="Times New Roman" panose="02020603050405020304" pitchFamily="18" charset="0"/>
                          <a:cs typeface="Times New Roman" panose="02020603050405020304" pitchFamily="18" charset="0"/>
                        </a:rPr>
                        <a:t>Мэдээлэл</a:t>
                      </a:r>
                    </a:p>
                  </a:txBody>
                  <a:tcPr>
                    <a:noFill/>
                  </a:tcPr>
                </a:tc>
                <a:extLst>
                  <a:ext uri="{0D108BD9-81ED-4DB2-BD59-A6C34878D82A}">
                    <a16:rowId xmlns:a16="http://schemas.microsoft.com/office/drawing/2014/main" val="248607470"/>
                  </a:ext>
                </a:extLst>
              </a:tr>
              <a:tr h="611841">
                <a:tc>
                  <a:txBody>
                    <a:bodyPr/>
                    <a:lstStyle/>
                    <a:p>
                      <a:r>
                        <a:rPr lang="mn-MN" sz="3200" dirty="0">
                          <a:solidFill>
                            <a:srgbClr val="002060"/>
                          </a:solidFill>
                          <a:latin typeface="Times New Roman" panose="02020603050405020304" pitchFamily="18" charset="0"/>
                          <a:cs typeface="Times New Roman" panose="02020603050405020304" pitchFamily="18" charset="0"/>
                        </a:rPr>
                        <a:t>Хүмүүс</a:t>
                      </a:r>
                      <a:endParaRPr lang="en-US" sz="3200" dirty="0">
                        <a:solidFill>
                          <a:srgbClr val="002060"/>
                        </a:solidFill>
                        <a:latin typeface="Times New Roman" panose="02020603050405020304" pitchFamily="18" charset="0"/>
                        <a:cs typeface="Times New Roman" panose="02020603050405020304" pitchFamily="18" charset="0"/>
                      </a:endParaRPr>
                    </a:p>
                  </a:txBody>
                  <a:tcPr>
                    <a:noFill/>
                  </a:tcPr>
                </a:tc>
                <a:tc>
                  <a:txBody>
                    <a:bodyPr/>
                    <a:lstStyle/>
                    <a:p>
                      <a:r>
                        <a:rPr lang="mn-MN" sz="3200" dirty="0">
                          <a:solidFill>
                            <a:srgbClr val="002060"/>
                          </a:solidFill>
                          <a:latin typeface="Times New Roman" panose="02020603050405020304" pitchFamily="18" charset="0"/>
                          <a:cs typeface="Times New Roman" panose="02020603050405020304" pitchFamily="18" charset="0"/>
                        </a:rPr>
                        <a:t>Шинэ санаа</a:t>
                      </a:r>
                      <a:endParaRPr lang="en-US" sz="3200" dirty="0">
                        <a:solidFill>
                          <a:srgbClr val="002060"/>
                        </a:solidFill>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2876141231"/>
                  </a:ext>
                </a:extLst>
              </a:tr>
            </a:tbl>
          </a:graphicData>
        </a:graphic>
      </p:graphicFrame>
    </p:spTree>
    <p:extLst>
      <p:ext uri="{BB962C8B-B14F-4D97-AF65-F5344CB8AC3E}">
        <p14:creationId xmlns:p14="http://schemas.microsoft.com/office/powerpoint/2010/main" val="1232868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AE832-7BB4-7E39-EDD5-EF65ABA2F328}"/>
              </a:ext>
            </a:extLst>
          </p:cNvPr>
          <p:cNvSpPr>
            <a:spLocks noGrp="1"/>
          </p:cNvSpPr>
          <p:nvPr>
            <p:ph type="title"/>
          </p:nvPr>
        </p:nvSpPr>
        <p:spPr>
          <a:xfrm>
            <a:off x="186613" y="74644"/>
            <a:ext cx="11163351" cy="578499"/>
          </a:xfrm>
        </p:spPr>
        <p:txBody>
          <a:bodyPr>
            <a:normAutofit/>
          </a:bodyPr>
          <a:lstStyle/>
          <a:p>
            <a:r>
              <a:rPr lang="mn-MN" sz="3200" b="1" dirty="0">
                <a:solidFill>
                  <a:srgbClr val="002060"/>
                </a:solidFill>
                <a:latin typeface="Times New Roman" panose="02020603050405020304" pitchFamily="18" charset="0"/>
                <a:cs typeface="Times New Roman" panose="02020603050405020304" pitchFamily="18" charset="0"/>
              </a:rPr>
              <a:t>Зах зээлийн түвшингүүд</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FD7851-9A8A-F7BD-AE77-ED594C1410FE}"/>
              </a:ext>
            </a:extLst>
          </p:cNvPr>
          <p:cNvSpPr>
            <a:spLocks noGrp="1"/>
          </p:cNvSpPr>
          <p:nvPr>
            <p:ph idx="1"/>
          </p:nvPr>
        </p:nvSpPr>
        <p:spPr>
          <a:xfrm>
            <a:off x="186614" y="653143"/>
            <a:ext cx="11818774" cy="6512767"/>
          </a:xfrm>
        </p:spPr>
        <p:txBody>
          <a:bodyPr>
            <a:normAutofit lnSpcReduction="10000"/>
          </a:bodyPr>
          <a:lstStyle/>
          <a:p>
            <a:pPr algn="just"/>
            <a:r>
              <a:rPr lang="mn-MN" b="1" dirty="0">
                <a:solidFill>
                  <a:srgbClr val="002060"/>
                </a:solidFill>
                <a:latin typeface="Times New Roman" panose="02020603050405020304" pitchFamily="18" charset="0"/>
                <a:cs typeface="Times New Roman" panose="02020603050405020304" pitchFamily="18" charset="0"/>
              </a:rPr>
              <a:t>Зах зээл </a:t>
            </a:r>
            <a:r>
              <a:rPr lang="mn-MN" dirty="0">
                <a:solidFill>
                  <a:srgbClr val="002060"/>
                </a:solidFill>
                <a:latin typeface="Times New Roman" panose="02020603050405020304" pitchFamily="18" charset="0"/>
                <a:cs typeface="Times New Roman" panose="02020603050405020304" pitchFamily="18" charset="0"/>
              </a:rPr>
              <a:t>– бодит болон боломжит худалдан авагчдаас бүрдэнэ. </a:t>
            </a:r>
          </a:p>
          <a:p>
            <a:pPr algn="just"/>
            <a:r>
              <a:rPr lang="mn-MN" dirty="0">
                <a:solidFill>
                  <a:srgbClr val="002060"/>
                </a:solidFill>
                <a:latin typeface="Times New Roman" panose="02020603050405020304" pitchFamily="18" charset="0"/>
                <a:cs typeface="Times New Roman" panose="02020603050405020304" pitchFamily="18" charset="0"/>
              </a:rPr>
              <a:t>Зах зээлийн хэмжээг тодорхой зах зээл дэх одоогийн худалдан авагчдын тоогоор тодорхойлох бөгөөд ашиг сонирхол, орлого, нэвтрэхэд ойр дөт байдал зэрэг үзүүлэлтээр авч үзнэ. </a:t>
            </a:r>
          </a:p>
          <a:p>
            <a:pPr algn="just"/>
            <a:r>
              <a:rPr lang="mn-MN" dirty="0">
                <a:solidFill>
                  <a:srgbClr val="002060"/>
                </a:solidFill>
                <a:latin typeface="Times New Roman" panose="02020603050405020304" pitchFamily="18" charset="0"/>
                <a:cs typeface="Times New Roman" panose="02020603050405020304" pitchFamily="18" charset="0"/>
              </a:rPr>
              <a:t>Зах зээлүүдийг дараах байдлаар тодорхойлж болно. </a:t>
            </a:r>
          </a:p>
          <a:p>
            <a:pPr lvl="1" algn="just"/>
            <a:r>
              <a:rPr lang="mn-MN" dirty="0">
                <a:solidFill>
                  <a:schemeClr val="accent2">
                    <a:lumMod val="75000"/>
                  </a:schemeClr>
                </a:solidFill>
                <a:latin typeface="Times New Roman" panose="02020603050405020304" pitchFamily="18" charset="0"/>
                <a:cs typeface="Times New Roman" panose="02020603050405020304" pitchFamily="18" charset="0"/>
              </a:rPr>
              <a:t>Боломжит зах зээл </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b="1" dirty="0">
                <a:solidFill>
                  <a:schemeClr val="accent2">
                    <a:lumMod val="75000"/>
                  </a:schemeClr>
                </a:solidFill>
                <a:latin typeface="Times New Roman" panose="02020603050405020304" pitchFamily="18" charset="0"/>
                <a:cs typeface="Times New Roman" panose="02020603050405020304" pitchFamily="18" charset="0"/>
              </a:rPr>
              <a:t>potential market</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mn-MN" dirty="0">
                <a:solidFill>
                  <a:schemeClr val="accent2">
                    <a:lumMod val="75000"/>
                  </a:schemeClr>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 Тухайн бүтээгдэхүүнийг хэрэглэж буй болон хэрэглэх боломжтой бүх хэрэглэгчдийн тоо. </a:t>
            </a:r>
            <a:r>
              <a:rPr lang="mn-MN" b="1" dirty="0">
                <a:solidFill>
                  <a:srgbClr val="002060"/>
                </a:solidFill>
                <a:latin typeface="Times New Roman" panose="02020603050405020304" pitchFamily="18" charset="0"/>
                <a:cs typeface="Times New Roman" panose="02020603050405020304" pitchFamily="18" charset="0"/>
              </a:rPr>
              <a:t>Зах зээлийн нийт эрэлтийг буюу түүний багтаамжийг илэрхийлнэ. </a:t>
            </a:r>
            <a:endParaRPr lang="en-US" b="1" dirty="0">
              <a:solidFill>
                <a:srgbClr val="002060"/>
              </a:solidFill>
              <a:latin typeface="Times New Roman" panose="02020603050405020304" pitchFamily="18" charset="0"/>
              <a:cs typeface="Times New Roman" panose="02020603050405020304" pitchFamily="18" charset="0"/>
            </a:endParaRPr>
          </a:p>
          <a:p>
            <a:pPr lvl="2" algn="just"/>
            <a:r>
              <a:rPr lang="mn-MN" dirty="0">
                <a:solidFill>
                  <a:schemeClr val="accent2">
                    <a:lumMod val="75000"/>
                  </a:schemeClr>
                </a:solidFill>
                <a:latin typeface="Times New Roman" panose="02020603050405020304" pitchFamily="18" charset="0"/>
                <a:cs typeface="Times New Roman" panose="02020603050405020304" pitchFamily="18" charset="0"/>
              </a:rPr>
              <a:t>Бэлэн байгаа зах зээл </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b="1" dirty="0">
                <a:solidFill>
                  <a:schemeClr val="accent2">
                    <a:lumMod val="75000"/>
                  </a:schemeClr>
                </a:solidFill>
                <a:latin typeface="Times New Roman" panose="02020603050405020304" pitchFamily="18" charset="0"/>
                <a:cs typeface="Times New Roman" panose="02020603050405020304" pitchFamily="18" charset="0"/>
              </a:rPr>
              <a:t>available market</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mn-MN" dirty="0">
                <a:solidFill>
                  <a:schemeClr val="accent2">
                    <a:lumMod val="75000"/>
                  </a:schemeClr>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 Тухайн санал болгож байгаа бүтээгдэхүүн, үйлчилгээг худалдан авахад орлогын түвшин хүрэх бололцоотой байгаа хэрэглэгчдийн тоо. </a:t>
            </a:r>
            <a:endParaRPr lang="en-US" dirty="0">
              <a:solidFill>
                <a:srgbClr val="002060"/>
              </a:solidFill>
              <a:latin typeface="Times New Roman" panose="02020603050405020304" pitchFamily="18" charset="0"/>
              <a:cs typeface="Times New Roman" panose="02020603050405020304" pitchFamily="18" charset="0"/>
            </a:endParaRPr>
          </a:p>
          <a:p>
            <a:pPr lvl="2" algn="just"/>
            <a:r>
              <a:rPr lang="mn-MN" dirty="0">
                <a:solidFill>
                  <a:schemeClr val="accent2">
                    <a:lumMod val="75000"/>
                  </a:schemeClr>
                </a:solidFill>
                <a:latin typeface="Times New Roman" panose="02020603050405020304" pitchFamily="18" charset="0"/>
                <a:cs typeface="Times New Roman" panose="02020603050405020304" pitchFamily="18" charset="0"/>
              </a:rPr>
              <a:t>Тодорхой хувьсах хэмжээгээр хязгаарлагдсан шигшигдсэн зах зээл </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b="1" dirty="0">
                <a:solidFill>
                  <a:schemeClr val="accent2">
                    <a:lumMod val="75000"/>
                  </a:schemeClr>
                </a:solidFill>
                <a:latin typeface="Times New Roman" panose="02020603050405020304" pitchFamily="18" charset="0"/>
                <a:cs typeface="Times New Roman" panose="02020603050405020304" pitchFamily="18" charset="0"/>
              </a:rPr>
              <a:t>served market</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mn-MN" dirty="0">
                <a:solidFill>
                  <a:schemeClr val="accent2">
                    <a:lumMod val="75000"/>
                  </a:schemeClr>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 Зарим бараа бүтээгдэхүүнийг хэрэглэгчийн тодорхой бүлэгт хязгаарласан байдаг. Жбэл, архи тамхины хэрэглээ, машин мотоциклийн хэрэглээ гэх мэт. </a:t>
            </a:r>
            <a:endParaRPr lang="en-US" dirty="0">
              <a:solidFill>
                <a:srgbClr val="002060"/>
              </a:solidFill>
              <a:latin typeface="Times New Roman" panose="02020603050405020304" pitchFamily="18" charset="0"/>
              <a:cs typeface="Times New Roman" panose="02020603050405020304" pitchFamily="18" charset="0"/>
            </a:endParaRPr>
          </a:p>
          <a:p>
            <a:pPr lvl="1" algn="just"/>
            <a:r>
              <a:rPr lang="mn-MN" dirty="0">
                <a:solidFill>
                  <a:schemeClr val="accent2">
                    <a:lumMod val="75000"/>
                  </a:schemeClr>
                </a:solidFill>
                <a:latin typeface="Times New Roman" panose="02020603050405020304" pitchFamily="18" charset="0"/>
                <a:cs typeface="Times New Roman" panose="02020603050405020304" pitchFamily="18" charset="0"/>
              </a:rPr>
              <a:t>Хүсч байгаа буюу зорилтот зах зээл </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b="1" dirty="0">
                <a:solidFill>
                  <a:schemeClr val="accent2">
                    <a:lumMod val="75000"/>
                  </a:schemeClr>
                </a:solidFill>
                <a:latin typeface="Times New Roman" panose="02020603050405020304" pitchFamily="18" charset="0"/>
                <a:cs typeface="Times New Roman" panose="02020603050405020304" pitchFamily="18" charset="0"/>
              </a:rPr>
              <a:t>target market</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 – Компани байгууллагын маркетингийн үйл ажиллагаагаа явуулахаар сонгосон боломжит зах зээлийн хэсэг. </a:t>
            </a:r>
          </a:p>
          <a:p>
            <a:pPr lvl="1" algn="just"/>
            <a:r>
              <a:rPr lang="mn-MN" dirty="0">
                <a:solidFill>
                  <a:schemeClr val="accent2">
                    <a:lumMod val="75000"/>
                  </a:schemeClr>
                </a:solidFill>
                <a:latin typeface="Times New Roman" panose="02020603050405020304" pitchFamily="18" charset="0"/>
                <a:cs typeface="Times New Roman" panose="02020603050405020304" pitchFamily="18" charset="0"/>
              </a:rPr>
              <a:t>Эзэмшсэн </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mn-MN" dirty="0">
                <a:solidFill>
                  <a:schemeClr val="accent2">
                    <a:lumMod val="75000"/>
                  </a:schemeClr>
                </a:solidFill>
                <a:latin typeface="Times New Roman" panose="02020603050405020304" pitchFamily="18" charset="0"/>
                <a:cs typeface="Times New Roman" panose="02020603050405020304" pitchFamily="18" charset="0"/>
              </a:rPr>
              <a:t>нэвтэрсэн</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mn-MN" dirty="0">
                <a:solidFill>
                  <a:schemeClr val="accent2">
                    <a:lumMod val="75000"/>
                  </a:schemeClr>
                </a:solidFill>
                <a:latin typeface="Times New Roman" panose="02020603050405020304" pitchFamily="18" charset="0"/>
                <a:cs typeface="Times New Roman" panose="02020603050405020304" pitchFamily="18" charset="0"/>
              </a:rPr>
              <a:t> зах зээл </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b="1" dirty="0">
                <a:solidFill>
                  <a:schemeClr val="accent2">
                    <a:lumMod val="75000"/>
                  </a:schemeClr>
                </a:solidFill>
                <a:latin typeface="Times New Roman" panose="02020603050405020304" pitchFamily="18" charset="0"/>
                <a:cs typeface="Times New Roman" panose="02020603050405020304" pitchFamily="18" charset="0"/>
              </a:rPr>
              <a:t>penetrated market</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mn-MN" dirty="0">
                <a:solidFill>
                  <a:schemeClr val="accent2">
                    <a:lumMod val="75000"/>
                  </a:schemeClr>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 Тухайн компаний бүтээгдэхүүн, үйлчилгээг худалдан авсан, хэрэглэж үзсэн хэрэглэгчдийн тоо. </a:t>
            </a:r>
            <a:r>
              <a:rPr lang="mn-MN" b="1" dirty="0">
                <a:solidFill>
                  <a:srgbClr val="002060"/>
                </a:solidFill>
                <a:latin typeface="Times New Roman" panose="02020603050405020304" pitchFamily="18" charset="0"/>
                <a:cs typeface="Times New Roman" panose="02020603050405020304" pitchFamily="18" charset="0"/>
              </a:rPr>
              <a:t>Компаний зах зээлд эзлэх хувь хэмжээг илэрхийлнэ.</a:t>
            </a:r>
            <a:endParaRPr lang="en-US"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8365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5043B-2E47-9C2B-7E28-66C1B06E1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342CC-4143-7B69-2121-33B8C179A967}"/>
              </a:ext>
            </a:extLst>
          </p:cNvPr>
          <p:cNvSpPr>
            <a:spLocks noGrp="1"/>
          </p:cNvSpPr>
          <p:nvPr>
            <p:ph type="title"/>
          </p:nvPr>
        </p:nvSpPr>
        <p:spPr>
          <a:xfrm>
            <a:off x="259701" y="170025"/>
            <a:ext cx="11482527" cy="305835"/>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Зах зээлийн түвшингүүдийн жишээ</a:t>
            </a:r>
            <a:endParaRPr lang="en-US" b="1" dirty="0">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1173ACF-1648-B364-3035-3791128F4CC7}"/>
              </a:ext>
            </a:extLst>
          </p:cNvPr>
          <p:cNvPicPr>
            <a:picLocks noChangeAspect="1"/>
          </p:cNvPicPr>
          <p:nvPr/>
        </p:nvPicPr>
        <p:blipFill>
          <a:blip r:embed="rId3"/>
          <a:stretch>
            <a:fillRect/>
          </a:stretch>
        </p:blipFill>
        <p:spPr>
          <a:xfrm>
            <a:off x="168774" y="671805"/>
            <a:ext cx="11681104" cy="5710336"/>
          </a:xfrm>
          <a:prstGeom prst="rect">
            <a:avLst/>
          </a:prstGeom>
        </p:spPr>
      </p:pic>
    </p:spTree>
    <p:extLst>
      <p:ext uri="{BB962C8B-B14F-4D97-AF65-F5344CB8AC3E}">
        <p14:creationId xmlns:p14="http://schemas.microsoft.com/office/powerpoint/2010/main" val="3390135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52EED-4FAE-3370-BAC4-0BEDD9C3627E}"/>
              </a:ext>
            </a:extLst>
          </p:cNvPr>
          <p:cNvSpPr>
            <a:spLocks noGrp="1"/>
          </p:cNvSpPr>
          <p:nvPr>
            <p:ph type="title"/>
          </p:nvPr>
        </p:nvSpPr>
        <p:spPr>
          <a:xfrm>
            <a:off x="252886" y="122529"/>
            <a:ext cx="11663265" cy="498561"/>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Зах зээлийн эрэлт</a:t>
            </a:r>
            <a:endParaRPr lang="en-US" sz="40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A7D5FC-E20D-367D-6E5A-BE2656485FB3}"/>
                  </a:ext>
                </a:extLst>
              </p:cNvPr>
              <p:cNvSpPr>
                <a:spLocks noGrp="1"/>
              </p:cNvSpPr>
              <p:nvPr>
                <p:ph idx="1"/>
              </p:nvPr>
            </p:nvSpPr>
            <p:spPr>
              <a:xfrm>
                <a:off x="213570" y="496691"/>
                <a:ext cx="11663265" cy="4187278"/>
              </a:xfrm>
            </p:spPr>
            <p:txBody>
              <a:bodyPr>
                <a:normAutofit/>
              </a:bodyPr>
              <a:lstStyle/>
              <a:p>
                <a:pPr algn="just">
                  <a:lnSpc>
                    <a:spcPct val="100000"/>
                  </a:lnSpc>
                  <a:spcBef>
                    <a:spcPts val="200"/>
                  </a:spcBef>
                </a:pPr>
                <a:r>
                  <a:rPr lang="mn-MN" sz="2400" dirty="0">
                    <a:solidFill>
                      <a:srgbClr val="002060"/>
                    </a:solidFill>
                    <a:latin typeface="Times New Roman" panose="02020603050405020304" pitchFamily="18" charset="0"/>
                    <a:cs typeface="Times New Roman" panose="02020603050405020304" pitchFamily="18" charset="0"/>
                  </a:rPr>
                  <a:t>Тодорхой хугацааны туршид тухайн бүтээгдэхүүний хэрэглэгчдийн хийх боломжтой нийт худалдан авалт юм. </a:t>
                </a:r>
              </a:p>
              <a:p>
                <a:pPr algn="just">
                  <a:lnSpc>
                    <a:spcPct val="100000"/>
                  </a:lnSpc>
                  <a:spcBef>
                    <a:spcPts val="200"/>
                  </a:spcBef>
                </a:pPr>
                <a:r>
                  <a:rPr lang="mn-MN" sz="2400" dirty="0">
                    <a:solidFill>
                      <a:srgbClr val="002060"/>
                    </a:solidFill>
                    <a:latin typeface="Times New Roman" panose="02020603050405020304" pitchFamily="18" charset="0"/>
                    <a:cs typeface="Times New Roman" panose="02020603050405020304" pitchFamily="18" charset="0"/>
                  </a:rPr>
                  <a:t>Борлуулалтын хэмжээгээр илэрхийлдэг. </a:t>
                </a:r>
              </a:p>
              <a:p>
                <a:pPr algn="just">
                  <a:lnSpc>
                    <a:spcPct val="100000"/>
                  </a:lnSpc>
                  <a:spcBef>
                    <a:spcPts val="200"/>
                  </a:spcBef>
                </a:pPr>
                <a:r>
                  <a:rPr lang="mn-MN" sz="2400" dirty="0">
                    <a:solidFill>
                      <a:srgbClr val="002060"/>
                    </a:solidFill>
                    <a:latin typeface="Times New Roman" panose="02020603050405020304" pitchFamily="18" charset="0"/>
                    <a:cs typeface="Times New Roman" panose="02020603050405020304" pitchFamily="18" charset="0"/>
                  </a:rPr>
                  <a:t>Зүгээр нэг тогтмол тоо биш бөгөөд тодорхой нөхцөл байдлаас </a:t>
                </a:r>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жишээлбэл: компаний маркетингийн үйл ажиллагаа, гадаад орчин гэх мэт</a:t>
                </a:r>
                <a:r>
                  <a:rPr lang="en-US" sz="2400" dirty="0">
                    <a:solidFill>
                      <a:srgbClr val="002060"/>
                    </a:solidFill>
                    <a:latin typeface="Times New Roman" panose="02020603050405020304" pitchFamily="18" charset="0"/>
                    <a:cs typeface="Times New Roman" panose="02020603050405020304" pitchFamily="18" charset="0"/>
                  </a:rPr>
                  <a:t>)</a:t>
                </a:r>
                <a:r>
                  <a:rPr lang="mn-MN" sz="2400" dirty="0">
                    <a:solidFill>
                      <a:srgbClr val="002060"/>
                    </a:solidFill>
                    <a:latin typeface="Times New Roman" panose="02020603050405020304" pitchFamily="18" charset="0"/>
                    <a:cs typeface="Times New Roman" panose="02020603050405020304" pitchFamily="18" charset="0"/>
                  </a:rPr>
                  <a:t> шалтгаалсан хувьсах функц байдаг. </a:t>
                </a:r>
              </a:p>
              <a:p>
                <a:pPr algn="just">
                  <a:lnSpc>
                    <a:spcPct val="100000"/>
                  </a:lnSpc>
                  <a:spcBef>
                    <a:spcPts val="200"/>
                  </a:spcBef>
                </a:pPr>
                <a:r>
                  <a:rPr lang="mn-MN" sz="2400" dirty="0">
                    <a:solidFill>
                      <a:srgbClr val="002060"/>
                    </a:solidFill>
                    <a:latin typeface="Times New Roman" panose="02020603050405020304" pitchFamily="18" charset="0"/>
                    <a:cs typeface="Times New Roman" panose="02020603050405020304" pitchFamily="18" charset="0"/>
                  </a:rPr>
                  <a:t>Компаниуд зах зээлийн эрэлтийг хэмжих өөрт тохирсон аргуудыг боловсруулсан байдаг. Үүнээс хамгийн өргөн хэрэглэдэг, зах зээлийн багтаамжийг хэмждэг томъёо бол</a:t>
                </a:r>
                <a:r>
                  <a:rPr lang="mn-MN" sz="32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mn-MN" sz="4400" b="0" i="0" smtClean="0">
                        <a:solidFill>
                          <a:srgbClr val="FF0000"/>
                        </a:solidFill>
                        <a:latin typeface="Cambria Math" panose="02040503050406030204" pitchFamily="18" charset="0"/>
                      </a:rPr>
                      <m:t>   </m:t>
                    </m:r>
                    <m:r>
                      <a:rPr lang="en-US" sz="4400" b="0" i="1" smtClean="0">
                        <a:solidFill>
                          <a:srgbClr val="FF0000"/>
                        </a:solidFill>
                        <a:latin typeface="Cambria Math" panose="02040503050406030204" pitchFamily="18" charset="0"/>
                      </a:rPr>
                      <m:t>𝑄</m:t>
                    </m:r>
                    <m:r>
                      <a:rPr lang="en-US" sz="4400" b="0" i="1" smtClean="0">
                        <a:solidFill>
                          <a:srgbClr val="FF0000"/>
                        </a:solidFill>
                        <a:latin typeface="Cambria Math" panose="02040503050406030204" pitchFamily="18" charset="0"/>
                      </a:rPr>
                      <m:t>=</m:t>
                    </m:r>
                    <m:r>
                      <a:rPr lang="en-US" sz="4400" b="0" i="1" smtClean="0">
                        <a:solidFill>
                          <a:srgbClr val="FF0000"/>
                        </a:solidFill>
                        <a:latin typeface="Cambria Math" panose="02040503050406030204" pitchFamily="18" charset="0"/>
                      </a:rPr>
                      <m:t>𝑛</m:t>
                    </m:r>
                    <m:r>
                      <a:rPr lang="en-US" sz="4400" b="0" i="1" smtClean="0">
                        <a:solidFill>
                          <a:srgbClr val="FF0000"/>
                        </a:solidFill>
                        <a:latin typeface="Cambria Math" panose="02040503050406030204" pitchFamily="18" charset="0"/>
                        <a:ea typeface="Cambria Math" panose="02040503050406030204" pitchFamily="18" charset="0"/>
                      </a:rPr>
                      <m:t>×</m:t>
                    </m:r>
                    <m:r>
                      <a:rPr lang="en-US" sz="4400" b="0" i="1" smtClean="0">
                        <a:solidFill>
                          <a:srgbClr val="FF0000"/>
                        </a:solidFill>
                        <a:latin typeface="Cambria Math" panose="02040503050406030204" pitchFamily="18" charset="0"/>
                        <a:ea typeface="Cambria Math" panose="02040503050406030204" pitchFamily="18" charset="0"/>
                      </a:rPr>
                      <m:t>𝑞</m:t>
                    </m:r>
                    <m:r>
                      <a:rPr lang="en-US" sz="4400" b="0" i="1" smtClean="0">
                        <a:solidFill>
                          <a:srgbClr val="FF0000"/>
                        </a:solidFill>
                        <a:latin typeface="Cambria Math" panose="02040503050406030204" pitchFamily="18" charset="0"/>
                        <a:ea typeface="Cambria Math" panose="02040503050406030204" pitchFamily="18" charset="0"/>
                      </a:rPr>
                      <m:t>×</m:t>
                    </m:r>
                    <m:r>
                      <a:rPr lang="en-US" sz="4400" b="0" i="1" smtClean="0">
                        <a:solidFill>
                          <a:srgbClr val="FF0000"/>
                        </a:solidFill>
                        <a:latin typeface="Cambria Math" panose="02040503050406030204" pitchFamily="18" charset="0"/>
                        <a:ea typeface="Cambria Math" panose="02040503050406030204" pitchFamily="18" charset="0"/>
                      </a:rPr>
                      <m:t>𝑝</m:t>
                    </m:r>
                  </m:oMath>
                </a14:m>
                <a:endParaRPr lang="mn-MN" sz="4400" dirty="0">
                  <a:solidFill>
                    <a:srgbClr val="FF0000"/>
                  </a:solidFill>
                  <a:latin typeface="Times New Roman" panose="02020603050405020304" pitchFamily="18" charset="0"/>
                  <a:cs typeface="Times New Roman" panose="02020603050405020304" pitchFamily="18" charset="0"/>
                </a:endParaRPr>
              </a:p>
              <a:p>
                <a:pPr algn="just">
                  <a:lnSpc>
                    <a:spcPct val="100000"/>
                  </a:lnSpc>
                  <a:spcBef>
                    <a:spcPts val="200"/>
                  </a:spcBef>
                </a:pPr>
                <a:endParaRPr lang="mn-MN" sz="24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0A7D5FC-E20D-367D-6E5A-BE2656485FB3}"/>
                  </a:ext>
                </a:extLst>
              </p:cNvPr>
              <p:cNvSpPr>
                <a:spLocks noGrp="1" noRot="1" noChangeAspect="1" noMove="1" noResize="1" noEditPoints="1" noAdjustHandles="1" noChangeArrowheads="1" noChangeShapeType="1" noTextEdit="1"/>
              </p:cNvSpPr>
              <p:nvPr>
                <p:ph idx="1"/>
              </p:nvPr>
            </p:nvSpPr>
            <p:spPr>
              <a:xfrm>
                <a:off x="213570" y="496691"/>
                <a:ext cx="11663265" cy="4187278"/>
              </a:xfrm>
              <a:blipFill>
                <a:blip r:embed="rId3"/>
                <a:stretch>
                  <a:fillRect l="-680" t="-1164" r="-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8AF455-4ABB-ED92-0FEB-0D2946FECF80}"/>
                  </a:ext>
                </a:extLst>
              </p:cNvPr>
              <p:cNvSpPr txBox="1"/>
              <p:nvPr/>
            </p:nvSpPr>
            <p:spPr>
              <a:xfrm>
                <a:off x="7912358" y="3556439"/>
                <a:ext cx="4066071" cy="3046988"/>
              </a:xfrm>
              <a:prstGeom prst="rect">
                <a:avLst/>
              </a:prstGeom>
              <a:noFill/>
            </p:spPr>
            <p:txBody>
              <a:bodyPr wrap="square">
                <a:spAutoFit/>
              </a:bodyPr>
              <a:lstStyle/>
              <a:p>
                <a:pPr marL="0" indent="0">
                  <a:buNone/>
                </a:pPr>
                <a14:m>
                  <m:oMath xmlns:m="http://schemas.openxmlformats.org/officeDocument/2006/math">
                    <m:r>
                      <a:rPr lang="en-US" sz="2400" b="0" i="1" smtClean="0">
                        <a:solidFill>
                          <a:srgbClr val="002060"/>
                        </a:solidFill>
                        <a:latin typeface="Cambria Math" panose="02040503050406030204" pitchFamily="18" charset="0"/>
                      </a:rPr>
                      <m:t>𝑄</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Зах зээлийн нийт эрэлт</a:t>
                </a:r>
                <a:r>
                  <a:rPr lang="en-US" sz="2400" dirty="0">
                    <a:solidFill>
                      <a:srgbClr val="002060"/>
                    </a:solidFill>
                    <a:latin typeface="Times New Roman" panose="02020603050405020304" pitchFamily="18" charset="0"/>
                    <a:cs typeface="Times New Roman" panose="02020603050405020304" pitchFamily="18" charset="0"/>
                  </a:rPr>
                  <a:t>;</a:t>
                </a:r>
              </a:p>
              <a:p>
                <a14:m>
                  <m:oMath xmlns:m="http://schemas.openxmlformats.org/officeDocument/2006/math">
                    <m:r>
                      <a:rPr lang="en-US" sz="2400" b="0" i="1" smtClean="0">
                        <a:solidFill>
                          <a:srgbClr val="002060"/>
                        </a:solidFill>
                        <a:latin typeface="Cambria Math" panose="02040503050406030204" pitchFamily="18" charset="0"/>
                      </a:rPr>
                      <m:t>𝑛</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Зах зээл</a:t>
                </a:r>
                <a:r>
                  <a:rPr lang="en-US" sz="2400" dirty="0">
                    <a:solidFill>
                      <a:srgbClr val="002060"/>
                    </a:solidFill>
                    <a:latin typeface="Times New Roman" panose="02020603050405020304" pitchFamily="18" charset="0"/>
                    <a:cs typeface="Times New Roman" panose="02020603050405020304" pitchFamily="18" charset="0"/>
                  </a:rPr>
                  <a:t> </a:t>
                </a:r>
                <a:r>
                  <a:rPr lang="mn-MN" sz="2400" dirty="0">
                    <a:solidFill>
                      <a:srgbClr val="002060"/>
                    </a:solidFill>
                    <a:latin typeface="Times New Roman" panose="02020603050405020304" pitchFamily="18" charset="0"/>
                    <a:cs typeface="Times New Roman" panose="02020603050405020304" pitchFamily="18" charset="0"/>
                  </a:rPr>
                  <a:t>дээрх нийт хэрэглэгчдийн тоо</a:t>
                </a:r>
                <a:r>
                  <a:rPr lang="en-US" sz="2400" dirty="0">
                    <a:solidFill>
                      <a:srgbClr val="002060"/>
                    </a:solidFill>
                    <a:latin typeface="Times New Roman" panose="02020603050405020304" pitchFamily="18" charset="0"/>
                    <a:cs typeface="Times New Roman" panose="02020603050405020304" pitchFamily="18" charset="0"/>
                  </a:rPr>
                  <a:t>;</a:t>
                </a:r>
                <a:endParaRPr lang="mn-MN" sz="2400"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sz="2400" b="0" i="1" smtClean="0">
                        <a:solidFill>
                          <a:srgbClr val="002060"/>
                        </a:solidFill>
                        <a:latin typeface="Cambria Math" panose="02040503050406030204" pitchFamily="18" charset="0"/>
                      </a:rPr>
                      <m:t>𝑞</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Дундаж хэрэглэгчийн жилийн туршид хийх худалдан авалтын тоо</a:t>
                </a:r>
                <a:r>
                  <a:rPr lang="en-US" sz="2400" dirty="0">
                    <a:solidFill>
                      <a:srgbClr val="002060"/>
                    </a:solidFill>
                    <a:latin typeface="Times New Roman" panose="02020603050405020304" pitchFamily="18" charset="0"/>
                    <a:cs typeface="Times New Roman" panose="02020603050405020304" pitchFamily="18" charset="0"/>
                  </a:rPr>
                  <a:t>;</a:t>
                </a:r>
                <a:endParaRPr lang="mn-MN" sz="2400" dirty="0">
                  <a:solidFill>
                    <a:srgbClr val="002060"/>
                  </a:solidFill>
                  <a:latin typeface="Times New Roman" panose="02020603050405020304" pitchFamily="18" charset="0"/>
                  <a:cs typeface="Times New Roman" panose="02020603050405020304" pitchFamily="18" charset="0"/>
                </a:endParaRPr>
              </a:p>
              <a:p>
                <a14:m>
                  <m:oMath xmlns:m="http://schemas.openxmlformats.org/officeDocument/2006/math">
                    <m:r>
                      <a:rPr lang="en-US" sz="2400" b="0" i="1" smtClean="0">
                        <a:solidFill>
                          <a:srgbClr val="002060"/>
                        </a:solidFill>
                        <a:latin typeface="Cambria Math" panose="02040503050406030204" pitchFamily="18" charset="0"/>
                      </a:rPr>
                      <m:t>𝑝</m:t>
                    </m:r>
                  </m:oMath>
                </a14:m>
                <a:r>
                  <a:rPr lang="en-US" sz="2400" dirty="0">
                    <a:solidFill>
                      <a:srgbClr val="002060"/>
                    </a:solidFill>
                    <a:latin typeface="Times New Roman" panose="02020603050405020304" pitchFamily="18" charset="0"/>
                    <a:cs typeface="Times New Roman" panose="02020603050405020304" pitchFamily="18" charset="0"/>
                  </a:rPr>
                  <a:t> – </a:t>
                </a:r>
                <a:r>
                  <a:rPr lang="mn-MN" sz="2400" dirty="0">
                    <a:solidFill>
                      <a:srgbClr val="002060"/>
                    </a:solidFill>
                    <a:latin typeface="Times New Roman" panose="02020603050405020304" pitchFamily="18" charset="0"/>
                    <a:cs typeface="Times New Roman" panose="02020603050405020304" pitchFamily="18" charset="0"/>
                  </a:rPr>
                  <a:t>Тухайн бүтээгдэхүүний дундаж үнэ</a:t>
                </a:r>
                <a:r>
                  <a:rPr lang="en-US" sz="2400" dirty="0">
                    <a:solidFill>
                      <a:srgbClr val="002060"/>
                    </a:solidFill>
                    <a:latin typeface="Times New Roman" panose="02020603050405020304" pitchFamily="18" charset="0"/>
                    <a:cs typeface="Times New Roman" panose="02020603050405020304" pitchFamily="18" charset="0"/>
                  </a:rPr>
                  <a:t>;</a:t>
                </a:r>
                <a:endParaRPr lang="mn-MN" sz="24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58AF455-4ABB-ED92-0FEB-0D2946FECF80}"/>
                  </a:ext>
                </a:extLst>
              </p:cNvPr>
              <p:cNvSpPr txBox="1">
                <a:spLocks noRot="1" noChangeAspect="1" noMove="1" noResize="1" noEditPoints="1" noAdjustHandles="1" noChangeArrowheads="1" noChangeShapeType="1" noTextEdit="1"/>
              </p:cNvSpPr>
              <p:nvPr/>
            </p:nvSpPr>
            <p:spPr>
              <a:xfrm>
                <a:off x="7912358" y="3556439"/>
                <a:ext cx="4066071" cy="3046988"/>
              </a:xfrm>
              <a:prstGeom prst="rect">
                <a:avLst/>
              </a:prstGeom>
              <a:blipFill>
                <a:blip r:embed="rId4"/>
                <a:stretch>
                  <a:fillRect l="-2399" t="-1600" b="-3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01D9702-E37F-F7D3-42F6-EC4E660E59C1}"/>
                  </a:ext>
                </a:extLst>
              </p:cNvPr>
              <p:cNvSpPr txBox="1"/>
              <p:nvPr/>
            </p:nvSpPr>
            <p:spPr>
              <a:xfrm>
                <a:off x="213571" y="4250849"/>
                <a:ext cx="7176274" cy="2352578"/>
              </a:xfrm>
              <a:prstGeom prst="rect">
                <a:avLst/>
              </a:prstGeom>
              <a:solidFill>
                <a:schemeClr val="accent4">
                  <a:lumMod val="20000"/>
                  <a:lumOff val="80000"/>
                </a:schemeClr>
              </a:solidFill>
            </p:spPr>
            <p:txBody>
              <a:bodyPr wrap="square">
                <a:spAutoFit/>
              </a:bodyPr>
              <a:lstStyle/>
              <a:p>
                <a:pPr marL="0" indent="0" algn="just">
                  <a:buNone/>
                </a:pPr>
                <a:r>
                  <a:rPr lang="mn-MN" sz="2400" b="1" dirty="0">
                    <a:solidFill>
                      <a:srgbClr val="002060"/>
                    </a:solidFill>
                    <a:latin typeface="Times New Roman" panose="02020603050405020304" pitchFamily="18" charset="0"/>
                    <a:cs typeface="Times New Roman" panose="02020603050405020304" pitchFamily="18" charset="0"/>
                  </a:rPr>
                  <a:t>Жишээ: </a:t>
                </a:r>
                <a:r>
                  <a:rPr lang="mn-MN" sz="2400" dirty="0">
                    <a:solidFill>
                      <a:srgbClr val="002060"/>
                    </a:solidFill>
                    <a:latin typeface="Times New Roman" panose="02020603050405020304" pitchFamily="18" charset="0"/>
                    <a:cs typeface="Times New Roman" panose="02020603050405020304" pitchFamily="18" charset="0"/>
                  </a:rPr>
                  <a:t>Тухайн бүтээгдэхүүн хэрэглэгчдийн тоо 1</a:t>
                </a:r>
                <a:r>
                  <a:rPr lang="en-US" sz="2400" dirty="0">
                    <a:solidFill>
                      <a:srgbClr val="002060"/>
                    </a:solidFill>
                    <a:latin typeface="Times New Roman" panose="02020603050405020304" pitchFamily="18" charset="0"/>
                    <a:cs typeface="Times New Roman" panose="02020603050405020304" pitchFamily="18" charset="0"/>
                  </a:rPr>
                  <a:t>00000</a:t>
                </a:r>
                <a:r>
                  <a:rPr lang="mn-MN" sz="2400" dirty="0">
                    <a:solidFill>
                      <a:srgbClr val="002060"/>
                    </a:solidFill>
                    <a:latin typeface="Times New Roman" panose="02020603050405020304" pitchFamily="18" charset="0"/>
                    <a:cs typeface="Times New Roman" panose="02020603050405020304" pitchFamily="18" charset="0"/>
                  </a:rPr>
                  <a:t>, жилд 1 хүн дунджаар 6 ширхэгийг 10000 төгрөгөөр худалдан авдаг бол: </a:t>
                </a:r>
              </a:p>
              <a:p>
                <a:pPr algn="just"/>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rPr>
                        <m:t>𝑄</m:t>
                      </m:r>
                      <m:r>
                        <a:rPr lang="en-US" sz="2400" b="0" i="1" smtClean="0">
                          <a:solidFill>
                            <a:srgbClr val="002060"/>
                          </a:solidFill>
                          <a:latin typeface="Cambria Math" panose="02040503050406030204" pitchFamily="18" charset="0"/>
                        </a:rPr>
                        <m:t>=100,000×6×10,000 төгрөг</m:t>
                      </m:r>
                      <m:r>
                        <a:rPr lang="en-US" sz="2400" b="0" i="1" smtClean="0">
                          <a:solidFill>
                            <a:srgbClr val="002060"/>
                          </a:solidFill>
                          <a:latin typeface="Cambria Math" panose="02040503050406030204" pitchFamily="18" charset="0"/>
                          <a:ea typeface="Cambria Math" panose="02040503050406030204" pitchFamily="18" charset="0"/>
                        </a:rPr>
                        <m:t>=</m:t>
                      </m:r>
                      <m:r>
                        <m:rPr>
                          <m:nor/>
                        </m:rPr>
                        <a:rPr lang="mn-MN" sz="2400" dirty="0">
                          <a:solidFill>
                            <a:srgbClr val="002060"/>
                          </a:solidFill>
                          <a:latin typeface="Times New Roman" panose="02020603050405020304" pitchFamily="18" charset="0"/>
                          <a:cs typeface="Times New Roman" panose="02020603050405020304" pitchFamily="18" charset="0"/>
                        </a:rPr>
                        <m:t>6,000,000,000</m:t>
                      </m:r>
                      <m:r>
                        <m:rPr>
                          <m:nor/>
                        </m:rPr>
                        <a:rPr lang="mn-MN" sz="2400" b="0" i="0" dirty="0" smtClean="0">
                          <a:solidFill>
                            <a:srgbClr val="002060"/>
                          </a:solidFill>
                          <a:latin typeface="Times New Roman" panose="02020603050405020304" pitchFamily="18" charset="0"/>
                          <a:cs typeface="Times New Roman" panose="02020603050405020304" pitchFamily="18" charset="0"/>
                        </a:rPr>
                        <m:t> төгрөг</m:t>
                      </m:r>
                    </m:oMath>
                  </m:oMathPara>
                </a14:m>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mn-MN" sz="2400" dirty="0">
                    <a:solidFill>
                      <a:srgbClr val="002060"/>
                    </a:solidFill>
                    <a:latin typeface="Times New Roman" panose="02020603050405020304" pitchFamily="18" charset="0"/>
                    <a:cs typeface="Times New Roman" panose="02020603050405020304" pitchFamily="18" charset="0"/>
                  </a:rPr>
                  <a:t>буюу 6 тэрбум төгрөг байна.</a:t>
                </a:r>
              </a:p>
            </p:txBody>
          </p:sp>
        </mc:Choice>
        <mc:Fallback xmlns="">
          <p:sp>
            <p:nvSpPr>
              <p:cNvPr id="6" name="TextBox 5">
                <a:extLst>
                  <a:ext uri="{FF2B5EF4-FFF2-40B4-BE49-F238E27FC236}">
                    <a16:creationId xmlns:a16="http://schemas.microsoft.com/office/drawing/2014/main" id="{201D9702-E37F-F7D3-42F6-EC4E660E59C1}"/>
                  </a:ext>
                </a:extLst>
              </p:cNvPr>
              <p:cNvSpPr txBox="1">
                <a:spLocks noRot="1" noChangeAspect="1" noMove="1" noResize="1" noEditPoints="1" noAdjustHandles="1" noChangeArrowheads="1" noChangeShapeType="1" noTextEdit="1"/>
              </p:cNvSpPr>
              <p:nvPr/>
            </p:nvSpPr>
            <p:spPr>
              <a:xfrm>
                <a:off x="213571" y="4250849"/>
                <a:ext cx="7176274" cy="2352578"/>
              </a:xfrm>
              <a:prstGeom prst="rect">
                <a:avLst/>
              </a:prstGeom>
              <a:blipFill>
                <a:blip r:embed="rId5"/>
                <a:stretch>
                  <a:fillRect l="-1274" t="-2073" r="-1359" b="-2850"/>
                </a:stretch>
              </a:blipFill>
            </p:spPr>
            <p:txBody>
              <a:bodyPr/>
              <a:lstStyle/>
              <a:p>
                <a:r>
                  <a:rPr lang="en-US">
                    <a:noFill/>
                  </a:rPr>
                  <a:t> </a:t>
                </a:r>
              </a:p>
            </p:txBody>
          </p:sp>
        </mc:Fallback>
      </mc:AlternateContent>
    </p:spTree>
    <p:extLst>
      <p:ext uri="{BB962C8B-B14F-4D97-AF65-F5344CB8AC3E}">
        <p14:creationId xmlns:p14="http://schemas.microsoft.com/office/powerpoint/2010/main" val="2137945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2872C-431E-DA8F-E53E-FBC407F81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C6F74-86E0-7508-DCBA-9893A1EE4A75}"/>
              </a:ext>
            </a:extLst>
          </p:cNvPr>
          <p:cNvSpPr>
            <a:spLocks noGrp="1"/>
          </p:cNvSpPr>
          <p:nvPr>
            <p:ph type="title"/>
          </p:nvPr>
        </p:nvSpPr>
        <p:spPr>
          <a:xfrm>
            <a:off x="278239" y="174979"/>
            <a:ext cx="11392407" cy="366197"/>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Зах зээлийн таамаглал</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57122C-02CB-E7B1-0BB5-997A0C2E9101}"/>
              </a:ext>
            </a:extLst>
          </p:cNvPr>
          <p:cNvSpPr>
            <a:spLocks noGrp="1"/>
          </p:cNvSpPr>
          <p:nvPr>
            <p:ph idx="1"/>
          </p:nvPr>
        </p:nvSpPr>
        <p:spPr>
          <a:xfrm>
            <a:off x="227045" y="627224"/>
            <a:ext cx="11737909" cy="6230775"/>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Аливаа бизнесийн байгууллага зах зээлийн багтаамжийг тодорхойлж </a:t>
            </a:r>
            <a:r>
              <a:rPr lang="mn-MN" sz="3200" b="1" dirty="0">
                <a:solidFill>
                  <a:srgbClr val="002060"/>
                </a:solidFill>
                <a:latin typeface="Times New Roman" panose="02020603050405020304" pitchFamily="18" charset="0"/>
                <a:cs typeface="Times New Roman" panose="02020603050405020304" pitchFamily="18" charset="0"/>
              </a:rPr>
              <a:t>одоогийн</a:t>
            </a:r>
            <a:r>
              <a:rPr lang="mn-MN" sz="3200" dirty="0">
                <a:solidFill>
                  <a:srgbClr val="002060"/>
                </a:solidFill>
                <a:latin typeface="Times New Roman" panose="02020603050405020304" pitchFamily="18" charset="0"/>
                <a:cs typeface="Times New Roman" panose="02020603050405020304" pitchFamily="18" charset="0"/>
              </a:rPr>
              <a:t> эрэлтийг хэмжихээс гадна </a:t>
            </a:r>
            <a:r>
              <a:rPr lang="mn-MN" sz="3200" b="1" dirty="0">
                <a:solidFill>
                  <a:srgbClr val="002060"/>
                </a:solidFill>
                <a:latin typeface="Times New Roman" panose="02020603050405020304" pitchFamily="18" charset="0"/>
                <a:cs typeface="Times New Roman" panose="02020603050405020304" pitchFamily="18" charset="0"/>
              </a:rPr>
              <a:t>ирээдүйд</a:t>
            </a:r>
            <a:r>
              <a:rPr lang="mn-MN" sz="3200" dirty="0">
                <a:solidFill>
                  <a:srgbClr val="002060"/>
                </a:solidFill>
                <a:latin typeface="Times New Roman" panose="02020603050405020304" pitchFamily="18" charset="0"/>
                <a:cs typeface="Times New Roman" panose="02020603050405020304" pitchFamily="18" charset="0"/>
              </a:rPr>
              <a:t> эрэлт ямар байхыг таамаглах шаардлагатай тулгардаг. </a:t>
            </a:r>
          </a:p>
          <a:p>
            <a:pPr algn="just"/>
            <a:r>
              <a:rPr lang="mn-MN" sz="3200" b="1" dirty="0">
                <a:solidFill>
                  <a:srgbClr val="002060"/>
                </a:solidFill>
                <a:latin typeface="Times New Roman" panose="02020603050405020304" pitchFamily="18" charset="0"/>
                <a:cs typeface="Times New Roman" panose="02020603050405020304" pitchFamily="18" charset="0"/>
              </a:rPr>
              <a:t>Эрэлтийн </a:t>
            </a:r>
            <a:r>
              <a:rPr lang="en-US" sz="3200" b="1" dirty="0">
                <a:solidFill>
                  <a:srgbClr val="002060"/>
                </a:solidFill>
                <a:latin typeface="Times New Roman" panose="02020603050405020304" pitchFamily="18" charset="0"/>
                <a:cs typeface="Times New Roman" panose="02020603050405020304" pitchFamily="18" charset="0"/>
              </a:rPr>
              <a:t>(</a:t>
            </a:r>
            <a:r>
              <a:rPr lang="mn-MN" sz="3200" b="1" dirty="0">
                <a:solidFill>
                  <a:srgbClr val="002060"/>
                </a:solidFill>
                <a:latin typeface="Times New Roman" panose="02020603050405020304" pitchFamily="18" charset="0"/>
                <a:cs typeface="Times New Roman" panose="02020603050405020304" pitchFamily="18" charset="0"/>
              </a:rPr>
              <a:t>борлуулалтын</a:t>
            </a:r>
            <a:r>
              <a:rPr lang="en-US" sz="3200" b="1" dirty="0">
                <a:solidFill>
                  <a:srgbClr val="002060"/>
                </a:solidFill>
                <a:latin typeface="Times New Roman" panose="02020603050405020304" pitchFamily="18" charset="0"/>
                <a:cs typeface="Times New Roman" panose="02020603050405020304" pitchFamily="18" charset="0"/>
              </a:rPr>
              <a:t>) </a:t>
            </a:r>
            <a:r>
              <a:rPr lang="mn-MN" sz="3200" b="1" dirty="0">
                <a:solidFill>
                  <a:srgbClr val="002060"/>
                </a:solidFill>
                <a:latin typeface="Times New Roman" panose="02020603050405020304" pitchFamily="18" charset="0"/>
                <a:cs typeface="Times New Roman" panose="02020603050405020304" pitchFamily="18" charset="0"/>
              </a:rPr>
              <a:t>таамаглал </a:t>
            </a:r>
            <a:r>
              <a:rPr lang="mn-MN" sz="3200" dirty="0">
                <a:solidFill>
                  <a:srgbClr val="002060"/>
                </a:solidFill>
                <a:latin typeface="Times New Roman" panose="02020603050405020304" pitchFamily="18" charset="0"/>
                <a:cs typeface="Times New Roman" panose="02020603050405020304" pitchFamily="18" charset="0"/>
              </a:rPr>
              <a:t>– Ирээдүйн борлуулалтын хэмжээг урьдчилан үнэлэх үйл ажиллагаа. </a:t>
            </a:r>
          </a:p>
          <a:p>
            <a:pPr algn="just"/>
            <a:r>
              <a:rPr lang="mn-MN" sz="3200" dirty="0">
                <a:solidFill>
                  <a:srgbClr val="002060"/>
                </a:solidFill>
                <a:latin typeface="Times New Roman" panose="02020603050405020304" pitchFamily="18" charset="0"/>
                <a:cs typeface="Times New Roman" panose="02020603050405020304" pitchFamily="18" charset="0"/>
              </a:rPr>
              <a:t>Эрэлтийн таамаглалыг зөв хийх нь компаний амжилтад шууд нөлөөлнө. </a:t>
            </a:r>
          </a:p>
          <a:p>
            <a:pPr algn="just"/>
            <a:r>
              <a:rPr lang="mn-MN" sz="3200" dirty="0">
                <a:solidFill>
                  <a:srgbClr val="002060"/>
                </a:solidFill>
                <a:latin typeface="Times New Roman" panose="02020603050405020304" pitchFamily="18" charset="0"/>
                <a:cs typeface="Times New Roman" panose="02020603050405020304" pitchFamily="18" charset="0"/>
              </a:rPr>
              <a:t>Эрэлтийн таамаглалыг буруу хийсний улмаас тулгарах </a:t>
            </a:r>
            <a:r>
              <a:rPr lang="mn-MN" sz="3200" b="1" dirty="0">
                <a:solidFill>
                  <a:srgbClr val="002060"/>
                </a:solidFill>
                <a:latin typeface="Times New Roman" panose="02020603050405020304" pitchFamily="18" charset="0"/>
                <a:cs typeface="Times New Roman" panose="02020603050405020304" pitchFamily="18" charset="0"/>
              </a:rPr>
              <a:t>аюул</a:t>
            </a:r>
            <a:r>
              <a:rPr lang="mn-MN" sz="3200" dirty="0">
                <a:solidFill>
                  <a:srgbClr val="002060"/>
                </a:solidFill>
                <a:latin typeface="Times New Roman" panose="02020603050405020304" pitchFamily="18" charset="0"/>
                <a:cs typeface="Times New Roman" panose="02020603050405020304" pitchFamily="18" charset="0"/>
              </a:rPr>
              <a:t>: </a:t>
            </a:r>
          </a:p>
          <a:p>
            <a:pPr lvl="1" algn="just"/>
            <a:r>
              <a:rPr lang="mn-MN" sz="2800" dirty="0">
                <a:solidFill>
                  <a:srgbClr val="002060"/>
                </a:solidFill>
                <a:latin typeface="Times New Roman" panose="02020603050405020304" pitchFamily="18" charset="0"/>
                <a:cs typeface="Times New Roman" panose="02020603050405020304" pitchFamily="18" charset="0"/>
              </a:rPr>
              <a:t>Нөөцийн илүүдэл, эсвэл хомсдол</a:t>
            </a:r>
          </a:p>
          <a:p>
            <a:pPr lvl="1" algn="just"/>
            <a:r>
              <a:rPr lang="mn-MN" sz="2800" dirty="0">
                <a:solidFill>
                  <a:srgbClr val="002060"/>
                </a:solidFill>
                <a:latin typeface="Times New Roman" panose="02020603050405020304" pitchFamily="18" charset="0"/>
                <a:cs typeface="Times New Roman" panose="02020603050405020304" pitchFamily="18" charset="0"/>
              </a:rPr>
              <a:t>Үнийн бууралт</a:t>
            </a:r>
          </a:p>
          <a:p>
            <a:pPr lvl="1" algn="just"/>
            <a:r>
              <a:rPr lang="mn-MN" sz="2800" dirty="0">
                <a:solidFill>
                  <a:srgbClr val="002060"/>
                </a:solidFill>
                <a:latin typeface="Times New Roman" panose="02020603050405020304" pitchFamily="18" charset="0"/>
                <a:cs typeface="Times New Roman" panose="02020603050405020304" pitchFamily="18" charset="0"/>
              </a:rPr>
              <a:t>Эрэлтээ хангаж чадаагүйн улмаас хэрэглэгчдээ өрсөлдөгчиддөө алдах ...</a:t>
            </a:r>
          </a:p>
          <a:p>
            <a:pPr algn="just"/>
            <a:r>
              <a:rPr lang="mn-MN" sz="3200" dirty="0">
                <a:solidFill>
                  <a:srgbClr val="002060"/>
                </a:solidFill>
                <a:latin typeface="Times New Roman" panose="02020603050405020304" pitchFamily="18" charset="0"/>
                <a:cs typeface="Times New Roman" panose="02020603050405020304" pitchFamily="18" charset="0"/>
              </a:rPr>
              <a:t>Эрэлт тогтворгүй байх тусам таамаглал хийх аргуудаа боловсронгуй болгох шаардлагатай.</a:t>
            </a:r>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575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92C2-A351-ED51-D0FB-43EBEB0A0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0C9C6-F705-0F30-EF68-7DA9230FD55C}"/>
              </a:ext>
            </a:extLst>
          </p:cNvPr>
          <p:cNvSpPr>
            <a:spLocks noGrp="1"/>
          </p:cNvSpPr>
          <p:nvPr>
            <p:ph type="title"/>
          </p:nvPr>
        </p:nvSpPr>
        <p:spPr>
          <a:xfrm>
            <a:off x="160867" y="111967"/>
            <a:ext cx="6913788" cy="433864"/>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Эрэлт таамаглах аргууд</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B73E78-3A42-2D3C-F658-6BBD63D17C3D}"/>
              </a:ext>
            </a:extLst>
          </p:cNvPr>
          <p:cNvSpPr>
            <a:spLocks noGrp="1"/>
          </p:cNvSpPr>
          <p:nvPr>
            <p:ph idx="1"/>
          </p:nvPr>
        </p:nvSpPr>
        <p:spPr>
          <a:xfrm>
            <a:off x="37323" y="545557"/>
            <a:ext cx="7074656" cy="4447822"/>
          </a:xfrm>
        </p:spPr>
        <p:txBody>
          <a:bodyPr>
            <a:normAutofit fontScale="92500"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Эрэлт таамаглах аргуудыг дараах байдлаар ангилна. </a:t>
            </a:r>
          </a:p>
          <a:p>
            <a:pPr lvl="1" algn="just"/>
            <a:r>
              <a:rPr lang="mn-MN" b="1" dirty="0">
                <a:solidFill>
                  <a:schemeClr val="accent2">
                    <a:lumMod val="75000"/>
                  </a:schemeClr>
                </a:solidFill>
                <a:latin typeface="Times New Roman" panose="02020603050405020304" pitchFamily="18" charset="0"/>
                <a:cs typeface="Times New Roman" panose="02020603050405020304" pitchFamily="18" charset="0"/>
              </a:rPr>
              <a:t>Чанарын аргууд</a:t>
            </a:r>
            <a:r>
              <a:rPr lang="en-US" b="1" dirty="0">
                <a:solidFill>
                  <a:schemeClr val="accent2">
                    <a:lumMod val="75000"/>
                  </a:schemeClr>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хүмүүсийн хувийн үзэл бодол, туршлага дээр үндэслэсэн субъектив шинжтэй</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a:p>
            <a:pPr lvl="2" algn="just"/>
            <a:r>
              <a:rPr lang="mn-MN" dirty="0">
                <a:solidFill>
                  <a:srgbClr val="002060"/>
                </a:solidFill>
                <a:latin typeface="Times New Roman" panose="02020603050405020304" pitchFamily="18" charset="0"/>
                <a:cs typeface="Times New Roman" panose="02020603050405020304" pitchFamily="18" charset="0"/>
              </a:rPr>
              <a:t>Хэрэглэгчээс болон борлуулалтын ажилчдаас авах санал асуулга</a:t>
            </a:r>
          </a:p>
          <a:p>
            <a:pPr lvl="2" algn="just"/>
            <a:r>
              <a:rPr lang="mn-MN" dirty="0">
                <a:solidFill>
                  <a:srgbClr val="002060"/>
                </a:solidFill>
                <a:latin typeface="Times New Roman" panose="02020603050405020304" pitchFamily="18" charset="0"/>
                <a:cs typeface="Times New Roman" panose="02020603050405020304" pitchFamily="18" charset="0"/>
              </a:rPr>
              <a:t>Экспертийн үнэлгээ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Дельфи арга</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a:p>
            <a:pPr lvl="2" algn="just"/>
            <a:r>
              <a:rPr lang="mn-MN" dirty="0">
                <a:solidFill>
                  <a:srgbClr val="002060"/>
                </a:solidFill>
                <a:latin typeface="Times New Roman" panose="02020603050405020304" pitchFamily="18" charset="0"/>
                <a:cs typeface="Times New Roman" panose="02020603050405020304" pitchFamily="18" charset="0"/>
              </a:rPr>
              <a:t>Туршилтын маркетинг</a:t>
            </a:r>
          </a:p>
          <a:p>
            <a:pPr lvl="1" algn="just"/>
            <a:r>
              <a:rPr lang="mn-MN" b="1" dirty="0">
                <a:solidFill>
                  <a:schemeClr val="accent2">
                    <a:lumMod val="75000"/>
                  </a:schemeClr>
                </a:solidFill>
                <a:latin typeface="Times New Roman" panose="02020603050405020304" pitchFamily="18" charset="0"/>
                <a:cs typeface="Times New Roman" panose="02020603050405020304" pitchFamily="18" charset="0"/>
              </a:rPr>
              <a:t>Тоон аргууд</a:t>
            </a:r>
            <a:r>
              <a:rPr lang="en-US" b="1" dirty="0">
                <a:solidFill>
                  <a:schemeClr val="accent2">
                    <a:lumMod val="75000"/>
                  </a:schemeClr>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өнгөрсөн үеийн тоон мэдээлэлд шинжилгээ хийж дундаж үзүүлэлтийг тодорхойлох, тэдгээр үзүүлэлтүүдийн зүй тогтол, нөлөөлж байгаа хүчин зүйлс, тэдгээрийн харилцан нөлөөллийг тодорхойлдог </a:t>
            </a:r>
          </a:p>
          <a:p>
            <a:pPr lvl="2" algn="just"/>
            <a:r>
              <a:rPr lang="mn-MN" dirty="0">
                <a:solidFill>
                  <a:srgbClr val="002060"/>
                </a:solidFill>
                <a:latin typeface="Times New Roman" panose="02020603050405020304" pitchFamily="18" charset="0"/>
                <a:cs typeface="Times New Roman" panose="02020603050405020304" pitchFamily="18" charset="0"/>
              </a:rPr>
              <a:t>Хугацааны цуваан шинжилгээ</a:t>
            </a:r>
          </a:p>
          <a:p>
            <a:pPr lvl="2" algn="just"/>
            <a:r>
              <a:rPr lang="mn-MN" dirty="0">
                <a:solidFill>
                  <a:srgbClr val="002060"/>
                </a:solidFill>
                <a:latin typeface="Times New Roman" panose="02020603050405020304" pitchFamily="18" charset="0"/>
                <a:cs typeface="Times New Roman" panose="02020603050405020304" pitchFamily="18" charset="0"/>
              </a:rPr>
              <a:t>Регресс, корреляцийн шинжилгээ</a:t>
            </a:r>
          </a:p>
          <a:p>
            <a:pPr marL="0" indent="0" algn="just">
              <a:buNone/>
            </a:pPr>
            <a:endParaRPr lang="mn-MN"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026" name="Picture 2" descr="No photo description available.">
            <a:extLst>
              <a:ext uri="{FF2B5EF4-FFF2-40B4-BE49-F238E27FC236}">
                <a16:creationId xmlns:a16="http://schemas.microsoft.com/office/drawing/2014/main" id="{FA605CEB-EFFC-F76F-BDD7-E263F6657A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695" r="9946"/>
          <a:stretch/>
        </p:blipFill>
        <p:spPr bwMode="auto">
          <a:xfrm>
            <a:off x="7074656" y="0"/>
            <a:ext cx="4956477"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CF7BA66-5A51-BF62-5E46-580AFF017818}"/>
              </a:ext>
            </a:extLst>
          </p:cNvPr>
          <p:cNvSpPr txBox="1"/>
          <p:nvPr/>
        </p:nvSpPr>
        <p:spPr>
          <a:xfrm>
            <a:off x="160868" y="4862753"/>
            <a:ext cx="6913788" cy="1938992"/>
          </a:xfrm>
          <a:prstGeom prst="rect">
            <a:avLst/>
          </a:prstGeom>
          <a:noFill/>
        </p:spPr>
        <p:txBody>
          <a:bodyPr wrap="square">
            <a:spAutoFit/>
          </a:bodyPr>
          <a:lstStyle/>
          <a:p>
            <a:pPr marL="0" indent="0" algn="just">
              <a:buNone/>
            </a:pPr>
            <a:r>
              <a:rPr lang="mn-MN" sz="2400" dirty="0">
                <a:solidFill>
                  <a:schemeClr val="accent2">
                    <a:lumMod val="75000"/>
                  </a:schemeClr>
                </a:solidFill>
                <a:latin typeface="Times New Roman" panose="02020603050405020304" pitchFamily="18" charset="0"/>
                <a:cs typeface="Times New Roman" panose="02020603050405020304" pitchFamily="18" charset="0"/>
              </a:rPr>
              <a:t>Хэрэглэгчдээс авах санал асуулгын жишээ </a:t>
            </a:r>
            <a:r>
              <a:rPr lang="mn-MN" sz="2400" dirty="0">
                <a:solidFill>
                  <a:schemeClr val="accent2">
                    <a:lumMod val="75000"/>
                  </a:schemeClr>
                </a:solidFill>
                <a:latin typeface="Times New Roman" panose="02020603050405020304" pitchFamily="18" charset="0"/>
                <a:cs typeface="Times New Roman" panose="02020603050405020304" pitchFamily="18" charset="0"/>
                <a:sym typeface="Symbol" panose="05050102010706020507" pitchFamily="18" charset="2"/>
              </a:rPr>
              <a:t></a:t>
            </a:r>
          </a:p>
          <a:p>
            <a:pPr marL="0" indent="0" algn="just">
              <a:buNone/>
            </a:pPr>
            <a:r>
              <a:rPr lang="mn-MN" sz="2400" b="1" dirty="0">
                <a:solidFill>
                  <a:srgbClr val="002060"/>
                </a:solidFill>
                <a:latin typeface="Times New Roman" panose="02020603050405020304" pitchFamily="18" charset="0"/>
                <a:cs typeface="Times New Roman" panose="02020603050405020304" pitchFamily="18" charset="0"/>
              </a:rPr>
              <a:t>Борлуулалтын ажилчдаас авах санал асуулга </a:t>
            </a:r>
            <a:r>
              <a:rPr lang="mn-MN" sz="2400" dirty="0">
                <a:solidFill>
                  <a:srgbClr val="002060"/>
                </a:solidFill>
                <a:latin typeface="Times New Roman" panose="02020603050405020304" pitchFamily="18" charset="0"/>
                <a:cs typeface="Times New Roman" panose="02020603050405020304" pitchFamily="18" charset="0"/>
              </a:rPr>
              <a:t>– Хэрэглэгчдээс авах санал асуулгын үр дүн борлуулалтын таамаглал хийхэд хангалтгүй үед хийдэг.</a:t>
            </a:r>
          </a:p>
        </p:txBody>
      </p:sp>
    </p:spTree>
    <p:extLst>
      <p:ext uri="{BB962C8B-B14F-4D97-AF65-F5344CB8AC3E}">
        <p14:creationId xmlns:p14="http://schemas.microsoft.com/office/powerpoint/2010/main" val="1124351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CD78-881A-1B5B-D279-00924E224162}"/>
              </a:ext>
            </a:extLst>
          </p:cNvPr>
          <p:cNvSpPr>
            <a:spLocks noGrp="1"/>
          </p:cNvSpPr>
          <p:nvPr>
            <p:ph type="title"/>
          </p:nvPr>
        </p:nvSpPr>
        <p:spPr>
          <a:xfrm>
            <a:off x="131188" y="111966"/>
            <a:ext cx="11849317" cy="466532"/>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Эрэлт таамаглах чанарын аргууд</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5B99DD-DE8D-7C67-D0E8-04096FBA22B2}"/>
              </a:ext>
            </a:extLst>
          </p:cNvPr>
          <p:cNvSpPr>
            <a:spLocks noGrp="1"/>
          </p:cNvSpPr>
          <p:nvPr>
            <p:ph idx="1"/>
          </p:nvPr>
        </p:nvSpPr>
        <p:spPr>
          <a:xfrm>
            <a:off x="131188" y="606906"/>
            <a:ext cx="11849317" cy="5661376"/>
          </a:xfrm>
        </p:spPr>
        <p:txBody>
          <a:bodyPr>
            <a:normAutofit/>
          </a:bodyPr>
          <a:lstStyle/>
          <a:p>
            <a:pPr algn="just"/>
            <a:r>
              <a:rPr lang="mn-MN" b="1" dirty="0">
                <a:solidFill>
                  <a:srgbClr val="002060"/>
                </a:solidFill>
                <a:latin typeface="Times New Roman" panose="02020603050405020304" pitchFamily="18" charset="0"/>
                <a:cs typeface="Times New Roman" panose="02020603050405020304" pitchFamily="18" charset="0"/>
              </a:rPr>
              <a:t>Экспертийн үнэлгээ </a:t>
            </a:r>
            <a:r>
              <a:rPr lang="mn-MN" dirty="0">
                <a:solidFill>
                  <a:srgbClr val="002060"/>
                </a:solidFill>
                <a:latin typeface="Times New Roman" panose="02020603050405020304" pitchFamily="18" charset="0"/>
                <a:cs typeface="Times New Roman" panose="02020603050405020304" pitchFamily="18" charset="0"/>
              </a:rPr>
              <a:t>– Борлуулалтын таамаглал хийх үед эксперт буюу мэргэжлийн шинжээчдийн үнэлгээ ашиглахыг хэлнэ. </a:t>
            </a:r>
          </a:p>
          <a:p>
            <a:pPr lvl="1" algn="just"/>
            <a:r>
              <a:rPr lang="mn-MN" dirty="0">
                <a:solidFill>
                  <a:srgbClr val="002060"/>
                </a:solidFill>
                <a:latin typeface="Times New Roman" panose="02020603050405020304" pitchFamily="18" charset="0"/>
                <a:cs typeface="Times New Roman" panose="02020603050405020304" pitchFamily="18" charset="0"/>
              </a:rPr>
              <a:t>Боломжит экспертүүд – Нийлүүлэгчид, зуучлагчид, мэргэжлийн холбоод маркетингийн зөвлөх мэргэжилтнүүд ... </a:t>
            </a:r>
          </a:p>
          <a:p>
            <a:pPr lvl="1" algn="just"/>
            <a:r>
              <a:rPr lang="mn-MN" dirty="0">
                <a:solidFill>
                  <a:srgbClr val="002060"/>
                </a:solidFill>
                <a:latin typeface="Times New Roman" panose="02020603050405020304" pitchFamily="18" charset="0"/>
                <a:cs typeface="Times New Roman" panose="02020603050405020304" pitchFamily="18" charset="0"/>
              </a:rPr>
              <a:t>Шинжилгээнд ухаан уралдуулах аргуудыг өргөнөөр ашиглана. </a:t>
            </a:r>
          </a:p>
          <a:p>
            <a:pPr lvl="2" algn="just"/>
            <a:endParaRPr lang="en-US"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7C5EB57-DDB8-6D17-299E-B68FE0F7905B}"/>
              </a:ext>
            </a:extLst>
          </p:cNvPr>
          <p:cNvSpPr txBox="1"/>
          <p:nvPr/>
        </p:nvSpPr>
        <p:spPr>
          <a:xfrm>
            <a:off x="131188" y="2597483"/>
            <a:ext cx="11929624" cy="3970318"/>
          </a:xfrm>
          <a:prstGeom prst="rect">
            <a:avLst/>
          </a:prstGeom>
          <a:solidFill>
            <a:schemeClr val="accent4">
              <a:lumMod val="20000"/>
              <a:lumOff val="80000"/>
            </a:schemeClr>
          </a:solidFill>
        </p:spPr>
        <p:txBody>
          <a:bodyPr wrap="square">
            <a:spAutoFit/>
          </a:bodyPr>
          <a:lstStyle/>
          <a:p>
            <a:pPr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Дельфи арга </a:t>
            </a:r>
            <a:r>
              <a:rPr lang="en-US" sz="2800" b="1" dirty="0">
                <a:solidFill>
                  <a:schemeClr val="accent2">
                    <a:lumMod val="75000"/>
                  </a:schemeClr>
                </a:solidFill>
                <a:latin typeface="Times New Roman" panose="02020603050405020304" pitchFamily="18" charset="0"/>
                <a:cs typeface="Times New Roman" panose="02020603050405020304" pitchFamily="18" charset="0"/>
              </a:rPr>
              <a:t>(</a:t>
            </a:r>
            <a:r>
              <a:rPr lang="en-US" sz="2800" b="1" dirty="0" err="1">
                <a:solidFill>
                  <a:schemeClr val="accent2">
                    <a:lumMod val="75000"/>
                  </a:schemeClr>
                </a:solidFill>
                <a:latin typeface="Times New Roman" panose="02020603050405020304" pitchFamily="18" charset="0"/>
                <a:cs typeface="Times New Roman" panose="02020603050405020304" pitchFamily="18" charset="0"/>
              </a:rPr>
              <a:t>Delfi</a:t>
            </a:r>
            <a:r>
              <a:rPr lang="en-US" sz="2800" b="1" dirty="0">
                <a:solidFill>
                  <a:schemeClr val="accent2">
                    <a:lumMod val="75000"/>
                  </a:schemeClr>
                </a:solidFill>
                <a:latin typeface="Times New Roman" panose="02020603050405020304" pitchFamily="18" charset="0"/>
                <a:cs typeface="Times New Roman" panose="02020603050405020304" pitchFamily="18" charset="0"/>
              </a:rPr>
              <a:t> method) </a:t>
            </a:r>
            <a:r>
              <a:rPr lang="mn-MN" sz="2800" dirty="0">
                <a:solidFill>
                  <a:srgbClr val="002060"/>
                </a:solidFill>
                <a:latin typeface="Times New Roman" panose="02020603050405020304" pitchFamily="18" charset="0"/>
                <a:cs typeface="Times New Roman" panose="02020603050405020304" pitchFamily="18" charset="0"/>
              </a:rPr>
              <a:t>– хэд хэдэн үе шат дамжин нэгдсэн дүгнэлт гаргах арга. Арга дараах байдлаар хэрэгжинэ:</a:t>
            </a:r>
          </a:p>
          <a:p>
            <a:pPr marL="342900" indent="-342900" algn="just">
              <a:buFont typeface="Arial" panose="020B0604020202020204" pitchFamily="34" charset="0"/>
              <a:buChar char="•"/>
            </a:pPr>
            <a:r>
              <a:rPr lang="mn-MN" sz="2400" dirty="0">
                <a:solidFill>
                  <a:srgbClr val="002060"/>
                </a:solidFill>
                <a:latin typeface="Times New Roman" panose="02020603050405020304" pitchFamily="18" charset="0"/>
                <a:cs typeface="Times New Roman" panose="02020603050405020304" pitchFamily="18" charset="0"/>
              </a:rPr>
              <a:t>Шинжээчийн багийн гишүүд хоорондоо ярилцаж нэгдсэн дүгнэлт гаргахаас гадна тусгай шинжээч тэдний хийсэн үнэлэлт, дүгнэлттэй танилцан нэгдсэн дүгнэлт гаргаж болдог. Эсвэл тусгай шинжээч багийн гишүүдийн тус тусдаа хийсэн дүгнэлттэй танилцан нэгдсэн дүгнэлт гаргана. </a:t>
            </a:r>
          </a:p>
          <a:p>
            <a:pPr marL="342900" indent="-342900" algn="just">
              <a:buFont typeface="Arial" panose="020B0604020202020204" pitchFamily="34" charset="0"/>
              <a:buChar char="•"/>
            </a:pPr>
            <a:r>
              <a:rPr lang="mn-MN" sz="2400" dirty="0">
                <a:solidFill>
                  <a:srgbClr val="002060"/>
                </a:solidFill>
                <a:latin typeface="Times New Roman" panose="02020603050405020304" pitchFamily="18" charset="0"/>
                <a:cs typeface="Times New Roman" panose="02020603050405020304" pitchFamily="18" charset="0"/>
              </a:rPr>
              <a:t>Багийн гишүүд нэгдсэн дүгнэлттэй танилцаад, тус бүрийн саналаа дахин шинжээчид илгээнэ. </a:t>
            </a:r>
          </a:p>
          <a:p>
            <a:pPr marL="342900" indent="-342900" algn="just">
              <a:buFont typeface="Arial" panose="020B0604020202020204" pitchFamily="34" charset="0"/>
              <a:buChar char="•"/>
            </a:pPr>
            <a:r>
              <a:rPr lang="mn-MN" sz="2400" dirty="0">
                <a:solidFill>
                  <a:srgbClr val="002060"/>
                </a:solidFill>
                <a:latin typeface="Times New Roman" panose="02020603050405020304" pitchFamily="18" charset="0"/>
                <a:cs typeface="Times New Roman" panose="02020603050405020304" pitchFamily="18" charset="0"/>
              </a:rPr>
              <a:t>Шинжээч мөн нэгдсэн дүгнэлт гаргаад тэдэнд танилцуулна. </a:t>
            </a:r>
            <a:endParaRPr lang="mn-MN" sz="2800"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mn-MN" sz="2800" dirty="0">
                <a:solidFill>
                  <a:srgbClr val="002060"/>
                </a:solidFill>
                <a:latin typeface="Times New Roman" panose="02020603050405020304" pitchFamily="18" charset="0"/>
                <a:cs typeface="Times New Roman" panose="02020603050405020304" pitchFamily="18" charset="0"/>
              </a:rPr>
              <a:t>гэх мэтээр хэд хэдэн үе шат дамжина. </a:t>
            </a:r>
          </a:p>
        </p:txBody>
      </p:sp>
    </p:spTree>
    <p:extLst>
      <p:ext uri="{BB962C8B-B14F-4D97-AF65-F5344CB8AC3E}">
        <p14:creationId xmlns:p14="http://schemas.microsoft.com/office/powerpoint/2010/main" val="1279121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60EBB-6966-83A5-AA7D-DE28F2C31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BA18A-ADCC-C8A5-D374-ACFC89346F58}"/>
              </a:ext>
            </a:extLst>
          </p:cNvPr>
          <p:cNvSpPr>
            <a:spLocks noGrp="1"/>
          </p:cNvSpPr>
          <p:nvPr>
            <p:ph type="title"/>
          </p:nvPr>
        </p:nvSpPr>
        <p:spPr>
          <a:xfrm>
            <a:off x="166395" y="47887"/>
            <a:ext cx="11795449" cy="530612"/>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Эрэлт таамаглах чанарын аргууд</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6D6B9B-5A8B-6867-B00B-825EECB822BD}"/>
              </a:ext>
            </a:extLst>
          </p:cNvPr>
          <p:cNvSpPr>
            <a:spLocks noGrp="1"/>
          </p:cNvSpPr>
          <p:nvPr>
            <p:ph idx="1"/>
          </p:nvPr>
        </p:nvSpPr>
        <p:spPr>
          <a:xfrm>
            <a:off x="166395" y="494875"/>
            <a:ext cx="11795449" cy="6671036"/>
          </a:xfrm>
        </p:spPr>
        <p:txBody>
          <a:bodyPr>
            <a:normAutofit lnSpcReduction="10000"/>
          </a:bodyPr>
          <a:lstStyle/>
          <a:p>
            <a:pPr algn="just"/>
            <a:r>
              <a:rPr lang="mn-MN" b="1" dirty="0">
                <a:solidFill>
                  <a:srgbClr val="002060"/>
                </a:solidFill>
                <a:latin typeface="Times New Roman" panose="02020603050405020304" pitchFamily="18" charset="0"/>
                <a:cs typeface="Times New Roman" panose="02020603050405020304" pitchFamily="18" charset="0"/>
              </a:rPr>
              <a:t>Туршилтын маркетинг – </a:t>
            </a:r>
          </a:p>
          <a:p>
            <a:pPr lvl="1" algn="just"/>
            <a:r>
              <a:rPr lang="mn-MN" sz="2800" dirty="0">
                <a:solidFill>
                  <a:srgbClr val="002060"/>
                </a:solidFill>
                <a:latin typeface="Times New Roman" panose="02020603050405020304" pitchFamily="18" charset="0"/>
                <a:cs typeface="Times New Roman" panose="02020603050405020304" pitchFamily="18" charset="0"/>
              </a:rPr>
              <a:t>Хэрэглэгчид цаашид хийх худалдан авалтаа байнга төлөвлөөд байдаггүй, экспертийн үнэлгээ хийх боломжгүй, эсвэл найдвартай биш тохиолдолд туршилтын маркетинг явуулж болно. </a:t>
            </a:r>
          </a:p>
          <a:p>
            <a:pPr lvl="1" algn="just"/>
            <a:r>
              <a:rPr lang="mn-MN" sz="2800" dirty="0">
                <a:solidFill>
                  <a:srgbClr val="002060"/>
                </a:solidFill>
                <a:latin typeface="Times New Roman" panose="02020603050405020304" pitchFamily="18" charset="0"/>
                <a:cs typeface="Times New Roman" panose="02020603050405020304" pitchFamily="18" charset="0"/>
              </a:rPr>
              <a:t>Туршилтын маркетинг дараах нөхцөл байдалд тохиромжтой: </a:t>
            </a:r>
          </a:p>
          <a:p>
            <a:pPr lvl="2" algn="just"/>
            <a:r>
              <a:rPr lang="mn-MN" sz="2400" dirty="0">
                <a:solidFill>
                  <a:srgbClr val="002060"/>
                </a:solidFill>
                <a:latin typeface="Times New Roman" panose="02020603050405020304" pitchFamily="18" charset="0"/>
                <a:cs typeface="Times New Roman" panose="02020603050405020304" pitchFamily="18" charset="0"/>
              </a:rPr>
              <a:t>Зах зээлд цоо шинэ бүтээгдэхүүн гаргах үед</a:t>
            </a:r>
          </a:p>
          <a:p>
            <a:pPr lvl="2" algn="just"/>
            <a:r>
              <a:rPr lang="mn-MN" sz="2400" dirty="0">
                <a:solidFill>
                  <a:srgbClr val="002060"/>
                </a:solidFill>
                <a:latin typeface="Times New Roman" panose="02020603050405020304" pitchFamily="18" charset="0"/>
                <a:cs typeface="Times New Roman" panose="02020603050405020304" pitchFamily="18" charset="0"/>
              </a:rPr>
              <a:t>Шинэ зах зээлд бүтээгдэхүүнээ гаргах үед</a:t>
            </a:r>
          </a:p>
          <a:p>
            <a:pPr lvl="2" algn="just"/>
            <a:r>
              <a:rPr lang="mn-MN" sz="2400" dirty="0">
                <a:solidFill>
                  <a:srgbClr val="002060"/>
                </a:solidFill>
                <a:latin typeface="Times New Roman" panose="02020603050405020304" pitchFamily="18" charset="0"/>
                <a:cs typeface="Times New Roman" panose="02020603050405020304" pitchFamily="18" charset="0"/>
              </a:rPr>
              <a:t>Хуваарилалтын шинэ суваг турших үед гэх мэт ...</a:t>
            </a:r>
          </a:p>
          <a:p>
            <a:pPr lvl="1" algn="just"/>
            <a:r>
              <a:rPr lang="mn-MN" sz="2800" dirty="0">
                <a:solidFill>
                  <a:srgbClr val="002060"/>
                </a:solidFill>
                <a:latin typeface="Times New Roman" panose="02020603050405020304" pitchFamily="18" charset="0"/>
                <a:cs typeface="Times New Roman" panose="02020603050405020304" pitchFamily="18" charset="0"/>
              </a:rPr>
              <a:t>Туршилтын маркетингийг жижиг зах зээл дээр, хяналттай нөхцөлд, загварчилсан нөхцлийн аль нэгэнд гүйцэтгэх боломжтой. </a:t>
            </a:r>
          </a:p>
          <a:p>
            <a:pPr lvl="2" algn="just"/>
            <a:r>
              <a:rPr lang="mn-MN" sz="2400" dirty="0">
                <a:solidFill>
                  <a:srgbClr val="002060"/>
                </a:solidFill>
                <a:latin typeface="Times New Roman" panose="02020603050405020304" pitchFamily="18" charset="0"/>
                <a:cs typeface="Times New Roman" panose="02020603050405020304" pitchFamily="18" charset="0"/>
              </a:rPr>
              <a:t>Жижиг зах зээл дээр – зах зээлийн бодит нөхцөлд тодорхой нэг улс орон, бүс нутаг, хот, дүүрэг, дэлгүүрт маркетингийн хөтөлбөрөө бүрэн эхээр нь хэрэгжүүлж, гарсан үр дүнгээр нийт борлуулалт, ашиг ямар байхыг тодорхойлохыг эрмэлздэг. </a:t>
            </a:r>
          </a:p>
          <a:p>
            <a:pPr lvl="2" algn="just"/>
            <a:r>
              <a:rPr lang="mn-MN" sz="2400" dirty="0">
                <a:solidFill>
                  <a:srgbClr val="002060"/>
                </a:solidFill>
                <a:latin typeface="Times New Roman" panose="02020603050405020304" pitchFamily="18" charset="0"/>
                <a:cs typeface="Times New Roman" panose="02020603050405020304" pitchFamily="18" charset="0"/>
              </a:rPr>
              <a:t>Хяналттай нөхцөлд – шинэ бүтээгдэхүүн борлуулах хэд хэдэн дэлгүүртэй гэрээ байгуулж, мөн тодорхой бүлэг хэрэглэгчдэд төлбөр төлөөд хамтран ажилладаг. </a:t>
            </a:r>
          </a:p>
          <a:p>
            <a:pPr lvl="2" algn="just"/>
            <a:r>
              <a:rPr lang="mn-MN" sz="2400" dirty="0">
                <a:solidFill>
                  <a:srgbClr val="002060"/>
                </a:solidFill>
                <a:latin typeface="Times New Roman" panose="02020603050405020304" pitchFamily="18" charset="0"/>
                <a:cs typeface="Times New Roman" panose="02020603050405020304" pitchFamily="18" charset="0"/>
              </a:rPr>
              <a:t>Загварчилсан нөхцөлд – тодорхой бүлэг хэрэглэгчдийг дэлгүүрийн загварчилсан лабораторид туршилтад орохыг урьдаг. </a:t>
            </a: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892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854F-6512-B6E1-3F08-C160CE01B82A}"/>
              </a:ext>
            </a:extLst>
          </p:cNvPr>
          <p:cNvSpPr>
            <a:spLocks noGrp="1"/>
          </p:cNvSpPr>
          <p:nvPr>
            <p:ph type="title"/>
          </p:nvPr>
        </p:nvSpPr>
        <p:spPr>
          <a:xfrm>
            <a:off x="155120" y="74644"/>
            <a:ext cx="11460658" cy="413053"/>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Эрэлт таамаглах тоон аргууд</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094E0E-0EE6-1F6B-CB1A-80ACA533F6F1}"/>
              </a:ext>
            </a:extLst>
          </p:cNvPr>
          <p:cNvSpPr>
            <a:spLocks noGrp="1"/>
          </p:cNvSpPr>
          <p:nvPr>
            <p:ph idx="1"/>
          </p:nvPr>
        </p:nvSpPr>
        <p:spPr>
          <a:xfrm>
            <a:off x="155120" y="487698"/>
            <a:ext cx="11788063" cy="6295658"/>
          </a:xfrm>
        </p:spPr>
        <p:txBody>
          <a:bodyPr>
            <a:normAutofit fontScale="92500"/>
          </a:bodyPr>
          <a:lstStyle/>
          <a:p>
            <a:pPr algn="just"/>
            <a:r>
              <a:rPr lang="mn-MN" sz="3200" dirty="0">
                <a:solidFill>
                  <a:srgbClr val="002060"/>
                </a:solidFill>
                <a:latin typeface="Times New Roman" panose="02020603050405020304" pitchFamily="18" charset="0"/>
                <a:cs typeface="Times New Roman" panose="02020603050405020304" pitchFamily="18" charset="0"/>
              </a:rPr>
              <a:t>Статистикийн тооцооллын аргууд дээр суурилсан байдаг. </a:t>
            </a:r>
            <a:endParaRPr lang="en-US" sz="3200" dirty="0">
              <a:solidFill>
                <a:srgbClr val="002060"/>
              </a:solidFill>
              <a:latin typeface="Times New Roman" panose="02020603050405020304" pitchFamily="18" charset="0"/>
              <a:cs typeface="Times New Roman" panose="02020603050405020304" pitchFamily="18" charset="0"/>
            </a:endParaRPr>
          </a:p>
          <a:p>
            <a:pPr algn="just"/>
            <a:r>
              <a:rPr lang="mn-MN" sz="3200" b="1" dirty="0">
                <a:solidFill>
                  <a:srgbClr val="002060"/>
                </a:solidFill>
                <a:latin typeface="Times New Roman" panose="02020603050405020304" pitchFamily="18" charset="0"/>
                <a:cs typeface="Times New Roman" panose="02020603050405020304" pitchFamily="18" charset="0"/>
              </a:rPr>
              <a:t>Хугацааны цуваан шинжилгээ </a:t>
            </a:r>
            <a:r>
              <a:rPr lang="en-US" sz="3200" b="1" dirty="0">
                <a:solidFill>
                  <a:srgbClr val="002060"/>
                </a:solidFill>
                <a:latin typeface="Times New Roman" panose="02020603050405020304" pitchFamily="18" charset="0"/>
                <a:cs typeface="Times New Roman" panose="02020603050405020304" pitchFamily="18" charset="0"/>
              </a:rPr>
              <a:t>(Time-series analysis)</a:t>
            </a:r>
            <a:r>
              <a:rPr lang="mn-MN" sz="3200" dirty="0">
                <a:solidFill>
                  <a:srgbClr val="002060"/>
                </a:solidFill>
                <a:latin typeface="Times New Roman" panose="02020603050405020304" pitchFamily="18" charset="0"/>
                <a:cs typeface="Times New Roman" panose="02020603050405020304" pitchFamily="18" charset="0"/>
              </a:rPr>
              <a:t> – өмнөх жилүүдийн өгөгдөл дээр тулгуурлан таамаглал дэвшүүлэх арга. </a:t>
            </a:r>
          </a:p>
          <a:p>
            <a:pPr algn="just"/>
            <a:r>
              <a:rPr lang="mn-MN" sz="3200" dirty="0">
                <a:solidFill>
                  <a:srgbClr val="002060"/>
                </a:solidFill>
                <a:latin typeface="Times New Roman" panose="02020603050405020304" pitchFamily="18" charset="0"/>
                <a:cs typeface="Times New Roman" panose="02020603050405020304" pitchFamily="18" charset="0"/>
              </a:rPr>
              <a:t>Өмнөх жилүүдийн өгөгдлийг шинжлэхдээ дараах шалтгаануудын улмаас үүсэх эрэлтийн хэлбэлзлүүдийг анхаарах шаардлагатай: </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Трэнд</a:t>
            </a:r>
            <a:r>
              <a:rPr lang="mn-MN" sz="2800" dirty="0">
                <a:solidFill>
                  <a:srgbClr val="002060"/>
                </a:solidFill>
                <a:latin typeface="Times New Roman" panose="02020603050405020304" pitchFamily="18" charset="0"/>
                <a:cs typeface="Times New Roman" panose="02020603050405020304" pitchFamily="18" charset="0"/>
              </a:rPr>
              <a:t> – Хүн ам, технологийн дэвшил, хөрөнгө оруулалтын өөрчлөлттэй холбоотой борлуулалтын хэмжээний өсөлт, эсвэл бууралт</a:t>
            </a:r>
            <a:r>
              <a:rPr lang="en-US" sz="2800" dirty="0">
                <a:solidFill>
                  <a:srgbClr val="002060"/>
                </a:solidFill>
                <a:latin typeface="Times New Roman" panose="02020603050405020304" pitchFamily="18" charset="0"/>
                <a:cs typeface="Times New Roman" panose="02020603050405020304" pitchFamily="18" charset="0"/>
              </a:rPr>
              <a:t>;</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Мөчлөг</a:t>
            </a:r>
            <a:r>
              <a:rPr lang="mn-MN" sz="2800" dirty="0">
                <a:solidFill>
                  <a:srgbClr val="002060"/>
                </a:solidFill>
                <a:latin typeface="Times New Roman" panose="02020603050405020304" pitchFamily="18" charset="0"/>
                <a:cs typeface="Times New Roman" panose="02020603050405020304" pitchFamily="18" charset="0"/>
              </a:rPr>
              <a:t> – Эдийн засгийн хөгжлийн мөчлөгийн үе шаттай холбоотой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өсөлт, уналт, тогтворжилт</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борлуулалтын хэлбэлзэл</a:t>
            </a:r>
            <a:r>
              <a:rPr lang="en-US" sz="2800" dirty="0">
                <a:solidFill>
                  <a:srgbClr val="002060"/>
                </a:solidFill>
                <a:latin typeface="Times New Roman" panose="02020603050405020304" pitchFamily="18" charset="0"/>
                <a:cs typeface="Times New Roman" panose="02020603050405020304" pitchFamily="18" charset="0"/>
              </a:rPr>
              <a:t>; </a:t>
            </a:r>
            <a:endParaRPr lang="mn-MN" sz="2800" dirty="0">
              <a:solidFill>
                <a:srgbClr val="002060"/>
              </a:solidFill>
              <a:latin typeface="Times New Roman" panose="02020603050405020304" pitchFamily="18" charset="0"/>
              <a:cs typeface="Times New Roman" panose="02020603050405020304" pitchFamily="18" charset="0"/>
            </a:endParaRP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Улирал</a:t>
            </a:r>
            <a:r>
              <a:rPr lang="mn-MN" sz="2800" dirty="0">
                <a:solidFill>
                  <a:srgbClr val="002060"/>
                </a:solidFill>
                <a:latin typeface="Times New Roman" panose="02020603050405020304" pitchFamily="18" charset="0"/>
                <a:cs typeface="Times New Roman" panose="02020603050405020304" pitchFamily="18" charset="0"/>
              </a:rPr>
              <a:t> – Жилийн тодорхой улиралд давтагдах борлуулалтын өөрчлөлтүүд. Улирлын шинж чанартай хэлбэлзэл нь цаг агаар, ёс заншил, баяр наадмын тэмдэглэлт үйл явдлуудтай холбоотой. </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Гэнэтийн тохиолдол </a:t>
            </a:r>
            <a:r>
              <a:rPr lang="mn-MN" sz="2800" dirty="0">
                <a:solidFill>
                  <a:srgbClr val="002060"/>
                </a:solidFill>
                <a:latin typeface="Times New Roman" panose="02020603050405020304" pitchFamily="18" charset="0"/>
                <a:cs typeface="Times New Roman" panose="02020603050405020304" pitchFamily="18" charset="0"/>
              </a:rPr>
              <a:t>– Урьдчилан хэлэх боломжгүй нийгмийн болон байгалийн үзэгдлүүдтэй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дайн дажин, ажил хаялт, газар хөдлөлт, түймэр ...</a:t>
            </a:r>
            <a:r>
              <a:rPr lang="en-US" dirty="0">
                <a:solidFill>
                  <a:srgbClr val="002060"/>
                </a:solidFill>
                <a:latin typeface="Times New Roman" panose="02020603050405020304" pitchFamily="18" charset="0"/>
                <a:cs typeface="Times New Roman" panose="02020603050405020304" pitchFamily="18" charset="0"/>
              </a:rPr>
              <a:t>)</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холбоотой.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9429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06E5-34C0-891A-2181-AA8C93711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C11A2-1665-0148-EECB-07005B07762F}"/>
              </a:ext>
            </a:extLst>
          </p:cNvPr>
          <p:cNvSpPr>
            <a:spLocks noGrp="1"/>
          </p:cNvSpPr>
          <p:nvPr>
            <p:ph type="title"/>
          </p:nvPr>
        </p:nvSpPr>
        <p:spPr>
          <a:xfrm>
            <a:off x="222379" y="122530"/>
            <a:ext cx="11739465" cy="511855"/>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Эрэлт таамаглах тоон аргууд</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D6142B-6B9A-8FE5-51C8-F0F8999A6ADA}"/>
              </a:ext>
            </a:extLst>
          </p:cNvPr>
          <p:cNvSpPr>
            <a:spLocks noGrp="1"/>
          </p:cNvSpPr>
          <p:nvPr>
            <p:ph idx="1"/>
          </p:nvPr>
        </p:nvSpPr>
        <p:spPr>
          <a:xfrm>
            <a:off x="222379" y="654218"/>
            <a:ext cx="11739465" cy="6081252"/>
          </a:xfrm>
        </p:spPr>
        <p:txBody>
          <a:bodyPr>
            <a:normAutofit/>
          </a:bodyPr>
          <a:lstStyle/>
          <a:p>
            <a:pPr marL="171450" indent="-171450" algn="just"/>
            <a:r>
              <a:rPr lang="mn-MN" sz="3200" b="1" dirty="0">
                <a:solidFill>
                  <a:srgbClr val="002060"/>
                </a:solidFill>
                <a:latin typeface="Times New Roman" panose="02020603050405020304" pitchFamily="18" charset="0"/>
                <a:cs typeface="Times New Roman" panose="02020603050405020304" pitchFamily="18" charset="0"/>
              </a:rPr>
              <a:t>Дундаж үзүүлэлтийн арга </a:t>
            </a:r>
            <a:r>
              <a:rPr lang="mn-MN" sz="3200" dirty="0">
                <a:solidFill>
                  <a:srgbClr val="002060"/>
                </a:solidFill>
                <a:latin typeface="Times New Roman" panose="02020603050405020304" pitchFamily="18" charset="0"/>
                <a:cs typeface="Times New Roman" panose="02020603050405020304" pitchFamily="18" charset="0"/>
              </a:rPr>
              <a:t>– өмнөх үеийн тоон мэдээлэлд тулгуурлан ирээдүйн эрэлт ямар байхыг тогтоодог. </a:t>
            </a:r>
          </a:p>
          <a:p>
            <a:pPr marL="628650" lvl="1" indent="-171450" algn="just"/>
            <a:r>
              <a:rPr lang="mn-MN" sz="2800" dirty="0">
                <a:solidFill>
                  <a:srgbClr val="002060"/>
                </a:solidFill>
                <a:latin typeface="Times New Roman" panose="02020603050405020304" pitchFamily="18" charset="0"/>
                <a:cs typeface="Times New Roman" panose="02020603050405020304" pitchFamily="18" charset="0"/>
              </a:rPr>
              <a:t>Энгийн арифметик арга</a:t>
            </a:r>
          </a:p>
          <a:p>
            <a:pPr marL="628650" lvl="1" indent="-171450" algn="just"/>
            <a:r>
              <a:rPr lang="mn-MN" sz="2800" dirty="0">
                <a:solidFill>
                  <a:srgbClr val="002060"/>
                </a:solidFill>
                <a:latin typeface="Times New Roman" panose="02020603050405020304" pitchFamily="18" charset="0"/>
                <a:cs typeface="Times New Roman" panose="02020603050405020304" pitchFamily="18" charset="0"/>
              </a:rPr>
              <a:t>Гулгах дунджын арга</a:t>
            </a:r>
          </a:p>
          <a:p>
            <a:pPr marL="628650" lvl="1" indent="-171450" algn="just"/>
            <a:r>
              <a:rPr lang="mn-MN" sz="2800" dirty="0">
                <a:solidFill>
                  <a:srgbClr val="002060"/>
                </a:solidFill>
                <a:latin typeface="Times New Roman" panose="02020603050405020304" pitchFamily="18" charset="0"/>
                <a:cs typeface="Times New Roman" panose="02020603050405020304" pitchFamily="18" charset="0"/>
              </a:rPr>
              <a:t>Экспоненциаль жигдрүүлэлтийн </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тэгшрүүлэлтийн</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 арга </a:t>
            </a:r>
          </a:p>
          <a:p>
            <a:pPr marL="628650" lvl="1" indent="-171450" algn="just"/>
            <a:r>
              <a:rPr lang="mn-MN" sz="2800" dirty="0">
                <a:solidFill>
                  <a:srgbClr val="002060"/>
                </a:solidFill>
                <a:latin typeface="Times New Roman" panose="02020603050405020304" pitchFamily="18" charset="0"/>
                <a:cs typeface="Times New Roman" panose="02020603050405020304" pitchFamily="18" charset="0"/>
              </a:rPr>
              <a:t>Хандлагыг харгалзсан экспоненциаль тэгшрүүлэлтийн арга </a:t>
            </a:r>
            <a:endParaRPr lang="en-US" sz="2800" dirty="0">
              <a:solidFill>
                <a:srgbClr val="002060"/>
              </a:solidFill>
              <a:latin typeface="Times New Roman" panose="02020603050405020304" pitchFamily="18" charset="0"/>
              <a:cs typeface="Times New Roman" panose="02020603050405020304" pitchFamily="18" charset="0"/>
            </a:endParaRPr>
          </a:p>
          <a:p>
            <a:pPr algn="just"/>
            <a:r>
              <a:rPr lang="mn-MN" sz="3200" b="1" dirty="0">
                <a:solidFill>
                  <a:srgbClr val="002060"/>
                </a:solidFill>
                <a:latin typeface="Times New Roman" panose="02020603050405020304" pitchFamily="18" charset="0"/>
                <a:cs typeface="Times New Roman" panose="02020603050405020304" pitchFamily="18" charset="0"/>
              </a:rPr>
              <a:t>Энгийн арифметик арга </a:t>
            </a:r>
            <a:r>
              <a:rPr lang="mn-MN" sz="3200" dirty="0">
                <a:solidFill>
                  <a:srgbClr val="002060"/>
                </a:solidFill>
                <a:latin typeface="Times New Roman" panose="02020603050405020304" pitchFamily="18" charset="0"/>
                <a:cs typeface="Times New Roman" panose="02020603050405020304" pitchFamily="18" charset="0"/>
              </a:rPr>
              <a:t>– өмнөх үеийн эрэлт ирээдүйн эрэлттэй тэнцүү гэж үзнэ. </a:t>
            </a:r>
          </a:p>
          <a:p>
            <a:pPr lvl="1" algn="just"/>
            <a:r>
              <a:rPr lang="mn-MN" sz="2800" dirty="0">
                <a:solidFill>
                  <a:srgbClr val="002060"/>
                </a:solidFill>
                <a:latin typeface="Times New Roman" panose="02020603050405020304" pitchFamily="18" charset="0"/>
                <a:cs typeface="Times New Roman" panose="02020603050405020304" pitchFamily="18" charset="0"/>
              </a:rPr>
              <a:t>Энэ аргыг эрэлтийн хэмжээ өөрчлөгдөхгүй, тогтонги шинжтэй байгаа үед хэрэглэнэ. </a:t>
            </a:r>
          </a:p>
          <a:p>
            <a:pPr algn="just"/>
            <a:endParaRPr lang="mn-MN" sz="3200" dirty="0">
              <a:solidFill>
                <a:srgbClr val="00206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70D6820-D457-A2B3-CD58-7426F7E9A707}"/>
              </a:ext>
            </a:extLst>
          </p:cNvPr>
          <p:cNvSpPr txBox="1"/>
          <p:nvPr/>
        </p:nvSpPr>
        <p:spPr>
          <a:xfrm>
            <a:off x="3415004" y="4838997"/>
            <a:ext cx="8546840" cy="1569660"/>
          </a:xfrm>
          <a:prstGeom prst="rect">
            <a:avLst/>
          </a:prstGeom>
          <a:solidFill>
            <a:schemeClr val="accent4">
              <a:lumMod val="20000"/>
              <a:lumOff val="80000"/>
            </a:schemeClr>
          </a:solidFill>
        </p:spPr>
        <p:txBody>
          <a:bodyPr wrap="square">
            <a:sp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Жишээ: </a:t>
            </a:r>
            <a:r>
              <a:rPr lang="mn-MN" sz="3200" dirty="0">
                <a:solidFill>
                  <a:srgbClr val="002060"/>
                </a:solidFill>
                <a:latin typeface="Times New Roman" panose="02020603050405020304" pitchFamily="18" charset="0"/>
                <a:cs typeface="Times New Roman" panose="02020603050405020304" pitchFamily="18" charset="0"/>
              </a:rPr>
              <a:t>өнгөрсөн 7 хоногт 5000 талх борлуулсан. Дараа долоо хоногт мөн хэмжээний талх борлуулна. </a:t>
            </a:r>
          </a:p>
        </p:txBody>
      </p:sp>
    </p:spTree>
    <p:extLst>
      <p:ext uri="{BB962C8B-B14F-4D97-AF65-F5344CB8AC3E}">
        <p14:creationId xmlns:p14="http://schemas.microsoft.com/office/powerpoint/2010/main" val="1730493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F354-E6A8-6829-8856-03D0D39F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9D7C7-6E77-785F-8C3B-7CA4FA0933E0}"/>
              </a:ext>
            </a:extLst>
          </p:cNvPr>
          <p:cNvSpPr>
            <a:spLocks noGrp="1"/>
          </p:cNvSpPr>
          <p:nvPr>
            <p:ph type="title"/>
          </p:nvPr>
        </p:nvSpPr>
        <p:spPr>
          <a:xfrm>
            <a:off x="195261" y="137627"/>
            <a:ext cx="11801477" cy="403549"/>
          </a:xfrm>
        </p:spPr>
        <p:txBody>
          <a:bodyPr>
            <a:normAutofit fontScale="90000"/>
          </a:bodyPr>
          <a:lstStyle/>
          <a:p>
            <a:r>
              <a:rPr lang="mn-MN" sz="3600" b="1" dirty="0">
                <a:solidFill>
                  <a:srgbClr val="002060"/>
                </a:solidFill>
                <a:latin typeface="Times New Roman" panose="02020603050405020304" pitchFamily="18" charset="0"/>
                <a:cs typeface="Times New Roman" panose="02020603050405020304" pitchFamily="18" charset="0"/>
              </a:rPr>
              <a:t>Эрэлт таамаглах тоон аргууд</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98EE9C-E2BD-8345-D613-4784AF1E4B5F}"/>
                  </a:ext>
                </a:extLst>
              </p:cNvPr>
              <p:cNvSpPr>
                <a:spLocks noGrp="1"/>
              </p:cNvSpPr>
              <p:nvPr>
                <p:ph idx="1"/>
              </p:nvPr>
            </p:nvSpPr>
            <p:spPr>
              <a:xfrm>
                <a:off x="195261" y="541176"/>
                <a:ext cx="11801477" cy="6494106"/>
              </a:xfrm>
            </p:spPr>
            <p:txBody>
              <a:bodyPr>
                <a:normAutofit/>
              </a:bodyPr>
              <a:lstStyle/>
              <a:p>
                <a:pPr algn="just"/>
                <a:r>
                  <a:rPr lang="mn-MN" b="1" dirty="0">
                    <a:solidFill>
                      <a:srgbClr val="002060"/>
                    </a:solidFill>
                    <a:latin typeface="Times New Roman" panose="02020603050405020304" pitchFamily="18" charset="0"/>
                    <a:cs typeface="Times New Roman" panose="02020603050405020304" pitchFamily="18" charset="0"/>
                  </a:rPr>
                  <a:t>Гулсах </a:t>
                </a:r>
                <a:r>
                  <a:rPr lang="en-US" b="1" dirty="0">
                    <a:solidFill>
                      <a:srgbClr val="002060"/>
                    </a:solidFill>
                    <a:latin typeface="Times New Roman" panose="02020603050405020304" pitchFamily="18" charset="0"/>
                    <a:cs typeface="Times New Roman" panose="02020603050405020304" pitchFamily="18" charset="0"/>
                  </a:rPr>
                  <a:t>(</a:t>
                </a:r>
                <a:r>
                  <a:rPr lang="mn-MN" b="1" dirty="0">
                    <a:solidFill>
                      <a:srgbClr val="002060"/>
                    </a:solidFill>
                    <a:latin typeface="Times New Roman" panose="02020603050405020304" pitchFamily="18" charset="0"/>
                    <a:cs typeface="Times New Roman" panose="02020603050405020304" pitchFamily="18" charset="0"/>
                  </a:rPr>
                  <a:t>гулгах</a:t>
                </a:r>
                <a:r>
                  <a:rPr lang="en-US" b="1" dirty="0">
                    <a:solidFill>
                      <a:srgbClr val="002060"/>
                    </a:solidFill>
                    <a:latin typeface="Times New Roman" panose="02020603050405020304" pitchFamily="18" charset="0"/>
                    <a:cs typeface="Times New Roman" panose="02020603050405020304" pitchFamily="18" charset="0"/>
                  </a:rPr>
                  <a:t>) </a:t>
                </a:r>
                <a:r>
                  <a:rPr lang="mn-MN" b="1" dirty="0">
                    <a:solidFill>
                      <a:srgbClr val="002060"/>
                    </a:solidFill>
                    <a:latin typeface="Times New Roman" panose="02020603050405020304" pitchFamily="18" charset="0"/>
                    <a:cs typeface="Times New Roman" panose="02020603050405020304" pitchFamily="18" charset="0"/>
                  </a:rPr>
                  <a:t>дунджын арга</a:t>
                </a:r>
                <a:r>
                  <a:rPr lang="mn-MN" dirty="0">
                    <a:solidFill>
                      <a:srgbClr val="002060"/>
                    </a:solidFill>
                    <a:latin typeface="Times New Roman" panose="02020603050405020304" pitchFamily="18" charset="0"/>
                    <a:cs typeface="Times New Roman" panose="02020603050405020304" pitchFamily="18" charset="0"/>
                  </a:rPr>
                  <a:t> – өнгөрсөн үеийн тоон мэдээллийг ашиглан эрэлтийн төлвийг тодорхойлно. </a:t>
                </a:r>
                <a:r>
                  <a:rPr lang="mn-MN" b="1" dirty="0">
                    <a:solidFill>
                      <a:srgbClr val="002060"/>
                    </a:solidFill>
                    <a:latin typeface="Times New Roman" panose="02020603050405020304" pitchFamily="18" charset="0"/>
                    <a:cs typeface="Times New Roman" panose="02020603050405020304" pitchFamily="18" charset="0"/>
                  </a:rPr>
                  <a:t>Өмнөх жилүүдэд болж өнгөрсөн бүхэн давтагдана гэсэн үзэл дээр тулгуурладаг. </a:t>
                </a:r>
              </a:p>
              <a:p>
                <a:pPr marL="0" indent="0" algn="just">
                  <a:buNone/>
                </a:pPr>
                <a14:m>
                  <m:oMathPara xmlns:m="http://schemas.openxmlformats.org/officeDocument/2006/math">
                    <m:oMathParaPr>
                      <m:jc m:val="centerGroup"/>
                    </m:oMathParaPr>
                    <m:oMath xmlns:m="http://schemas.openxmlformats.org/officeDocument/2006/math">
                      <m:sSub>
                        <m:sSubPr>
                          <m:ctrlPr>
                            <a:rPr lang="en-US" sz="4000" b="0" i="1" smtClean="0">
                              <a:solidFill>
                                <a:srgbClr val="FF0000"/>
                              </a:solidFill>
                              <a:latin typeface="Cambria Math" panose="02040503050406030204" pitchFamily="18" charset="0"/>
                            </a:rPr>
                          </m:ctrlPr>
                        </m:sSubPr>
                        <m:e>
                          <m:r>
                            <a:rPr lang="en-US" sz="4000" b="0" i="1" smtClean="0">
                              <a:solidFill>
                                <a:srgbClr val="FF0000"/>
                              </a:solidFill>
                              <a:latin typeface="Cambria Math" panose="02040503050406030204" pitchFamily="18" charset="0"/>
                            </a:rPr>
                            <m:t>𝐹</m:t>
                          </m:r>
                        </m:e>
                        <m:sub>
                          <m:r>
                            <a:rPr lang="en-US" sz="4000" b="0" i="1" smtClean="0">
                              <a:solidFill>
                                <a:srgbClr val="FF0000"/>
                              </a:solidFill>
                              <a:latin typeface="Cambria Math" panose="02040503050406030204" pitchFamily="18" charset="0"/>
                            </a:rPr>
                            <m:t>𝑡</m:t>
                          </m:r>
                          <m:r>
                            <a:rPr lang="en-US" sz="4000" b="0" i="1" smtClean="0">
                              <a:solidFill>
                                <a:srgbClr val="FF0000"/>
                              </a:solidFill>
                              <a:latin typeface="Cambria Math" panose="02040503050406030204" pitchFamily="18" charset="0"/>
                            </a:rPr>
                            <m:t>+1</m:t>
                          </m:r>
                        </m:sub>
                      </m:sSub>
                      <m:r>
                        <a:rPr lang="en-US" sz="4000" b="0" i="1" smtClean="0">
                          <a:solidFill>
                            <a:srgbClr val="FF0000"/>
                          </a:solidFill>
                          <a:latin typeface="Cambria Math" panose="02040503050406030204" pitchFamily="18" charset="0"/>
                        </a:rPr>
                        <m:t>=</m:t>
                      </m:r>
                      <m:f>
                        <m:fPr>
                          <m:ctrlPr>
                            <a:rPr lang="en-US" sz="4000" b="0" i="1" smtClean="0">
                              <a:solidFill>
                                <a:srgbClr val="FF0000"/>
                              </a:solidFill>
                              <a:latin typeface="Cambria Math" panose="02040503050406030204" pitchFamily="18" charset="0"/>
                            </a:rPr>
                          </m:ctrlPr>
                        </m:fPr>
                        <m:num>
                          <m:sSub>
                            <m:sSubPr>
                              <m:ctrlPr>
                                <a:rPr lang="en-US" sz="4000" i="1">
                                  <a:solidFill>
                                    <a:srgbClr val="FF0000"/>
                                  </a:solidFill>
                                  <a:latin typeface="Cambria Math" panose="02040503050406030204" pitchFamily="18" charset="0"/>
                                </a:rPr>
                              </m:ctrlPr>
                            </m:sSubPr>
                            <m:e>
                              <m:r>
                                <a:rPr lang="en-US" sz="4000" b="0" i="1" smtClean="0">
                                  <a:solidFill>
                                    <a:srgbClr val="FF0000"/>
                                  </a:solidFill>
                                  <a:latin typeface="Cambria Math" panose="02040503050406030204" pitchFamily="18" charset="0"/>
                                </a:rPr>
                                <m:t>𝑆</m:t>
                              </m:r>
                            </m:e>
                            <m:sub>
                              <m:r>
                                <a:rPr lang="en-US" sz="4000" i="1">
                                  <a:solidFill>
                                    <a:srgbClr val="FF0000"/>
                                  </a:solidFill>
                                  <a:latin typeface="Cambria Math" panose="02040503050406030204" pitchFamily="18" charset="0"/>
                                </a:rPr>
                                <m:t>𝑡</m:t>
                              </m:r>
                            </m:sub>
                          </m:sSub>
                          <m:r>
                            <a:rPr lang="en-US" sz="4000" b="0" i="1" smtClean="0">
                              <a:solidFill>
                                <a:srgbClr val="FF0000"/>
                              </a:solidFill>
                              <a:latin typeface="Cambria Math" panose="02040503050406030204" pitchFamily="18" charset="0"/>
                            </a:rPr>
                            <m:t>+</m:t>
                          </m:r>
                          <m:sSub>
                            <m:sSubPr>
                              <m:ctrlPr>
                                <a:rPr lang="en-US" sz="4000" i="1">
                                  <a:solidFill>
                                    <a:srgbClr val="FF0000"/>
                                  </a:solidFill>
                                  <a:latin typeface="Cambria Math" panose="02040503050406030204" pitchFamily="18" charset="0"/>
                                </a:rPr>
                              </m:ctrlPr>
                            </m:sSubPr>
                            <m:e>
                              <m:r>
                                <a:rPr lang="en-US" sz="4000" i="1">
                                  <a:solidFill>
                                    <a:srgbClr val="FF0000"/>
                                  </a:solidFill>
                                  <a:latin typeface="Cambria Math" panose="02040503050406030204" pitchFamily="18" charset="0"/>
                                </a:rPr>
                                <m:t>𝑆</m:t>
                              </m:r>
                            </m:e>
                            <m:sub>
                              <m:r>
                                <a:rPr lang="en-US" sz="4000" i="1">
                                  <a:solidFill>
                                    <a:srgbClr val="FF0000"/>
                                  </a:solidFill>
                                  <a:latin typeface="Cambria Math" panose="02040503050406030204" pitchFamily="18" charset="0"/>
                                </a:rPr>
                                <m:t>𝑡</m:t>
                              </m:r>
                              <m:r>
                                <a:rPr lang="en-US" sz="4000" b="0" i="1" smtClean="0">
                                  <a:solidFill>
                                    <a:srgbClr val="FF0000"/>
                                  </a:solidFill>
                                  <a:latin typeface="Cambria Math" panose="02040503050406030204" pitchFamily="18" charset="0"/>
                                </a:rPr>
                                <m:t>−1</m:t>
                              </m:r>
                            </m:sub>
                          </m:sSub>
                          <m:r>
                            <a:rPr lang="en-US"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m:t>
                          </m:r>
                          <m:sSub>
                            <m:sSubPr>
                              <m:ctrlPr>
                                <a:rPr lang="en-US" sz="4000" i="1">
                                  <a:solidFill>
                                    <a:srgbClr val="FF0000"/>
                                  </a:solidFill>
                                  <a:latin typeface="Cambria Math" panose="02040503050406030204" pitchFamily="18" charset="0"/>
                                </a:rPr>
                              </m:ctrlPr>
                            </m:sSubPr>
                            <m:e>
                              <m:r>
                                <a:rPr lang="en-US" sz="4000" i="1">
                                  <a:solidFill>
                                    <a:srgbClr val="FF0000"/>
                                  </a:solidFill>
                                  <a:latin typeface="Cambria Math" panose="02040503050406030204" pitchFamily="18" charset="0"/>
                                </a:rPr>
                                <m:t>𝑆</m:t>
                              </m:r>
                            </m:e>
                            <m:sub>
                              <m:r>
                                <a:rPr lang="en-US" sz="4000" i="1">
                                  <a:solidFill>
                                    <a:srgbClr val="FF0000"/>
                                  </a:solidFill>
                                  <a:latin typeface="Cambria Math" panose="02040503050406030204" pitchFamily="18" charset="0"/>
                                </a:rPr>
                                <m:t>𝑡</m:t>
                              </m:r>
                              <m:r>
                                <a:rPr lang="mn-MN" sz="4000" b="0" i="1" smtClean="0">
                                  <a:solidFill>
                                    <a:srgbClr val="FF0000"/>
                                  </a:solidFill>
                                  <a:latin typeface="Cambria Math" panose="02040503050406030204" pitchFamily="18" charset="0"/>
                                </a:rPr>
                                <m:t>−</m:t>
                              </m:r>
                              <m:r>
                                <a:rPr lang="en-US" sz="4000" b="0" i="1" smtClean="0">
                                  <a:solidFill>
                                    <a:srgbClr val="FF0000"/>
                                  </a:solidFill>
                                  <a:latin typeface="Cambria Math" panose="02040503050406030204" pitchFamily="18" charset="0"/>
                                </a:rPr>
                                <m:t>𝑛</m:t>
                              </m:r>
                              <m:r>
                                <a:rPr lang="en-US" sz="4000" b="0" i="1" smtClean="0">
                                  <a:solidFill>
                                    <a:srgbClr val="FF0000"/>
                                  </a:solidFill>
                                  <a:latin typeface="Cambria Math" panose="02040503050406030204" pitchFamily="18" charset="0"/>
                                </a:rPr>
                                <m:t>+1</m:t>
                              </m:r>
                            </m:sub>
                          </m:sSub>
                        </m:num>
                        <m:den>
                          <m:r>
                            <a:rPr lang="en-US" sz="4000" b="0" i="1" smtClean="0">
                              <a:solidFill>
                                <a:srgbClr val="FF0000"/>
                              </a:solidFill>
                              <a:latin typeface="Cambria Math" panose="02040503050406030204" pitchFamily="18" charset="0"/>
                            </a:rPr>
                            <m:t>𝑛</m:t>
                          </m:r>
                        </m:den>
                      </m:f>
                    </m:oMath>
                  </m:oMathPara>
                </a14:m>
                <a:endParaRPr lang="mn-MN" dirty="0">
                  <a:solidFill>
                    <a:srgbClr val="002060"/>
                  </a:solidFill>
                  <a:latin typeface="Times New Roman" panose="02020603050405020304" pitchFamily="18" charset="0"/>
                  <a:cs typeface="Times New Roman" panose="02020603050405020304" pitchFamily="18" charset="0"/>
                </a:endParaRPr>
              </a:p>
              <a:p>
                <a:pPr algn="just"/>
                <a:endParaRPr lang="mn-MN" dirty="0">
                  <a:solidFill>
                    <a:srgbClr val="002060"/>
                  </a:solidFill>
                  <a:latin typeface="Times New Roman" panose="02020603050405020304" pitchFamily="18" charset="0"/>
                  <a:cs typeface="Times New Roman" panose="02020603050405020304" pitchFamily="18" charset="0"/>
                </a:endParaRPr>
              </a:p>
              <a:p>
                <a:pPr algn="just"/>
                <a:endParaRPr lang="mn-MN" dirty="0">
                  <a:solidFill>
                    <a:srgbClr val="002060"/>
                  </a:solidFill>
                  <a:latin typeface="Times New Roman" panose="02020603050405020304" pitchFamily="18" charset="0"/>
                  <a:cs typeface="Times New Roman" panose="02020603050405020304" pitchFamily="18" charset="0"/>
                </a:endParaRPr>
              </a:p>
              <a:p>
                <a:pPr algn="just"/>
                <a:r>
                  <a:rPr lang="mn-MN" dirty="0">
                    <a:solidFill>
                      <a:srgbClr val="002060"/>
                    </a:solidFill>
                    <a:latin typeface="Times New Roman" panose="02020603050405020304" pitchFamily="18" charset="0"/>
                    <a:cs typeface="Times New Roman" panose="02020603050405020304" pitchFamily="18" charset="0"/>
                  </a:rPr>
                  <a:t>Тооцоход хялбар. </a:t>
                </a:r>
              </a:p>
              <a:p>
                <a:pPr algn="just"/>
                <a:r>
                  <a:rPr lang="mn-MN" dirty="0">
                    <a:solidFill>
                      <a:srgbClr val="002060"/>
                    </a:solidFill>
                    <a:latin typeface="Times New Roman" panose="02020603050405020304" pitchFamily="18" charset="0"/>
                    <a:cs typeface="Times New Roman" panose="02020603050405020304" pitchFamily="18" charset="0"/>
                  </a:rPr>
                  <a:t>Ойлгомжтой. </a:t>
                </a:r>
              </a:p>
              <a:p>
                <a:pPr algn="just"/>
                <a14:m>
                  <m:oMath xmlns:m="http://schemas.openxmlformats.org/officeDocument/2006/math">
                    <m:r>
                      <a:rPr lang="en-US" b="0" i="1" smtClean="0">
                        <a:solidFill>
                          <a:srgbClr val="002060"/>
                        </a:solidFill>
                        <a:latin typeface="Cambria Math" panose="02040503050406030204" pitchFamily="18" charset="0"/>
                      </a:rPr>
                      <m:t>𝑛</m:t>
                    </m:r>
                  </m:oMath>
                </a14:m>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тоо их байх тусам өгөгдлийн хэлбэлзэлд мэдрэмтгий бус болдог. </a:t>
                </a:r>
              </a:p>
              <a:p>
                <a:pPr algn="just"/>
                <a:r>
                  <a:rPr lang="mn-MN" dirty="0">
                    <a:solidFill>
                      <a:srgbClr val="002060"/>
                    </a:solidFill>
                    <a:latin typeface="Times New Roman" panose="02020603050405020304" pitchFamily="18" charset="0"/>
                    <a:cs typeface="Times New Roman" panose="02020603050405020304" pitchFamily="18" charset="0"/>
                  </a:rPr>
                  <a:t>Борлуулалтын хэмжээ дундажлагдсан учир гэнэтийн их, эсвэл бага үр дүнд хэзээ ч хүргэхгүй. Борлуулалт огцом өсөх, буурах үед алдаа гардаг.</a:t>
                </a:r>
              </a:p>
            </p:txBody>
          </p:sp>
        </mc:Choice>
        <mc:Fallback xmlns="">
          <p:sp>
            <p:nvSpPr>
              <p:cNvPr id="3" name="Content Placeholder 2">
                <a:extLst>
                  <a:ext uri="{FF2B5EF4-FFF2-40B4-BE49-F238E27FC236}">
                    <a16:creationId xmlns:a16="http://schemas.microsoft.com/office/drawing/2014/main" id="{1298EE9C-E2BD-8345-D613-4784AF1E4B5F}"/>
                  </a:ext>
                </a:extLst>
              </p:cNvPr>
              <p:cNvSpPr>
                <a:spLocks noGrp="1" noRot="1" noChangeAspect="1" noMove="1" noResize="1" noEditPoints="1" noAdjustHandles="1" noChangeArrowheads="1" noChangeShapeType="1" noTextEdit="1"/>
              </p:cNvSpPr>
              <p:nvPr>
                <p:ph idx="1"/>
              </p:nvPr>
            </p:nvSpPr>
            <p:spPr>
              <a:xfrm>
                <a:off x="195261" y="541176"/>
                <a:ext cx="11801477" cy="6494106"/>
              </a:xfrm>
              <a:blipFill>
                <a:blip r:embed="rId3"/>
                <a:stretch>
                  <a:fillRect l="-930" t="-1690" r="-1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2390A3-DCAB-9293-98EF-10BDB8127840}"/>
                  </a:ext>
                </a:extLst>
              </p:cNvPr>
              <p:cNvSpPr txBox="1"/>
              <p:nvPr/>
            </p:nvSpPr>
            <p:spPr>
              <a:xfrm>
                <a:off x="3321699" y="2862660"/>
                <a:ext cx="8675040" cy="2062103"/>
              </a:xfrm>
              <a:prstGeom prst="rect">
                <a:avLst/>
              </a:prstGeom>
              <a:noFill/>
            </p:spPr>
            <p:txBody>
              <a:bodyPr wrap="square">
                <a:spAutoFit/>
              </a:bodyPr>
              <a:lstStyle/>
              <a:p>
                <a:pPr>
                  <a:lnSpc>
                    <a:spcPct val="80000"/>
                  </a:lnSpc>
                </a:pPr>
                <a14:m>
                  <m:oMath xmlns:m="http://schemas.openxmlformats.org/officeDocument/2006/math">
                    <m:sSub>
                      <m:sSubPr>
                        <m:ctrlPr>
                          <a:rPr lang="en-US" sz="3200" b="0" i="1" smtClean="0">
                            <a:solidFill>
                              <a:srgbClr val="00B050"/>
                            </a:solidFill>
                            <a:latin typeface="Cambria Math" panose="02040503050406030204" pitchFamily="18" charset="0"/>
                          </a:rPr>
                        </m:ctrlPr>
                      </m:sSubPr>
                      <m:e>
                        <m:r>
                          <a:rPr lang="en-US" sz="3200" b="0" i="1" smtClean="0">
                            <a:solidFill>
                              <a:srgbClr val="00B050"/>
                            </a:solidFill>
                            <a:latin typeface="Cambria Math" panose="02040503050406030204" pitchFamily="18" charset="0"/>
                          </a:rPr>
                          <m:t>𝐹</m:t>
                        </m:r>
                      </m:e>
                      <m:sub>
                        <m:r>
                          <a:rPr lang="en-US" sz="3200" b="0" i="1" smtClean="0">
                            <a:solidFill>
                              <a:srgbClr val="00B050"/>
                            </a:solidFill>
                            <a:latin typeface="Cambria Math" panose="02040503050406030204" pitchFamily="18" charset="0"/>
                          </a:rPr>
                          <m:t>𝑡</m:t>
                        </m:r>
                        <m:r>
                          <a:rPr lang="en-US" sz="3200" b="0" i="1" smtClean="0">
                            <a:solidFill>
                              <a:srgbClr val="00B050"/>
                            </a:solidFill>
                            <a:latin typeface="Cambria Math" panose="02040503050406030204" pitchFamily="18" charset="0"/>
                          </a:rPr>
                          <m:t>+1</m:t>
                        </m:r>
                      </m:sub>
                    </m:sSub>
                    <m:r>
                      <a:rPr lang="mn-MN" sz="3200" b="0" i="0" smtClean="0">
                        <a:solidFill>
                          <a:srgbClr val="00B050"/>
                        </a:solidFill>
                        <a:latin typeface="Cambria Math" panose="02040503050406030204" pitchFamily="18" charset="0"/>
                      </a:rPr>
                      <m:t> </m:t>
                    </m:r>
                  </m:oMath>
                </a14:m>
                <a:r>
                  <a:rPr lang="mn-MN" sz="3200" dirty="0">
                    <a:solidFill>
                      <a:srgbClr val="00B050"/>
                    </a:solidFill>
                    <a:latin typeface="Times New Roman" panose="02020603050405020304" pitchFamily="18" charset="0"/>
                    <a:cs typeface="Times New Roman" panose="02020603050405020304" pitchFamily="18" charset="0"/>
                  </a:rPr>
                  <a:t>- ирэх жилийн </a:t>
                </a:r>
                <a:r>
                  <a:rPr lang="en-US" sz="3200" dirty="0">
                    <a:solidFill>
                      <a:srgbClr val="00B050"/>
                    </a:solidFill>
                    <a:latin typeface="Times New Roman" panose="02020603050405020304" pitchFamily="18" charset="0"/>
                    <a:cs typeface="Times New Roman" panose="02020603050405020304" pitchFamily="18" charset="0"/>
                  </a:rPr>
                  <a:t>(</a:t>
                </a:r>
                <a:r>
                  <a:rPr lang="mn-MN" sz="3200" dirty="0">
                    <a:solidFill>
                      <a:srgbClr val="00B050"/>
                    </a:solidFill>
                    <a:latin typeface="Times New Roman" panose="02020603050405020304" pitchFamily="18" charset="0"/>
                    <a:cs typeface="Times New Roman" panose="02020603050405020304" pitchFamily="18" charset="0"/>
                  </a:rPr>
                  <a:t>сарын</a:t>
                </a:r>
                <a:r>
                  <a:rPr lang="en-US" sz="3200" dirty="0">
                    <a:solidFill>
                      <a:srgbClr val="00B050"/>
                    </a:solidFill>
                    <a:latin typeface="Times New Roman" panose="02020603050405020304" pitchFamily="18" charset="0"/>
                    <a:cs typeface="Times New Roman" panose="02020603050405020304" pitchFamily="18" charset="0"/>
                  </a:rPr>
                  <a:t>)</a:t>
                </a:r>
                <a:r>
                  <a:rPr lang="mn-MN" sz="3200" dirty="0">
                    <a:solidFill>
                      <a:srgbClr val="00B050"/>
                    </a:solidFill>
                    <a:latin typeface="Times New Roman" panose="02020603050405020304" pitchFamily="18" charset="0"/>
                    <a:cs typeface="Times New Roman" panose="02020603050405020304" pitchFamily="18" charset="0"/>
                  </a:rPr>
                  <a:t> борлуулалтын таамаглалын хэмжээ</a:t>
                </a:r>
                <a:r>
                  <a:rPr lang="en-US" sz="3200" dirty="0">
                    <a:solidFill>
                      <a:srgbClr val="00B050"/>
                    </a:solidFill>
                    <a:latin typeface="Times New Roman" panose="02020603050405020304" pitchFamily="18" charset="0"/>
                    <a:cs typeface="Times New Roman" panose="02020603050405020304" pitchFamily="18" charset="0"/>
                  </a:rPr>
                  <a:t>;</a:t>
                </a:r>
              </a:p>
              <a:p>
                <a:pPr>
                  <a:lnSpc>
                    <a:spcPct val="80000"/>
                  </a:lnSpc>
                </a:pPr>
                <a14:m>
                  <m:oMath xmlns:m="http://schemas.openxmlformats.org/officeDocument/2006/math">
                    <m:sSub>
                      <m:sSubPr>
                        <m:ctrlPr>
                          <a:rPr lang="en-US" sz="3200" i="1" smtClean="0">
                            <a:solidFill>
                              <a:srgbClr val="00B050"/>
                            </a:solidFill>
                            <a:latin typeface="Cambria Math" panose="02040503050406030204" pitchFamily="18" charset="0"/>
                          </a:rPr>
                        </m:ctrlPr>
                      </m:sSubPr>
                      <m:e>
                        <m:r>
                          <a:rPr lang="en-US" sz="3200" b="0" i="1" smtClean="0">
                            <a:solidFill>
                              <a:srgbClr val="00B050"/>
                            </a:solidFill>
                            <a:latin typeface="Cambria Math" panose="02040503050406030204" pitchFamily="18" charset="0"/>
                          </a:rPr>
                          <m:t>𝑆</m:t>
                        </m:r>
                      </m:e>
                      <m:sub>
                        <m:r>
                          <a:rPr lang="en-US" sz="3200" i="1">
                            <a:solidFill>
                              <a:srgbClr val="00B050"/>
                            </a:solidFill>
                            <a:latin typeface="Cambria Math" panose="02040503050406030204" pitchFamily="18" charset="0"/>
                          </a:rPr>
                          <m:t>𝑡</m:t>
                        </m:r>
                      </m:sub>
                    </m:sSub>
                  </m:oMath>
                </a14:m>
                <a:r>
                  <a:rPr lang="en-US" sz="3200" dirty="0">
                    <a:solidFill>
                      <a:srgbClr val="00B050"/>
                    </a:solidFill>
                    <a:latin typeface="Times New Roman" panose="02020603050405020304" pitchFamily="18" charset="0"/>
                    <a:cs typeface="Times New Roman" panose="02020603050405020304" pitchFamily="18" charset="0"/>
                  </a:rPr>
                  <a:t> - </a:t>
                </a:r>
                <a:r>
                  <a:rPr lang="mn-MN" sz="3200" dirty="0">
                    <a:solidFill>
                      <a:srgbClr val="00B050"/>
                    </a:solidFill>
                    <a:latin typeface="Times New Roman" panose="02020603050405020304" pitchFamily="18" charset="0"/>
                    <a:cs typeface="Times New Roman" panose="02020603050405020304" pitchFamily="18" charset="0"/>
                  </a:rPr>
                  <a:t>одоогийн борлуулалт</a:t>
                </a:r>
                <a:r>
                  <a:rPr lang="en-US" sz="3200" dirty="0">
                    <a:solidFill>
                      <a:srgbClr val="00B050"/>
                    </a:solidFill>
                    <a:latin typeface="Times New Roman" panose="02020603050405020304" pitchFamily="18" charset="0"/>
                    <a:cs typeface="Times New Roman" panose="02020603050405020304" pitchFamily="18" charset="0"/>
                  </a:rPr>
                  <a:t>;</a:t>
                </a:r>
                <a:endParaRPr lang="mn-MN" sz="3200" dirty="0">
                  <a:solidFill>
                    <a:srgbClr val="00B050"/>
                  </a:solidFill>
                  <a:latin typeface="Times New Roman" panose="02020603050405020304" pitchFamily="18" charset="0"/>
                  <a:cs typeface="Times New Roman" panose="02020603050405020304" pitchFamily="18" charset="0"/>
                </a:endParaRPr>
              </a:p>
              <a:p>
                <a:pPr>
                  <a:lnSpc>
                    <a:spcPct val="80000"/>
                  </a:lnSpc>
                </a:pPr>
                <a14:m>
                  <m:oMath xmlns:m="http://schemas.openxmlformats.org/officeDocument/2006/math">
                    <m:sSub>
                      <m:sSubPr>
                        <m:ctrlPr>
                          <a:rPr lang="en-US" sz="3200" i="1" smtClean="0">
                            <a:solidFill>
                              <a:srgbClr val="00B050"/>
                            </a:solidFill>
                            <a:latin typeface="Cambria Math" panose="02040503050406030204" pitchFamily="18" charset="0"/>
                          </a:rPr>
                        </m:ctrlPr>
                      </m:sSubPr>
                      <m:e>
                        <m:r>
                          <a:rPr lang="en-US" sz="3200" i="1">
                            <a:solidFill>
                              <a:srgbClr val="00B050"/>
                            </a:solidFill>
                            <a:latin typeface="Cambria Math" panose="02040503050406030204" pitchFamily="18" charset="0"/>
                          </a:rPr>
                          <m:t>𝑆</m:t>
                        </m:r>
                      </m:e>
                      <m:sub>
                        <m:r>
                          <a:rPr lang="en-US" sz="3200" i="1">
                            <a:solidFill>
                              <a:srgbClr val="00B050"/>
                            </a:solidFill>
                            <a:latin typeface="Cambria Math" panose="02040503050406030204" pitchFamily="18" charset="0"/>
                          </a:rPr>
                          <m:t>𝑡</m:t>
                        </m:r>
                        <m:r>
                          <a:rPr lang="en-US" sz="3200" b="0" i="1" smtClean="0">
                            <a:solidFill>
                              <a:srgbClr val="00B050"/>
                            </a:solidFill>
                            <a:latin typeface="Cambria Math" panose="02040503050406030204" pitchFamily="18" charset="0"/>
                          </a:rPr>
                          <m:t>−1</m:t>
                        </m:r>
                      </m:sub>
                    </m:sSub>
                  </m:oMath>
                </a14:m>
                <a:r>
                  <a:rPr lang="mn-MN" sz="3200" dirty="0">
                    <a:solidFill>
                      <a:srgbClr val="00B050"/>
                    </a:solidFill>
                    <a:latin typeface="Times New Roman" panose="02020603050405020304" pitchFamily="18" charset="0"/>
                    <a:cs typeface="Times New Roman" panose="02020603050405020304" pitchFamily="18" charset="0"/>
                  </a:rPr>
                  <a:t> - өмнөх жилийн </a:t>
                </a:r>
                <a:r>
                  <a:rPr lang="en-US" sz="3200" dirty="0">
                    <a:solidFill>
                      <a:srgbClr val="00B050"/>
                    </a:solidFill>
                    <a:latin typeface="Times New Roman" panose="02020603050405020304" pitchFamily="18" charset="0"/>
                    <a:cs typeface="Times New Roman" panose="02020603050405020304" pitchFamily="18" charset="0"/>
                  </a:rPr>
                  <a:t>(</a:t>
                </a:r>
                <a:r>
                  <a:rPr lang="mn-MN" sz="3200" dirty="0">
                    <a:solidFill>
                      <a:srgbClr val="00B050"/>
                    </a:solidFill>
                    <a:latin typeface="Times New Roman" panose="02020603050405020304" pitchFamily="18" charset="0"/>
                    <a:cs typeface="Times New Roman" panose="02020603050405020304" pitchFamily="18" charset="0"/>
                  </a:rPr>
                  <a:t>сарын</a:t>
                </a:r>
                <a:r>
                  <a:rPr lang="en-US" sz="3200" dirty="0">
                    <a:solidFill>
                      <a:srgbClr val="00B050"/>
                    </a:solidFill>
                    <a:latin typeface="Times New Roman" panose="02020603050405020304" pitchFamily="18" charset="0"/>
                    <a:cs typeface="Times New Roman" panose="02020603050405020304" pitchFamily="18" charset="0"/>
                  </a:rPr>
                  <a:t>)</a:t>
                </a:r>
                <a:r>
                  <a:rPr lang="mn-MN" sz="3200" dirty="0">
                    <a:solidFill>
                      <a:srgbClr val="00B050"/>
                    </a:solidFill>
                    <a:latin typeface="Times New Roman" panose="02020603050405020304" pitchFamily="18" charset="0"/>
                    <a:cs typeface="Times New Roman" panose="02020603050405020304" pitchFamily="18" charset="0"/>
                  </a:rPr>
                  <a:t> борлуулалт</a:t>
                </a:r>
                <a:r>
                  <a:rPr lang="en-US" sz="3200" dirty="0">
                    <a:solidFill>
                      <a:srgbClr val="00B050"/>
                    </a:solidFill>
                    <a:latin typeface="Times New Roman" panose="02020603050405020304" pitchFamily="18" charset="0"/>
                    <a:cs typeface="Times New Roman" panose="02020603050405020304" pitchFamily="18" charset="0"/>
                  </a:rPr>
                  <a:t>;</a:t>
                </a:r>
              </a:p>
              <a:p>
                <a:pPr>
                  <a:lnSpc>
                    <a:spcPct val="80000"/>
                  </a:lnSpc>
                </a:pPr>
                <a14:m>
                  <m:oMath xmlns:m="http://schemas.openxmlformats.org/officeDocument/2006/math">
                    <m:r>
                      <a:rPr lang="en-US" sz="3200" b="0" i="1" smtClean="0">
                        <a:solidFill>
                          <a:srgbClr val="00B050"/>
                        </a:solidFill>
                        <a:latin typeface="Cambria Math" panose="02040503050406030204" pitchFamily="18" charset="0"/>
                      </a:rPr>
                      <m:t>𝑛</m:t>
                    </m:r>
                  </m:oMath>
                </a14:m>
                <a:r>
                  <a:rPr lang="en-US" sz="3200" dirty="0">
                    <a:solidFill>
                      <a:srgbClr val="00B050"/>
                    </a:solidFill>
                    <a:latin typeface="Times New Roman" panose="02020603050405020304" pitchFamily="18" charset="0"/>
                    <a:cs typeface="Times New Roman" panose="02020603050405020304" pitchFamily="18" charset="0"/>
                  </a:rPr>
                  <a:t> – </a:t>
                </a:r>
                <a:r>
                  <a:rPr lang="mn-MN" sz="3200" dirty="0">
                    <a:solidFill>
                      <a:srgbClr val="00B050"/>
                    </a:solidFill>
                    <a:latin typeface="Times New Roman" panose="02020603050405020304" pitchFamily="18" charset="0"/>
                    <a:cs typeface="Times New Roman" panose="02020603050405020304" pitchFamily="18" charset="0"/>
                  </a:rPr>
                  <a:t>гулсах дундаж тооцох жилийн </a:t>
                </a:r>
                <a:r>
                  <a:rPr lang="en-US" sz="3200" dirty="0">
                    <a:solidFill>
                      <a:srgbClr val="00B050"/>
                    </a:solidFill>
                    <a:latin typeface="Times New Roman" panose="02020603050405020304" pitchFamily="18" charset="0"/>
                    <a:cs typeface="Times New Roman" panose="02020603050405020304" pitchFamily="18" charset="0"/>
                  </a:rPr>
                  <a:t>(</a:t>
                </a:r>
                <a:r>
                  <a:rPr lang="mn-MN" sz="3200" dirty="0">
                    <a:solidFill>
                      <a:srgbClr val="00B050"/>
                    </a:solidFill>
                    <a:latin typeface="Times New Roman" panose="02020603050405020304" pitchFamily="18" charset="0"/>
                    <a:cs typeface="Times New Roman" panose="02020603050405020304" pitchFamily="18" charset="0"/>
                  </a:rPr>
                  <a:t>сарын</a:t>
                </a:r>
                <a:r>
                  <a:rPr lang="en-US" sz="3200" dirty="0">
                    <a:solidFill>
                      <a:srgbClr val="00B050"/>
                    </a:solidFill>
                    <a:latin typeface="Times New Roman" panose="02020603050405020304" pitchFamily="18" charset="0"/>
                    <a:cs typeface="Times New Roman" panose="02020603050405020304" pitchFamily="18" charset="0"/>
                  </a:rPr>
                  <a:t>)</a:t>
                </a:r>
                <a:r>
                  <a:rPr lang="mn-MN" sz="3200" dirty="0">
                    <a:solidFill>
                      <a:srgbClr val="00B050"/>
                    </a:solidFill>
                    <a:latin typeface="Times New Roman" panose="02020603050405020304" pitchFamily="18" charset="0"/>
                    <a:cs typeface="Times New Roman" panose="02020603050405020304" pitchFamily="18" charset="0"/>
                  </a:rPr>
                  <a:t> тоо.</a:t>
                </a:r>
                <a:endParaRPr lang="en-US" sz="3200" dirty="0">
                  <a:solidFill>
                    <a:srgbClr val="00B050"/>
                  </a:solidFill>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182390A3-DCAB-9293-98EF-10BDB8127840}"/>
                  </a:ext>
                </a:extLst>
              </p:cNvPr>
              <p:cNvSpPr txBox="1">
                <a:spLocks noRot="1" noChangeAspect="1" noMove="1" noResize="1" noEditPoints="1" noAdjustHandles="1" noChangeArrowheads="1" noChangeShapeType="1" noTextEdit="1"/>
              </p:cNvSpPr>
              <p:nvPr/>
            </p:nvSpPr>
            <p:spPr>
              <a:xfrm>
                <a:off x="3321699" y="2862660"/>
                <a:ext cx="8675040" cy="2062103"/>
              </a:xfrm>
              <a:prstGeom prst="rect">
                <a:avLst/>
              </a:prstGeom>
              <a:blipFill>
                <a:blip r:embed="rId4"/>
                <a:stretch>
                  <a:fillRect l="-1827" t="-8876" b="-8580"/>
                </a:stretch>
              </a:blipFill>
            </p:spPr>
            <p:txBody>
              <a:bodyPr/>
              <a:lstStyle/>
              <a:p>
                <a:r>
                  <a:rPr lang="en-US">
                    <a:noFill/>
                  </a:rPr>
                  <a:t> </a:t>
                </a:r>
              </a:p>
            </p:txBody>
          </p:sp>
        </mc:Fallback>
      </mc:AlternateContent>
    </p:spTree>
    <p:extLst>
      <p:ext uri="{BB962C8B-B14F-4D97-AF65-F5344CB8AC3E}">
        <p14:creationId xmlns:p14="http://schemas.microsoft.com/office/powerpoint/2010/main" val="857507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8ACC4-4D0D-6A84-9BB7-2418359F3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721F2-C3EB-5CD7-9EA9-A92B5760C16B}"/>
              </a:ext>
            </a:extLst>
          </p:cNvPr>
          <p:cNvSpPr>
            <a:spLocks noGrp="1"/>
          </p:cNvSpPr>
          <p:nvPr>
            <p:ph type="title"/>
          </p:nvPr>
        </p:nvSpPr>
        <p:spPr>
          <a:xfrm>
            <a:off x="167949" y="93305"/>
            <a:ext cx="11719249" cy="503854"/>
          </a:xfrm>
        </p:spPr>
        <p:txBody>
          <a:bodyPr>
            <a:normAutofit fontScale="90000"/>
          </a:bodyPr>
          <a:lstStyle/>
          <a:p>
            <a:r>
              <a:rPr lang="mn-MN" sz="4000" b="1" dirty="0">
                <a:solidFill>
                  <a:srgbClr val="002060"/>
                </a:solidFill>
                <a:latin typeface="Times New Roman" panose="02020603050405020304" pitchFamily="18" charset="0"/>
                <a:cs typeface="Times New Roman" panose="02020603050405020304" pitchFamily="18" charset="0"/>
              </a:rPr>
              <a:t>Эрэлт таамаглах тоон аргууд</a:t>
            </a:r>
            <a:endParaRPr 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AF6132-31B8-7C34-DA3E-81F8DED0F9C0}"/>
                  </a:ext>
                </a:extLst>
              </p:cNvPr>
              <p:cNvSpPr>
                <a:spLocks noGrp="1"/>
              </p:cNvSpPr>
              <p:nvPr>
                <p:ph idx="1"/>
              </p:nvPr>
            </p:nvSpPr>
            <p:spPr>
              <a:xfrm>
                <a:off x="167949" y="551606"/>
                <a:ext cx="11719249" cy="6306394"/>
              </a:xfrm>
            </p:spPr>
            <p:txBody>
              <a:bodyPr>
                <a:normAutofit/>
              </a:bodyPr>
              <a:lstStyle/>
              <a:p>
                <a:pPr algn="just"/>
                <a:r>
                  <a:rPr lang="mn-MN" b="1" dirty="0">
                    <a:solidFill>
                      <a:srgbClr val="002060"/>
                    </a:solidFill>
                    <a:latin typeface="Times New Roman" panose="02020603050405020304" pitchFamily="18" charset="0"/>
                    <a:cs typeface="Times New Roman" panose="02020603050405020304" pitchFamily="18" charset="0"/>
                  </a:rPr>
                  <a:t>Экспоненциаль жигдрүүлэлтийн (тэгшрүүлэлтийн) арга</a:t>
                </a:r>
                <a:r>
                  <a:rPr lang="en-US" dirty="0">
                    <a:solidFill>
                      <a:srgbClr val="002060"/>
                    </a:solidFill>
                    <a:latin typeface="Times New Roman" panose="02020603050405020304" pitchFamily="18" charset="0"/>
                    <a:cs typeface="Times New Roman" panose="02020603050405020304" pitchFamily="18" charset="0"/>
                  </a:rPr>
                  <a:t> – </a:t>
                </a:r>
                <a:r>
                  <a:rPr lang="mn-MN" dirty="0">
                    <a:solidFill>
                      <a:srgbClr val="002060"/>
                    </a:solidFill>
                    <a:latin typeface="Times New Roman" panose="02020603050405020304" pitchFamily="18" charset="0"/>
                    <a:cs typeface="Times New Roman" panose="02020603050405020304" pitchFamily="18" charset="0"/>
                  </a:rPr>
                  <a:t>ойрын өнгөрсөн үеийн борлуулалтын хэмжээг чухалчилж, холын өнгөрсөн үзүүлэлтүүдийн нөлөөллийг багасгадаг: </a:t>
                </a:r>
              </a:p>
              <a:p>
                <a:pPr marL="0" indent="0" algn="just">
                  <a:buNone/>
                </a:pPr>
                <a14:m>
                  <m:oMathPara xmlns:m="http://schemas.openxmlformats.org/officeDocument/2006/math">
                    <m:oMathParaPr>
                      <m:jc m:val="centerGroup"/>
                    </m:oMathParaPr>
                    <m:oMath xmlns:m="http://schemas.openxmlformats.org/officeDocument/2006/math">
                      <m:sSub>
                        <m:sSubPr>
                          <m:ctrlPr>
                            <a:rPr lang="mn-MN" sz="4800" i="1" smtClean="0">
                              <a:solidFill>
                                <a:srgbClr val="FF0000"/>
                              </a:solidFill>
                              <a:latin typeface="Cambria Math" panose="02040503050406030204" pitchFamily="18" charset="0"/>
                            </a:rPr>
                          </m:ctrlPr>
                        </m:sSubPr>
                        <m:e>
                          <m:r>
                            <a:rPr lang="en-US" sz="4800" b="0" i="1" smtClean="0">
                              <a:solidFill>
                                <a:srgbClr val="FF0000"/>
                              </a:solidFill>
                              <a:latin typeface="Cambria Math" panose="02040503050406030204" pitchFamily="18" charset="0"/>
                            </a:rPr>
                            <m:t>𝐹</m:t>
                          </m:r>
                        </m:e>
                        <m:sub>
                          <m:r>
                            <a:rPr lang="en-US" sz="4800" b="0" i="1" smtClean="0">
                              <a:solidFill>
                                <a:srgbClr val="FF0000"/>
                              </a:solidFill>
                              <a:latin typeface="Cambria Math" panose="02040503050406030204" pitchFamily="18" charset="0"/>
                            </a:rPr>
                            <m:t>𝑡</m:t>
                          </m:r>
                          <m:r>
                            <a:rPr lang="mn-MN" sz="4800" b="0" i="1" smtClean="0">
                              <a:solidFill>
                                <a:srgbClr val="FF0000"/>
                              </a:solidFill>
                              <a:latin typeface="Cambria Math" panose="02040503050406030204" pitchFamily="18" charset="0"/>
                            </a:rPr>
                            <m:t>+1</m:t>
                          </m:r>
                        </m:sub>
                      </m:sSub>
                      <m:r>
                        <a:rPr lang="en-US" sz="4800" b="0" i="1" smtClean="0">
                          <a:solidFill>
                            <a:srgbClr val="FF0000"/>
                          </a:solidFill>
                          <a:latin typeface="Cambria Math" panose="02040503050406030204" pitchFamily="18" charset="0"/>
                        </a:rPr>
                        <m:t>=</m:t>
                      </m:r>
                      <m:r>
                        <a:rPr lang="en-US" sz="4800" b="0" i="1" smtClean="0">
                          <a:solidFill>
                            <a:srgbClr val="FF0000"/>
                          </a:solidFill>
                          <a:latin typeface="Cambria Math" panose="02040503050406030204" pitchFamily="18" charset="0"/>
                          <a:ea typeface="Cambria Math" panose="02040503050406030204" pitchFamily="18" charset="0"/>
                        </a:rPr>
                        <m:t>𝛼</m:t>
                      </m:r>
                      <m:sSub>
                        <m:sSubPr>
                          <m:ctrlPr>
                            <a:rPr lang="en-US" sz="4800" i="1">
                              <a:solidFill>
                                <a:srgbClr val="FF0000"/>
                              </a:solidFill>
                              <a:latin typeface="Cambria Math" panose="02040503050406030204" pitchFamily="18" charset="0"/>
                            </a:rPr>
                          </m:ctrlPr>
                        </m:sSubPr>
                        <m:e>
                          <m:r>
                            <a:rPr lang="en-US" sz="4800" i="1">
                              <a:solidFill>
                                <a:srgbClr val="FF0000"/>
                              </a:solidFill>
                              <a:latin typeface="Cambria Math" panose="02040503050406030204" pitchFamily="18" charset="0"/>
                            </a:rPr>
                            <m:t>𝑆</m:t>
                          </m:r>
                        </m:e>
                        <m:sub>
                          <m:r>
                            <a:rPr lang="en-US" sz="4800" i="1">
                              <a:solidFill>
                                <a:srgbClr val="FF0000"/>
                              </a:solidFill>
                              <a:latin typeface="Cambria Math" panose="02040503050406030204" pitchFamily="18" charset="0"/>
                            </a:rPr>
                            <m:t>𝑡</m:t>
                          </m:r>
                        </m:sub>
                      </m:sSub>
                      <m:r>
                        <a:rPr lang="en-US" sz="4800" b="0" i="1" smtClean="0">
                          <a:solidFill>
                            <a:srgbClr val="FF0000"/>
                          </a:solidFill>
                          <a:latin typeface="Cambria Math" panose="02040503050406030204" pitchFamily="18" charset="0"/>
                        </a:rPr>
                        <m:t>+</m:t>
                      </m:r>
                      <m:d>
                        <m:dPr>
                          <m:ctrlPr>
                            <a:rPr lang="en-US" sz="4800" b="0" i="1" smtClean="0">
                              <a:solidFill>
                                <a:srgbClr val="FF0000"/>
                              </a:solidFill>
                              <a:latin typeface="Cambria Math" panose="02040503050406030204" pitchFamily="18" charset="0"/>
                              <a:ea typeface="Cambria Math" panose="02040503050406030204" pitchFamily="18" charset="0"/>
                            </a:rPr>
                          </m:ctrlPr>
                        </m:dPr>
                        <m:e>
                          <m:r>
                            <a:rPr lang="mn-MN" sz="4800" b="0" i="1" smtClean="0">
                              <a:solidFill>
                                <a:srgbClr val="FF0000"/>
                              </a:solidFill>
                              <a:latin typeface="Cambria Math" panose="02040503050406030204" pitchFamily="18" charset="0"/>
                              <a:ea typeface="Cambria Math" panose="02040503050406030204" pitchFamily="18" charset="0"/>
                            </a:rPr>
                            <m:t>1−</m:t>
                          </m:r>
                          <m:r>
                            <a:rPr lang="en-US" sz="4800" i="1">
                              <a:solidFill>
                                <a:srgbClr val="FF0000"/>
                              </a:solidFill>
                              <a:latin typeface="Cambria Math" panose="02040503050406030204" pitchFamily="18" charset="0"/>
                              <a:ea typeface="Cambria Math" panose="02040503050406030204" pitchFamily="18" charset="0"/>
                            </a:rPr>
                            <m:t>𝛼</m:t>
                          </m:r>
                        </m:e>
                      </m:d>
                      <m:sSub>
                        <m:sSubPr>
                          <m:ctrlPr>
                            <a:rPr lang="mn-MN" sz="4800" i="1">
                              <a:solidFill>
                                <a:srgbClr val="FF0000"/>
                              </a:solidFill>
                              <a:latin typeface="Cambria Math" panose="02040503050406030204" pitchFamily="18" charset="0"/>
                            </a:rPr>
                          </m:ctrlPr>
                        </m:sSubPr>
                        <m:e>
                          <m:r>
                            <a:rPr lang="en-US" sz="4800" i="1">
                              <a:solidFill>
                                <a:srgbClr val="FF0000"/>
                              </a:solidFill>
                              <a:latin typeface="Cambria Math" panose="02040503050406030204" pitchFamily="18" charset="0"/>
                            </a:rPr>
                            <m:t>𝐹</m:t>
                          </m:r>
                        </m:e>
                        <m:sub>
                          <m:r>
                            <a:rPr lang="en-US" sz="4800" i="1">
                              <a:solidFill>
                                <a:srgbClr val="FF0000"/>
                              </a:solidFill>
                              <a:latin typeface="Cambria Math" panose="02040503050406030204" pitchFamily="18" charset="0"/>
                            </a:rPr>
                            <m:t>𝑡</m:t>
                          </m:r>
                        </m:sub>
                      </m:sSub>
                    </m:oMath>
                  </m:oMathPara>
                </a14:m>
                <a:endParaRPr lang="mn-MN" sz="4800" dirty="0">
                  <a:solidFill>
                    <a:srgbClr val="002060"/>
                  </a:solidFill>
                  <a:latin typeface="Times New Roman" panose="02020603050405020304" pitchFamily="18" charset="0"/>
                  <a:cs typeface="Times New Roman" panose="02020603050405020304" pitchFamily="18" charset="0"/>
                </a:endParaRPr>
              </a:p>
              <a:p>
                <a:pPr algn="just"/>
                <a:endParaRPr lang="en-US" sz="2000" dirty="0">
                  <a:solidFill>
                    <a:srgbClr val="002060"/>
                  </a:solidFill>
                  <a:latin typeface="Times New Roman" panose="02020603050405020304" pitchFamily="18" charset="0"/>
                  <a:cs typeface="Times New Roman" panose="02020603050405020304" pitchFamily="18" charset="0"/>
                </a:endParaRPr>
              </a:p>
              <a:p>
                <a:pPr algn="just"/>
                <a:endParaRPr lang="en-US" sz="2000" dirty="0">
                  <a:solidFill>
                    <a:srgbClr val="002060"/>
                  </a:solidFill>
                  <a:latin typeface="Times New Roman" panose="02020603050405020304" pitchFamily="18" charset="0"/>
                  <a:cs typeface="Times New Roman" panose="02020603050405020304" pitchFamily="18" charset="0"/>
                </a:endParaRPr>
              </a:p>
              <a:p>
                <a:pPr algn="just"/>
                <a:endParaRPr lang="mn-MN" sz="2000" dirty="0">
                  <a:solidFill>
                    <a:srgbClr val="002060"/>
                  </a:solidFill>
                  <a:latin typeface="Times New Roman" panose="02020603050405020304" pitchFamily="18" charset="0"/>
                  <a:cs typeface="Times New Roman" panose="02020603050405020304" pitchFamily="18" charset="0"/>
                </a:endParaRPr>
              </a:p>
              <a:p>
                <a:pPr algn="just"/>
                <a:endParaRPr lang="mn-MN" dirty="0">
                  <a:solidFill>
                    <a:srgbClr val="002060"/>
                  </a:solidFill>
                  <a:latin typeface="Times New Roman" panose="02020603050405020304" pitchFamily="18" charset="0"/>
                  <a:cs typeface="Times New Roman" panose="02020603050405020304" pitchFamily="18" charset="0"/>
                </a:endParaRPr>
              </a:p>
              <a:p>
                <a:pPr algn="just"/>
                <a:endParaRPr lang="mn-MN" dirty="0">
                  <a:solidFill>
                    <a:srgbClr val="002060"/>
                  </a:solidFill>
                  <a:latin typeface="Times New Roman" panose="02020603050405020304" pitchFamily="18" charset="0"/>
                  <a:cs typeface="Times New Roman" panose="02020603050405020304" pitchFamily="18" charset="0"/>
                </a:endParaRPr>
              </a:p>
              <a:p>
                <a:pPr algn="just"/>
                <a:r>
                  <a:rPr lang="mn-MN" dirty="0">
                    <a:solidFill>
                      <a:srgbClr val="002060"/>
                    </a:solidFill>
                    <a:latin typeface="Times New Roman" panose="02020603050405020304" pitchFamily="18" charset="0"/>
                    <a:cs typeface="Times New Roman" panose="02020603050405020304" pitchFamily="18" charset="0"/>
                  </a:rPr>
                  <a:t>Гулсах дунджын дутагдлыг арилгасан. </a:t>
                </a:r>
              </a:p>
              <a:p>
                <a:pPr algn="just"/>
                <a14:m>
                  <m:oMath xmlns:m="http://schemas.openxmlformats.org/officeDocument/2006/math">
                    <m:r>
                      <a:rPr lang="en-US" i="1" smtClean="0">
                        <a:solidFill>
                          <a:srgbClr val="002060"/>
                        </a:solidFill>
                        <a:latin typeface="Cambria Math" panose="02040503050406030204" pitchFamily="18" charset="0"/>
                        <a:ea typeface="Cambria Math" panose="02040503050406030204" pitchFamily="18" charset="0"/>
                      </a:rPr>
                      <m:t>𝛼</m:t>
                    </m:r>
                  </m:oMath>
                </a14:m>
                <a:r>
                  <a:rPr lang="mn-MN" dirty="0">
                    <a:solidFill>
                      <a:srgbClr val="002060"/>
                    </a:solidFill>
                    <a:latin typeface="Times New Roman" panose="02020603050405020304" pitchFamily="18" charset="0"/>
                    <a:cs typeface="Times New Roman" panose="02020603050405020304" pitchFamily="18" charset="0"/>
                  </a:rPr>
                  <a:t> тогтмолыг сонгохдоо борлуулалтын хэлбэлзэл хэр байгааг харгалзана.</a:t>
                </a:r>
              </a:p>
              <a:p>
                <a:pPr lvl="1" algn="just"/>
                <a:r>
                  <a:rPr lang="mn-MN" dirty="0">
                    <a:solidFill>
                      <a:srgbClr val="002060"/>
                    </a:solidFill>
                    <a:latin typeface="Times New Roman" panose="02020603050405020304" pitchFamily="18" charset="0"/>
                    <a:cs typeface="Times New Roman" panose="02020603050405020304" pitchFamily="18" charset="0"/>
                  </a:rPr>
                  <a:t>Борлуулалтын хэлбэлзэл ихтэй бол өндрөөр авна.</a:t>
                </a:r>
              </a:p>
              <a:p>
                <a:pPr lvl="1" algn="just"/>
                <a:r>
                  <a:rPr lang="mn-MN" dirty="0">
                    <a:solidFill>
                      <a:srgbClr val="002060"/>
                    </a:solidFill>
                    <a:latin typeface="Times New Roman" panose="02020603050405020304" pitchFamily="18" charset="0"/>
                    <a:cs typeface="Times New Roman" panose="02020603050405020304" pitchFamily="18" charset="0"/>
                  </a:rPr>
                  <a:t>Тогтмол бол багаар авна.</a:t>
                </a:r>
                <a:endParaRPr lang="en-US"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BBAF6132-31B8-7C34-DA3E-81F8DED0F9C0}"/>
                  </a:ext>
                </a:extLst>
              </p:cNvPr>
              <p:cNvSpPr>
                <a:spLocks noGrp="1" noRot="1" noChangeAspect="1" noMove="1" noResize="1" noEditPoints="1" noAdjustHandles="1" noChangeArrowheads="1" noChangeShapeType="1" noTextEdit="1"/>
              </p:cNvSpPr>
              <p:nvPr>
                <p:ph idx="1"/>
              </p:nvPr>
            </p:nvSpPr>
            <p:spPr>
              <a:xfrm>
                <a:off x="167949" y="551606"/>
                <a:ext cx="11719249" cy="6306394"/>
              </a:xfrm>
              <a:blipFill>
                <a:blip r:embed="rId3"/>
                <a:stretch>
                  <a:fillRect l="-937" t="-1643" r="-1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D38D8C1-0DB2-B3B6-1F97-E481C2B1AB8F}"/>
                  </a:ext>
                </a:extLst>
              </p:cNvPr>
              <p:cNvSpPr txBox="1"/>
              <p:nvPr/>
            </p:nvSpPr>
            <p:spPr>
              <a:xfrm>
                <a:off x="3396343" y="2389591"/>
                <a:ext cx="8528181" cy="2246769"/>
              </a:xfrm>
              <a:prstGeom prst="rect">
                <a:avLst/>
              </a:prstGeom>
              <a:noFill/>
            </p:spPr>
            <p:txBody>
              <a:bodyPr wrap="square">
                <a:spAutoFit/>
              </a:bodyPr>
              <a:lstStyle/>
              <a:p>
                <a:pPr algn="just"/>
                <a14:m>
                  <m:oMath xmlns:m="http://schemas.openxmlformats.org/officeDocument/2006/math">
                    <m:sSub>
                      <m:sSubPr>
                        <m:ctrlPr>
                          <a:rPr lang="en-US" sz="2800" b="0" i="1" smtClean="0">
                            <a:solidFill>
                              <a:srgbClr val="00B050"/>
                            </a:solidFill>
                            <a:latin typeface="Cambria Math" panose="02040503050406030204" pitchFamily="18" charset="0"/>
                          </a:rPr>
                        </m:ctrlPr>
                      </m:sSubPr>
                      <m:e>
                        <m:r>
                          <a:rPr lang="en-US" sz="2800" b="0" i="1" smtClean="0">
                            <a:solidFill>
                              <a:srgbClr val="00B050"/>
                            </a:solidFill>
                            <a:latin typeface="Cambria Math" panose="02040503050406030204" pitchFamily="18" charset="0"/>
                          </a:rPr>
                          <m:t>𝐹</m:t>
                        </m:r>
                      </m:e>
                      <m:sub>
                        <m:r>
                          <a:rPr lang="en-US" sz="2800" b="0" i="1" smtClean="0">
                            <a:solidFill>
                              <a:srgbClr val="00B050"/>
                            </a:solidFill>
                            <a:latin typeface="Cambria Math" panose="02040503050406030204" pitchFamily="18" charset="0"/>
                          </a:rPr>
                          <m:t>𝑡</m:t>
                        </m:r>
                        <m:r>
                          <a:rPr lang="en-US" sz="2800" b="0" i="1" smtClean="0">
                            <a:solidFill>
                              <a:srgbClr val="00B050"/>
                            </a:solidFill>
                            <a:latin typeface="Cambria Math" panose="02040503050406030204" pitchFamily="18" charset="0"/>
                          </a:rPr>
                          <m:t>+1</m:t>
                        </m:r>
                      </m:sub>
                    </m:sSub>
                    <m:r>
                      <a:rPr lang="mn-MN" sz="2800" b="0" i="0" smtClean="0">
                        <a:solidFill>
                          <a:srgbClr val="00B050"/>
                        </a:solidFill>
                        <a:latin typeface="Cambria Math" panose="02040503050406030204" pitchFamily="18" charset="0"/>
                      </a:rPr>
                      <m:t> </m:t>
                    </m:r>
                  </m:oMath>
                </a14:m>
                <a:r>
                  <a:rPr lang="mn-MN" sz="2800" dirty="0">
                    <a:solidFill>
                      <a:srgbClr val="00B050"/>
                    </a:solidFill>
                    <a:latin typeface="Times New Roman" panose="02020603050405020304" pitchFamily="18" charset="0"/>
                    <a:cs typeface="Times New Roman" panose="02020603050405020304" pitchFamily="18" charset="0"/>
                  </a:rPr>
                  <a:t>- ирэх жилийн </a:t>
                </a:r>
                <a:r>
                  <a:rPr lang="en-US" sz="2800" dirty="0">
                    <a:solidFill>
                      <a:srgbClr val="00B050"/>
                    </a:solidFill>
                    <a:latin typeface="Times New Roman" panose="02020603050405020304" pitchFamily="18" charset="0"/>
                    <a:cs typeface="Times New Roman" panose="02020603050405020304" pitchFamily="18" charset="0"/>
                  </a:rPr>
                  <a:t>(</a:t>
                </a:r>
                <a:r>
                  <a:rPr lang="mn-MN" sz="2800" dirty="0">
                    <a:solidFill>
                      <a:srgbClr val="00B050"/>
                    </a:solidFill>
                    <a:latin typeface="Times New Roman" panose="02020603050405020304" pitchFamily="18" charset="0"/>
                    <a:cs typeface="Times New Roman" panose="02020603050405020304" pitchFamily="18" charset="0"/>
                  </a:rPr>
                  <a:t>сарын</a:t>
                </a:r>
                <a:r>
                  <a:rPr lang="en-US" sz="2800" dirty="0">
                    <a:solidFill>
                      <a:srgbClr val="00B050"/>
                    </a:solidFill>
                    <a:latin typeface="Times New Roman" panose="02020603050405020304" pitchFamily="18" charset="0"/>
                    <a:cs typeface="Times New Roman" panose="02020603050405020304" pitchFamily="18" charset="0"/>
                  </a:rPr>
                  <a:t>)</a:t>
                </a:r>
                <a:r>
                  <a:rPr lang="mn-MN" sz="2800" dirty="0">
                    <a:solidFill>
                      <a:srgbClr val="00B050"/>
                    </a:solidFill>
                    <a:latin typeface="Times New Roman" panose="02020603050405020304" pitchFamily="18" charset="0"/>
                    <a:cs typeface="Times New Roman" panose="02020603050405020304" pitchFamily="18" charset="0"/>
                  </a:rPr>
                  <a:t> борлуулалтын таамаглалын хэмжээ</a:t>
                </a:r>
                <a:r>
                  <a:rPr lang="en-US" sz="2800" dirty="0">
                    <a:solidFill>
                      <a:srgbClr val="00B050"/>
                    </a:solidFill>
                    <a:latin typeface="Times New Roman" panose="02020603050405020304" pitchFamily="18" charset="0"/>
                    <a:cs typeface="Times New Roman" panose="02020603050405020304" pitchFamily="18" charset="0"/>
                  </a:rPr>
                  <a:t>;</a:t>
                </a:r>
              </a:p>
              <a:p>
                <a:pPr algn="just"/>
                <a14:m>
                  <m:oMath xmlns:m="http://schemas.openxmlformats.org/officeDocument/2006/math">
                    <m:r>
                      <a:rPr lang="en-US" sz="2800" i="1" smtClean="0">
                        <a:solidFill>
                          <a:srgbClr val="00B050"/>
                        </a:solidFill>
                        <a:latin typeface="Cambria Math" panose="02040503050406030204" pitchFamily="18" charset="0"/>
                        <a:ea typeface="Cambria Math" panose="02040503050406030204" pitchFamily="18" charset="0"/>
                      </a:rPr>
                      <m:t>𝛼</m:t>
                    </m:r>
                  </m:oMath>
                </a14:m>
                <a:r>
                  <a:rPr lang="en-US" sz="2800" dirty="0">
                    <a:solidFill>
                      <a:srgbClr val="00B050"/>
                    </a:solidFill>
                    <a:latin typeface="Times New Roman" panose="02020603050405020304" pitchFamily="18" charset="0"/>
                    <a:cs typeface="Times New Roman" panose="02020603050405020304" pitchFamily="18" charset="0"/>
                  </a:rPr>
                  <a:t> – </a:t>
                </a:r>
                <a:r>
                  <a:rPr lang="mn-MN" sz="2800" dirty="0">
                    <a:solidFill>
                      <a:srgbClr val="00B050"/>
                    </a:solidFill>
                    <a:latin typeface="Times New Roman" panose="02020603050405020304" pitchFamily="18" charset="0"/>
                    <a:cs typeface="Times New Roman" panose="02020603050405020304" pitchFamily="18" charset="0"/>
                  </a:rPr>
                  <a:t>жигдрүүлэгч </a:t>
                </a:r>
                <a:r>
                  <a:rPr lang="en-US" sz="2800" dirty="0">
                    <a:solidFill>
                      <a:srgbClr val="00B050"/>
                    </a:solidFill>
                    <a:latin typeface="Times New Roman" panose="02020603050405020304" pitchFamily="18" charset="0"/>
                    <a:cs typeface="Times New Roman" panose="02020603050405020304" pitchFamily="18" charset="0"/>
                  </a:rPr>
                  <a:t>(</a:t>
                </a:r>
                <a:r>
                  <a:rPr lang="mn-MN" sz="2800" dirty="0">
                    <a:solidFill>
                      <a:srgbClr val="00B050"/>
                    </a:solidFill>
                    <a:latin typeface="Times New Roman" panose="02020603050405020304" pitchFamily="18" charset="0"/>
                    <a:cs typeface="Times New Roman" panose="02020603050405020304" pitchFamily="18" charset="0"/>
                  </a:rPr>
                  <a:t>тэгшрүүлэлтийн</a:t>
                </a:r>
                <a:r>
                  <a:rPr lang="en-US" sz="2800" dirty="0">
                    <a:solidFill>
                      <a:srgbClr val="00B050"/>
                    </a:solidFill>
                    <a:latin typeface="Times New Roman" panose="02020603050405020304" pitchFamily="18" charset="0"/>
                    <a:cs typeface="Times New Roman" panose="02020603050405020304" pitchFamily="18" charset="0"/>
                  </a:rPr>
                  <a:t>) </a:t>
                </a:r>
                <a:r>
                  <a:rPr lang="mn-MN" sz="2800" dirty="0">
                    <a:solidFill>
                      <a:srgbClr val="00B050"/>
                    </a:solidFill>
                    <a:latin typeface="Times New Roman" panose="02020603050405020304" pitchFamily="18" charset="0"/>
                    <a:cs typeface="Times New Roman" panose="02020603050405020304" pitchFamily="18" charset="0"/>
                  </a:rPr>
                  <a:t>тогтмол</a:t>
                </a:r>
                <a:r>
                  <a:rPr lang="en-US" sz="2800" dirty="0">
                    <a:solidFill>
                      <a:srgbClr val="00B050"/>
                    </a:solidFill>
                    <a:latin typeface="Times New Roman" panose="02020603050405020304" pitchFamily="18" charset="0"/>
                    <a:cs typeface="Times New Roman" panose="02020603050405020304" pitchFamily="18" charset="0"/>
                  </a:rPr>
                  <a:t>;</a:t>
                </a:r>
              </a:p>
              <a:p>
                <a:pPr algn="just"/>
                <a14:m>
                  <m:oMath xmlns:m="http://schemas.openxmlformats.org/officeDocument/2006/math">
                    <m:sSub>
                      <m:sSubPr>
                        <m:ctrlPr>
                          <a:rPr lang="en-US" sz="2800" i="1" smtClean="0">
                            <a:solidFill>
                              <a:srgbClr val="00B050"/>
                            </a:solidFill>
                            <a:latin typeface="Cambria Math" panose="02040503050406030204" pitchFamily="18" charset="0"/>
                          </a:rPr>
                        </m:ctrlPr>
                      </m:sSubPr>
                      <m:e>
                        <m:r>
                          <a:rPr lang="en-US" sz="2800" b="0" i="1" smtClean="0">
                            <a:solidFill>
                              <a:srgbClr val="00B050"/>
                            </a:solidFill>
                            <a:latin typeface="Cambria Math" panose="02040503050406030204" pitchFamily="18" charset="0"/>
                          </a:rPr>
                          <m:t>𝑆</m:t>
                        </m:r>
                      </m:e>
                      <m:sub>
                        <m:r>
                          <a:rPr lang="en-US" sz="2800" i="1">
                            <a:solidFill>
                              <a:srgbClr val="00B050"/>
                            </a:solidFill>
                            <a:latin typeface="Cambria Math" panose="02040503050406030204" pitchFamily="18" charset="0"/>
                          </a:rPr>
                          <m:t>𝑡</m:t>
                        </m:r>
                      </m:sub>
                    </m:sSub>
                  </m:oMath>
                </a14:m>
                <a:r>
                  <a:rPr lang="en-US" sz="2800" dirty="0">
                    <a:solidFill>
                      <a:srgbClr val="00B050"/>
                    </a:solidFill>
                    <a:latin typeface="Times New Roman" panose="02020603050405020304" pitchFamily="18" charset="0"/>
                    <a:cs typeface="Times New Roman" panose="02020603050405020304" pitchFamily="18" charset="0"/>
                  </a:rPr>
                  <a:t> - </a:t>
                </a:r>
                <a:r>
                  <a:rPr lang="mn-MN" sz="2800" dirty="0">
                    <a:solidFill>
                      <a:srgbClr val="00B050"/>
                    </a:solidFill>
                    <a:latin typeface="Times New Roman" panose="02020603050405020304" pitchFamily="18" charset="0"/>
                    <a:cs typeface="Times New Roman" panose="02020603050405020304" pitchFamily="18" charset="0"/>
                  </a:rPr>
                  <a:t>одоогийн борлуулалт</a:t>
                </a:r>
                <a:r>
                  <a:rPr lang="en-US" sz="2800" dirty="0">
                    <a:solidFill>
                      <a:srgbClr val="00B050"/>
                    </a:solidFill>
                    <a:latin typeface="Times New Roman" panose="02020603050405020304" pitchFamily="18" charset="0"/>
                    <a:cs typeface="Times New Roman" panose="02020603050405020304" pitchFamily="18" charset="0"/>
                  </a:rPr>
                  <a:t>;</a:t>
                </a:r>
                <a:endParaRPr lang="mn-MN" sz="2800" dirty="0">
                  <a:solidFill>
                    <a:srgbClr val="00B050"/>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2800" b="0" i="1" smtClean="0">
                            <a:solidFill>
                              <a:srgbClr val="00B050"/>
                            </a:solidFill>
                            <a:latin typeface="Cambria Math" panose="02040503050406030204" pitchFamily="18" charset="0"/>
                          </a:rPr>
                        </m:ctrlPr>
                      </m:sSubPr>
                      <m:e>
                        <m:r>
                          <a:rPr lang="en-US" sz="2800" b="0" i="1" smtClean="0">
                            <a:solidFill>
                              <a:srgbClr val="00B050"/>
                            </a:solidFill>
                            <a:latin typeface="Cambria Math" panose="02040503050406030204" pitchFamily="18" charset="0"/>
                          </a:rPr>
                          <m:t>𝐹</m:t>
                        </m:r>
                      </m:e>
                      <m:sub>
                        <m:r>
                          <a:rPr lang="en-US" sz="2800" b="0" i="1" smtClean="0">
                            <a:solidFill>
                              <a:srgbClr val="00B050"/>
                            </a:solidFill>
                            <a:latin typeface="Cambria Math" panose="02040503050406030204" pitchFamily="18" charset="0"/>
                          </a:rPr>
                          <m:t>𝑡</m:t>
                        </m:r>
                      </m:sub>
                    </m:sSub>
                  </m:oMath>
                </a14:m>
                <a:r>
                  <a:rPr lang="mn-MN" sz="2800" dirty="0">
                    <a:solidFill>
                      <a:srgbClr val="00B050"/>
                    </a:solidFill>
                    <a:latin typeface="Times New Roman" panose="02020603050405020304" pitchFamily="18" charset="0"/>
                    <a:cs typeface="Times New Roman" panose="02020603050405020304" pitchFamily="18" charset="0"/>
                  </a:rPr>
                  <a:t> - Одоогийн борлуулалтын таамагласан хэмжээ.</a:t>
                </a:r>
                <a:endParaRPr lang="en-US" sz="2800" dirty="0">
                  <a:solidFill>
                    <a:srgbClr val="00B050"/>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0D38D8C1-0DB2-B3B6-1F97-E481C2B1AB8F}"/>
                  </a:ext>
                </a:extLst>
              </p:cNvPr>
              <p:cNvSpPr txBox="1">
                <a:spLocks noRot="1" noChangeAspect="1" noMove="1" noResize="1" noEditPoints="1" noAdjustHandles="1" noChangeArrowheads="1" noChangeShapeType="1" noTextEdit="1"/>
              </p:cNvSpPr>
              <p:nvPr/>
            </p:nvSpPr>
            <p:spPr>
              <a:xfrm>
                <a:off x="3396343" y="2389591"/>
                <a:ext cx="8528181" cy="2246769"/>
              </a:xfrm>
              <a:prstGeom prst="rect">
                <a:avLst/>
              </a:prstGeom>
              <a:blipFill>
                <a:blip r:embed="rId4"/>
                <a:stretch>
                  <a:fillRect l="-1430" t="-2981" r="-1501" b="-6504"/>
                </a:stretch>
              </a:blipFill>
            </p:spPr>
            <p:txBody>
              <a:bodyPr/>
              <a:lstStyle/>
              <a:p>
                <a:r>
                  <a:rPr lang="en-US">
                    <a:noFill/>
                  </a:rPr>
                  <a:t> </a:t>
                </a:r>
              </a:p>
            </p:txBody>
          </p:sp>
        </mc:Fallback>
      </mc:AlternateContent>
    </p:spTree>
    <p:extLst>
      <p:ext uri="{BB962C8B-B14F-4D97-AF65-F5344CB8AC3E}">
        <p14:creationId xmlns:p14="http://schemas.microsoft.com/office/powerpoint/2010/main" val="2197626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A93CB-0EBD-9B64-5F47-19021225D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513C1-78EB-5686-84D3-F8AF4F77D247}"/>
              </a:ext>
            </a:extLst>
          </p:cNvPr>
          <p:cNvSpPr>
            <a:spLocks noGrp="1"/>
          </p:cNvSpPr>
          <p:nvPr>
            <p:ph type="title"/>
          </p:nvPr>
        </p:nvSpPr>
        <p:spPr>
          <a:xfrm>
            <a:off x="186610" y="130627"/>
            <a:ext cx="11700587" cy="460767"/>
          </a:xfrm>
        </p:spPr>
        <p:txBody>
          <a:bodyPr>
            <a:noAutofit/>
          </a:bodyPr>
          <a:lstStyle/>
          <a:p>
            <a:r>
              <a:rPr lang="mn-MN" sz="4000" b="1" dirty="0">
                <a:solidFill>
                  <a:srgbClr val="002060"/>
                </a:solidFill>
                <a:latin typeface="Times New Roman" panose="02020603050405020304" pitchFamily="18" charset="0"/>
                <a:cs typeface="Times New Roman" panose="02020603050405020304" pitchFamily="18" charset="0"/>
              </a:rPr>
              <a:t>Эрэлт таамаглах тоон аргууд</a:t>
            </a:r>
            <a:endParaRPr 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CFC86F-9D4E-3B74-9B0A-CC8A71FDB179}"/>
                  </a:ext>
                </a:extLst>
              </p:cNvPr>
              <p:cNvSpPr>
                <a:spLocks noGrp="1"/>
              </p:cNvSpPr>
              <p:nvPr>
                <p:ph idx="1"/>
              </p:nvPr>
            </p:nvSpPr>
            <p:spPr>
              <a:xfrm>
                <a:off x="186610" y="756882"/>
                <a:ext cx="11700587" cy="5453741"/>
              </a:xfrm>
            </p:spPr>
            <p:txBody>
              <a:bodyPr>
                <a:norm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Жигнэсэн дундаж үзүүлэлт </a:t>
                </a:r>
                <a:r>
                  <a:rPr lang="mn-MN" sz="3600" dirty="0">
                    <a:solidFill>
                      <a:srgbClr val="002060"/>
                    </a:solidFill>
                    <a:latin typeface="Times New Roman" panose="02020603050405020304" pitchFamily="18" charset="0"/>
                    <a:cs typeface="Times New Roman" panose="02020603050405020304" pitchFamily="18" charset="0"/>
                  </a:rPr>
                  <a:t>– Гулсах дунджийг тооцоолоход ашигласан үзүүлэлтүүдийг ашиглан тодорхойлох боломжтой.</a:t>
                </a:r>
              </a:p>
              <a:p>
                <a:pPr marL="0" indent="0" algn="ctr">
                  <a:buNone/>
                </a:pPr>
                <a:r>
                  <a:rPr lang="mn-MN" sz="36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7200" i="1" smtClean="0">
                            <a:solidFill>
                              <a:srgbClr val="FF0000"/>
                            </a:solidFill>
                            <a:latin typeface="Cambria Math" panose="02040503050406030204" pitchFamily="18" charset="0"/>
                          </a:rPr>
                        </m:ctrlPr>
                      </m:sSubPr>
                      <m:e>
                        <m:r>
                          <a:rPr lang="en-US" sz="7200" b="0" i="1" smtClean="0">
                            <a:solidFill>
                              <a:srgbClr val="FF0000"/>
                            </a:solidFill>
                            <a:latin typeface="Cambria Math" panose="02040503050406030204" pitchFamily="18" charset="0"/>
                          </a:rPr>
                          <m:t>𝐸</m:t>
                        </m:r>
                      </m:e>
                      <m:sub>
                        <m:r>
                          <a:rPr lang="en-US" sz="7200" b="0" i="1" smtClean="0">
                            <a:solidFill>
                              <a:srgbClr val="FF0000"/>
                            </a:solidFill>
                            <a:latin typeface="Cambria Math" panose="02040503050406030204" pitchFamily="18" charset="0"/>
                          </a:rPr>
                          <m:t>𝑖</m:t>
                        </m:r>
                      </m:sub>
                    </m:sSub>
                    <m:r>
                      <a:rPr lang="en-US" sz="7200" b="0" i="1" smtClean="0">
                        <a:solidFill>
                          <a:srgbClr val="FF0000"/>
                        </a:solidFill>
                        <a:latin typeface="Cambria Math" panose="02040503050406030204" pitchFamily="18" charset="0"/>
                      </a:rPr>
                      <m:t>=</m:t>
                    </m:r>
                    <m:f>
                      <m:fPr>
                        <m:ctrlPr>
                          <a:rPr lang="en-US" sz="7200" b="0" i="1" smtClean="0">
                            <a:solidFill>
                              <a:srgbClr val="FF0000"/>
                            </a:solidFill>
                            <a:latin typeface="Cambria Math" panose="02040503050406030204" pitchFamily="18" charset="0"/>
                          </a:rPr>
                        </m:ctrlPr>
                      </m:fPr>
                      <m:num>
                        <m:nary>
                          <m:naryPr>
                            <m:chr m:val="∑"/>
                            <m:subHide m:val="on"/>
                            <m:supHide m:val="on"/>
                            <m:ctrlPr>
                              <a:rPr lang="en-US" sz="7200" b="0" i="1" smtClean="0">
                                <a:solidFill>
                                  <a:srgbClr val="FF0000"/>
                                </a:solidFill>
                                <a:latin typeface="Cambria Math" panose="02040503050406030204" pitchFamily="18" charset="0"/>
                              </a:rPr>
                            </m:ctrlPr>
                          </m:naryPr>
                          <m:sub/>
                          <m:sup/>
                          <m:e>
                            <m:sSub>
                              <m:sSubPr>
                                <m:ctrlPr>
                                  <a:rPr lang="en-US" sz="7200" b="0" i="1" smtClean="0">
                                    <a:solidFill>
                                      <a:srgbClr val="FF0000"/>
                                    </a:solidFill>
                                    <a:latin typeface="Cambria Math" panose="02040503050406030204" pitchFamily="18" charset="0"/>
                                  </a:rPr>
                                </m:ctrlPr>
                              </m:sSubPr>
                              <m:e>
                                <m:r>
                                  <a:rPr lang="en-US" sz="7200" b="0" i="1" smtClean="0">
                                    <a:solidFill>
                                      <a:srgbClr val="FF0000"/>
                                    </a:solidFill>
                                    <a:latin typeface="Cambria Math" panose="02040503050406030204" pitchFamily="18" charset="0"/>
                                  </a:rPr>
                                  <m:t>𝑃</m:t>
                                </m:r>
                              </m:e>
                              <m:sub>
                                <m:r>
                                  <a:rPr lang="en-US" sz="7200" b="0" i="1" smtClean="0">
                                    <a:solidFill>
                                      <a:srgbClr val="FF0000"/>
                                    </a:solidFill>
                                    <a:latin typeface="Cambria Math" panose="02040503050406030204" pitchFamily="18" charset="0"/>
                                  </a:rPr>
                                  <m:t>𝑖</m:t>
                                </m:r>
                              </m:sub>
                            </m:sSub>
                            <m:sSub>
                              <m:sSubPr>
                                <m:ctrlPr>
                                  <a:rPr lang="en-US" sz="7200" i="1">
                                    <a:solidFill>
                                      <a:srgbClr val="FF0000"/>
                                    </a:solidFill>
                                    <a:latin typeface="Cambria Math" panose="02040503050406030204" pitchFamily="18" charset="0"/>
                                  </a:rPr>
                                </m:ctrlPr>
                              </m:sSubPr>
                              <m:e>
                                <m:r>
                                  <a:rPr lang="en-US" sz="7200" b="0" i="1" smtClean="0">
                                    <a:solidFill>
                                      <a:srgbClr val="FF0000"/>
                                    </a:solidFill>
                                    <a:latin typeface="Cambria Math" panose="02040503050406030204" pitchFamily="18" charset="0"/>
                                  </a:rPr>
                                  <m:t>𝐴</m:t>
                                </m:r>
                              </m:e>
                              <m:sub>
                                <m:r>
                                  <a:rPr lang="en-US" sz="7200" i="1">
                                    <a:solidFill>
                                      <a:srgbClr val="FF0000"/>
                                    </a:solidFill>
                                    <a:latin typeface="Cambria Math" panose="02040503050406030204" pitchFamily="18" charset="0"/>
                                  </a:rPr>
                                  <m:t>𝑖</m:t>
                                </m:r>
                              </m:sub>
                            </m:sSub>
                          </m:e>
                        </m:nary>
                      </m:num>
                      <m:den>
                        <m:nary>
                          <m:naryPr>
                            <m:chr m:val="∑"/>
                            <m:subHide m:val="on"/>
                            <m:supHide m:val="on"/>
                            <m:ctrlPr>
                              <a:rPr lang="en-US" sz="7200" i="1">
                                <a:solidFill>
                                  <a:srgbClr val="FF0000"/>
                                </a:solidFill>
                                <a:latin typeface="Cambria Math" panose="02040503050406030204" pitchFamily="18" charset="0"/>
                              </a:rPr>
                            </m:ctrlPr>
                          </m:naryPr>
                          <m:sub/>
                          <m:sup/>
                          <m:e>
                            <m:sSub>
                              <m:sSubPr>
                                <m:ctrlPr>
                                  <a:rPr lang="en-US" sz="7200" i="1" smtClean="0">
                                    <a:solidFill>
                                      <a:srgbClr val="FF0000"/>
                                    </a:solidFill>
                                    <a:latin typeface="Cambria Math" panose="02040503050406030204" pitchFamily="18" charset="0"/>
                                  </a:rPr>
                                </m:ctrlPr>
                              </m:sSubPr>
                              <m:e>
                                <m:r>
                                  <a:rPr lang="en-US" sz="7200" i="1">
                                    <a:solidFill>
                                      <a:srgbClr val="FF0000"/>
                                    </a:solidFill>
                                    <a:latin typeface="Cambria Math" panose="02040503050406030204" pitchFamily="18" charset="0"/>
                                  </a:rPr>
                                  <m:t>𝑃</m:t>
                                </m:r>
                              </m:e>
                              <m:sub>
                                <m:r>
                                  <a:rPr lang="en-US" sz="7200" i="1">
                                    <a:solidFill>
                                      <a:srgbClr val="FF0000"/>
                                    </a:solidFill>
                                    <a:latin typeface="Cambria Math" panose="02040503050406030204" pitchFamily="18" charset="0"/>
                                  </a:rPr>
                                  <m:t>𝑖</m:t>
                                </m:r>
                              </m:sub>
                            </m:sSub>
                          </m:e>
                        </m:nary>
                      </m:den>
                    </m:f>
                  </m:oMath>
                </a14:m>
                <a:endParaRPr lang="mn-MN" sz="3600" dirty="0">
                  <a:solidFill>
                    <a:srgbClr val="002060"/>
                  </a:solidFill>
                  <a:latin typeface="Times New Roman" panose="02020603050405020304" pitchFamily="18" charset="0"/>
                  <a:cs typeface="Times New Roman" panose="02020603050405020304" pitchFamily="18" charset="0"/>
                </a:endParaRPr>
              </a:p>
              <a:p>
                <a:pPr lvl="1" algn="just"/>
                <a14:m>
                  <m:oMath xmlns:m="http://schemas.openxmlformats.org/officeDocument/2006/math">
                    <m:sSub>
                      <m:sSubPr>
                        <m:ctrlPr>
                          <a:rPr lang="en-US" sz="3200" i="1" smtClean="0">
                            <a:solidFill>
                              <a:srgbClr val="002060"/>
                            </a:solidFill>
                            <a:latin typeface="Cambria Math" panose="02040503050406030204" pitchFamily="18" charset="0"/>
                          </a:rPr>
                        </m:ctrlPr>
                      </m:sSubPr>
                      <m:e>
                        <m:r>
                          <a:rPr lang="en-US" sz="3200" i="1">
                            <a:solidFill>
                              <a:srgbClr val="002060"/>
                            </a:solidFill>
                            <a:latin typeface="Cambria Math" panose="02040503050406030204" pitchFamily="18" charset="0"/>
                          </a:rPr>
                          <m:t>𝑃</m:t>
                        </m:r>
                      </m:e>
                      <m:sub>
                        <m:r>
                          <a:rPr lang="en-US" sz="3200" i="1">
                            <a:solidFill>
                              <a:srgbClr val="002060"/>
                            </a:solidFill>
                            <a:latin typeface="Cambria Math" panose="02040503050406030204" pitchFamily="18" charset="0"/>
                          </a:rPr>
                          <m:t>𝑖</m:t>
                        </m:r>
                      </m:sub>
                    </m:sSub>
                  </m:oMath>
                </a14:m>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 ирээдүйн эрэлтийг тодорхойлоход </a:t>
                </a:r>
                <a14:m>
                  <m:oMath xmlns:m="http://schemas.openxmlformats.org/officeDocument/2006/math">
                    <m:r>
                      <a:rPr lang="en-US" sz="3200" i="1">
                        <a:solidFill>
                          <a:srgbClr val="002060"/>
                        </a:solidFill>
                        <a:latin typeface="Cambria Math" panose="02040503050406030204" pitchFamily="18" charset="0"/>
                      </a:rPr>
                      <m:t>𝑖</m:t>
                    </m:r>
                  </m:oMath>
                </a14:m>
                <a:r>
                  <a:rPr lang="mn-MN" sz="3200" dirty="0">
                    <a:solidFill>
                      <a:srgbClr val="002060"/>
                    </a:solidFill>
                    <a:latin typeface="Times New Roman" panose="02020603050405020304" pitchFamily="18" charset="0"/>
                    <a:cs typeface="Times New Roman" panose="02020603050405020304" pitchFamily="18" charset="0"/>
                  </a:rPr>
                  <a:t>-р үеийн үзүүлэх нөлөөллийг харуулна. </a:t>
                </a:r>
              </a:p>
              <a:p>
                <a:pPr lvl="1" algn="just"/>
                <a14:m>
                  <m:oMath xmlns:m="http://schemas.openxmlformats.org/officeDocument/2006/math">
                    <m:sSub>
                      <m:sSubPr>
                        <m:ctrlPr>
                          <a:rPr lang="en-US" sz="3200" b="0" i="1" smtClean="0">
                            <a:solidFill>
                              <a:srgbClr val="002060"/>
                            </a:solidFill>
                            <a:latin typeface="Cambria Math" panose="02040503050406030204" pitchFamily="18" charset="0"/>
                          </a:rPr>
                        </m:ctrlPr>
                      </m:sSubPr>
                      <m:e>
                        <m:r>
                          <a:rPr lang="en-US" sz="3200" b="0" i="1" smtClean="0">
                            <a:solidFill>
                              <a:srgbClr val="002060"/>
                            </a:solidFill>
                            <a:latin typeface="Cambria Math" panose="02040503050406030204" pitchFamily="18" charset="0"/>
                          </a:rPr>
                          <m:t>𝐴</m:t>
                        </m:r>
                      </m:e>
                      <m:sub>
                        <m:r>
                          <a:rPr lang="en-US" sz="3200" b="0" i="1" smtClean="0">
                            <a:solidFill>
                              <a:srgbClr val="002060"/>
                            </a:solidFill>
                            <a:latin typeface="Cambria Math" panose="02040503050406030204" pitchFamily="18" charset="0"/>
                          </a:rPr>
                          <m:t>𝑖</m:t>
                        </m:r>
                      </m:sub>
                    </m:sSub>
                    <m:r>
                      <a:rPr lang="en-US" sz="3200" b="0" i="1" smtClean="0">
                        <a:solidFill>
                          <a:srgbClr val="002060"/>
                        </a:solidFill>
                        <a:latin typeface="Cambria Math" panose="02040503050406030204" pitchFamily="18" charset="0"/>
                      </a:rPr>
                      <m:t> </m:t>
                    </m:r>
                  </m:oMath>
                </a14:m>
                <a:r>
                  <a:rPr lang="mn-MN" sz="3200"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mn-MN" sz="3200" b="0" i="0" smtClean="0">
                        <a:solidFill>
                          <a:srgbClr val="002060"/>
                        </a:solidFill>
                        <a:latin typeface="Cambria Math" panose="02040503050406030204" pitchFamily="18" charset="0"/>
                      </a:rPr>
                      <m:t> </m:t>
                    </m:r>
                    <m:r>
                      <m:rPr>
                        <m:brk m:alnAt="23"/>
                      </m:rPr>
                      <a:rPr lang="en-US" sz="3200" i="1">
                        <a:solidFill>
                          <a:srgbClr val="002060"/>
                        </a:solidFill>
                        <a:latin typeface="Cambria Math" panose="02040503050406030204" pitchFamily="18" charset="0"/>
                      </a:rPr>
                      <m:t>𝑖</m:t>
                    </m:r>
                  </m:oMath>
                </a14:m>
                <a:r>
                  <a:rPr lang="mn-MN" sz="3200" dirty="0">
                    <a:solidFill>
                      <a:srgbClr val="002060"/>
                    </a:solidFill>
                    <a:latin typeface="Times New Roman" panose="02020603050405020304" pitchFamily="18" charset="0"/>
                    <a:cs typeface="Times New Roman" panose="02020603050405020304" pitchFamily="18" charset="0"/>
                  </a:rPr>
                  <a:t>-р үеийн бодит эрэлт</a:t>
                </a:r>
                <a:endParaRPr lang="en-US" sz="3200" dirty="0">
                  <a:solidFill>
                    <a:srgbClr val="002060"/>
                  </a:solidFill>
                  <a:latin typeface="Times New Roman" panose="02020603050405020304" pitchFamily="18" charset="0"/>
                  <a:cs typeface="Times New Roman" panose="02020603050405020304" pitchFamily="18" charset="0"/>
                </a:endParaRPr>
              </a:p>
              <a:p>
                <a:pPr algn="just"/>
                <a:endParaRPr lang="en-US" sz="36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6CFC86F-9D4E-3B74-9B0A-CC8A71FDB179}"/>
                  </a:ext>
                </a:extLst>
              </p:cNvPr>
              <p:cNvSpPr>
                <a:spLocks noGrp="1" noRot="1" noChangeAspect="1" noMove="1" noResize="1" noEditPoints="1" noAdjustHandles="1" noChangeArrowheads="1" noChangeShapeType="1" noTextEdit="1"/>
              </p:cNvSpPr>
              <p:nvPr>
                <p:ph idx="1"/>
              </p:nvPr>
            </p:nvSpPr>
            <p:spPr>
              <a:xfrm>
                <a:off x="186610" y="756882"/>
                <a:ext cx="11700587" cy="5453741"/>
              </a:xfrm>
              <a:blipFill>
                <a:blip r:embed="rId3"/>
                <a:stretch>
                  <a:fillRect l="-1459" t="-2793" r="-1563"/>
                </a:stretch>
              </a:blipFill>
            </p:spPr>
            <p:txBody>
              <a:bodyPr/>
              <a:lstStyle/>
              <a:p>
                <a:r>
                  <a:rPr lang="en-US">
                    <a:noFill/>
                  </a:rPr>
                  <a:t> </a:t>
                </a:r>
              </a:p>
            </p:txBody>
          </p:sp>
        </mc:Fallback>
      </mc:AlternateContent>
    </p:spTree>
    <p:extLst>
      <p:ext uri="{BB962C8B-B14F-4D97-AF65-F5344CB8AC3E}">
        <p14:creationId xmlns:p14="http://schemas.microsoft.com/office/powerpoint/2010/main" val="3658789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92FEA-871A-2598-01A4-3CEB19ECC5A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24CF9789-F2ED-6813-F31D-D2343AE1B5A2}"/>
              </a:ext>
            </a:extLst>
          </p:cNvPr>
          <p:cNvPicPr>
            <a:picLocks noChangeAspect="1"/>
          </p:cNvPicPr>
          <p:nvPr/>
        </p:nvPicPr>
        <p:blipFill rotWithShape="1">
          <a:blip r:embed="rId3"/>
          <a:srcRect l="1012" t="2036" r="1012" b="1730"/>
          <a:stretch/>
        </p:blipFill>
        <p:spPr>
          <a:xfrm>
            <a:off x="5948314" y="2975746"/>
            <a:ext cx="6106378" cy="3755699"/>
          </a:xfrm>
          <a:prstGeom prst="rect">
            <a:avLst/>
          </a:prstGeom>
        </p:spPr>
      </p:pic>
      <p:pic>
        <p:nvPicPr>
          <p:cNvPr id="13" name="Picture 12">
            <a:extLst>
              <a:ext uri="{FF2B5EF4-FFF2-40B4-BE49-F238E27FC236}">
                <a16:creationId xmlns:a16="http://schemas.microsoft.com/office/drawing/2014/main" id="{FE2E60E2-8A80-9D6D-EEF7-770F46B96899}"/>
              </a:ext>
            </a:extLst>
          </p:cNvPr>
          <p:cNvPicPr>
            <a:picLocks noChangeAspect="1"/>
          </p:cNvPicPr>
          <p:nvPr/>
        </p:nvPicPr>
        <p:blipFill>
          <a:blip r:embed="rId4"/>
          <a:stretch>
            <a:fillRect/>
          </a:stretch>
        </p:blipFill>
        <p:spPr>
          <a:xfrm>
            <a:off x="6475777" y="126554"/>
            <a:ext cx="5578914" cy="2947453"/>
          </a:xfrm>
          <a:prstGeom prst="rect">
            <a:avLst/>
          </a:prstGeom>
        </p:spPr>
      </p:pic>
      <p:sp>
        <p:nvSpPr>
          <p:cNvPr id="2" name="Title 1">
            <a:extLst>
              <a:ext uri="{FF2B5EF4-FFF2-40B4-BE49-F238E27FC236}">
                <a16:creationId xmlns:a16="http://schemas.microsoft.com/office/drawing/2014/main" id="{D8420C88-5DEC-2035-4617-CFD7F2C179C2}"/>
              </a:ext>
            </a:extLst>
          </p:cNvPr>
          <p:cNvSpPr>
            <a:spLocks noGrp="1"/>
          </p:cNvSpPr>
          <p:nvPr>
            <p:ph type="title"/>
          </p:nvPr>
        </p:nvSpPr>
        <p:spPr>
          <a:xfrm>
            <a:off x="161191" y="79420"/>
            <a:ext cx="10515600" cy="407452"/>
          </a:xfrm>
        </p:spPr>
        <p:txBody>
          <a:bodyPr>
            <a:no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Эрэлт таамаглах тоон аргууд</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8B1CFD-5AD6-42AD-D841-C1DD6DD19259}"/>
              </a:ext>
            </a:extLst>
          </p:cNvPr>
          <p:cNvSpPr>
            <a:spLocks noGrp="1"/>
          </p:cNvSpPr>
          <p:nvPr>
            <p:ph idx="1"/>
          </p:nvPr>
        </p:nvSpPr>
        <p:spPr>
          <a:xfrm>
            <a:off x="193292" y="486871"/>
            <a:ext cx="5890633" cy="4575321"/>
          </a:xfrm>
        </p:spPr>
        <p:txBody>
          <a:bodyPr>
            <a:normAutofit fontScale="92500" lnSpcReduction="10000"/>
          </a:bodyPr>
          <a:lstStyle/>
          <a:p>
            <a:pPr algn="just"/>
            <a:r>
              <a:rPr lang="mn-MN" b="1" dirty="0">
                <a:solidFill>
                  <a:srgbClr val="002060"/>
                </a:solidFill>
                <a:latin typeface="Times New Roman" panose="02020603050405020304" pitchFamily="18" charset="0"/>
                <a:cs typeface="Times New Roman" panose="02020603050405020304" pitchFamily="18" charset="0"/>
              </a:rPr>
              <a:t>Регрессийн арга </a:t>
            </a:r>
            <a:r>
              <a:rPr lang="mn-MN" dirty="0">
                <a:solidFill>
                  <a:srgbClr val="002060"/>
                </a:solidFill>
                <a:latin typeface="Times New Roman" panose="02020603050405020304" pitchFamily="18" charset="0"/>
                <a:cs typeface="Times New Roman" panose="02020603050405020304" pitchFamily="18" charset="0"/>
              </a:rPr>
              <a:t>– нэг хувьсагч нөгөө хувьсагчаас хэрхэн хамаарч, цаашид хэрхэн өөрчлөгдөхийг тооцоолно. </a:t>
            </a:r>
          </a:p>
          <a:p>
            <a:pPr lvl="1" algn="just"/>
            <a:r>
              <a:rPr lang="mn-MN" dirty="0">
                <a:solidFill>
                  <a:srgbClr val="002060"/>
                </a:solidFill>
                <a:latin typeface="Times New Roman" panose="02020603050405020304" pitchFamily="18" charset="0"/>
                <a:cs typeface="Times New Roman" panose="02020603050405020304" pitchFamily="18" charset="0"/>
              </a:rPr>
              <a:t>Төрлүүд: </a:t>
            </a:r>
          </a:p>
          <a:p>
            <a:pPr lvl="2" algn="just"/>
            <a:r>
              <a:rPr lang="mn-MN" dirty="0">
                <a:solidFill>
                  <a:srgbClr val="002060"/>
                </a:solidFill>
                <a:latin typeface="Times New Roman" panose="02020603050405020304" pitchFamily="18" charset="0"/>
                <a:cs typeface="Times New Roman" panose="02020603050405020304" pitchFamily="18" charset="0"/>
              </a:rPr>
              <a:t>Шугаман </a:t>
            </a:r>
          </a:p>
          <a:p>
            <a:pPr lvl="2" algn="just"/>
            <a:r>
              <a:rPr lang="mn-MN" dirty="0">
                <a:solidFill>
                  <a:srgbClr val="002060"/>
                </a:solidFill>
                <a:latin typeface="Times New Roman" panose="02020603050405020304" pitchFamily="18" charset="0"/>
                <a:cs typeface="Times New Roman" panose="02020603050405020304" pitchFamily="18" charset="0"/>
              </a:rPr>
              <a:t>Шугаман бус</a:t>
            </a:r>
          </a:p>
          <a:p>
            <a:r>
              <a:rPr lang="mn-MN" b="1" dirty="0">
                <a:solidFill>
                  <a:srgbClr val="002060"/>
                </a:solidFill>
                <a:latin typeface="Times New Roman" panose="02020603050405020304" pitchFamily="18" charset="0"/>
                <a:cs typeface="Times New Roman" panose="02020603050405020304" pitchFamily="18" charset="0"/>
              </a:rPr>
              <a:t>Регресс, корреляцийн шинжилгээний арга </a:t>
            </a:r>
            <a:r>
              <a:rPr lang="mn-MN" dirty="0">
                <a:solidFill>
                  <a:srgbClr val="002060"/>
                </a:solidFill>
                <a:latin typeface="Times New Roman" panose="02020603050405020304" pitchFamily="18" charset="0"/>
                <a:cs typeface="Times New Roman" panose="02020603050405020304" pitchFamily="18" charset="0"/>
              </a:rPr>
              <a:t>–</a:t>
            </a:r>
            <a:endParaRPr lang="en-US" dirty="0">
              <a:solidFill>
                <a:srgbClr val="002060"/>
              </a:solidFill>
              <a:latin typeface="Times New Roman" panose="02020603050405020304" pitchFamily="18" charset="0"/>
              <a:cs typeface="Times New Roman" panose="02020603050405020304" pitchFamily="18" charset="0"/>
            </a:endParaRPr>
          </a:p>
          <a:p>
            <a:pPr algn="just"/>
            <a:r>
              <a:rPr lang="mn-MN" dirty="0">
                <a:solidFill>
                  <a:srgbClr val="002060"/>
                </a:solidFill>
                <a:latin typeface="Times New Roman" panose="02020603050405020304" pitchFamily="18" charset="0"/>
                <a:cs typeface="Times New Roman" panose="02020603050405020304" pitchFamily="18" charset="0"/>
              </a:rPr>
              <a:t>хувьсагч хоорондын хамаарал байгаа эсэхийг тодорхойлдог. </a:t>
            </a:r>
          </a:p>
          <a:p>
            <a:pPr lvl="1" algn="just"/>
            <a:r>
              <a:rPr lang="mn-MN" dirty="0">
                <a:solidFill>
                  <a:srgbClr val="002060"/>
                </a:solidFill>
                <a:latin typeface="Times New Roman" panose="02020603050405020304" pitchFamily="18" charset="0"/>
                <a:cs typeface="Times New Roman" panose="02020603050405020304" pitchFamily="18" charset="0"/>
              </a:rPr>
              <a:t>Өмнөх үеийн мэдээлэл дээр тулгуурлан ирээдүйн хувьсах хэмжигдэхүүний утгыг тодорхойлох боломж олгодог чухал арга. </a:t>
            </a:r>
          </a:p>
          <a:p>
            <a:pPr algn="just"/>
            <a:endParaRPr lang="mn-MN"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FEBBAA6-E5ED-ED4E-601A-6FD0FFA01436}"/>
              </a:ext>
            </a:extLst>
          </p:cNvPr>
          <p:cNvSpPr txBox="1"/>
          <p:nvPr/>
        </p:nvSpPr>
        <p:spPr>
          <a:xfrm>
            <a:off x="137309" y="4792453"/>
            <a:ext cx="6377698" cy="1938992"/>
          </a:xfrm>
          <a:prstGeom prst="rect">
            <a:avLst/>
          </a:prstGeom>
          <a:solidFill>
            <a:schemeClr val="accent4">
              <a:lumMod val="20000"/>
              <a:lumOff val="80000"/>
            </a:schemeClr>
          </a:solidFill>
        </p:spPr>
        <p:txBody>
          <a:bodyPr wrap="square">
            <a:spAutoFit/>
          </a:bodyPr>
          <a:lstStyle/>
          <a:p>
            <a:pPr algn="just"/>
            <a:r>
              <a:rPr lang="mn-MN" sz="3000" b="1" dirty="0">
                <a:solidFill>
                  <a:srgbClr val="002060"/>
                </a:solidFill>
                <a:latin typeface="Times New Roman" panose="02020603050405020304" pitchFamily="18" charset="0"/>
                <a:cs typeface="Times New Roman" panose="02020603050405020304" pitchFamily="18" charset="0"/>
              </a:rPr>
              <a:t>Корреляци</a:t>
            </a:r>
            <a:r>
              <a:rPr lang="mn-MN" sz="3000" dirty="0">
                <a:solidFill>
                  <a:srgbClr val="002060"/>
                </a:solidFill>
                <a:latin typeface="Times New Roman" panose="02020603050405020304" pitchFamily="18" charset="0"/>
                <a:cs typeface="Times New Roman" panose="02020603050405020304" pitchFamily="18" charset="0"/>
              </a:rPr>
              <a:t> нь хамаарал байгаа эсэхийг, харин </a:t>
            </a:r>
            <a:r>
              <a:rPr lang="mn-MN" sz="3000" b="1" dirty="0">
                <a:solidFill>
                  <a:srgbClr val="002060"/>
                </a:solidFill>
                <a:latin typeface="Times New Roman" panose="02020603050405020304" pitchFamily="18" charset="0"/>
                <a:cs typeface="Times New Roman" panose="02020603050405020304" pitchFamily="18" charset="0"/>
              </a:rPr>
              <a:t>регресс</a:t>
            </a:r>
            <a:r>
              <a:rPr lang="mn-MN" sz="3000" dirty="0">
                <a:solidFill>
                  <a:srgbClr val="002060"/>
                </a:solidFill>
                <a:latin typeface="Times New Roman" panose="02020603050405020304" pitchFamily="18" charset="0"/>
                <a:cs typeface="Times New Roman" panose="02020603050405020304" pitchFamily="18" charset="0"/>
              </a:rPr>
              <a:t> нь энэхүү хамаарлын шалтгаан, нөлөөллийг судална. </a:t>
            </a:r>
            <a:endParaRPr lang="en-US" sz="3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592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D0AF-E65E-6247-6D08-F0E5A6EFA973}"/>
              </a:ext>
            </a:extLst>
          </p:cNvPr>
          <p:cNvSpPr>
            <a:spLocks noGrp="1"/>
          </p:cNvSpPr>
          <p:nvPr>
            <p:ph type="title"/>
          </p:nvPr>
        </p:nvSpPr>
        <p:spPr>
          <a:xfrm>
            <a:off x="159470" y="101176"/>
            <a:ext cx="11821998" cy="358717"/>
          </a:xfrm>
        </p:spPr>
        <p:txBody>
          <a:bodyPr>
            <a:no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Таамаглалын алдаа</a:t>
            </a:r>
            <a:endParaRPr lang="en-US" sz="36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38AB95-C976-D43D-A3A3-CECF64D67C07}"/>
                  </a:ext>
                </a:extLst>
              </p:cNvPr>
              <p:cNvSpPr>
                <a:spLocks noGrp="1"/>
              </p:cNvSpPr>
              <p:nvPr>
                <p:ph idx="1"/>
              </p:nvPr>
            </p:nvSpPr>
            <p:spPr>
              <a:xfrm>
                <a:off x="159470" y="585647"/>
                <a:ext cx="11821998" cy="6171177"/>
              </a:xfrm>
            </p:spPr>
            <p:txBody>
              <a:bodyPr>
                <a:normAutofit fontScale="92500"/>
              </a:bodyPr>
              <a:lstStyle/>
              <a:p>
                <a:pPr algn="just"/>
                <a:r>
                  <a:rPr lang="mn-MN" sz="3200" dirty="0">
                    <a:solidFill>
                      <a:srgbClr val="002060"/>
                    </a:solidFill>
                    <a:latin typeface="Times New Roman" panose="02020603050405020304" pitchFamily="18" charset="0"/>
                    <a:cs typeface="Times New Roman" panose="02020603050405020304" pitchFamily="18" charset="0"/>
                  </a:rPr>
                  <a:t>Ямар ч тохиолдолд таамаглалын алдааг тооцоолох шаардлагатай. </a:t>
                </a:r>
              </a:p>
              <a:p>
                <a:pPr lvl="1" algn="just"/>
                <a:r>
                  <a:rPr lang="mn-MN" sz="2800" dirty="0">
                    <a:solidFill>
                      <a:srgbClr val="002060"/>
                    </a:solidFill>
                    <a:latin typeface="Times New Roman" panose="02020603050405020304" pitchFamily="18" charset="0"/>
                    <a:cs typeface="Times New Roman" panose="02020603050405020304" pitchFamily="18" charset="0"/>
                  </a:rPr>
                  <a:t>Ингэснээр, гаргасан таамаглал хэр бодитой байгааг тодорхойлох боломж олгоно. </a:t>
                </a:r>
              </a:p>
              <a:p>
                <a:pPr algn="just"/>
                <a:r>
                  <a:rPr lang="mn-MN" sz="3200" b="1" dirty="0">
                    <a:solidFill>
                      <a:srgbClr val="002060"/>
                    </a:solidFill>
                    <a:latin typeface="Times New Roman" panose="02020603050405020304" pitchFamily="18" charset="0"/>
                    <a:cs typeface="Times New Roman" panose="02020603050405020304" pitchFamily="18" charset="0"/>
                  </a:rPr>
                  <a:t>Таамаглалын алдаа: </a:t>
                </a:r>
              </a:p>
              <a:p>
                <a:pPr marL="0" indent="0" algn="just">
                  <a:buNone/>
                </a:pPr>
                <a14:m>
                  <m:oMathPara xmlns:m="http://schemas.openxmlformats.org/officeDocument/2006/math">
                    <m:oMathParaPr>
                      <m:jc m:val="centerGroup"/>
                    </m:oMathParaPr>
                    <m:oMath xmlns:m="http://schemas.openxmlformats.org/officeDocument/2006/math">
                      <m:sSub>
                        <m:sSubPr>
                          <m:ctrlPr>
                            <a:rPr lang="mn-MN" sz="4800" i="1" smtClean="0">
                              <a:solidFill>
                                <a:srgbClr val="FF0000"/>
                              </a:solidFill>
                              <a:latin typeface="Cambria Math" panose="02040503050406030204" pitchFamily="18" charset="0"/>
                            </a:rPr>
                          </m:ctrlPr>
                        </m:sSubPr>
                        <m:e>
                          <m:r>
                            <a:rPr lang="en-US" sz="4800" b="0" i="1" smtClean="0">
                              <a:solidFill>
                                <a:srgbClr val="FF0000"/>
                              </a:solidFill>
                              <a:latin typeface="Cambria Math" panose="02040503050406030204" pitchFamily="18" charset="0"/>
                            </a:rPr>
                            <m:t>𝑒</m:t>
                          </m:r>
                        </m:e>
                        <m:sub>
                          <m:r>
                            <a:rPr lang="en-US" sz="4800" b="0" i="1" smtClean="0">
                              <a:solidFill>
                                <a:srgbClr val="FF0000"/>
                              </a:solidFill>
                              <a:latin typeface="Cambria Math" panose="02040503050406030204" pitchFamily="18" charset="0"/>
                            </a:rPr>
                            <m:t>𝑡</m:t>
                          </m:r>
                        </m:sub>
                      </m:sSub>
                      <m:r>
                        <a:rPr lang="en-US" sz="4800" b="0" i="1" smtClean="0">
                          <a:solidFill>
                            <a:srgbClr val="FF0000"/>
                          </a:solidFill>
                          <a:latin typeface="Cambria Math" panose="02040503050406030204" pitchFamily="18" charset="0"/>
                        </a:rPr>
                        <m:t>=</m:t>
                      </m:r>
                      <m:sSub>
                        <m:sSubPr>
                          <m:ctrlPr>
                            <a:rPr lang="mn-MN" sz="4800" i="1">
                              <a:solidFill>
                                <a:srgbClr val="FF0000"/>
                              </a:solidFill>
                              <a:latin typeface="Cambria Math" panose="02040503050406030204" pitchFamily="18" charset="0"/>
                            </a:rPr>
                          </m:ctrlPr>
                        </m:sSubPr>
                        <m:e>
                          <m:r>
                            <a:rPr lang="en-US" sz="4800" b="0" i="1" smtClean="0">
                              <a:solidFill>
                                <a:srgbClr val="FF0000"/>
                              </a:solidFill>
                              <a:latin typeface="Cambria Math" panose="02040503050406030204" pitchFamily="18" charset="0"/>
                            </a:rPr>
                            <m:t>𝐴</m:t>
                          </m:r>
                        </m:e>
                        <m:sub>
                          <m:r>
                            <a:rPr lang="en-US" sz="4800" i="1">
                              <a:solidFill>
                                <a:srgbClr val="FF0000"/>
                              </a:solidFill>
                              <a:latin typeface="Cambria Math" panose="02040503050406030204" pitchFamily="18" charset="0"/>
                            </a:rPr>
                            <m:t>𝑡</m:t>
                          </m:r>
                        </m:sub>
                      </m:sSub>
                      <m:r>
                        <a:rPr lang="en-US" sz="4800" b="0" i="1" smtClean="0">
                          <a:solidFill>
                            <a:srgbClr val="FF0000"/>
                          </a:solidFill>
                          <a:latin typeface="Cambria Math" panose="02040503050406030204" pitchFamily="18" charset="0"/>
                        </a:rPr>
                        <m:t>−</m:t>
                      </m:r>
                      <m:sSub>
                        <m:sSubPr>
                          <m:ctrlPr>
                            <a:rPr lang="mn-MN" sz="4800" i="1">
                              <a:solidFill>
                                <a:srgbClr val="FF0000"/>
                              </a:solidFill>
                              <a:latin typeface="Cambria Math" panose="02040503050406030204" pitchFamily="18" charset="0"/>
                            </a:rPr>
                          </m:ctrlPr>
                        </m:sSubPr>
                        <m:e>
                          <m:r>
                            <a:rPr lang="en-US" sz="4800" b="0" i="1" smtClean="0">
                              <a:solidFill>
                                <a:srgbClr val="FF0000"/>
                              </a:solidFill>
                              <a:latin typeface="Cambria Math" panose="02040503050406030204" pitchFamily="18" charset="0"/>
                            </a:rPr>
                            <m:t>𝐹</m:t>
                          </m:r>
                        </m:e>
                        <m:sub>
                          <m:r>
                            <a:rPr lang="en-US" sz="4800" i="1">
                              <a:solidFill>
                                <a:srgbClr val="FF0000"/>
                              </a:solidFill>
                              <a:latin typeface="Cambria Math" panose="02040503050406030204" pitchFamily="18" charset="0"/>
                            </a:rPr>
                            <m:t>𝑡</m:t>
                          </m:r>
                        </m:sub>
                      </m:sSub>
                    </m:oMath>
                  </m:oMathPara>
                </a14:m>
                <a:endParaRPr lang="mn-MN" sz="4000" dirty="0">
                  <a:solidFill>
                    <a:srgbClr val="FF0000"/>
                  </a:solidFill>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mn-MN" sz="4000" b="0" i="1" smtClean="0">
                          <a:solidFill>
                            <a:srgbClr val="FF0000"/>
                          </a:solidFill>
                          <a:latin typeface="Cambria Math" panose="02040503050406030204" pitchFamily="18" charset="0"/>
                        </a:rPr>
                        <m:t>Алдаа</m:t>
                      </m:r>
                      <m:r>
                        <a:rPr lang="en-US" sz="4000" b="0" i="1" smtClean="0">
                          <a:solidFill>
                            <a:srgbClr val="FF0000"/>
                          </a:solidFill>
                          <a:latin typeface="Cambria Math" panose="02040503050406030204" pitchFamily="18" charset="0"/>
                        </a:rPr>
                        <m:t>=</m:t>
                      </m:r>
                      <m:r>
                        <a:rPr lang="mn-MN" sz="4000" b="0" i="1" smtClean="0">
                          <a:solidFill>
                            <a:srgbClr val="FF0000"/>
                          </a:solidFill>
                          <a:latin typeface="Cambria Math" panose="02040503050406030204" pitchFamily="18" charset="0"/>
                        </a:rPr>
                        <m:t>Бодит үзүүлэлт−Таамаглал</m:t>
                      </m:r>
                    </m:oMath>
                  </m:oMathPara>
                </a14:m>
                <a:endParaRPr lang="mn-MN" sz="4000" dirty="0">
                  <a:solidFill>
                    <a:srgbClr val="FF0000"/>
                  </a:solidFill>
                  <a:latin typeface="Times New Roman" panose="02020603050405020304" pitchFamily="18" charset="0"/>
                  <a:cs typeface="Times New Roman" panose="02020603050405020304" pitchFamily="18" charset="0"/>
                </a:endParaRPr>
              </a:p>
              <a:p>
                <a:pPr lvl="1" algn="just"/>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 тэмдэгтэй бол таамаглал дээгүүр хийгдсэн.</a:t>
                </a:r>
              </a:p>
              <a:p>
                <a:pPr lvl="1" algn="just"/>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a:t>
                </a:r>
                <a:r>
                  <a:rPr lang="en-US" sz="2800" dirty="0">
                    <a:solidFill>
                      <a:srgbClr val="002060"/>
                    </a:solidFill>
                    <a:latin typeface="Times New Roman" panose="02020603050405020304" pitchFamily="18" charset="0"/>
                    <a:cs typeface="Times New Roman" panose="02020603050405020304" pitchFamily="18" charset="0"/>
                  </a:rPr>
                  <a:t>)</a:t>
                </a:r>
                <a:r>
                  <a:rPr lang="mn-MN" sz="2800" dirty="0">
                    <a:solidFill>
                      <a:srgbClr val="002060"/>
                    </a:solidFill>
                    <a:latin typeface="Times New Roman" panose="02020603050405020304" pitchFamily="18" charset="0"/>
                    <a:cs typeface="Times New Roman" panose="02020603050405020304" pitchFamily="18" charset="0"/>
                  </a:rPr>
                  <a:t> тэмдэгтэй бол таамаглал доогуур хийгдсэн.</a:t>
                </a:r>
              </a:p>
              <a:p>
                <a:pPr algn="just"/>
                <a:r>
                  <a:rPr lang="mn-MN" sz="3200" b="1" dirty="0">
                    <a:solidFill>
                      <a:srgbClr val="002060"/>
                    </a:solidFill>
                    <a:latin typeface="Times New Roman" panose="02020603050405020304" pitchFamily="18" charset="0"/>
                    <a:cs typeface="Times New Roman" panose="02020603050405020304" pitchFamily="18" charset="0"/>
                  </a:rPr>
                  <a:t>Алдаа гарах шалтгаан: </a:t>
                </a:r>
              </a:p>
              <a:p>
                <a:pPr lvl="1" algn="just"/>
                <a:r>
                  <a:rPr lang="mn-MN" sz="2800" dirty="0">
                    <a:solidFill>
                      <a:srgbClr val="002060"/>
                    </a:solidFill>
                    <a:latin typeface="Times New Roman" panose="02020603050405020304" pitchFamily="18" charset="0"/>
                    <a:cs typeface="Times New Roman" panose="02020603050405020304" pitchFamily="18" charset="0"/>
                  </a:rPr>
                  <a:t>Загварт хэрэглэх гол хувьсагчаа сонгож чадаагүй. </a:t>
                </a:r>
              </a:p>
              <a:p>
                <a:pPr lvl="1" algn="just"/>
                <a:r>
                  <a:rPr lang="mn-MN" sz="2800" dirty="0">
                    <a:solidFill>
                      <a:srgbClr val="002060"/>
                    </a:solidFill>
                    <a:latin typeface="Times New Roman" panose="02020603050405020304" pitchFamily="18" charset="0"/>
                    <a:cs typeface="Times New Roman" panose="02020603050405020304" pitchFamily="18" charset="0"/>
                  </a:rPr>
                  <a:t>Хувьсах хэмжигдэхүүн өөрчлөгдсөн. Эсвэл хооронд нь хольж хэрэглэсэн. </a:t>
                </a:r>
              </a:p>
              <a:p>
                <a:pPr lvl="1" algn="just"/>
                <a:r>
                  <a:rPr lang="mn-MN" sz="2800" dirty="0">
                    <a:solidFill>
                      <a:srgbClr val="002060"/>
                    </a:solidFill>
                    <a:latin typeface="Times New Roman" panose="02020603050405020304" pitchFamily="18" charset="0"/>
                    <a:cs typeface="Times New Roman" panose="02020603050405020304" pitchFamily="18" charset="0"/>
                  </a:rPr>
                  <a:t>Гэнэтийн ямар нэг тохиолдол гарсан. </a:t>
                </a:r>
              </a:p>
              <a:p>
                <a:pPr lvl="1" algn="just"/>
                <a:r>
                  <a:rPr lang="mn-MN" sz="2800" dirty="0">
                    <a:solidFill>
                      <a:srgbClr val="002060"/>
                    </a:solidFill>
                    <a:latin typeface="Times New Roman" panose="02020603050405020304" pitchFamily="18" charset="0"/>
                    <a:cs typeface="Times New Roman" panose="02020603050405020304" pitchFamily="18" charset="0"/>
                  </a:rPr>
                  <a:t>Таамаглалын аргыг зөв сонгоогүй.</a:t>
                </a:r>
                <a:endParaRPr lang="en-US" sz="28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038AB95-C976-D43D-A3A3-CECF64D67C07}"/>
                  </a:ext>
                </a:extLst>
              </p:cNvPr>
              <p:cNvSpPr>
                <a:spLocks noGrp="1" noRot="1" noChangeAspect="1" noMove="1" noResize="1" noEditPoints="1" noAdjustHandles="1" noChangeArrowheads="1" noChangeShapeType="1" noTextEdit="1"/>
              </p:cNvSpPr>
              <p:nvPr>
                <p:ph idx="1"/>
              </p:nvPr>
            </p:nvSpPr>
            <p:spPr>
              <a:xfrm>
                <a:off x="159470" y="585647"/>
                <a:ext cx="11821998" cy="6171177"/>
              </a:xfrm>
              <a:blipFill>
                <a:blip r:embed="rId3"/>
                <a:stretch>
                  <a:fillRect l="-1031" t="-1976" r="-928"/>
                </a:stretch>
              </a:blipFill>
            </p:spPr>
            <p:txBody>
              <a:bodyPr/>
              <a:lstStyle/>
              <a:p>
                <a:r>
                  <a:rPr lang="en-US">
                    <a:noFill/>
                  </a:rPr>
                  <a:t> </a:t>
                </a:r>
              </a:p>
            </p:txBody>
          </p:sp>
        </mc:Fallback>
      </mc:AlternateContent>
    </p:spTree>
    <p:extLst>
      <p:ext uri="{BB962C8B-B14F-4D97-AF65-F5344CB8AC3E}">
        <p14:creationId xmlns:p14="http://schemas.microsoft.com/office/powerpoint/2010/main" val="938840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0470E-5244-D769-B259-3EF33145AD4A}"/>
              </a:ext>
            </a:extLst>
          </p:cNvPr>
          <p:cNvSpPr>
            <a:spLocks noGrp="1"/>
          </p:cNvSpPr>
          <p:nvPr>
            <p:ph type="title"/>
          </p:nvPr>
        </p:nvSpPr>
        <p:spPr>
          <a:xfrm>
            <a:off x="150043" y="86601"/>
            <a:ext cx="11869131" cy="290471"/>
          </a:xfrm>
        </p:spPr>
        <p:txBody>
          <a:bodyPr>
            <a:noAutofit/>
          </a:bodyPr>
          <a:lstStyle/>
          <a:p>
            <a:r>
              <a:rPr lang="mn-MN" sz="2800" b="1" dirty="0">
                <a:solidFill>
                  <a:srgbClr val="002060"/>
                </a:solidFill>
                <a:latin typeface="Times New Roman" panose="02020603050405020304" pitchFamily="18" charset="0"/>
                <a:cs typeface="Times New Roman" panose="02020603050405020304" pitchFamily="18" charset="0"/>
              </a:rPr>
              <a:t>Маркетингийн үндсэн иж бүрдэл</a:t>
            </a:r>
            <a:r>
              <a:rPr lang="en-US" sz="2800" b="1" dirty="0">
                <a:solidFill>
                  <a:srgbClr val="002060"/>
                </a:solidFill>
                <a:latin typeface="Times New Roman" panose="02020603050405020304" pitchFamily="18" charset="0"/>
                <a:cs typeface="Times New Roman" panose="02020603050405020304" pitchFamily="18" charset="0"/>
              </a:rPr>
              <a:t> </a:t>
            </a:r>
            <a:r>
              <a:rPr lang="mn-MN" sz="2800" b="1" dirty="0">
                <a:solidFill>
                  <a:srgbClr val="002060"/>
                </a:solidFill>
                <a:latin typeface="Times New Roman" panose="02020603050405020304" pitchFamily="18" charset="0"/>
                <a:cs typeface="Times New Roman" panose="02020603050405020304" pitchFamily="18" charset="0"/>
              </a:rPr>
              <a:t>– 4</a:t>
            </a:r>
            <a:r>
              <a:rPr lang="en-US" sz="2800" b="1" dirty="0">
                <a:solidFill>
                  <a:srgbClr val="002060"/>
                </a:solidFill>
                <a:latin typeface="Times New Roman" panose="02020603050405020304" pitchFamily="18" charset="0"/>
                <a:cs typeface="Times New Roman" panose="02020603050405020304" pitchFamily="18" charset="0"/>
              </a:rPr>
              <a:t>P</a:t>
            </a:r>
          </a:p>
        </p:txBody>
      </p:sp>
      <p:sp>
        <p:nvSpPr>
          <p:cNvPr id="3" name="Content Placeholder 2">
            <a:extLst>
              <a:ext uri="{FF2B5EF4-FFF2-40B4-BE49-F238E27FC236}">
                <a16:creationId xmlns:a16="http://schemas.microsoft.com/office/drawing/2014/main" id="{5E63774A-A200-BC80-16B8-2AA98E6FE4F5}"/>
              </a:ext>
            </a:extLst>
          </p:cNvPr>
          <p:cNvSpPr>
            <a:spLocks noGrp="1"/>
          </p:cNvSpPr>
          <p:nvPr>
            <p:ph idx="1"/>
          </p:nvPr>
        </p:nvSpPr>
        <p:spPr>
          <a:xfrm>
            <a:off x="172826" y="491061"/>
            <a:ext cx="3974968" cy="6201970"/>
          </a:xfrm>
        </p:spPr>
        <p:txBody>
          <a:bodyPr>
            <a:normAutofit fontScale="92500" lnSpcReduction="10000"/>
          </a:bodyPr>
          <a:lstStyle/>
          <a:p>
            <a:pPr marL="171450" indent="-171450"/>
            <a:r>
              <a:rPr lang="mn-MN" b="1" dirty="0">
                <a:solidFill>
                  <a:schemeClr val="accent2">
                    <a:lumMod val="75000"/>
                  </a:schemeClr>
                </a:solidFill>
                <a:latin typeface="Times New Roman" panose="02020603050405020304" pitchFamily="18" charset="0"/>
                <a:cs typeface="Times New Roman" panose="02020603050405020304" pitchFamily="18" charset="0"/>
              </a:rPr>
              <a:t>Бүтээгдэхүүн</a:t>
            </a:r>
            <a:r>
              <a:rPr lang="en-US" b="1" dirty="0">
                <a:solidFill>
                  <a:schemeClr val="accent2">
                    <a:lumMod val="75000"/>
                  </a:schemeClr>
                </a:solidFill>
                <a:latin typeface="Times New Roman" panose="02020603050405020304" pitchFamily="18" charset="0"/>
                <a:cs typeface="Times New Roman" panose="02020603050405020304" pitchFamily="18" charset="0"/>
              </a:rPr>
              <a:t> (PRODUCT) </a:t>
            </a:r>
            <a:r>
              <a:rPr lang="mn-MN" dirty="0">
                <a:solidFill>
                  <a:srgbClr val="002060"/>
                </a:solidFill>
                <a:latin typeface="Times New Roman" panose="02020603050405020304" pitchFamily="18" charset="0"/>
                <a:cs typeface="Times New Roman" panose="02020603050405020304" pitchFamily="18" charset="0"/>
              </a:rPr>
              <a:t>– Ямар бүтээгдэхүүн байх вэ?</a:t>
            </a:r>
          </a:p>
          <a:p>
            <a:pPr marL="171450" indent="-171450"/>
            <a:r>
              <a:rPr lang="mn-MN" b="1" dirty="0">
                <a:solidFill>
                  <a:schemeClr val="accent2">
                    <a:lumMod val="75000"/>
                  </a:schemeClr>
                </a:solidFill>
                <a:latin typeface="Times New Roman" panose="02020603050405020304" pitchFamily="18" charset="0"/>
                <a:cs typeface="Times New Roman" panose="02020603050405020304" pitchFamily="18" charset="0"/>
              </a:rPr>
              <a:t>Үнэ</a:t>
            </a:r>
            <a:r>
              <a:rPr lang="en-US" b="1" dirty="0">
                <a:solidFill>
                  <a:schemeClr val="accent2">
                    <a:lumMod val="75000"/>
                  </a:schemeClr>
                </a:solidFill>
                <a:latin typeface="Times New Roman" panose="02020603050405020304" pitchFamily="18" charset="0"/>
                <a:cs typeface="Times New Roman" panose="02020603050405020304" pitchFamily="18" charset="0"/>
              </a:rPr>
              <a:t> (PRICE) </a:t>
            </a:r>
            <a:r>
              <a:rPr lang="mn-MN" dirty="0">
                <a:solidFill>
                  <a:srgbClr val="002060"/>
                </a:solidFill>
                <a:latin typeface="Times New Roman" panose="02020603050405020304" pitchFamily="18" charset="0"/>
                <a:cs typeface="Times New Roman" panose="02020603050405020304" pitchFamily="18" charset="0"/>
              </a:rPr>
              <a:t>– Бүтээгдэхүүн ямар үнэтэй байх вэ?</a:t>
            </a:r>
          </a:p>
          <a:p>
            <a:pPr marL="171450" indent="-171450"/>
            <a:r>
              <a:rPr lang="mn-MN" b="1" dirty="0">
                <a:solidFill>
                  <a:schemeClr val="accent2">
                    <a:lumMod val="75000"/>
                  </a:schemeClr>
                </a:solidFill>
                <a:latin typeface="Times New Roman" panose="02020603050405020304" pitchFamily="18" charset="0"/>
                <a:cs typeface="Times New Roman" panose="02020603050405020304" pitchFamily="18" charset="0"/>
              </a:rPr>
              <a:t>Идэвхжүүлэлт</a:t>
            </a:r>
            <a:r>
              <a:rPr lang="en-US" dirty="0">
                <a:solidFill>
                  <a:srgbClr val="002060"/>
                </a:solidFill>
                <a:latin typeface="Times New Roman" panose="02020603050405020304" pitchFamily="18" charset="0"/>
                <a:cs typeface="Times New Roman" panose="02020603050405020304" pitchFamily="18" charset="0"/>
              </a:rPr>
              <a:t> </a:t>
            </a:r>
            <a:r>
              <a:rPr lang="en-US" b="1" dirty="0">
                <a:solidFill>
                  <a:schemeClr val="accent2">
                    <a:lumMod val="75000"/>
                  </a:schemeClr>
                </a:solidFill>
                <a:latin typeface="Times New Roman" panose="02020603050405020304" pitchFamily="18" charset="0"/>
                <a:cs typeface="Times New Roman" panose="02020603050405020304" pitchFamily="18" charset="0"/>
              </a:rPr>
              <a:t>(PROMOTION) </a:t>
            </a:r>
            <a:r>
              <a:rPr lang="mn-MN" dirty="0">
                <a:solidFill>
                  <a:srgbClr val="002060"/>
                </a:solidFill>
                <a:latin typeface="Times New Roman" panose="02020603050405020304" pitchFamily="18" charset="0"/>
                <a:cs typeface="Times New Roman" panose="02020603050405020304" pitchFamily="18" charset="0"/>
              </a:rPr>
              <a:t>– Бүтээгдэхүүнийг хэрэглэгчдэд хэрхэн таниулж, худалдан авалт хийхэд нь ятгаж, сануулах вэ?</a:t>
            </a:r>
          </a:p>
          <a:p>
            <a:pPr marL="171450" indent="-171450"/>
            <a:r>
              <a:rPr lang="mn-MN" b="1" dirty="0">
                <a:solidFill>
                  <a:schemeClr val="accent2">
                    <a:lumMod val="75000"/>
                  </a:schemeClr>
                </a:solidFill>
                <a:latin typeface="Times New Roman" panose="02020603050405020304" pitchFamily="18" charset="0"/>
                <a:cs typeface="Times New Roman" panose="02020603050405020304" pitchFamily="18" charset="0"/>
              </a:rPr>
              <a:t>Хуваарилалт</a:t>
            </a:r>
            <a:r>
              <a:rPr lang="en-US" dirty="0">
                <a:solidFill>
                  <a:srgbClr val="002060"/>
                </a:solidFill>
                <a:latin typeface="Times New Roman" panose="02020603050405020304" pitchFamily="18" charset="0"/>
                <a:cs typeface="Times New Roman" panose="02020603050405020304" pitchFamily="18" charset="0"/>
              </a:rPr>
              <a:t> </a:t>
            </a:r>
            <a:r>
              <a:rPr lang="en-US" b="1" dirty="0">
                <a:solidFill>
                  <a:schemeClr val="accent2">
                    <a:lumMod val="75000"/>
                  </a:schemeClr>
                </a:solidFill>
                <a:latin typeface="Times New Roman" panose="02020603050405020304" pitchFamily="18" charset="0"/>
                <a:cs typeface="Times New Roman" panose="02020603050405020304" pitchFamily="18" charset="0"/>
              </a:rPr>
              <a:t>(PLACE) </a:t>
            </a:r>
            <a:r>
              <a:rPr lang="mn-MN" dirty="0">
                <a:solidFill>
                  <a:srgbClr val="002060"/>
                </a:solidFill>
                <a:latin typeface="Times New Roman" panose="02020603050405020304" pitchFamily="18" charset="0"/>
                <a:cs typeface="Times New Roman" panose="02020603050405020304" pitchFamily="18" charset="0"/>
              </a:rPr>
              <a:t>– Бүтээгдэхүүнийг хэрэглэгчдэд хэрхэн хүргэх вэ? </a:t>
            </a:r>
          </a:p>
        </p:txBody>
      </p:sp>
      <p:pic>
        <p:nvPicPr>
          <p:cNvPr id="4098" name="Picture 2" descr="las 4P del marketing">
            <a:extLst>
              <a:ext uri="{FF2B5EF4-FFF2-40B4-BE49-F238E27FC236}">
                <a16:creationId xmlns:a16="http://schemas.microsoft.com/office/drawing/2014/main" id="{27BEE061-DCD9-B192-9D49-E243EE849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1550" y="377072"/>
            <a:ext cx="8191893" cy="6673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713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B8D2D-75D6-AB67-66C4-71BE56935106}"/>
              </a:ext>
            </a:extLst>
          </p:cNvPr>
          <p:cNvSpPr>
            <a:spLocks noGrp="1"/>
          </p:cNvSpPr>
          <p:nvPr>
            <p:ph type="title"/>
          </p:nvPr>
        </p:nvSpPr>
        <p:spPr>
          <a:xfrm>
            <a:off x="102910" y="72895"/>
            <a:ext cx="11944546" cy="398446"/>
          </a:xfrm>
        </p:spPr>
        <p:txBody>
          <a:bodyPr>
            <a:normAutofit fontScale="90000"/>
          </a:bodyPr>
          <a:lstStyle/>
          <a:p>
            <a:r>
              <a:rPr lang="mn-MN" sz="3600" b="1" dirty="0">
                <a:solidFill>
                  <a:srgbClr val="002060"/>
                </a:solidFill>
                <a:latin typeface="Times New Roman" panose="02020603050405020304" pitchFamily="18" charset="0"/>
                <a:cs typeface="Times New Roman" panose="02020603050405020304" pitchFamily="18" charset="0"/>
              </a:rPr>
              <a:t>Маркетингийн 4</a:t>
            </a:r>
            <a:r>
              <a:rPr lang="en-US" sz="3600" b="1" dirty="0">
                <a:solidFill>
                  <a:srgbClr val="002060"/>
                </a:solidFill>
                <a:latin typeface="Times New Roman" panose="02020603050405020304" pitchFamily="18" charset="0"/>
                <a:cs typeface="Times New Roman" panose="02020603050405020304" pitchFamily="18" charset="0"/>
              </a:rPr>
              <a:t>P </a:t>
            </a:r>
            <a:r>
              <a:rPr lang="mn-MN" sz="3600" b="1" dirty="0">
                <a:solidFill>
                  <a:srgbClr val="002060"/>
                </a:solidFill>
                <a:latin typeface="Times New Roman" panose="02020603050405020304" pitchFamily="18" charset="0"/>
                <a:cs typeface="Times New Roman" panose="02020603050405020304" pitchFamily="18" charset="0"/>
              </a:rPr>
              <a:t>– Бүтээгдэхүүн</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1E3E16-01D8-C762-4D25-1072CD5A2BCD}"/>
              </a:ext>
            </a:extLst>
          </p:cNvPr>
          <p:cNvSpPr>
            <a:spLocks noGrp="1"/>
          </p:cNvSpPr>
          <p:nvPr>
            <p:ph idx="1"/>
          </p:nvPr>
        </p:nvSpPr>
        <p:spPr>
          <a:xfrm>
            <a:off x="102910" y="471341"/>
            <a:ext cx="11944546" cy="2658358"/>
          </a:xfrm>
        </p:spPr>
        <p:txBody>
          <a:bodyPr>
            <a:normAutofit fontScale="92500" lnSpcReduction="10000"/>
          </a:bodyPr>
          <a:lstStyle/>
          <a:p>
            <a:r>
              <a:rPr lang="mn-MN" dirty="0">
                <a:solidFill>
                  <a:srgbClr val="002060"/>
                </a:solidFill>
                <a:latin typeface="Times New Roman" panose="02020603050405020304" pitchFamily="18" charset="0"/>
                <a:cs typeface="Times New Roman" panose="02020603050405020304" pitchFamily="18" charset="0"/>
              </a:rPr>
              <a:t>Материаллаг шинж чанартай – </a:t>
            </a:r>
            <a:r>
              <a:rPr lang="mn-MN" b="1" dirty="0">
                <a:solidFill>
                  <a:schemeClr val="accent2">
                    <a:lumMod val="75000"/>
                  </a:schemeClr>
                </a:solidFill>
                <a:latin typeface="Times New Roman" panose="02020603050405020304" pitchFamily="18" charset="0"/>
                <a:cs typeface="Times New Roman" panose="02020603050405020304" pitchFamily="18" charset="0"/>
              </a:rPr>
              <a:t>бараа </a:t>
            </a:r>
            <a:r>
              <a:rPr lang="en-US" b="1" dirty="0">
                <a:solidFill>
                  <a:schemeClr val="accent2">
                    <a:lumMod val="75000"/>
                  </a:schemeClr>
                </a:solidFill>
                <a:latin typeface="Times New Roman" panose="02020603050405020304" pitchFamily="18" charset="0"/>
                <a:cs typeface="Times New Roman" panose="02020603050405020304" pitchFamily="18" charset="0"/>
              </a:rPr>
              <a:t>(goods)</a:t>
            </a:r>
          </a:p>
          <a:p>
            <a:r>
              <a:rPr lang="mn-MN" dirty="0">
                <a:solidFill>
                  <a:srgbClr val="002060"/>
                </a:solidFill>
                <a:latin typeface="Times New Roman" panose="02020603050405020304" pitchFamily="18" charset="0"/>
                <a:cs typeface="Times New Roman" panose="02020603050405020304" pitchFamily="18" charset="0"/>
              </a:rPr>
              <a:t>Материаллаг бус шинж чанартай – </a:t>
            </a:r>
            <a:r>
              <a:rPr lang="mn-MN" b="1" dirty="0">
                <a:solidFill>
                  <a:schemeClr val="accent2">
                    <a:lumMod val="75000"/>
                  </a:schemeClr>
                </a:solidFill>
                <a:latin typeface="Times New Roman" panose="02020603050405020304" pitchFamily="18" charset="0"/>
                <a:cs typeface="Times New Roman" panose="02020603050405020304" pitchFamily="18" charset="0"/>
              </a:rPr>
              <a:t>үйлчилгээ </a:t>
            </a:r>
            <a:r>
              <a:rPr lang="en-US" b="1" dirty="0">
                <a:solidFill>
                  <a:schemeClr val="accent2">
                    <a:lumMod val="75000"/>
                  </a:schemeClr>
                </a:solidFill>
                <a:latin typeface="Times New Roman" panose="02020603050405020304" pitchFamily="18" charset="0"/>
                <a:cs typeface="Times New Roman" panose="02020603050405020304" pitchFamily="18" charset="0"/>
              </a:rPr>
              <a:t>(service)</a:t>
            </a:r>
          </a:p>
          <a:p>
            <a:pPr lvl="1"/>
            <a:r>
              <a:rPr lang="mn-MN" dirty="0">
                <a:solidFill>
                  <a:srgbClr val="002060"/>
                </a:solidFill>
                <a:latin typeface="Times New Roman" panose="02020603050405020304" pitchFamily="18" charset="0"/>
                <a:cs typeface="Times New Roman" panose="02020603050405020304" pitchFamily="18" charset="0"/>
              </a:rPr>
              <a:t>Үйлчилгээ дараах онцлог шинжүүдтэй: </a:t>
            </a:r>
          </a:p>
          <a:p>
            <a:pPr lvl="2"/>
            <a:r>
              <a:rPr lang="mn-MN" dirty="0">
                <a:solidFill>
                  <a:srgbClr val="002060"/>
                </a:solidFill>
                <a:latin typeface="Times New Roman" panose="02020603050405020304" pitchFamily="18" charset="0"/>
                <a:cs typeface="Times New Roman" panose="02020603050405020304" pitchFamily="18" charset="0"/>
              </a:rPr>
              <a:t>Материаллаг бус</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a:p>
            <a:pPr lvl="2"/>
            <a:r>
              <a:rPr lang="mn-MN" dirty="0">
                <a:solidFill>
                  <a:srgbClr val="002060"/>
                </a:solidFill>
                <a:latin typeface="Times New Roman" panose="02020603050405020304" pitchFamily="18" charset="0"/>
                <a:cs typeface="Times New Roman" panose="02020603050405020304" pitchFamily="18" charset="0"/>
              </a:rPr>
              <a:t>Борлогдсоны дараа бий болж, бий болсон даруйдаа хэрэглэгддэг</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хадгалж, нөөцөлж болдоггүй</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a:p>
            <a:pPr lvl="2"/>
            <a:r>
              <a:rPr lang="mn-MN" dirty="0">
                <a:solidFill>
                  <a:srgbClr val="002060"/>
                </a:solidFill>
                <a:latin typeface="Times New Roman" panose="02020603050405020304" pitchFamily="18" charset="0"/>
                <a:cs typeface="Times New Roman" panose="02020603050405020304" pitchFamily="18" charset="0"/>
              </a:rPr>
              <a:t>Хувьсамтгай.</a:t>
            </a:r>
            <a:endParaRPr lang="en-US" dirty="0">
              <a:solidFill>
                <a:srgbClr val="002060"/>
              </a:solidFill>
              <a:latin typeface="Times New Roman" panose="02020603050405020304" pitchFamily="18" charset="0"/>
              <a:cs typeface="Times New Roman" panose="02020603050405020304" pitchFamily="18" charset="0"/>
            </a:endParaRPr>
          </a:p>
          <a:p>
            <a:r>
              <a:rPr lang="mn-MN" dirty="0">
                <a:solidFill>
                  <a:srgbClr val="002060"/>
                </a:solidFill>
                <a:latin typeface="Times New Roman" panose="02020603050405020304" pitchFamily="18" charset="0"/>
                <a:cs typeface="Times New Roman" panose="02020603050405020304" pitchFamily="18" charset="0"/>
              </a:rPr>
              <a:t>Материаллаг бус шинж чанартай – </a:t>
            </a:r>
            <a:r>
              <a:rPr lang="mn-MN" b="1" dirty="0">
                <a:solidFill>
                  <a:schemeClr val="accent2">
                    <a:lumMod val="75000"/>
                  </a:schemeClr>
                </a:solidFill>
                <a:latin typeface="Times New Roman" panose="02020603050405020304" pitchFamily="18" charset="0"/>
                <a:cs typeface="Times New Roman" panose="02020603050405020304" pitchFamily="18" charset="0"/>
              </a:rPr>
              <a:t>санаа </a:t>
            </a:r>
            <a:r>
              <a:rPr lang="en-US" b="1" dirty="0">
                <a:solidFill>
                  <a:schemeClr val="accent2">
                    <a:lumMod val="75000"/>
                  </a:schemeClr>
                </a:solidFill>
                <a:latin typeface="Times New Roman" panose="02020603050405020304" pitchFamily="18" charset="0"/>
                <a:cs typeface="Times New Roman" panose="02020603050405020304" pitchFamily="18" charset="0"/>
              </a:rPr>
              <a:t>(idea)</a:t>
            </a:r>
          </a:p>
          <a:p>
            <a:endParaRPr lang="en-US"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2490FA39-9439-04F4-0FAB-5736BFB54F12}"/>
              </a:ext>
            </a:extLst>
          </p:cNvPr>
          <p:cNvGraphicFramePr>
            <a:graphicFrameLocks noGrp="1"/>
          </p:cNvGraphicFramePr>
          <p:nvPr>
            <p:extLst>
              <p:ext uri="{D42A27DB-BD31-4B8C-83A1-F6EECF244321}">
                <p14:modId xmlns:p14="http://schemas.microsoft.com/office/powerpoint/2010/main" val="1249731966"/>
              </p:ext>
            </p:extLst>
          </p:nvPr>
        </p:nvGraphicFramePr>
        <p:xfrm>
          <a:off x="144544" y="2959798"/>
          <a:ext cx="11944548" cy="3159712"/>
        </p:xfrm>
        <a:graphic>
          <a:graphicData uri="http://schemas.openxmlformats.org/drawingml/2006/table">
            <a:tbl>
              <a:tblPr firstRow="1" firstCol="1" bandRow="1">
                <a:tableStyleId>{5C22544A-7EE6-4342-B048-85BDC9FD1C3A}</a:tableStyleId>
              </a:tblPr>
              <a:tblGrid>
                <a:gridCol w="2986137">
                  <a:extLst>
                    <a:ext uri="{9D8B030D-6E8A-4147-A177-3AD203B41FA5}">
                      <a16:colId xmlns:a16="http://schemas.microsoft.com/office/drawing/2014/main" val="674142483"/>
                    </a:ext>
                  </a:extLst>
                </a:gridCol>
                <a:gridCol w="2986137">
                  <a:extLst>
                    <a:ext uri="{9D8B030D-6E8A-4147-A177-3AD203B41FA5}">
                      <a16:colId xmlns:a16="http://schemas.microsoft.com/office/drawing/2014/main" val="2141566996"/>
                    </a:ext>
                  </a:extLst>
                </a:gridCol>
                <a:gridCol w="2986137">
                  <a:extLst>
                    <a:ext uri="{9D8B030D-6E8A-4147-A177-3AD203B41FA5}">
                      <a16:colId xmlns:a16="http://schemas.microsoft.com/office/drawing/2014/main" val="2954998565"/>
                    </a:ext>
                  </a:extLst>
                </a:gridCol>
                <a:gridCol w="2986137">
                  <a:extLst>
                    <a:ext uri="{9D8B030D-6E8A-4147-A177-3AD203B41FA5}">
                      <a16:colId xmlns:a16="http://schemas.microsoft.com/office/drawing/2014/main" val="3879057384"/>
                    </a:ext>
                  </a:extLst>
                </a:gridCol>
              </a:tblGrid>
              <a:tr h="454187">
                <a:tc rowSpan="2">
                  <a:txBody>
                    <a:bodyPr/>
                    <a:lstStyle/>
                    <a:p>
                      <a:pPr algn="ctr">
                        <a:lnSpc>
                          <a:spcPct val="80000"/>
                        </a:lnSpc>
                      </a:pPr>
                      <a:r>
                        <a:rPr lang="mn-MN" sz="2000" dirty="0">
                          <a:latin typeface="Times New Roman" panose="02020603050405020304" pitchFamily="18" charset="0"/>
                          <a:cs typeface="Times New Roman" panose="02020603050405020304" pitchFamily="18" charset="0"/>
                        </a:rPr>
                        <a:t>Бүтээгдэхүүний ангилал</a:t>
                      </a:r>
                      <a:endParaRPr lang="en-US" sz="2000" dirty="0">
                        <a:latin typeface="Times New Roman" panose="02020603050405020304" pitchFamily="18" charset="0"/>
                        <a:cs typeface="Times New Roman" panose="02020603050405020304" pitchFamily="18" charset="0"/>
                      </a:endParaRPr>
                    </a:p>
                  </a:txBody>
                  <a:tcPr anchor="ctr"/>
                </a:tc>
                <a:tc gridSpan="2">
                  <a:txBody>
                    <a:bodyPr/>
                    <a:lstStyle/>
                    <a:p>
                      <a:pPr algn="ctr">
                        <a:lnSpc>
                          <a:spcPct val="80000"/>
                        </a:lnSpc>
                      </a:pPr>
                      <a:r>
                        <a:rPr lang="mn-MN" sz="2000" dirty="0">
                          <a:latin typeface="Times New Roman" panose="02020603050405020304" pitchFamily="18" charset="0"/>
                          <a:cs typeface="Times New Roman" panose="02020603050405020304" pitchFamily="18" charset="0"/>
                        </a:rPr>
                        <a:t>Материаллаг</a:t>
                      </a:r>
                      <a:endParaRPr lang="en-US" sz="2000" dirty="0">
                        <a:latin typeface="Times New Roman" panose="02020603050405020304" pitchFamily="18" charset="0"/>
                        <a:cs typeface="Times New Roman" panose="02020603050405020304" pitchFamily="18" charset="0"/>
                      </a:endParaRPr>
                    </a:p>
                  </a:txBody>
                  <a:tcPr anchor="ctr"/>
                </a:tc>
                <a:tc hMerge="1">
                  <a:txBody>
                    <a:bodyPr/>
                    <a:lstStyle/>
                    <a:p>
                      <a:endParaRPr lang="en-US" dirty="0"/>
                    </a:p>
                  </a:txBody>
                  <a:tcP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Материаллаг бус</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9152601"/>
                  </a:ext>
                </a:extLst>
              </a:tr>
              <a:tr h="281322">
                <a:tc vMerge="1">
                  <a:txBody>
                    <a:bodyPr/>
                    <a:lstStyle/>
                    <a:p>
                      <a:endParaRPr lang="en-US" dirty="0"/>
                    </a:p>
                  </a:txBody>
                  <a:tcPr/>
                </a:tc>
                <a:tc>
                  <a:txBody>
                    <a:bodyPr/>
                    <a:lstStyle/>
                    <a:p>
                      <a:pPr algn="ctr">
                        <a:lnSpc>
                          <a:spcPct val="80000"/>
                        </a:lnSpc>
                      </a:pPr>
                      <a:r>
                        <a:rPr lang="mn-MN" sz="2000" b="1" dirty="0">
                          <a:latin typeface="Times New Roman" panose="02020603050405020304" pitchFamily="18" charset="0"/>
                          <a:cs typeface="Times New Roman" panose="02020603050405020304" pitchFamily="18" charset="0"/>
                        </a:rPr>
                        <a:t>Түргэн эдэлгээтэй</a:t>
                      </a:r>
                      <a:endParaRPr lang="en-US" sz="2000" b="1"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b="1" dirty="0">
                          <a:latin typeface="Times New Roman" panose="02020603050405020304" pitchFamily="18" charset="0"/>
                          <a:cs typeface="Times New Roman" panose="02020603050405020304" pitchFamily="18" charset="0"/>
                        </a:rPr>
                        <a:t>Удаан эдэлгээтэй</a:t>
                      </a:r>
                      <a:endParaRPr lang="en-US" sz="2000" b="1"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b="1" dirty="0">
                          <a:latin typeface="Times New Roman" panose="02020603050405020304" pitchFamily="18" charset="0"/>
                          <a:cs typeface="Times New Roman" panose="02020603050405020304" pitchFamily="18" charset="0"/>
                        </a:rPr>
                        <a:t>Үйлчилгээ </a:t>
                      </a:r>
                      <a:endParaRPr lang="en-US" sz="20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40820647"/>
                  </a:ext>
                </a:extLst>
              </a:tr>
              <a:tr h="379675">
                <a:tc>
                  <a:txBody>
                    <a:bodyPr/>
                    <a:lstStyle/>
                    <a:p>
                      <a:pPr>
                        <a:lnSpc>
                          <a:spcPct val="80000"/>
                        </a:lnSpc>
                      </a:pPr>
                      <a:r>
                        <a:rPr lang="mn-MN" sz="2000" dirty="0">
                          <a:latin typeface="Times New Roman" panose="02020603050405020304" pitchFamily="18" charset="0"/>
                          <a:cs typeface="Times New Roman" panose="02020603050405020304" pitchFamily="18" charset="0"/>
                        </a:rPr>
                        <a:t>Өргөн хэрэглээний </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Шүдний оо, сэтгүүл, давс</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Халбага</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Үсчин, банк</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17579465"/>
                  </a:ext>
                </a:extLst>
              </a:tr>
              <a:tr h="593889">
                <a:tc>
                  <a:txBody>
                    <a:bodyPr/>
                    <a:lstStyle/>
                    <a:p>
                      <a:pPr>
                        <a:lnSpc>
                          <a:spcPct val="80000"/>
                        </a:lnSpc>
                      </a:pPr>
                      <a:r>
                        <a:rPr lang="mn-MN" sz="2000" dirty="0">
                          <a:latin typeface="Times New Roman" panose="02020603050405020304" pitchFamily="18" charset="0"/>
                          <a:cs typeface="Times New Roman" panose="02020603050405020304" pitchFamily="18" charset="0"/>
                        </a:rPr>
                        <a:t>Сонголтот </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Хувцас, уран зохиолын ном</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Автомашин, тавилга, цах. хэрэгсэл</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Автомашины даатгал</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8868914"/>
                  </a:ext>
                </a:extLst>
              </a:tr>
              <a:tr h="612742">
                <a:tc>
                  <a:txBody>
                    <a:bodyPr/>
                    <a:lstStyle/>
                    <a:p>
                      <a:pPr>
                        <a:lnSpc>
                          <a:spcPct val="80000"/>
                        </a:lnSpc>
                      </a:pPr>
                      <a:r>
                        <a:rPr lang="mn-MN" sz="2000" dirty="0">
                          <a:latin typeface="Times New Roman" panose="02020603050405020304" pitchFamily="18" charset="0"/>
                          <a:cs typeface="Times New Roman" panose="02020603050405020304" pitchFamily="18" charset="0"/>
                        </a:rPr>
                        <a:t>Онцгой </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en-US" sz="2000" dirty="0">
                          <a:latin typeface="Times New Roman" panose="02020603050405020304" pitchFamily="18" charset="0"/>
                          <a:cs typeface="Times New Roman" panose="02020603050405020304" pitchFamily="18" charset="0"/>
                        </a:rPr>
                        <a:t>Versace-</a:t>
                      </a:r>
                      <a:r>
                        <a:rPr lang="mn-MN" sz="2000" dirty="0">
                          <a:latin typeface="Times New Roman" panose="02020603050405020304" pitchFamily="18" charset="0"/>
                          <a:cs typeface="Times New Roman" panose="02020603050405020304" pitchFamily="18" charset="0"/>
                        </a:rPr>
                        <a:t>ийн даашинз</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en-US" sz="2000" dirty="0">
                          <a:latin typeface="Times New Roman" panose="02020603050405020304" pitchFamily="18" charset="0"/>
                          <a:cs typeface="Times New Roman" panose="02020603050405020304" pitchFamily="18" charset="0"/>
                        </a:rPr>
                        <a:t>Rolex </a:t>
                      </a:r>
                      <a:r>
                        <a:rPr lang="mn-MN" sz="2000" dirty="0">
                          <a:latin typeface="Times New Roman" panose="02020603050405020304" pitchFamily="18" charset="0"/>
                          <a:cs typeface="Times New Roman" panose="02020603050405020304" pitchFamily="18" charset="0"/>
                        </a:rPr>
                        <a:t>цаг, </a:t>
                      </a:r>
                      <a:r>
                        <a:rPr lang="en-US" sz="2000" dirty="0">
                          <a:latin typeface="Times New Roman" panose="02020603050405020304" pitchFamily="18" charset="0"/>
                          <a:cs typeface="Times New Roman" panose="02020603050405020304" pitchFamily="18" charset="0"/>
                        </a:rPr>
                        <a:t>Roll’s </a:t>
                      </a:r>
                      <a:r>
                        <a:rPr lang="en-US" sz="2000" dirty="0" err="1">
                          <a:latin typeface="Times New Roman" panose="02020603050405020304" pitchFamily="18" charset="0"/>
                          <a:cs typeface="Times New Roman" panose="02020603050405020304" pitchFamily="18" charset="0"/>
                        </a:rPr>
                        <a:t>Roys</a:t>
                      </a:r>
                      <a:r>
                        <a:rPr lang="en-US" sz="2000" dirty="0">
                          <a:latin typeface="Times New Roman" panose="02020603050405020304" pitchFamily="18" charset="0"/>
                          <a:cs typeface="Times New Roman" panose="02020603050405020304" pitchFamily="18" charset="0"/>
                        </a:rPr>
                        <a:t> </a:t>
                      </a:r>
                      <a:r>
                        <a:rPr lang="mn-MN" sz="2000" dirty="0">
                          <a:latin typeface="Times New Roman" panose="02020603050405020304" pitchFamily="18" charset="0"/>
                          <a:cs typeface="Times New Roman" panose="02020603050405020304" pitchFamily="18" charset="0"/>
                        </a:rPr>
                        <a:t>автомашин</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Нэртэй мастер үсчинд гоёлын засалт хийлгэх</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48132825"/>
                  </a:ext>
                </a:extLst>
              </a:tr>
              <a:tr h="783939">
                <a:tc>
                  <a:txBody>
                    <a:bodyPr/>
                    <a:lstStyle/>
                    <a:p>
                      <a:pPr>
                        <a:lnSpc>
                          <a:spcPct val="80000"/>
                        </a:lnSpc>
                      </a:pPr>
                      <a:r>
                        <a:rPr lang="mn-MN" sz="2000" dirty="0">
                          <a:latin typeface="Times New Roman" panose="02020603050405020304" pitchFamily="18" charset="0"/>
                          <a:cs typeface="Times New Roman" panose="02020603050405020304" pitchFamily="18" charset="0"/>
                        </a:rPr>
                        <a:t>Идэвхгүй эрэлттэй</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Нэвтэрхий толь</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Цоо шинэ технологийн автомашин</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lnSpc>
                          <a:spcPct val="80000"/>
                        </a:lnSpc>
                      </a:pPr>
                      <a:r>
                        <a:rPr lang="mn-MN" sz="2000" dirty="0">
                          <a:latin typeface="Times New Roman" panose="02020603050405020304" pitchFamily="18" charset="0"/>
                          <a:cs typeface="Times New Roman" panose="02020603050405020304" pitchFamily="18" charset="0"/>
                        </a:rPr>
                        <a:t>Амь даатгал, ДОХ-ын шинжилгээ</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40321943"/>
                  </a:ext>
                </a:extLst>
              </a:tr>
            </a:tbl>
          </a:graphicData>
        </a:graphic>
      </p:graphicFrame>
    </p:spTree>
    <p:extLst>
      <p:ext uri="{BB962C8B-B14F-4D97-AF65-F5344CB8AC3E}">
        <p14:creationId xmlns:p14="http://schemas.microsoft.com/office/powerpoint/2010/main" val="856792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BD38B-5C9C-1B55-DBCE-573993C8B482}"/>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72BAB02D-7115-A7CD-47B6-36277C0A3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7546" y="278418"/>
            <a:ext cx="6810542" cy="657958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C80B81E-2959-09C4-D26B-C71F495587A1}"/>
              </a:ext>
            </a:extLst>
          </p:cNvPr>
          <p:cNvSpPr>
            <a:spLocks noGrp="1"/>
          </p:cNvSpPr>
          <p:nvPr>
            <p:ph type="title"/>
          </p:nvPr>
        </p:nvSpPr>
        <p:spPr>
          <a:xfrm>
            <a:off x="87363" y="123206"/>
            <a:ext cx="10832804" cy="310427"/>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Үйлчилгээний маркетингийн иж бүрдэл</a:t>
            </a:r>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 7</a:t>
            </a:r>
            <a:r>
              <a:rPr lang="en-US" sz="3600" b="1" dirty="0">
                <a:solidFill>
                  <a:srgbClr val="002060"/>
                </a:solidFill>
                <a:latin typeface="Times New Roman" panose="02020603050405020304" pitchFamily="18" charset="0"/>
                <a:cs typeface="Times New Roman" panose="02020603050405020304" pitchFamily="18" charset="0"/>
              </a:rPr>
              <a:t>P</a:t>
            </a:r>
          </a:p>
        </p:txBody>
      </p:sp>
      <p:sp>
        <p:nvSpPr>
          <p:cNvPr id="3" name="Content Placeholder 2">
            <a:extLst>
              <a:ext uri="{FF2B5EF4-FFF2-40B4-BE49-F238E27FC236}">
                <a16:creationId xmlns:a16="http://schemas.microsoft.com/office/drawing/2014/main" id="{546CD90E-A52A-2E33-91FA-57CCFE8B8A43}"/>
              </a:ext>
            </a:extLst>
          </p:cNvPr>
          <p:cNvSpPr>
            <a:spLocks noGrp="1"/>
          </p:cNvSpPr>
          <p:nvPr>
            <p:ph idx="1"/>
          </p:nvPr>
        </p:nvSpPr>
        <p:spPr>
          <a:xfrm>
            <a:off x="87363" y="509047"/>
            <a:ext cx="6008637" cy="6348953"/>
          </a:xfrm>
        </p:spPr>
        <p:txBody>
          <a:bodyPr>
            <a:normAutofit lnSpcReduction="10000"/>
          </a:bodyPr>
          <a:lstStyle/>
          <a:p>
            <a:pPr marL="171450" indent="-171450" algn="just"/>
            <a:r>
              <a:rPr lang="mn-MN" dirty="0">
                <a:solidFill>
                  <a:srgbClr val="002060"/>
                </a:solidFill>
                <a:latin typeface="Times New Roman" panose="02020603050405020304" pitchFamily="18" charset="0"/>
                <a:cs typeface="Times New Roman" panose="02020603050405020304" pitchFamily="18" charset="0"/>
              </a:rPr>
              <a:t>Дээрх үндсэн 4Р дээр зөвхөн үйлчилгээний маркетингэд хамаарах дараах 3Р нэмэгдэж орсноор маркетингийн "7Р" бүрддэг.</a:t>
            </a:r>
          </a:p>
          <a:p>
            <a:pPr marL="628650" lvl="1" indent="-171450" algn="just"/>
            <a:r>
              <a:rPr lang="mn-MN" dirty="0">
                <a:solidFill>
                  <a:schemeClr val="accent2">
                    <a:lumMod val="75000"/>
                  </a:schemeClr>
                </a:solidFill>
                <a:latin typeface="Times New Roman" panose="02020603050405020304" pitchFamily="18" charset="0"/>
                <a:cs typeface="Times New Roman" panose="02020603050405020304" pitchFamily="18" charset="0"/>
              </a:rPr>
              <a:t>Үйлчилгээ үзүүлж буй хүмүүс (</a:t>
            </a:r>
            <a:r>
              <a:rPr lang="en-US" dirty="0">
                <a:solidFill>
                  <a:schemeClr val="accent2">
                    <a:lumMod val="75000"/>
                  </a:schemeClr>
                </a:solidFill>
                <a:latin typeface="Times New Roman" panose="02020603050405020304" pitchFamily="18" charset="0"/>
                <a:cs typeface="Times New Roman" panose="02020603050405020304" pitchFamily="18" charset="0"/>
              </a:rPr>
              <a:t>People)</a:t>
            </a:r>
          </a:p>
          <a:p>
            <a:pPr marL="628650" lvl="1" indent="-171450" algn="just"/>
            <a:r>
              <a:rPr lang="mn-MN" dirty="0">
                <a:solidFill>
                  <a:schemeClr val="accent2">
                    <a:lumMod val="75000"/>
                  </a:schemeClr>
                </a:solidFill>
                <a:latin typeface="Times New Roman" panose="02020603050405020304" pitchFamily="18" charset="0"/>
                <a:cs typeface="Times New Roman" panose="02020603050405020304" pitchFamily="18" charset="0"/>
              </a:rPr>
              <a:t>Үйл явц (</a:t>
            </a:r>
            <a:r>
              <a:rPr lang="en-US" dirty="0">
                <a:solidFill>
                  <a:schemeClr val="accent2">
                    <a:lumMod val="75000"/>
                  </a:schemeClr>
                </a:solidFill>
                <a:latin typeface="Times New Roman" panose="02020603050405020304" pitchFamily="18" charset="0"/>
                <a:cs typeface="Times New Roman" panose="02020603050405020304" pitchFamily="18" charset="0"/>
              </a:rPr>
              <a:t>Process)</a:t>
            </a:r>
          </a:p>
          <a:p>
            <a:pPr marL="628650" lvl="1" indent="-171450" algn="just"/>
            <a:r>
              <a:rPr lang="mn-MN" dirty="0">
                <a:solidFill>
                  <a:schemeClr val="accent2">
                    <a:lumMod val="75000"/>
                  </a:schemeClr>
                </a:solidFill>
                <a:latin typeface="Times New Roman" panose="02020603050405020304" pitchFamily="18" charset="0"/>
                <a:cs typeface="Times New Roman" panose="02020603050405020304" pitchFamily="18" charset="0"/>
              </a:rPr>
              <a:t>Тоног төхөөрөмж, орчин (</a:t>
            </a:r>
            <a:r>
              <a:rPr lang="en-US" dirty="0">
                <a:solidFill>
                  <a:schemeClr val="accent2">
                    <a:lumMod val="75000"/>
                  </a:schemeClr>
                </a:solidFill>
                <a:latin typeface="Times New Roman" panose="02020603050405020304" pitchFamily="18" charset="0"/>
                <a:cs typeface="Times New Roman" panose="02020603050405020304" pitchFamily="18" charset="0"/>
              </a:rPr>
              <a:t>Physical evidence)</a:t>
            </a:r>
          </a:p>
          <a:p>
            <a:pPr marL="171450" indent="-171450" algn="just"/>
            <a:r>
              <a:rPr lang="mn-MN" dirty="0">
                <a:solidFill>
                  <a:srgbClr val="002060"/>
                </a:solidFill>
                <a:latin typeface="Times New Roman" panose="02020603050405020304" pitchFamily="18" charset="0"/>
                <a:cs typeface="Times New Roman" panose="02020603050405020304" pitchFamily="18" charset="0"/>
              </a:rPr>
              <a:t>Аливаа байгууллага эдгээр "Р"-үүдийг хэрхэн амжилттайгаар удирдан зохион байгуулснаас тухайн байгууллагын амжилт хамаардаг. </a:t>
            </a:r>
          </a:p>
          <a:p>
            <a:pPr marL="171450" indent="-171450" algn="just"/>
            <a:r>
              <a:rPr lang="mn-MN" dirty="0">
                <a:solidFill>
                  <a:srgbClr val="002060"/>
                </a:solidFill>
                <a:latin typeface="Times New Roman" panose="02020603050405020304" pitchFamily="18" charset="0"/>
                <a:cs typeface="Times New Roman" panose="02020603050405020304" pitchFamily="18" charset="0"/>
              </a:rPr>
              <a:t>Маркетингийн "Р"-үүдийг удирдах ухааныг Маркетингийн хольц, маркетингийн иж бүрдэл буюу "</a:t>
            </a:r>
            <a:r>
              <a:rPr lang="en-US" dirty="0">
                <a:solidFill>
                  <a:srgbClr val="002060"/>
                </a:solidFill>
                <a:latin typeface="Times New Roman" panose="02020603050405020304" pitchFamily="18" charset="0"/>
                <a:cs typeface="Times New Roman" panose="02020603050405020304" pitchFamily="18" charset="0"/>
              </a:rPr>
              <a:t>Marketing Mix" </a:t>
            </a:r>
            <a:r>
              <a:rPr lang="mn-MN" dirty="0">
                <a:solidFill>
                  <a:srgbClr val="002060"/>
                </a:solidFill>
                <a:latin typeface="Times New Roman" panose="02020603050405020304" pitchFamily="18" charset="0"/>
                <a:cs typeface="Times New Roman" panose="02020603050405020304" pitchFamily="18" charset="0"/>
              </a:rPr>
              <a:t>гэж нэрлэдэг.</a:t>
            </a:r>
          </a:p>
        </p:txBody>
      </p:sp>
    </p:spTree>
    <p:extLst>
      <p:ext uri="{BB962C8B-B14F-4D97-AF65-F5344CB8AC3E}">
        <p14:creationId xmlns:p14="http://schemas.microsoft.com/office/powerpoint/2010/main" val="3901841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0841-260B-4A49-6597-E6CF6194F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00A0B9-D3FA-E0D9-C4DB-009B8C56EA4E}"/>
              </a:ext>
            </a:extLst>
          </p:cNvPr>
          <p:cNvSpPr>
            <a:spLocks noGrp="1"/>
          </p:cNvSpPr>
          <p:nvPr>
            <p:ph type="title"/>
          </p:nvPr>
        </p:nvSpPr>
        <p:spPr>
          <a:xfrm>
            <a:off x="65988" y="63466"/>
            <a:ext cx="12009747" cy="398447"/>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Маркетингийн 4</a:t>
            </a:r>
            <a:r>
              <a:rPr lang="en-US" sz="3600" b="1" dirty="0">
                <a:solidFill>
                  <a:srgbClr val="002060"/>
                </a:solidFill>
                <a:latin typeface="Times New Roman" panose="02020603050405020304" pitchFamily="18" charset="0"/>
                <a:cs typeface="Times New Roman" panose="02020603050405020304" pitchFamily="18" charset="0"/>
              </a:rPr>
              <a:t>P </a:t>
            </a:r>
            <a:r>
              <a:rPr lang="mn-MN" sz="3600" b="1" dirty="0">
                <a:solidFill>
                  <a:srgbClr val="002060"/>
                </a:solidFill>
                <a:latin typeface="Times New Roman" panose="02020603050405020304" pitchFamily="18" charset="0"/>
                <a:cs typeface="Times New Roman" panose="02020603050405020304" pitchFamily="18" charset="0"/>
              </a:rPr>
              <a:t>– Бүтээгдэхүүний бодлого</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0610CE-9FE8-BE16-387D-20CD8DC09DEA}"/>
              </a:ext>
            </a:extLst>
          </p:cNvPr>
          <p:cNvSpPr>
            <a:spLocks noGrp="1"/>
          </p:cNvSpPr>
          <p:nvPr>
            <p:ph idx="1"/>
          </p:nvPr>
        </p:nvSpPr>
        <p:spPr>
          <a:xfrm>
            <a:off x="65988" y="461912"/>
            <a:ext cx="12009747" cy="6396087"/>
          </a:xfrm>
        </p:spPr>
        <p:txBody>
          <a:bodyPr>
            <a:normAutofit fontScale="92500"/>
          </a:bodyPr>
          <a:lstStyle/>
          <a:p>
            <a:pPr algn="just"/>
            <a:r>
              <a:rPr lang="mn-MN" sz="3200" dirty="0">
                <a:solidFill>
                  <a:srgbClr val="002060"/>
                </a:solidFill>
                <a:latin typeface="Times New Roman" panose="02020603050405020304" pitchFamily="18" charset="0"/>
                <a:cs typeface="Times New Roman" panose="02020603050405020304" pitchFamily="18" charset="0"/>
              </a:rPr>
              <a:t>Бүтээгдэхүүний бодлого – бүтээгдэхүүний чанар, онцлог шинж, үзэмж маяг, хийц загвар, сав баглаа боодол, шошго хаяглалт, бүтээгдэхүүний төрөлжилт ба нэр төрөлжилтийн асуудлуудыг хамарна. </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Чанар </a:t>
            </a:r>
            <a:r>
              <a:rPr lang="en-US" sz="2800" b="1" dirty="0">
                <a:solidFill>
                  <a:schemeClr val="accent2">
                    <a:lumMod val="75000"/>
                  </a:schemeClr>
                </a:solidFill>
                <a:latin typeface="Times New Roman" panose="02020603050405020304" pitchFamily="18" charset="0"/>
                <a:cs typeface="Times New Roman" panose="02020603050405020304" pitchFamily="18" charset="0"/>
              </a:rPr>
              <a:t>(Quality) </a:t>
            </a:r>
            <a:r>
              <a:rPr lang="mn-MN" sz="2800" dirty="0">
                <a:solidFill>
                  <a:srgbClr val="002060"/>
                </a:solidFill>
                <a:latin typeface="Times New Roman" panose="02020603050405020304" pitchFamily="18" charset="0"/>
                <a:cs typeface="Times New Roman" panose="02020603050405020304" pitchFamily="18" charset="0"/>
              </a:rPr>
              <a:t>– доголдол, гологдолгүй бүтээгдэхүүн. Хэрэглэгчийн хэрэгцээг хангах чадамж. Чанартай бүтээгдэхүүн үйлдвэрлэхийн тулд </a:t>
            </a:r>
            <a:r>
              <a:rPr lang="mn-MN" sz="2800" b="1" dirty="0">
                <a:solidFill>
                  <a:srgbClr val="002060"/>
                </a:solidFill>
                <a:latin typeface="Times New Roman" panose="02020603050405020304" pitchFamily="18" charset="0"/>
                <a:cs typeface="Times New Roman" panose="02020603050405020304" pitchFamily="18" charset="0"/>
              </a:rPr>
              <a:t>Чанарын нэгдсэн удирдлагыг </a:t>
            </a:r>
            <a:r>
              <a:rPr lang="en-US" sz="2800" b="1" dirty="0">
                <a:solidFill>
                  <a:srgbClr val="002060"/>
                </a:solidFill>
                <a:latin typeface="Times New Roman" panose="02020603050405020304" pitchFamily="18" charset="0"/>
                <a:cs typeface="Times New Roman" panose="02020603050405020304" pitchFamily="18" charset="0"/>
              </a:rPr>
              <a:t>(Total Quality Management) </a:t>
            </a:r>
            <a:r>
              <a:rPr lang="mn-MN" sz="2800" dirty="0">
                <a:solidFill>
                  <a:srgbClr val="002060"/>
                </a:solidFill>
                <a:latin typeface="Times New Roman" panose="02020603050405020304" pitchFamily="18" charset="0"/>
                <a:cs typeface="Times New Roman" panose="02020603050405020304" pitchFamily="18" charset="0"/>
              </a:rPr>
              <a:t>хэрэгжүүлдэг. </a:t>
            </a:r>
            <a:endParaRPr lang="en-US" sz="2800" dirty="0">
              <a:solidFill>
                <a:srgbClr val="002060"/>
              </a:solidFill>
              <a:latin typeface="Times New Roman" panose="02020603050405020304" pitchFamily="18" charset="0"/>
              <a:cs typeface="Times New Roman" panose="02020603050405020304" pitchFamily="18" charset="0"/>
            </a:endParaRP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Онцлог шинж</a:t>
            </a:r>
            <a:r>
              <a:rPr lang="en-US" sz="2800" b="1" dirty="0">
                <a:solidFill>
                  <a:schemeClr val="accent2">
                    <a:lumMod val="75000"/>
                  </a:schemeClr>
                </a:solidFill>
                <a:latin typeface="Times New Roman" panose="02020603050405020304" pitchFamily="18" charset="0"/>
                <a:cs typeface="Times New Roman" panose="02020603050405020304" pitchFamily="18" charset="0"/>
              </a:rPr>
              <a:t> (Features)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өрсөлдөгчөөс ялгарах давуу тал. </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Үзэмж маяг </a:t>
            </a:r>
            <a:r>
              <a:rPr lang="en-US" sz="2800" b="1" dirty="0">
                <a:solidFill>
                  <a:schemeClr val="accent2">
                    <a:lumMod val="75000"/>
                  </a:schemeClr>
                </a:solidFill>
                <a:latin typeface="Times New Roman" panose="02020603050405020304" pitchFamily="18" charset="0"/>
                <a:cs typeface="Times New Roman" panose="02020603050405020304" pitchFamily="18" charset="0"/>
              </a:rPr>
              <a:t>(Style)</a:t>
            </a:r>
            <a:r>
              <a:rPr lang="en-US" sz="2800" dirty="0">
                <a:solidFill>
                  <a:schemeClr val="accent2">
                    <a:lumMod val="75000"/>
                  </a:schemeClr>
                </a:solidFill>
                <a:latin typeface="Times New Roman" panose="02020603050405020304" pitchFamily="18" charset="0"/>
                <a:cs typeface="Times New Roman" panose="02020603050405020304" pitchFamily="18" charset="0"/>
              </a:rPr>
              <a:t>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хэрэглэгчийн анхаарлыг татах чадвар. </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Хийц загвар </a:t>
            </a:r>
            <a:r>
              <a:rPr lang="en-US" sz="2800" b="1" dirty="0">
                <a:solidFill>
                  <a:schemeClr val="accent2">
                    <a:lumMod val="75000"/>
                  </a:schemeClr>
                </a:solidFill>
                <a:latin typeface="Times New Roman" panose="02020603050405020304" pitchFamily="18" charset="0"/>
                <a:cs typeface="Times New Roman" panose="02020603050405020304" pitchFamily="18" charset="0"/>
              </a:rPr>
              <a:t>(Design)</a:t>
            </a:r>
            <a:r>
              <a:rPr lang="en-US" sz="2800" dirty="0">
                <a:solidFill>
                  <a:schemeClr val="accent2">
                    <a:lumMod val="75000"/>
                  </a:schemeClr>
                </a:solidFill>
                <a:latin typeface="Times New Roman" panose="02020603050405020304" pitchFamily="18" charset="0"/>
                <a:cs typeface="Times New Roman" panose="02020603050405020304" pitchFamily="18" charset="0"/>
              </a:rPr>
              <a:t>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гадаад үзэмж төдийгүй бүтээгдэхүүний бүтэц, хийц, хэрэглээний ашиг тусыг илэрхийлдэг. </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Сав баглаа боодол</a:t>
            </a:r>
            <a:r>
              <a:rPr lang="en-US" sz="2800" b="1" dirty="0">
                <a:solidFill>
                  <a:schemeClr val="accent2">
                    <a:lumMod val="75000"/>
                  </a:schemeClr>
                </a:solidFill>
                <a:latin typeface="Times New Roman" panose="02020603050405020304" pitchFamily="18" charset="0"/>
                <a:cs typeface="Times New Roman" panose="02020603050405020304" pitchFamily="18" charset="0"/>
              </a:rPr>
              <a:t> (Package)</a:t>
            </a:r>
            <a:r>
              <a:rPr lang="en-US" sz="2800" dirty="0">
                <a:solidFill>
                  <a:schemeClr val="accent2">
                    <a:lumMod val="75000"/>
                  </a:schemeClr>
                </a:solidFill>
                <a:latin typeface="Times New Roman" panose="02020603050405020304" pitchFamily="18" charset="0"/>
                <a:cs typeface="Times New Roman" panose="02020603050405020304" pitchFamily="18" charset="0"/>
              </a:rPr>
              <a:t>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Бараанд зориулагдсан тодорхой багтаамж бүхий бүрхэвч. Хамгаалах, хэрэглээ, тээвэрлэлтийг хялбарчлах, хадгалах хугацаа уртасгах, анхаарал татах, мэдээлэл өгөх үүрэгтэй. </a:t>
            </a:r>
          </a:p>
          <a:p>
            <a:pPr lvl="1" algn="just"/>
            <a:r>
              <a:rPr lang="mn-MN" sz="2800" b="1" dirty="0">
                <a:solidFill>
                  <a:schemeClr val="accent2">
                    <a:lumMod val="75000"/>
                  </a:schemeClr>
                </a:solidFill>
                <a:latin typeface="Times New Roman" panose="02020603050405020304" pitchFamily="18" charset="0"/>
                <a:cs typeface="Times New Roman" panose="02020603050405020304" pitchFamily="18" charset="0"/>
              </a:rPr>
              <a:t>Шошго хаяглалт</a:t>
            </a:r>
            <a:r>
              <a:rPr lang="en-US" sz="2800" b="1" dirty="0">
                <a:solidFill>
                  <a:schemeClr val="accent2">
                    <a:lumMod val="75000"/>
                  </a:schemeClr>
                </a:solidFill>
                <a:latin typeface="Times New Roman" panose="02020603050405020304" pitchFamily="18" charset="0"/>
                <a:cs typeface="Times New Roman" panose="02020603050405020304" pitchFamily="18" charset="0"/>
              </a:rPr>
              <a:t> (Label)</a:t>
            </a:r>
            <a:r>
              <a:rPr lang="en-US" sz="2800" dirty="0">
                <a:solidFill>
                  <a:schemeClr val="accent2">
                    <a:lumMod val="75000"/>
                  </a:schemeClr>
                </a:solidFill>
                <a:latin typeface="Times New Roman" panose="02020603050405020304" pitchFamily="18" charset="0"/>
                <a:cs typeface="Times New Roman" panose="02020603050405020304" pitchFamily="18" charset="0"/>
              </a:rPr>
              <a:t>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брэндийг тодорхойлох, мэдээлэл өгөх, сурталчлах үүрэгтэй.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3085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F2784-E378-7AF6-BA37-FC7C0C16D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5B931-653A-7083-D2D6-9294C55CF62B}"/>
              </a:ext>
            </a:extLst>
          </p:cNvPr>
          <p:cNvSpPr>
            <a:spLocks noGrp="1"/>
          </p:cNvSpPr>
          <p:nvPr>
            <p:ph type="title"/>
          </p:nvPr>
        </p:nvSpPr>
        <p:spPr>
          <a:xfrm>
            <a:off x="105080" y="54040"/>
            <a:ext cx="11774741" cy="398447"/>
          </a:xfrm>
        </p:spPr>
        <p:txBody>
          <a:bodyPr>
            <a:noAutofit/>
          </a:bodyPr>
          <a:lstStyle/>
          <a:p>
            <a:pPr algn="just"/>
            <a:r>
              <a:rPr lang="mn-MN" sz="2800" b="1" dirty="0">
                <a:solidFill>
                  <a:srgbClr val="002060"/>
                </a:solidFill>
                <a:latin typeface="Times New Roman" panose="02020603050405020304" pitchFamily="18" charset="0"/>
                <a:cs typeface="Times New Roman" panose="02020603050405020304" pitchFamily="18" charset="0"/>
              </a:rPr>
              <a:t>Маркетингийн 4</a:t>
            </a:r>
            <a:r>
              <a:rPr lang="en-US" sz="2800" b="1" dirty="0">
                <a:solidFill>
                  <a:srgbClr val="002060"/>
                </a:solidFill>
                <a:latin typeface="Times New Roman" panose="02020603050405020304" pitchFamily="18" charset="0"/>
                <a:cs typeface="Times New Roman" panose="02020603050405020304" pitchFamily="18" charset="0"/>
              </a:rPr>
              <a:t>P </a:t>
            </a:r>
            <a:r>
              <a:rPr lang="mn-MN" sz="2800" b="1" dirty="0">
                <a:solidFill>
                  <a:srgbClr val="002060"/>
                </a:solidFill>
                <a:latin typeface="Times New Roman" panose="02020603050405020304" pitchFamily="18" charset="0"/>
                <a:cs typeface="Times New Roman" panose="02020603050405020304" pitchFamily="18" charset="0"/>
              </a:rPr>
              <a:t>– Үнийн бодлого</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BAA1571-BAE0-76E6-38E0-1EF214AA0DD1}"/>
              </a:ext>
            </a:extLst>
          </p:cNvPr>
          <p:cNvSpPr>
            <a:spLocks noGrp="1"/>
          </p:cNvSpPr>
          <p:nvPr>
            <p:ph sz="half" idx="2"/>
          </p:nvPr>
        </p:nvSpPr>
        <p:spPr>
          <a:xfrm>
            <a:off x="105080" y="1036947"/>
            <a:ext cx="4136982" cy="5430773"/>
          </a:xfrm>
        </p:spPr>
        <p:txBody>
          <a:bodyPr>
            <a:normAutofit fontScale="92500" lnSpcReduction="20000"/>
          </a:bodyPr>
          <a:lstStyle/>
          <a:p>
            <a:pPr algn="just"/>
            <a:r>
              <a:rPr lang="mn-MN" sz="3200" b="1" dirty="0">
                <a:solidFill>
                  <a:schemeClr val="accent2">
                    <a:lumMod val="75000"/>
                  </a:schemeClr>
                </a:solidFill>
                <a:latin typeface="Times New Roman" panose="02020603050405020304" pitchFamily="18" charset="0"/>
                <a:cs typeface="Times New Roman" panose="02020603050405020304" pitchFamily="18" charset="0"/>
              </a:rPr>
              <a:t>Үнийн үүрэг: </a:t>
            </a:r>
          </a:p>
          <a:p>
            <a:pPr marL="461963" lvl="1" algn="just"/>
            <a:r>
              <a:rPr lang="mn-MN" sz="2800" dirty="0">
                <a:solidFill>
                  <a:srgbClr val="002060"/>
                </a:solidFill>
                <a:latin typeface="Times New Roman" panose="02020603050405020304" pitchFamily="18" charset="0"/>
                <a:cs typeface="Times New Roman" panose="02020603050405020304" pitchFamily="18" charset="0"/>
              </a:rPr>
              <a:t>Макро түвшинд дараах 3 үүрэгтэй:</a:t>
            </a:r>
          </a:p>
          <a:p>
            <a:pPr marL="744538" lvl="2" algn="just"/>
            <a:r>
              <a:rPr lang="mn-MN" sz="2400" dirty="0">
                <a:solidFill>
                  <a:srgbClr val="002060"/>
                </a:solidFill>
                <a:latin typeface="Times New Roman" panose="02020603050405020304" pitchFamily="18" charset="0"/>
                <a:cs typeface="Times New Roman" panose="02020603050405020304" pitchFamily="18" charset="0"/>
              </a:rPr>
              <a:t>Зах зээлийн харилцаанд оролцогчидийг идэвхжүүлэх</a:t>
            </a:r>
            <a:r>
              <a:rPr lang="en-US" sz="2400" dirty="0">
                <a:solidFill>
                  <a:srgbClr val="002060"/>
                </a:solidFill>
                <a:latin typeface="Times New Roman" panose="02020603050405020304" pitchFamily="18" charset="0"/>
                <a:cs typeface="Times New Roman" panose="02020603050405020304" pitchFamily="18" charset="0"/>
              </a:rPr>
              <a:t>;</a:t>
            </a:r>
          </a:p>
          <a:p>
            <a:pPr marL="744538" lvl="2" algn="just"/>
            <a:r>
              <a:rPr lang="mn-MN" sz="2400" dirty="0">
                <a:solidFill>
                  <a:srgbClr val="002060"/>
                </a:solidFill>
                <a:latin typeface="Times New Roman" panose="02020603050405020304" pitchFamily="18" charset="0"/>
                <a:cs typeface="Times New Roman" panose="02020603050405020304" pitchFamily="18" charset="0"/>
              </a:rPr>
              <a:t>Нөөцийг хуваарилах</a:t>
            </a:r>
            <a:r>
              <a:rPr lang="en-US" sz="2400" dirty="0">
                <a:solidFill>
                  <a:srgbClr val="002060"/>
                </a:solidFill>
                <a:latin typeface="Times New Roman" panose="02020603050405020304" pitchFamily="18" charset="0"/>
                <a:cs typeface="Times New Roman" panose="02020603050405020304" pitchFamily="18" charset="0"/>
              </a:rPr>
              <a:t>;</a:t>
            </a:r>
            <a:endParaRPr lang="mn-MN" sz="2400" dirty="0">
              <a:solidFill>
                <a:srgbClr val="002060"/>
              </a:solidFill>
              <a:latin typeface="Times New Roman" panose="02020603050405020304" pitchFamily="18" charset="0"/>
              <a:cs typeface="Times New Roman" panose="02020603050405020304" pitchFamily="18" charset="0"/>
            </a:endParaRPr>
          </a:p>
          <a:p>
            <a:pPr marL="744538" lvl="2" algn="just"/>
            <a:r>
              <a:rPr lang="mn-MN" sz="2400" dirty="0">
                <a:solidFill>
                  <a:srgbClr val="002060"/>
                </a:solidFill>
                <a:latin typeface="Times New Roman" panose="02020603050405020304" pitchFamily="18" charset="0"/>
                <a:cs typeface="Times New Roman" panose="02020603050405020304" pitchFamily="18" charset="0"/>
              </a:rPr>
              <a:t>Эрэлт, нийлүүлэлтийг уялдуулах. </a:t>
            </a:r>
          </a:p>
          <a:p>
            <a:pPr marL="461963" lvl="1" indent="-234950" algn="just"/>
            <a:r>
              <a:rPr lang="mn-MN" sz="2800" dirty="0">
                <a:solidFill>
                  <a:srgbClr val="002060"/>
                </a:solidFill>
                <a:latin typeface="Times New Roman" panose="02020603050405020304" pitchFamily="18" charset="0"/>
                <a:cs typeface="Times New Roman" panose="02020603050405020304" pitchFamily="18" charset="0"/>
              </a:rPr>
              <a:t>Микро түвшинд дараах үүрэгтэй:</a:t>
            </a:r>
          </a:p>
          <a:p>
            <a:pPr marL="801688" lvl="2" indent="-282575" algn="just"/>
            <a:r>
              <a:rPr lang="mn-MN" sz="2400" dirty="0">
                <a:solidFill>
                  <a:srgbClr val="002060"/>
                </a:solidFill>
                <a:latin typeface="Times New Roman" panose="02020603050405020304" pitchFamily="18" charset="0"/>
                <a:cs typeface="Times New Roman" panose="02020603050405020304" pitchFamily="18" charset="0"/>
              </a:rPr>
              <a:t>Борлуулалтыг идэвхжүүлэх</a:t>
            </a:r>
            <a:r>
              <a:rPr lang="en-US" sz="2400" dirty="0">
                <a:solidFill>
                  <a:srgbClr val="002060"/>
                </a:solidFill>
                <a:latin typeface="Times New Roman" panose="02020603050405020304" pitchFamily="18" charset="0"/>
                <a:cs typeface="Times New Roman" panose="02020603050405020304" pitchFamily="18" charset="0"/>
              </a:rPr>
              <a:t>;</a:t>
            </a:r>
          </a:p>
          <a:p>
            <a:pPr marL="801688" lvl="2" indent="-282575" algn="just"/>
            <a:r>
              <a:rPr lang="mn-MN" sz="2400" dirty="0">
                <a:solidFill>
                  <a:srgbClr val="002060"/>
                </a:solidFill>
                <a:latin typeface="Times New Roman" panose="02020603050405020304" pitchFamily="18" charset="0"/>
                <a:cs typeface="Times New Roman" panose="02020603050405020304" pitchFamily="18" charset="0"/>
              </a:rPr>
              <a:t>Бүтээгдэхүүний чанарыг илтгэх</a:t>
            </a:r>
            <a:r>
              <a:rPr lang="en-US" sz="2400" dirty="0">
                <a:solidFill>
                  <a:srgbClr val="002060"/>
                </a:solidFill>
                <a:latin typeface="Times New Roman" panose="02020603050405020304" pitchFamily="18" charset="0"/>
                <a:cs typeface="Times New Roman" panose="02020603050405020304" pitchFamily="18" charset="0"/>
              </a:rPr>
              <a:t>; </a:t>
            </a:r>
          </a:p>
          <a:p>
            <a:pPr marL="801688" lvl="2" indent="-282575" algn="just"/>
            <a:r>
              <a:rPr lang="mn-MN" sz="2400" dirty="0">
                <a:solidFill>
                  <a:srgbClr val="002060"/>
                </a:solidFill>
                <a:latin typeface="Times New Roman" panose="02020603050405020304" pitchFamily="18" charset="0"/>
                <a:cs typeface="Times New Roman" panose="02020603050405020304" pitchFamily="18" charset="0"/>
              </a:rPr>
              <a:t>Өрсөлдөөний арга хэрэгсэл болох</a:t>
            </a:r>
            <a:r>
              <a:rPr lang="en-US" sz="2400" dirty="0">
                <a:solidFill>
                  <a:srgbClr val="002060"/>
                </a:solidFill>
                <a:latin typeface="Times New Roman" panose="02020603050405020304" pitchFamily="18" charset="0"/>
                <a:cs typeface="Times New Roman" panose="02020603050405020304" pitchFamily="18" charset="0"/>
              </a:rPr>
              <a:t>;</a:t>
            </a:r>
            <a:endParaRPr lang="en-US" sz="2800" dirty="0">
              <a:solidFill>
                <a:srgbClr val="002060"/>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2B9A8961-FF33-1ACA-A60F-6DC5C4238EC3}"/>
              </a:ext>
            </a:extLst>
          </p:cNvPr>
          <p:cNvSpPr>
            <a:spLocks noGrp="1"/>
          </p:cNvSpPr>
          <p:nvPr>
            <p:ph type="body" sz="quarter" idx="3"/>
          </p:nvPr>
        </p:nvSpPr>
        <p:spPr>
          <a:xfrm>
            <a:off x="105080" y="377073"/>
            <a:ext cx="11941627" cy="659876"/>
          </a:xfrm>
        </p:spPr>
        <p:txBody>
          <a:bodyPr>
            <a:noAutofit/>
          </a:bodyPr>
          <a:lstStyle/>
          <a:p>
            <a:pPr algn="just"/>
            <a:r>
              <a:rPr lang="mn-MN" sz="2300" b="0" dirty="0">
                <a:solidFill>
                  <a:srgbClr val="002060"/>
                </a:solidFill>
                <a:latin typeface="Times New Roman" panose="02020603050405020304" pitchFamily="18" charset="0"/>
                <a:cs typeface="Times New Roman" panose="02020603050405020304" pitchFamily="18" charset="0"/>
              </a:rPr>
              <a:t>Бүтээгдэхүүнийг худалдан авахад шаардагдах төлбөрийн хэмжээг </a:t>
            </a:r>
            <a:r>
              <a:rPr lang="mn-MN" sz="2300" dirty="0">
                <a:solidFill>
                  <a:srgbClr val="002060"/>
                </a:solidFill>
                <a:latin typeface="Times New Roman" panose="02020603050405020304" pitchFamily="18" charset="0"/>
                <a:cs typeface="Times New Roman" panose="02020603050405020304" pitchFamily="18" charset="0"/>
              </a:rPr>
              <a:t>ҮНЭ</a:t>
            </a:r>
            <a:r>
              <a:rPr lang="mn-MN" sz="2300" b="0" dirty="0">
                <a:solidFill>
                  <a:srgbClr val="002060"/>
                </a:solidFill>
                <a:latin typeface="Times New Roman" panose="02020603050405020304" pitchFamily="18" charset="0"/>
                <a:cs typeface="Times New Roman" panose="02020603050405020304" pitchFamily="18" charset="0"/>
              </a:rPr>
              <a:t> гэнэ. Өөрөөр хэлбэл, бүтээгдэхүүнийг өмчлөх, хэрэглэх эрхийг олж авахын тулд төлөгдөх мөнгөн дүн. </a:t>
            </a:r>
          </a:p>
        </p:txBody>
      </p:sp>
      <p:sp>
        <p:nvSpPr>
          <p:cNvPr id="6" name="Content Placeholder 5">
            <a:extLst>
              <a:ext uri="{FF2B5EF4-FFF2-40B4-BE49-F238E27FC236}">
                <a16:creationId xmlns:a16="http://schemas.microsoft.com/office/drawing/2014/main" id="{37180226-EA01-9CFF-BD9B-0781249566D3}"/>
              </a:ext>
            </a:extLst>
          </p:cNvPr>
          <p:cNvSpPr>
            <a:spLocks noGrp="1"/>
          </p:cNvSpPr>
          <p:nvPr>
            <p:ph sz="quarter" idx="4"/>
          </p:nvPr>
        </p:nvSpPr>
        <p:spPr>
          <a:xfrm>
            <a:off x="4242063" y="1036949"/>
            <a:ext cx="7804644" cy="5561814"/>
          </a:xfrm>
        </p:spPr>
        <p:txBody>
          <a:bodyPr>
            <a:normAutofit fontScale="92500" lnSpcReduction="20000"/>
          </a:bodyPr>
          <a:lstStyle/>
          <a:p>
            <a:pPr algn="just">
              <a:lnSpc>
                <a:spcPct val="110000"/>
              </a:lnSpc>
            </a:pPr>
            <a:r>
              <a:rPr lang="mn-MN" sz="3200" b="1" dirty="0">
                <a:solidFill>
                  <a:schemeClr val="accent2">
                    <a:lumMod val="75000"/>
                  </a:schemeClr>
                </a:solidFill>
                <a:latin typeface="Times New Roman" panose="02020603050405020304" pitchFamily="18" charset="0"/>
                <a:cs typeface="Times New Roman" panose="02020603050405020304" pitchFamily="18" charset="0"/>
              </a:rPr>
              <a:t>Үнийг тогтоох аргууд: </a:t>
            </a:r>
          </a:p>
          <a:p>
            <a:pPr marL="227013" lvl="1" indent="0" algn="just">
              <a:lnSpc>
                <a:spcPct val="110000"/>
              </a:lnSpc>
              <a:buNone/>
            </a:pPr>
            <a:r>
              <a:rPr lang="mn-MN" sz="2800" dirty="0">
                <a:solidFill>
                  <a:srgbClr val="002060"/>
                </a:solidFill>
                <a:latin typeface="Times New Roman" panose="02020603050405020304" pitchFamily="18" charset="0"/>
                <a:cs typeface="Times New Roman" panose="02020603050405020304" pitchFamily="18" charset="0"/>
              </a:rPr>
              <a:t>Үндсэн 3 арга байна. Хослуулах боломжтой. </a:t>
            </a:r>
          </a:p>
          <a:p>
            <a:pPr marL="519113" lvl="2" indent="-292100" algn="just">
              <a:lnSpc>
                <a:spcPct val="110000"/>
              </a:lnSpc>
            </a:pPr>
            <a:r>
              <a:rPr lang="mn-MN" sz="2800" b="1" dirty="0">
                <a:solidFill>
                  <a:srgbClr val="002060"/>
                </a:solidFill>
                <a:latin typeface="Times New Roman" panose="02020603050405020304" pitchFamily="18" charset="0"/>
                <a:cs typeface="Times New Roman" panose="02020603050405020304" pitchFamily="18" charset="0"/>
              </a:rPr>
              <a:t>Зардалд тулгуурлан үнэ тогтоох арга </a:t>
            </a:r>
            <a:r>
              <a:rPr lang="en-US" sz="2800" b="1" dirty="0">
                <a:solidFill>
                  <a:srgbClr val="002060"/>
                </a:solidFill>
                <a:latin typeface="Times New Roman" panose="02020603050405020304" pitchFamily="18" charset="0"/>
                <a:cs typeface="Times New Roman" panose="02020603050405020304" pitchFamily="18" charset="0"/>
              </a:rPr>
              <a:t>(Cost – based pricing approach)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Тодорхой хувийн ашиг төлөвлөн зардлаа нөхөхүйц үнэ тогтоох арга. </a:t>
            </a:r>
          </a:p>
          <a:p>
            <a:pPr marL="744538" lvl="3" algn="just">
              <a:lnSpc>
                <a:spcPct val="110000"/>
              </a:lnSpc>
            </a:pPr>
            <a:r>
              <a:rPr lang="mn-MN" sz="2400" dirty="0">
                <a:solidFill>
                  <a:srgbClr val="002060"/>
                </a:solidFill>
                <a:latin typeface="Times New Roman" panose="02020603050405020304" pitchFamily="18" charset="0"/>
                <a:cs typeface="Times New Roman" panose="02020603050405020304" pitchFamily="18" charset="0"/>
              </a:rPr>
              <a:t>Эрэлтийн таамаглалаа зөв хийх хэрэгтэй байдаг. </a:t>
            </a:r>
          </a:p>
          <a:p>
            <a:pPr marL="744538" lvl="3" algn="just">
              <a:lnSpc>
                <a:spcPct val="110000"/>
              </a:lnSpc>
            </a:pPr>
            <a:r>
              <a:rPr lang="mn-MN" sz="2400" dirty="0">
                <a:solidFill>
                  <a:srgbClr val="002060"/>
                </a:solidFill>
                <a:latin typeface="Times New Roman" panose="02020603050405020304" pitchFamily="18" charset="0"/>
                <a:cs typeface="Times New Roman" panose="02020603050405020304" pitchFamily="18" charset="0"/>
              </a:rPr>
              <a:t>Хугарлын цэгийн шинжилгээг түгээмэл ашигладаг. </a:t>
            </a:r>
          </a:p>
          <a:p>
            <a:pPr marL="519113" lvl="2" indent="-292100" algn="just">
              <a:lnSpc>
                <a:spcPct val="110000"/>
              </a:lnSpc>
            </a:pPr>
            <a:r>
              <a:rPr lang="mn-MN" sz="2800" b="1" dirty="0">
                <a:solidFill>
                  <a:srgbClr val="002060"/>
                </a:solidFill>
                <a:latin typeface="Times New Roman" panose="02020603050405020304" pitchFamily="18" charset="0"/>
                <a:cs typeface="Times New Roman" panose="02020603050405020304" pitchFamily="18" charset="0"/>
              </a:rPr>
              <a:t>Бүтээгдэхүүний үнэт чанарт тулгуурлан үнэ тогтоох арга </a:t>
            </a:r>
            <a:r>
              <a:rPr lang="en-US" sz="2800" b="1" dirty="0">
                <a:solidFill>
                  <a:srgbClr val="002060"/>
                </a:solidFill>
                <a:latin typeface="Times New Roman" panose="02020603050405020304" pitchFamily="18" charset="0"/>
                <a:cs typeface="Times New Roman" panose="02020603050405020304" pitchFamily="18" charset="0"/>
              </a:rPr>
              <a:t>(Buyer – based or Value – based pricing approach)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хэрэглэгчдэд төрүүлж буй сэтгэгдлийг, ашиг тусыг үнэлдэг. </a:t>
            </a:r>
          </a:p>
          <a:p>
            <a:pPr marL="574675" lvl="2" indent="-347663" algn="just">
              <a:lnSpc>
                <a:spcPct val="110000"/>
              </a:lnSpc>
            </a:pPr>
            <a:r>
              <a:rPr lang="mn-MN" sz="2800" b="1" dirty="0">
                <a:solidFill>
                  <a:srgbClr val="002060"/>
                </a:solidFill>
                <a:latin typeface="Times New Roman" panose="02020603050405020304" pitchFamily="18" charset="0"/>
                <a:cs typeface="Times New Roman" panose="02020603050405020304" pitchFamily="18" charset="0"/>
              </a:rPr>
              <a:t>Өрсөлдөөнд</a:t>
            </a:r>
            <a:r>
              <a:rPr lang="mn-MN" sz="2800" dirty="0">
                <a:solidFill>
                  <a:srgbClr val="002060"/>
                </a:solidFill>
                <a:latin typeface="Times New Roman" panose="02020603050405020304" pitchFamily="18" charset="0"/>
                <a:cs typeface="Times New Roman" panose="02020603050405020304" pitchFamily="18" charset="0"/>
              </a:rPr>
              <a:t> </a:t>
            </a:r>
            <a:r>
              <a:rPr lang="mn-MN" sz="2800" b="1" dirty="0">
                <a:solidFill>
                  <a:srgbClr val="002060"/>
                </a:solidFill>
                <a:latin typeface="Times New Roman" panose="02020603050405020304" pitchFamily="18" charset="0"/>
                <a:cs typeface="Times New Roman" panose="02020603050405020304" pitchFamily="18" charset="0"/>
              </a:rPr>
              <a:t>тулгуурлан үнэ тогтоох арга </a:t>
            </a:r>
            <a:r>
              <a:rPr lang="en-US" sz="2800" b="1" dirty="0">
                <a:solidFill>
                  <a:srgbClr val="002060"/>
                </a:solidFill>
                <a:latin typeface="Times New Roman" panose="02020603050405020304" pitchFamily="18" charset="0"/>
                <a:cs typeface="Times New Roman" panose="02020603050405020304" pitchFamily="18" charset="0"/>
              </a:rPr>
              <a:t>(Competition – based pricing approach) </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өрсөлдөгчөө баримжаалан үнэ тогтоох арга.</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7568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1ED64-F666-3158-CDF2-CABCDAB3F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51B4D-03D1-0186-01DC-5325AC385BE8}"/>
              </a:ext>
            </a:extLst>
          </p:cNvPr>
          <p:cNvSpPr>
            <a:spLocks noGrp="1"/>
          </p:cNvSpPr>
          <p:nvPr>
            <p:ph type="title"/>
          </p:nvPr>
        </p:nvSpPr>
        <p:spPr>
          <a:xfrm>
            <a:off x="113382" y="79690"/>
            <a:ext cx="11651959" cy="495346"/>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Маркетингийн 4</a:t>
            </a:r>
            <a:r>
              <a:rPr lang="en-US" sz="3600" b="1" dirty="0">
                <a:solidFill>
                  <a:srgbClr val="002060"/>
                </a:solidFill>
                <a:latin typeface="Times New Roman" panose="02020603050405020304" pitchFamily="18" charset="0"/>
                <a:cs typeface="Times New Roman" panose="02020603050405020304" pitchFamily="18" charset="0"/>
              </a:rPr>
              <a:t>P </a:t>
            </a:r>
            <a:r>
              <a:rPr lang="mn-MN" sz="3600" b="1" dirty="0">
                <a:solidFill>
                  <a:srgbClr val="002060"/>
                </a:solidFill>
                <a:latin typeface="Times New Roman" panose="02020603050405020304" pitchFamily="18" charset="0"/>
                <a:cs typeface="Times New Roman" panose="02020603050405020304" pitchFamily="18" charset="0"/>
              </a:rPr>
              <a:t>– Хуваарилалтын бодлого</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B71E0BF-97E8-1F13-7EBA-87E34BAB4D6F}"/>
              </a:ext>
            </a:extLst>
          </p:cNvPr>
          <p:cNvSpPr>
            <a:spLocks noGrp="1"/>
          </p:cNvSpPr>
          <p:nvPr>
            <p:ph idx="1"/>
          </p:nvPr>
        </p:nvSpPr>
        <p:spPr>
          <a:xfrm>
            <a:off x="113382" y="473971"/>
            <a:ext cx="11764390" cy="6304339"/>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Бараа, үйлчилгээг хэрэглэгчийн хүссэн үед, тохиромжтой газарт, хэрэгцээт хэмжээгээр хүргэх үйл ажиллагааг </a:t>
            </a:r>
            <a:r>
              <a:rPr lang="mn-MN" sz="3200" b="1" dirty="0">
                <a:solidFill>
                  <a:srgbClr val="002060"/>
                </a:solidFill>
                <a:latin typeface="Times New Roman" panose="02020603050405020304" pitchFamily="18" charset="0"/>
                <a:cs typeface="Times New Roman" panose="02020603050405020304" pitchFamily="18" charset="0"/>
              </a:rPr>
              <a:t>хуваарилалт</a:t>
            </a:r>
            <a:r>
              <a:rPr lang="mn-MN" sz="3200" dirty="0">
                <a:solidFill>
                  <a:srgbClr val="002060"/>
                </a:solidFill>
                <a:latin typeface="Times New Roman" panose="02020603050405020304" pitchFamily="18" charset="0"/>
                <a:cs typeface="Times New Roman" panose="02020603050405020304" pitchFamily="18" charset="0"/>
              </a:rPr>
              <a:t> </a:t>
            </a:r>
            <a:r>
              <a:rPr lang="en-US" sz="3200" b="1" dirty="0">
                <a:solidFill>
                  <a:srgbClr val="002060"/>
                </a:solidFill>
                <a:latin typeface="Times New Roman" panose="02020603050405020304" pitchFamily="18" charset="0"/>
                <a:cs typeface="Times New Roman" panose="02020603050405020304" pitchFamily="18" charset="0"/>
              </a:rPr>
              <a:t>(Distribution) </a:t>
            </a:r>
            <a:r>
              <a:rPr lang="mn-MN" sz="3200" dirty="0">
                <a:solidFill>
                  <a:srgbClr val="002060"/>
                </a:solidFill>
                <a:latin typeface="Times New Roman" panose="02020603050405020304" pitchFamily="18" charset="0"/>
                <a:cs typeface="Times New Roman" panose="02020603050405020304" pitchFamily="18" charset="0"/>
              </a:rPr>
              <a:t>гэнэ. </a:t>
            </a:r>
            <a:endParaRPr lang="en-US" sz="3200" dirty="0">
              <a:solidFill>
                <a:srgbClr val="002060"/>
              </a:solidFill>
              <a:latin typeface="Times New Roman" panose="02020603050405020304" pitchFamily="18" charset="0"/>
              <a:cs typeface="Times New Roman" panose="02020603050405020304" pitchFamily="18" charset="0"/>
            </a:endParaRPr>
          </a:p>
          <a:p>
            <a:pPr algn="just"/>
            <a:r>
              <a:rPr lang="mn-MN" sz="3200" b="1" dirty="0">
                <a:solidFill>
                  <a:srgbClr val="002060"/>
                </a:solidFill>
                <a:latin typeface="Times New Roman" panose="02020603050405020304" pitchFamily="18" charset="0"/>
                <a:cs typeface="Times New Roman" panose="02020603050405020304" pitchFamily="18" charset="0"/>
              </a:rPr>
              <a:t>Хуваарилалт</a:t>
            </a:r>
            <a:r>
              <a:rPr lang="mn-MN" sz="3200" dirty="0">
                <a:solidFill>
                  <a:srgbClr val="002060"/>
                </a:solidFill>
                <a:latin typeface="Times New Roman" panose="02020603050405020304" pitchFamily="18" charset="0"/>
                <a:cs typeface="Times New Roman" panose="02020603050405020304" pitchFamily="18" charset="0"/>
              </a:rPr>
              <a:t> </a:t>
            </a:r>
            <a:r>
              <a:rPr lang="en-US" sz="3200" b="1" dirty="0">
                <a:solidFill>
                  <a:srgbClr val="002060"/>
                </a:solidFill>
                <a:latin typeface="Times New Roman" panose="02020603050405020304" pitchFamily="18" charset="0"/>
                <a:cs typeface="Times New Roman" panose="02020603050405020304" pitchFamily="18" charset="0"/>
              </a:rPr>
              <a:t>(Distribution)</a:t>
            </a:r>
            <a:r>
              <a:rPr lang="en-US" sz="3200" dirty="0">
                <a:solidFill>
                  <a:srgbClr val="002060"/>
                </a:solidFill>
                <a:latin typeface="Times New Roman" panose="02020603050405020304" pitchFamily="18" charset="0"/>
                <a:cs typeface="Times New Roman" panose="02020603050405020304" pitchFamily="18" charset="0"/>
              </a:rPr>
              <a:t> – </a:t>
            </a:r>
            <a:r>
              <a:rPr lang="mn-MN" sz="3200" dirty="0">
                <a:solidFill>
                  <a:srgbClr val="002060"/>
                </a:solidFill>
                <a:latin typeface="Times New Roman" panose="02020603050405020304" pitchFamily="18" charset="0"/>
                <a:cs typeface="Times New Roman" panose="02020603050405020304" pitchFamily="18" charset="0"/>
              </a:rPr>
              <a:t>үйлдвэрлэгчийг хэрэглэгчидтэй нь холбодог маркетингийн үйл ажиллагаа. </a:t>
            </a:r>
          </a:p>
          <a:p>
            <a:pPr algn="just"/>
            <a:r>
              <a:rPr lang="mn-MN" sz="3200" b="1" dirty="0">
                <a:solidFill>
                  <a:srgbClr val="002060"/>
                </a:solidFill>
                <a:latin typeface="Times New Roman" panose="02020603050405020304" pitchFamily="18" charset="0"/>
                <a:cs typeface="Times New Roman" panose="02020603050405020304" pitchFamily="18" charset="0"/>
              </a:rPr>
              <a:t>Хуваарилалтын суваг</a:t>
            </a:r>
            <a:r>
              <a:rPr lang="mn-MN" sz="3200" dirty="0">
                <a:solidFill>
                  <a:srgbClr val="002060"/>
                </a:solidFill>
                <a:latin typeface="Times New Roman" panose="02020603050405020304" pitchFamily="18" charset="0"/>
                <a:cs typeface="Times New Roman" panose="02020603050405020304" pitchFamily="18" charset="0"/>
              </a:rPr>
              <a:t> </a:t>
            </a:r>
            <a:r>
              <a:rPr lang="en-US" sz="3200" b="1" dirty="0">
                <a:solidFill>
                  <a:srgbClr val="002060"/>
                </a:solidFill>
                <a:latin typeface="Times New Roman" panose="02020603050405020304" pitchFamily="18" charset="0"/>
                <a:cs typeface="Times New Roman" panose="02020603050405020304" pitchFamily="18" charset="0"/>
              </a:rPr>
              <a:t>(Distribution channel)</a:t>
            </a:r>
            <a:r>
              <a:rPr lang="en-US" sz="3200" dirty="0">
                <a:solidFill>
                  <a:srgbClr val="002060"/>
                </a:solidFill>
                <a:latin typeface="Times New Roman" panose="02020603050405020304" pitchFamily="18" charset="0"/>
                <a:cs typeface="Times New Roman" panose="02020603050405020304" pitchFamily="18" charset="0"/>
              </a:rPr>
              <a:t> – </a:t>
            </a:r>
            <a:r>
              <a:rPr lang="mn-MN" sz="3200" dirty="0">
                <a:solidFill>
                  <a:srgbClr val="002060"/>
                </a:solidFill>
                <a:latin typeface="Times New Roman" panose="02020603050405020304" pitchFamily="18" charset="0"/>
                <a:cs typeface="Times New Roman" panose="02020603050405020304" pitchFamily="18" charset="0"/>
              </a:rPr>
              <a:t>бүтээгдэхүүнийг үйлдвэрлэгчээс хэрэглэгчдэд хүргэх үйл явцад хувь нэмрээ оруулдаг байгууллага, хувь хүмүүс. </a:t>
            </a:r>
          </a:p>
          <a:p>
            <a:pPr algn="just"/>
            <a:r>
              <a:rPr lang="mn-MN" sz="3200" dirty="0">
                <a:solidFill>
                  <a:srgbClr val="002060"/>
                </a:solidFill>
                <a:latin typeface="Times New Roman" panose="02020603050405020304" pitchFamily="18" charset="0"/>
                <a:cs typeface="Times New Roman" panose="02020603050405020304" pitchFamily="18" charset="0"/>
              </a:rPr>
              <a:t>Хуваарилалтын системийг оновчтой бүрдүүлэх нь </a:t>
            </a:r>
            <a:r>
              <a:rPr lang="mn-MN" sz="3200" b="1" dirty="0">
                <a:solidFill>
                  <a:srgbClr val="002060"/>
                </a:solidFill>
                <a:latin typeface="Times New Roman" panose="02020603050405020304" pitchFamily="18" charset="0"/>
                <a:cs typeface="Times New Roman" panose="02020603050405020304" pitchFamily="18" charset="0"/>
              </a:rPr>
              <a:t>амжилтын үндэс</a:t>
            </a:r>
            <a:r>
              <a:rPr lang="mn-MN" sz="3200" dirty="0">
                <a:solidFill>
                  <a:srgbClr val="002060"/>
                </a:solidFill>
                <a:latin typeface="Times New Roman" panose="02020603050405020304" pitchFamily="18" charset="0"/>
                <a:cs typeface="Times New Roman" panose="02020603050405020304" pitchFamily="18" charset="0"/>
              </a:rPr>
              <a:t>. </a:t>
            </a:r>
          </a:p>
          <a:p>
            <a:pPr algn="just"/>
            <a:r>
              <a:rPr lang="mn-MN" sz="3200" dirty="0">
                <a:solidFill>
                  <a:srgbClr val="002060"/>
                </a:solidFill>
                <a:latin typeface="Times New Roman" panose="02020603050405020304" pitchFamily="18" charset="0"/>
                <a:cs typeface="Times New Roman" panose="02020603050405020304" pitchFamily="18" charset="0"/>
              </a:rPr>
              <a:t>Хуваарилалтын бодлого нь дараах асуудлуудыг хөнддөг: </a:t>
            </a:r>
          </a:p>
          <a:p>
            <a:pPr lvl="1" algn="just"/>
            <a:r>
              <a:rPr lang="mn-MN" sz="2800" dirty="0">
                <a:solidFill>
                  <a:srgbClr val="002060"/>
                </a:solidFill>
                <a:latin typeface="Times New Roman" panose="02020603050405020304" pitchFamily="18" charset="0"/>
                <a:cs typeface="Times New Roman" panose="02020603050405020304" pitchFamily="18" charset="0"/>
              </a:rPr>
              <a:t>Хуваарилалтын сувгийн урт, цар хүрээ, зохион байгуулалт, логистик буюу барааны хөдөлгөөний удирдлага, агуулах хадгалалт, нөөцийн удирдлага, мэдээллийн удирдлага ...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064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6BBE-AC22-9991-8D80-70CC74A03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A31AA-07BB-EF9E-AD10-0F6D7B9F403F}"/>
              </a:ext>
            </a:extLst>
          </p:cNvPr>
          <p:cNvSpPr>
            <a:spLocks noGrp="1"/>
          </p:cNvSpPr>
          <p:nvPr>
            <p:ph type="title"/>
          </p:nvPr>
        </p:nvSpPr>
        <p:spPr>
          <a:xfrm>
            <a:off x="101894" y="41982"/>
            <a:ext cx="11744435" cy="335090"/>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Маркетингийн 4</a:t>
            </a:r>
            <a:r>
              <a:rPr lang="en-US" sz="3200" b="1" dirty="0">
                <a:solidFill>
                  <a:srgbClr val="002060"/>
                </a:solidFill>
                <a:latin typeface="Times New Roman" panose="02020603050405020304" pitchFamily="18" charset="0"/>
                <a:cs typeface="Times New Roman" panose="02020603050405020304" pitchFamily="18" charset="0"/>
              </a:rPr>
              <a:t>P </a:t>
            </a:r>
            <a:r>
              <a:rPr lang="mn-MN" sz="3200" b="1" dirty="0">
                <a:solidFill>
                  <a:srgbClr val="002060"/>
                </a:solidFill>
                <a:latin typeface="Times New Roman" panose="02020603050405020304" pitchFamily="18" charset="0"/>
                <a:cs typeface="Times New Roman" panose="02020603050405020304" pitchFamily="18" charset="0"/>
              </a:rPr>
              <a:t>– Идэвхжүүлэлтийн бодлого</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1EED58-7EBE-F8A6-3BFB-7742AB6D0ECD}"/>
              </a:ext>
            </a:extLst>
          </p:cNvPr>
          <p:cNvSpPr>
            <a:spLocks noGrp="1"/>
          </p:cNvSpPr>
          <p:nvPr>
            <p:ph idx="1"/>
          </p:nvPr>
        </p:nvSpPr>
        <p:spPr>
          <a:xfrm>
            <a:off x="56562" y="398553"/>
            <a:ext cx="11972041" cy="6143646"/>
          </a:xfrm>
        </p:spPr>
        <p:txBody>
          <a:bodyPr>
            <a:normAutofit/>
          </a:bodyPr>
          <a:lstStyle/>
          <a:p>
            <a:pPr algn="just">
              <a:spcBef>
                <a:spcPts val="100"/>
              </a:spcBef>
            </a:pPr>
            <a:r>
              <a:rPr lang="mn-MN" b="1" dirty="0">
                <a:solidFill>
                  <a:srgbClr val="002060"/>
                </a:solidFill>
                <a:latin typeface="Times New Roman" panose="02020603050405020304" pitchFamily="18" charset="0"/>
                <a:cs typeface="Times New Roman" panose="02020603050405020304" pitchFamily="18" charset="0"/>
              </a:rPr>
              <a:t>Идэвхжүүлэлт </a:t>
            </a:r>
            <a:r>
              <a:rPr lang="en-US" b="1" dirty="0">
                <a:solidFill>
                  <a:srgbClr val="002060"/>
                </a:solidFill>
                <a:latin typeface="Times New Roman" panose="02020603050405020304" pitchFamily="18" charset="0"/>
                <a:cs typeface="Times New Roman" panose="02020603050405020304" pitchFamily="18" charset="0"/>
              </a:rPr>
              <a:t>(Promotion) </a:t>
            </a:r>
            <a:r>
              <a:rPr lang="mn-MN" dirty="0">
                <a:solidFill>
                  <a:srgbClr val="002060"/>
                </a:solidFill>
                <a:latin typeface="Times New Roman" panose="02020603050405020304" pitchFamily="18" charset="0"/>
                <a:cs typeface="Times New Roman" panose="02020603050405020304" pitchFamily="18" charset="0"/>
              </a:rPr>
              <a:t>– Байгууллагын имижийг бүрдүүлэх, бүтээгдэхүүн ба брэндийг хоногшуулах, борлуулалтыг удирдан чиглүүлэх зорилгоор хийгдэх маркетингийн үйл ажиллагаа. </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Үүний тулд хийгдэх харилцааны бүх хэлбэрүүдийг </a:t>
            </a:r>
            <a:r>
              <a:rPr lang="mn-MN" b="1" dirty="0">
                <a:solidFill>
                  <a:srgbClr val="002060"/>
                </a:solidFill>
                <a:latin typeface="Times New Roman" panose="02020603050405020304" pitchFamily="18" charset="0"/>
                <a:cs typeface="Times New Roman" panose="02020603050405020304" pitchFamily="18" charset="0"/>
              </a:rPr>
              <a:t>идэвхжүүлэлтийн иж бүрдэл </a:t>
            </a:r>
            <a:r>
              <a:rPr lang="en-US" dirty="0">
                <a:solidFill>
                  <a:srgbClr val="002060"/>
                </a:solidFill>
                <a:latin typeface="Times New Roman" panose="02020603050405020304" pitchFamily="18" charset="0"/>
                <a:cs typeface="Times New Roman" panose="02020603050405020304" pitchFamily="18" charset="0"/>
              </a:rPr>
              <a:t>(</a:t>
            </a:r>
            <a:r>
              <a:rPr lang="en-US" b="1" dirty="0">
                <a:solidFill>
                  <a:srgbClr val="002060"/>
                </a:solidFill>
                <a:latin typeface="Times New Roman" panose="02020603050405020304" pitchFamily="18" charset="0"/>
                <a:cs typeface="Times New Roman" panose="02020603050405020304" pitchFamily="18" charset="0"/>
              </a:rPr>
              <a:t>Promotion Mix</a:t>
            </a:r>
            <a:r>
              <a:rPr lang="en-US"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гэнэ. </a:t>
            </a:r>
          </a:p>
          <a:p>
            <a:pPr algn="just">
              <a:spcBef>
                <a:spcPts val="100"/>
              </a:spcBef>
            </a:pPr>
            <a:r>
              <a:rPr lang="mn-MN" dirty="0">
                <a:solidFill>
                  <a:srgbClr val="002060"/>
                </a:solidFill>
                <a:latin typeface="Times New Roman" panose="02020603050405020304" pitchFamily="18" charset="0"/>
                <a:cs typeface="Times New Roman" panose="02020603050405020304" pitchFamily="18" charset="0"/>
              </a:rPr>
              <a:t>Идэвхжүүлэлтийн иж бүрдэл </a:t>
            </a:r>
            <a:r>
              <a:rPr lang="en-US" dirty="0">
                <a:solidFill>
                  <a:srgbClr val="002060"/>
                </a:solidFill>
                <a:latin typeface="Times New Roman" panose="02020603050405020304" pitchFamily="18" charset="0"/>
                <a:cs typeface="Times New Roman" panose="02020603050405020304" pitchFamily="18" charset="0"/>
              </a:rPr>
              <a:t>(Promotion Mix)</a:t>
            </a:r>
            <a:r>
              <a:rPr lang="mn-MN" dirty="0">
                <a:solidFill>
                  <a:srgbClr val="002060"/>
                </a:solidFill>
                <a:latin typeface="Times New Roman" panose="02020603050405020304" pitchFamily="18" charset="0"/>
                <a:cs typeface="Times New Roman" panose="02020603050405020304" pitchFamily="18" charset="0"/>
              </a:rPr>
              <a:t> дараах арга хэрэгслүүдийг агуулна: </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Зар сурталчилгаа </a:t>
            </a:r>
            <a:r>
              <a:rPr lang="en-US" dirty="0">
                <a:solidFill>
                  <a:srgbClr val="002060"/>
                </a:solidFill>
                <a:latin typeface="Times New Roman" panose="02020603050405020304" pitchFamily="18" charset="0"/>
                <a:cs typeface="Times New Roman" panose="02020603050405020304" pitchFamily="18" charset="0"/>
              </a:rPr>
              <a:t>(Advertising)</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Борлуулалтын урамшуулал </a:t>
            </a:r>
            <a:r>
              <a:rPr lang="en-US" dirty="0">
                <a:solidFill>
                  <a:srgbClr val="002060"/>
                </a:solidFill>
                <a:latin typeface="Times New Roman" panose="02020603050405020304" pitchFamily="18" charset="0"/>
                <a:cs typeface="Times New Roman" panose="02020603050405020304" pitchFamily="18" charset="0"/>
              </a:rPr>
              <a:t>(Sales Promotion)</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Олон нийтийн харилцаа </a:t>
            </a:r>
            <a:r>
              <a:rPr lang="en-US" dirty="0">
                <a:solidFill>
                  <a:srgbClr val="002060"/>
                </a:solidFill>
                <a:latin typeface="Times New Roman" panose="02020603050405020304" pitchFamily="18" charset="0"/>
                <a:cs typeface="Times New Roman" panose="02020603050405020304" pitchFamily="18" charset="0"/>
              </a:rPr>
              <a:t>(Public relations)</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Биечилсэн борлуулалт </a:t>
            </a:r>
            <a:r>
              <a:rPr lang="en-US" dirty="0">
                <a:solidFill>
                  <a:srgbClr val="002060"/>
                </a:solidFill>
                <a:latin typeface="Times New Roman" panose="02020603050405020304" pitchFamily="18" charset="0"/>
                <a:cs typeface="Times New Roman" panose="02020603050405020304" pitchFamily="18" charset="0"/>
              </a:rPr>
              <a:t>(Personal Selling)</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Шууд маркетинг </a:t>
            </a:r>
            <a:r>
              <a:rPr lang="en-US" dirty="0">
                <a:solidFill>
                  <a:srgbClr val="002060"/>
                </a:solidFill>
                <a:latin typeface="Times New Roman" panose="02020603050405020304" pitchFamily="18" charset="0"/>
                <a:cs typeface="Times New Roman" panose="02020603050405020304" pitchFamily="18" charset="0"/>
              </a:rPr>
              <a:t>(Direct marketing)</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Сав баглаа боодол </a:t>
            </a:r>
            <a:r>
              <a:rPr lang="en-US" dirty="0">
                <a:solidFill>
                  <a:srgbClr val="002060"/>
                </a:solidFill>
                <a:latin typeface="Times New Roman" panose="02020603050405020304" pitchFamily="18" charset="0"/>
                <a:cs typeface="Times New Roman" panose="02020603050405020304" pitchFamily="18" charset="0"/>
              </a:rPr>
              <a:t>(Package)</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Борлуулалтын цэгийн тохижилт</a:t>
            </a:r>
            <a:endParaRPr lang="en-US" dirty="0">
              <a:solidFill>
                <a:srgbClr val="002060"/>
              </a:solidFill>
              <a:latin typeface="Times New Roman" panose="02020603050405020304" pitchFamily="18" charset="0"/>
              <a:cs typeface="Times New Roman" panose="02020603050405020304" pitchFamily="18" charset="0"/>
            </a:endParaRPr>
          </a:p>
          <a:p>
            <a:pPr marL="687388" lvl="1" indent="0" algn="just">
              <a:spcBef>
                <a:spcPts val="100"/>
              </a:spcBef>
              <a:buNone/>
            </a:pPr>
            <a:r>
              <a:rPr lang="en-US" dirty="0">
                <a:solidFill>
                  <a:srgbClr val="002060"/>
                </a:solidFill>
                <a:latin typeface="Times New Roman" panose="02020603050405020304" pitchFamily="18" charset="0"/>
                <a:cs typeface="Times New Roman" panose="02020603050405020304" pitchFamily="18" charset="0"/>
              </a:rPr>
              <a:t>(Point of Purchase)</a:t>
            </a:r>
          </a:p>
          <a:p>
            <a:pPr lvl="1" algn="just">
              <a:spcBef>
                <a:spcPts val="100"/>
              </a:spcBef>
            </a:pPr>
            <a:r>
              <a:rPr lang="mn-MN" dirty="0">
                <a:solidFill>
                  <a:srgbClr val="002060"/>
                </a:solidFill>
                <a:latin typeface="Times New Roman" panose="02020603050405020304" pitchFamily="18" charset="0"/>
                <a:cs typeface="Times New Roman" panose="02020603050405020304" pitchFamily="18" charset="0"/>
              </a:rPr>
              <a:t>Бусад ...</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02C461C-80AE-B802-DEB6-6EABBC891D89}"/>
              </a:ext>
            </a:extLst>
          </p:cNvPr>
          <p:cNvSpPr txBox="1"/>
          <p:nvPr/>
        </p:nvSpPr>
        <p:spPr>
          <a:xfrm>
            <a:off x="6702458" y="2573517"/>
            <a:ext cx="5247566" cy="3901068"/>
          </a:xfrm>
          <a:prstGeom prst="rect">
            <a:avLst/>
          </a:prstGeom>
          <a:solidFill>
            <a:schemeClr val="accent4">
              <a:lumMod val="20000"/>
              <a:lumOff val="80000"/>
            </a:schemeClr>
          </a:solidFill>
        </p:spPr>
        <p:txBody>
          <a:bodyPr wrap="square" rtlCol="0">
            <a:spAutoFit/>
          </a:bodyPr>
          <a:lstStyle/>
          <a:p>
            <a:pPr algn="just">
              <a:lnSpc>
                <a:spcPct val="90000"/>
              </a:lnSpc>
            </a:pPr>
            <a:r>
              <a:rPr lang="mn-MN" sz="2500" dirty="0">
                <a:solidFill>
                  <a:srgbClr val="002060"/>
                </a:solidFill>
                <a:latin typeface="Times New Roman" panose="02020603050405020304" pitchFamily="18" charset="0"/>
                <a:cs typeface="Times New Roman" panose="02020603050405020304" pitchFamily="18" charset="0"/>
              </a:rPr>
              <a:t>Маркетингийн хамгийн анхаарал татсан асуудлуудын нэг бол </a:t>
            </a:r>
            <a:r>
              <a:rPr lang="mn-MN" sz="2500" b="1" dirty="0">
                <a:solidFill>
                  <a:srgbClr val="002060"/>
                </a:solidFill>
                <a:latin typeface="Times New Roman" panose="02020603050405020304" pitchFamily="18" charset="0"/>
                <a:cs typeface="Times New Roman" panose="02020603050405020304" pitchFamily="18" charset="0"/>
              </a:rPr>
              <a:t>идэвхжүүлэлтийн төсөв </a:t>
            </a:r>
            <a:r>
              <a:rPr lang="mn-MN" sz="2500" dirty="0">
                <a:solidFill>
                  <a:srgbClr val="002060"/>
                </a:solidFill>
                <a:latin typeface="Times New Roman" panose="02020603050405020304" pitchFamily="18" charset="0"/>
                <a:cs typeface="Times New Roman" panose="02020603050405020304" pitchFamily="18" charset="0"/>
              </a:rPr>
              <a:t>байдаг. Төсөв тодорхойлох 4 үндсэн арга байдаг: </a:t>
            </a:r>
          </a:p>
          <a:p>
            <a:pPr marL="285750" indent="-285750" algn="just">
              <a:lnSpc>
                <a:spcPct val="90000"/>
              </a:lnSpc>
              <a:buFont typeface="Arial" panose="020B0604020202020204" pitchFamily="34" charset="0"/>
              <a:buChar char="•"/>
            </a:pPr>
            <a:r>
              <a:rPr lang="mn-MN" sz="2500" dirty="0">
                <a:solidFill>
                  <a:srgbClr val="002060"/>
                </a:solidFill>
                <a:latin typeface="Times New Roman" panose="02020603050405020304" pitchFamily="18" charset="0"/>
                <a:cs typeface="Times New Roman" panose="02020603050405020304" pitchFamily="18" charset="0"/>
              </a:rPr>
              <a:t>Боломжийнхоо хэрээр төсөвлөх</a:t>
            </a:r>
            <a:r>
              <a:rPr lang="en-US" sz="2500" dirty="0">
                <a:solidFill>
                  <a:srgbClr val="002060"/>
                </a:solidFill>
                <a:latin typeface="Times New Roman" panose="02020603050405020304" pitchFamily="18" charset="0"/>
                <a:cs typeface="Times New Roman" panose="02020603050405020304" pitchFamily="18" charset="0"/>
              </a:rPr>
              <a:t>;</a:t>
            </a:r>
          </a:p>
          <a:p>
            <a:pPr marL="285750" indent="-285750" algn="just">
              <a:lnSpc>
                <a:spcPct val="90000"/>
              </a:lnSpc>
              <a:buFont typeface="Arial" panose="020B0604020202020204" pitchFamily="34" charset="0"/>
              <a:buChar char="•"/>
            </a:pPr>
            <a:r>
              <a:rPr lang="mn-MN" sz="2500" dirty="0">
                <a:solidFill>
                  <a:srgbClr val="002060"/>
                </a:solidFill>
                <a:latin typeface="Times New Roman" panose="02020603050405020304" pitchFamily="18" charset="0"/>
                <a:cs typeface="Times New Roman" panose="02020603050405020304" pitchFamily="18" charset="0"/>
              </a:rPr>
              <a:t>Борлуулалтын тодорхой хувиар тооцох</a:t>
            </a:r>
            <a:r>
              <a:rPr lang="en-US" sz="2500" dirty="0">
                <a:solidFill>
                  <a:srgbClr val="002060"/>
                </a:solidFill>
                <a:latin typeface="Times New Roman" panose="02020603050405020304" pitchFamily="18" charset="0"/>
                <a:cs typeface="Times New Roman" panose="02020603050405020304" pitchFamily="18" charset="0"/>
              </a:rPr>
              <a:t>;</a:t>
            </a:r>
          </a:p>
          <a:p>
            <a:pPr marL="285750" indent="-285750" algn="just">
              <a:lnSpc>
                <a:spcPct val="90000"/>
              </a:lnSpc>
              <a:buFont typeface="Arial" panose="020B0604020202020204" pitchFamily="34" charset="0"/>
              <a:buChar char="•"/>
            </a:pPr>
            <a:r>
              <a:rPr lang="mn-MN" sz="2500" dirty="0">
                <a:solidFill>
                  <a:srgbClr val="002060"/>
                </a:solidFill>
                <a:latin typeface="Times New Roman" panose="02020603050405020304" pitchFamily="18" charset="0"/>
                <a:cs typeface="Times New Roman" panose="02020603050405020304" pitchFamily="18" charset="0"/>
              </a:rPr>
              <a:t>Өрсөлдөгчөө баримжаалах</a:t>
            </a:r>
            <a:r>
              <a:rPr lang="en-US" sz="2500" dirty="0">
                <a:solidFill>
                  <a:srgbClr val="002060"/>
                </a:solidFill>
                <a:latin typeface="Times New Roman" panose="02020603050405020304" pitchFamily="18" charset="0"/>
                <a:cs typeface="Times New Roman" panose="02020603050405020304" pitchFamily="18" charset="0"/>
              </a:rPr>
              <a:t>;</a:t>
            </a:r>
          </a:p>
          <a:p>
            <a:pPr marL="285750" indent="-285750" algn="just">
              <a:lnSpc>
                <a:spcPct val="90000"/>
              </a:lnSpc>
              <a:buFont typeface="Arial" panose="020B0604020202020204" pitchFamily="34" charset="0"/>
              <a:buChar char="•"/>
            </a:pPr>
            <a:r>
              <a:rPr lang="mn-MN" sz="2500" dirty="0">
                <a:solidFill>
                  <a:srgbClr val="002060"/>
                </a:solidFill>
                <a:latin typeface="Times New Roman" panose="02020603050405020304" pitchFamily="18" charset="0"/>
                <a:cs typeface="Times New Roman" panose="02020603050405020304" pitchFamily="18" charset="0"/>
              </a:rPr>
              <a:t>Зорилгодоо хүрэхэд шаардагдахын хэрээр төсөвлөх. </a:t>
            </a:r>
            <a:endParaRPr lang="en-US" sz="25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3214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2878-A0F5-19C4-3E51-C4A71A313123}"/>
              </a:ext>
            </a:extLst>
          </p:cNvPr>
          <p:cNvSpPr>
            <a:spLocks noGrp="1"/>
          </p:cNvSpPr>
          <p:nvPr>
            <p:ph type="title"/>
          </p:nvPr>
        </p:nvSpPr>
        <p:spPr>
          <a:xfrm>
            <a:off x="838200" y="195442"/>
            <a:ext cx="10515600" cy="1325563"/>
          </a:xfrm>
        </p:spPr>
        <p:txBody>
          <a:bodyPr/>
          <a:lstStyle/>
          <a:p>
            <a:r>
              <a:rPr lang="mn-MN" b="1" dirty="0">
                <a:solidFill>
                  <a:srgbClr val="002060"/>
                </a:solidFill>
                <a:latin typeface="Times New Roman" panose="02020603050405020304" pitchFamily="18" charset="0"/>
                <a:cs typeface="Times New Roman" panose="02020603050405020304" pitchFamily="18" charset="0"/>
              </a:rPr>
              <a:t>Уншиж судлах ном, сурах бичиг</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D6ECD2-1478-C382-3CB4-7AE5501AC3DD}"/>
              </a:ext>
            </a:extLst>
          </p:cNvPr>
          <p:cNvSpPr>
            <a:spLocks noGrp="1"/>
          </p:cNvSpPr>
          <p:nvPr>
            <p:ph idx="1"/>
          </p:nvPr>
        </p:nvSpPr>
        <p:spPr>
          <a:xfrm>
            <a:off x="838200" y="1655942"/>
            <a:ext cx="10515600" cy="4351338"/>
          </a:xfrm>
        </p:spPr>
        <p:txBody>
          <a:bodyPr>
            <a:normAutofit/>
          </a:bodyPr>
          <a:lstStyle/>
          <a:p>
            <a:r>
              <a:rPr lang="mn-MN" sz="3200" dirty="0">
                <a:solidFill>
                  <a:srgbClr val="002060"/>
                </a:solidFill>
                <a:latin typeface="Times New Roman" panose="02020603050405020304" pitchFamily="18" charset="0"/>
                <a:cs typeface="Times New Roman" panose="02020603050405020304" pitchFamily="18" charset="0"/>
              </a:rPr>
              <a:t>Д.Баярмаа, Маркетинг: Онол, хэрэглээ, 2014</a:t>
            </a:r>
          </a:p>
          <a:p>
            <a:r>
              <a:rPr lang="ru-RU" sz="3200" dirty="0">
                <a:solidFill>
                  <a:srgbClr val="002060"/>
                </a:solidFill>
                <a:latin typeface="Times New Roman" panose="02020603050405020304" pitchFamily="18" charset="0"/>
                <a:cs typeface="Times New Roman" panose="02020603050405020304" pitchFamily="18" charset="0"/>
              </a:rPr>
              <a:t>Ч.Наранчимэг, Д.Ганзориг, Бизнесийн статистик, 2008 </a:t>
            </a:r>
            <a:endParaRPr lang="mn-MN" sz="3200" dirty="0">
              <a:solidFill>
                <a:srgbClr val="002060"/>
              </a:solidFill>
              <a:latin typeface="Times New Roman" panose="02020603050405020304" pitchFamily="18" charset="0"/>
              <a:cs typeface="Times New Roman" panose="02020603050405020304" pitchFamily="18" charset="0"/>
            </a:endParaRPr>
          </a:p>
          <a:p>
            <a:r>
              <a:rPr lang="mn-MN" sz="3200" dirty="0">
                <a:solidFill>
                  <a:srgbClr val="002060"/>
                </a:solidFill>
                <a:latin typeface="Times New Roman" panose="02020603050405020304" pitchFamily="18" charset="0"/>
                <a:cs typeface="Times New Roman" panose="02020603050405020304" pitchFamily="18" charset="0"/>
              </a:rPr>
              <a:t>Д.Энх-Отгон, “Бизнес төлөвлөлт”, 2017</a:t>
            </a:r>
          </a:p>
        </p:txBody>
      </p:sp>
    </p:spTree>
    <p:extLst>
      <p:ext uri="{BB962C8B-B14F-4D97-AF65-F5344CB8AC3E}">
        <p14:creationId xmlns:p14="http://schemas.microsoft.com/office/powerpoint/2010/main" val="837563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B2D00C04-732E-4DFF-A899-9C7E78EBF685"/>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12\u001E{5CDD3A6F-82E0-49E5-B476-77BB91554EEC}&quot;,&quot;D:\\F.CN104_Print_Last2019.10.10\\S.EEM101_2023-24.B_Ts.Baljinnyam&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S.EEM101_Lecture04_2023-24.B_ByTs.B_2024.02.18"/>
  <p:tag name="ISPRING_FIRST_PUBLI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2206</TotalTime>
  <Words>3368</Words>
  <Application>Microsoft Office PowerPoint</Application>
  <PresentationFormat>Widescreen</PresentationFormat>
  <Paragraphs>373</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Cambria Math</vt:lpstr>
      <vt:lpstr>Times New Roman</vt:lpstr>
      <vt:lpstr>Office Theme</vt:lpstr>
      <vt:lpstr>Лекц 4. Маркетингийн төлөвлөгөө ба борлуулалтын таамаглал</vt:lpstr>
      <vt:lpstr>Хичээлийн суралцахуйн үр дүнгүүд  Оюутан энэ сэдвийг судалснаар дараах ур чадваруудтай болсон байна. </vt:lpstr>
      <vt:lpstr>Хичээлийн агуулга </vt:lpstr>
      <vt:lpstr>Өмнөх хичээлээс ...</vt:lpstr>
      <vt:lpstr>Төлөвлөлт</vt:lpstr>
      <vt:lpstr>Төлөвлөлтийг нийт байгууллагын болон үйл ажиллагааны нэгжийн түвшинд хийж гүйцэтгэх боломжтой.</vt:lpstr>
      <vt:lpstr>Маркетингийн төлөвлөгөө</vt:lpstr>
      <vt:lpstr>Маркетингийн судалгаа хийх хамгийн чухал шалтгаан бол зах зээлийн эрэлтийг тодорхойлох явдал мөн. </vt:lpstr>
      <vt:lpstr>Зах зээлийн түвшингүүд</vt:lpstr>
      <vt:lpstr>Зах зээлийн түвшингүүдийн жишээ</vt:lpstr>
      <vt:lpstr>Зах зээлийн эрэлт</vt:lpstr>
      <vt:lpstr>Зах зээлийн таамаглал</vt:lpstr>
      <vt:lpstr>Эрэлт таамаглах аргууд</vt:lpstr>
      <vt:lpstr>Эрэлт таамаглах чанарын аргууд</vt:lpstr>
      <vt:lpstr>Эрэлт таамаглах чанарын аргууд</vt:lpstr>
      <vt:lpstr>Эрэлт таамаглах тоон аргууд</vt:lpstr>
      <vt:lpstr>Эрэлт таамаглах тоон аргууд</vt:lpstr>
      <vt:lpstr>Эрэлт таамаглах тоон аргууд</vt:lpstr>
      <vt:lpstr>Эрэлт таамаглах тоон аргууд</vt:lpstr>
      <vt:lpstr>Эрэлт таамаглах тоон аргууд</vt:lpstr>
      <vt:lpstr>Эрэлт таамаглах тоон аргууд</vt:lpstr>
      <vt:lpstr>Таамаглалын алдаа</vt:lpstr>
      <vt:lpstr>Маркетингийн үндсэн иж бүрдэл – 4P</vt:lpstr>
      <vt:lpstr>Маркетингийн 4P – Бүтээгдэхүүн</vt:lpstr>
      <vt:lpstr>Үйлчилгээний маркетингийн иж бүрдэл – 7P</vt:lpstr>
      <vt:lpstr>Маркетингийн 4P – Бүтээгдэхүүний бодлого</vt:lpstr>
      <vt:lpstr>Маркетингийн 4P – Үнийн бодлого</vt:lpstr>
      <vt:lpstr>Маркетингийн 4P – Хуваарилалтын бодлого</vt:lpstr>
      <vt:lpstr>Маркетингийн 4P – Идэвхжүүлэлтийн бодлого</vt:lpstr>
      <vt:lpstr>Уншиж судлах ном, сурах бичиг</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S.EEM101_Lecture04_2023-24.B_ByTs.B_2024.02.18</dc:title>
  <dc:creator>Oyu Chuluun</dc:creator>
  <cp:lastModifiedBy>Ganaa begzsuren</cp:lastModifiedBy>
  <cp:revision>120</cp:revision>
  <cp:lastPrinted>2024-02-18T13:02:50Z</cp:lastPrinted>
  <dcterms:created xsi:type="dcterms:W3CDTF">2023-09-05T14:21:28Z</dcterms:created>
  <dcterms:modified xsi:type="dcterms:W3CDTF">2025-02-25T02:28:01Z</dcterms:modified>
</cp:coreProperties>
</file>