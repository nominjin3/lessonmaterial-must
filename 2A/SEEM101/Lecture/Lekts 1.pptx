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95" r:id="rId2"/>
    <p:sldId id="258" r:id="rId3"/>
    <p:sldId id="296" r:id="rId4"/>
    <p:sldId id="297" r:id="rId5"/>
    <p:sldId id="29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0" r:id="rId28"/>
    <p:sldId id="321" r:id="rId29"/>
    <p:sldId id="322" r:id="rId30"/>
    <p:sldId id="323" r:id="rId31"/>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75503" autoAdjust="0"/>
  </p:normalViewPr>
  <p:slideViewPr>
    <p:cSldViewPr snapToGrid="0" showGuides="1">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534B8A-48EA-4332-8ECE-B07669C063BF}"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EDF642-B262-430D-B430-4F661DAD0EE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EDF642-B262-430D-B430-4F661DAD0EEB}"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9CC73B9C-8601-4C97-A368-5C8122BF1745}"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A65E8343-3605-4CE2-AB97-E196D52989FF}"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5F85EBA-3F03-48DA-A956-77011D7374CF}"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B29A4CF-F997-464D-A7D7-1EB8C6D88D17}"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B9A4BA34-D832-47E3-B2BD-3240C8E2B4FD}"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ltLang="en-US">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710CEBBB-76FC-49BD-9CC9-F2A909F35E67}"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pPr>
              <a:defRPr/>
            </a:pPr>
            <a:endParaRPr lang="en-US" altLang="en-US">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2E9000F9-B570-4459-973E-0B29FEFB1108}"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EBB3C44-4C1E-427D-92E4-48B46BE3221A}"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46DEDA57-E31D-4111-AB59-A1C462DC4ECD}"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6" name="Footer Placeholder 5"/>
          <p:cNvSpPr>
            <a:spLocks noGrp="1"/>
          </p:cNvSpPr>
          <p:nvPr>
            <p:ph type="ftr" sz="quarter" idx="11"/>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7" name="Slide Number Placeholder 6"/>
          <p:cNvSpPr>
            <a:spLocks noGrp="1"/>
          </p:cNvSpPr>
          <p:nvPr>
            <p:ph type="sldNum" sz="quarter" idx="12"/>
          </p:nvPr>
        </p:nvSpPr>
        <p:spPr/>
        <p:txBody>
          <a:body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t>‹#›</a:t>
            </a:fld>
            <a:endParaRPr lang="en-US" altLang="en-US">
              <a:solidFill>
                <a:srgbClr val="5FCBEF"/>
              </a:solidFill>
              <a:latin typeface="Arial" panose="020B0604020202020204" pitchFamily="34" charset="0"/>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4CF2AD52-B54C-4BE5-ACB6-EF32AE85B696}"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990437EC-5FCE-47EB-8E0F-EFF78AF1DD3C}" type="slidenum">
              <a:rPr lang="en-US" altLang="en-US" smtClean="0">
                <a:solidFill>
                  <a:srgbClr val="5FCBEF"/>
                </a:solidFill>
              </a:rPr>
              <a:t>‹#›</a:t>
            </a:fld>
            <a:endParaRPr lang="en-US" altLang="en-US">
              <a:solidFill>
                <a:srgbClr val="5FCBEF"/>
              </a:solidFill>
            </a:endParaRPr>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046D89F6-E196-422F-AC1F-0BAB6A08DF4F}"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5" name="Slide Number Placeholder 4"/>
          <p:cNvSpPr>
            <a:spLocks noGrp="1"/>
          </p:cNvSpPr>
          <p:nvPr>
            <p:ph type="sldNum" sz="quarter" idx="12"/>
          </p:nvPr>
        </p:nvSpPr>
        <p:spPr/>
        <p:txBody>
          <a:body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t>‹#›</a:t>
            </a:fld>
            <a:endParaRPr lang="en-US" altLang="en-US">
              <a:solidFill>
                <a:srgbClr val="5FCBEF"/>
              </a:solidFill>
              <a:latin typeface="Arial" panose="020B0604020202020204" pitchFamily="34" charset="0"/>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5" name="Slide Number Placeholder 4"/>
          <p:cNvSpPr>
            <a:spLocks noGrp="1"/>
          </p:cNvSpPr>
          <p:nvPr>
            <p:ph type="sldNum" sz="quarter" idx="12"/>
          </p:nvPr>
        </p:nvSpPr>
        <p:spPr/>
        <p:txBody>
          <a:body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t>‹#›</a:t>
            </a:fld>
            <a:endParaRPr lang="en-US" altLang="en-US">
              <a:solidFill>
                <a:srgbClr val="5FCBEF"/>
              </a:solidFill>
              <a:latin typeface="Arial" panose="020B0604020202020204" pitchFamily="34" charset="0"/>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F67ACC19-DB46-4258-B16B-FAF00D862670}"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C974B68F-780F-4AAC-87DF-EEBB73CDF5B4}" type="slidenum">
              <a:rPr lang="en-US" altLang="en-US" smtClean="0">
                <a:solidFill>
                  <a:srgbClr val="5FCBEF"/>
                </a:solidFill>
              </a:rPr>
              <a:t>‹#›</a:t>
            </a:fld>
            <a:endParaRPr lang="en-US" altLang="en-US">
              <a:solidFill>
                <a:srgbClr val="5FCBEF"/>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t>‹#›</a:t>
            </a:fld>
            <a:endParaRPr lang="en-US" altLang="en-US">
              <a:solidFill>
                <a:srgbClr val="5FCBEF"/>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7495" y="2131416"/>
            <a:ext cx="8689976" cy="1778000"/>
          </a:xfrm>
        </p:spPr>
        <p:txBody>
          <a:bodyPr>
            <a:normAutofit fontScale="90000"/>
          </a:bodyPr>
          <a:lstStyle/>
          <a:p>
            <a:r>
              <a:rPr lang="en-US" altLang="en-US" sz="3600" dirty="0">
                <a:solidFill>
                  <a:srgbClr val="002060"/>
                </a:solidFill>
                <a:latin typeface="Times New Roman" panose="02020603050405020304" pitchFamily="18" charset="0"/>
                <a:cs typeface="Times New Roman" panose="02020603050405020304" pitchFamily="18" charset="0"/>
              </a:rPr>
              <a:t>Лекц №1</a:t>
            </a:r>
            <a:br>
              <a:rPr lang="en-US" altLang="en-US" sz="3600" dirty="0">
                <a:solidFill>
                  <a:srgbClr val="002060"/>
                </a:solidFill>
                <a:latin typeface="Times New Roman" panose="02020603050405020304" pitchFamily="18" charset="0"/>
                <a:cs typeface="Times New Roman" panose="02020603050405020304" pitchFamily="18" charset="0"/>
              </a:rPr>
            </a:br>
            <a:r>
              <a:rPr lang="en-US" altLang="en-US" sz="3600" b="1" dirty="0">
                <a:solidFill>
                  <a:srgbClr val="002060"/>
                </a:solidFill>
                <a:latin typeface="Times New Roman" panose="02020603050405020304" pitchFamily="18" charset="0"/>
                <a:cs typeface="Times New Roman" panose="02020603050405020304" pitchFamily="18" charset="0"/>
              </a:rPr>
              <a:t>инженерчлэлийн эдийн засгийн үндсэн ойлголт, түүний зарчмууд</a:t>
            </a:r>
            <a:endParaRPr lang="en-US" sz="3600" b="1" dirty="0">
              <a:solidFill>
                <a:schemeClr val="tx2"/>
              </a:solidFill>
              <a:effectLst>
                <a:outerShdw blurRad="63500" dist="38100" dir="5400000" algn="t" rotWithShape="0">
                  <a:prstClr val="black">
                    <a:alpha val="25000"/>
                  </a:prstClr>
                </a:outerShdw>
              </a:effectLst>
              <a:latin typeface="Arial" panose="020B0604020202020204" pitchFamily="34" charset="0"/>
              <a:ea typeface="+mn-ea"/>
              <a:cs typeface="Arial" panose="020B0604020202020204" pitchFamily="34" charset="0"/>
            </a:endParaRPr>
          </a:p>
        </p:txBody>
      </p:sp>
      <p:sp>
        <p:nvSpPr>
          <p:cNvPr id="3" name="Subtitle 2"/>
          <p:cNvSpPr>
            <a:spLocks noGrp="1"/>
          </p:cNvSpPr>
          <p:nvPr>
            <p:ph type="subTitle" idx="1"/>
          </p:nvPr>
        </p:nvSpPr>
        <p:spPr>
          <a:xfrm>
            <a:off x="1751012" y="4210050"/>
            <a:ext cx="8689976" cy="1339541"/>
          </a:xfrm>
        </p:spPr>
        <p:txBody>
          <a:bodyPr vert="horz" lIns="91440" tIns="45720" rIns="91440" bIns="45720" rtlCol="0">
            <a:normAutofit fontScale="92500" lnSpcReduction="20000"/>
          </a:bodyPr>
          <a:lstStyle/>
          <a:p>
            <a:r>
              <a:rPr lang="en-US" altLang="en-US" sz="2800" b="1" dirty="0">
                <a:solidFill>
                  <a:schemeClr val="tx2"/>
                </a:solidFill>
                <a:effectLst>
                  <a:outerShdw blurRad="63500" dist="38100" dir="5400000" algn="t" rotWithShape="0">
                    <a:prstClr val="black">
                      <a:alpha val="25000"/>
                    </a:prstClr>
                  </a:outerShdw>
                </a:effectLst>
                <a:latin typeface="Arial" panose="020B0604020202020204" pitchFamily="34" charset="0"/>
                <a:cs typeface="Arial" panose="020B0604020202020204" pitchFamily="34" charset="0"/>
              </a:rPr>
              <a:t>F</a:t>
            </a:r>
            <a:r>
              <a:rPr lang="ru-RU" altLang="en-US" sz="2800" b="1" dirty="0">
                <a:solidFill>
                  <a:schemeClr val="tx2"/>
                </a:solidFill>
                <a:effectLst>
                  <a:outerShdw blurRad="63500" dist="38100" dir="5400000" algn="t" rotWithShape="0">
                    <a:prstClr val="black">
                      <a:alpha val="25000"/>
                    </a:prstClr>
                  </a:outerShdw>
                </a:effectLst>
                <a:latin typeface="Arial" panose="020B0604020202020204" pitchFamily="34" charset="0"/>
                <a:cs typeface="Arial" panose="020B0604020202020204" pitchFamily="34" charset="0"/>
              </a:rPr>
              <a:t>.CN</a:t>
            </a:r>
            <a:r>
              <a:rPr lang="en-US" altLang="en-US" sz="2800" b="1" dirty="0">
                <a:solidFill>
                  <a:schemeClr val="tx2"/>
                </a:solidFill>
                <a:effectLst>
                  <a:outerShdw blurRad="63500" dist="38100" dir="5400000" algn="t" rotWithShape="0">
                    <a:prstClr val="black">
                      <a:alpha val="25000"/>
                    </a:prstClr>
                  </a:outerShdw>
                </a:effectLst>
                <a:latin typeface="Arial" panose="020B0604020202020204" pitchFamily="34" charset="0"/>
                <a:cs typeface="Arial" panose="020B0604020202020204" pitchFamily="34" charset="0"/>
              </a:rPr>
              <a:t>104  </a:t>
            </a:r>
            <a:br>
              <a:rPr lang="en-US" altLang="en-US" sz="2800" b="1" dirty="0">
                <a:solidFill>
                  <a:schemeClr val="tx2"/>
                </a:solidFill>
                <a:effectLst>
                  <a:outerShdw blurRad="63500" dist="38100" dir="5400000" algn="t" rotWithShape="0">
                    <a:prstClr val="black">
                      <a:alpha val="25000"/>
                    </a:prstClr>
                  </a:outerShdw>
                </a:effectLst>
                <a:latin typeface="Arial" panose="020B0604020202020204" pitchFamily="34" charset="0"/>
                <a:cs typeface="Arial" panose="020B0604020202020204" pitchFamily="34" charset="0"/>
              </a:rPr>
            </a:br>
            <a:r>
              <a:rPr lang="en-US" altLang="en-US" sz="2800" b="1" dirty="0">
                <a:solidFill>
                  <a:schemeClr val="tx2"/>
                </a:solidFill>
                <a:effectLst>
                  <a:outerShdw blurRad="63500" dist="38100" dir="5400000" algn="t" rotWithShape="0">
                    <a:prstClr val="black">
                      <a:alpha val="25000"/>
                    </a:prstClr>
                  </a:outerShdw>
                </a:effectLst>
                <a:latin typeface="Arial" panose="020B0604020202020204" pitchFamily="34" charset="0"/>
                <a:cs typeface="Arial" panose="020B0604020202020204" pitchFamily="34" charset="0"/>
              </a:rPr>
              <a:t>Инженерийн эдийн засаг</a:t>
            </a:r>
            <a:br>
              <a:rPr lang="en-US" altLang="en-US" sz="2800" b="1" dirty="0">
                <a:solidFill>
                  <a:schemeClr val="tx2"/>
                </a:solidFill>
                <a:effectLst>
                  <a:outerShdw blurRad="63500" dist="38100" dir="5400000" algn="t" rotWithShape="0">
                    <a:prstClr val="black">
                      <a:alpha val="25000"/>
                    </a:prstClr>
                  </a:outerShdw>
                </a:effectLst>
                <a:latin typeface="Arial" panose="020B0604020202020204" pitchFamily="34" charset="0"/>
                <a:cs typeface="Arial" panose="020B0604020202020204" pitchFamily="34" charset="0"/>
              </a:rPr>
            </a:br>
            <a:r>
              <a:rPr lang="en-US" altLang="en-US" sz="2800" b="1" dirty="0">
                <a:solidFill>
                  <a:schemeClr val="tx2"/>
                </a:solidFill>
                <a:effectLst>
                  <a:outerShdw blurRad="63500" dist="38100" dir="5400000" algn="t" rotWithShape="0">
                    <a:prstClr val="black">
                      <a:alpha val="25000"/>
                    </a:prstClr>
                  </a:outerShdw>
                </a:effectLst>
                <a:latin typeface="Arial" panose="020B0604020202020204" pitchFamily="34" charset="0"/>
                <a:cs typeface="Arial" panose="020B0604020202020204" pitchFamily="34" charset="0"/>
              </a:rPr>
              <a:t>Engineering Economy</a:t>
            </a:r>
            <a:endParaRPr lang="en-US" altLang="en-US" sz="2800" b="1" dirty="0">
              <a:solidFill>
                <a:srgbClr val="00206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9CC73B9C-8601-4C97-A368-5C8122BF1745}" type="slidenum">
              <a:rPr lang="en-US" altLang="en-US" smtClean="0">
                <a:solidFill>
                  <a:srgbClr val="5FCBEF"/>
                </a:solidFill>
              </a:rPr>
              <a:t>1</a:t>
            </a:fld>
            <a:endParaRPr lang="en-US" altLang="en-US">
              <a:solidFill>
                <a:srgbClr val="5FCBEF"/>
              </a:solidFill>
            </a:endParaRPr>
          </a:p>
        </p:txBody>
      </p:sp>
      <p:pic>
        <p:nvPicPr>
          <p:cNvPr id="5" name="Picture 2" descr="Logo"/>
          <p:cNvPicPr>
            <a:picLocks noChangeAspect="1" noChangeArrowheads="1"/>
          </p:cNvPicPr>
          <p:nvPr/>
        </p:nvPicPr>
        <p:blipFill>
          <a:blip r:embed="rId3">
            <a:extLst>
              <a:ext uri="{28A0092B-C50C-407E-A947-70E740481C1C}">
                <a14:useLocalDpi xmlns:a14="http://schemas.microsoft.com/office/drawing/2010/main" val="0"/>
              </a:ext>
            </a:extLst>
          </a:blip>
          <a:srcRect r="86166"/>
          <a:stretch>
            <a:fillRect/>
          </a:stretch>
        </p:blipFill>
        <p:spPr bwMode="auto">
          <a:xfrm>
            <a:off x="10173953" y="61544"/>
            <a:ext cx="1444330" cy="213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ubtitle 2"/>
          <p:cNvSpPr txBox="1"/>
          <p:nvPr/>
        </p:nvSpPr>
        <p:spPr bwMode="auto">
          <a:xfrm>
            <a:off x="1927893" y="274537"/>
            <a:ext cx="8069180" cy="146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SzPct val="125000"/>
              <a:buFont typeface="Arial" panose="020B0604020202020204" pitchFamily="34" charset="0"/>
              <a:buChar char="•"/>
              <a:defRPr sz="2400">
                <a:solidFill>
                  <a:schemeClr val="tx1"/>
                </a:solidFill>
                <a:latin typeface="Tw Cen MT" panose="020B0602020104020603" pitchFamily="34" charset="0"/>
              </a:defRPr>
            </a:lvl1pPr>
            <a:lvl2pPr marL="685800" indent="-228600">
              <a:lnSpc>
                <a:spcPct val="120000"/>
              </a:lnSpc>
              <a:spcBef>
                <a:spcPts val="500"/>
              </a:spcBef>
              <a:buSzPct val="125000"/>
              <a:buFont typeface="Arial" panose="020B0604020202020204" pitchFamily="34" charset="0"/>
              <a:buChar char="•"/>
              <a:defRPr sz="2000">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buChar char="•"/>
              <a:defRPr>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9pPr>
          </a:lstStyle>
          <a:p>
            <a:pPr algn="ctr" fontAlgn="base">
              <a:lnSpc>
                <a:spcPct val="150000"/>
              </a:lnSpc>
              <a:spcBef>
                <a:spcPct val="0"/>
              </a:spcBef>
              <a:spcAft>
                <a:spcPct val="0"/>
              </a:spcAft>
              <a:buFont typeface="Arial" panose="020B0604020202020204" pitchFamily="34" charset="0"/>
              <a:buNone/>
            </a:pPr>
            <a:r>
              <a:rPr lang="en-US" altLang="en-US" sz="2800" b="1" dirty="0">
                <a:solidFill>
                  <a:srgbClr val="002060"/>
                </a:solidFill>
                <a:latin typeface="+mj-lt"/>
                <a:cs typeface="Times New Roman" panose="02020603050405020304" pitchFamily="18" charset="0"/>
              </a:rPr>
              <a:t>Шинжлэх ухаан технологийн их сургууль</a:t>
            </a:r>
          </a:p>
          <a:p>
            <a:pPr algn="ctr" fontAlgn="base">
              <a:lnSpc>
                <a:spcPct val="150000"/>
              </a:lnSpc>
              <a:spcBef>
                <a:spcPct val="0"/>
              </a:spcBef>
              <a:spcAft>
                <a:spcPct val="0"/>
              </a:spcAft>
              <a:buFont typeface="Arial" panose="020B0604020202020204" pitchFamily="34" charset="0"/>
              <a:buNone/>
            </a:pPr>
            <a:r>
              <a:rPr lang="en-US" altLang="en-US" sz="2800" b="1" dirty="0">
                <a:solidFill>
                  <a:srgbClr val="002060"/>
                </a:solidFill>
                <a:latin typeface="+mj-lt"/>
                <a:cs typeface="Times New Roman" panose="02020603050405020304" pitchFamily="18" charset="0"/>
              </a:rPr>
              <a:t>Мэдээлэл холбооны технологийн сургууль</a:t>
            </a:r>
          </a:p>
        </p:txBody>
      </p:sp>
      <p:sp>
        <p:nvSpPr>
          <p:cNvPr id="7" name="Subtitle 2"/>
          <p:cNvSpPr txBox="1"/>
          <p:nvPr/>
        </p:nvSpPr>
        <p:spPr>
          <a:xfrm>
            <a:off x="1751012" y="5763201"/>
            <a:ext cx="8689976" cy="625889"/>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120000"/>
              </a:lnSpc>
              <a:spcBef>
                <a:spcPts val="1000"/>
              </a:spcBef>
              <a:buClr>
                <a:schemeClr val="tx1"/>
              </a:buClr>
              <a:buFont typeface="Arial" panose="020B0604020202020204" pitchFamily="34" charset="0"/>
              <a:buNone/>
              <a:defRPr sz="2200" kern="1200" cap="all" baseline="0">
                <a:solidFill>
                  <a:schemeClr val="bg1">
                    <a:lumMod val="50000"/>
                  </a:schemeClr>
                </a:solidFill>
                <a:effectLst/>
                <a:latin typeface="+mn-lt"/>
                <a:ea typeface="+mn-ea"/>
                <a:cs typeface="+mn-cs"/>
              </a:defRPr>
            </a:lvl1pPr>
            <a:lvl2pPr marL="457200" indent="0" algn="ctr" defTabSz="914400" rtl="0" eaLnBrk="1" latinLnBrk="0" hangingPunct="1">
              <a:lnSpc>
                <a:spcPct val="120000"/>
              </a:lnSpc>
              <a:spcBef>
                <a:spcPts val="500"/>
              </a:spcBef>
              <a:buClr>
                <a:schemeClr val="tx1"/>
              </a:buClr>
              <a:buFont typeface="Arial" panose="020B0604020202020204" pitchFamily="34" charset="0"/>
              <a:buNone/>
              <a:defRPr sz="2000" kern="1200" cap="all"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tx1"/>
              </a:buClr>
              <a:buFont typeface="Arial" panose="020B0604020202020204" pitchFamily="34" charset="0"/>
              <a:buNone/>
              <a:defRPr sz="1800" kern="1200" cap="all" baseline="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9pPr>
          </a:lstStyle>
          <a:p>
            <a:r>
              <a:rPr lang="en-US" altLang="en-US" sz="2900" dirty="0">
                <a:solidFill>
                  <a:srgbClr val="002060"/>
                </a:solidFill>
                <a:latin typeface="Times New Roman" panose="02020603050405020304" pitchFamily="18" charset="0"/>
                <a:cs typeface="Times New Roman" panose="02020603050405020304" pitchFamily="18" charset="0"/>
              </a:rPr>
              <a:t>Холбооны салбарын ахлах багш, </a:t>
            </a:r>
            <a:r>
              <a:rPr lang="en-US" altLang="en-US" sz="2900" dirty="0" err="1">
                <a:solidFill>
                  <a:srgbClr val="002060"/>
                </a:solidFill>
                <a:latin typeface="Times New Roman" panose="02020603050405020304" pitchFamily="18" charset="0"/>
                <a:cs typeface="Times New Roman" panose="02020603050405020304" pitchFamily="18" charset="0"/>
              </a:rPr>
              <a:t>M.S</a:t>
            </a:r>
            <a:r>
              <a:rPr lang="en-US" altLang="en-US" sz="2900" cap="none" dirty="0" err="1">
                <a:solidFill>
                  <a:srgbClr val="002060"/>
                </a:solidFill>
                <a:latin typeface="Times New Roman" panose="02020603050405020304" pitchFamily="18" charset="0"/>
                <a:cs typeface="Times New Roman" panose="02020603050405020304" pitchFamily="18" charset="0"/>
              </a:rPr>
              <a:t>c</a:t>
            </a:r>
            <a:r>
              <a:rPr lang="en-US" altLang="en-US" sz="2900" cap="none" dirty="0">
                <a:solidFill>
                  <a:srgbClr val="002060"/>
                </a:solidFill>
                <a:latin typeface="Times New Roman" panose="02020603050405020304" pitchFamily="18" charset="0"/>
                <a:cs typeface="Times New Roman" panose="02020603050405020304" pitchFamily="18" charset="0"/>
              </a:rPr>
              <a:t> Ч.ОЮУ</a:t>
            </a:r>
            <a:endParaRPr lang="en-US" altLang="en-US" sz="2400" dirty="0">
              <a:solidFill>
                <a:srgbClr val="002060"/>
              </a:solidFill>
              <a:latin typeface="Times New Roman" panose="02020603050405020304" pitchFamily="18" charset="0"/>
              <a:cs typeface="Times New Roman" panose="02020603050405020304" pitchFamily="18" charset="0"/>
            </a:endParaRPr>
          </a:p>
          <a:p>
            <a:r>
              <a:rPr lang="en-US" altLang="en-US" sz="2400" dirty="0">
                <a:solidFill>
                  <a:srgbClr val="002060"/>
                </a:solidFill>
                <a:latin typeface="Times New Roman" panose="02020603050405020304" pitchFamily="18" charset="0"/>
                <a:cs typeface="Times New Roman" panose="02020603050405020304" pitchFamily="18" charset="0"/>
              </a:rPr>
              <a:t>Улаанбаатар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663" y="300790"/>
            <a:ext cx="9700560" cy="1503044"/>
          </a:xfrm>
        </p:spPr>
        <p:txBody>
          <a:bodyPr>
            <a:normAutofit/>
          </a:bodyPr>
          <a:lstStyle/>
          <a:p>
            <a:pPr>
              <a:defRPr/>
            </a:pPr>
            <a:r>
              <a:rPr lang="en-US" altLang="ko-KR" sz="2800" b="1" dirty="0">
                <a:solidFill>
                  <a:srgbClr val="0070C0"/>
                </a:solidFill>
                <a:ea typeface="Malgun Gothic" panose="020B0503020000020004" pitchFamily="34" charset="-127"/>
                <a:cs typeface="Times New Roman" panose="02020603050405020304" pitchFamily="18" charset="0"/>
              </a:rPr>
              <a:t>ХИЧЭЭЛИЙН СУРАЛЦАХУЙН ҮР ДҮНГҮҮД:</a:t>
            </a:r>
            <a:br>
              <a:rPr lang="en-US" altLang="ko-KR" sz="2800" dirty="0">
                <a:solidFill>
                  <a:srgbClr val="000000"/>
                </a:solidFill>
                <a:ea typeface="+mn-ea"/>
                <a:cs typeface="+mn-cs"/>
              </a:rPr>
            </a:br>
            <a:r>
              <a:rPr lang="en-US" altLang="ko-KR" sz="2000" b="1" cap="none" dirty="0">
                <a:solidFill>
                  <a:srgbClr val="000000"/>
                </a:solidFill>
                <a:ea typeface="Malgun Gothic" panose="020B0503020000020004" pitchFamily="34" charset="-127"/>
                <a:cs typeface="Times New Roman" panose="02020603050405020304" pitchFamily="18" charset="0"/>
              </a:rPr>
              <a:t>Оюутан энэ сэдвийг судалснаар дараах чадваруудтай болсон байна.</a:t>
            </a:r>
            <a:endParaRPr lang="en-US" dirty="0"/>
          </a:p>
        </p:txBody>
      </p:sp>
      <p:graphicFrame>
        <p:nvGraphicFramePr>
          <p:cNvPr id="4" name="Content Placeholder 3"/>
          <p:cNvGraphicFramePr>
            <a:graphicFrameLocks noGrp="1"/>
          </p:cNvGraphicFramePr>
          <p:nvPr>
            <p:ph sz="quarter" idx="13"/>
          </p:nvPr>
        </p:nvGraphicFramePr>
        <p:xfrm>
          <a:off x="564862" y="1904718"/>
          <a:ext cx="11117180" cy="4713660"/>
        </p:xfrm>
        <a:graphic>
          <a:graphicData uri="http://schemas.openxmlformats.org/drawingml/2006/table">
            <a:tbl>
              <a:tblPr firstRow="1" firstCol="1" bandRow="1"/>
              <a:tblGrid>
                <a:gridCol w="672465">
                  <a:extLst>
                    <a:ext uri="{9D8B030D-6E8A-4147-A177-3AD203B41FA5}">
                      <a16:colId xmlns:a16="http://schemas.microsoft.com/office/drawing/2014/main" val="20000"/>
                    </a:ext>
                  </a:extLst>
                </a:gridCol>
                <a:gridCol w="4533351">
                  <a:extLst>
                    <a:ext uri="{9D8B030D-6E8A-4147-A177-3AD203B41FA5}">
                      <a16:colId xmlns:a16="http://schemas.microsoft.com/office/drawing/2014/main" val="20001"/>
                    </a:ext>
                  </a:extLst>
                </a:gridCol>
                <a:gridCol w="2315461">
                  <a:extLst>
                    <a:ext uri="{9D8B030D-6E8A-4147-A177-3AD203B41FA5}">
                      <a16:colId xmlns:a16="http://schemas.microsoft.com/office/drawing/2014/main" val="20002"/>
                    </a:ext>
                  </a:extLst>
                </a:gridCol>
                <a:gridCol w="2242009">
                  <a:extLst>
                    <a:ext uri="{9D8B030D-6E8A-4147-A177-3AD203B41FA5}">
                      <a16:colId xmlns:a16="http://schemas.microsoft.com/office/drawing/2014/main" val="20003"/>
                    </a:ext>
                  </a:extLst>
                </a:gridCol>
                <a:gridCol w="1353894">
                  <a:extLst>
                    <a:ext uri="{9D8B030D-6E8A-4147-A177-3AD203B41FA5}">
                      <a16:colId xmlns:a16="http://schemas.microsoft.com/office/drawing/2014/main" val="20004"/>
                    </a:ext>
                  </a:extLst>
                </a:gridCol>
              </a:tblGrid>
              <a:tr h="955054">
                <a:tc>
                  <a:txBody>
                    <a:bodyPr/>
                    <a:lstStyle/>
                    <a:p>
                      <a:pPr algn="ctr">
                        <a:lnSpc>
                          <a:spcPct val="115000"/>
                        </a:lnSpc>
                        <a:spcAft>
                          <a:spcPts val="0"/>
                        </a:spcAft>
                      </a:pPr>
                      <a:r>
                        <a:rPr lang="en-US" sz="1800" b="1" dirty="0">
                          <a:solidFill>
                            <a:schemeClr val="tx1"/>
                          </a:solidFill>
                          <a:effectLst/>
                          <a:latin typeface="+mn-lt"/>
                          <a:ea typeface="Malgun Gothic" panose="020B0503020000020004" pitchFamily="34" charset="-127"/>
                          <a:cs typeface="Times New Roman" panose="02020603050405020304" pitchFamily="18" charset="0"/>
                        </a:rPr>
                        <a:t>д/д</a:t>
                      </a:r>
                      <a:endParaRPr lang="en-US" sz="1800" dirty="0">
                        <a:solidFill>
                          <a:schemeClr val="tx1"/>
                        </a:solidFill>
                        <a:effectLst/>
                        <a:latin typeface="+mn-lt"/>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b="1" dirty="0">
                          <a:solidFill>
                            <a:schemeClr val="tx1"/>
                          </a:solidFill>
                          <a:effectLst/>
                          <a:latin typeface="+mn-lt"/>
                          <a:ea typeface="Malgun Gothic" panose="020B0503020000020004" pitchFamily="34" charset="-127"/>
                          <a:cs typeface="Times New Roman" panose="02020603050405020304" pitchFamily="18" charset="0"/>
                        </a:rPr>
                        <a:t>Суралцахуйн үр дүнгүүд</a:t>
                      </a:r>
                      <a:endParaRPr lang="en-US" sz="1800" dirty="0">
                        <a:solidFill>
                          <a:schemeClr val="tx1"/>
                        </a:solidFill>
                        <a:effectLst/>
                        <a:latin typeface="+mn-lt"/>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b="1" dirty="0">
                          <a:solidFill>
                            <a:schemeClr val="tx1"/>
                          </a:solidFill>
                          <a:effectLst/>
                          <a:latin typeface="+mn-lt"/>
                          <a:ea typeface="Malgun Gothic" panose="020B0503020000020004" pitchFamily="34" charset="-127"/>
                          <a:cs typeface="Times New Roman" panose="02020603050405020304" pitchFamily="18" charset="0"/>
                        </a:rPr>
                        <a:t>Суралцахуйн үр дүнг илэрхийлэх үйл үг</a:t>
                      </a:r>
                      <a:endParaRPr lang="en-US" sz="1800" dirty="0">
                        <a:solidFill>
                          <a:schemeClr val="tx1"/>
                        </a:solidFill>
                        <a:effectLst/>
                        <a:latin typeface="+mn-lt"/>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b="1" dirty="0">
                          <a:solidFill>
                            <a:schemeClr val="tx1"/>
                          </a:solidFill>
                          <a:effectLst/>
                          <a:latin typeface="+mn-lt"/>
                          <a:ea typeface="Malgun Gothic" panose="020B0503020000020004" pitchFamily="34" charset="-127"/>
                          <a:cs typeface="Times New Roman" panose="02020603050405020304" pitchFamily="18" charset="0"/>
                        </a:rPr>
                        <a:t>Суралцахуйн үр дүнгийн түвшин</a:t>
                      </a:r>
                      <a:endParaRPr lang="en-US" sz="1800" dirty="0">
                        <a:solidFill>
                          <a:schemeClr val="tx1"/>
                        </a:solidFill>
                        <a:effectLst/>
                        <a:latin typeface="+mn-lt"/>
                        <a:ea typeface="Malgun Gothic" panose="020B0503020000020004" pitchFamily="34" charset="-127"/>
                        <a:cs typeface="Times New Roman" panose="02020603050405020304" pitchFamily="18" charset="0"/>
                      </a:endParaRPr>
                    </a:p>
                    <a:p>
                      <a:pPr algn="ctr">
                        <a:lnSpc>
                          <a:spcPct val="115000"/>
                        </a:lnSpc>
                        <a:spcAft>
                          <a:spcPts val="0"/>
                        </a:spcAft>
                      </a:pPr>
                      <a:r>
                        <a:rPr lang="en-US" sz="1800" b="1" dirty="0">
                          <a:solidFill>
                            <a:schemeClr val="tx1"/>
                          </a:solidFill>
                          <a:effectLst/>
                          <a:latin typeface="+mn-lt"/>
                          <a:ea typeface="Malgun Gothic" panose="020B0503020000020004" pitchFamily="34" charset="-127"/>
                          <a:cs typeface="Times New Roman" panose="02020603050405020304" pitchFamily="18" charset="0"/>
                        </a:rPr>
                        <a:t>(Блумын)</a:t>
                      </a:r>
                      <a:endParaRPr lang="en-US" sz="1800" dirty="0">
                        <a:solidFill>
                          <a:schemeClr val="tx1"/>
                        </a:solidFill>
                        <a:effectLst/>
                        <a:latin typeface="+mn-lt"/>
                        <a:ea typeface="Malgun Gothic" panose="020B0503020000020004" pitchFamily="34" charset="-127"/>
                        <a:cs typeface="Times New Roman" panose="02020603050405020304" pitchFamily="18" charset="0"/>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b="1">
                          <a:solidFill>
                            <a:schemeClr val="tx1"/>
                          </a:solidFill>
                          <a:effectLst/>
                          <a:latin typeface="+mn-lt"/>
                          <a:ea typeface="Malgun Gothic" panose="020B0503020000020004" pitchFamily="34" charset="-127"/>
                          <a:cs typeface="Times New Roman" panose="02020603050405020304" pitchFamily="18" charset="0"/>
                        </a:rPr>
                        <a:t>CLOs хамаарал</a:t>
                      </a:r>
                      <a:endParaRPr lang="en-US" sz="1800">
                        <a:solidFill>
                          <a:schemeClr val="tx1"/>
                        </a:solidFill>
                        <a:effectLst/>
                        <a:latin typeface="+mn-lt"/>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29829">
                <a:tc>
                  <a:txBody>
                    <a:bodyPr/>
                    <a:lstStyle/>
                    <a:p>
                      <a:pPr algn="ctr">
                        <a:lnSpc>
                          <a:spcPct val="115000"/>
                        </a:lnSpc>
                        <a:spcAft>
                          <a:spcPts val="0"/>
                        </a:spcAft>
                      </a:pPr>
                      <a:r>
                        <a:rPr lang="en-US" sz="1800">
                          <a:solidFill>
                            <a:schemeClr val="tx1"/>
                          </a:solidFill>
                          <a:effectLst/>
                          <a:latin typeface="+mn-lt"/>
                          <a:ea typeface="Malgun Gothic" panose="020B0503020000020004" pitchFamily="34" charset="-127"/>
                          <a:cs typeface="Times New Roman" panose="02020603050405020304" pitchFamily="18" charset="0"/>
                        </a:rPr>
                        <a:t>1</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Инженер</a:t>
                      </a:r>
                      <a:r>
                        <a:rPr lang="en-US" sz="1800" baseline="0" dirty="0">
                          <a:solidFill>
                            <a:schemeClr val="tx1"/>
                          </a:solidFill>
                          <a:effectLst/>
                          <a:latin typeface="+mn-lt"/>
                          <a:ea typeface="Malgun Gothic" panose="020B0503020000020004" pitchFamily="34" charset="-127"/>
                          <a:cs typeface="Times New Roman" panose="02020603050405020304" pitchFamily="18" charset="0"/>
                        </a:rPr>
                        <a:t> гэж хэн болохыг </a:t>
                      </a:r>
                      <a:r>
                        <a:rPr lang="en-US" sz="1800" dirty="0">
                          <a:solidFill>
                            <a:schemeClr val="tx1"/>
                          </a:solidFill>
                          <a:effectLst/>
                          <a:latin typeface="+mn-lt"/>
                          <a:ea typeface="Malgun Gothic" panose="020B0503020000020004" pitchFamily="34" charset="-127"/>
                          <a:cs typeface="Times New Roman" panose="02020603050405020304" pitchFamily="18" charset="0"/>
                        </a:rPr>
                        <a:t>мэдэж</a:t>
                      </a:r>
                      <a:r>
                        <a:rPr lang="en-US" sz="1800" baseline="0" dirty="0">
                          <a:solidFill>
                            <a:schemeClr val="tx1"/>
                          </a:solidFill>
                          <a:effectLst/>
                          <a:latin typeface="+mn-lt"/>
                          <a:ea typeface="Malgun Gothic" panose="020B0503020000020004" pitchFamily="34" charset="-127"/>
                          <a:cs typeface="Times New Roman" panose="02020603050405020304" pitchFamily="18" charset="0"/>
                        </a:rPr>
                        <a:t> авах</a:t>
                      </a:r>
                      <a:endParaRPr lang="en-US" sz="1800" dirty="0">
                        <a:solidFill>
                          <a:schemeClr val="tx1"/>
                        </a:solidFill>
                        <a:effectLst/>
                        <a:latin typeface="+mn-lt"/>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Тодорхойлох (Define)</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Ойлгох</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1</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9829">
                <a:tc>
                  <a:txBody>
                    <a:bodyPr/>
                    <a:lstStyle/>
                    <a:p>
                      <a:pPr algn="ctr">
                        <a:lnSpc>
                          <a:spcPct val="115000"/>
                        </a:lnSpc>
                        <a:spcAft>
                          <a:spcPts val="0"/>
                        </a:spcAft>
                      </a:pPr>
                      <a:r>
                        <a:rPr lang="en-US" sz="1800">
                          <a:solidFill>
                            <a:schemeClr val="tx1"/>
                          </a:solidFill>
                          <a:effectLst/>
                          <a:latin typeface="+mn-lt"/>
                          <a:ea typeface="Malgun Gothic" panose="020B0503020000020004" pitchFamily="34" charset="-127"/>
                          <a:cs typeface="Times New Roman" panose="02020603050405020304" pitchFamily="18" charset="0"/>
                        </a:rPr>
                        <a:t>2</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chemeClr val="tx1"/>
                          </a:solidFill>
                          <a:effectLst/>
                          <a:latin typeface="+mn-lt"/>
                          <a:ea typeface="Malgun Gothic" panose="020B0503020000020004" pitchFamily="34" charset="-127"/>
                          <a:cs typeface="Times New Roman" panose="02020603050405020304" pitchFamily="18" charset="0"/>
                        </a:rPr>
                        <a:t>Инженерчлэлийн </a:t>
                      </a:r>
                      <a:r>
                        <a:rPr lang="en-US" sz="1800" dirty="0">
                          <a:solidFill>
                            <a:schemeClr val="tx1"/>
                          </a:solidFill>
                          <a:effectLst/>
                          <a:latin typeface="+mn-lt"/>
                          <a:ea typeface="Malgun Gothic" panose="020B0503020000020004" pitchFamily="34" charset="-127"/>
                          <a:cs typeface="Times New Roman" panose="02020603050405020304" pitchFamily="18" charset="0"/>
                        </a:rPr>
                        <a:t>эдийн засгийн ерөнхий ухагдахууныг тайлбарлах</a:t>
                      </a: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Тайлбарлах</a:t>
                      </a:r>
                    </a:p>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(explain)</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Сэргээн санах</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1</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9829">
                <a:tc>
                  <a:txBody>
                    <a:bodyPr/>
                    <a:lstStyle/>
                    <a:p>
                      <a:pPr algn="ctr">
                        <a:lnSpc>
                          <a:spcPct val="115000"/>
                        </a:lnSpc>
                        <a:spcAft>
                          <a:spcPts val="0"/>
                        </a:spcAft>
                      </a:pPr>
                      <a:r>
                        <a:rPr lang="en-US" sz="1800">
                          <a:solidFill>
                            <a:schemeClr val="tx1"/>
                          </a:solidFill>
                          <a:effectLst/>
                          <a:latin typeface="+mn-lt"/>
                          <a:ea typeface="Malgun Gothic" panose="020B0503020000020004" pitchFamily="34" charset="-127"/>
                          <a:cs typeface="Times New Roman" panose="02020603050405020304" pitchFamily="18" charset="0"/>
                        </a:rPr>
                        <a:t>3</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Инженерчлэлийн </a:t>
                      </a:r>
                      <a:r>
                        <a:rPr lang="en-US" sz="1800" baseline="0" dirty="0">
                          <a:solidFill>
                            <a:schemeClr val="tx1"/>
                          </a:solidFill>
                          <a:effectLst/>
                          <a:latin typeface="+mn-lt"/>
                          <a:ea typeface="Malgun Gothic" panose="020B0503020000020004" pitchFamily="34" charset="-127"/>
                          <a:cs typeface="Times New Roman" panose="02020603050405020304" pitchFamily="18" charset="0"/>
                        </a:rPr>
                        <a:t>эдийн засгийн тухай үндсэн ойлголт, зарчмуудыг тайлбарлах</a:t>
                      </a:r>
                      <a:endParaRPr lang="en-US" sz="1800" dirty="0">
                        <a:solidFill>
                          <a:schemeClr val="tx1"/>
                        </a:solidFill>
                        <a:effectLst/>
                        <a:latin typeface="+mn-lt"/>
                        <a:ea typeface="Malgun Gothic" panose="020B0503020000020004" pitchFamily="34" charset="-127"/>
                        <a:cs typeface="Times New Roman" panose="02020603050405020304" pitchFamily="18" charset="0"/>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Тайлбарлах </a:t>
                      </a:r>
                    </a:p>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(explain)</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Ойлгох </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3</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49575">
                <a:tc>
                  <a:txBody>
                    <a:bodyPr/>
                    <a:lstStyle/>
                    <a:p>
                      <a:pPr algn="ctr">
                        <a:lnSpc>
                          <a:spcPct val="115000"/>
                        </a:lnSpc>
                        <a:spcAft>
                          <a:spcPts val="0"/>
                        </a:spcAft>
                      </a:pPr>
                      <a:r>
                        <a:rPr lang="en-US" sz="1800">
                          <a:solidFill>
                            <a:schemeClr val="tx1"/>
                          </a:solidFill>
                          <a:effectLst/>
                          <a:latin typeface="+mn-lt"/>
                          <a:ea typeface="Malgun Gothic" panose="020B0503020000020004" pitchFamily="34" charset="-127"/>
                          <a:cs typeface="Times New Roman" panose="02020603050405020304" pitchFamily="18" charset="0"/>
                        </a:rPr>
                        <a:t>4</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Инженерчлэлийн эдийн</a:t>
                      </a:r>
                      <a:r>
                        <a:rPr lang="en-US" sz="1800" baseline="0" dirty="0">
                          <a:solidFill>
                            <a:schemeClr val="tx1"/>
                          </a:solidFill>
                          <a:effectLst/>
                          <a:latin typeface="+mn-lt"/>
                          <a:ea typeface="Malgun Gothic" panose="020B0503020000020004" pitchFamily="34" charset="-127"/>
                          <a:cs typeface="Times New Roman" panose="02020603050405020304" pitchFamily="18" charset="0"/>
                        </a:rPr>
                        <a:t> засгийн дүн шинжилгээний үе шатууд, тэдгээрийг хэрэглэх тухай асуудлуудыг шийдэх</a:t>
                      </a:r>
                      <a:endParaRPr lang="en-US" sz="1800" dirty="0">
                        <a:solidFill>
                          <a:schemeClr val="tx1"/>
                        </a:solidFill>
                        <a:effectLst/>
                        <a:latin typeface="+mn-lt"/>
                        <a:ea typeface="Malgun Gothic" panose="020B0503020000020004" pitchFamily="34" charset="-127"/>
                        <a:cs typeface="Times New Roman" panose="02020603050405020304" pitchFamily="18" charset="0"/>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Тооцоолох </a:t>
                      </a:r>
                    </a:p>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(compute)</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Хэрэглэх </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3</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50450">
                <a:tc>
                  <a:txBody>
                    <a:bodyPr/>
                    <a:lstStyle/>
                    <a:p>
                      <a:pPr algn="ctr">
                        <a:lnSpc>
                          <a:spcPct val="115000"/>
                        </a:lnSpc>
                        <a:spcAft>
                          <a:spcPts val="0"/>
                        </a:spcAft>
                      </a:pPr>
                      <a:r>
                        <a:rPr lang="en-US" sz="1800">
                          <a:solidFill>
                            <a:schemeClr val="tx1"/>
                          </a:solidFill>
                          <a:effectLst/>
                          <a:latin typeface="+mn-lt"/>
                          <a:ea typeface="Malgun Gothic" panose="020B0503020000020004" pitchFamily="34" charset="-127"/>
                          <a:cs typeface="Times New Roman" panose="02020603050405020304" pitchFamily="18" charset="0"/>
                        </a:rPr>
                        <a:t>5</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Инженерчлэлийн </a:t>
                      </a:r>
                      <a:r>
                        <a:rPr lang="en-US" sz="1800" baseline="0" dirty="0">
                          <a:solidFill>
                            <a:schemeClr val="tx1"/>
                          </a:solidFill>
                          <a:effectLst/>
                          <a:latin typeface="+mn-lt"/>
                          <a:ea typeface="Malgun Gothic" panose="020B0503020000020004" pitchFamily="34" charset="-127"/>
                          <a:cs typeface="Times New Roman" panose="02020603050405020304" pitchFamily="18" charset="0"/>
                        </a:rPr>
                        <a:t>эдийн засгийн асуудалд дүн шинжилгээ хийж хувилбаруудыг харьцуулах</a:t>
                      </a:r>
                      <a:endParaRPr lang="en-US" sz="1800" dirty="0">
                        <a:solidFill>
                          <a:schemeClr val="tx1"/>
                        </a:solidFill>
                        <a:effectLst/>
                        <a:latin typeface="+mn-lt"/>
                        <a:ea typeface="Malgun Gothic" panose="020B0503020000020004" pitchFamily="34" charset="-127"/>
                        <a:cs typeface="Times New Roman" panose="02020603050405020304" pitchFamily="18" charset="0"/>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Харьцуулах  (compare)</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Шинжлэх </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mn-lt"/>
                          <a:ea typeface="Malgun Gothic" panose="020B0503020000020004" pitchFamily="34" charset="-127"/>
                          <a:cs typeface="Times New Roman" panose="02020603050405020304" pitchFamily="18" charset="0"/>
                        </a:rPr>
                        <a:t>3</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pPr>
              <a:defRPr/>
            </a:pPr>
            <a:fld id="{A65E8343-3605-4CE2-AB97-E196D52989FF}" type="slidenum">
              <a:rPr lang="en-US" altLang="en-US" smtClean="0">
                <a:solidFill>
                  <a:srgbClr val="5FCBEF"/>
                </a:solidFill>
              </a:rPr>
              <a:t>2</a:t>
            </a:fld>
            <a:endParaRPr lang="en-US" altLang="en-US">
              <a:solidFill>
                <a:srgbClr val="5FCBE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latin typeface="Times New Roman" panose="02020603050405020304" pitchFamily="18" charset="0"/>
                <a:ea typeface="Malgun Gothic" panose="020B0503020000020004" pitchFamily="34" charset="-127"/>
                <a:cs typeface="Times New Roman" panose="02020603050405020304" pitchFamily="18" charset="0"/>
              </a:rPr>
              <a:t>ХИЧЭЭЛД ХЭРЭГЛЭГДЭХ МЭРГЭЖЛИЙН НЭР ТОМЬЁОНУУД:</a:t>
            </a:r>
            <a:endParaRPr lang="en-US" dirty="0"/>
          </a:p>
        </p:txBody>
      </p:sp>
      <p:sp>
        <p:nvSpPr>
          <p:cNvPr id="3" name="Content Placeholder 2"/>
          <p:cNvSpPr>
            <a:spLocks noGrp="1"/>
          </p:cNvSpPr>
          <p:nvPr>
            <p:ph sz="quarter" idx="13"/>
          </p:nvPr>
        </p:nvSpPr>
        <p:spPr>
          <a:xfrm>
            <a:off x="913774" y="2367092"/>
            <a:ext cx="10363826" cy="4149618"/>
          </a:xfrm>
        </p:spPr>
        <p:txBody>
          <a:bodyPr>
            <a:normAutofit/>
          </a:bodyPr>
          <a:lstStyle/>
          <a:p>
            <a:pPr>
              <a:spcBef>
                <a:spcPts val="0"/>
              </a:spcBef>
              <a:spcAft>
                <a:spcPts val="1000"/>
              </a:spcAft>
            </a:pPr>
            <a:r>
              <a:rPr lang="en-US" dirty="0">
                <a:latin typeface="Times New Roman" panose="02020603050405020304" pitchFamily="18" charset="0"/>
                <a:ea typeface="Malgun Gothic" panose="020B0503020000020004" pitchFamily="34" charset="-127"/>
                <a:cs typeface="Times New Roman" panose="02020603050405020304" pitchFamily="18" charset="0"/>
              </a:rPr>
              <a:t>Engineer – инженер</a:t>
            </a:r>
          </a:p>
          <a:p>
            <a:pPr>
              <a:spcBef>
                <a:spcPts val="0"/>
              </a:spcBef>
              <a:spcAft>
                <a:spcPts val="1000"/>
              </a:spcAft>
            </a:pPr>
            <a:r>
              <a:rPr lang="en-US" dirty="0">
                <a:latin typeface="Times New Roman" panose="02020603050405020304" pitchFamily="18" charset="0"/>
                <a:ea typeface="Malgun Gothic" panose="020B0503020000020004" pitchFamily="34" charset="-127"/>
                <a:cs typeface="Times New Roman" panose="02020603050405020304" pitchFamily="18" charset="0"/>
              </a:rPr>
              <a:t>Engineering – инженерчлэл, тооцоолол</a:t>
            </a:r>
          </a:p>
          <a:p>
            <a:pPr>
              <a:spcBef>
                <a:spcPts val="0"/>
              </a:spcBef>
              <a:spcAft>
                <a:spcPts val="1000"/>
              </a:spcAft>
            </a:pPr>
            <a:r>
              <a:rPr lang="en-US" dirty="0">
                <a:latin typeface="Times New Roman" panose="02020603050405020304" pitchFamily="18" charset="0"/>
                <a:ea typeface="Malgun Gothic" panose="020B0503020000020004" pitchFamily="34" charset="-127"/>
                <a:cs typeface="Times New Roman" panose="02020603050405020304" pitchFamily="18" charset="0"/>
              </a:rPr>
              <a:t>Engineering economy – инженерчлэлийн эдийн засаг</a:t>
            </a:r>
          </a:p>
          <a:p>
            <a:pPr>
              <a:spcBef>
                <a:spcPts val="0"/>
              </a:spcBef>
              <a:spcAft>
                <a:spcPts val="1000"/>
              </a:spcAft>
            </a:pPr>
            <a:r>
              <a:rPr lang="en-US" dirty="0">
                <a:latin typeface="Times New Roman" panose="02020603050405020304" pitchFamily="18" charset="0"/>
                <a:ea typeface="Malgun Gothic" panose="020B0503020000020004" pitchFamily="34" charset="-127"/>
                <a:cs typeface="Times New Roman" panose="02020603050405020304" pitchFamily="18" charset="0"/>
              </a:rPr>
              <a:t>инженерчлэлийн эдийн засгийн зарчим – инженерчлэлийн эдийн засгийн асуудлыг шийдэхэд авч үзэх шаардлагатай үйл ажиллагаа, үйл явц. Долоон зарчим байдаг.</a:t>
            </a:r>
          </a:p>
          <a:p>
            <a:pPr>
              <a:spcBef>
                <a:spcPts val="0"/>
              </a:spcBef>
              <a:spcAft>
                <a:spcPts val="1000"/>
              </a:spcAft>
            </a:pPr>
            <a:r>
              <a:rPr lang="en-US" dirty="0">
                <a:latin typeface="Times New Roman" panose="02020603050405020304" pitchFamily="18" charset="0"/>
                <a:ea typeface="Malgun Gothic" panose="020B0503020000020004" pitchFamily="34" charset="-127"/>
                <a:cs typeface="Times New Roman" panose="02020603050405020304" pitchFamily="18" charset="0"/>
              </a:rPr>
              <a:t>инженерчлэлийн үйл ажиллагааны дүн шинжилгээ - инженерчлэлийн эдийн засгийн асуудал,  төсөл  хийх үе шатуудыг тодорхойлох, шинжлэх үйл ажиллагаа.</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3</a:t>
            </a:fld>
            <a:endParaRPr lang="en-US" altLang="en-US">
              <a:solidFill>
                <a:srgbClr val="5FCBE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Хичээлийн АГУУЛГА</a:t>
            </a:r>
          </a:p>
        </p:txBody>
      </p:sp>
      <p:sp>
        <p:nvSpPr>
          <p:cNvPr id="3" name="Content Placeholder 2"/>
          <p:cNvSpPr>
            <a:spLocks noGrp="1"/>
          </p:cNvSpPr>
          <p:nvPr>
            <p:ph sz="quarter" idx="13"/>
          </p:nvPr>
        </p:nvSpPr>
        <p:spPr/>
        <p:txBody>
          <a:bodyPr>
            <a:normAutofit/>
          </a:bodyPr>
          <a:lstStyle/>
          <a:p>
            <a:r>
              <a:rPr lang="en-US" dirty="0"/>
              <a:t>1.1. Инженер ба инженерчлэлийн эдийн засаг</a:t>
            </a:r>
          </a:p>
          <a:p>
            <a:r>
              <a:rPr lang="en-US" dirty="0"/>
              <a:t>1.2. инженерчлэлийн эдийн засгийн зарчмууд</a:t>
            </a:r>
          </a:p>
          <a:p>
            <a:r>
              <a:rPr lang="en-US" dirty="0"/>
              <a:t>1.3. инженерчлэлийн эдийн засгийн дүн шинжилгээний үйл явц</a:t>
            </a:r>
            <a:br>
              <a:rPr lang="en-US" dirty="0"/>
            </a:b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4</a:t>
            </a:fld>
            <a:endParaRPr lang="en-US" altLang="en-US">
              <a:solidFill>
                <a:srgbClr val="5FCBE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olidFill>
                  <a:srgbClr val="00B0F0"/>
                </a:solidFill>
                <a:latin typeface="Times New Roman" panose="02020603050405020304" pitchFamily="18" charset="0"/>
                <a:cs typeface="Times New Roman" panose="02020603050405020304" pitchFamily="18" charset="0"/>
              </a:rPr>
              <a:t>1.1. Инженер гэж хэн бэ? (1)</a:t>
            </a:r>
            <a:endParaRPr lang="en-US" dirty="0"/>
          </a:p>
        </p:txBody>
      </p:sp>
      <p:sp>
        <p:nvSpPr>
          <p:cNvPr id="3" name="Content Placeholder 2"/>
          <p:cNvSpPr>
            <a:spLocks noGrp="1"/>
          </p:cNvSpPr>
          <p:nvPr>
            <p:ph sz="quarter" idx="13"/>
          </p:nvPr>
        </p:nvSpPr>
        <p:spPr>
          <a:xfrm>
            <a:off x="913774" y="2367092"/>
            <a:ext cx="10363826" cy="4278407"/>
          </a:xfrm>
        </p:spPr>
        <p:txBody>
          <a:bodyPr>
            <a:noAutofit/>
          </a:bodyPr>
          <a:lstStyle/>
          <a:p>
            <a:r>
              <a:rPr lang="en-US" altLang="en-US" sz="2400" b="1" dirty="0">
                <a:latin typeface="Times New Roman Mon" panose="02020500000000000000" pitchFamily="18" charset="0"/>
                <a:cs typeface="Times New Roman" panose="02020603050405020304" pitchFamily="18" charset="0"/>
              </a:rPr>
              <a:t>Инженер </a:t>
            </a:r>
            <a:r>
              <a:rPr lang="en-US" altLang="en-US" sz="2400" b="1"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Техникийн аль нэг салбараар дээд боловсрол эзэмшсэн </a:t>
            </a:r>
            <a:r>
              <a:rPr lang="en-US" altLang="en-US" sz="2400" b="1" dirty="0">
                <a:latin typeface="Times New Roman" panose="02020603050405020304" pitchFamily="18" charset="0"/>
                <a:cs typeface="Times New Roman" panose="02020603050405020304" pitchFamily="18" charset="0"/>
              </a:rPr>
              <a:t>мэргэжилтэн.</a:t>
            </a:r>
          </a:p>
          <a:p>
            <a:r>
              <a:rPr lang="en-US" altLang="en-US" sz="2200" dirty="0">
                <a:latin typeface="Times New Roman" panose="02020603050405020304" pitchFamily="18" charset="0"/>
                <a:cs typeface="Times New Roman" panose="02020603050405020304" pitchFamily="18" charset="0"/>
              </a:rPr>
              <a:t>Инженер хүнийг товч тодорхойлбол: </a:t>
            </a:r>
            <a:r>
              <a:rPr lang="en-US" altLang="en-US" sz="2200" b="1" dirty="0">
                <a:latin typeface="Times New Roman" panose="02020603050405020304" pitchFamily="18" charset="0"/>
                <a:cs typeface="Times New Roman" panose="02020603050405020304" pitchFamily="18" charset="0"/>
              </a:rPr>
              <a:t>“Асуудлыг шийдэгч” </a:t>
            </a:r>
            <a:r>
              <a:rPr lang="en-US" altLang="en-US" sz="2200" dirty="0">
                <a:latin typeface="Times New Roman" panose="02020603050405020304" pitchFamily="18" charset="0"/>
                <a:cs typeface="Times New Roman" panose="02020603050405020304" pitchFamily="18" charset="0"/>
              </a:rPr>
              <a:t>юм</a:t>
            </a:r>
            <a:endParaRPr lang="en-US" altLang="en-US" sz="22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Асуудал бүр олон янзын шийдэлтэй байдаг. Эдгээр олон шийдлүүд дундаас эдийн засгийн хамгийн үр өгөөжтэй, үр дүнд хүргэх оновчтой шийдлийг хэрхэн сонгох вэ?</a:t>
            </a:r>
          </a:p>
          <a:p>
            <a:pPr lvl="1"/>
            <a:r>
              <a:rPr lang="en-US" sz="2000" dirty="0">
                <a:latin typeface="Times New Roman" panose="02020603050405020304" pitchFamily="18" charset="0"/>
                <a:cs typeface="Times New Roman" panose="02020603050405020304" pitchFamily="18" charset="0"/>
              </a:rPr>
              <a:t>Энэ асуултад “</a:t>
            </a:r>
            <a:r>
              <a:rPr lang="en-US" sz="2000" dirty="0">
                <a:latin typeface="Times New Roman" panose="02020603050405020304" pitchFamily="18" charset="0"/>
                <a:ea typeface="Malgun Gothic" panose="020B0503020000020004" pitchFamily="34" charset="-127"/>
                <a:cs typeface="Times New Roman" panose="02020603050405020304" pitchFamily="18" charset="0"/>
              </a:rPr>
              <a:t>инженерчлэлийн </a:t>
            </a:r>
            <a:r>
              <a:rPr lang="en-US" sz="2000" dirty="0">
                <a:latin typeface="Times New Roman" panose="02020603050405020304" pitchFamily="18" charset="0"/>
                <a:cs typeface="Times New Roman" panose="02020603050405020304" pitchFamily="18" charset="0"/>
              </a:rPr>
              <a:t>эдийн засаг”-ийн мэдлэг хариулт</a:t>
            </a:r>
            <a:r>
              <a:rPr lang="en-US" altLang="en-US" sz="2000" dirty="0">
                <a:latin typeface="Times New Roman" panose="02020603050405020304" pitchFamily="18" charset="0"/>
                <a:cs typeface="Times New Roman" panose="02020603050405020304" pitchFamily="18" charset="0"/>
              </a:rPr>
              <a:t> өгнө</a:t>
            </a:r>
            <a:endParaRPr lang="en-US" sz="2000"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5</a:t>
            </a:fld>
            <a:endParaRPr lang="en-US" altLang="en-US">
              <a:solidFill>
                <a:srgbClr val="5FCBE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olidFill>
                  <a:srgbClr val="00B0F0"/>
                </a:solidFill>
                <a:latin typeface="Times New Roman" panose="02020603050405020304" pitchFamily="18" charset="0"/>
                <a:cs typeface="Times New Roman" panose="02020603050405020304" pitchFamily="18" charset="0"/>
              </a:rPr>
              <a:t>1.1. Инженер гэж хэн бэ? (2)</a:t>
            </a:r>
            <a:endParaRPr lang="en-US" dirty="0"/>
          </a:p>
        </p:txBody>
      </p:sp>
      <p:sp>
        <p:nvSpPr>
          <p:cNvPr id="3" name="Content Placeholder 2"/>
          <p:cNvSpPr>
            <a:spLocks noGrp="1"/>
          </p:cNvSpPr>
          <p:nvPr>
            <p:ph sz="quarter" idx="13"/>
          </p:nvPr>
        </p:nvSpPr>
        <p:spPr>
          <a:xfrm>
            <a:off x="913774" y="2367092"/>
            <a:ext cx="10561302" cy="4329922"/>
          </a:xfrm>
        </p:spPr>
        <p:txBody>
          <a:bodyPr>
            <a:noAutofit/>
          </a:bodyPr>
          <a:lstStyle/>
          <a:p>
            <a:r>
              <a:rPr lang="en-US" b="1" i="1" dirty="0">
                <a:latin typeface="Times New Roman" panose="02020603050405020304" pitchFamily="18" charset="0"/>
                <a:ea typeface="Times New Roman" panose="02020603050405020304" pitchFamily="18" charset="0"/>
              </a:rPr>
              <a:t>“Инженер (инженерчлэл) </a:t>
            </a:r>
            <a:r>
              <a:rPr lang="en-US" i="1" dirty="0">
                <a:latin typeface="Times New Roman" panose="02020603050405020304" pitchFamily="18" charset="0"/>
                <a:ea typeface="Times New Roman" panose="02020603050405020304" pitchFamily="18" charset="0"/>
              </a:rPr>
              <a:t>гэдэг нь </a:t>
            </a:r>
            <a:r>
              <a:rPr lang="en-US" b="1" i="1" dirty="0">
                <a:latin typeface="Times New Roman" panose="02020603050405020304" pitchFamily="18" charset="0"/>
                <a:ea typeface="Times New Roman" panose="02020603050405020304" pitchFamily="18" charset="0"/>
              </a:rPr>
              <a:t>судалгаа, туршилт, практикаар олж авсан математикийн болон байгалийн шинжлэх ухааны мэдлэгийг байгалийн нөөц баялаг болон хүний хөдөлмөрийг хүн төрөлхтний тусын тулд </a:t>
            </a:r>
            <a:r>
              <a:rPr lang="en-US" b="1" i="1" u="sng" dirty="0">
                <a:latin typeface="Times New Roman" panose="02020603050405020304" pitchFamily="18" charset="0"/>
                <a:ea typeface="Times New Roman" panose="02020603050405020304" pitchFamily="18" charset="0"/>
              </a:rPr>
              <a:t>хэмнэлттэйгээр ашиглан бүтээгдэхүүн хөгжүүлэхэд</a:t>
            </a:r>
            <a:r>
              <a:rPr lang="en-US" b="1" i="1" dirty="0">
                <a:latin typeface="Times New Roman" panose="02020603050405020304" pitchFamily="18" charset="0"/>
                <a:ea typeface="Times New Roman" panose="02020603050405020304" pitchFamily="18" charset="0"/>
              </a:rPr>
              <a:t> ашигладаг мэргэжил юм” </a:t>
            </a:r>
            <a:r>
              <a:rPr lang="en-US" dirty="0">
                <a:latin typeface="Times New Roman" panose="02020603050405020304" pitchFamily="18" charset="0"/>
                <a:ea typeface="Times New Roman" panose="02020603050405020304" pitchFamily="18" charset="0"/>
              </a:rPr>
              <a:t>гэж Инженер, Технологийн магадлан итгэмжлэлийн зөвлөлөөс тодорхойлсон байдаг.</a:t>
            </a:r>
          </a:p>
          <a:p>
            <a:r>
              <a:rPr lang="en-US" dirty="0">
                <a:latin typeface="Times New Roman" panose="02020603050405020304" pitchFamily="18" charset="0"/>
                <a:cs typeface="Times New Roman" panose="02020603050405020304" pitchFamily="18" charset="0"/>
              </a:rPr>
              <a:t>Өөрөөр хэлбэл, инженерүүд бүтээгдэхүүнийг хэмнэлттэй, үр ашигтай хийх шинэ арга замыг олохын тулд өөрийн мэдлэгийг ашиглана гэсэн үг.</a:t>
            </a:r>
            <a:endParaRPr lang="en-US" dirty="0">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6</a:t>
            </a:fld>
            <a:endParaRPr lang="en-US" altLang="en-US">
              <a:solidFill>
                <a:srgbClr val="5FCBE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Times New Roman" panose="02020603050405020304" pitchFamily="18" charset="0"/>
                <a:cs typeface="Times New Roman" panose="02020603050405020304" pitchFamily="18" charset="0"/>
              </a:rPr>
              <a:t>инженерчлэлийн эдийн засаг (1)</a:t>
            </a:r>
            <a:endParaRPr lang="en-US" dirty="0"/>
          </a:p>
        </p:txBody>
      </p:sp>
      <p:sp>
        <p:nvSpPr>
          <p:cNvPr id="3" name="Content Placeholder 2"/>
          <p:cNvSpPr>
            <a:spLocks noGrp="1"/>
          </p:cNvSpPr>
          <p:nvPr>
            <p:ph sz="quarter" idx="13"/>
          </p:nvPr>
        </p:nvSpPr>
        <p:spPr>
          <a:xfrm>
            <a:off x="913774" y="1931832"/>
            <a:ext cx="10363826" cy="4610636"/>
          </a:xfrm>
        </p:spPr>
        <p:txBody>
          <a:bodyPr>
            <a:normAutofit/>
          </a:bodyPr>
          <a:lstStyle/>
          <a:p>
            <a:r>
              <a:rPr lang="en-US" b="1" i="1" dirty="0">
                <a:latin typeface="Times New Roman" panose="02020603050405020304" pitchFamily="18" charset="0"/>
                <a:ea typeface="Times New Roman" panose="02020603050405020304" pitchFamily="18" charset="0"/>
                <a:cs typeface="Times New Roman" panose="02020603050405020304" pitchFamily="18" charset="0"/>
              </a:rPr>
              <a:t>инженерчлэлийн эдийн засаг нь өрсөлдөж байгаа олон зохиомж, шийдлүүдэд эдийн засгийн талаас нь үнэлгээ өгөх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системийн</a:t>
            </a:r>
            <a:r>
              <a:rPr lang="en-US" b="1" i="1" dirty="0">
                <a:latin typeface="Times New Roman" panose="02020603050405020304" pitchFamily="18" charset="0"/>
                <a:ea typeface="Times New Roman" panose="02020603050405020304" pitchFamily="18" charset="0"/>
                <a:cs typeface="Times New Roman" panose="02020603050405020304" pitchFamily="18" charset="0"/>
              </a:rPr>
              <a:t> суурь мэдлэг олгох үүрэгтэй.</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инженерүүдэд өөрийн хийж бүтээсэн дизайн, шийдэл, бүтээлүүдийнхээ эдийн засгийн үр ашиг, нөлөөг тооцоолох, зөвлөмж гаргахад инженерчлэлийн эдийн засгийн мэдлэг хэрэг болно.</a:t>
            </a:r>
          </a:p>
          <a:p>
            <a:r>
              <a:rPr lang="en-US" b="1" i="1" dirty="0">
                <a:latin typeface="Times New Roman" panose="02020603050405020304" pitchFamily="18" charset="0"/>
                <a:ea typeface="Times New Roman" panose="02020603050405020304" pitchFamily="18" charset="0"/>
                <a:cs typeface="Times New Roman" panose="02020603050405020304" pitchFamily="18" charset="0"/>
              </a:rPr>
              <a:t>Ямар ч техникийн төсөл, шийдлүүд биетээр (</a:t>
            </a:r>
            <a:r>
              <a:rPr lang="en-US" b="1" i="1" cap="none" dirty="0">
                <a:latin typeface="Times New Roman" panose="02020603050405020304" pitchFamily="18" charset="0"/>
                <a:ea typeface="Times New Roman" panose="02020603050405020304" pitchFamily="18" charset="0"/>
                <a:cs typeface="Times New Roman" panose="02020603050405020304" pitchFamily="18" charset="0"/>
              </a:rPr>
              <a:t>бодитойгоор</a:t>
            </a:r>
            <a:r>
              <a:rPr lang="en-US" b="1" i="1" dirty="0">
                <a:latin typeface="Times New Roman" panose="02020603050405020304" pitchFamily="18" charset="0"/>
                <a:ea typeface="Times New Roman" panose="02020603050405020304" pitchFamily="18" charset="0"/>
                <a:cs typeface="Times New Roman" panose="02020603050405020304" pitchFamily="18" charset="0"/>
              </a:rPr>
              <a:t>) хийж бүтээх боломжтой байхаас гадна эдийн засгийн хувьд мөн хийж бүтээх боломжтой байх ёстой.</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Ямар ч сайхан санаа, шийдэл, төсөл нь эдийн засгийн хувьд ашигтай биш л бол хэрэгжих боломжгүй байдаг!!!</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7</a:t>
            </a:fld>
            <a:endParaRPr lang="en-US" altLang="en-US">
              <a:solidFill>
                <a:srgbClr val="5FCBE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Times New Roman" panose="02020603050405020304" pitchFamily="18" charset="0"/>
                <a:cs typeface="Times New Roman" panose="02020603050405020304" pitchFamily="18" charset="0"/>
              </a:rPr>
              <a:t>инженерчлэлийн эдийн засаг (2)</a:t>
            </a:r>
            <a:endParaRPr lang="en-US" dirty="0"/>
          </a:p>
        </p:txBody>
      </p:sp>
      <p:sp>
        <p:nvSpPr>
          <p:cNvPr id="3" name="Content Placeholder 2"/>
          <p:cNvSpPr>
            <a:spLocks noGrp="1"/>
          </p:cNvSpPr>
          <p:nvPr>
            <p:ph sz="quarter" idx="13"/>
          </p:nvPr>
        </p:nvSpPr>
        <p:spPr>
          <a:xfrm>
            <a:off x="913774" y="2073500"/>
            <a:ext cx="10363826" cy="4314422"/>
          </a:xfrm>
        </p:spPr>
        <p:txBody>
          <a:bodyPr>
            <a:normAutofit fontScale="92500" lnSpcReduction="10000"/>
          </a:bodyPr>
          <a:lstStyle/>
          <a:p>
            <a:r>
              <a:rPr lang="en-US" b="1" i="1" dirty="0">
                <a:latin typeface="Times New Roman" panose="02020603050405020304" pitchFamily="18" charset="0"/>
                <a:ea typeface="Times New Roman" panose="02020603050405020304" pitchFamily="18" charset="0"/>
                <a:cs typeface="Times New Roman" panose="02020603050405020304" pitchFamily="18" charset="0"/>
              </a:rPr>
              <a:t>инженерчлэлийн эдийн засаг (ИЭЗ) гэдэг нь инженерчлэлийн асуудлын санал болгосон шийдлүүдийн эдийн засгийн давуу талуудыг системтэйгээр үнэлэх арга зүй юм.</a:t>
            </a:r>
          </a:p>
          <a:p>
            <a:r>
              <a:rPr lang="en-US" b="1" i="1" dirty="0">
                <a:latin typeface="Times New Roman" panose="02020603050405020304" pitchFamily="18" charset="0"/>
                <a:ea typeface="Times New Roman" panose="02020603050405020304" pitchFamily="18" charset="0"/>
              </a:rPr>
              <a:t>ИЭЗ бол ямарваа нэг техникийн шийдлийн мөнгөний тал</a:t>
            </a:r>
            <a:r>
              <a:rPr lang="en-US" dirty="0">
                <a:latin typeface="Times New Roman" panose="02020603050405020304" pitchFamily="18" charset="0"/>
                <a:ea typeface="Times New Roman" panose="02020603050405020304" pitchFamily="18" charset="0"/>
              </a:rPr>
              <a:t> </a:t>
            </a:r>
            <a:r>
              <a:rPr lang="en-US" b="1" i="1" dirty="0">
                <a:latin typeface="Times New Roman" panose="02020603050405020304" pitchFamily="18" charset="0"/>
                <a:ea typeface="Times New Roman" panose="02020603050405020304" pitchFamily="18" charset="0"/>
              </a:rPr>
              <a:t>юм.</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Эдийн засгийн хувьд боломжтой (ө.х, хүртээмжтэй) техникийн шийдэл нь урт хугацаанд зардал ба орлогын эерэг баланс (ашиг)-ыг хангаж байхаас гадна:</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Байгууллагын амьдрах хугацааг уртасгах (сайн сайхан ирээдүйтэй байх);</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Бүтээлч, шинэлэг технологийг нэвтрүүлэх; </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Хүрсэн үр дүнгээ хянаж, баталгаажуулах;</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Бодитой, зохистой арга хэмжээнүүдийг хэрэгжүүлэх замаар ашгийг хамгийн их түвшинд хүргэх боломжтой байх ёстой. </a:t>
            </a:r>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8</a:t>
            </a:fld>
            <a:endParaRPr lang="en-US" altLang="en-US">
              <a:solidFill>
                <a:srgbClr val="5FCBE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Times New Roman" panose="02020603050405020304" pitchFamily="18" charset="0"/>
                <a:cs typeface="Times New Roman" panose="02020603050405020304" pitchFamily="18" charset="0"/>
              </a:rPr>
              <a:t>инженерчлэлийн эдийн засаг (3)</a:t>
            </a:r>
            <a:endParaRPr lang="en-US" dirty="0"/>
          </a:p>
        </p:txBody>
      </p:sp>
      <p:sp>
        <p:nvSpPr>
          <p:cNvPr id="3" name="Content Placeholder 2"/>
          <p:cNvSpPr>
            <a:spLocks noGrp="1"/>
          </p:cNvSpPr>
          <p:nvPr>
            <p:ph sz="quarter" idx="13"/>
          </p:nvPr>
        </p:nvSpPr>
        <p:spPr/>
        <p:txBody>
          <a:bodyPr>
            <a:normAutofit lnSpcReduction="10000"/>
          </a:bodyPr>
          <a:lstStyle/>
          <a:p>
            <a:r>
              <a:rPr lang="en-US" sz="2400" dirty="0">
                <a:latin typeface="Times New Roman" panose="02020603050405020304" pitchFamily="18" charset="0"/>
                <a:ea typeface="Times New Roman" panose="02020603050405020304" pitchFamily="18" charset="0"/>
                <a:cs typeface="Times New Roman" panose="02020603050405020304" pitchFamily="18" charset="0"/>
              </a:rPr>
              <a:t>ИЭЗ нь техникийн ойлголт сайтай байхыг шаарддаг.</a:t>
            </a:r>
          </a:p>
          <a:p>
            <a:r>
              <a:rPr lang="en-US" sz="2400" dirty="0">
                <a:latin typeface="Times New Roman" panose="02020603050405020304" pitchFamily="18" charset="0"/>
                <a:ea typeface="Times New Roman" panose="02020603050405020304" pitchFamily="18" charset="0"/>
                <a:cs typeface="Times New Roman" panose="02020603050405020304" pitchFamily="18" charset="0"/>
              </a:rPr>
              <a:t>ИЭЗ нь эдийн засгийн талуудыг маш сайн анхаарсан техникийн дүн шинжилгээг өөртөө агуулах бөгөөд шийдвэр гаргахад туслах зорилготой. </a:t>
            </a:r>
          </a:p>
          <a:p>
            <a:pPr lvl="1"/>
            <a:r>
              <a:rPr lang="en-US" sz="2200" dirty="0">
                <a:latin typeface="Times New Roman" panose="02020603050405020304" pitchFamily="18" charset="0"/>
                <a:ea typeface="Times New Roman" panose="02020603050405020304" pitchFamily="18" charset="0"/>
                <a:cs typeface="Times New Roman" panose="02020603050405020304" pitchFamily="18" charset="0"/>
              </a:rPr>
              <a:t>Шийдвэр гаргаж байгаа этгээд хэн байхаас үл хамаарна.</a:t>
            </a:r>
          </a:p>
          <a:p>
            <a:r>
              <a:rPr lang="en-US" sz="2400" b="1" i="1" dirty="0">
                <a:latin typeface="Times New Roman" panose="02020603050405020304" pitchFamily="18" charset="0"/>
                <a:ea typeface="Times New Roman" panose="02020603050405020304" pitchFamily="18" charset="0"/>
                <a:cs typeface="Times New Roman" panose="02020603050405020304" pitchFamily="18" charset="0"/>
              </a:rPr>
              <a:t>ИЭЗ-ийг судлаагүй инженер өөрийн ажилдаа хангалттай сайн бэлтгэгдээгүй гэсэн үг !</a:t>
            </a:r>
            <a:endParaRPr lang="en-US" sz="2400"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9</a:t>
            </a:fld>
            <a:endParaRPr lang="en-US" altLang="en-US">
              <a:solidFill>
                <a:srgbClr val="5FCBE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Times New Roman" panose="02020603050405020304" pitchFamily="18" charset="0"/>
                <a:ea typeface="Times New Roman" panose="02020603050405020304" pitchFamily="18" charset="0"/>
              </a:rPr>
              <a:t>1.2. инженерчлэлийн эдийн засгийн зарчмууд (1)</a:t>
            </a:r>
            <a:endParaRPr lang="en-US" dirty="0"/>
          </a:p>
        </p:txBody>
      </p:sp>
      <p:sp>
        <p:nvSpPr>
          <p:cNvPr id="3" name="Content Placeholder 2"/>
          <p:cNvSpPr>
            <a:spLocks noGrp="1"/>
          </p:cNvSpPr>
          <p:nvPr>
            <p:ph sz="quarter" idx="13"/>
          </p:nvPr>
        </p:nvSpPr>
        <p:spPr>
          <a:xfrm>
            <a:off x="913774" y="2367092"/>
            <a:ext cx="10363826" cy="4291285"/>
          </a:xfrm>
        </p:spPr>
        <p:txBody>
          <a:bodyPr>
            <a:normAutofit/>
          </a:bodyPr>
          <a:lstStyle/>
          <a:p>
            <a:pPr marL="0" indent="0">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I зарчим: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Хувилбаруудыг хөгжүүл.</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Асуудлыг маш нарийн тодорхойл! Улмаар бий болсон хувилбаруудаас сонголтоо хий (шийдлээ ол). Хувилбаруудыг таньж мэдэх, Улмаар цаашдын судалгаа хийхээр тодорхойлсон байх ёстой.</a:t>
            </a:r>
          </a:p>
          <a:p>
            <a:pPr lvl="1">
              <a:buFont typeface="Wingdings" panose="05000000000000000000" pitchFamily="2" charset="2"/>
              <a:buChar char="ü"/>
            </a:pPr>
            <a:r>
              <a:rPr lang="en-US" dirty="0">
                <a:latin typeface="Times New Roman" panose="02020603050405020304" pitchFamily="18" charset="0"/>
                <a:ea typeface="Times New Roman" panose="02020603050405020304" pitchFamily="18" charset="0"/>
                <a:cs typeface="Times New Roman" panose="02020603050405020304" pitchFamily="18" charset="0"/>
              </a:rPr>
              <a:t>Шийдлээ олох гэдэг нь 2 ба түүнээс олон хувилбаруудаас сонголт хийнэ гэсэн үг. Хувилбаруудыг тодорхойлох, боловсруулах нь эцсийн шийдлийн чанарт нөлөөлдөг учраас дэлгэрэнгүй судлах хэрэгтэй. Инженер болон менежерүүд энэ хариуцлагатай ажилд өндөр ач холбогдол өгөх хэрэгтэй. Бүтээлч байдал болон </a:t>
            </a:r>
            <a:r>
              <a:rPr lang="en-US" i="1" u="sng" dirty="0">
                <a:latin typeface="Times New Roman" panose="02020603050405020304" pitchFamily="18" charset="0"/>
                <a:ea typeface="Times New Roman" panose="02020603050405020304" pitchFamily="18" charset="0"/>
                <a:cs typeface="Times New Roman" panose="02020603050405020304" pitchFamily="18" charset="0"/>
              </a:rPr>
              <a:t>инноваци </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энэ үйл ажиллагаанд чухал үүрэгтэй.</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10</a:t>
            </a:fld>
            <a:endParaRPr lang="en-US" altLang="en-US">
              <a:solidFill>
                <a:srgbClr val="5FCBE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Times New Roman" panose="02020603050405020304" pitchFamily="18" charset="0"/>
                <a:ea typeface="Times New Roman" panose="02020603050405020304" pitchFamily="18" charset="0"/>
              </a:rPr>
              <a:t>1.2. инженерчлэлийн эдийн засгийн зарчмууд (2)</a:t>
            </a:r>
            <a:endParaRPr lang="en-US" dirty="0"/>
          </a:p>
        </p:txBody>
      </p:sp>
      <p:sp>
        <p:nvSpPr>
          <p:cNvPr id="3" name="Content Placeholder 2"/>
          <p:cNvSpPr>
            <a:spLocks noGrp="1"/>
          </p:cNvSpPr>
          <p:nvPr>
            <p:ph sz="quarter" idx="13"/>
          </p:nvPr>
        </p:nvSpPr>
        <p:spPr>
          <a:xfrm>
            <a:off x="913774" y="2367092"/>
            <a:ext cx="10363826" cy="4252649"/>
          </a:xfrm>
        </p:spPr>
        <p:txBody>
          <a:bodyPr>
            <a:normAutofit/>
          </a:bodyPr>
          <a:lstStyle/>
          <a:p>
            <a:pPr marL="0" indent="0">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II зарчим: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Ялгаан дээр анхаарлаа хандуул.</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Зөвхөн хувилбаруудын хүлээгдэж буй үр дүнгүүдийн ялгааг харьцуулах замаар шийдвэр гаргах ёстой.</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Хэрвээ боломжит хувилбаруудын хүлээгдэж байгаа үр дүнгүүд нэг ижил байвал харьцуулалт хийх шаардлага гарахгүй. Иймээс хувилбаруудын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ялгаатай</a:t>
            </a:r>
            <a:r>
              <a:rPr lang="en-US" dirty="0">
                <a:latin typeface="Times New Roman" panose="02020603050405020304" pitchFamily="18" charset="0"/>
                <a:ea typeface="Times New Roman" panose="02020603050405020304" pitchFamily="18" charset="0"/>
                <a:cs typeface="Times New Roman" panose="02020603050405020304" pitchFamily="18" charset="0"/>
              </a:rPr>
              <a:t> үр дүнгүүд чухал юм.</a:t>
            </a:r>
          </a:p>
          <a:p>
            <a:pPr lvl="2"/>
            <a:r>
              <a:rPr lang="en-US" dirty="0">
                <a:latin typeface="Times New Roman" panose="02020603050405020304" pitchFamily="18" charset="0"/>
                <a:ea typeface="Times New Roman" panose="02020603050405020304" pitchFamily="18" charset="0"/>
                <a:cs typeface="Times New Roman" panose="02020603050405020304" pitchFamily="18" charset="0"/>
              </a:rPr>
              <a:t>Жишээлбэл, таны сонирхож буй орон байрны хувилбаруудад худалдан авах (эсвэл түрээслэх) үнэ ижил байвал үнэ өртгийн асуудал таны эцсийн сонголтод нөлөөлөхгүй гэсэн үг. Үүний оронд байршил, ашиглалтын зардал, үйл ажиллагааны зардал гэх мэт бусад хүчин зүйлүүд шийдвэрт нөлөөлнө.</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11</a:t>
            </a:fld>
            <a:endParaRPr lang="en-US" altLang="en-US">
              <a:solidFill>
                <a:srgbClr val="5FCBE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Times New Roman" panose="02020603050405020304" pitchFamily="18" charset="0"/>
                <a:ea typeface="Times New Roman" panose="02020603050405020304" pitchFamily="18" charset="0"/>
              </a:rPr>
              <a:t>1.2. инженерчлэлийн эдийн засгийн зарчмууд (3)</a:t>
            </a:r>
            <a:endParaRPr lang="en-US" dirty="0"/>
          </a:p>
        </p:txBody>
      </p:sp>
      <p:sp>
        <p:nvSpPr>
          <p:cNvPr id="3" name="Content Placeholder 2"/>
          <p:cNvSpPr>
            <a:spLocks noGrp="1"/>
          </p:cNvSpPr>
          <p:nvPr>
            <p:ph sz="quarter" idx="13"/>
          </p:nvPr>
        </p:nvSpPr>
        <p:spPr/>
        <p:txBody>
          <a:bodyPr/>
          <a:lstStyle/>
          <a:p>
            <a:pPr marL="0" indent="0">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III зарчим: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Тууштай байр суурийг ашигла. </a:t>
            </a: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Хувилбаруудын эдийн засгийн болон бусад хүлээгдэж байгаа үр дүнгүүдийг тодорхой харах өнцгөөс тууштай боловсруулсан байх ёстой (хэтийн төлөв).</a:t>
            </a:r>
          </a:p>
          <a:p>
            <a:pPr lvl="1"/>
            <a:r>
              <a:rPr lang="en-US" u="sng" dirty="0">
                <a:latin typeface="Times New Roman" panose="02020603050405020304" pitchFamily="18" charset="0"/>
                <a:ea typeface="Times New Roman" panose="02020603050405020304" pitchFamily="18" charset="0"/>
                <a:cs typeface="Times New Roman" panose="02020603050405020304" pitchFamily="18" charset="0"/>
              </a:rPr>
              <a:t>Шийдвэр</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u="sng" dirty="0">
                <a:latin typeface="Times New Roman" panose="02020603050405020304" pitchFamily="18" charset="0"/>
                <a:ea typeface="Times New Roman" panose="02020603050405020304" pitchFamily="18" charset="0"/>
                <a:cs typeface="Times New Roman" panose="02020603050405020304" pitchFamily="18" charset="0"/>
              </a:rPr>
              <a:t>гаргагч этгээд</a:t>
            </a:r>
            <a:r>
              <a:rPr lang="en-US" dirty="0">
                <a:latin typeface="Times New Roman" panose="02020603050405020304" pitchFamily="18" charset="0"/>
                <a:ea typeface="Times New Roman" panose="02020603050405020304" pitchFamily="18" charset="0"/>
                <a:cs typeface="Times New Roman" panose="02020603050405020304" pitchFamily="18" charset="0"/>
              </a:rPr>
              <a:t>ийн (ихэвчлэн компаны эзэд) хэтийн төлвийг авч судалсан байх ёстой. Гэхдээ тодорхой шийдлийн хувьд </a:t>
            </a:r>
            <a:r>
              <a:rPr lang="en-US" u="sng" dirty="0">
                <a:latin typeface="Times New Roman" panose="02020603050405020304" pitchFamily="18" charset="0"/>
                <a:ea typeface="Times New Roman" panose="02020603050405020304" pitchFamily="18" charset="0"/>
                <a:cs typeface="Times New Roman" panose="02020603050405020304" pitchFamily="18" charset="0"/>
              </a:rPr>
              <a:t>харах өнцгийг</a:t>
            </a:r>
            <a:r>
              <a:rPr lang="en-US" dirty="0">
                <a:latin typeface="Times New Roman" panose="02020603050405020304" pitchFamily="18" charset="0"/>
                <a:ea typeface="Times New Roman" panose="02020603050405020304" pitchFamily="18" charset="0"/>
                <a:cs typeface="Times New Roman" panose="02020603050405020304" pitchFamily="18" charset="0"/>
              </a:rPr>
              <a:t> эхлээд тодорхойлох нь чухал. Улмаар тодорхойлох, дүн шинжилгээ хийх, хувилбаруудыг харьцуулах үед тууштай ашиглах нь зүйтэй.</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12</a:t>
            </a:fld>
            <a:endParaRPr lang="en-US" altLang="en-US">
              <a:solidFill>
                <a:srgbClr val="5FCBE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Times New Roman" panose="02020603050405020304" pitchFamily="18" charset="0"/>
                <a:ea typeface="Times New Roman" panose="02020603050405020304" pitchFamily="18" charset="0"/>
              </a:rPr>
              <a:t>1.2. инженерчлэлийн эдийн засгийн зарчмууд (4)</a:t>
            </a:r>
            <a:endParaRPr lang="en-US" dirty="0"/>
          </a:p>
        </p:txBody>
      </p:sp>
      <p:sp>
        <p:nvSpPr>
          <p:cNvPr id="3" name="Content Placeholder 2"/>
          <p:cNvSpPr>
            <a:spLocks noGrp="1"/>
          </p:cNvSpPr>
          <p:nvPr>
            <p:ph sz="quarter" idx="13"/>
          </p:nvPr>
        </p:nvSpPr>
        <p:spPr>
          <a:xfrm>
            <a:off x="913774" y="2367092"/>
            <a:ext cx="10363826" cy="4175376"/>
          </a:xfrm>
        </p:spPr>
        <p:txBody>
          <a:bodyPr>
            <a:normAutofit/>
          </a:bodyPr>
          <a:lstStyle/>
          <a:p>
            <a:pPr marL="0" indent="0">
              <a:buNone/>
            </a:pPr>
            <a:r>
              <a:rPr lang="en-US" b="1" dirty="0" err="1">
                <a:latin typeface="Times New Roman" panose="02020603050405020304" pitchFamily="18" charset="0"/>
                <a:ea typeface="Times New Roman" panose="02020603050405020304" pitchFamily="18" charset="0"/>
                <a:cs typeface="Times New Roman" panose="02020603050405020304" pitchFamily="18" charset="0"/>
              </a:rPr>
              <a:t>iV</a:t>
            </a:r>
            <a:r>
              <a:rPr lang="en-US" b="1" dirty="0">
                <a:latin typeface="Times New Roman" panose="02020603050405020304" pitchFamily="18" charset="0"/>
                <a:ea typeface="Times New Roman" panose="02020603050405020304" pitchFamily="18" charset="0"/>
                <a:cs typeface="Times New Roman" panose="02020603050405020304" pitchFamily="18" charset="0"/>
              </a:rPr>
              <a:t> зарчим: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Хэмжилтийн ижил нэгжийг ашигла.</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Хэмжилтийн ижил нэгжийг аль болох олон тооны хүлээгдэж байгаа үр дүнгүүдэд ашигласнаар хувилбаруудад шинжилгээ хийхэд хялбар болдог.</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Аль болох олон үр дүнгүүдийг хооронд нь харьцуулж болох боломжтой байх ёстой. Эдийн засгийн хувьд ерөнхий нэгжээр төгрөг (доллар, рубль) –ийг авдаг.</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Бусад үр дүнг ч гэсэн (анх харахад эдийн засгийн биш үр дүнгүүдийг ч гэсэн) аль болохоор мөнгөний нэгж рүү шилжүүлэх хэрэгтэй. Ингэснээр хувилбаруудыг харьцуулахад илүү хялбар болох болно.</a:t>
            </a:r>
          </a:p>
          <a:p>
            <a:pPr lvl="1"/>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13</a:t>
            </a:fld>
            <a:endParaRPr lang="en-US" altLang="en-US">
              <a:solidFill>
                <a:srgbClr val="5FCBE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Times New Roman" panose="02020603050405020304" pitchFamily="18" charset="0"/>
                <a:ea typeface="Times New Roman" panose="02020603050405020304" pitchFamily="18" charset="0"/>
              </a:rPr>
              <a:t>1.2. инженерчлэлийн эдийн засгийн зарчмууд (5)</a:t>
            </a:r>
            <a:endParaRPr lang="en-US" dirty="0"/>
          </a:p>
        </p:txBody>
      </p:sp>
      <p:sp>
        <p:nvSpPr>
          <p:cNvPr id="3" name="Content Placeholder 2"/>
          <p:cNvSpPr>
            <a:spLocks noGrp="1"/>
          </p:cNvSpPr>
          <p:nvPr>
            <p:ph sz="quarter" idx="13"/>
          </p:nvPr>
        </p:nvSpPr>
        <p:spPr>
          <a:xfrm>
            <a:off x="913774" y="2367092"/>
            <a:ext cx="10363826" cy="4162497"/>
          </a:xfrm>
        </p:spPr>
        <p:txBody>
          <a:bodyPr>
            <a:normAutofit/>
          </a:bodyPr>
          <a:lstStyle/>
          <a:p>
            <a:pPr marL="0" indent="0">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V зарчим: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Бүх харгалзах шалгуур үзүүлэлтүүдийг авч үз (тооцоол).</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Хувилбарыг сонгохын тулд (шийдвэр гаргахын тулд) шалгуур үзүүлэлтүүдийг ашиглахыг шаарддаг.</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Шийдвэр гаргах процесст мөнгөн дүнгээр харьцуулагдсан үр дүнгүүд болон бусад хэмжих нэгжээр илэрхийлэгдсэн үр дүнгүүдийн аль алиныг нь ашиглах ёстой.</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Шийдвэр гаргагч этгээд байгууллагын эздийн урт хугацааны сонирхлыг татаж чадах хувилбарыг ихэвчлэн сонгодог. Техник эдийн засгийн шинжилгээнд үндсэн шалгуур үзүүлэлт нь ихэвчлэн эздийн урт хугацааны санхүүгийн сонирхол байдаг.</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14</a:t>
            </a:fld>
            <a:endParaRPr lang="en-US" altLang="en-US">
              <a:solidFill>
                <a:srgbClr val="5FCBE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F0"/>
                </a:solidFill>
                <a:latin typeface="Times New Roman" panose="02020603050405020304" pitchFamily="18" charset="0"/>
                <a:ea typeface="Times New Roman" panose="02020603050405020304" pitchFamily="18" charset="0"/>
              </a:rPr>
              <a:t>1.2. инженерчлэлийн эдийн засгийн зарчмууд (6)</a:t>
            </a:r>
            <a:endParaRPr lang="en-US" dirty="0"/>
          </a:p>
        </p:txBody>
      </p:sp>
      <p:sp>
        <p:nvSpPr>
          <p:cNvPr id="3" name="Content Placeholder 2"/>
          <p:cNvSpPr>
            <a:spLocks noGrp="1"/>
          </p:cNvSpPr>
          <p:nvPr>
            <p:ph sz="quarter" idx="13"/>
          </p:nvPr>
        </p:nvSpPr>
        <p:spPr>
          <a:xfrm>
            <a:off x="913774" y="2367092"/>
            <a:ext cx="10363826" cy="4059466"/>
          </a:xfrm>
        </p:spPr>
        <p:txBody>
          <a:bodyPr>
            <a:normAutofit/>
          </a:bodyPr>
          <a:lstStyle/>
          <a:p>
            <a:pPr marL="0" indent="0">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VI зарчим: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Эрсдэл болон тодорхойгүй байдлыг ил тод болго.</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Эрсдэл болон тодорхойгүй байдал нь хувилбаруудын хүлээгдэж байгаа үр дүнгүүдийг үнэлэх үнэлгээний салшгүй хэсэг юм. Хувилбаруудад дүн шинжилгээ хийх болон харьцуулах үед  эрсдэлийг илрүүлэх шаардлагатай.</a:t>
            </a:r>
          </a:p>
          <a:p>
            <a:pPr marL="0" indent="0">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VII зарчим: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Өөрийн гаргасан шийдлийг дахин нягталж үз.</a:t>
            </a:r>
          </a:p>
          <a:p>
            <a:pPr marL="0" indent="0">
              <a:buNone/>
            </a:pPr>
            <a:r>
              <a:rPr lang="en-US" dirty="0">
                <a:latin typeface="Times New Roman" panose="02020603050405020304" pitchFamily="18" charset="0"/>
                <a:cs typeface="Times New Roman" panose="02020603050405020304" pitchFamily="18" charset="0"/>
              </a:rPr>
              <a:t>дасан зохицох үйл явцын үр дүнд шийдвэр гаргалтын үр дүн сайжирна. Боломжтой бол сонгосон хувилбарын эхний төлөвлөсөн үр дүнг бодит үр дүнтэй харьцуулах хэрэгтэй. </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15</a:t>
            </a:fld>
            <a:endParaRPr lang="en-US" altLang="en-US">
              <a:solidFill>
                <a:srgbClr val="5FCBE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335179"/>
            <a:ext cx="10364451" cy="1596177"/>
          </a:xfrm>
        </p:spPr>
        <p:txBody>
          <a:bodyPr>
            <a:normAutofit/>
          </a:bodyPr>
          <a:lstStyle/>
          <a:p>
            <a:pPr marL="0" indent="0"/>
            <a:r>
              <a:rPr lang="en-US" sz="20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1.3. инженерчлэлийн эдийн засгийн дүн шинжилгээний үйл явц</a:t>
            </a:r>
            <a:br>
              <a:rPr lang="en-US" sz="2000" b="1" dirty="0">
                <a:latin typeface="Times New Roman" panose="02020603050405020304" pitchFamily="18" charset="0"/>
                <a:ea typeface="Times New Roman" panose="02020603050405020304" pitchFamily="18" charset="0"/>
              </a:rPr>
            </a:br>
            <a:r>
              <a:rPr lang="en-US" sz="1800" b="1" dirty="0">
                <a:latin typeface="Times New Roman" panose="02020603050405020304" pitchFamily="18" charset="0"/>
                <a:ea typeface="Times New Roman" panose="02020603050405020304" pitchFamily="18" charset="0"/>
              </a:rPr>
              <a:t>ИЭЗ-ийн дүн шинжилгээний үйл явц ба инженерчлэлийн загварчлах</a:t>
            </a:r>
            <a:br>
              <a:rPr lang="en-US" sz="1800" b="1" dirty="0">
                <a:latin typeface="Times New Roman" panose="02020603050405020304" pitchFamily="18" charset="0"/>
                <a:ea typeface="Times New Roman" panose="02020603050405020304" pitchFamily="18" charset="0"/>
              </a:rPr>
            </a:br>
            <a:r>
              <a:rPr lang="en-US" sz="1800" b="1" dirty="0">
                <a:latin typeface="Times New Roman" panose="02020603050405020304" pitchFamily="18" charset="0"/>
                <a:ea typeface="Times New Roman" panose="02020603050405020304" pitchFamily="18" charset="0"/>
              </a:rPr>
              <a:t>үйл явцын хоорондох хамаарал</a:t>
            </a:r>
            <a:endParaRPr lang="en-US" sz="1800" dirty="0"/>
          </a:p>
        </p:txBody>
      </p:sp>
      <p:graphicFrame>
        <p:nvGraphicFramePr>
          <p:cNvPr id="5" name="Content Placeholder 4"/>
          <p:cNvGraphicFramePr>
            <a:graphicFrameLocks noGrp="1"/>
          </p:cNvGraphicFramePr>
          <p:nvPr>
            <p:ph sz="quarter" idx="13"/>
          </p:nvPr>
        </p:nvGraphicFramePr>
        <p:xfrm>
          <a:off x="193183" y="1993861"/>
          <a:ext cx="11784170" cy="4068683"/>
        </p:xfrm>
        <a:graphic>
          <a:graphicData uri="http://schemas.openxmlformats.org/drawingml/2006/table">
            <a:tbl>
              <a:tblPr firstRow="1" bandRow="1">
                <a:tableStyleId>{5C22544A-7EE6-4342-B048-85BDC9FD1C3A}</a:tableStyleId>
              </a:tblPr>
              <a:tblGrid>
                <a:gridCol w="380766">
                  <a:extLst>
                    <a:ext uri="{9D8B030D-6E8A-4147-A177-3AD203B41FA5}">
                      <a16:colId xmlns:a16="http://schemas.microsoft.com/office/drawing/2014/main" val="20000"/>
                    </a:ext>
                  </a:extLst>
                </a:gridCol>
                <a:gridCol w="5511319">
                  <a:extLst>
                    <a:ext uri="{9D8B030D-6E8A-4147-A177-3AD203B41FA5}">
                      <a16:colId xmlns:a16="http://schemas.microsoft.com/office/drawing/2014/main" val="20001"/>
                    </a:ext>
                  </a:extLst>
                </a:gridCol>
                <a:gridCol w="507686">
                  <a:extLst>
                    <a:ext uri="{9D8B030D-6E8A-4147-A177-3AD203B41FA5}">
                      <a16:colId xmlns:a16="http://schemas.microsoft.com/office/drawing/2014/main" val="20002"/>
                    </a:ext>
                  </a:extLst>
                </a:gridCol>
                <a:gridCol w="5384399">
                  <a:extLst>
                    <a:ext uri="{9D8B030D-6E8A-4147-A177-3AD203B41FA5}">
                      <a16:colId xmlns:a16="http://schemas.microsoft.com/office/drawing/2014/main" val="20003"/>
                    </a:ext>
                  </a:extLst>
                </a:gridCol>
              </a:tblGrid>
              <a:tr h="667646">
                <a:tc gridSpan="2">
                  <a:txBody>
                    <a:bodyPr/>
                    <a:lstStyle/>
                    <a:p>
                      <a:pPr algn="ctr">
                        <a:lnSpc>
                          <a:spcPct val="115000"/>
                        </a:lnSpc>
                        <a:spcAft>
                          <a:spcPts val="0"/>
                        </a:spcAft>
                        <a:tabLst>
                          <a:tab pos="3330575"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Инженерчлэлийн эдийн засгийн дүн шинжилгээний үйл явц</a:t>
                      </a:r>
                      <a:endParaRPr lang="en-US" sz="20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algn="ctr">
                        <a:lnSpc>
                          <a:spcPct val="115000"/>
                        </a:lnSpc>
                        <a:spcAft>
                          <a:spcPts val="0"/>
                        </a:spcAft>
                        <a:tabLst>
                          <a:tab pos="3330575"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Инженерчлэлийн загварчлах үйл явц</a:t>
                      </a:r>
                      <a:endParaRPr lang="en-US" sz="20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329426">
                <a:tc gridSpan="2">
                  <a:txBody>
                    <a:bodyPr/>
                    <a:lstStyle/>
                    <a:p>
                      <a:pPr algn="ctr">
                        <a:lnSpc>
                          <a:spcPct val="115000"/>
                        </a:lnSpc>
                        <a:spcAft>
                          <a:spcPts val="0"/>
                        </a:spcAft>
                        <a:tabLst>
                          <a:tab pos="3330575" algn="l"/>
                        </a:tabLst>
                      </a:pPr>
                      <a:r>
                        <a:rPr lang="en-US" sz="2000" i="1" dirty="0">
                          <a:effectLst/>
                          <a:latin typeface="Times New Roman" panose="02020603050405020304" pitchFamily="18" charset="0"/>
                          <a:ea typeface="Times New Roman" panose="02020603050405020304" pitchFamily="18" charset="0"/>
                          <a:cs typeface="Times New Roman" panose="02020603050405020304" pitchFamily="18" charset="0"/>
                        </a:rPr>
                        <a:t>Алхмууд</a:t>
                      </a:r>
                      <a:endParaRPr lang="en-US" sz="2000" i="1"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algn="ctr">
                        <a:lnSpc>
                          <a:spcPct val="115000"/>
                        </a:lnSpc>
                        <a:spcAft>
                          <a:spcPts val="0"/>
                        </a:spcAft>
                        <a:tabLst>
                          <a:tab pos="3330575" algn="l"/>
                        </a:tabLst>
                      </a:pPr>
                      <a:r>
                        <a:rPr lang="en-US" sz="2000" i="1" dirty="0">
                          <a:effectLst/>
                          <a:latin typeface="Times New Roman" panose="02020603050405020304" pitchFamily="18" charset="0"/>
                          <a:ea typeface="Times New Roman" panose="02020603050405020304" pitchFamily="18" charset="0"/>
                          <a:cs typeface="Times New Roman" panose="02020603050405020304" pitchFamily="18" charset="0"/>
                        </a:rPr>
                        <a:t>Үйл ажиллагаа</a:t>
                      </a:r>
                      <a:endParaRPr lang="en-US" sz="2000" i="1"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001"/>
                  </a:ext>
                </a:extLst>
              </a:tr>
              <a:tr h="329426">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Асуудлыг таних, тодорхойлох, үнэлэх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Асуудал/хэрэгцээг тодорхойлох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146162">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Боломжит хувилбаруудыг боловсруулах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Асуудал/хэрэгцээг томъёолох, үнэлэх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Боломжит шийдлүүдийг (хувилбаруудыг) бий болгох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36749">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Хувилбар бүрийн</a:t>
                      </a:r>
                      <a:r>
                        <a:rPr lang="en-US" sz="1800" baseline="0" dirty="0">
                          <a:effectLst/>
                          <a:latin typeface="Times New Roman" panose="02020603050405020304" pitchFamily="18" charset="0"/>
                          <a:ea typeface="Times New Roman" panose="02020603050405020304" pitchFamily="18" charset="0"/>
                          <a:cs typeface="Times New Roman" panose="02020603050405020304" pitchFamily="18" charset="0"/>
                        </a:rPr>
                        <a:t> үр дүн болон</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мөнгөн </a:t>
                      </a: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урсгалыг тооцох</a:t>
                      </a:r>
                      <a:endParaRPr lang="en-US" sz="1800" dirty="0">
                        <a:solidFill>
                          <a:schemeClr val="tx1"/>
                        </a:solidFill>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tc rowSpan="3">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tc rowSpan="3">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Дүн шинжилгээ, оновчлол, үнэлгээ хийх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0">
                <a:tc>
                  <a:txBody>
                    <a:bodyPr/>
                    <a:lstStyle/>
                    <a:p>
                      <a:pPr algn="just">
                        <a:lnSpc>
                          <a:spcPct val="115000"/>
                        </a:lnSpc>
                        <a:spcAft>
                          <a:spcPts val="0"/>
                        </a:spcAft>
                        <a:tabLst>
                          <a:tab pos="3330575" algn="l"/>
                        </a:tabLs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180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Шалгуур үзүүлэлтийг сонгох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5"/>
                  </a:ext>
                </a:extLst>
              </a:tr>
              <a:tr h="128517">
                <a:tc>
                  <a:txBody>
                    <a:bodyPr/>
                    <a:lstStyle/>
                    <a:p>
                      <a:pPr algn="just">
                        <a:lnSpc>
                          <a:spcPct val="115000"/>
                        </a:lnSpc>
                        <a:spcAft>
                          <a:spcPts val="0"/>
                        </a:spcAft>
                        <a:tabLst>
                          <a:tab pos="3330575" algn="l"/>
                        </a:tabLs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US" sz="180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Хувилбаруудад дүн шинжилгээ хийж, харьцуулах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6"/>
                  </a:ext>
                </a:extLst>
              </a:tr>
              <a:tr h="622750">
                <a:tc>
                  <a:txBody>
                    <a:bodyPr/>
                    <a:lstStyle/>
                    <a:p>
                      <a:pPr algn="just">
                        <a:lnSpc>
                          <a:spcPct val="115000"/>
                        </a:lnSpc>
                        <a:spcAft>
                          <a:spcPts val="0"/>
                        </a:spcAft>
                        <a:tabLst>
                          <a:tab pos="3330575" algn="l"/>
                        </a:tabLs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6.</a:t>
                      </a:r>
                      <a:endParaRPr lang="en-US" sz="180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Боломжит хувилбарыг сонгох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Боломжит хувилбарын техникийн шаардлагыг тодорхойлох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0">
                <a:tc>
                  <a:txBody>
                    <a:bodyPr/>
                    <a:lstStyle/>
                    <a:p>
                      <a:pPr algn="just">
                        <a:lnSpc>
                          <a:spcPct val="115000"/>
                        </a:lnSpc>
                        <a:spcAft>
                          <a:spcPts val="0"/>
                        </a:spcAft>
                        <a:tabLst>
                          <a:tab pos="3330575" algn="l"/>
                        </a:tabLs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7.</a:t>
                      </a:r>
                      <a:endParaRPr lang="en-US" sz="180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Гүйцэтгэлийг хянаж, үр дүнд эцсийн үнэлгээ хийх. </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spcAft>
                          <a:spcPts val="0"/>
                        </a:spcAft>
                        <a:tabLst>
                          <a:tab pos="3330575" algn="l"/>
                        </a:tabLs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6.</a:t>
                      </a:r>
                      <a:endParaRPr lang="en-US" sz="180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spcAft>
                          <a:spcPts val="0"/>
                        </a:spcAft>
                        <a:tabLst>
                          <a:tab pos="3330575"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Холбоо тогтоох</a:t>
                      </a:r>
                      <a:endParaRPr lang="en-US" sz="1800" dirty="0">
                        <a:effectLst/>
                        <a:latin typeface="Calibri" panose="020F050202020403020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8"/>
                  </a:ext>
                </a:extLst>
              </a:tr>
            </a:tbl>
          </a:graphicData>
        </a:graphic>
      </p:graphicFrame>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16</a:t>
            </a:fld>
            <a:endParaRPr lang="en-US" altLang="en-US">
              <a:solidFill>
                <a:srgbClr val="5FCBEF"/>
              </a:solidFill>
            </a:endParaRPr>
          </a:p>
        </p:txBody>
      </p:sp>
      <p:sp>
        <p:nvSpPr>
          <p:cNvPr id="6" name="Right Brace 5"/>
          <p:cNvSpPr/>
          <p:nvPr/>
        </p:nvSpPr>
        <p:spPr>
          <a:xfrm>
            <a:off x="5576550" y="4005329"/>
            <a:ext cx="399246" cy="110757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инженерчлэлийн эдийн засгийн дүн шинжилгээний үйл явц (1)</a:t>
            </a:r>
            <a:b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br>
            <a:r>
              <a:rPr lang="en-US" sz="3200"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1. Асуудлыг тодорхойлох</a:t>
            </a:r>
            <a:endParaRPr lang="en-US" sz="3200" dirty="0"/>
          </a:p>
        </p:txBody>
      </p:sp>
      <p:sp>
        <p:nvSpPr>
          <p:cNvPr id="3" name="Content Placeholder 2"/>
          <p:cNvSpPr>
            <a:spLocks noGrp="1"/>
          </p:cNvSpPr>
          <p:nvPr>
            <p:ph sz="quarter" idx="13"/>
          </p:nvPr>
        </p:nvSpPr>
        <p:spPr>
          <a:xfrm>
            <a:off x="913773" y="2367092"/>
            <a:ext cx="10780243" cy="4265528"/>
          </a:xfrm>
        </p:spPr>
        <p:txBody>
          <a:bodyPr>
            <a:normAutofit fontScale="92500" lnSpcReduction="20000"/>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Төслийн баг шинжилгээ хийж эхлэхээс өмнө асуудлыг маш сайн ойлгож, тодорхой хэлбэрээр илэрхийлсэн байх ёстой.</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Асуудал гэдэгт ИЭЗ-ийн дүн шинжилгээ хийхэд шаардагдах бүх шийдвэр гаргах нөхцлүүд хамаарна. </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Жнь: Компаний үйл ажиллагааны асуудал (дотоод шаардлага), хэрэглэгчдийн хүлээж буй бүтээгдэхүүн, үйлчилгээ</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Асуудлыг таньж дууссаны дараа </a:t>
            </a:r>
            <a:r>
              <a:rPr lang="en-US" i="1" dirty="0">
                <a:latin typeface="Times New Roman" panose="02020603050405020304" pitchFamily="18" charset="0"/>
                <a:ea typeface="Times New Roman" panose="02020603050405020304" pitchFamily="18" charset="0"/>
                <a:cs typeface="Times New Roman" panose="02020603050405020304" pitchFamily="18" charset="0"/>
              </a:rPr>
              <a:t>системийн хэтийн төлөв</a:t>
            </a:r>
            <a:r>
              <a:rPr lang="en-US" dirty="0">
                <a:latin typeface="Times New Roman" panose="02020603050405020304" pitchFamily="18" charset="0"/>
                <a:ea typeface="Times New Roman" panose="02020603050405020304" pitchFamily="18" charset="0"/>
                <a:cs typeface="Times New Roman" panose="02020603050405020304" pitchFamily="18" charset="0"/>
              </a:rPr>
              <a:t>ийн өнцгөөс томъёолох шаардлагатай. Ингэж асуудлын элементүүд болон түүний орчинг тодорхой болгосноор нөхцөл байдлын хил хязгаар, хэм хэмжээг тодорхой болгодог.</a:t>
            </a:r>
            <a:endParaRPr lang="en-US" dirty="0"/>
          </a:p>
          <a:p>
            <a:r>
              <a:rPr lang="en-US" dirty="0">
                <a:latin typeface="Times New Roman" panose="02020603050405020304" pitchFamily="18" charset="0"/>
                <a:ea typeface="Times New Roman" panose="02020603050405020304" pitchFamily="18" charset="0"/>
                <a:cs typeface="Times New Roman" panose="02020603050405020304" pitchFamily="18" charset="0"/>
              </a:rPr>
              <a:t>Асуудлын үнэлгээ нь шаардлагуудын боловсруулалтыг агуулдаг. Үнэлгээний явцын мэдээлэл нь анх томъёолсон асуудлыг өөрчилж болно.</a:t>
            </a:r>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17</a:t>
            </a:fld>
            <a:endParaRPr lang="en-US" altLang="en-US">
              <a:solidFill>
                <a:srgbClr val="5FCBE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инженерчлэлийн эдийн засгийн дүн шинжилгээний үйл явц (2)</a:t>
            </a:r>
            <a:b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br>
            <a:r>
              <a:rPr lang="en-US" sz="3200"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2.Хувилбаруудын боловсруулалт</a:t>
            </a:r>
            <a:endParaRPr lang="en-US" dirty="0"/>
          </a:p>
        </p:txBody>
      </p:sp>
      <p:sp>
        <p:nvSpPr>
          <p:cNvPr id="3" name="Content Placeholder 2"/>
          <p:cNvSpPr>
            <a:spLocks noGrp="1"/>
          </p:cNvSpPr>
          <p:nvPr>
            <p:ph sz="quarter" idx="13"/>
          </p:nvPr>
        </p:nvSpPr>
        <p:spPr>
          <a:xfrm>
            <a:off x="913774" y="2367092"/>
            <a:ext cx="10363826" cy="4214012"/>
          </a:xfrm>
        </p:spPr>
        <p:txBody>
          <a:bodyPr>
            <a:normAutofit fontScale="92500" lnSpcReduction="10000"/>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Аргачлалын 2-р алхамд хоёр үндсэн үйл ажиллагаа хийгдэнэ. Үүнд:</a:t>
            </a:r>
          </a:p>
          <a:p>
            <a:pPr lvl="1"/>
            <a:r>
              <a:rPr lang="en-US" b="1" i="1" dirty="0">
                <a:latin typeface="Times New Roman" panose="02020603050405020304" pitchFamily="18" charset="0"/>
                <a:ea typeface="Times New Roman" panose="02020603050405020304" pitchFamily="18" charset="0"/>
                <a:cs typeface="Times New Roman" panose="02020603050405020304" pitchFamily="18" charset="0"/>
              </a:rPr>
              <a:t>Байж болох боломжит хувилбаруудыг хайж олох</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en-US" dirty="0">
                <a:latin typeface="Calibri" panose="020F0502020204030204" charset="0"/>
                <a:ea typeface="Times New Roman" panose="02020603050405020304" pitchFamily="18" charset="0"/>
                <a:cs typeface="Times New Roman" panose="02020603050405020304" pitchFamily="18" charset="0"/>
              </a:rPr>
              <a:t> </a:t>
            </a:r>
          </a:p>
          <a:p>
            <a:pPr lvl="2"/>
            <a:r>
              <a:rPr lang="en-US" dirty="0">
                <a:latin typeface="Times New Roman" panose="02020603050405020304" pitchFamily="18" charset="0"/>
                <a:ea typeface="Times New Roman" panose="02020603050405020304" pitchFamily="18" charset="0"/>
                <a:cs typeface="Times New Roman" panose="02020603050405020304" pitchFamily="18" charset="0"/>
              </a:rPr>
              <a:t>Сайн хувилбар болон гайхалтай сайн хувилбарын хоорондох ялгаа нь ихэвчлэн хувь хүний, эсвэл бүлгийн асуудал шийдэх чадвараас хамаардаг. Энэ чадварыг дараах аргуудаар ихэсгэх боломжтой. Үүнд:</a:t>
            </a:r>
          </a:p>
          <a:p>
            <a:pPr lvl="3"/>
            <a:r>
              <a:rPr lang="en-US" dirty="0">
                <a:latin typeface="Times New Roman" panose="02020603050405020304" pitchFamily="18" charset="0"/>
                <a:ea typeface="Times New Roman" panose="02020603050405020304" pitchFamily="18" charset="0"/>
                <a:cs typeface="Times New Roman" panose="02020603050405020304" pitchFamily="18" charset="0"/>
              </a:rPr>
              <a:t>1 дүгээр алхамын хүрээнд нэг удаад нэг л асуудал дээр анхаарал хандуулах;</a:t>
            </a:r>
            <a:endParaRPr lang="en-US" dirty="0">
              <a:latin typeface="Calibri" panose="020F0502020204030204" charset="0"/>
              <a:ea typeface="Times New Roman" panose="02020603050405020304" pitchFamily="18" charset="0"/>
              <a:cs typeface="Times New Roman" panose="02020603050405020304" pitchFamily="18" charset="0"/>
            </a:endParaRPr>
          </a:p>
          <a:p>
            <a:pPr lvl="3"/>
            <a:r>
              <a:rPr lang="en-US" dirty="0">
                <a:latin typeface="Times New Roman" panose="02020603050405020304" pitchFamily="18" charset="0"/>
                <a:ea typeface="Times New Roman" panose="02020603050405020304" pitchFamily="18" charset="0"/>
                <a:cs typeface="Times New Roman" panose="02020603050405020304" pitchFamily="18" charset="0"/>
              </a:rPr>
              <a:t>Нэг асуудлыг олон янзаар тодорхойлох;</a:t>
            </a:r>
            <a:endParaRPr lang="en-US" dirty="0"/>
          </a:p>
          <a:p>
            <a:pPr lvl="3"/>
            <a:r>
              <a:rPr lang="en-US" dirty="0">
                <a:latin typeface="Times New Roman" panose="02020603050405020304" pitchFamily="18" charset="0"/>
                <a:ea typeface="Times New Roman" panose="02020603050405020304" pitchFamily="18" charset="0"/>
                <a:cs typeface="Times New Roman" panose="02020603050405020304" pitchFamily="18" charset="0"/>
              </a:rPr>
              <a:t>Асуудлыг шинээр тодорхойлж байгаа тул ямар  нэг шүүмжлэлээс зайлсхийх;</a:t>
            </a:r>
          </a:p>
          <a:p>
            <a:pPr lvl="3"/>
            <a:r>
              <a:rPr lang="en-US" dirty="0">
                <a:latin typeface="Times New Roman" panose="02020603050405020304" pitchFamily="18" charset="0"/>
                <a:ea typeface="Times New Roman" panose="02020603050405020304" pitchFamily="18" charset="0"/>
                <a:cs typeface="Times New Roman" panose="02020603050405020304" pitchFamily="18" charset="0"/>
              </a:rPr>
              <a:t>1-р алхамд анх тодорхойлсон асуудлаас өөрөөр асуудлыг дахин тодорхойлох оролдлогуудыг хийх;</a:t>
            </a:r>
          </a:p>
          <a:p>
            <a:pPr lvl="3"/>
            <a:r>
              <a:rPr lang="en-US" dirty="0">
                <a:latin typeface="Times New Roman" panose="02020603050405020304" pitchFamily="18" charset="0"/>
                <a:ea typeface="Times New Roman" panose="02020603050405020304" pitchFamily="18" charset="0"/>
                <a:cs typeface="Times New Roman" panose="02020603050405020304" pitchFamily="18" charset="0"/>
              </a:rPr>
              <a:t>Асуудлыг үнэн зөвөөр ойлгож, тодорхойлсон эсэхийг шалгах.</a:t>
            </a:r>
          </a:p>
          <a:p>
            <a:pPr lvl="1"/>
            <a:r>
              <a:rPr lang="en-US" b="1" i="1" dirty="0">
                <a:latin typeface="Times New Roman" panose="02020603050405020304" pitchFamily="18" charset="0"/>
                <a:ea typeface="Times New Roman" panose="02020603050405020304" pitchFamily="18" charset="0"/>
                <a:cs typeface="Times New Roman" panose="02020603050405020304" pitchFamily="18" charset="0"/>
              </a:rPr>
              <a:t>Эдгээр хувилбаруудаас гүйцэтгэж болох хувилбаруудыг сонгож, дэлгэрэнгүй шинжилгээ хийх (судлах) </a:t>
            </a:r>
            <a:r>
              <a:rPr lang="en-US" cap="none" dirty="0">
                <a:latin typeface="Times New Roman" panose="02020603050405020304" pitchFamily="18" charset="0"/>
                <a:ea typeface="Times New Roman" panose="02020603050405020304" pitchFamily="18" charset="0"/>
                <a:cs typeface="Times New Roman" panose="02020603050405020304" pitchFamily="18" charset="0"/>
              </a:rPr>
              <a:t>буюу</a:t>
            </a:r>
            <a:r>
              <a:rPr lang="en-US" b="1" i="1" dirty="0">
                <a:latin typeface="Times New Roman" panose="02020603050405020304" pitchFamily="18" charset="0"/>
                <a:ea typeface="Times New Roman" panose="02020603050405020304" pitchFamily="18" charset="0"/>
                <a:cs typeface="Times New Roman" panose="02020603050405020304" pitchFamily="18" charset="0"/>
              </a:rPr>
              <a:t> хөрөнгө оруулах хувилбарыг боловсруулах</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18</a:t>
            </a:fld>
            <a:endParaRPr lang="en-US" altLang="en-US">
              <a:solidFill>
                <a:srgbClr val="5FCBE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Хөрөнгө оруулах хувилбарыг боловсруулах (1)</a:t>
            </a:r>
            <a:endParaRPr lang="en-US" dirty="0"/>
          </a:p>
        </p:txBody>
      </p:sp>
      <p:sp>
        <p:nvSpPr>
          <p:cNvPr id="3" name="Content Placeholder 2"/>
          <p:cNvSpPr>
            <a:spLocks noGrp="1"/>
          </p:cNvSpPr>
          <p:nvPr>
            <p:ph sz="quarter" idx="13"/>
          </p:nvPr>
        </p:nvSpPr>
        <p:spPr/>
        <p:txBody>
          <a:bodyPr>
            <a:normAutofit fontScale="92500" lnSpcReduction="20000"/>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“Мөнгөтэй болохын тулд мөнгө зарах хэрэгтэй” </a:t>
            </a:r>
            <a:r>
              <a:rPr lang="en-US" i="1" cap="none" dirty="0">
                <a:latin typeface="Times New Roman" panose="02020603050405020304" pitchFamily="18" charset="0"/>
                <a:ea typeface="Times New Roman" panose="02020603050405020304" pitchFamily="18" charset="0"/>
                <a:cs typeface="Times New Roman" panose="02020603050405020304" pitchFamily="18" charset="0"/>
              </a:rPr>
              <a:t>хэлц үг</a:t>
            </a:r>
            <a:r>
              <a:rPr lang="en-US" dirty="0">
                <a:latin typeface="Times New Roman" panose="02020603050405020304" pitchFamily="18" charset="0"/>
                <a:ea typeface="Times New Roman" panose="02020603050405020304" pitchFamily="18" charset="0"/>
                <a:cs typeface="Times New Roman" panose="02020603050405020304" pitchFamily="18" charset="0"/>
              </a:rPr>
              <a:t>. (хөрөнгө оруулалт).</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Ашиг олохын тулд юу юунд хөрөнгө оруулах шаардлагатай вэ? Компани ашигтай ажиллах хэдэн зуун боломжууд байдаг.</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Инженерүүд инновацийн болон бүтээлч санааг шинэ, эсвэл дахин сайжруулсан бүтээгдэхүүн, үйлчилгээ болгон хувиргах замаар компаний үнэт зүйлсийг бүтээх үйлсийн гол цөмд ажиллаж байдаг. Эдгээр санааны ихэнхэд хөрөнгө оруулалт шаардлагатай.</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Цаг хугацаа, нөөц боломж, мэдлэгийн хязгаарлагдмал байдлаас болж цөөхөн хэдэн санаанууд бодит ажил хэрэг болон хэрэгждэг.</a:t>
            </a:r>
          </a:p>
          <a:p>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19</a:t>
            </a:fld>
            <a:endParaRPr lang="en-US" altLang="en-US">
              <a:solidFill>
                <a:srgbClr val="5FCBE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Хөрөнгө оруулах хувилбарыг боловсруулах (2)</a:t>
            </a:r>
            <a:endParaRPr lang="en-US" dirty="0"/>
          </a:p>
        </p:txBody>
      </p:sp>
      <p:sp>
        <p:nvSpPr>
          <p:cNvPr id="3" name="Content Placeholder 2"/>
          <p:cNvSpPr>
            <a:spLocks noGrp="1"/>
          </p:cNvSpPr>
          <p:nvPr>
            <p:ph sz="quarter" idx="13"/>
          </p:nvPr>
        </p:nvSpPr>
        <p:spPr/>
        <p:txBody>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Хөрөнгө оруулалтын хувилбаруудыг хөгжүүлэх хүлээн зөвшөөрөгдсөн хоёр хандлага байдаг. үүнд: </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(1) Ухаан уралдуулах сонгодог арга (</a:t>
            </a:r>
            <a:r>
              <a:rPr lang="en-US" cap="none" dirty="0">
                <a:latin typeface="Times New Roman" panose="02020603050405020304" pitchFamily="18" charset="0"/>
                <a:ea typeface="Times New Roman" panose="02020603050405020304" pitchFamily="18" charset="0"/>
                <a:cs typeface="Times New Roman" panose="02020603050405020304" pitchFamily="18" charset="0"/>
              </a:rPr>
              <a:t>Classical Brainstorming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(2) энгийн багаар ажиллах арга (</a:t>
            </a:r>
            <a:r>
              <a:rPr lang="en-US" cap="none" dirty="0">
                <a:latin typeface="Times New Roman" panose="02020603050405020304" pitchFamily="18" charset="0"/>
                <a:ea typeface="Times New Roman" panose="02020603050405020304" pitchFamily="18" charset="0"/>
                <a:cs typeface="Times New Roman" panose="02020603050405020304" pitchFamily="18" charset="0"/>
              </a:rPr>
              <a:t>Nominal Group Technique </a:t>
            </a:r>
            <a:r>
              <a:rPr lang="en-US" dirty="0">
                <a:latin typeface="Times New Roman" panose="02020603050405020304" pitchFamily="18" charset="0"/>
                <a:ea typeface="Times New Roman" panose="02020603050405020304" pitchFamily="18" charset="0"/>
                <a:cs typeface="Times New Roman" panose="02020603050405020304" pitchFamily="18" charset="0"/>
              </a:rPr>
              <a:t>(NGT).</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20</a:t>
            </a:fld>
            <a:endParaRPr lang="en-US" altLang="en-US">
              <a:solidFill>
                <a:srgbClr val="5FCBE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Хөрөнгө оруулах хувилбарыг боловсруулах (3)</a:t>
            </a:r>
            <a:endParaRPr lang="en-US" dirty="0"/>
          </a:p>
        </p:txBody>
      </p:sp>
      <p:sp>
        <p:nvSpPr>
          <p:cNvPr id="3" name="Content Placeholder 2"/>
          <p:cNvSpPr>
            <a:spLocks noGrp="1"/>
          </p:cNvSpPr>
          <p:nvPr>
            <p:ph sz="quarter" idx="13"/>
          </p:nvPr>
        </p:nvSpPr>
        <p:spPr>
          <a:xfrm>
            <a:off x="913774" y="2367092"/>
            <a:ext cx="10363826" cy="4136739"/>
          </a:xfrm>
        </p:spPr>
        <p:txBody>
          <a:bodyPr>
            <a:normAutofit/>
          </a:bodyPr>
          <a:lstStyle/>
          <a:p>
            <a:pPr marL="0" indent="0">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1.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Ухаан уралдуулах сонгодог арга </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en-US" cap="none" dirty="0">
                <a:latin typeface="Times New Roman" panose="02020603050405020304" pitchFamily="18" charset="0"/>
                <a:ea typeface="Times New Roman" panose="02020603050405020304" pitchFamily="18" charset="0"/>
                <a:cs typeface="Times New Roman" panose="02020603050405020304" pitchFamily="18" charset="0"/>
              </a:rPr>
              <a:t>Classical Brainstorming</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Энэ арга нь санаа үйлдвэрлэх хамгийн түгээмэл, байнга ашиглагддаг арга юм. Шүүмжлэлийг хойш тавих болон тоо хэмжээ нь чанарыг бий болгодог гэсэн үндсэн зарчмууд дээр суурилсан байдаг. </a:t>
            </a: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Энэ аргыг амжилттай хэрэглэх дөрвөн дүрэм байдаг. Үүнд:</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огт Шүүмжлэхгүй байх;</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Чөлөөт сэтгэлгээг дэмжин ажиллах;</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Тоо хэмжээ хүссэн хэмжээгээр байх (олон байх тусмаа сайн);</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Янз бүрийн хослол, сайжруулалтыг байнга эрэлхийлэх.</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21</a:t>
            </a:fld>
            <a:endParaRPr lang="en-US" altLang="en-US">
              <a:solidFill>
                <a:srgbClr val="5FCBE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Хөрөнгө оруулах хувилбарыг боловсруулах (4)</a:t>
            </a:r>
            <a:endParaRPr lang="en-US" dirty="0"/>
          </a:p>
        </p:txBody>
      </p:sp>
      <p:sp>
        <p:nvSpPr>
          <p:cNvPr id="3" name="Content Placeholder 2"/>
          <p:cNvSpPr>
            <a:spLocks noGrp="1"/>
          </p:cNvSpPr>
          <p:nvPr>
            <p:ph sz="quarter" idx="13"/>
          </p:nvPr>
        </p:nvSpPr>
        <p:spPr>
          <a:xfrm>
            <a:off x="913774" y="2367092"/>
            <a:ext cx="10363826" cy="4085223"/>
          </a:xfrm>
        </p:spPr>
        <p:txBody>
          <a:bodyPr>
            <a:normAutofit/>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А.Ф.осборн ухаан уралдуулах (</a:t>
            </a:r>
            <a:r>
              <a:rPr lang="en-US" cap="none" dirty="0">
                <a:latin typeface="Times New Roman" panose="02020603050405020304" pitchFamily="18" charset="0"/>
                <a:ea typeface="Times New Roman" panose="02020603050405020304" pitchFamily="18" charset="0"/>
                <a:cs typeface="Times New Roman" panose="02020603050405020304" pitchFamily="18" charset="0"/>
              </a:rPr>
              <a:t>буюу асуудлыг хамтран шийдвэрлэх</a:t>
            </a:r>
            <a:r>
              <a:rPr lang="en-US" dirty="0">
                <a:latin typeface="Times New Roman" panose="02020603050405020304" pitchFamily="18" charset="0"/>
                <a:ea typeface="Times New Roman" panose="02020603050405020304" pitchFamily="18" charset="0"/>
                <a:cs typeface="Times New Roman" panose="02020603050405020304" pitchFamily="18" charset="0"/>
              </a:rPr>
              <a:t>) аргыг амжилттай ашиглах дэлгэрэнгүй зааварчилгааг боловсруулсан. </a:t>
            </a:r>
          </a:p>
          <a:p>
            <a:r>
              <a:rPr lang="en-US" b="1" dirty="0">
                <a:latin typeface="Times New Roman" panose="02020603050405020304" pitchFamily="18" charset="0"/>
                <a:ea typeface="Times New Roman" panose="02020603050405020304" pitchFamily="18" charset="0"/>
                <a:cs typeface="Times New Roman" panose="02020603050405020304" pitchFamily="18" charset="0"/>
              </a:rPr>
              <a:t>Ухаан уралдуулах сонгодог аргын үндсэн алхамууд</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p>
          <a:p>
            <a:pPr lvl="1"/>
            <a:r>
              <a:rPr lang="en-US" b="1" dirty="0">
                <a:latin typeface="Times New Roman" panose="02020603050405020304" pitchFamily="18" charset="0"/>
                <a:ea typeface="Times New Roman" panose="02020603050405020304" pitchFamily="18" charset="0"/>
                <a:cs typeface="Times New Roman" panose="02020603050405020304" pitchFamily="18" charset="0"/>
              </a:rPr>
              <a:t>1. Бэлтгэл үе. </a:t>
            </a:r>
            <a:r>
              <a:rPr lang="en-US" dirty="0">
                <a:latin typeface="Times New Roman" panose="02020603050405020304" pitchFamily="18" charset="0"/>
                <a:ea typeface="Times New Roman" panose="02020603050405020304" pitchFamily="18" charset="0"/>
                <a:cs typeface="Times New Roman" panose="02020603050405020304" pitchFamily="18" charset="0"/>
              </a:rPr>
              <a:t>Оролцогчдыг сонгон шалгаруулж, бүлэг үүсгэн, тухайн асуудлын талаарх мэдээллийг тараана.</a:t>
            </a:r>
          </a:p>
          <a:p>
            <a:pPr lvl="1"/>
            <a:r>
              <a:rPr lang="en-US" b="1" dirty="0">
                <a:latin typeface="Times New Roman" panose="02020603050405020304" pitchFamily="18" charset="0"/>
                <a:ea typeface="Times New Roman" panose="02020603050405020304" pitchFamily="18" charset="0"/>
                <a:cs typeface="Times New Roman" panose="02020603050405020304" pitchFamily="18" charset="0"/>
              </a:rPr>
              <a:t>2. Ухаан уралдуулах үе. </a:t>
            </a:r>
            <a:r>
              <a:rPr lang="en-US" dirty="0">
                <a:latin typeface="Times New Roman" panose="02020603050405020304" pitchFamily="18" charset="0"/>
                <a:ea typeface="Times New Roman" panose="02020603050405020304" pitchFamily="18" charset="0"/>
                <a:cs typeface="Times New Roman" panose="02020603050405020304" pitchFamily="18" charset="0"/>
              </a:rPr>
              <a:t>Тухайн асуудалтай холбоотой энгийн асуудлыг хамарсан хурал хийж, холбогдох асуудал, ухаан уралдуулах аргын дөрвөн дүрмийг танилцуулж, шаардлагатай санаануудыг гаргуулж, гарсан санааг тэмдэглэж авна.</a:t>
            </a:r>
          </a:p>
          <a:p>
            <a:pPr lvl="1"/>
            <a:r>
              <a:rPr lang="en-US" b="1" dirty="0">
                <a:latin typeface="Times New Roman" panose="02020603050405020304" pitchFamily="18" charset="0"/>
                <a:ea typeface="Times New Roman" panose="02020603050405020304" pitchFamily="18" charset="0"/>
                <a:cs typeface="Times New Roman" panose="02020603050405020304" pitchFamily="18" charset="0"/>
              </a:rPr>
              <a:t>3. Үнэлгээ. </a:t>
            </a:r>
            <a:r>
              <a:rPr lang="en-US" dirty="0">
                <a:latin typeface="Times New Roman" panose="02020603050405020304" pitchFamily="18" charset="0"/>
                <a:ea typeface="Times New Roman" panose="02020603050405020304" pitchFamily="18" charset="0"/>
                <a:cs typeface="Times New Roman" panose="02020603050405020304" pitchFamily="18" charset="0"/>
              </a:rPr>
              <a:t>Эдгээр санаануудыг асуудалтай холбон үнэлнэ.</a:t>
            </a:r>
          </a:p>
          <a:p>
            <a:pPr lvl="1"/>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22</a:t>
            </a:fld>
            <a:endParaRPr lang="en-US" altLang="en-US">
              <a:solidFill>
                <a:srgbClr val="5FCBE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Хөрөнгө оруулах хувилбарыг боловсруулах (5)</a:t>
            </a:r>
            <a:endParaRPr lang="en-US" dirty="0"/>
          </a:p>
        </p:txBody>
      </p:sp>
      <p:sp>
        <p:nvSpPr>
          <p:cNvPr id="3" name="Content Placeholder 2"/>
          <p:cNvSpPr>
            <a:spLocks noGrp="1"/>
          </p:cNvSpPr>
          <p:nvPr>
            <p:ph sz="quarter" idx="13"/>
          </p:nvPr>
        </p:nvSpPr>
        <p:spPr>
          <a:xfrm>
            <a:off x="913774" y="2367092"/>
            <a:ext cx="10363826" cy="4226891"/>
          </a:xfrm>
        </p:spPr>
        <p:txBody>
          <a:bodyPr>
            <a:normAutofit lnSpcReduction="10000"/>
          </a:bodyPr>
          <a:lstStyle/>
          <a:p>
            <a:pPr marL="0" indent="0">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2. </a:t>
            </a:r>
            <a:r>
              <a:rPr lang="en-US" b="1" i="1" u="sng" dirty="0">
                <a:latin typeface="Times New Roman" panose="02020603050405020304" pitchFamily="18" charset="0"/>
                <a:ea typeface="Times New Roman" panose="02020603050405020304" pitchFamily="18" charset="0"/>
                <a:cs typeface="Times New Roman" panose="02020603050405020304" pitchFamily="18" charset="0"/>
              </a:rPr>
              <a:t>энгийн багаар ажиллах арга </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en-US" cap="none" dirty="0">
                <a:latin typeface="Times New Roman" panose="02020603050405020304" pitchFamily="18" charset="0"/>
                <a:ea typeface="Times New Roman" panose="02020603050405020304" pitchFamily="18" charset="0"/>
                <a:cs typeface="Times New Roman" panose="02020603050405020304" pitchFamily="18" charset="0"/>
              </a:rPr>
              <a:t>Nominal Group Technique </a:t>
            </a:r>
            <a:r>
              <a:rPr lang="en-US" dirty="0">
                <a:latin typeface="Times New Roman" panose="02020603050405020304" pitchFamily="18" charset="0"/>
                <a:ea typeface="Times New Roman" panose="02020603050405020304" pitchFamily="18" charset="0"/>
                <a:cs typeface="Times New Roman" panose="02020603050405020304" pitchFamily="18" charset="0"/>
              </a:rPr>
              <a:t>(NGT)</a:t>
            </a: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Андре П.Дельбек, Эндрю Х.Ван де Вэн нар боловсруулсан.</a:t>
            </a: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Энэ арга нь нэгдсэн зөвшилцөлд хүрэхийн тулд хувь хүний үзэл бодол, шийдэл, шүүмжлэлийг нэгтгэх зорилгоор зохион байгуулсан бүлгийн уулзалт юм.</a:t>
            </a:r>
          </a:p>
          <a:p>
            <a:r>
              <a:rPr lang="en-US" dirty="0">
                <a:latin typeface="Times New Roman" panose="02020603050405020304" pitchFamily="18" charset="0"/>
                <a:ea typeface="Times New Roman" panose="02020603050405020304" pitchFamily="18" charset="0"/>
              </a:rPr>
              <a:t>NGT хурлын үндсэн хэлбэр:</a:t>
            </a:r>
          </a:p>
          <a:p>
            <a:pPr lvl="2"/>
            <a:r>
              <a:rPr lang="en-US" dirty="0">
                <a:latin typeface="Times New Roman" panose="02020603050405020304" pitchFamily="18" charset="0"/>
                <a:ea typeface="Times New Roman" panose="02020603050405020304" pitchFamily="18" charset="0"/>
                <a:cs typeface="Times New Roman" panose="02020603050405020304" pitchFamily="18" charset="0"/>
              </a:rPr>
              <a:t>Хүмүүс чимээгүй тайван байдалд шинэ санаа боловсруулах;</a:t>
            </a:r>
          </a:p>
          <a:p>
            <a:pPr lvl="2"/>
            <a:r>
              <a:rPr lang="en-US" dirty="0">
                <a:latin typeface="Times New Roman" panose="02020603050405020304" pitchFamily="18" charset="0"/>
                <a:ea typeface="Times New Roman" panose="02020603050405020304" pitchFamily="18" charset="0"/>
                <a:cs typeface="Times New Roman" panose="02020603050405020304" pitchFamily="18" charset="0"/>
              </a:rPr>
              <a:t>Хүмүүс тойрон сууж санаа сэтгэгдлээ солилцох, гарсан санааг бичиж авах;</a:t>
            </a:r>
          </a:p>
          <a:p>
            <a:pPr lvl="2"/>
            <a:r>
              <a:rPr lang="en-US" dirty="0">
                <a:latin typeface="Times New Roman" panose="02020603050405020304" pitchFamily="18" charset="0"/>
                <a:ea typeface="Times New Roman" panose="02020603050405020304" pitchFamily="18" charset="0"/>
                <a:cs typeface="Times New Roman" panose="02020603050405020304" pitchFamily="18" charset="0"/>
              </a:rPr>
              <a:t>Бүх санааг тус бүрд нь тайлбарлах, тодруулга хийх;</a:t>
            </a:r>
          </a:p>
          <a:p>
            <a:pPr lvl="2"/>
            <a:r>
              <a:rPr lang="en-US" dirty="0">
                <a:latin typeface="Times New Roman" panose="02020603050405020304" pitchFamily="18" charset="0"/>
                <a:ea typeface="Times New Roman" panose="02020603050405020304" pitchFamily="18" charset="0"/>
                <a:cs typeface="Times New Roman" panose="02020603050405020304" pitchFamily="18" charset="0"/>
              </a:rPr>
              <a:t>Санаа тус бүрд санал өгөх, санаануудыг эрэмбэлэх;</a:t>
            </a:r>
          </a:p>
          <a:p>
            <a:pPr lvl="2"/>
            <a:r>
              <a:rPr lang="en-US" dirty="0">
                <a:latin typeface="Times New Roman" panose="02020603050405020304" pitchFamily="18" charset="0"/>
                <a:ea typeface="Times New Roman" panose="02020603050405020304" pitchFamily="18" charset="0"/>
                <a:cs typeface="Times New Roman" panose="02020603050405020304" pitchFamily="18" charset="0"/>
              </a:rPr>
              <a:t>Нэгдсэн зөвшилцөлд хүрэхийн тулд үр дүнг хэлэлцэх.</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23</a:t>
            </a:fld>
            <a:endParaRPr lang="en-US" altLang="en-US">
              <a:solidFill>
                <a:srgbClr val="5FCBE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инженерчлэлийн эдийн засгийн дүн шинжилгээний үйл явц (3)</a:t>
            </a:r>
            <a:b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br>
            <a:r>
              <a:rPr lang="en-US" sz="3100"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3.</a:t>
            </a:r>
            <a:r>
              <a:rPr lang="en-US" sz="22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100" b="1" dirty="0">
                <a:latin typeface="Times New Roman" panose="02020603050405020304" pitchFamily="18" charset="0"/>
                <a:ea typeface="Times New Roman" panose="02020603050405020304" pitchFamily="18" charset="0"/>
                <a:cs typeface="Times New Roman" panose="02020603050405020304" pitchFamily="18" charset="0"/>
              </a:rPr>
              <a:t>Боломжит (гарсан) үр дүнг хөгжүүлэх</a:t>
            </a:r>
            <a:endParaRPr lang="en-US" dirty="0"/>
          </a:p>
        </p:txBody>
      </p:sp>
      <p:sp>
        <p:nvSpPr>
          <p:cNvPr id="3" name="Content Placeholder 2"/>
          <p:cNvSpPr>
            <a:spLocks noGrp="1"/>
          </p:cNvSpPr>
          <p:nvPr>
            <p:ph sz="quarter" idx="13"/>
          </p:nvPr>
        </p:nvSpPr>
        <p:spPr>
          <a:xfrm>
            <a:off x="913774" y="2367092"/>
            <a:ext cx="10363826" cy="4304164"/>
          </a:xfrm>
        </p:spPr>
        <p:txBody>
          <a:bodyPr>
            <a:normAutofit/>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ИЭЗ-гийн дүн шинжилгээний 3-р алхам нь ИЭЗ-ийн II, III ба IV-р зарчмуудыг тусгасан байдаг. </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Энд ИЭЗ-гийн үндсэн ойлголт болох </a:t>
            </a:r>
            <a:r>
              <a:rPr lang="en-US" b="1" i="1" dirty="0">
                <a:latin typeface="Times New Roman" panose="02020603050405020304" pitchFamily="18" charset="0"/>
                <a:ea typeface="Times New Roman" panose="02020603050405020304" pitchFamily="18" charset="0"/>
                <a:cs typeface="Times New Roman" panose="02020603050405020304" pitchFamily="18" charset="0"/>
              </a:rPr>
              <a:t>мөнгөн урсгал</a:t>
            </a:r>
            <a:r>
              <a:rPr lang="en-US" dirty="0">
                <a:latin typeface="Times New Roman" panose="02020603050405020304" pitchFamily="18" charset="0"/>
                <a:ea typeface="Times New Roman" panose="02020603050405020304" pitchFamily="18" charset="0"/>
                <a:cs typeface="Times New Roman" panose="02020603050405020304" pitchFamily="18" charset="0"/>
              </a:rPr>
              <a:t>ыг ашиглана. </a:t>
            </a:r>
          </a:p>
          <a:p>
            <a:pPr lvl="2"/>
            <a:r>
              <a:rPr lang="en-US" dirty="0">
                <a:latin typeface="Times New Roman" panose="02020603050405020304" pitchFamily="18" charset="0"/>
                <a:ea typeface="Times New Roman" panose="02020603050405020304" pitchFamily="18" charset="0"/>
                <a:cs typeface="Times New Roman" panose="02020603050405020304" pitchFamily="18" charset="0"/>
              </a:rPr>
              <a:t>Мөнгийг нэг байгууллага буюу хувь хүнээс нөгөө рүү шилжүүлэхэд мөнгөн гүйлгээ хийгддэг. Үүнийг </a:t>
            </a:r>
            <a:r>
              <a:rPr lang="en-US" b="1" i="1" dirty="0">
                <a:latin typeface="Times New Roman" panose="02020603050405020304" pitchFamily="18" charset="0"/>
                <a:ea typeface="Times New Roman" panose="02020603050405020304" pitchFamily="18" charset="0"/>
                <a:cs typeface="Times New Roman" panose="02020603050405020304" pitchFamily="18" charset="0"/>
              </a:rPr>
              <a:t>мөнгөн урсгал </a:t>
            </a:r>
            <a:r>
              <a:rPr lang="en-US" dirty="0">
                <a:latin typeface="Times New Roman" panose="02020603050405020304" pitchFamily="18" charset="0"/>
                <a:ea typeface="Times New Roman" panose="02020603050405020304" pitchFamily="18" charset="0"/>
                <a:cs typeface="Times New Roman" panose="02020603050405020304" pitchFamily="18" charset="0"/>
              </a:rPr>
              <a:t>гэдэг. </a:t>
            </a:r>
          </a:p>
          <a:p>
            <a:pPr lvl="2"/>
            <a:r>
              <a:rPr lang="en-US" dirty="0">
                <a:latin typeface="Times New Roman" panose="02020603050405020304" pitchFamily="18" charset="0"/>
                <a:ea typeface="Times New Roman" panose="02020603050405020304" pitchFamily="18" charset="0"/>
                <a:cs typeface="Times New Roman" panose="02020603050405020304" pitchFamily="18" charset="0"/>
              </a:rPr>
              <a:t>Иймээс мөнгөн урсгал нь хөрөнгө оруулалтын хувилбаруудын эдийн засгийн үр нөлөөг илэрхийлдэг.</a:t>
            </a:r>
          </a:p>
          <a:p>
            <a:r>
              <a:rPr lang="en-US" dirty="0">
                <a:latin typeface="Times New Roman" panose="02020603050405020304" pitchFamily="18" charset="0"/>
                <a:cs typeface="Times New Roman" panose="02020603050405020304" pitchFamily="18" charset="0"/>
              </a:rPr>
              <a:t>Хувилбаруудын хувьд мөнгөн урсгалыг хөгжүүлэх гол түлхүүр бол хэрвээ энэ хувилбар бодитоор хэрэгжсэн бол орлого, зарлага хэрхэн өөрчлөгдөх талаар үнэлгээ хийх, тооцоолох явдал юм.  </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24</a:t>
            </a:fld>
            <a:endParaRPr lang="en-US" altLang="en-US">
              <a:solidFill>
                <a:srgbClr val="5FCBE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инженерчлэлийн эдийн засгийн дүн шинжилгээний үйл явц (4)</a:t>
            </a:r>
            <a:br>
              <a:rPr lang="en-US"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br>
            <a:r>
              <a:rPr lang="en-US" sz="3100"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4.</a:t>
            </a:r>
            <a:r>
              <a:rPr lang="en-US" sz="22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100" b="1" dirty="0">
                <a:latin typeface="Times New Roman" panose="02020603050405020304" pitchFamily="18" charset="0"/>
                <a:ea typeface="Times New Roman" panose="02020603050405020304" pitchFamily="18" charset="0"/>
                <a:cs typeface="Times New Roman" panose="02020603050405020304" pitchFamily="18" charset="0"/>
              </a:rPr>
              <a:t>Шийдвэр гаргах шалгуур үзүүлэлтийг сонгох</a:t>
            </a:r>
            <a:endParaRPr lang="en-US" sz="3100" dirty="0"/>
          </a:p>
        </p:txBody>
      </p:sp>
      <p:sp>
        <p:nvSpPr>
          <p:cNvPr id="3" name="Content Placeholder 2"/>
          <p:cNvSpPr>
            <a:spLocks noGrp="1"/>
          </p:cNvSpPr>
          <p:nvPr>
            <p:ph sz="quarter" idx="13"/>
          </p:nvPr>
        </p:nvSpPr>
        <p:spPr>
          <a:xfrm>
            <a:off x="913774" y="2367092"/>
            <a:ext cx="10363826" cy="4214012"/>
          </a:xfrm>
        </p:spPr>
        <p:txBody>
          <a:bodyPr>
            <a:normAutofit/>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Шийдвэр гаргах шалгуур үзүүлэлтийн (дүн шинжилгээ хийх 4-р алхам) сонголт нь ИЭЗ-ийн V зарчимтай (</a:t>
            </a:r>
            <a:r>
              <a:rPr lang="en-US" cap="none" dirty="0">
                <a:latin typeface="Times New Roman" panose="02020603050405020304" pitchFamily="18" charset="0"/>
                <a:ea typeface="Times New Roman" panose="02020603050405020304" pitchFamily="18" charset="0"/>
                <a:cs typeface="Times New Roman" panose="02020603050405020304" pitchFamily="18" charset="0"/>
              </a:rPr>
              <a:t>холбоотой бүх шалгуур үзүүлэлтүүдийг авч үзэх</a:t>
            </a:r>
            <a:r>
              <a:rPr lang="en-US" dirty="0">
                <a:latin typeface="Times New Roman" panose="02020603050405020304" pitchFamily="18" charset="0"/>
                <a:ea typeface="Times New Roman" panose="02020603050405020304" pitchFamily="18" charset="0"/>
                <a:cs typeface="Times New Roman" panose="02020603050405020304" pitchFamily="18" charset="0"/>
              </a:rPr>
              <a:t>) холбогддог. </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Шийдвэр гаргагч этгээд тухайн байгууллагын эзэмшигчдийн эрх ашгийг урт хугацаанд хамгийн сайнаар хангаж чадах тэр хувилбарыг сонгодог. </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Мөн эдийн засгийн шийдвэр гаргах шалгуур нь инженерчлэлийн эдийн засгийн судалгааны туршид тогтвортой, зөв үзэл баримтлалыг (III Зарчим) тусгах ёстой.</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25</a:t>
            </a:fld>
            <a:endParaRPr lang="en-US" altLang="en-US">
              <a:solidFill>
                <a:srgbClr val="5FCBE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инженерчлэлийн эдийн засгийн дүн шинжилгээний үйл явц (5)</a:t>
            </a:r>
            <a:b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br>
            <a:r>
              <a:rPr lang="en-US" sz="2800"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5.</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ea typeface="Times New Roman" panose="02020603050405020304" pitchFamily="18" charset="0"/>
                <a:cs typeface="Times New Roman" panose="02020603050405020304" pitchFamily="18" charset="0"/>
              </a:rPr>
              <a:t>Хувилбаруудад дүн шинжилгээ хийж,  харьцуулах</a:t>
            </a:r>
            <a:endParaRPr lang="en-US" sz="2800" dirty="0"/>
          </a:p>
        </p:txBody>
      </p:sp>
      <p:sp>
        <p:nvSpPr>
          <p:cNvPr id="3" name="Content Placeholder 2"/>
          <p:cNvSpPr>
            <a:spLocks noGrp="1"/>
          </p:cNvSpPr>
          <p:nvPr>
            <p:ph sz="quarter" idx="13"/>
          </p:nvPr>
        </p:nvSpPr>
        <p:spPr>
          <a:xfrm>
            <a:off x="913774" y="2367092"/>
            <a:ext cx="10363826" cy="4278407"/>
          </a:xfrm>
        </p:spPr>
        <p:txBody>
          <a:bodyPr>
            <a:normAutofit/>
          </a:bodyPr>
          <a:lstStyle/>
          <a:p>
            <a:r>
              <a:rPr lang="en-US" dirty="0">
                <a:latin typeface="Times New Roman" panose="02020603050405020304" pitchFamily="18" charset="0"/>
                <a:ea typeface="Times New Roman" panose="02020603050405020304" pitchFamily="18" charset="0"/>
              </a:rPr>
              <a:t>Техникийн асуудлын эдийн засгийн талын дүн шинжилгээ (5-р Алхам) нь боломжит хувилбаруудын хувьд мөнгөн урсгалын тооцоон дээр суурилдаг. </a:t>
            </a:r>
          </a:p>
          <a:p>
            <a:pPr lvl="1"/>
            <a:r>
              <a:rPr lang="en-US" dirty="0">
                <a:latin typeface="Times New Roman" panose="02020603050405020304" pitchFamily="18" charset="0"/>
                <a:ea typeface="Times New Roman" panose="02020603050405020304" pitchFamily="18" charset="0"/>
              </a:rPr>
              <a:t>Жишээлбэл, инфляциийн (эсвэл дефляцийн) нөлөө, валютын ханшны өөрчлөлт, зохицуулалтын (хууль эрх зүйн) эрх мэдлийн өөрчлөлт зэрэг олон тооны тохиолдлуудад мөнгөн урсгал болон бусад хүчин зүйлсийг бодитоор тооцоолоход ихээхэн хүчин чармайлт шаардагдана. </a:t>
            </a:r>
          </a:p>
          <a:p>
            <a:r>
              <a:rPr lang="en-US" dirty="0">
                <a:latin typeface="Times New Roman" panose="02020603050405020304" pitchFamily="18" charset="0"/>
                <a:ea typeface="Times New Roman" panose="02020603050405020304" pitchFamily="18" charset="0"/>
              </a:rPr>
              <a:t>Мөнгөн гүйлгээ болон бусад шаардлагатай тооцооллыг эцэслэн тодорхойлж дууссаны дараа хувилбаруудыг II зарчимд дурьдсан ялгаан дээр үндэслэн харьцуулж болно. </a:t>
            </a:r>
          </a:p>
          <a:p>
            <a:pPr lvl="1"/>
            <a:r>
              <a:rPr lang="en-US" dirty="0">
                <a:latin typeface="Times New Roman" panose="02020603050405020304" pitchFamily="18" charset="0"/>
                <a:ea typeface="Times New Roman" panose="02020603050405020304" pitchFamily="18" charset="0"/>
              </a:rPr>
              <a:t>Ихэвчлэн эдгээр ялгааг төгрөг зэрэг мөнгөн нэгжээр илэрхийлнэ.</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26</a:t>
            </a:fld>
            <a:endParaRPr lang="en-US" altLang="en-US">
              <a:solidFill>
                <a:srgbClr val="5FCBE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инженерчлэлийн эдийн засгийн дүн шинжилгээний үйл явц (6)</a:t>
            </a:r>
            <a:b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br>
            <a:r>
              <a:rPr lang="en-US" sz="3200"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6.</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cs typeface="Times New Roman" panose="02020603050405020304" pitchFamily="18" charset="0"/>
              </a:rPr>
              <a:t>Боломжит хувилбарыг сонгох</a:t>
            </a:r>
            <a:endParaRPr lang="en-US" sz="3200" dirty="0"/>
          </a:p>
        </p:txBody>
      </p:sp>
      <p:sp>
        <p:nvSpPr>
          <p:cNvPr id="3" name="Content Placeholder 2"/>
          <p:cNvSpPr>
            <a:spLocks noGrp="1"/>
          </p:cNvSpPr>
          <p:nvPr>
            <p:ph sz="quarter" idx="13"/>
          </p:nvPr>
        </p:nvSpPr>
        <p:spPr/>
        <p:txBody>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ИЭЗ-ийн эдийн засгийн дүн шинжилгээний эхний таван алхмыг зөв хийсний үр дүнд  хамгийн тохиромжтой хувилбар (6-р алхам)-ыг сонгоно. </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тйимээс техник болон эдийн засгийн загварчлал, ухаалаг байдал, дүн шинжилгээний аргуудын чанараас хүрсэн үр дүнгийн чанар, санал болгосон үйл ажиллагааны чиглэл шалтгаална. </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27</a:t>
            </a:fld>
            <a:endParaRPr lang="en-US" altLang="en-US">
              <a:solidFill>
                <a:srgbClr val="5FCBE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инженерчлэлийн эдийн засгийн дүн шинжилгээний үйл явц (7)</a:t>
            </a:r>
            <a:br>
              <a:rPr lang="en-US" sz="3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br>
            <a:r>
              <a:rPr lang="en-US" sz="2200" b="1" dirty="0">
                <a:latin typeface="Times New Roman" panose="02020603050405020304" pitchFamily="18" charset="0"/>
                <a:ea typeface="Times New Roman" panose="02020603050405020304" pitchFamily="18" charset="0"/>
                <a:cs typeface="Times New Roman" panose="02020603050405020304" pitchFamily="18" charset="0"/>
              </a:rPr>
              <a:t>7. гүйцэтгэлийг хянаж, үр дүнд эцсийн үнэлгээ хийх.</a:t>
            </a:r>
            <a:endParaRPr lang="en-US" sz="2200" dirty="0"/>
          </a:p>
        </p:txBody>
      </p:sp>
      <p:sp>
        <p:nvSpPr>
          <p:cNvPr id="3" name="Content Placeholder 2"/>
          <p:cNvSpPr>
            <a:spLocks noGrp="1"/>
          </p:cNvSpPr>
          <p:nvPr>
            <p:ph sz="quarter" idx="13"/>
          </p:nvPr>
        </p:nvSpPr>
        <p:spPr>
          <a:xfrm>
            <a:off x="913774" y="2367092"/>
            <a:ext cx="10363826" cy="4342801"/>
          </a:xfrm>
        </p:spPr>
        <p:txBody>
          <a:bodyPr>
            <a:normAutofit lnSpcReduction="10000"/>
          </a:bodyPr>
          <a:lstStyle/>
          <a:p>
            <a:r>
              <a:rPr lang="en-US" dirty="0">
                <a:latin typeface="Times New Roman" panose="02020603050405020304" pitchFamily="18" charset="0"/>
                <a:ea typeface="Times New Roman" panose="02020603050405020304" pitchFamily="18" charset="0"/>
                <a:cs typeface="Times New Roman" panose="02020603050405020304" pitchFamily="18" charset="0"/>
              </a:rPr>
              <a:t>Энэ алхамд ИЭЗ-ийн VII зарчмыг хэрэгжүүлнэ. </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Үйл ажиллагааны үе шатанд төслийн гүйцэтгэлийг хянах нь холбогдох зорилго зорилтыг биелүүлэхэд сайнаар нөлөөлж, хүлээгдэж буй үр дүнгийн хэлбэлзлийг бууруулдаг. </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Өөрөөр хэлбэл, таамаглаж байсан үр дүнтэй бодит үр дүнгүүд хэрхэн таарч байгааг харьцуулах замаар өмнөх дүн шинжилгээтэй холбогддог алхам юм. </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Үүний зорилго нь илүү сайн дүн шинжилгээ хийх арга замыг судлах юм. </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Дараагийн шатны үнэлгээний хариу нь аливаа байгууллага дахь үйл ажиллагааг тасралтгүй сайжруулахад чухал ач холбогдолтой.</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28</a:t>
            </a:fld>
            <a:endParaRPr lang="en-US" altLang="en-US">
              <a:solidFill>
                <a:srgbClr val="5FCBE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latin typeface="Times New Roman" panose="02020603050405020304" pitchFamily="18" charset="0"/>
                <a:ea typeface="Malgun Gothic" panose="020B0503020000020004" pitchFamily="34" charset="-127"/>
                <a:cs typeface="Times New Roman" panose="02020603050405020304" pitchFamily="18" charset="0"/>
              </a:rPr>
              <a:t>Лекц №1 ХИЧЭЭЛИЙН ШАЛГАХ АСУУЛТУУД:</a:t>
            </a:r>
            <a:endParaRPr lang="en-US" dirty="0"/>
          </a:p>
        </p:txBody>
      </p:sp>
      <p:sp>
        <p:nvSpPr>
          <p:cNvPr id="3" name="Content Placeholder 2"/>
          <p:cNvSpPr>
            <a:spLocks noGrp="1"/>
          </p:cNvSpPr>
          <p:nvPr>
            <p:ph sz="quarter" idx="13"/>
          </p:nvPr>
        </p:nvSpPr>
        <p:spPr>
          <a:xfrm>
            <a:off x="913774" y="2367092"/>
            <a:ext cx="10363826" cy="4490907"/>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1. Инженер гэж хэн бэ?, ямар үйл ажиллагаа эрхэлдэг вэ?</a:t>
            </a:r>
          </a:p>
          <a:p>
            <a:r>
              <a:rPr lang="en-US" dirty="0">
                <a:latin typeface="Times New Roman" panose="02020603050405020304" pitchFamily="18" charset="0"/>
                <a:cs typeface="Times New Roman" panose="02020603050405020304" pitchFamily="18" charset="0"/>
              </a:rPr>
              <a:t>2. “инженерчлэлийн эдийн засаг”-ийн тодорхойлолтыг  хэлнэ үү?</a:t>
            </a:r>
          </a:p>
          <a:p>
            <a:r>
              <a:rPr lang="en-US" dirty="0">
                <a:latin typeface="Times New Roman" panose="02020603050405020304" pitchFamily="18" charset="0"/>
                <a:cs typeface="Times New Roman" panose="02020603050405020304" pitchFamily="18" charset="0"/>
              </a:rPr>
              <a:t>3. “инженерчлэлийн эдийн засаг” хичээл юу юуг судлах вэ?</a:t>
            </a:r>
          </a:p>
          <a:p>
            <a:pPr lvl="0">
              <a:buClr>
                <a:srgbClr val="5FCBEF"/>
              </a:buClr>
            </a:pPr>
            <a:r>
              <a:rPr lang="en-US" dirty="0">
                <a:latin typeface="Times New Roman" panose="02020603050405020304" pitchFamily="18" charset="0"/>
                <a:cs typeface="Times New Roman" panose="02020603050405020304" pitchFamily="18" charset="0"/>
              </a:rPr>
              <a:t>4. “инженерчлэлийн эдийн засаг” хичээлийн үр дүн, ач холбогдол юу вэ?</a:t>
            </a:r>
          </a:p>
          <a:p>
            <a:pPr lvl="0">
              <a:buClr>
                <a:srgbClr val="5FCBEF"/>
              </a:buClr>
            </a:pPr>
            <a:r>
              <a:rPr lang="en-US" dirty="0">
                <a:latin typeface="Times New Roman" panose="02020603050405020304" pitchFamily="18" charset="0"/>
                <a:cs typeface="Times New Roman" panose="02020603050405020304" pitchFamily="18" charset="0"/>
              </a:rPr>
              <a:t>5. инженерчлэлийн эдийн засгийн зарчмуудыг  нэрлэнэ үү?</a:t>
            </a:r>
          </a:p>
          <a:p>
            <a:r>
              <a:rPr lang="en-US"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ea typeface="Times New Roman" panose="02020603050405020304" pitchFamily="18" charset="0"/>
                <a:cs typeface="Times New Roman" panose="02020603050405020304" pitchFamily="18" charset="0"/>
              </a:rPr>
              <a:t> инженерчлэлийн эдийн засгийн дүн шинжилгээний үйл явц (алхам)-ын дарааллыг тайлбарла.</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7. инженерчлэлийн төсөл хийх үйл ажиллагааг дарааллаар нь дурьд.</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8. Асуудал тодорхойлох зарчим, хувилбарыг жишээ гарган тайлбарла.</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9. Хөрөнгө оруулалтын хувилбаруудыг тооч.</a:t>
            </a:r>
          </a:p>
          <a:p>
            <a:r>
              <a:rPr lang="en-US" dirty="0">
                <a:latin typeface="Times New Roman" panose="02020603050405020304" pitchFamily="18" charset="0"/>
                <a:ea typeface="Times New Roman" panose="02020603050405020304" pitchFamily="18" charset="0"/>
                <a:cs typeface="Times New Roman" panose="02020603050405020304" pitchFamily="18" charset="0"/>
              </a:rPr>
              <a:t>10. инженерчлэлийн эдийн засгийн дүн шинжилгээг хэрэглэх жишээ гаргаж тайлбарла.</a:t>
            </a:r>
            <a:endParaRPr lang="en-US" dirty="0"/>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29</a:t>
            </a:fld>
            <a:endParaRPr lang="en-US" altLang="en-US">
              <a:solidFill>
                <a:srgbClr val="5FCBE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Анхаарал тавьсанд баярлалаа</a:t>
            </a:r>
          </a:p>
        </p:txBody>
      </p:sp>
      <p:pic>
        <p:nvPicPr>
          <p:cNvPr id="5" name="Content Placeholder 4"/>
          <p:cNvPicPr>
            <a:picLocks noGrp="1" noChangeAspect="1"/>
          </p:cNvPicPr>
          <p:nvPr>
            <p:ph sz="quarter" idx="13"/>
          </p:nvPr>
        </p:nvPicPr>
        <p:blipFill>
          <a:blip r:embed="rId3" cstate="print">
            <a:extLst>
              <a:ext uri="{28A0092B-C50C-407E-A947-70E740481C1C}">
                <a14:useLocalDpi xmlns:a14="http://schemas.microsoft.com/office/drawing/2010/main" val="0"/>
              </a:ext>
            </a:extLst>
          </a:blip>
          <a:stretch>
            <a:fillRect/>
          </a:stretch>
        </p:blipFill>
        <p:spPr>
          <a:xfrm>
            <a:off x="2052311" y="2638748"/>
            <a:ext cx="8087377" cy="2820473"/>
          </a:xfrm>
        </p:spPr>
      </p:pic>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t>30</a:t>
            </a:fld>
            <a:endParaRPr lang="en-US" altLang="en-US">
              <a:solidFill>
                <a:srgbClr val="5FCBEF"/>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1.2"/>
  <p:tag name="ISPRING_ULTRA_SCORM_COURSE_ID" val="AD6E72FF-7317-4BE4-89BA-62A41CA4BB50"/>
  <p:tag name="ISPRING_CMI5_LAUNCH_METHOD" val="any window"/>
  <p:tag name="ISPRING_SCORM_ENDPOINT" val="&lt;endpoint&gt;&lt;enable&gt;0&lt;/enable&gt;&lt;lrs&gt;http://&lt;/lrs&gt;&lt;auth&gt;0&lt;/auth&gt;&lt;login&gt;&lt;/login&gt;&lt;password&gt;&lt;/password&gt;&lt;key&gt;&lt;/key&gt;&lt;name&gt;&lt;/name&gt;&lt;email&gt;&lt;/email&gt;&lt;/endpoint&gt;&#10;"/>
  <p:tag name="ISPRING_SCORM_RATE_SLIDES" val="1"/>
  <p:tag name="ISPRINGCLOUDFOLDERID" val="1"/>
  <p:tag name="ISPRINGONLINEFOLDERID" val="1"/>
  <p:tag name="ISPRING_OUTPUT_FOLDER" val="[[&quot;ZTNZ{076B95FB-54AF-48EC-9D2E-048DFDFE1B6C}&quot;,&quot;D:\\Lessons\\CN104 - Engineering Economy\\F.CN104 Инженерийн эдийн засаг_2020-08-21\\Lecture&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free&quot;},&quot;advancedSettings&quot;:{&quot;enableTextAllocation&quot;:&quot;T_TRUE&quot;,&quot;viewingFromLocalDrive&quot;:&quot;T_TRUE&quot;,&quot;contentScale&quot;:75,&quot;contentScaleMode&quot;:&quot;SCAL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QUIZZES" val="0"/>
  <p:tag name="ISPRING_SCORM_PASSING_SCORE" val="100.000000"/>
  <p:tag name="ISPRING_PRESENTATION_TITLE" val="CN104 Lecture1_Oyu_2020-08-23"/>
  <p:tag name="ISPRING_FIRST_PUBLISH" val="1"/>
</p:tagLst>
</file>

<file path=ppt/theme/theme1.xml><?xml version="1.0" encoding="utf-8"?>
<a:theme xmlns:a="http://schemas.openxmlformats.org/drawingml/2006/main" name="Drople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0</TotalTime>
  <Words>2634</Words>
  <Application>Microsoft Office PowerPoint</Application>
  <PresentationFormat>Widescreen</PresentationFormat>
  <Paragraphs>280</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Malgun Gothic</vt:lpstr>
      <vt:lpstr>Arial</vt:lpstr>
      <vt:lpstr>Calibri</vt:lpstr>
      <vt:lpstr>Cambria</vt:lpstr>
      <vt:lpstr>Times New Roman</vt:lpstr>
      <vt:lpstr>Times New Roman Mon</vt:lpstr>
      <vt:lpstr>Wingdings</vt:lpstr>
      <vt:lpstr>Droplet</vt:lpstr>
      <vt:lpstr>Лекц №1 инженерчлэлийн эдийн засгийн үндсэн ойлголт, түүний зарчмууд</vt:lpstr>
      <vt:lpstr>ХИЧЭЭЛИЙН СУРАЛЦАХУЙН ҮР ДҮНГҮҮД: Оюутан энэ сэдвийг судалснаар дараах чадваруудтай болсон байна.</vt:lpstr>
      <vt:lpstr>ХИЧЭЭЛД ХЭРЭГЛЭГДЭХ МЭРГЭЖЛИЙН НЭР ТОМЬЁОНУУД:</vt:lpstr>
      <vt:lpstr>Хичээлийн АГУУЛГА</vt:lpstr>
      <vt:lpstr>1.1. Инженер гэж хэн бэ? (1)</vt:lpstr>
      <vt:lpstr>1.1. Инженер гэж хэн бэ? (2)</vt:lpstr>
      <vt:lpstr>инженерчлэлийн эдийн засаг (1)</vt:lpstr>
      <vt:lpstr>инженерчлэлийн эдийн засаг (2)</vt:lpstr>
      <vt:lpstr>инженерчлэлийн эдийн засаг (3)</vt:lpstr>
      <vt:lpstr>1.2. инженерчлэлийн эдийн засгийн зарчмууд (1)</vt:lpstr>
      <vt:lpstr>1.2. инженерчлэлийн эдийн засгийн зарчмууд (2)</vt:lpstr>
      <vt:lpstr>1.2. инженерчлэлийн эдийн засгийн зарчмууд (3)</vt:lpstr>
      <vt:lpstr>1.2. инженерчлэлийн эдийн засгийн зарчмууд (4)</vt:lpstr>
      <vt:lpstr>1.2. инженерчлэлийн эдийн засгийн зарчмууд (5)</vt:lpstr>
      <vt:lpstr>1.2. инженерчлэлийн эдийн засгийн зарчмууд (6)</vt:lpstr>
      <vt:lpstr>1.3. инженерчлэлийн эдийн засгийн дүн шинжилгээний үйл явц ИЭЗ-ийн дүн шинжилгээний үйл явц ба инженерчлэлийн загварчлах үйл явцын хоорондох хамаарал</vt:lpstr>
      <vt:lpstr>инженерчлэлийн эдийн засгийн дүн шинжилгээний үйл явц (1) 1. Асуудлыг тодорхойлох</vt:lpstr>
      <vt:lpstr>инженерчлэлийн эдийн засгийн дүн шинжилгээний үйл явц (2) 2.Хувилбаруудын боловсруулалт</vt:lpstr>
      <vt:lpstr>Хөрөнгө оруулах хувилбарыг боловсруулах (1)</vt:lpstr>
      <vt:lpstr>Хөрөнгө оруулах хувилбарыг боловсруулах (2)</vt:lpstr>
      <vt:lpstr>Хөрөнгө оруулах хувилбарыг боловсруулах (3)</vt:lpstr>
      <vt:lpstr>Хөрөнгө оруулах хувилбарыг боловсруулах (4)</vt:lpstr>
      <vt:lpstr>Хөрөнгө оруулах хувилбарыг боловсруулах (5)</vt:lpstr>
      <vt:lpstr>инженерчлэлийн эдийн засгийн дүн шинжилгээний үйл явц (3) 3. Боломжит (гарсан) үр дүнг хөгжүүлэх</vt:lpstr>
      <vt:lpstr>инженерчлэлийн эдийн засгийн дүн шинжилгээний үйл явц (4) 4. Шийдвэр гаргах шалгуур үзүүлэлтийг сонгох</vt:lpstr>
      <vt:lpstr>инженерчлэлийн эдийн засгийн дүн шинжилгээний үйл явц (5) 5. Хувилбаруудад дүн шинжилгээ хийж,  харьцуулах</vt:lpstr>
      <vt:lpstr>инженерчлэлийн эдийн засгийн дүн шинжилгээний үйл явц (6) 6. Боломжит хувилбарыг сонгох</vt:lpstr>
      <vt:lpstr>инженерчлэлийн эдийн засгийн дүн шинжилгээний үйл явц (7) 7. гүйцэтгэлийг хянаж, үр дүнд эцсийн үнэлгээ хийх.</vt:lpstr>
      <vt:lpstr>Лекц №1 ХИЧЭЭЛИЙН ШАЛГАХ АСУУЛТУУД:</vt:lpstr>
      <vt:lpstr>Анхаарал тавьсанд баярлалаа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CN104 Lecture1_Oyu_2020-08-23</dc:title>
  <dc:creator>lkhagvaa</dc:creator>
  <cp:lastModifiedBy>Ariunaa Tsogbadrakh</cp:lastModifiedBy>
  <cp:revision>142</cp:revision>
  <dcterms:created xsi:type="dcterms:W3CDTF">2017-08-25T16:55:00Z</dcterms:created>
  <dcterms:modified xsi:type="dcterms:W3CDTF">2025-01-27T08:58:50Z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F4340A45AE0F414A9650D7B67EBD03BD_13</vt:lpwstr>
  </property>
  <property fmtid="{D5CDD505-2E9C-101B-9397-08002B2CF9AE}" pid="3" name="KSOProductBuildVer">
    <vt:lpwstr>1033-12.2.0.19805</vt:lpwstr>
  </property>
</Properties>
</file>