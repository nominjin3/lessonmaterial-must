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Lst>
  <p:notesMasterIdLst>
    <p:notesMasterId r:id="rId22"/>
  </p:notesMasterIdLst>
  <p:sldIdLst>
    <p:sldId id="295" r:id="rId2"/>
    <p:sldId id="345" r:id="rId3"/>
    <p:sldId id="297" r:id="rId4"/>
    <p:sldId id="324" r:id="rId5"/>
    <p:sldId id="326" r:id="rId6"/>
    <p:sldId id="332" r:id="rId7"/>
    <p:sldId id="334" r:id="rId8"/>
    <p:sldId id="333" r:id="rId9"/>
    <p:sldId id="335" r:id="rId10"/>
    <p:sldId id="336" r:id="rId11"/>
    <p:sldId id="337" r:id="rId12"/>
    <p:sldId id="338" r:id="rId13"/>
    <p:sldId id="339" r:id="rId14"/>
    <p:sldId id="340" r:id="rId15"/>
    <p:sldId id="341" r:id="rId16"/>
    <p:sldId id="342" r:id="rId17"/>
    <p:sldId id="343" r:id="rId18"/>
    <p:sldId id="344" r:id="rId19"/>
    <p:sldId id="322" r:id="rId20"/>
    <p:sldId id="323" r:id="rId21"/>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60" autoAdjust="0"/>
    <p:restoredTop sz="75503" autoAdjust="0"/>
  </p:normalViewPr>
  <p:slideViewPr>
    <p:cSldViewPr snapToGrid="0">
      <p:cViewPr varScale="1">
        <p:scale>
          <a:sx n="82" d="100"/>
          <a:sy n="82" d="100"/>
        </p:scale>
        <p:origin x="105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534B8A-48EA-4332-8ECE-B07669C063BF}" type="datetimeFigureOut">
              <a:rPr lang="en-US" smtClean="0"/>
              <a:pPr/>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EDF642-B262-430D-B430-4F661DAD0EEB}" type="slidenum">
              <a:rPr lang="en-US" smtClean="0"/>
              <a:pPr/>
              <a:t>‹#›</a:t>
            </a:fld>
            <a:endParaRPr lang="en-US"/>
          </a:p>
        </p:txBody>
      </p:sp>
    </p:spTree>
    <p:extLst>
      <p:ext uri="{BB962C8B-B14F-4D97-AF65-F5344CB8AC3E}">
        <p14:creationId xmlns:p14="http://schemas.microsoft.com/office/powerpoint/2010/main" val="3605837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a:t>
            </a:fld>
            <a:endParaRPr lang="en-US"/>
          </a:p>
        </p:txBody>
      </p:sp>
    </p:spTree>
    <p:extLst>
      <p:ext uri="{BB962C8B-B14F-4D97-AF65-F5344CB8AC3E}">
        <p14:creationId xmlns:p14="http://schemas.microsoft.com/office/powerpoint/2010/main" val="3986435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EDF642-B262-430D-B430-4F661DAD0EEB}" type="slidenum">
              <a:rPr lang="en-US" smtClean="0"/>
              <a:pPr/>
              <a:t>2</a:t>
            </a:fld>
            <a:endParaRPr lang="en-US"/>
          </a:p>
        </p:txBody>
      </p:sp>
    </p:spTree>
    <p:extLst>
      <p:ext uri="{BB962C8B-B14F-4D97-AF65-F5344CB8AC3E}">
        <p14:creationId xmlns:p14="http://schemas.microsoft.com/office/powerpoint/2010/main" val="942957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3</a:t>
            </a:fld>
            <a:endParaRPr lang="en-US"/>
          </a:p>
        </p:txBody>
      </p:sp>
    </p:spTree>
    <p:extLst>
      <p:ext uri="{BB962C8B-B14F-4D97-AF65-F5344CB8AC3E}">
        <p14:creationId xmlns:p14="http://schemas.microsoft.com/office/powerpoint/2010/main" val="196838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4</a:t>
            </a:fld>
            <a:endParaRPr lang="en-US"/>
          </a:p>
        </p:txBody>
      </p:sp>
    </p:spTree>
    <p:extLst>
      <p:ext uri="{BB962C8B-B14F-4D97-AF65-F5344CB8AC3E}">
        <p14:creationId xmlns:p14="http://schemas.microsoft.com/office/powerpoint/2010/main" val="4191703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5</a:t>
            </a:fld>
            <a:endParaRPr lang="en-US"/>
          </a:p>
        </p:txBody>
      </p:sp>
    </p:spTree>
    <p:extLst>
      <p:ext uri="{BB962C8B-B14F-4D97-AF65-F5344CB8AC3E}">
        <p14:creationId xmlns:p14="http://schemas.microsoft.com/office/powerpoint/2010/main" val="2211347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6</a:t>
            </a:fld>
            <a:endParaRPr lang="en-US"/>
          </a:p>
        </p:txBody>
      </p:sp>
    </p:spTree>
    <p:extLst>
      <p:ext uri="{BB962C8B-B14F-4D97-AF65-F5344CB8AC3E}">
        <p14:creationId xmlns:p14="http://schemas.microsoft.com/office/powerpoint/2010/main" val="1014814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7</a:t>
            </a:fld>
            <a:endParaRPr lang="en-US"/>
          </a:p>
        </p:txBody>
      </p:sp>
    </p:spTree>
    <p:extLst>
      <p:ext uri="{BB962C8B-B14F-4D97-AF65-F5344CB8AC3E}">
        <p14:creationId xmlns:p14="http://schemas.microsoft.com/office/powerpoint/2010/main" val="1140076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8</a:t>
            </a:fld>
            <a:endParaRPr lang="en-US"/>
          </a:p>
        </p:txBody>
      </p:sp>
    </p:spTree>
    <p:extLst>
      <p:ext uri="{BB962C8B-B14F-4D97-AF65-F5344CB8AC3E}">
        <p14:creationId xmlns:p14="http://schemas.microsoft.com/office/powerpoint/2010/main" val="3572028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9</a:t>
            </a:fld>
            <a:endParaRPr lang="en-US"/>
          </a:p>
        </p:txBody>
      </p:sp>
    </p:spTree>
    <p:extLst>
      <p:ext uri="{BB962C8B-B14F-4D97-AF65-F5344CB8AC3E}">
        <p14:creationId xmlns:p14="http://schemas.microsoft.com/office/powerpoint/2010/main" val="2168728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10</a:t>
            </a:fld>
            <a:endParaRPr lang="en-US"/>
          </a:p>
        </p:txBody>
      </p:sp>
    </p:spTree>
    <p:extLst>
      <p:ext uri="{BB962C8B-B14F-4D97-AF65-F5344CB8AC3E}">
        <p14:creationId xmlns:p14="http://schemas.microsoft.com/office/powerpoint/2010/main" val="2630371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11</a:t>
            </a:fld>
            <a:endParaRPr lang="en-US"/>
          </a:p>
        </p:txBody>
      </p:sp>
    </p:spTree>
    <p:extLst>
      <p:ext uri="{BB962C8B-B14F-4D97-AF65-F5344CB8AC3E}">
        <p14:creationId xmlns:p14="http://schemas.microsoft.com/office/powerpoint/2010/main" val="3813468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12</a:t>
            </a:fld>
            <a:endParaRPr lang="en-US"/>
          </a:p>
        </p:txBody>
      </p:sp>
    </p:spTree>
    <p:extLst>
      <p:ext uri="{BB962C8B-B14F-4D97-AF65-F5344CB8AC3E}">
        <p14:creationId xmlns:p14="http://schemas.microsoft.com/office/powerpoint/2010/main" val="2139229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14</a:t>
            </a:fld>
            <a:endParaRPr lang="en-US"/>
          </a:p>
        </p:txBody>
      </p:sp>
    </p:spTree>
    <p:extLst>
      <p:ext uri="{BB962C8B-B14F-4D97-AF65-F5344CB8AC3E}">
        <p14:creationId xmlns:p14="http://schemas.microsoft.com/office/powerpoint/2010/main" val="6281799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15</a:t>
            </a:fld>
            <a:endParaRPr lang="en-US"/>
          </a:p>
        </p:txBody>
      </p:sp>
    </p:spTree>
    <p:extLst>
      <p:ext uri="{BB962C8B-B14F-4D97-AF65-F5344CB8AC3E}">
        <p14:creationId xmlns:p14="http://schemas.microsoft.com/office/powerpoint/2010/main" val="1071955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16</a:t>
            </a:fld>
            <a:endParaRPr lang="en-US"/>
          </a:p>
        </p:txBody>
      </p:sp>
    </p:spTree>
    <p:extLst>
      <p:ext uri="{BB962C8B-B14F-4D97-AF65-F5344CB8AC3E}">
        <p14:creationId xmlns:p14="http://schemas.microsoft.com/office/powerpoint/2010/main" val="9017341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17</a:t>
            </a:fld>
            <a:endParaRPr lang="en-US"/>
          </a:p>
        </p:txBody>
      </p:sp>
    </p:spTree>
    <p:extLst>
      <p:ext uri="{BB962C8B-B14F-4D97-AF65-F5344CB8AC3E}">
        <p14:creationId xmlns:p14="http://schemas.microsoft.com/office/powerpoint/2010/main" val="1906646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18</a:t>
            </a:fld>
            <a:endParaRPr lang="en-US"/>
          </a:p>
        </p:txBody>
      </p:sp>
    </p:spTree>
    <p:extLst>
      <p:ext uri="{BB962C8B-B14F-4D97-AF65-F5344CB8AC3E}">
        <p14:creationId xmlns:p14="http://schemas.microsoft.com/office/powerpoint/2010/main" val="21678452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19</a:t>
            </a:fld>
            <a:endParaRPr lang="en-US"/>
          </a:p>
        </p:txBody>
      </p:sp>
    </p:spTree>
    <p:extLst>
      <p:ext uri="{BB962C8B-B14F-4D97-AF65-F5344CB8AC3E}">
        <p14:creationId xmlns:p14="http://schemas.microsoft.com/office/powerpoint/2010/main" val="826084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DF642-B262-430D-B430-4F661DAD0EEB}" type="slidenum">
              <a:rPr lang="en-US" smtClean="0"/>
              <a:pPr/>
              <a:t>20</a:t>
            </a:fld>
            <a:endParaRPr lang="en-US"/>
          </a:p>
        </p:txBody>
      </p:sp>
    </p:spTree>
    <p:extLst>
      <p:ext uri="{BB962C8B-B14F-4D97-AF65-F5344CB8AC3E}">
        <p14:creationId xmlns:p14="http://schemas.microsoft.com/office/powerpoint/2010/main" val="2069599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3C6E7-63D0-452D-ACEE-23AEE8F5D0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593D59-0445-4B43-9147-97757E8C17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D24BCC-EAB2-4CFD-A6FD-ED207A1D04CE}"/>
              </a:ext>
            </a:extLst>
          </p:cNvPr>
          <p:cNvSpPr>
            <a:spLocks noGrp="1"/>
          </p:cNvSpPr>
          <p:nvPr>
            <p:ph type="dt" sz="half" idx="10"/>
          </p:nvPr>
        </p:nvSpPr>
        <p:spPr/>
        <p:txBody>
          <a:bodyPr/>
          <a:lstStyle/>
          <a:p>
            <a:pPr>
              <a:defRPr/>
            </a:pPr>
            <a:endParaRPr lang="en-US" altLang="en-US">
              <a:solidFill>
                <a:prstClr val="black">
                  <a:tint val="75000"/>
                </a:prstClr>
              </a:solidFill>
            </a:endParaRPr>
          </a:p>
        </p:txBody>
      </p:sp>
      <p:sp>
        <p:nvSpPr>
          <p:cNvPr id="5" name="Footer Placeholder 4">
            <a:extLst>
              <a:ext uri="{FF2B5EF4-FFF2-40B4-BE49-F238E27FC236}">
                <a16:creationId xmlns:a16="http://schemas.microsoft.com/office/drawing/2014/main" id="{EFD1FE2B-8A51-46BE-919A-EE8FC831BC3E}"/>
              </a:ext>
            </a:extLst>
          </p:cNvPr>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6" name="Slide Number Placeholder 5">
            <a:extLst>
              <a:ext uri="{FF2B5EF4-FFF2-40B4-BE49-F238E27FC236}">
                <a16:creationId xmlns:a16="http://schemas.microsoft.com/office/drawing/2014/main" id="{4D4244FC-3369-43D1-AC1A-5A5D00746C2C}"/>
              </a:ext>
            </a:extLst>
          </p:cNvPr>
          <p:cNvSpPr>
            <a:spLocks noGrp="1"/>
          </p:cNvSpPr>
          <p:nvPr>
            <p:ph type="sldNum" sz="quarter" idx="12"/>
          </p:nvPr>
        </p:nvSpPr>
        <p:spPr/>
        <p:txBody>
          <a:bodyPr/>
          <a:lstStyle/>
          <a:p>
            <a:pPr>
              <a:defRPr/>
            </a:pPr>
            <a:fld id="{9CC73B9C-8601-4C97-A368-5C8122BF1745}" type="slidenum">
              <a:rPr lang="en-US" altLang="en-US" smtClean="0">
                <a:solidFill>
                  <a:srgbClr val="5FCBEF"/>
                </a:solidFill>
              </a:rPr>
              <a:pPr>
                <a:defRPr/>
              </a:pPr>
              <a:t>‹#›</a:t>
            </a:fld>
            <a:endParaRPr lang="en-US" altLang="en-US">
              <a:solidFill>
                <a:srgbClr val="5FCBEF"/>
              </a:solidFill>
            </a:endParaRPr>
          </a:p>
        </p:txBody>
      </p:sp>
    </p:spTree>
    <p:extLst>
      <p:ext uri="{BB962C8B-B14F-4D97-AF65-F5344CB8AC3E}">
        <p14:creationId xmlns:p14="http://schemas.microsoft.com/office/powerpoint/2010/main" val="2248577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2819-326B-4C32-BA79-1A88D160A8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374501-0A3E-4DE6-807D-8D93710392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F99A6-524E-454C-BEEB-52F563449DDD}"/>
              </a:ext>
            </a:extLst>
          </p:cNvPr>
          <p:cNvSpPr>
            <a:spLocks noGrp="1"/>
          </p:cNvSpPr>
          <p:nvPr>
            <p:ph type="dt" sz="half" idx="10"/>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5" name="Footer Placeholder 4">
            <a:extLst>
              <a:ext uri="{FF2B5EF4-FFF2-40B4-BE49-F238E27FC236}">
                <a16:creationId xmlns:a16="http://schemas.microsoft.com/office/drawing/2014/main" id="{3A9BA86E-6A1B-4916-A050-D83F011EA8E4}"/>
              </a:ext>
            </a:extLst>
          </p:cNvPr>
          <p:cNvSpPr>
            <a:spLocks noGrp="1"/>
          </p:cNvSpPr>
          <p:nvPr>
            <p:ph type="ftr" sz="quarter" idx="11"/>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6" name="Slide Number Placeholder 5">
            <a:extLst>
              <a:ext uri="{FF2B5EF4-FFF2-40B4-BE49-F238E27FC236}">
                <a16:creationId xmlns:a16="http://schemas.microsoft.com/office/drawing/2014/main" id="{AD22D9D3-9E4C-4E7B-B60C-E65932FDC2DA}"/>
              </a:ext>
            </a:extLst>
          </p:cNvPr>
          <p:cNvSpPr>
            <a:spLocks noGrp="1"/>
          </p:cNvSpPr>
          <p:nvPr>
            <p:ph type="sldNum" sz="quarter" idx="12"/>
          </p:nvPr>
        </p:nvSpPr>
        <p:spPr/>
        <p:txBody>
          <a:body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pPr eaLnBrk="0" fontAlgn="base" hangingPunct="0">
                <a:spcBef>
                  <a:spcPct val="0"/>
                </a:spcBef>
                <a:spcAft>
                  <a:spcPct val="0"/>
                </a:spcAft>
                <a:defRPr/>
              </a:pPr>
              <a:t>‹#›</a:t>
            </a:fld>
            <a:endParaRPr lang="en-US" altLang="en-US">
              <a:solidFill>
                <a:srgbClr val="5FCBEF"/>
              </a:solidFill>
              <a:latin typeface="Arial" panose="020B0604020202020204" pitchFamily="34" charset="0"/>
            </a:endParaRPr>
          </a:p>
        </p:txBody>
      </p:sp>
    </p:spTree>
    <p:extLst>
      <p:ext uri="{BB962C8B-B14F-4D97-AF65-F5344CB8AC3E}">
        <p14:creationId xmlns:p14="http://schemas.microsoft.com/office/powerpoint/2010/main" val="227953398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0279B-865B-44D7-8C1F-718716D190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6C9884-D45C-4D05-851E-4E8C52177A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E1104F-6BAD-47AD-A0B6-8F27AAF644A4}"/>
              </a:ext>
            </a:extLst>
          </p:cNvPr>
          <p:cNvSpPr>
            <a:spLocks noGrp="1"/>
          </p:cNvSpPr>
          <p:nvPr>
            <p:ph type="dt" sz="half" idx="10"/>
          </p:nvPr>
        </p:nvSpPr>
        <p:spPr/>
        <p:txBody>
          <a:bodyPr/>
          <a:lstStyle/>
          <a:p>
            <a:pPr>
              <a:defRPr/>
            </a:pPr>
            <a:endParaRPr lang="en-US" altLang="en-US">
              <a:solidFill>
                <a:prstClr val="black">
                  <a:tint val="75000"/>
                </a:prstClr>
              </a:solidFill>
            </a:endParaRPr>
          </a:p>
        </p:txBody>
      </p:sp>
      <p:sp>
        <p:nvSpPr>
          <p:cNvPr id="5" name="Footer Placeholder 4">
            <a:extLst>
              <a:ext uri="{FF2B5EF4-FFF2-40B4-BE49-F238E27FC236}">
                <a16:creationId xmlns:a16="http://schemas.microsoft.com/office/drawing/2014/main" id="{A38E6A1D-6DBE-42D4-919F-4E0F428D5171}"/>
              </a:ext>
            </a:extLst>
          </p:cNvPr>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6" name="Slide Number Placeholder 5">
            <a:extLst>
              <a:ext uri="{FF2B5EF4-FFF2-40B4-BE49-F238E27FC236}">
                <a16:creationId xmlns:a16="http://schemas.microsoft.com/office/drawing/2014/main" id="{43979042-2520-4B2D-9897-9A5AD1989A38}"/>
              </a:ext>
            </a:extLst>
          </p:cNvPr>
          <p:cNvSpPr>
            <a:spLocks noGrp="1"/>
          </p:cNvSpPr>
          <p:nvPr>
            <p:ph type="sldNum" sz="quarter" idx="12"/>
          </p:nvPr>
        </p:nvSpPr>
        <p:spPr/>
        <p:txBody>
          <a:bodyPr/>
          <a:lstStyle/>
          <a:p>
            <a:pPr>
              <a:defRPr/>
            </a:pPr>
            <a:fld id="{35F85EBA-3F03-48DA-A956-77011D7374CF}" type="slidenum">
              <a:rPr lang="en-US" altLang="en-US" smtClean="0">
                <a:solidFill>
                  <a:srgbClr val="5FCBEF"/>
                </a:solidFill>
              </a:rPr>
              <a:pPr>
                <a:defRPr/>
              </a:pPr>
              <a:t>‹#›</a:t>
            </a:fld>
            <a:endParaRPr lang="en-US" altLang="en-US">
              <a:solidFill>
                <a:srgbClr val="5FCBEF"/>
              </a:solidFill>
            </a:endParaRPr>
          </a:p>
        </p:txBody>
      </p:sp>
    </p:spTree>
    <p:extLst>
      <p:ext uri="{BB962C8B-B14F-4D97-AF65-F5344CB8AC3E}">
        <p14:creationId xmlns:p14="http://schemas.microsoft.com/office/powerpoint/2010/main" val="405380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CC9B1-D799-4453-B487-6651C7CBFB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B9A359-CD5A-4661-881D-5C0B31D8DB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3A25ED-FCB0-4089-8AA9-F9C2F528CB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C74DCB-3448-4353-9B2E-65F02BA28B16}"/>
              </a:ext>
            </a:extLst>
          </p:cNvPr>
          <p:cNvSpPr>
            <a:spLocks noGrp="1"/>
          </p:cNvSpPr>
          <p:nvPr>
            <p:ph type="dt" sz="half" idx="10"/>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6" name="Footer Placeholder 5">
            <a:extLst>
              <a:ext uri="{FF2B5EF4-FFF2-40B4-BE49-F238E27FC236}">
                <a16:creationId xmlns:a16="http://schemas.microsoft.com/office/drawing/2014/main" id="{1BBDD4D2-1016-4227-839C-28124E791AC2}"/>
              </a:ext>
            </a:extLst>
          </p:cNvPr>
          <p:cNvSpPr>
            <a:spLocks noGrp="1"/>
          </p:cNvSpPr>
          <p:nvPr>
            <p:ph type="ftr" sz="quarter" idx="11"/>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7" name="Slide Number Placeholder 6">
            <a:extLst>
              <a:ext uri="{FF2B5EF4-FFF2-40B4-BE49-F238E27FC236}">
                <a16:creationId xmlns:a16="http://schemas.microsoft.com/office/drawing/2014/main" id="{70000C51-EF93-4CAE-BF4B-FF7D452C4E17}"/>
              </a:ext>
            </a:extLst>
          </p:cNvPr>
          <p:cNvSpPr>
            <a:spLocks noGrp="1"/>
          </p:cNvSpPr>
          <p:nvPr>
            <p:ph type="sldNum" sz="quarter" idx="12"/>
          </p:nvPr>
        </p:nvSpPr>
        <p:spPr/>
        <p:txBody>
          <a:body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pPr eaLnBrk="0" fontAlgn="base" hangingPunct="0">
                <a:spcBef>
                  <a:spcPct val="0"/>
                </a:spcBef>
                <a:spcAft>
                  <a:spcPct val="0"/>
                </a:spcAft>
                <a:defRPr/>
              </a:pPr>
              <a:t>‹#›</a:t>
            </a:fld>
            <a:endParaRPr lang="en-US" altLang="en-US">
              <a:solidFill>
                <a:srgbClr val="5FCBEF"/>
              </a:solidFill>
              <a:latin typeface="Arial" panose="020B0604020202020204" pitchFamily="34" charset="0"/>
            </a:endParaRPr>
          </a:p>
        </p:txBody>
      </p:sp>
    </p:spTree>
    <p:extLst>
      <p:ext uri="{BB962C8B-B14F-4D97-AF65-F5344CB8AC3E}">
        <p14:creationId xmlns:p14="http://schemas.microsoft.com/office/powerpoint/2010/main" val="270987891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23ECF-E774-4CAD-975A-85B52F615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182C2F-E9EF-4A95-9EA3-B65754E6D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F5BFA-4343-432B-8718-C94A7B3885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2CF40C-8219-4CF1-ADFD-41E9B2F098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E7FDDF-90BF-410C-A0AC-D7BFED0E76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F59902-5E8A-45D3-BAAE-4A94877AE9A9}"/>
              </a:ext>
            </a:extLst>
          </p:cNvPr>
          <p:cNvSpPr>
            <a:spLocks noGrp="1"/>
          </p:cNvSpPr>
          <p:nvPr>
            <p:ph type="dt" sz="half" idx="10"/>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8" name="Footer Placeholder 7">
            <a:extLst>
              <a:ext uri="{FF2B5EF4-FFF2-40B4-BE49-F238E27FC236}">
                <a16:creationId xmlns:a16="http://schemas.microsoft.com/office/drawing/2014/main" id="{30224EB3-4B89-4889-B134-5774CBD1A671}"/>
              </a:ext>
            </a:extLst>
          </p:cNvPr>
          <p:cNvSpPr>
            <a:spLocks noGrp="1"/>
          </p:cNvSpPr>
          <p:nvPr>
            <p:ph type="ftr" sz="quarter" idx="11"/>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9" name="Slide Number Placeholder 8">
            <a:extLst>
              <a:ext uri="{FF2B5EF4-FFF2-40B4-BE49-F238E27FC236}">
                <a16:creationId xmlns:a16="http://schemas.microsoft.com/office/drawing/2014/main" id="{80E1BA4D-5635-43BA-ADEB-18E345B70FCB}"/>
              </a:ext>
            </a:extLst>
          </p:cNvPr>
          <p:cNvSpPr>
            <a:spLocks noGrp="1"/>
          </p:cNvSpPr>
          <p:nvPr>
            <p:ph type="sldNum" sz="quarter" idx="12"/>
          </p:nvPr>
        </p:nvSpPr>
        <p:spPr/>
        <p:txBody>
          <a:body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pPr eaLnBrk="0" fontAlgn="base" hangingPunct="0">
                <a:spcBef>
                  <a:spcPct val="0"/>
                </a:spcBef>
                <a:spcAft>
                  <a:spcPct val="0"/>
                </a:spcAft>
                <a:defRPr/>
              </a:pPr>
              <a:t>‹#›</a:t>
            </a:fld>
            <a:endParaRPr lang="en-US" altLang="en-US">
              <a:solidFill>
                <a:srgbClr val="5FCBEF"/>
              </a:solidFill>
              <a:latin typeface="Arial" panose="020B0604020202020204" pitchFamily="34" charset="0"/>
            </a:endParaRPr>
          </a:p>
        </p:txBody>
      </p:sp>
    </p:spTree>
    <p:extLst>
      <p:ext uri="{BB962C8B-B14F-4D97-AF65-F5344CB8AC3E}">
        <p14:creationId xmlns:p14="http://schemas.microsoft.com/office/powerpoint/2010/main" val="277505855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4AF1C-B7CA-41A8-94CB-D0034E7818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EDAC98-348E-4D29-B832-EADBB235259E}"/>
              </a:ext>
            </a:extLst>
          </p:cNvPr>
          <p:cNvSpPr>
            <a:spLocks noGrp="1"/>
          </p:cNvSpPr>
          <p:nvPr>
            <p:ph type="dt" sz="half" idx="10"/>
          </p:nvPr>
        </p:nvSpPr>
        <p:spPr/>
        <p:txBody>
          <a:bodyPr/>
          <a:lstStyle/>
          <a:p>
            <a:pPr>
              <a:defRPr/>
            </a:pPr>
            <a:endParaRPr lang="en-US" altLang="en-US">
              <a:solidFill>
                <a:prstClr val="black">
                  <a:tint val="75000"/>
                </a:prstClr>
              </a:solidFill>
            </a:endParaRPr>
          </a:p>
        </p:txBody>
      </p:sp>
      <p:sp>
        <p:nvSpPr>
          <p:cNvPr id="4" name="Footer Placeholder 3">
            <a:extLst>
              <a:ext uri="{FF2B5EF4-FFF2-40B4-BE49-F238E27FC236}">
                <a16:creationId xmlns:a16="http://schemas.microsoft.com/office/drawing/2014/main" id="{3A0EF264-0D94-4BE4-9947-BA8C03BEC5D1}"/>
              </a:ext>
            </a:extLst>
          </p:cNvPr>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5" name="Slide Number Placeholder 4">
            <a:extLst>
              <a:ext uri="{FF2B5EF4-FFF2-40B4-BE49-F238E27FC236}">
                <a16:creationId xmlns:a16="http://schemas.microsoft.com/office/drawing/2014/main" id="{AD76AF73-1F09-494C-8C8A-48A2EB3E3B5A}"/>
              </a:ext>
            </a:extLst>
          </p:cNvPr>
          <p:cNvSpPr>
            <a:spLocks noGrp="1"/>
          </p:cNvSpPr>
          <p:nvPr>
            <p:ph type="sldNum" sz="quarter" idx="12"/>
          </p:nvPr>
        </p:nvSpPr>
        <p:spPr/>
        <p:txBody>
          <a:bodyPr/>
          <a:lstStyle/>
          <a:p>
            <a:pPr>
              <a:defRPr/>
            </a:pPr>
            <a:fld id="{710CEBBB-76FC-49BD-9CC9-F2A909F35E67}" type="slidenum">
              <a:rPr lang="en-US" altLang="en-US" smtClean="0">
                <a:solidFill>
                  <a:srgbClr val="5FCBEF"/>
                </a:solidFill>
              </a:rPr>
              <a:pPr>
                <a:defRPr/>
              </a:pPr>
              <a:t>‹#›</a:t>
            </a:fld>
            <a:endParaRPr lang="en-US" altLang="en-US">
              <a:solidFill>
                <a:srgbClr val="5FCBEF"/>
              </a:solidFill>
            </a:endParaRPr>
          </a:p>
        </p:txBody>
      </p:sp>
    </p:spTree>
    <p:extLst>
      <p:ext uri="{BB962C8B-B14F-4D97-AF65-F5344CB8AC3E}">
        <p14:creationId xmlns:p14="http://schemas.microsoft.com/office/powerpoint/2010/main" val="422472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E74CDF-69F7-4A57-9518-4DB4D10485BE}"/>
              </a:ext>
            </a:extLst>
          </p:cNvPr>
          <p:cNvSpPr>
            <a:spLocks noGrp="1"/>
          </p:cNvSpPr>
          <p:nvPr>
            <p:ph type="dt" sz="half" idx="10"/>
          </p:nvPr>
        </p:nvSpPr>
        <p:spPr/>
        <p:txBody>
          <a:bodyPr/>
          <a:lstStyle/>
          <a:p>
            <a:pPr>
              <a:defRPr/>
            </a:pPr>
            <a:endParaRPr lang="en-US" altLang="en-US">
              <a:solidFill>
                <a:prstClr val="black">
                  <a:tint val="75000"/>
                </a:prstClr>
              </a:solidFill>
            </a:endParaRPr>
          </a:p>
        </p:txBody>
      </p:sp>
      <p:sp>
        <p:nvSpPr>
          <p:cNvPr id="3" name="Footer Placeholder 2">
            <a:extLst>
              <a:ext uri="{FF2B5EF4-FFF2-40B4-BE49-F238E27FC236}">
                <a16:creationId xmlns:a16="http://schemas.microsoft.com/office/drawing/2014/main" id="{9FB8FF71-5C6D-4EFA-9964-E8911AD085EA}"/>
              </a:ext>
            </a:extLst>
          </p:cNvPr>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4" name="Slide Number Placeholder 3">
            <a:extLst>
              <a:ext uri="{FF2B5EF4-FFF2-40B4-BE49-F238E27FC236}">
                <a16:creationId xmlns:a16="http://schemas.microsoft.com/office/drawing/2014/main" id="{40DFE2C7-AC23-42C4-97C2-E5731AB892F4}"/>
              </a:ext>
            </a:extLst>
          </p:cNvPr>
          <p:cNvSpPr>
            <a:spLocks noGrp="1"/>
          </p:cNvSpPr>
          <p:nvPr>
            <p:ph type="sldNum" sz="quarter" idx="12"/>
          </p:nvPr>
        </p:nvSpPr>
        <p:spPr/>
        <p:txBody>
          <a:bodyPr/>
          <a:lstStyle/>
          <a:p>
            <a:pPr>
              <a:defRPr/>
            </a:pPr>
            <a:fld id="{2E9000F9-B570-4459-973E-0B29FEFB1108}" type="slidenum">
              <a:rPr lang="en-US" altLang="en-US" smtClean="0">
                <a:solidFill>
                  <a:srgbClr val="5FCBEF"/>
                </a:solidFill>
              </a:rPr>
              <a:pPr>
                <a:defRPr/>
              </a:pPr>
              <a:t>‹#›</a:t>
            </a:fld>
            <a:endParaRPr lang="en-US" altLang="en-US">
              <a:solidFill>
                <a:srgbClr val="5FCBEF"/>
              </a:solidFill>
            </a:endParaRPr>
          </a:p>
        </p:txBody>
      </p:sp>
    </p:spTree>
    <p:extLst>
      <p:ext uri="{BB962C8B-B14F-4D97-AF65-F5344CB8AC3E}">
        <p14:creationId xmlns:p14="http://schemas.microsoft.com/office/powerpoint/2010/main" val="2225162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E7092-3776-4AFB-B237-B8C847CE6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21A82A-9D27-442A-B5D0-525913F467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AA4B4D-1596-49DC-931D-FF7BBE6299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1F8696-2355-4BD0-A3D8-DEFDAD7FB96D}"/>
              </a:ext>
            </a:extLst>
          </p:cNvPr>
          <p:cNvSpPr>
            <a:spLocks noGrp="1"/>
          </p:cNvSpPr>
          <p:nvPr>
            <p:ph type="dt" sz="half" idx="10"/>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6" name="Footer Placeholder 5">
            <a:extLst>
              <a:ext uri="{FF2B5EF4-FFF2-40B4-BE49-F238E27FC236}">
                <a16:creationId xmlns:a16="http://schemas.microsoft.com/office/drawing/2014/main" id="{E9E004F3-CFBC-4E6B-BC1D-C1B3546D6281}"/>
              </a:ext>
            </a:extLst>
          </p:cNvPr>
          <p:cNvSpPr>
            <a:spLocks noGrp="1"/>
          </p:cNvSpPr>
          <p:nvPr>
            <p:ph type="ftr" sz="quarter" idx="11"/>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7" name="Slide Number Placeholder 6">
            <a:extLst>
              <a:ext uri="{FF2B5EF4-FFF2-40B4-BE49-F238E27FC236}">
                <a16:creationId xmlns:a16="http://schemas.microsoft.com/office/drawing/2014/main" id="{48C9DFFF-13E7-439F-A268-F1EE23E230B9}"/>
              </a:ext>
            </a:extLst>
          </p:cNvPr>
          <p:cNvSpPr>
            <a:spLocks noGrp="1"/>
          </p:cNvSpPr>
          <p:nvPr>
            <p:ph type="sldNum" sz="quarter" idx="12"/>
          </p:nvPr>
        </p:nvSpPr>
        <p:spPr/>
        <p:txBody>
          <a:body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pPr eaLnBrk="0" fontAlgn="base" hangingPunct="0">
                <a:spcBef>
                  <a:spcPct val="0"/>
                </a:spcBef>
                <a:spcAft>
                  <a:spcPct val="0"/>
                </a:spcAft>
                <a:defRPr/>
              </a:pPr>
              <a:t>‹#›</a:t>
            </a:fld>
            <a:endParaRPr lang="en-US" altLang="en-US">
              <a:solidFill>
                <a:srgbClr val="5FCBEF"/>
              </a:solidFill>
              <a:latin typeface="Arial" panose="020B0604020202020204" pitchFamily="34" charset="0"/>
            </a:endParaRPr>
          </a:p>
        </p:txBody>
      </p:sp>
    </p:spTree>
    <p:extLst>
      <p:ext uri="{BB962C8B-B14F-4D97-AF65-F5344CB8AC3E}">
        <p14:creationId xmlns:p14="http://schemas.microsoft.com/office/powerpoint/2010/main" val="323102206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CB3D4-4FB6-4083-ABE6-48AD6F8068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B4B0E6-1A8F-449F-9BF2-62DA880F43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C37150-15CA-48A3-BACB-1433C9D418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82194D-E835-4E59-B370-96F163EF2216}"/>
              </a:ext>
            </a:extLst>
          </p:cNvPr>
          <p:cNvSpPr>
            <a:spLocks noGrp="1"/>
          </p:cNvSpPr>
          <p:nvPr>
            <p:ph type="dt" sz="half" idx="10"/>
          </p:nvPr>
        </p:nvSpPr>
        <p:spPr/>
        <p:txBody>
          <a:bodyPr/>
          <a:lstStyle/>
          <a:p>
            <a:pPr>
              <a:defRPr/>
            </a:pPr>
            <a:endParaRPr lang="en-US" altLang="en-US">
              <a:solidFill>
                <a:prstClr val="black">
                  <a:tint val="75000"/>
                </a:prstClr>
              </a:solidFill>
            </a:endParaRPr>
          </a:p>
        </p:txBody>
      </p:sp>
      <p:sp>
        <p:nvSpPr>
          <p:cNvPr id="6" name="Footer Placeholder 5">
            <a:extLst>
              <a:ext uri="{FF2B5EF4-FFF2-40B4-BE49-F238E27FC236}">
                <a16:creationId xmlns:a16="http://schemas.microsoft.com/office/drawing/2014/main" id="{7482D7F3-995A-41F5-8D4E-83D06B7BC000}"/>
              </a:ext>
            </a:extLst>
          </p:cNvPr>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7" name="Slide Number Placeholder 6">
            <a:extLst>
              <a:ext uri="{FF2B5EF4-FFF2-40B4-BE49-F238E27FC236}">
                <a16:creationId xmlns:a16="http://schemas.microsoft.com/office/drawing/2014/main" id="{F930559A-95D4-45E7-90F5-1AF386B2A0E9}"/>
              </a:ext>
            </a:extLst>
          </p:cNvPr>
          <p:cNvSpPr>
            <a:spLocks noGrp="1"/>
          </p:cNvSpPr>
          <p:nvPr>
            <p:ph type="sldNum" sz="quarter" idx="12"/>
          </p:nvPr>
        </p:nvSpPr>
        <p:spPr/>
        <p:txBody>
          <a:bodyPr/>
          <a:lstStyle/>
          <a:p>
            <a:pPr>
              <a:defRPr/>
            </a:pPr>
            <a:fld id="{46DEDA57-E31D-4111-AB59-A1C462DC4ECD}" type="slidenum">
              <a:rPr lang="en-US" altLang="en-US" smtClean="0">
                <a:solidFill>
                  <a:srgbClr val="5FCBEF"/>
                </a:solidFill>
              </a:rPr>
              <a:pPr>
                <a:defRPr/>
              </a:pPr>
              <a:t>‹#›</a:t>
            </a:fld>
            <a:endParaRPr lang="en-US" altLang="en-US">
              <a:solidFill>
                <a:srgbClr val="5FCBEF"/>
              </a:solidFill>
            </a:endParaRPr>
          </a:p>
        </p:txBody>
      </p:sp>
    </p:spTree>
    <p:extLst>
      <p:ext uri="{BB962C8B-B14F-4D97-AF65-F5344CB8AC3E}">
        <p14:creationId xmlns:p14="http://schemas.microsoft.com/office/powerpoint/2010/main" val="113164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80C2B-AAA5-4B86-9624-636FFE94DA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94D746-1656-40EC-822F-E3D5E53FCF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5E9947-82A9-4F3D-8211-DE1C1F0BC48C}"/>
              </a:ext>
            </a:extLst>
          </p:cNvPr>
          <p:cNvSpPr>
            <a:spLocks noGrp="1"/>
          </p:cNvSpPr>
          <p:nvPr>
            <p:ph type="dt" sz="half" idx="10"/>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5" name="Footer Placeholder 4">
            <a:extLst>
              <a:ext uri="{FF2B5EF4-FFF2-40B4-BE49-F238E27FC236}">
                <a16:creationId xmlns:a16="http://schemas.microsoft.com/office/drawing/2014/main" id="{C0C24C86-A773-42DE-B18A-7EC44562571A}"/>
              </a:ext>
            </a:extLst>
          </p:cNvPr>
          <p:cNvSpPr>
            <a:spLocks noGrp="1"/>
          </p:cNvSpPr>
          <p:nvPr>
            <p:ph type="ftr" sz="quarter" idx="11"/>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6" name="Slide Number Placeholder 5">
            <a:extLst>
              <a:ext uri="{FF2B5EF4-FFF2-40B4-BE49-F238E27FC236}">
                <a16:creationId xmlns:a16="http://schemas.microsoft.com/office/drawing/2014/main" id="{AEE9C4A8-9AB7-48E3-B8CA-61322AF03DA7}"/>
              </a:ext>
            </a:extLst>
          </p:cNvPr>
          <p:cNvSpPr>
            <a:spLocks noGrp="1"/>
          </p:cNvSpPr>
          <p:nvPr>
            <p:ph type="sldNum" sz="quarter" idx="12"/>
          </p:nvPr>
        </p:nvSpPr>
        <p:spPr/>
        <p:txBody>
          <a:body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pPr eaLnBrk="0" fontAlgn="base" hangingPunct="0">
                <a:spcBef>
                  <a:spcPct val="0"/>
                </a:spcBef>
                <a:spcAft>
                  <a:spcPct val="0"/>
                </a:spcAft>
                <a:defRPr/>
              </a:pPr>
              <a:t>‹#›</a:t>
            </a:fld>
            <a:endParaRPr lang="en-US" altLang="en-US">
              <a:solidFill>
                <a:srgbClr val="5FCBEF"/>
              </a:solidFill>
              <a:latin typeface="Arial" panose="020B0604020202020204" pitchFamily="34" charset="0"/>
            </a:endParaRPr>
          </a:p>
        </p:txBody>
      </p:sp>
    </p:spTree>
    <p:extLst>
      <p:ext uri="{BB962C8B-B14F-4D97-AF65-F5344CB8AC3E}">
        <p14:creationId xmlns:p14="http://schemas.microsoft.com/office/powerpoint/2010/main" val="9189604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87A2A4-5F00-445C-B03F-779B2F341C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02C656-D708-45F7-BCEA-CA50F15060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0E3D0C-0B12-4E9E-AE3C-3A373E88F675}"/>
              </a:ext>
            </a:extLst>
          </p:cNvPr>
          <p:cNvSpPr>
            <a:spLocks noGrp="1"/>
          </p:cNvSpPr>
          <p:nvPr>
            <p:ph type="dt" sz="half" idx="10"/>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5" name="Footer Placeholder 4">
            <a:extLst>
              <a:ext uri="{FF2B5EF4-FFF2-40B4-BE49-F238E27FC236}">
                <a16:creationId xmlns:a16="http://schemas.microsoft.com/office/drawing/2014/main" id="{348EAD87-9201-4A99-BC83-A2357F123705}"/>
              </a:ext>
            </a:extLst>
          </p:cNvPr>
          <p:cNvSpPr>
            <a:spLocks noGrp="1"/>
          </p:cNvSpPr>
          <p:nvPr>
            <p:ph type="ftr" sz="quarter" idx="11"/>
          </p:nvPr>
        </p:nvSpPr>
        <p:spPr/>
        <p:txBody>
          <a:body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6" name="Slide Number Placeholder 5">
            <a:extLst>
              <a:ext uri="{FF2B5EF4-FFF2-40B4-BE49-F238E27FC236}">
                <a16:creationId xmlns:a16="http://schemas.microsoft.com/office/drawing/2014/main" id="{1C3826DF-0D76-4218-8472-25D22634BE2A}"/>
              </a:ext>
            </a:extLst>
          </p:cNvPr>
          <p:cNvSpPr>
            <a:spLocks noGrp="1"/>
          </p:cNvSpPr>
          <p:nvPr>
            <p:ph type="sldNum" sz="quarter" idx="12"/>
          </p:nvPr>
        </p:nvSpPr>
        <p:spPr/>
        <p:txBody>
          <a:body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pPr eaLnBrk="0" fontAlgn="base" hangingPunct="0">
                <a:spcBef>
                  <a:spcPct val="0"/>
                </a:spcBef>
                <a:spcAft>
                  <a:spcPct val="0"/>
                </a:spcAft>
                <a:defRPr/>
              </a:pPr>
              <a:t>‹#›</a:t>
            </a:fld>
            <a:endParaRPr lang="en-US" altLang="en-US">
              <a:solidFill>
                <a:srgbClr val="5FCBEF"/>
              </a:solidFill>
              <a:latin typeface="Arial" panose="020B0604020202020204" pitchFamily="34" charset="0"/>
            </a:endParaRPr>
          </a:p>
        </p:txBody>
      </p:sp>
    </p:spTree>
    <p:extLst>
      <p:ext uri="{BB962C8B-B14F-4D97-AF65-F5344CB8AC3E}">
        <p14:creationId xmlns:p14="http://schemas.microsoft.com/office/powerpoint/2010/main" val="20678690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A65E8343-3605-4CE2-AB97-E196D52989FF}" type="slidenum">
              <a:rPr lang="en-US" altLang="en-US" smtClean="0">
                <a:solidFill>
                  <a:srgbClr val="5FCBEF"/>
                </a:solidFill>
              </a:rPr>
              <a:pPr>
                <a:defRPr/>
              </a:pPr>
              <a:t>‹#›</a:t>
            </a:fld>
            <a:endParaRPr lang="en-US" altLang="en-US">
              <a:solidFill>
                <a:srgbClr val="5FCBEF"/>
              </a:solidFill>
            </a:endParaRPr>
          </a:p>
        </p:txBody>
      </p:sp>
    </p:spTree>
    <p:extLst>
      <p:ext uri="{BB962C8B-B14F-4D97-AF65-F5344CB8AC3E}">
        <p14:creationId xmlns:p14="http://schemas.microsoft.com/office/powerpoint/2010/main" val="2140270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48E8CE-0C0A-40E4-A9DD-25D09E5D8C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66161E-503F-49F1-9DEB-F2E5BBC97E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24EA38-5463-4C17-A80E-F54946021F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5" name="Footer Placeholder 4">
            <a:extLst>
              <a:ext uri="{FF2B5EF4-FFF2-40B4-BE49-F238E27FC236}">
                <a16:creationId xmlns:a16="http://schemas.microsoft.com/office/drawing/2014/main" id="{1CB381DA-4CC5-43F7-9DD0-BBCDCF0DD0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0" fontAlgn="base" hangingPunct="0">
              <a:spcBef>
                <a:spcPct val="0"/>
              </a:spcBef>
              <a:spcAft>
                <a:spcPct val="0"/>
              </a:spcAft>
              <a:defRPr/>
            </a:pPr>
            <a:endParaRPr lang="en-US" altLang="en-US">
              <a:solidFill>
                <a:prstClr val="black">
                  <a:tint val="75000"/>
                </a:prstClr>
              </a:solidFill>
              <a:latin typeface="Arial" panose="020B0604020202020204" pitchFamily="34" charset="0"/>
            </a:endParaRPr>
          </a:p>
        </p:txBody>
      </p:sp>
      <p:sp>
        <p:nvSpPr>
          <p:cNvPr id="6" name="Slide Number Placeholder 5">
            <a:extLst>
              <a:ext uri="{FF2B5EF4-FFF2-40B4-BE49-F238E27FC236}">
                <a16:creationId xmlns:a16="http://schemas.microsoft.com/office/drawing/2014/main" id="{A6B84CF4-0950-42D8-A113-94CCEBB3A6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hangingPunct="0">
              <a:spcBef>
                <a:spcPct val="0"/>
              </a:spcBef>
              <a:spcAft>
                <a:spcPct val="0"/>
              </a:spcAft>
              <a:defRPr/>
            </a:pPr>
            <a:fld id="{6E6A3387-DB88-40EF-B100-149E0E911FC8}" type="slidenum">
              <a:rPr lang="en-US" altLang="en-US" smtClean="0">
                <a:solidFill>
                  <a:srgbClr val="5FCBEF"/>
                </a:solidFill>
                <a:latin typeface="Arial" panose="020B0604020202020204" pitchFamily="34" charset="0"/>
              </a:rPr>
              <a:pPr eaLnBrk="0" fontAlgn="base" hangingPunct="0">
                <a:spcBef>
                  <a:spcPct val="0"/>
                </a:spcBef>
                <a:spcAft>
                  <a:spcPct val="0"/>
                </a:spcAft>
                <a:defRPr/>
              </a:pPr>
              <a:t>‹#›</a:t>
            </a:fld>
            <a:endParaRPr lang="en-US" altLang="en-US">
              <a:solidFill>
                <a:srgbClr val="5FCBEF"/>
              </a:solidFill>
              <a:latin typeface="Arial" panose="020B0604020202020204" pitchFamily="34" charset="0"/>
            </a:endParaRPr>
          </a:p>
        </p:txBody>
      </p:sp>
    </p:spTree>
    <p:extLst>
      <p:ext uri="{BB962C8B-B14F-4D97-AF65-F5344CB8AC3E}">
        <p14:creationId xmlns:p14="http://schemas.microsoft.com/office/powerpoint/2010/main" val="1049032248"/>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926" y="1418676"/>
            <a:ext cx="10957874" cy="2074575"/>
          </a:xfrm>
        </p:spPr>
        <p:txBody>
          <a:bodyPr>
            <a:normAutofit/>
          </a:bodyPr>
          <a:lstStyle/>
          <a:p>
            <a:r>
              <a:rPr lang="mn-MN" altLang="en-US" sz="4400" dirty="0">
                <a:solidFill>
                  <a:srgbClr val="002060"/>
                </a:solidFill>
                <a:latin typeface="Times New Roman" panose="02020603050405020304" pitchFamily="18" charset="0"/>
                <a:cs typeface="Times New Roman" panose="02020603050405020304" pitchFamily="18" charset="0"/>
              </a:rPr>
              <a:t>Лекц 2.</a:t>
            </a:r>
            <a:br>
              <a:rPr lang="en-US" altLang="en-US" sz="4400" dirty="0">
                <a:solidFill>
                  <a:srgbClr val="002060"/>
                </a:solidFill>
                <a:latin typeface="Times New Roman" panose="02020603050405020304" pitchFamily="18" charset="0"/>
                <a:cs typeface="Times New Roman" panose="02020603050405020304" pitchFamily="18" charset="0"/>
              </a:rPr>
            </a:br>
            <a:r>
              <a:rPr lang="mn-MN" altLang="en-US" sz="4400" b="1" dirty="0">
                <a:solidFill>
                  <a:srgbClr val="002060"/>
                </a:solidFill>
                <a:latin typeface="Times New Roman" panose="02020603050405020304" pitchFamily="18" charset="0"/>
                <a:cs typeface="Times New Roman" panose="02020603050405020304" pitchFamily="18" charset="0"/>
              </a:rPr>
              <a:t>Бүтээгдэхүүний загвар, үйл ажиллагаа, төхөөрөмжийн сонголт</a:t>
            </a:r>
            <a:endParaRPr lang="en-US" sz="4400" b="1" dirty="0">
              <a:solidFill>
                <a:schemeClr val="tx2"/>
              </a:solidFill>
              <a:effectLst>
                <a:outerShdw blurRad="63500" dist="38100" dir="5400000" algn="t" rotWithShape="0">
                  <a:prstClr val="black">
                    <a:alpha val="25000"/>
                  </a:prstClr>
                </a:outerShdw>
              </a:effectLst>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1751012" y="3678824"/>
            <a:ext cx="8689976" cy="1339541"/>
          </a:xfrm>
        </p:spPr>
        <p:txBody>
          <a:bodyPr vert="horz" lIns="91440" tIns="45720" rIns="91440" bIns="45720" rtlCol="0">
            <a:normAutofit lnSpcReduction="10000"/>
          </a:bodyPr>
          <a:lstStyle/>
          <a:p>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a:t>
            </a:r>
            <a:r>
              <a:rPr lang="ru-RU"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a:t>
            </a: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EEM101  </a:t>
            </a:r>
            <a:b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Инженерчлэлийн эдийн засаг</a:t>
            </a:r>
            <a:b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3200" b="1" dirty="0">
              <a:solidFill>
                <a:srgbClr val="00206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9CC73B9C-8601-4C97-A368-5C8122BF1745}" type="slidenum">
              <a:rPr lang="en-US" altLang="en-US" smtClean="0">
                <a:solidFill>
                  <a:srgbClr val="5FCBEF"/>
                </a:solidFill>
                <a:latin typeface="Times New Roman" panose="02020603050405020304" pitchFamily="18" charset="0"/>
                <a:cs typeface="Times New Roman" panose="02020603050405020304" pitchFamily="18" charset="0"/>
              </a:rPr>
              <a:pPr>
                <a:defRPr/>
              </a:pPr>
              <a:t>1</a:t>
            </a:fld>
            <a:endParaRPr lang="en-US" altLang="en-US">
              <a:solidFill>
                <a:srgbClr val="5FCBEF"/>
              </a:solidFill>
              <a:latin typeface="Times New Roman" panose="02020603050405020304" pitchFamily="18" charset="0"/>
              <a:cs typeface="Times New Roman" panose="02020603050405020304" pitchFamily="18" charset="0"/>
            </a:endParaRPr>
          </a:p>
        </p:txBody>
      </p:sp>
      <p:pic>
        <p:nvPicPr>
          <p:cNvPr id="5" name="Picture 2" descr="Logo"/>
          <p:cNvPicPr>
            <a:picLocks noChangeAspect="1" noChangeArrowheads="1"/>
          </p:cNvPicPr>
          <p:nvPr/>
        </p:nvPicPr>
        <p:blipFill>
          <a:blip r:embed="rId3">
            <a:extLst>
              <a:ext uri="{28A0092B-C50C-407E-A947-70E740481C1C}">
                <a14:useLocalDpi xmlns:a14="http://schemas.microsoft.com/office/drawing/2010/main" val="0"/>
              </a:ext>
            </a:extLst>
          </a:blip>
          <a:srcRect r="86166"/>
          <a:stretch>
            <a:fillRect/>
          </a:stretch>
        </p:blipFill>
        <p:spPr bwMode="auto">
          <a:xfrm>
            <a:off x="10173953" y="61544"/>
            <a:ext cx="1444330" cy="213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2"/>
          <p:cNvSpPr txBox="1">
            <a:spLocks/>
          </p:cNvSpPr>
          <p:nvPr/>
        </p:nvSpPr>
        <p:spPr bwMode="auto">
          <a:xfrm>
            <a:off x="395926" y="52949"/>
            <a:ext cx="9948621" cy="1365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SzPct val="125000"/>
              <a:buFont typeface="Arial" panose="020B0604020202020204" pitchFamily="34" charset="0"/>
              <a:buChar char="•"/>
              <a:defRPr sz="2400">
                <a:solidFill>
                  <a:schemeClr val="tx1"/>
                </a:solidFill>
                <a:latin typeface="Tw Cen MT" panose="020B0602020104020603" pitchFamily="34" charset="0"/>
              </a:defRPr>
            </a:lvl1pPr>
            <a:lvl2pPr marL="685800" indent="-228600">
              <a:lnSpc>
                <a:spcPct val="120000"/>
              </a:lnSpc>
              <a:spcBef>
                <a:spcPts val="500"/>
              </a:spcBef>
              <a:buSzPct val="125000"/>
              <a:buFont typeface="Arial" panose="020B0604020202020204" pitchFamily="34" charset="0"/>
              <a:buChar char="•"/>
              <a:defRPr sz="2000">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buChar char="•"/>
              <a:defRPr>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9pPr>
          </a:lstStyle>
          <a:p>
            <a:pPr algn="ctr" fontAlgn="base">
              <a:lnSpc>
                <a:spcPct val="150000"/>
              </a:lnSpc>
              <a:spcBef>
                <a:spcPct val="0"/>
              </a:spcBef>
              <a:spcAft>
                <a:spcPct val="0"/>
              </a:spcAft>
              <a:buFont typeface="Arial" panose="020B0604020202020204" pitchFamily="34" charset="0"/>
              <a:buNone/>
            </a:pPr>
            <a:r>
              <a:rPr lang="mn-MN" altLang="en-US" sz="2800" b="1" dirty="0">
                <a:solidFill>
                  <a:srgbClr val="002060"/>
                </a:solidFill>
                <a:latin typeface="Times New Roman" panose="02020603050405020304" pitchFamily="18" charset="0"/>
                <a:cs typeface="Times New Roman" panose="02020603050405020304" pitchFamily="18" charset="0"/>
              </a:rPr>
              <a:t>ШИНЖЛЭХ УХААН, ТЕХНОЛОГИЙН ИХ СУРГУУЛЬ</a:t>
            </a:r>
          </a:p>
          <a:p>
            <a:pPr algn="ctr" fontAlgn="base">
              <a:lnSpc>
                <a:spcPct val="150000"/>
              </a:lnSpc>
              <a:spcBef>
                <a:spcPct val="0"/>
              </a:spcBef>
              <a:spcAft>
                <a:spcPct val="0"/>
              </a:spcAft>
              <a:buFont typeface="Arial" panose="020B0604020202020204" pitchFamily="34" charset="0"/>
              <a:buNone/>
            </a:pPr>
            <a:r>
              <a:rPr lang="mn-MN" altLang="en-US" sz="2800" b="1" dirty="0">
                <a:solidFill>
                  <a:srgbClr val="002060"/>
                </a:solidFill>
                <a:latin typeface="Times New Roman" panose="02020603050405020304" pitchFamily="18" charset="0"/>
                <a:cs typeface="Times New Roman" panose="02020603050405020304" pitchFamily="18" charset="0"/>
              </a:rPr>
              <a:t>МЭДЭЭЛЭЛ, ХОЛБООНЫ ТЕХНОЛОГИЙН СУРГУУЛЬ</a:t>
            </a:r>
          </a:p>
        </p:txBody>
      </p:sp>
      <p:sp>
        <p:nvSpPr>
          <p:cNvPr id="7" name="Subtitle 2"/>
          <p:cNvSpPr txBox="1">
            <a:spLocks/>
          </p:cNvSpPr>
          <p:nvPr/>
        </p:nvSpPr>
        <p:spPr>
          <a:xfrm>
            <a:off x="1751012" y="5580317"/>
            <a:ext cx="8689976" cy="808773"/>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r>
              <a:rPr lang="mn-MN" altLang="en-US" sz="2900" dirty="0">
                <a:solidFill>
                  <a:srgbClr val="002060"/>
                </a:solidFill>
                <a:latin typeface="Times New Roman" panose="02020603050405020304" pitchFamily="18" charset="0"/>
                <a:cs typeface="Times New Roman" panose="02020603050405020304" pitchFamily="18" charset="0"/>
              </a:rPr>
              <a:t>Холбооны салбарын багш Ц.АРИУНАА</a:t>
            </a:r>
            <a:endParaRPr lang="mn-MN" altLang="en-US" sz="2400" dirty="0">
              <a:solidFill>
                <a:srgbClr val="002060"/>
              </a:solidFill>
              <a:latin typeface="Times New Roman" panose="02020603050405020304" pitchFamily="18" charset="0"/>
              <a:cs typeface="Times New Roman" panose="02020603050405020304" pitchFamily="18" charset="0"/>
            </a:endParaRPr>
          </a:p>
          <a:p>
            <a:r>
              <a:rPr lang="mn-MN" altLang="en-US" sz="3300" dirty="0">
                <a:solidFill>
                  <a:srgbClr val="002060"/>
                </a:solidFill>
                <a:latin typeface="Times New Roman" panose="02020603050405020304" pitchFamily="18" charset="0"/>
                <a:cs typeface="Times New Roman" panose="02020603050405020304" pitchFamily="18" charset="0"/>
              </a:rPr>
              <a:t>Улаанбаатар хот</a:t>
            </a:r>
          </a:p>
        </p:txBody>
      </p:sp>
    </p:spTree>
    <p:extLst>
      <p:ext uri="{BB962C8B-B14F-4D97-AF65-F5344CB8AC3E}">
        <p14:creationId xmlns:p14="http://schemas.microsoft.com/office/powerpoint/2010/main" val="1171088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640" y="136525"/>
            <a:ext cx="9700560" cy="789140"/>
          </a:xfrm>
        </p:spPr>
        <p:txBody>
          <a:bodyPr>
            <a:normAutofit/>
          </a:bodyPr>
          <a:lstStyle/>
          <a:p>
            <a:pPr>
              <a:defRPr/>
            </a:pPr>
            <a:r>
              <a:rPr lang="mn-MN" altLang="ko-KR" sz="2800" b="1" dirty="0">
                <a:solidFill>
                  <a:srgbClr val="0000FF"/>
                </a:solidFill>
                <a:latin typeface="Times New Roman" panose="02020603050405020304" pitchFamily="18" charset="0"/>
                <a:ea typeface="Malgun Gothic" panose="020B0503020000020004" pitchFamily="34" charset="-127"/>
                <a:cs typeface="Times New Roman" panose="02020603050405020304" pitchFamily="18" charset="0"/>
              </a:rPr>
              <a:t>ХИЧЭЭЛИЙН СУРАЛЦАХУЙН ҮР ДҮНГҮҮД:</a:t>
            </a:r>
            <a:br>
              <a:rPr lang="en-US" altLang="ko-KR" sz="2800" dirty="0">
                <a:solidFill>
                  <a:srgbClr val="0000FF"/>
                </a:solidFill>
                <a:latin typeface="Times New Roman" panose="02020603050405020304" pitchFamily="18" charset="0"/>
                <a:ea typeface="+mn-ea"/>
                <a:cs typeface="Times New Roman" panose="02020603050405020304" pitchFamily="18" charset="0"/>
              </a:rPr>
            </a:br>
            <a:r>
              <a:rPr lang="mn-MN" altLang="ko-KR" sz="2000" b="1" cap="none" dirty="0">
                <a:solidFill>
                  <a:srgbClr val="0000FF"/>
                </a:solidFill>
                <a:latin typeface="Times New Roman" panose="02020603050405020304" pitchFamily="18" charset="0"/>
                <a:ea typeface="Malgun Gothic" panose="020B0503020000020004" pitchFamily="34" charset="-127"/>
                <a:cs typeface="Times New Roman" panose="02020603050405020304" pitchFamily="18" charset="0"/>
              </a:rPr>
              <a:t>Оюутан энэ сэдвийг судалснаар дараах чадваруудтай болсон байна.</a:t>
            </a:r>
            <a:endParaRPr lang="en-US" dirty="0">
              <a:solidFill>
                <a:srgbClr val="0000FF"/>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sz="quarter" idx="13"/>
          </p:nvPr>
        </p:nvGraphicFramePr>
        <p:xfrm>
          <a:off x="281640" y="925665"/>
          <a:ext cx="11444046" cy="5633492"/>
        </p:xfrm>
        <a:graphic>
          <a:graphicData uri="http://schemas.openxmlformats.org/drawingml/2006/table">
            <a:tbl>
              <a:tblPr firstRow="1" firstCol="1" bandRow="1"/>
              <a:tblGrid>
                <a:gridCol w="692237">
                  <a:extLst>
                    <a:ext uri="{9D8B030D-6E8A-4147-A177-3AD203B41FA5}">
                      <a16:colId xmlns:a16="http://schemas.microsoft.com/office/drawing/2014/main" val="20000"/>
                    </a:ext>
                  </a:extLst>
                </a:gridCol>
                <a:gridCol w="4666640">
                  <a:extLst>
                    <a:ext uri="{9D8B030D-6E8A-4147-A177-3AD203B41FA5}">
                      <a16:colId xmlns:a16="http://schemas.microsoft.com/office/drawing/2014/main" val="20001"/>
                    </a:ext>
                  </a:extLst>
                </a:gridCol>
                <a:gridCol w="2383540">
                  <a:extLst>
                    <a:ext uri="{9D8B030D-6E8A-4147-A177-3AD203B41FA5}">
                      <a16:colId xmlns:a16="http://schemas.microsoft.com/office/drawing/2014/main" val="20002"/>
                    </a:ext>
                  </a:extLst>
                </a:gridCol>
                <a:gridCol w="2307928">
                  <a:extLst>
                    <a:ext uri="{9D8B030D-6E8A-4147-A177-3AD203B41FA5}">
                      <a16:colId xmlns:a16="http://schemas.microsoft.com/office/drawing/2014/main" val="20003"/>
                    </a:ext>
                  </a:extLst>
                </a:gridCol>
                <a:gridCol w="1393701">
                  <a:extLst>
                    <a:ext uri="{9D8B030D-6E8A-4147-A177-3AD203B41FA5}">
                      <a16:colId xmlns:a16="http://schemas.microsoft.com/office/drawing/2014/main" val="20004"/>
                    </a:ext>
                  </a:extLst>
                </a:gridCol>
              </a:tblGrid>
              <a:tr h="1126008">
                <a:tc>
                  <a:txBody>
                    <a:bodyPr/>
                    <a:lstStyle/>
                    <a:p>
                      <a:pPr algn="ctr">
                        <a:lnSpc>
                          <a:spcPct val="115000"/>
                        </a:lnSpc>
                        <a:spcAft>
                          <a:spcPts val="0"/>
                        </a:spcAft>
                      </a:pPr>
                      <a:r>
                        <a:rPr lang="mn-MN" sz="1800" b="1"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b="1"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b="1"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b="1"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дүнгийн түвшин</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1800" b="1"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1800" b="1"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1800" b="1"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b="1">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1800" b="1">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180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0096">
                <a:tc>
                  <a:txBody>
                    <a:bodyPr/>
                    <a:lstStyle/>
                    <a:p>
                      <a:pPr algn="ctr">
                        <a:lnSpc>
                          <a:spcPct val="115000"/>
                        </a:lnSpc>
                        <a:spcAft>
                          <a:spcPts val="0"/>
                        </a:spcAft>
                      </a:pPr>
                      <a:r>
                        <a:rPr lang="en-US" sz="180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mn-MN" sz="1800" dirty="0">
                          <a:latin typeface="Times New Roman" panose="02020603050405020304" pitchFamily="18" charset="0"/>
                          <a:cs typeface="Times New Roman" panose="02020603050405020304" pitchFamily="18" charset="0"/>
                        </a:rPr>
                        <a:t>Бүтээгдэхүүний загвар, үйлчилгээний төсөл зохиохыг шаарддаг хүчин зүйлсийг </a:t>
                      </a: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мэдэж</a:t>
                      </a:r>
                      <a:r>
                        <a:rPr lang="mn-MN" sz="1800" baseline="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 авах, үе шатыг тайлбарлах</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Тодорхойлох </a:t>
                      </a: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(Define)</a:t>
                      </a: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 Тайлбарлах</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(explain)</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Ойлгох, </a:t>
                      </a:r>
                    </a:p>
                    <a:p>
                      <a:pPr marL="0" marR="0" lvl="0" indent="0" algn="ctr" defTabSz="914400" rtl="0" eaLnBrk="1" fontAlgn="auto" latinLnBrk="0" hangingPunct="1">
                        <a:lnSpc>
                          <a:spcPct val="115000"/>
                        </a:lnSpc>
                        <a:spcBef>
                          <a:spcPts val="0"/>
                        </a:spcBef>
                        <a:spcAft>
                          <a:spcPts val="0"/>
                        </a:spcAft>
                        <a:buClrTx/>
                        <a:buSzTx/>
                        <a:buFontTx/>
                        <a:buNone/>
                        <a:tabLst/>
                        <a:defRPr/>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Сэргээн санах</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1</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42568">
                <a:tc>
                  <a:txBody>
                    <a:bodyPr/>
                    <a:lstStyle/>
                    <a:p>
                      <a:pPr algn="ctr">
                        <a:lnSpc>
                          <a:spcPct val="115000"/>
                        </a:lnSpc>
                        <a:spcAft>
                          <a:spcPts val="0"/>
                        </a:spcAft>
                      </a:pPr>
                      <a:r>
                        <a:rPr lang="en-US" sz="180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2</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mn-MN" altLang="en-US" sz="1800" dirty="0">
                          <a:latin typeface="Times New Roman" panose="02020603050405020304" pitchFamily="18" charset="0"/>
                          <a:cs typeface="Times New Roman" pitchFamily="18" charset="0"/>
                        </a:rPr>
                        <a:t>БҮ-ний загвар, төсөл боловсруулахад тулгардаг стандартчилалын асуудал, давуу болон сул талыг </a:t>
                      </a: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тайлбарлах</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Тайлбарлах</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(explain)</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Сэргээн санах</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1</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42568">
                <a:tc>
                  <a:txBody>
                    <a:bodyPr/>
                    <a:lstStyle/>
                    <a:p>
                      <a:pPr algn="ctr">
                        <a:lnSpc>
                          <a:spcPct val="115000"/>
                        </a:lnSpc>
                        <a:spcAft>
                          <a:spcPts val="0"/>
                        </a:spcAft>
                      </a:pPr>
                      <a:r>
                        <a:rPr lang="mn-MN" sz="180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180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mn-MN" sz="1800" dirty="0">
                          <a:latin typeface="Times New Roman" pitchFamily="18" charset="0"/>
                          <a:cs typeface="Times New Roman" pitchFamily="18" charset="0"/>
                        </a:rPr>
                        <a:t>Бүтээгдэхүүний амьдралын мөчлөг үеүүдийг тайлбар, </a:t>
                      </a:r>
                      <a:r>
                        <a:rPr lang="mn-MN" altLang="en-US" sz="1800" dirty="0">
                          <a:latin typeface="Times New Roman" panose="02020603050405020304" pitchFamily="18" charset="0"/>
                          <a:cs typeface="Times New Roman" pitchFamily="18" charset="0"/>
                        </a:rPr>
                        <a:t>хянаж болох ба боломжгүй зүйлүүдийн түвшинг тодорхойлох шаардлагыг </a:t>
                      </a:r>
                      <a:r>
                        <a:rPr lang="mn-MN" sz="1800" baseline="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тайлбарлах</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Тайлбарлах </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(explain)</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Ойлгох</a:t>
                      </a: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 </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2</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18320">
                <a:tc>
                  <a:txBody>
                    <a:bodyPr/>
                    <a:lstStyle/>
                    <a:p>
                      <a:pPr algn="ctr">
                        <a:lnSpc>
                          <a:spcPct val="115000"/>
                        </a:lnSpc>
                        <a:spcAft>
                          <a:spcPts val="0"/>
                        </a:spcAft>
                      </a:pPr>
                      <a:r>
                        <a:rPr lang="en-US" sz="180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4</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pPr>
                      <a:r>
                        <a:rPr lang="mn-MN" sz="1800" dirty="0">
                          <a:latin typeface="Times New Roman" pitchFamily="18" charset="0"/>
                          <a:cs typeface="Times New Roman" pitchFamily="18" charset="0"/>
                        </a:rPr>
                        <a:t>Ү</a:t>
                      </a:r>
                      <a:r>
                        <a:rPr lang="mn-MN" altLang="en-US" sz="1800" dirty="0">
                          <a:latin typeface="Times New Roman" panose="02020603050405020304" pitchFamily="18" charset="0"/>
                          <a:cs typeface="Times New Roman" pitchFamily="18" charset="0"/>
                        </a:rPr>
                        <a:t>йлдвэрлэлийн системийн ангилал, </a:t>
                      </a:r>
                      <a:r>
                        <a:rPr lang="mn-MN" sz="1800" dirty="0">
                          <a:latin typeface="Times New Roman" panose="02020603050405020304" pitchFamily="18" charset="0"/>
                          <a:ea typeface="Times New Roman" panose="02020603050405020304" pitchFamily="18" charset="0"/>
                          <a:cs typeface="Times New Roman" panose="02020603050405020304" pitchFamily="18" charset="0"/>
                        </a:rPr>
                        <a:t> бүтээгдэхүүний ү</a:t>
                      </a:r>
                      <a:r>
                        <a:rPr lang="mn-MN" altLang="en-US" sz="1800" dirty="0">
                          <a:latin typeface="Times New Roman" panose="02020603050405020304" pitchFamily="18" charset="0"/>
                          <a:cs typeface="Times New Roman" pitchFamily="18" charset="0"/>
                        </a:rPr>
                        <a:t>йл ажиллагааны матрицийн тайлбарлах, тооцоолох. </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Тооцоолох </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(compute)</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 </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3</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83784">
                <a:tc>
                  <a:txBody>
                    <a:bodyPr/>
                    <a:lstStyle/>
                    <a:p>
                      <a:pPr algn="ctr">
                        <a:lnSpc>
                          <a:spcPct val="115000"/>
                        </a:lnSpc>
                        <a:spcAft>
                          <a:spcPts val="0"/>
                        </a:spcAft>
                      </a:pP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5</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mn-MN" sz="1800" dirty="0">
                          <a:latin typeface="Times New Roman" panose="02020603050405020304" pitchFamily="18" charset="0"/>
                          <a:ea typeface="Times New Roman" panose="02020603050405020304" pitchFamily="18" charset="0"/>
                          <a:cs typeface="Times New Roman" panose="02020603050405020304" pitchFamily="18" charset="0"/>
                        </a:rPr>
                        <a:t>Үйлдвэрлэлийн </a:t>
                      </a:r>
                      <a:r>
                        <a:rPr lang="mn-MN" altLang="en-US" sz="1800" dirty="0">
                          <a:latin typeface="Times New Roman" panose="02020603050405020304" pitchFamily="18" charset="0"/>
                          <a:cs typeface="Times New Roman" pitchFamily="18" charset="0"/>
                        </a:rPr>
                        <a:t>тоног төхөөрөмжийн сонголт хийх аргыг тайлбарлах, хэрэглэх</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Харьцуулах  </a:t>
                      </a:r>
                      <a:r>
                        <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(compare)</a:t>
                      </a: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Шинжлэх </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mn-MN"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1800" dirty="0">
                        <a:solidFill>
                          <a:schemeClr val="tx1"/>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pPr>
              <a:defRPr/>
            </a:pPr>
            <a:fld id="{A65E8343-3605-4CE2-AB97-E196D52989FF}" type="slidenum">
              <a:rPr lang="en-US" altLang="en-US" smtClean="0">
                <a:solidFill>
                  <a:srgbClr val="5FCBEF"/>
                </a:solidFill>
                <a:latin typeface="Times New Roman" panose="02020603050405020304" pitchFamily="18" charset="0"/>
                <a:cs typeface="Times New Roman" panose="02020603050405020304" pitchFamily="18" charset="0"/>
              </a:rPr>
              <a:pPr>
                <a:defRPr/>
              </a:pPr>
              <a:t>2</a:t>
            </a:fld>
            <a:endParaRPr lang="en-US" altLang="en-US">
              <a:solidFill>
                <a:srgbClr val="5FCBE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9629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528" y="96173"/>
            <a:ext cx="10515600" cy="755598"/>
          </a:xfrm>
        </p:spPr>
        <p:txBody>
          <a:bodyPr/>
          <a:lstStyle/>
          <a:p>
            <a:r>
              <a:rPr lang="mn-MN" b="1" dirty="0">
                <a:latin typeface="Times New Roman" panose="02020603050405020304" pitchFamily="18" charset="0"/>
                <a:cs typeface="Times New Roman" panose="02020603050405020304" pitchFamily="18" charset="0"/>
              </a:rPr>
              <a:t>Хичээлийн АГУУЛГА</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3"/>
          </p:nvPr>
        </p:nvSpPr>
        <p:spPr>
          <a:xfrm>
            <a:off x="350414" y="851771"/>
            <a:ext cx="11567057" cy="3424107"/>
          </a:xfrm>
        </p:spPr>
        <p:txBody>
          <a:bodyPr>
            <a:noAutofit/>
          </a:bodyPr>
          <a:lstStyle/>
          <a:p>
            <a:pPr algn="just"/>
            <a:r>
              <a:rPr lang="mn-MN" sz="3600" dirty="0">
                <a:latin typeface="Times New Roman" panose="02020603050405020304" pitchFamily="18" charset="0"/>
                <a:cs typeface="Times New Roman" panose="02020603050405020304" pitchFamily="18" charset="0"/>
              </a:rPr>
              <a:t>2.1. Бүтээгдэхүүн, үйлчилгээний загварыг боловсруулах шаардлага, үе шат</a:t>
            </a:r>
            <a:r>
              <a:rPr lang="en-US" sz="3600" dirty="0">
                <a:latin typeface="Times New Roman" panose="02020603050405020304" pitchFamily="18" charset="0"/>
                <a:cs typeface="Times New Roman" panose="02020603050405020304" pitchFamily="18" charset="0"/>
              </a:rPr>
              <a:t>.</a:t>
            </a:r>
            <a:endParaRPr lang="mn-MN" sz="3600" dirty="0">
              <a:latin typeface="Times New Roman" panose="02020603050405020304" pitchFamily="18" charset="0"/>
              <a:cs typeface="Times New Roman" panose="02020603050405020304" pitchFamily="18" charset="0"/>
            </a:endParaRPr>
          </a:p>
          <a:p>
            <a:pPr algn="just"/>
            <a:r>
              <a:rPr lang="mn-MN" sz="3600" dirty="0">
                <a:latin typeface="Times New Roman" panose="02020603050405020304" pitchFamily="18" charset="0"/>
                <a:cs typeface="Times New Roman" panose="02020603050405020304" pitchFamily="18" charset="0"/>
              </a:rPr>
              <a:t>2.2. Стандартчилал</a:t>
            </a:r>
            <a:r>
              <a:rPr lang="en-US" sz="3600" dirty="0">
                <a:latin typeface="Times New Roman" panose="02020603050405020304" pitchFamily="18" charset="0"/>
                <a:cs typeface="Times New Roman" panose="02020603050405020304" pitchFamily="18" charset="0"/>
              </a:rPr>
              <a:t>.</a:t>
            </a:r>
          </a:p>
          <a:p>
            <a:pPr algn="just"/>
            <a:r>
              <a:rPr lang="en-US" sz="3600" dirty="0">
                <a:latin typeface="Times New Roman" panose="02020603050405020304" pitchFamily="18" charset="0"/>
                <a:cs typeface="Times New Roman" panose="02020603050405020304" pitchFamily="18" charset="0"/>
              </a:rPr>
              <a:t>2.3.</a:t>
            </a:r>
            <a:r>
              <a:rPr lang="mn-MN" sz="3600" dirty="0">
                <a:latin typeface="Times New Roman" panose="02020603050405020304" pitchFamily="18" charset="0"/>
                <a:cs typeface="Times New Roman" panose="02020603050405020304" pitchFamily="18" charset="0"/>
              </a:rPr>
              <a:t> Бүтээгдэхүүний амьдралын мөчлөг.</a:t>
            </a:r>
          </a:p>
          <a:p>
            <a:pPr algn="just"/>
            <a:r>
              <a:rPr lang="mn-MN" sz="3600" dirty="0">
                <a:latin typeface="Times New Roman" panose="02020603050405020304" pitchFamily="18" charset="0"/>
                <a:cs typeface="Times New Roman" panose="02020603050405020304" pitchFamily="18" charset="0"/>
              </a:rPr>
              <a:t>2.4. Үйл ажиллагааны ба тоног төхөөрөмжийн сонголт.</a:t>
            </a:r>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latin typeface="Times New Roman" panose="02020603050405020304" pitchFamily="18" charset="0"/>
                <a:cs typeface="Times New Roman" panose="02020603050405020304" pitchFamily="18" charset="0"/>
              </a:rPr>
              <a:pPr>
                <a:defRPr/>
              </a:pPr>
              <a:t>3</a:t>
            </a:fld>
            <a:endParaRPr lang="en-US" altLang="en-US">
              <a:solidFill>
                <a:srgbClr val="5FCBE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4405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175498"/>
            <a:ext cx="11386473" cy="555454"/>
          </a:xfrm>
        </p:spPr>
        <p:txBody>
          <a:bodyPr>
            <a:noAutofit/>
          </a:bodyPr>
          <a:lstStyle/>
          <a:p>
            <a:pPr algn="just"/>
            <a:r>
              <a:rPr lang="mn-MN" sz="3200" b="1" dirty="0">
                <a:solidFill>
                  <a:srgbClr val="00B0F0"/>
                </a:solidFill>
                <a:latin typeface="Times New Roman" panose="02020603050405020304" pitchFamily="18" charset="0"/>
                <a:cs typeface="Times New Roman" panose="02020603050405020304" pitchFamily="18" charset="0"/>
              </a:rPr>
              <a:t>2.1. </a:t>
            </a:r>
            <a:r>
              <a:rPr lang="mn-MN" sz="3200" dirty="0">
                <a:solidFill>
                  <a:srgbClr val="00B0F0"/>
                </a:solidFill>
                <a:latin typeface="Times New Roman" panose="02020603050405020304" pitchFamily="18" charset="0"/>
                <a:cs typeface="Times New Roman" panose="02020603050405020304" pitchFamily="18" charset="0"/>
              </a:rPr>
              <a:t>Бүтээгдэхүүн, үйлчилгээний загварыг боловсруулах </a:t>
            </a:r>
            <a:r>
              <a:rPr lang="en-US" sz="3200" dirty="0">
                <a:solidFill>
                  <a:srgbClr val="00B0F0"/>
                </a:solidFill>
                <a:latin typeface="Times New Roman" panose="02020603050405020304" pitchFamily="18" charset="0"/>
                <a:cs typeface="Times New Roman" panose="02020603050405020304" pitchFamily="18" charset="0"/>
              </a:rPr>
              <a:t>(</a:t>
            </a:r>
            <a:r>
              <a:rPr lang="mn-MN" sz="3200" dirty="0">
                <a:solidFill>
                  <a:srgbClr val="00B0F0"/>
                </a:solidFill>
                <a:latin typeface="Times New Roman" panose="02020603050405020304" pitchFamily="18" charset="0"/>
                <a:cs typeface="Times New Roman" panose="02020603050405020304" pitchFamily="18" charset="0"/>
              </a:rPr>
              <a:t>БҮЗБ</a:t>
            </a:r>
            <a:r>
              <a:rPr lang="en-US" sz="3200" dirty="0">
                <a:solidFill>
                  <a:srgbClr val="00B0F0"/>
                </a:solidFill>
                <a:latin typeface="Times New Roman" panose="02020603050405020304" pitchFamily="18" charset="0"/>
                <a:cs typeface="Times New Roman" panose="02020603050405020304" pitchFamily="18" charset="0"/>
              </a:rPr>
              <a:t>) </a:t>
            </a:r>
            <a:r>
              <a:rPr lang="mn-MN" sz="3200" dirty="0">
                <a:solidFill>
                  <a:srgbClr val="00B0F0"/>
                </a:solidFill>
                <a:latin typeface="Times New Roman" panose="02020603050405020304" pitchFamily="18" charset="0"/>
                <a:cs typeface="Times New Roman" panose="02020603050405020304" pitchFamily="18" charset="0"/>
              </a:rPr>
              <a:t>шаардлага, үе шат</a:t>
            </a:r>
            <a:r>
              <a:rPr lang="mn-MN" sz="3200" b="1" dirty="0">
                <a:solidFill>
                  <a:srgbClr val="00B0F0"/>
                </a:solidFill>
                <a:latin typeface="Times New Roman" panose="02020603050405020304" pitchFamily="18" charset="0"/>
                <a:cs typeface="Times New Roman" panose="02020603050405020304" pitchFamily="18" charset="0"/>
              </a:rPr>
              <a:t> </a:t>
            </a:r>
            <a:r>
              <a:rPr lang="en-US" altLang="en-US" sz="3200" b="1" dirty="0">
                <a:solidFill>
                  <a:srgbClr val="00B0F0"/>
                </a:solidFill>
                <a:latin typeface="Times New Roman" panose="02020603050405020304" pitchFamily="18" charset="0"/>
                <a:cs typeface="Times New Roman" panose="02020603050405020304" pitchFamily="18" charset="0"/>
              </a:rPr>
              <a:t>(1)</a:t>
            </a:r>
            <a:endParaRPr lang="en-US" sz="3200" b="1" dirty="0">
              <a:solidFill>
                <a:srgbClr val="00B0F0"/>
              </a:solidFill>
            </a:endParaRPr>
          </a:p>
        </p:txBody>
      </p:sp>
      <p:sp>
        <p:nvSpPr>
          <p:cNvPr id="3" name="Content Placeholder 2"/>
          <p:cNvSpPr>
            <a:spLocks noGrp="1"/>
          </p:cNvSpPr>
          <p:nvPr>
            <p:ph sz="quarter" idx="13"/>
          </p:nvPr>
        </p:nvSpPr>
        <p:spPr>
          <a:xfrm>
            <a:off x="187185" y="797714"/>
            <a:ext cx="11386473" cy="5506032"/>
          </a:xfrm>
        </p:spPr>
        <p:txBody>
          <a:bodyPr>
            <a:noAutofit/>
          </a:bodyPr>
          <a:lstStyle/>
          <a:p>
            <a:pPr algn="just">
              <a:lnSpc>
                <a:spcPct val="100000"/>
              </a:lnSpc>
            </a:pPr>
            <a:r>
              <a:rPr lang="mn-MN" altLang="en-US" sz="2900" dirty="0">
                <a:latin typeface="Times New Roman" panose="02020603050405020304" pitchFamily="18" charset="0"/>
                <a:cs typeface="Times New Roman" pitchFamily="18" charset="0"/>
              </a:rPr>
              <a:t>БҮЗБ нь байгууллагын зорилгодоо хүрэхэд нь чухал нөлөө үзүүлдэг стратегийн асуудал. Энэ нь хэрэглэгчийн хэрэгцээг хангах, БҮ-ний чанарыг сайжруулах, үйлдвэрлэлийн зардлыг бууруулахад гол нөлөө үзүүлнэ. БҮ-г ямар загвараар үйлдвэрлэхийг шийдвэрлэхийн өмнө хэрэглэгч юу хүсч байгааг судлах хэрэгтэй. Бүтээгдхүүний чанарыг сайжруулахын тул загварыг сайн боловсруулахын зэрэгцээ загварт нь тохируулж үйлдвэрлэх хэрэгтэй, загвар нь хэрэгжих боломжтой байх ёстой. </a:t>
            </a:r>
          </a:p>
          <a:p>
            <a:pPr algn="just">
              <a:lnSpc>
                <a:spcPct val="100000"/>
              </a:lnSpc>
            </a:pPr>
            <a:r>
              <a:rPr lang="mn-MN" dirty="0">
                <a:latin typeface="Times New Roman" panose="02020603050405020304" pitchFamily="18" charset="0"/>
                <a:cs typeface="Times New Roman" pitchFamily="18" charset="0"/>
              </a:rPr>
              <a:t>Шалтгаан: Шинэ БҮ, загвар нь өрсөлдөх чадварыг дээшлүүлнэ, бизнес өргөжиж, ашиг нэмэгдэнэ. Бүтээмжийг дээшлүүлэх нь ажлын байрны тоог бууруулдаг байхад шинэ БҮ нь байрыг нэмэгдүүлж, ажилчдыг ажлаар хангах нөхцөлийг бүрдүүлдэг. </a:t>
            </a:r>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pPr>
                <a:defRPr/>
              </a:pPr>
              <a:t>4</a:t>
            </a:fld>
            <a:endParaRPr lang="en-US" altLang="en-US">
              <a:solidFill>
                <a:srgbClr val="5FCBEF"/>
              </a:solidFill>
            </a:endParaRPr>
          </a:p>
        </p:txBody>
      </p:sp>
    </p:spTree>
    <p:extLst>
      <p:ext uri="{BB962C8B-B14F-4D97-AF65-F5344CB8AC3E}">
        <p14:creationId xmlns:p14="http://schemas.microsoft.com/office/powerpoint/2010/main" val="3661032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0"/>
            <a:ext cx="11386473" cy="555454"/>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2.1. </a:t>
            </a:r>
            <a:r>
              <a:rPr lang="mn-MN" sz="2400" dirty="0">
                <a:solidFill>
                  <a:srgbClr val="00B0F0"/>
                </a:solidFill>
                <a:latin typeface="Times New Roman" panose="02020603050405020304" pitchFamily="18" charset="0"/>
                <a:cs typeface="Times New Roman" panose="02020603050405020304" pitchFamily="18" charset="0"/>
              </a:rPr>
              <a:t>Бүтээгдэхүүн, үйлчилгээний загварыг боловсруулах </a:t>
            </a:r>
            <a:r>
              <a:rPr lang="en-US" sz="2400" dirty="0">
                <a:solidFill>
                  <a:srgbClr val="00B0F0"/>
                </a:solidFill>
                <a:latin typeface="Times New Roman" panose="02020603050405020304" pitchFamily="18" charset="0"/>
                <a:cs typeface="Times New Roman" panose="02020603050405020304" pitchFamily="18" charset="0"/>
              </a:rPr>
              <a:t>(</a:t>
            </a:r>
            <a:r>
              <a:rPr lang="mn-MN" sz="2400" dirty="0">
                <a:solidFill>
                  <a:srgbClr val="00B0F0"/>
                </a:solidFill>
                <a:latin typeface="Times New Roman" panose="02020603050405020304" pitchFamily="18" charset="0"/>
                <a:cs typeface="Times New Roman" panose="02020603050405020304" pitchFamily="18" charset="0"/>
              </a:rPr>
              <a:t>БҮЗБ</a:t>
            </a:r>
            <a:r>
              <a:rPr lang="en-US" sz="2400" dirty="0">
                <a:solidFill>
                  <a:srgbClr val="00B0F0"/>
                </a:solidFill>
                <a:latin typeface="Times New Roman" panose="02020603050405020304" pitchFamily="18" charset="0"/>
                <a:cs typeface="Times New Roman" panose="02020603050405020304" pitchFamily="18" charset="0"/>
              </a:rPr>
              <a:t>) </a:t>
            </a:r>
            <a:r>
              <a:rPr lang="mn-MN" sz="2400" dirty="0">
                <a:solidFill>
                  <a:srgbClr val="00B0F0"/>
                </a:solidFill>
                <a:latin typeface="Times New Roman" panose="02020603050405020304" pitchFamily="18" charset="0"/>
                <a:cs typeface="Times New Roman" panose="02020603050405020304" pitchFamily="18" charset="0"/>
              </a:rPr>
              <a:t>шаардлага, үе шат</a:t>
            </a:r>
            <a:r>
              <a:rPr lang="mn-MN" sz="2400" b="1" dirty="0">
                <a:solidFill>
                  <a:srgbClr val="00B0F0"/>
                </a:solidFill>
                <a:latin typeface="Times New Roman" panose="02020603050405020304" pitchFamily="18" charset="0"/>
                <a:cs typeface="Times New Roman" panose="02020603050405020304" pitchFamily="18" charset="0"/>
              </a:rPr>
              <a:t>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2</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p:sp>
        <p:nvSpPr>
          <p:cNvPr id="3" name="Content Placeholder 2"/>
          <p:cNvSpPr>
            <a:spLocks noGrp="1"/>
          </p:cNvSpPr>
          <p:nvPr>
            <p:ph sz="quarter" idx="13"/>
          </p:nvPr>
        </p:nvSpPr>
        <p:spPr>
          <a:xfrm>
            <a:off x="187183" y="398700"/>
            <a:ext cx="11386473" cy="5748292"/>
          </a:xfrm>
        </p:spPr>
        <p:txBody>
          <a:bodyPr>
            <a:noAutofit/>
          </a:bodyPr>
          <a:lstStyle/>
          <a:p>
            <a:pPr algn="just">
              <a:lnSpc>
                <a:spcPct val="100000"/>
              </a:lnSpc>
            </a:pPr>
            <a:r>
              <a:rPr lang="mn-MN" altLang="en-US" sz="2500" dirty="0">
                <a:latin typeface="Times New Roman" panose="02020603050405020304" pitchFamily="18" charset="0"/>
                <a:cs typeface="Times New Roman" pitchFamily="18" charset="0"/>
              </a:rPr>
              <a:t>Асуудлууд гарч байна: Нэг хэсэг нь зөвхөн ихэвчлэн загварийг анхаарч, нөгөө хэсэг нь дизайнчлах асуудлыг хөгжүүлэд анхаарч байна. Тухайлбал:</a:t>
            </a:r>
          </a:p>
          <a:p>
            <a:pPr marL="574675" lvl="1" indent="-347663" algn="just">
              <a:lnSpc>
                <a:spcPct val="100000"/>
              </a:lnSpc>
              <a:buFont typeface="+mj-lt"/>
              <a:buAutoNum type="arabicPeriod"/>
            </a:pPr>
            <a:r>
              <a:rPr lang="mn-MN" altLang="en-US" sz="2500" dirty="0">
                <a:latin typeface="Times New Roman" panose="02020603050405020304" pitchFamily="18" charset="0"/>
                <a:cs typeface="Times New Roman" pitchFamily="18" charset="0"/>
              </a:rPr>
              <a:t>Чанарыг хэрэгжүүлэх хөтөлбөрөөр хэрэглэгчийн хэрэгцээг хангаж, өрсөлдөх чадвараа дээшлүүлэхэд онцгой анхаарах болов.,</a:t>
            </a:r>
          </a:p>
          <a:p>
            <a:pPr marL="574675" lvl="1" indent="-347663" algn="just">
              <a:lnSpc>
                <a:spcPct val="100000"/>
              </a:lnSpc>
              <a:buFont typeface="+mj-lt"/>
              <a:buAutoNum type="arabicPeriod"/>
            </a:pPr>
            <a:r>
              <a:rPr lang="mn-MN" altLang="en-US" sz="2500" dirty="0">
                <a:latin typeface="Times New Roman" panose="02020603050405020304" pitchFamily="18" charset="0"/>
                <a:cs typeface="Times New Roman" pitchFamily="18" charset="0"/>
              </a:rPr>
              <a:t>Шинэ БҮ-г аль болох богино хугацаанд үйлдвэрлэхэд анхаарах.,</a:t>
            </a:r>
          </a:p>
          <a:p>
            <a:pPr marL="574675" lvl="1" indent="-347663" algn="just">
              <a:lnSpc>
                <a:spcPct val="100000"/>
              </a:lnSpc>
              <a:buFont typeface="+mj-lt"/>
              <a:buAutoNum type="arabicPeriod"/>
            </a:pPr>
            <a:r>
              <a:rPr lang="mn-MN" altLang="en-US" sz="2500" dirty="0">
                <a:latin typeface="Times New Roman" panose="02020603050405020304" pitchFamily="18" charset="0"/>
                <a:cs typeface="Times New Roman" pitchFamily="18" charset="0"/>
              </a:rPr>
              <a:t>БҮ-үйлдвэрлэлийг з.байгуулах, үйлдвэрлэлийн боломжийг сайжруулахад илүү анхаарах.,</a:t>
            </a:r>
          </a:p>
          <a:p>
            <a:pPr marL="574675" lvl="1" indent="-347663" algn="just">
              <a:lnSpc>
                <a:spcPct val="100000"/>
              </a:lnSpc>
              <a:buFont typeface="+mj-lt"/>
              <a:buAutoNum type="arabicPeriod"/>
            </a:pPr>
            <a:r>
              <a:rPr lang="mn-MN" altLang="en-US" sz="2500" dirty="0">
                <a:latin typeface="Times New Roman" panose="02020603050405020304" pitchFamily="18" charset="0"/>
                <a:cs typeface="Times New Roman" pitchFamily="18" charset="0"/>
              </a:rPr>
              <a:t>Үйлдвэрлэлийн экологид анхаарч хаягдлыг багасгах, дахин боловсруулах, сав баглаа боодолыг сайжруулахад давхар анхаарах г.м.</a:t>
            </a:r>
          </a:p>
          <a:p>
            <a:pPr marL="227012" indent="-457200" algn="just">
              <a:lnSpc>
                <a:spcPct val="100000"/>
              </a:lnSpc>
            </a:pPr>
            <a:r>
              <a:rPr lang="mn-MN" altLang="en-US" sz="2500" dirty="0">
                <a:latin typeface="Times New Roman" panose="02020603050405020304" pitchFamily="18" charset="0"/>
                <a:cs typeface="Times New Roman" pitchFamily="18" charset="0"/>
              </a:rPr>
              <a:t>БҮ-ний загвар зохиох үед уг үйлдвэр тухайн загвараар үйлдвэрлэх боломжтой эсэхийг шалгах хэрэгтэй. Загвар боловсруулах, үйлчилгээний төсөл зохиох нь хоорондоо байгууллагын адил асуудал юм. Загварыг олон хувилбараар боловсруулах нь сонголтын боломжийг нэмэгдүүлнэ . </a:t>
            </a:r>
          </a:p>
          <a:p>
            <a:pPr marL="0" indent="0" algn="just">
              <a:lnSpc>
                <a:spcPct val="100000"/>
              </a:lnSpc>
              <a:buNone/>
            </a:pPr>
            <a:r>
              <a:rPr lang="mn-MN" altLang="en-US" sz="2500" dirty="0">
                <a:latin typeface="Times New Roman" panose="02020603050405020304" pitchFamily="18" charset="0"/>
                <a:cs typeface="Times New Roman" pitchFamily="18" charset="0"/>
              </a:rPr>
              <a:t>Шинэ БҮ-г дараах үе шатаар хэрэгжүүлнэ. Зураг: </a:t>
            </a:r>
            <a:r>
              <a:rPr lang="mn-MN" altLang="en-US" sz="2800" dirty="0">
                <a:latin typeface="Times New Roman" panose="02020603050405020304" pitchFamily="18" charset="0"/>
                <a:cs typeface="Times New Roman" pitchFamily="18" charset="0"/>
              </a:rPr>
              <a:t>Компаниудын туршлагаас:</a:t>
            </a:r>
            <a:endParaRPr lang="mn-MN" altLang="en-US" sz="2500" dirty="0">
              <a:latin typeface="Times New Roman" panose="02020603050405020304"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pPr>
                <a:defRPr/>
              </a:pPr>
              <a:t>5</a:t>
            </a:fld>
            <a:endParaRPr lang="en-US" altLang="en-US">
              <a:solidFill>
                <a:srgbClr val="5FCBEF"/>
              </a:solidFill>
            </a:endParaRPr>
          </a:p>
        </p:txBody>
      </p:sp>
    </p:spTree>
    <p:extLst>
      <p:ext uri="{BB962C8B-B14F-4D97-AF65-F5344CB8AC3E}">
        <p14:creationId xmlns:p14="http://schemas.microsoft.com/office/powerpoint/2010/main" val="2690347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0"/>
            <a:ext cx="11386473" cy="555454"/>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2.1. </a:t>
            </a:r>
            <a:r>
              <a:rPr lang="mn-MN" sz="2400" dirty="0">
                <a:solidFill>
                  <a:srgbClr val="00B0F0"/>
                </a:solidFill>
                <a:latin typeface="Times New Roman" panose="02020603050405020304" pitchFamily="18" charset="0"/>
                <a:cs typeface="Times New Roman" panose="02020603050405020304" pitchFamily="18" charset="0"/>
              </a:rPr>
              <a:t>Бүтээгдэхүүн, үйлчилгээний загварыг боловсруулах </a:t>
            </a:r>
            <a:r>
              <a:rPr lang="en-US" sz="2400" dirty="0">
                <a:solidFill>
                  <a:srgbClr val="00B0F0"/>
                </a:solidFill>
                <a:latin typeface="Times New Roman" panose="02020603050405020304" pitchFamily="18" charset="0"/>
                <a:cs typeface="Times New Roman" panose="02020603050405020304" pitchFamily="18" charset="0"/>
              </a:rPr>
              <a:t>(</a:t>
            </a:r>
            <a:r>
              <a:rPr lang="mn-MN" sz="2400" dirty="0">
                <a:solidFill>
                  <a:srgbClr val="00B0F0"/>
                </a:solidFill>
                <a:latin typeface="Times New Roman" panose="02020603050405020304" pitchFamily="18" charset="0"/>
                <a:cs typeface="Times New Roman" panose="02020603050405020304" pitchFamily="18" charset="0"/>
              </a:rPr>
              <a:t>БҮЗБ</a:t>
            </a:r>
            <a:r>
              <a:rPr lang="en-US" sz="2400" dirty="0">
                <a:solidFill>
                  <a:srgbClr val="00B0F0"/>
                </a:solidFill>
                <a:latin typeface="Times New Roman" panose="02020603050405020304" pitchFamily="18" charset="0"/>
                <a:cs typeface="Times New Roman" panose="02020603050405020304" pitchFamily="18" charset="0"/>
              </a:rPr>
              <a:t>) </a:t>
            </a:r>
            <a:r>
              <a:rPr lang="mn-MN" sz="2400" dirty="0">
                <a:solidFill>
                  <a:srgbClr val="00B0F0"/>
                </a:solidFill>
                <a:latin typeface="Times New Roman" panose="02020603050405020304" pitchFamily="18" charset="0"/>
                <a:cs typeface="Times New Roman" panose="02020603050405020304" pitchFamily="18" charset="0"/>
              </a:rPr>
              <a:t>шаардлага, үе шат</a:t>
            </a:r>
            <a:r>
              <a:rPr lang="mn-MN" sz="2400" b="1" dirty="0">
                <a:solidFill>
                  <a:srgbClr val="00B0F0"/>
                </a:solidFill>
                <a:latin typeface="Times New Roman" panose="02020603050405020304" pitchFamily="18" charset="0"/>
                <a:cs typeface="Times New Roman" panose="02020603050405020304" pitchFamily="18" charset="0"/>
              </a:rPr>
              <a:t>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3</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p:sp>
        <p:nvSpPr>
          <p:cNvPr id="3" name="Content Placeholder 2"/>
          <p:cNvSpPr>
            <a:spLocks noGrp="1"/>
          </p:cNvSpPr>
          <p:nvPr>
            <p:ph sz="quarter" idx="13"/>
          </p:nvPr>
        </p:nvSpPr>
        <p:spPr>
          <a:xfrm>
            <a:off x="3831182" y="367670"/>
            <a:ext cx="8160032" cy="6161113"/>
          </a:xfrm>
        </p:spPr>
        <p:txBody>
          <a:bodyPr>
            <a:noAutofit/>
          </a:bodyPr>
          <a:lstStyle/>
          <a:p>
            <a:pPr marL="0" indent="0" algn="just">
              <a:lnSpc>
                <a:spcPct val="100000"/>
              </a:lnSpc>
              <a:spcBef>
                <a:spcPts val="0"/>
              </a:spcBef>
              <a:buNone/>
            </a:pPr>
            <a:r>
              <a:rPr lang="mn-MN" altLang="en-US" sz="2100" b="1" dirty="0">
                <a:solidFill>
                  <a:srgbClr val="0000FF"/>
                </a:solidFill>
                <a:latin typeface="Times New Roman" panose="02020603050405020304" pitchFamily="18" charset="0"/>
                <a:cs typeface="Times New Roman" pitchFamily="18" charset="0"/>
              </a:rPr>
              <a:t>1.</a:t>
            </a:r>
            <a:r>
              <a:rPr lang="mn-MN" altLang="en-US" sz="2100" dirty="0">
                <a:latin typeface="Times New Roman" panose="02020603050405020304" pitchFamily="18" charset="0"/>
                <a:cs typeface="Times New Roman" pitchFamily="18" charset="0"/>
              </a:rPr>
              <a:t> Санааг ихэвчлэн хэрэглэгчдээс, мөн өрсөлдөгчдөөс олж авдаг. Менежер, маркетингийн албанаас хэрэглэгчдээс судалгаа авах, өрсөлдөгчдийн газар дээр нь очиж танилцах, тэдний хэрэглэгчдэд зориулсан фото зураг, үзэсгэлэн худалгааг судалдаг. </a:t>
            </a:r>
            <a:r>
              <a:rPr lang="mn-MN" altLang="en-US" sz="2100" b="1" dirty="0">
                <a:solidFill>
                  <a:srgbClr val="0000FF"/>
                </a:solidFill>
                <a:latin typeface="Times New Roman" panose="02020603050405020304" pitchFamily="18" charset="0"/>
                <a:cs typeface="Times New Roman" pitchFamily="18" charset="0"/>
              </a:rPr>
              <a:t>2</a:t>
            </a:r>
            <a:r>
              <a:rPr lang="en-US" altLang="en-US" sz="2100" b="1" dirty="0">
                <a:solidFill>
                  <a:srgbClr val="0000FF"/>
                </a:solidFill>
                <a:latin typeface="Times New Roman" panose="02020603050405020304" pitchFamily="18" charset="0"/>
                <a:cs typeface="Times New Roman" pitchFamily="18" charset="0"/>
              </a:rPr>
              <a:t>. </a:t>
            </a:r>
            <a:r>
              <a:rPr lang="mn-MN" altLang="en-US" sz="2100" dirty="0">
                <a:latin typeface="Times New Roman" panose="02020603050405020304" pitchFamily="18" charset="0"/>
                <a:cs typeface="Times New Roman" pitchFamily="18" charset="0"/>
              </a:rPr>
              <a:t>Зах зээлд байр суурь олж авах, бүтээмж дээшлэх нь шинэ БҮ-г үйлдвэрлэх ү.а-г хэрхэн зөв удирдахаас их хамаардаг. Заримдаа шинэ БҮ хэрэглэгээ муутай байж болно, учир нь компаний зорилго, маркетингийн ү.а, санхүүгийн шаардлагыг хангахгүй ч байж болно, гэхдээ сонголт нь 2 талын шалгуурыг харгалзах шаардлагатай. </a:t>
            </a:r>
            <a:r>
              <a:rPr lang="mn-MN" altLang="en-US" sz="2100" dirty="0">
                <a:solidFill>
                  <a:srgbClr val="0000FF"/>
                </a:solidFill>
                <a:latin typeface="Times New Roman" panose="02020603050405020304" pitchFamily="18" charset="0"/>
                <a:cs typeface="Times New Roman" pitchFamily="18" charset="0"/>
              </a:rPr>
              <a:t>а</a:t>
            </a:r>
            <a:r>
              <a:rPr lang="en-US" altLang="en-US" sz="2100" b="1" dirty="0">
                <a:solidFill>
                  <a:srgbClr val="0000FF"/>
                </a:solidFill>
                <a:latin typeface="Times New Roman" panose="02020603050405020304" pitchFamily="18" charset="0"/>
                <a:cs typeface="Times New Roman" pitchFamily="18" charset="0"/>
              </a:rPr>
              <a:t>. </a:t>
            </a:r>
            <a:r>
              <a:rPr lang="mn-MN" altLang="en-US" sz="2100" dirty="0">
                <a:latin typeface="Times New Roman" panose="02020603050405020304" pitchFamily="18" charset="0"/>
                <a:cs typeface="Times New Roman" pitchFamily="18" charset="0"/>
              </a:rPr>
              <a:t>Маркетингийн шалгуур: уг бүтээгдэхүүний өрсөлдөх ба хүн амын худалдан авах чадвар, борлуулах ү.а-г дэмжих хэрэгсэл, хуваарилалтын асуудлууд байна, заавал хэрэглэгчтэй байх ёстой. </a:t>
            </a:r>
            <a:r>
              <a:rPr lang="mn-MN" altLang="en-US" sz="2100" dirty="0">
                <a:solidFill>
                  <a:srgbClr val="0000FF"/>
                </a:solidFill>
                <a:latin typeface="Times New Roman" panose="02020603050405020304" pitchFamily="18" charset="0"/>
                <a:cs typeface="Times New Roman" pitchFamily="18" charset="0"/>
              </a:rPr>
              <a:t>б</a:t>
            </a:r>
            <a:r>
              <a:rPr lang="en-US" altLang="en-US" sz="2100" b="1" dirty="0">
                <a:solidFill>
                  <a:srgbClr val="0000FF"/>
                </a:solidFill>
                <a:latin typeface="Times New Roman" panose="02020603050405020304" pitchFamily="18" charset="0"/>
                <a:cs typeface="Times New Roman" pitchFamily="18" charset="0"/>
              </a:rPr>
              <a:t>. </a:t>
            </a:r>
            <a:r>
              <a:rPr lang="mn-MN" altLang="en-US" sz="2100" dirty="0">
                <a:latin typeface="Times New Roman" panose="02020603050405020304" pitchFamily="18" charset="0"/>
                <a:cs typeface="Times New Roman" pitchFamily="18" charset="0"/>
              </a:rPr>
              <a:t>Үйлдвэрлэлийн ү.а-ны шалгуур: үйлдэл, ү.а-ны энгийн хялбар байдал, үйлдвэрлэхэд ашиглах тоног төхөөрмж, тэдгээрийг авах боломж зэрэг. </a:t>
            </a:r>
            <a:r>
              <a:rPr lang="mn-MN" altLang="en-US" sz="2100" dirty="0">
                <a:solidFill>
                  <a:srgbClr val="0000FF"/>
                </a:solidFill>
                <a:latin typeface="Times New Roman" panose="02020603050405020304" pitchFamily="18" charset="0"/>
                <a:cs typeface="Times New Roman" pitchFamily="18" charset="0"/>
              </a:rPr>
              <a:t>в</a:t>
            </a:r>
            <a:r>
              <a:rPr lang="en-US" altLang="en-US" sz="2100" b="1" dirty="0">
                <a:solidFill>
                  <a:srgbClr val="0000FF"/>
                </a:solidFill>
                <a:latin typeface="Times New Roman" panose="02020603050405020304" pitchFamily="18" charset="0"/>
                <a:cs typeface="Times New Roman" pitchFamily="18" charset="0"/>
              </a:rPr>
              <a:t>. </a:t>
            </a:r>
            <a:r>
              <a:rPr lang="mn-MN" altLang="en-US" sz="2100" dirty="0">
                <a:latin typeface="Times New Roman" panose="02020603050405020304" pitchFamily="18" charset="0"/>
                <a:cs typeface="Times New Roman" pitchFamily="18" charset="0"/>
              </a:rPr>
              <a:t>Санхүүгийн шалгуур: маркетингийн ба үйлдвэрлэлийн ү.а-тай холбоотой </a:t>
            </a:r>
            <a:r>
              <a:rPr lang="en-US" altLang="en-US" sz="2100" dirty="0">
                <a:latin typeface="Times New Roman" panose="02020603050405020304" pitchFamily="18" charset="0"/>
                <a:cs typeface="Times New Roman" pitchFamily="18" charset="0"/>
              </a:rPr>
              <a:t>(</a:t>
            </a:r>
            <a:r>
              <a:rPr lang="mn-MN" altLang="en-US" sz="2100" dirty="0">
                <a:latin typeface="Times New Roman" panose="02020603050405020304" pitchFamily="18" charset="0"/>
                <a:cs typeface="Times New Roman" pitchFamily="18" charset="0"/>
              </a:rPr>
              <a:t>бүтээгдхүүний эрсдэлийн түвшин, хөрөнгө оруулах шаардлага, төхөөрөмжийн үнэ, ашиг олох чадвар, байгууллагын хөгжлийн шат г.м</a:t>
            </a:r>
            <a:r>
              <a:rPr lang="en-US" altLang="en-US" sz="2100" dirty="0">
                <a:latin typeface="Times New Roman" panose="02020603050405020304" pitchFamily="18" charset="0"/>
                <a:cs typeface="Times New Roman" pitchFamily="18" charset="0"/>
              </a:rPr>
              <a:t>)</a:t>
            </a:r>
            <a:r>
              <a:rPr lang="mn-MN" altLang="en-US" sz="2100" dirty="0">
                <a:latin typeface="Times New Roman" panose="02020603050405020304" pitchFamily="18" charset="0"/>
                <a:cs typeface="Times New Roman" pitchFamily="18" charset="0"/>
              </a:rPr>
              <a:t>. </a:t>
            </a:r>
          </a:p>
        </p:txBody>
      </p:sp>
      <p:sp>
        <p:nvSpPr>
          <p:cNvPr id="5" name="Content Placeholder 2">
            <a:extLst>
              <a:ext uri="{FF2B5EF4-FFF2-40B4-BE49-F238E27FC236}">
                <a16:creationId xmlns:a16="http://schemas.microsoft.com/office/drawing/2014/main" id="{D8D690EA-1A2E-4058-B7A2-705F94E6ECB0}"/>
              </a:ext>
            </a:extLst>
          </p:cNvPr>
          <p:cNvSpPr txBox="1">
            <a:spLocks/>
          </p:cNvSpPr>
          <p:nvPr/>
        </p:nvSpPr>
        <p:spPr>
          <a:xfrm>
            <a:off x="180627" y="597986"/>
            <a:ext cx="3657600" cy="640751"/>
          </a:xfrm>
          <a:prstGeom prst="rect">
            <a:avLst/>
          </a:prstGeom>
          <a:ln>
            <a:solidFill>
              <a:schemeClr val="tx1"/>
            </a:solidFill>
          </a:ln>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Шинэ бүтээгдэхүүн үйлдвэрлэх санаа төрөх</a:t>
            </a:r>
            <a:endParaRPr lang="mn-MN" sz="1900" dirty="0">
              <a:latin typeface="Times New Roman" panose="02020603050405020304" pitchFamily="18" charset="0"/>
              <a:cs typeface="Times New Roman" pitchFamily="18" charset="0"/>
            </a:endParaRPr>
          </a:p>
        </p:txBody>
      </p:sp>
      <p:sp>
        <p:nvSpPr>
          <p:cNvPr id="8" name="Content Placeholder 2">
            <a:extLst>
              <a:ext uri="{FF2B5EF4-FFF2-40B4-BE49-F238E27FC236}">
                <a16:creationId xmlns:a16="http://schemas.microsoft.com/office/drawing/2014/main" id="{F46D5834-6AE2-4BC8-B809-C0843303A28B}"/>
              </a:ext>
            </a:extLst>
          </p:cNvPr>
          <p:cNvSpPr txBox="1">
            <a:spLocks/>
          </p:cNvSpPr>
          <p:nvPr/>
        </p:nvSpPr>
        <p:spPr>
          <a:xfrm>
            <a:off x="180627" y="5632081"/>
            <a:ext cx="3664156" cy="4442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800" b="1" dirty="0">
                <a:solidFill>
                  <a:srgbClr val="0000FF"/>
                </a:solidFill>
                <a:latin typeface="Times New Roman" pitchFamily="18" charset="0"/>
                <a:cs typeface="Times New Roman" pitchFamily="18" charset="0"/>
              </a:rPr>
              <a:t>Зураг. </a:t>
            </a:r>
            <a:r>
              <a:rPr lang="mn-MN" altLang="en-US" sz="1800" i="1" dirty="0">
                <a:latin typeface="Times New Roman" pitchFamily="18" charset="0"/>
                <a:cs typeface="Times New Roman" pitchFamily="18" charset="0"/>
              </a:rPr>
              <a:t>Шинэ б</a:t>
            </a:r>
            <a:r>
              <a:rPr lang="mn-MN" sz="1800" i="1" dirty="0">
                <a:latin typeface="Times New Roman" pitchFamily="18" charset="0"/>
                <a:cs typeface="Times New Roman" pitchFamily="18" charset="0"/>
              </a:rPr>
              <a:t>үтээгдэхүүн үйлдвэрлэх үе шат</a:t>
            </a:r>
            <a:r>
              <a:rPr lang="mn-MN" altLang="en-US" sz="1800" i="1" dirty="0">
                <a:latin typeface="Times New Roman" pitchFamily="18" charset="0"/>
                <a:cs typeface="Times New Roman" pitchFamily="18" charset="0"/>
              </a:rPr>
              <a:t>.</a:t>
            </a:r>
            <a:endParaRPr lang="mn-MN" sz="1800" i="1" dirty="0">
              <a:latin typeface="Times New Roman" panose="02020603050405020304" pitchFamily="18" charset="0"/>
              <a:cs typeface="Times New Roman" pitchFamily="18" charset="0"/>
            </a:endParaRPr>
          </a:p>
        </p:txBody>
      </p:sp>
      <p:sp>
        <p:nvSpPr>
          <p:cNvPr id="24" name="Content Placeholder 2">
            <a:extLst>
              <a:ext uri="{FF2B5EF4-FFF2-40B4-BE49-F238E27FC236}">
                <a16:creationId xmlns:a16="http://schemas.microsoft.com/office/drawing/2014/main" id="{A4490E2F-C5ED-457C-AC7F-9D5E503ECE79}"/>
              </a:ext>
            </a:extLst>
          </p:cNvPr>
          <p:cNvSpPr txBox="1">
            <a:spLocks/>
          </p:cNvSpPr>
          <p:nvPr/>
        </p:nvSpPr>
        <p:spPr>
          <a:xfrm>
            <a:off x="180627" y="1394350"/>
            <a:ext cx="3657600" cy="320376"/>
          </a:xfrm>
          <a:prstGeom prst="rect">
            <a:avLst/>
          </a:prstGeom>
          <a:ln>
            <a:solidFill>
              <a:schemeClr val="tx1"/>
            </a:solidFill>
          </a:ln>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Бүтээгдэхүүний сонголт хийх</a:t>
            </a:r>
            <a:endParaRPr lang="mn-MN" sz="1900" dirty="0">
              <a:latin typeface="Times New Roman" panose="02020603050405020304" pitchFamily="18" charset="0"/>
              <a:cs typeface="Times New Roman" pitchFamily="18" charset="0"/>
            </a:endParaRPr>
          </a:p>
        </p:txBody>
      </p:sp>
      <p:sp>
        <p:nvSpPr>
          <p:cNvPr id="25" name="Content Placeholder 2">
            <a:extLst>
              <a:ext uri="{FF2B5EF4-FFF2-40B4-BE49-F238E27FC236}">
                <a16:creationId xmlns:a16="http://schemas.microsoft.com/office/drawing/2014/main" id="{70A20F82-E57D-4BA0-96D8-260D7D5362C6}"/>
              </a:ext>
            </a:extLst>
          </p:cNvPr>
          <p:cNvSpPr txBox="1">
            <a:spLocks/>
          </p:cNvSpPr>
          <p:nvPr/>
        </p:nvSpPr>
        <p:spPr>
          <a:xfrm>
            <a:off x="180627" y="1870339"/>
            <a:ext cx="3657600" cy="640751"/>
          </a:xfrm>
          <a:prstGeom prst="rect">
            <a:avLst/>
          </a:prstGeom>
          <a:ln>
            <a:solidFill>
              <a:schemeClr val="tx1"/>
            </a:solidFill>
          </a:ln>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Бүтээгдэхүүн үйлдвэрлэх загварыг боловсруулахад бэлтгэх</a:t>
            </a:r>
            <a:endParaRPr lang="mn-MN" sz="1900" dirty="0">
              <a:latin typeface="Times New Roman" panose="02020603050405020304" pitchFamily="18" charset="0"/>
              <a:cs typeface="Times New Roman" pitchFamily="18" charset="0"/>
            </a:endParaRPr>
          </a:p>
        </p:txBody>
      </p:sp>
      <p:sp>
        <p:nvSpPr>
          <p:cNvPr id="28" name="Content Placeholder 2">
            <a:extLst>
              <a:ext uri="{FF2B5EF4-FFF2-40B4-BE49-F238E27FC236}">
                <a16:creationId xmlns:a16="http://schemas.microsoft.com/office/drawing/2014/main" id="{7FC89C0B-6DED-4AF6-9CE5-A1C663D475C4}"/>
              </a:ext>
            </a:extLst>
          </p:cNvPr>
          <p:cNvSpPr txBox="1">
            <a:spLocks/>
          </p:cNvSpPr>
          <p:nvPr/>
        </p:nvSpPr>
        <p:spPr>
          <a:xfrm>
            <a:off x="180627" y="2666703"/>
            <a:ext cx="3657600" cy="640079"/>
          </a:xfrm>
          <a:prstGeom prst="rect">
            <a:avLst/>
          </a:prstGeom>
          <a:ln>
            <a:solidFill>
              <a:schemeClr val="tx1"/>
            </a:solidFill>
          </a:ln>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Эцсийн хувилбараар загвар боловсруулах</a:t>
            </a:r>
            <a:endParaRPr lang="mn-MN" sz="1900" dirty="0">
              <a:latin typeface="Times New Roman" panose="02020603050405020304" pitchFamily="18" charset="0"/>
              <a:cs typeface="Times New Roman" pitchFamily="18" charset="0"/>
            </a:endParaRPr>
          </a:p>
        </p:txBody>
      </p:sp>
      <p:sp>
        <p:nvSpPr>
          <p:cNvPr id="29" name="Content Placeholder 2">
            <a:extLst>
              <a:ext uri="{FF2B5EF4-FFF2-40B4-BE49-F238E27FC236}">
                <a16:creationId xmlns:a16="http://schemas.microsoft.com/office/drawing/2014/main" id="{C8A8A5BE-AE07-4570-84DD-C01446EC1098}"/>
              </a:ext>
            </a:extLst>
          </p:cNvPr>
          <p:cNvSpPr txBox="1">
            <a:spLocks/>
          </p:cNvSpPr>
          <p:nvPr/>
        </p:nvSpPr>
        <p:spPr>
          <a:xfrm>
            <a:off x="180627" y="3462395"/>
            <a:ext cx="3657600" cy="320376"/>
          </a:xfrm>
          <a:prstGeom prst="rect">
            <a:avLst/>
          </a:prstGeom>
          <a:ln>
            <a:solidFill>
              <a:schemeClr val="tx1"/>
            </a:solidFill>
          </a:ln>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Үйл ажиллагаа сонгох</a:t>
            </a:r>
            <a:endParaRPr lang="mn-MN" sz="1900" dirty="0">
              <a:latin typeface="Times New Roman" panose="02020603050405020304" pitchFamily="18" charset="0"/>
              <a:cs typeface="Times New Roman" pitchFamily="18" charset="0"/>
            </a:endParaRPr>
          </a:p>
        </p:txBody>
      </p:sp>
      <p:sp>
        <p:nvSpPr>
          <p:cNvPr id="30" name="Content Placeholder 2">
            <a:extLst>
              <a:ext uri="{FF2B5EF4-FFF2-40B4-BE49-F238E27FC236}">
                <a16:creationId xmlns:a16="http://schemas.microsoft.com/office/drawing/2014/main" id="{B96FBF0A-C699-4180-9FCB-5BBFEFEA2205}"/>
              </a:ext>
            </a:extLst>
          </p:cNvPr>
          <p:cNvSpPr txBox="1">
            <a:spLocks/>
          </p:cNvSpPr>
          <p:nvPr/>
        </p:nvSpPr>
        <p:spPr>
          <a:xfrm>
            <a:off x="180627" y="3938384"/>
            <a:ext cx="3657600" cy="652449"/>
          </a:xfrm>
          <a:prstGeom prst="rect">
            <a:avLst/>
          </a:prstGeom>
          <a:ln>
            <a:solidFill>
              <a:schemeClr val="tx1"/>
            </a:solidFill>
          </a:ln>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Үйлдвэрлэлийн үйл ажиллагааны төсөв зохиох</a:t>
            </a:r>
            <a:endParaRPr lang="mn-MN" sz="1900" dirty="0">
              <a:latin typeface="Times New Roman" panose="02020603050405020304" pitchFamily="18" charset="0"/>
              <a:cs typeface="Times New Roman" pitchFamily="18" charset="0"/>
            </a:endParaRPr>
          </a:p>
        </p:txBody>
      </p:sp>
      <p:sp>
        <p:nvSpPr>
          <p:cNvPr id="31" name="Content Placeholder 2">
            <a:extLst>
              <a:ext uri="{FF2B5EF4-FFF2-40B4-BE49-F238E27FC236}">
                <a16:creationId xmlns:a16="http://schemas.microsoft.com/office/drawing/2014/main" id="{CDF07BAB-D2B1-4576-BC8B-AB9DADF9DB96}"/>
              </a:ext>
            </a:extLst>
          </p:cNvPr>
          <p:cNvSpPr txBox="1">
            <a:spLocks/>
          </p:cNvSpPr>
          <p:nvPr/>
        </p:nvSpPr>
        <p:spPr>
          <a:xfrm>
            <a:off x="180627" y="4746446"/>
            <a:ext cx="3657600" cy="730021"/>
          </a:xfrm>
          <a:prstGeom prst="rect">
            <a:avLst/>
          </a:prstGeom>
          <a:ln>
            <a:solidFill>
              <a:schemeClr val="tx1"/>
            </a:solidFill>
          </a:ln>
        </p:spPr>
        <p:txBody>
          <a:bodyPr vert="horz" lIns="91440" tIns="0" rIns="9144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7160" indent="-137160">
              <a:lnSpc>
                <a:spcPct val="100000"/>
              </a:lnSpc>
              <a:spcBef>
                <a:spcPts val="0"/>
              </a:spcBef>
            </a:pPr>
            <a:r>
              <a:rPr lang="mn-MN" altLang="en-US" sz="1400" dirty="0">
                <a:latin typeface="Times New Roman" pitchFamily="18" charset="0"/>
                <a:cs typeface="Times New Roman" pitchFamily="18" charset="0"/>
              </a:rPr>
              <a:t>Хүчин чадлаа төлөвлөх</a:t>
            </a:r>
          </a:p>
          <a:p>
            <a:pPr marL="137160" indent="-137160">
              <a:lnSpc>
                <a:spcPct val="100000"/>
              </a:lnSpc>
              <a:spcBef>
                <a:spcPts val="0"/>
              </a:spcBef>
            </a:pPr>
            <a:r>
              <a:rPr lang="mn-MN" altLang="en-US" sz="1400" dirty="0">
                <a:latin typeface="Times New Roman" pitchFamily="18" charset="0"/>
                <a:cs typeface="Times New Roman" pitchFamily="18" charset="0"/>
              </a:rPr>
              <a:t>Үйлдвэрлэлийн төлөвлөгөө боловсруулах</a:t>
            </a:r>
          </a:p>
          <a:p>
            <a:pPr marL="137160" indent="-137160">
              <a:lnSpc>
                <a:spcPct val="100000"/>
              </a:lnSpc>
              <a:spcBef>
                <a:spcPts val="0"/>
              </a:spcBef>
            </a:pPr>
            <a:r>
              <a:rPr lang="mn-MN" sz="1400" dirty="0">
                <a:latin typeface="Times New Roman" pitchFamily="18" charset="0"/>
                <a:cs typeface="Times New Roman" pitchFamily="18" charset="0"/>
              </a:rPr>
              <a:t>Бүтээгдэхүүн үйлдвэрлэх хуваарь гаргах</a:t>
            </a:r>
          </a:p>
        </p:txBody>
      </p:sp>
      <p:cxnSp>
        <p:nvCxnSpPr>
          <p:cNvPr id="33" name="Straight Arrow Connector 32">
            <a:extLst>
              <a:ext uri="{FF2B5EF4-FFF2-40B4-BE49-F238E27FC236}">
                <a16:creationId xmlns:a16="http://schemas.microsoft.com/office/drawing/2014/main" id="{782C8C89-D3D2-434E-9C7B-80E1B1106ED9}"/>
              </a:ext>
            </a:extLst>
          </p:cNvPr>
          <p:cNvCxnSpPr>
            <a:cxnSpLocks/>
          </p:cNvCxnSpPr>
          <p:nvPr/>
        </p:nvCxnSpPr>
        <p:spPr>
          <a:xfrm>
            <a:off x="2009427" y="1247446"/>
            <a:ext cx="0" cy="137160"/>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2F8C3E8-5098-4EDF-850A-46EC1A94D53E}"/>
              </a:ext>
            </a:extLst>
          </p:cNvPr>
          <p:cNvCxnSpPr>
            <a:cxnSpLocks/>
          </p:cNvCxnSpPr>
          <p:nvPr/>
        </p:nvCxnSpPr>
        <p:spPr>
          <a:xfrm>
            <a:off x="2005904" y="2511090"/>
            <a:ext cx="0" cy="137160"/>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D9ACFEB-6814-4D5B-8975-D8E03A9E5728}"/>
              </a:ext>
            </a:extLst>
          </p:cNvPr>
          <p:cNvCxnSpPr>
            <a:cxnSpLocks/>
          </p:cNvCxnSpPr>
          <p:nvPr/>
        </p:nvCxnSpPr>
        <p:spPr>
          <a:xfrm>
            <a:off x="2009427" y="1721076"/>
            <a:ext cx="0" cy="137160"/>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091904F-3033-4479-97B9-2D0C700892A2}"/>
              </a:ext>
            </a:extLst>
          </p:cNvPr>
          <p:cNvCxnSpPr>
            <a:cxnSpLocks/>
          </p:cNvCxnSpPr>
          <p:nvPr/>
        </p:nvCxnSpPr>
        <p:spPr>
          <a:xfrm>
            <a:off x="2008731" y="3311067"/>
            <a:ext cx="0" cy="137160"/>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DA556C5-D3B8-499E-AA11-93EDF328F804}"/>
              </a:ext>
            </a:extLst>
          </p:cNvPr>
          <p:cNvCxnSpPr>
            <a:cxnSpLocks/>
          </p:cNvCxnSpPr>
          <p:nvPr/>
        </p:nvCxnSpPr>
        <p:spPr>
          <a:xfrm>
            <a:off x="2008731" y="3789121"/>
            <a:ext cx="0" cy="137160"/>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8F5BB3A-313A-4205-A39B-9EFCA0C2237C}"/>
              </a:ext>
            </a:extLst>
          </p:cNvPr>
          <p:cNvCxnSpPr>
            <a:cxnSpLocks/>
          </p:cNvCxnSpPr>
          <p:nvPr/>
        </p:nvCxnSpPr>
        <p:spPr>
          <a:xfrm>
            <a:off x="2008035" y="4590833"/>
            <a:ext cx="0" cy="137160"/>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1530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0"/>
            <a:ext cx="11386473" cy="555454"/>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2.1. </a:t>
            </a:r>
            <a:r>
              <a:rPr lang="mn-MN" sz="2400" dirty="0">
                <a:solidFill>
                  <a:srgbClr val="00B0F0"/>
                </a:solidFill>
                <a:latin typeface="Times New Roman" panose="02020603050405020304" pitchFamily="18" charset="0"/>
                <a:cs typeface="Times New Roman" panose="02020603050405020304" pitchFamily="18" charset="0"/>
              </a:rPr>
              <a:t>Бүтээгдэхүүн, үйлчилгээний загварыг боловсруулах </a:t>
            </a:r>
            <a:r>
              <a:rPr lang="en-US" sz="2400" dirty="0">
                <a:solidFill>
                  <a:srgbClr val="00B0F0"/>
                </a:solidFill>
                <a:latin typeface="Times New Roman" panose="02020603050405020304" pitchFamily="18" charset="0"/>
                <a:cs typeface="Times New Roman" panose="02020603050405020304" pitchFamily="18" charset="0"/>
              </a:rPr>
              <a:t>(</a:t>
            </a:r>
            <a:r>
              <a:rPr lang="mn-MN" sz="2400" dirty="0">
                <a:solidFill>
                  <a:srgbClr val="00B0F0"/>
                </a:solidFill>
                <a:latin typeface="Times New Roman" panose="02020603050405020304" pitchFamily="18" charset="0"/>
                <a:cs typeface="Times New Roman" panose="02020603050405020304" pitchFamily="18" charset="0"/>
              </a:rPr>
              <a:t>БҮЗБ</a:t>
            </a:r>
            <a:r>
              <a:rPr lang="en-US" sz="2400" dirty="0">
                <a:solidFill>
                  <a:srgbClr val="00B0F0"/>
                </a:solidFill>
                <a:latin typeface="Times New Roman" panose="02020603050405020304" pitchFamily="18" charset="0"/>
                <a:cs typeface="Times New Roman" panose="02020603050405020304" pitchFamily="18" charset="0"/>
              </a:rPr>
              <a:t>) </a:t>
            </a:r>
            <a:r>
              <a:rPr lang="mn-MN" sz="2400" dirty="0">
                <a:solidFill>
                  <a:srgbClr val="00B0F0"/>
                </a:solidFill>
                <a:latin typeface="Times New Roman" panose="02020603050405020304" pitchFamily="18" charset="0"/>
                <a:cs typeface="Times New Roman" panose="02020603050405020304" pitchFamily="18" charset="0"/>
              </a:rPr>
              <a:t>шаардлага, үе шат</a:t>
            </a:r>
            <a:r>
              <a:rPr lang="mn-MN" sz="2400" b="1" dirty="0">
                <a:solidFill>
                  <a:srgbClr val="00B0F0"/>
                </a:solidFill>
                <a:latin typeface="Times New Roman" panose="02020603050405020304" pitchFamily="18" charset="0"/>
                <a:cs typeface="Times New Roman" panose="02020603050405020304" pitchFamily="18" charset="0"/>
              </a:rPr>
              <a:t>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4</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p:sp>
        <p:nvSpPr>
          <p:cNvPr id="3" name="Content Placeholder 2"/>
          <p:cNvSpPr>
            <a:spLocks noGrp="1"/>
          </p:cNvSpPr>
          <p:nvPr>
            <p:ph sz="quarter" idx="13"/>
          </p:nvPr>
        </p:nvSpPr>
        <p:spPr>
          <a:xfrm>
            <a:off x="187184" y="505500"/>
            <a:ext cx="11817632" cy="6161113"/>
          </a:xfrm>
        </p:spPr>
        <p:txBody>
          <a:bodyPr>
            <a:noAutofit/>
          </a:bodyPr>
          <a:lstStyle/>
          <a:p>
            <a:pPr marL="0" indent="0" algn="just">
              <a:lnSpc>
                <a:spcPct val="100000"/>
              </a:lnSpc>
              <a:spcBef>
                <a:spcPts val="0"/>
              </a:spcBef>
              <a:buNone/>
            </a:pPr>
            <a:r>
              <a:rPr lang="mn-MN" altLang="en-US" sz="2100" b="1" dirty="0">
                <a:solidFill>
                  <a:srgbClr val="0000FF"/>
                </a:solidFill>
                <a:latin typeface="Times New Roman" panose="02020603050405020304" pitchFamily="18" charset="0"/>
                <a:cs typeface="Times New Roman" pitchFamily="18" charset="0"/>
              </a:rPr>
              <a:t>3</a:t>
            </a:r>
            <a:r>
              <a:rPr lang="en-US" altLang="en-US" sz="2100" b="1" dirty="0">
                <a:solidFill>
                  <a:srgbClr val="0000FF"/>
                </a:solidFill>
                <a:latin typeface="Times New Roman" panose="02020603050405020304" pitchFamily="18" charset="0"/>
                <a:cs typeface="Times New Roman" pitchFamily="18" charset="0"/>
              </a:rPr>
              <a:t>. </a:t>
            </a:r>
            <a:r>
              <a:rPr lang="mn-MN" altLang="en-US" sz="2100" dirty="0">
                <a:latin typeface="Times New Roman" panose="02020603050405020304" pitchFamily="18" charset="0"/>
                <a:cs typeface="Times New Roman" pitchFamily="18" charset="0"/>
              </a:rPr>
              <a:t>Бусад бүтээгдэхүүнээс ялгагдах онцлог, үйлдвэрлэх түүхий эд, төхөөрөмжийг сонгох, ажил үүргийн хуваарь, үйлдвэрлэх чадавхи, чадавхийг төлөвлөх г. м менежментийн асуудлуудыг шийднэ. Энэхүү бэлтгэл ажлын хувилбаруудыг тодорхойлно</a:t>
            </a:r>
          </a:p>
          <a:p>
            <a:pPr marL="0" indent="0" algn="just">
              <a:lnSpc>
                <a:spcPct val="100000"/>
              </a:lnSpc>
              <a:spcBef>
                <a:spcPts val="0"/>
              </a:spcBef>
              <a:buNone/>
            </a:pPr>
            <a:r>
              <a:rPr lang="mn-MN" altLang="en-US" sz="2100" b="1" dirty="0">
                <a:solidFill>
                  <a:srgbClr val="0000FF"/>
                </a:solidFill>
                <a:latin typeface="Times New Roman" panose="02020603050405020304" pitchFamily="18" charset="0"/>
                <a:cs typeface="Times New Roman" pitchFamily="18" charset="0"/>
              </a:rPr>
              <a:t>4</a:t>
            </a:r>
            <a:r>
              <a:rPr lang="en-US" altLang="en-US" sz="2100" b="1" dirty="0">
                <a:solidFill>
                  <a:srgbClr val="0000FF"/>
                </a:solidFill>
                <a:latin typeface="Times New Roman" panose="02020603050405020304" pitchFamily="18" charset="0"/>
                <a:cs typeface="Times New Roman" pitchFamily="18" charset="0"/>
              </a:rPr>
              <a:t>. </a:t>
            </a:r>
            <a:r>
              <a:rPr lang="mn-MN" altLang="en-US" sz="2100" dirty="0">
                <a:latin typeface="Times New Roman" panose="02020603050405020304" pitchFamily="18" charset="0"/>
                <a:cs typeface="Times New Roman" pitchFamily="18" charset="0"/>
              </a:rPr>
              <a:t>Боловсруулсан хувилбаруудаас оновчтойг сонгож, туршилт, залруулга, танилцуулгыг тараах, сурталчлана. Үйлдвэрлэх эцсийн төрөл, онцлог, загвар, бүрэлдэхүүн хэсэг, тавигдах стандарт шаардлага, зураг, төсөл эцсийн байдлаар бүрэн боловсруулагдана. </a:t>
            </a:r>
            <a:r>
              <a:rPr lang="en-US" altLang="en-US" sz="2100" dirty="0">
                <a:latin typeface="Times New Roman" panose="02020603050405020304" pitchFamily="18" charset="0"/>
                <a:cs typeface="Times New Roman" pitchFamily="18" charset="0"/>
              </a:rPr>
              <a:t>(</a:t>
            </a:r>
            <a:r>
              <a:rPr lang="mn-MN" altLang="en-US" sz="2100" dirty="0">
                <a:latin typeface="Times New Roman" panose="02020603050405020304" pitchFamily="18" charset="0"/>
                <a:cs typeface="Times New Roman" pitchFamily="18" charset="0"/>
              </a:rPr>
              <a:t>шалгах нарийн хөтөлбөр: үйлдвэрлэхэд төвөгтэй биш, мэргэжлийн хүмүүсээр хянуулна, шинэчлэх ажил хийгдэх г.м</a:t>
            </a:r>
            <a:r>
              <a:rPr lang="en-US" altLang="en-US" sz="2100" dirty="0">
                <a:latin typeface="Times New Roman" panose="02020603050405020304" pitchFamily="18" charset="0"/>
                <a:cs typeface="Times New Roman" pitchFamily="18" charset="0"/>
              </a:rPr>
              <a:t>)</a:t>
            </a:r>
            <a:endParaRPr lang="mn-MN" altLang="en-US" sz="2100" dirty="0">
              <a:latin typeface="Times New Roman" panose="02020603050405020304" pitchFamily="18" charset="0"/>
              <a:cs typeface="Times New Roman" pitchFamily="18" charset="0"/>
            </a:endParaRPr>
          </a:p>
          <a:p>
            <a:pPr marL="0" indent="0" algn="just">
              <a:lnSpc>
                <a:spcPct val="100000"/>
              </a:lnSpc>
              <a:spcBef>
                <a:spcPts val="0"/>
              </a:spcBef>
              <a:buNone/>
            </a:pPr>
            <a:r>
              <a:rPr lang="mn-MN" altLang="en-US" sz="2100" b="1" dirty="0">
                <a:solidFill>
                  <a:srgbClr val="0000FF"/>
                </a:solidFill>
                <a:latin typeface="Times New Roman" panose="02020603050405020304" pitchFamily="18" charset="0"/>
                <a:cs typeface="Times New Roman" pitchFamily="18" charset="0"/>
              </a:rPr>
              <a:t>5</a:t>
            </a:r>
            <a:r>
              <a:rPr lang="en-US" altLang="en-US" sz="2100" b="1" dirty="0">
                <a:solidFill>
                  <a:srgbClr val="0000FF"/>
                </a:solidFill>
                <a:latin typeface="Times New Roman" panose="02020603050405020304" pitchFamily="18" charset="0"/>
                <a:cs typeface="Times New Roman" pitchFamily="18" charset="0"/>
              </a:rPr>
              <a:t>. </a:t>
            </a:r>
            <a:r>
              <a:rPr lang="mn-MN" altLang="en-US" sz="2100" dirty="0">
                <a:latin typeface="Times New Roman" panose="02020603050405020304" pitchFamily="18" charset="0"/>
                <a:cs typeface="Times New Roman" pitchFamily="18" charset="0"/>
              </a:rPr>
              <a:t>Үйлдвэрлэх ү.а-тай холбоотой бүх ажилбарууд, технологийн шалгуурууд тодорхойлогдоно. Эцсийн ү.а бүгд хэрхэн дуусав гэдгээс хамаарна. Энэ шатанд ямар хэмжээтэй үйлдвэрлэх, хэрэглэгчдэд зориулан ямар хэмжээгээр савлах асуудал шийдэгдэнэ. Нэг талаас маркетингийн ү.а-ны эхлэл болно. Загварыг боловсруулах үед зохион бүтээгчид, үйлдьэрлэгчид 2 хамтарч нягт ажиллана. Тохирохгүй тохиолдол байна, холбогдох мэргэжилтэн нар зөвлөлдөж, шаардлагатай арга хэмжээ авна. Зарим БҮ нь ШУ техникийн дэвшлийн судалгааг түлхүү хэрэглэх шаардлагатай байдаг. </a:t>
            </a:r>
          </a:p>
          <a:p>
            <a:pPr marL="0" indent="0" algn="just">
              <a:lnSpc>
                <a:spcPct val="100000"/>
              </a:lnSpc>
              <a:spcBef>
                <a:spcPts val="0"/>
              </a:spcBef>
              <a:buNone/>
            </a:pPr>
            <a:r>
              <a:rPr lang="mn-MN" altLang="en-US" sz="2100" dirty="0">
                <a:latin typeface="Times New Roman" panose="02020603050405020304" pitchFamily="18" charset="0"/>
                <a:cs typeface="Times New Roman" pitchFamily="18" charset="0"/>
              </a:rPr>
              <a:t>ШУ техникийн дэвшлийн судалгааг суурь, хавсарга судалгаа гэж ангилдаг. Суурь - гол нь мэдлэгийн түвшинг дээшлүүлэх зорилготой. Хавсарга – дэвшлийг үйлдвэрлэлд хэрэглэх арга замыг тогтоодог </a:t>
            </a:r>
            <a:r>
              <a:rPr lang="en-US" altLang="en-US" sz="2100" dirty="0">
                <a:latin typeface="Times New Roman" panose="02020603050405020304" pitchFamily="18" charset="0"/>
                <a:cs typeface="Times New Roman" pitchFamily="18" charset="0"/>
              </a:rPr>
              <a:t>(</a:t>
            </a:r>
            <a:r>
              <a:rPr lang="mn-MN" altLang="en-US" sz="2100" dirty="0">
                <a:latin typeface="Times New Roman" panose="02020603050405020304" pitchFamily="18" charset="0"/>
                <a:cs typeface="Times New Roman" pitchFamily="18" charset="0"/>
              </a:rPr>
              <a:t>++++ тайлбар +++ болно, патент авах боломжтой, судалгаа их зардал шаарддаг.</a:t>
            </a:r>
            <a:r>
              <a:rPr lang="en-US" altLang="en-US" sz="2100" dirty="0">
                <a:latin typeface="Times New Roman" panose="02020603050405020304" pitchFamily="18" charset="0"/>
                <a:cs typeface="Times New Roman" pitchFamily="18" charset="0"/>
              </a:rPr>
              <a:t>)</a:t>
            </a:r>
            <a:r>
              <a:rPr lang="mn-MN" altLang="en-US" sz="2100" dirty="0">
                <a:latin typeface="Times New Roman" panose="02020603050405020304" pitchFamily="18" charset="0"/>
                <a:cs typeface="Times New Roman" pitchFamily="18" charset="0"/>
              </a:rPr>
              <a:t>   </a:t>
            </a:r>
          </a:p>
        </p:txBody>
      </p:sp>
    </p:spTree>
    <p:extLst>
      <p:ext uri="{BB962C8B-B14F-4D97-AF65-F5344CB8AC3E}">
        <p14:creationId xmlns:p14="http://schemas.microsoft.com/office/powerpoint/2010/main" val="3839989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0"/>
            <a:ext cx="11700016" cy="555454"/>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a:t>
            </a:r>
            <a:r>
              <a:rPr lang="en-US" sz="2400" b="1" dirty="0">
                <a:solidFill>
                  <a:srgbClr val="00B0F0"/>
                </a:solidFill>
                <a:latin typeface="Times New Roman" panose="02020603050405020304" pitchFamily="18" charset="0"/>
                <a:cs typeface="Times New Roman" panose="02020603050405020304" pitchFamily="18" charset="0"/>
              </a:rPr>
              <a:t>2</a:t>
            </a:r>
            <a:r>
              <a:rPr lang="mn-MN" sz="2400" b="1" dirty="0">
                <a:solidFill>
                  <a:srgbClr val="00B0F0"/>
                </a:solidFill>
                <a:latin typeface="Times New Roman" panose="02020603050405020304" pitchFamily="18" charset="0"/>
                <a:cs typeface="Times New Roman" panose="02020603050405020304" pitchFamily="18" charset="0"/>
              </a:rPr>
              <a:t>. Стандартчилал </a:t>
            </a:r>
            <a:r>
              <a:rPr lang="en-US" altLang="en-US" sz="2400" b="1" dirty="0">
                <a:solidFill>
                  <a:srgbClr val="00B0F0"/>
                </a:solidFill>
                <a:latin typeface="Times New Roman" panose="02020603050405020304" pitchFamily="18" charset="0"/>
                <a:cs typeface="Times New Roman" panose="02020603050405020304" pitchFamily="18" charset="0"/>
              </a:rPr>
              <a:t>(1)</a:t>
            </a:r>
            <a:endParaRPr lang="en-US" sz="2400" b="1" dirty="0">
              <a:solidFill>
                <a:srgbClr val="00B0F0"/>
              </a:solidFill>
            </a:endParaRPr>
          </a:p>
        </p:txBody>
      </p:sp>
      <p:sp>
        <p:nvSpPr>
          <p:cNvPr id="3" name="Content Placeholder 2"/>
          <p:cNvSpPr>
            <a:spLocks noGrp="1"/>
          </p:cNvSpPr>
          <p:nvPr>
            <p:ph sz="quarter" idx="13"/>
          </p:nvPr>
        </p:nvSpPr>
        <p:spPr>
          <a:xfrm>
            <a:off x="187184" y="505500"/>
            <a:ext cx="11817632" cy="6161113"/>
          </a:xfrm>
        </p:spPr>
        <p:txBody>
          <a:bodyPr>
            <a:noAutofit/>
          </a:bodyPr>
          <a:lstStyle/>
          <a:p>
            <a:pPr algn="just">
              <a:lnSpc>
                <a:spcPct val="100000"/>
              </a:lnSpc>
              <a:spcBef>
                <a:spcPts val="0"/>
              </a:spcBef>
            </a:pPr>
            <a:r>
              <a:rPr lang="mn-MN" altLang="en-US" sz="2200" dirty="0">
                <a:latin typeface="Times New Roman" panose="02020603050405020304" pitchFamily="18" charset="0"/>
                <a:cs typeface="Times New Roman" pitchFamily="18" charset="0"/>
              </a:rPr>
              <a:t>БҮ-ний загвар, төсөл боловсруулахад тулгардаг чухал асуудал бол стандартчилал. Стандартчилал нь бүтээгдэхүүний ү.а-нд гарах өөрчлөлтүүдийг багасгахад чиглэгддэг. Стандартчилагдсан үйлчилгээ нь хэрэглэгч яг адилхан үйлчилгээ авахыг хэлнэ.   </a:t>
            </a:r>
          </a:p>
          <a:p>
            <a:pPr algn="just">
              <a:lnSpc>
                <a:spcPct val="100000"/>
              </a:lnSpc>
              <a:spcBef>
                <a:spcPts val="0"/>
              </a:spcBef>
            </a:pPr>
            <a:r>
              <a:rPr lang="mn-MN" altLang="en-US" sz="2200" dirty="0">
                <a:latin typeface="Times New Roman" panose="02020603050405020304" pitchFamily="18" charset="0"/>
                <a:cs typeface="Times New Roman" pitchFamily="18" charset="0"/>
              </a:rPr>
              <a:t>Стандарчилал нь өөрийн давуу болон султай. Үйлдвэрлэхэд,   эд ангийг харилцах солилцох, засварлахад, үйлдвэрлэх хугацааг багасгахад, бүтээмж, чанарыг сайжруулахад, зардал хэмнэхэд тустай. Мөн боловсон хүчнийг сургах хугацаа, зардлыг хэмнэнэ. Үйлдвэрлэлийн график зохиох, нөөцийг удирдах, худалдан авалт, бүртгэлийг нэг загвараар явагдах боломж бүрдэнэ. </a:t>
            </a:r>
          </a:p>
          <a:p>
            <a:pPr algn="just">
              <a:lnSpc>
                <a:spcPct val="100000"/>
              </a:lnSpc>
              <a:spcBef>
                <a:spcPts val="0"/>
              </a:spcBef>
            </a:pPr>
            <a:r>
              <a:rPr lang="mn-MN" altLang="en-US" sz="2200" dirty="0">
                <a:latin typeface="Times New Roman" panose="02020603050405020304" pitchFamily="18" charset="0"/>
                <a:cs typeface="Times New Roman" pitchFamily="18" charset="0"/>
              </a:rPr>
              <a:t>Стандартчилалын сул тал:</a:t>
            </a:r>
          </a:p>
          <a:p>
            <a:pPr marL="914400" lvl="1" indent="-457200" algn="just">
              <a:lnSpc>
                <a:spcPct val="100000"/>
              </a:lnSpc>
              <a:spcBef>
                <a:spcPts val="0"/>
              </a:spcBef>
              <a:buFont typeface="+mj-lt"/>
              <a:buAutoNum type="arabicPeriod"/>
            </a:pPr>
            <a:r>
              <a:rPr lang="mn-MN" altLang="en-US" sz="2200" dirty="0">
                <a:latin typeface="Times New Roman" panose="02020603050405020304" pitchFamily="18" charset="0"/>
                <a:cs typeface="Times New Roman" pitchFamily="18" charset="0"/>
              </a:rPr>
              <a:t>Бүтээгдэхүүний нэр төрлийг олшруулж, сонголт хийхэд муугаар нөлөөлдөг. Хэрэглэгчийн тоо цөөрөхөд хүргэнэ.</a:t>
            </a:r>
          </a:p>
          <a:p>
            <a:pPr marL="914400" lvl="1" indent="-457200" algn="just">
              <a:lnSpc>
                <a:spcPct val="100000"/>
              </a:lnSpc>
              <a:spcBef>
                <a:spcPts val="0"/>
              </a:spcBef>
              <a:buFont typeface="+mj-lt"/>
              <a:buAutoNum type="arabicPeriod"/>
            </a:pPr>
            <a:r>
              <a:rPr lang="mn-MN" altLang="en-US" sz="2200" dirty="0">
                <a:latin typeface="Times New Roman" panose="02020603050405020304" pitchFamily="18" charset="0"/>
                <a:cs typeface="Times New Roman" pitchFamily="18" charset="0"/>
              </a:rPr>
              <a:t>Бүтээгдэхүүнийг шинэчилж, сайжруулахад саад учруулдаг.</a:t>
            </a:r>
          </a:p>
        </p:txBody>
      </p:sp>
    </p:spTree>
    <p:extLst>
      <p:ext uri="{BB962C8B-B14F-4D97-AF65-F5344CB8AC3E}">
        <p14:creationId xmlns:p14="http://schemas.microsoft.com/office/powerpoint/2010/main" val="2817296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0"/>
            <a:ext cx="11700016" cy="374469"/>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2.3. Бүтээгдэхүүний амьдралын мөчлөг БАМ</a:t>
            </a:r>
            <a:r>
              <a:rPr lang="en-US" altLang="en-US" sz="2400" b="1" dirty="0">
                <a:solidFill>
                  <a:srgbClr val="00B0F0"/>
                </a:solidFill>
                <a:latin typeface="Times New Roman" panose="02020603050405020304" pitchFamily="18" charset="0"/>
                <a:cs typeface="Times New Roman" panose="02020603050405020304" pitchFamily="18" charset="0"/>
              </a:rPr>
              <a:t>(1)</a:t>
            </a:r>
            <a:endParaRPr lang="en-US" sz="2400" b="1" dirty="0">
              <a:solidFill>
                <a:srgbClr val="00B0F0"/>
              </a:solidFill>
            </a:endParaRPr>
          </a:p>
        </p:txBody>
      </p:sp>
      <p:sp>
        <p:nvSpPr>
          <p:cNvPr id="3" name="Content Placeholder 2"/>
          <p:cNvSpPr>
            <a:spLocks noGrp="1"/>
          </p:cNvSpPr>
          <p:nvPr>
            <p:ph sz="quarter" idx="13"/>
          </p:nvPr>
        </p:nvSpPr>
        <p:spPr>
          <a:xfrm>
            <a:off x="128376" y="230777"/>
            <a:ext cx="11817632" cy="6161113"/>
          </a:xfrm>
        </p:spPr>
        <p:txBody>
          <a:bodyPr>
            <a:noAutofit/>
          </a:bodyPr>
          <a:lstStyle/>
          <a:p>
            <a:pPr algn="just">
              <a:lnSpc>
                <a:spcPct val="100000"/>
              </a:lnSpc>
              <a:spcBef>
                <a:spcPts val="0"/>
              </a:spcBef>
            </a:pPr>
            <a:r>
              <a:rPr lang="mn-MN" altLang="en-US" sz="2100" dirty="0">
                <a:latin typeface="Times New Roman" panose="02020603050405020304" pitchFamily="18" charset="0"/>
                <a:cs typeface="Times New Roman" pitchFamily="18" charset="0"/>
              </a:rPr>
              <a:t>Бүтээгдэхүүн анх зах зээлд гарахад хэрэглэгчдийн сонирхолыг ихээхэн татах боловч эрэлт бага байдаг </a:t>
            </a:r>
            <a:r>
              <a:rPr lang="en-US" altLang="en-US" sz="2100" dirty="0">
                <a:latin typeface="Times New Roman" panose="02020603050405020304" pitchFamily="18" charset="0"/>
                <a:cs typeface="Times New Roman" pitchFamily="18" charset="0"/>
              </a:rPr>
              <a:t>(</a:t>
            </a:r>
            <a:r>
              <a:rPr lang="mn-MN" altLang="en-US" sz="2100" dirty="0">
                <a:latin typeface="Times New Roman" panose="02020603050405020304" pitchFamily="18" charset="0"/>
                <a:cs typeface="Times New Roman" pitchFamily="18" charset="0"/>
              </a:rPr>
              <a:t>хэрэглэгчид бүтээгдэхүүнд согог байж болзошгүй, үнэ нь хямдарч магадгүй г.м шалтгаанаар өмнөх бүтээгдэхүүнээ авдаг</a:t>
            </a:r>
            <a:r>
              <a:rPr lang="en-US" altLang="en-US" sz="2100" dirty="0">
                <a:latin typeface="Times New Roman" panose="02020603050405020304" pitchFamily="18" charset="0"/>
                <a:cs typeface="Times New Roman" pitchFamily="18" charset="0"/>
              </a:rPr>
              <a:t>)</a:t>
            </a:r>
            <a:r>
              <a:rPr lang="mn-MN" altLang="en-US" sz="2100" dirty="0">
                <a:latin typeface="Times New Roman" panose="02020603050405020304" pitchFamily="18" charset="0"/>
                <a:cs typeface="Times New Roman" pitchFamily="18" charset="0"/>
              </a:rPr>
              <a:t>. Цаг хугацаа өнгөрч, загвар сайжирч, үйлдвэрлэлийн ү.а стандарчлагдах тусам бүтээгдэхүүний найдвартай байдал нэмэгдэж, эрэлт өсдөг. </a:t>
            </a:r>
          </a:p>
          <a:p>
            <a:pPr algn="just">
              <a:lnSpc>
                <a:spcPct val="100000"/>
              </a:lnSpc>
              <a:spcBef>
                <a:spcPts val="0"/>
              </a:spcBef>
            </a:pPr>
            <a:r>
              <a:rPr lang="mn-MN" altLang="en-US" sz="2100" dirty="0">
                <a:latin typeface="Times New Roman" panose="02020603050405020304" pitchFamily="18" charset="0"/>
                <a:cs typeface="Times New Roman" pitchFamily="18" charset="0"/>
              </a:rPr>
              <a:t>Эрэлт тогтворжиж, загварт ч их өөрчлөлт гарахгүй. Зах зээл бүрэн хангагдаад ирэхээр эрэлт буурах хандлагатай болно. Үйлдвэрүүд хамгаалалтын шинжтэй судалгаа, бүтээгдэхүний найдварыг сайжруулах, зардлыг хямдруулах, загвар, сав баглааг сайжруулахад анхаарч, эрэл хайгуул хийж БАМ-г уртасгадаг. Зарим бүтээгдэхүүн мөчлөггүй - модон харандаа, цаасны хавчаар, хадаас, хутга, халбага, сэрээ, аяга г.м. Зарим нь мөчлөг маш бага – хүүхдийн тоглоом, содон загвартай бүтээгдэхүүн. Зарим нь мөчлөг урт  – хатаагч, угаалгын машин г.м ашигтай бүтээгдэхүүн тенологийн өөрчлөлт гарах хүртэл хэрэглэгддэг.</a:t>
            </a:r>
          </a:p>
          <a:p>
            <a:pPr algn="just">
              <a:lnSpc>
                <a:spcPct val="100000"/>
              </a:lnSpc>
              <a:spcBef>
                <a:spcPts val="0"/>
              </a:spcBef>
            </a:pPr>
            <a:r>
              <a:rPr lang="mn-MN" altLang="en-US" sz="2100" dirty="0">
                <a:latin typeface="Times New Roman" panose="02020603050405020304" pitchFamily="18" charset="0"/>
                <a:cs typeface="Times New Roman" pitchFamily="18" charset="0"/>
              </a:rPr>
              <a:t>Зарим бүтээгдэхүүний зориулалт маш цөөхөн, зарим нь маш өргөн хүрээнд ашиглагдана. Тухайлбал, гоёлын хувцас, өдөр тутмын хувцас, ажлын хувцас. Үүнээс санаа авсан загварыг үндэслэгчийн нэг Японы инженер Джениши Тагуши: Бүтээгдэхүүний хийц загварыг хүрээ байгаа орчны нөлөөнд мэдрэмжтэй байхаар байхаар боловсруулдаг. Америкийн олон компани хамгийн түрүүн энэ үндэсийг нэг гол шалгуур болгон хэрэглэж ирсэн. Загвар боловсруулах уламжлалт туршилтын аргыг өөрчилж Д.Тагуши: ямар хүчин зүйлийг хянаж болох ба боломжгүйг байгааг тогтоон, хянаж болох зүйлүүдийн оновчтой түвшинг тодорхойлохыг шаарддаг. Энэ аргын давуу тал нь харьцангуй цөөхөн туршилт хийж, бүтээгдхүүний загвар, үйлдвэрлэлийн төсөл боловсруулах боломж олгодог байна.   </a:t>
            </a:r>
          </a:p>
          <a:p>
            <a:pPr algn="just">
              <a:lnSpc>
                <a:spcPct val="100000"/>
              </a:lnSpc>
              <a:spcBef>
                <a:spcPts val="0"/>
              </a:spcBef>
            </a:pPr>
            <a:endParaRPr lang="mn-MN" altLang="en-US" sz="21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108925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12357"/>
            <a:ext cx="11700016" cy="374469"/>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2.3. Бүтээгдэхүүний амьдралын мөчлөг БАМ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2</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p:sp>
        <p:nvSpPr>
          <p:cNvPr id="3" name="Content Placeholder 2"/>
          <p:cNvSpPr>
            <a:spLocks noGrp="1"/>
          </p:cNvSpPr>
          <p:nvPr>
            <p:ph sz="quarter" idx="13"/>
          </p:nvPr>
        </p:nvSpPr>
        <p:spPr>
          <a:xfrm>
            <a:off x="69568" y="374469"/>
            <a:ext cx="11817632" cy="6161113"/>
          </a:xfrm>
        </p:spPr>
        <p:txBody>
          <a:bodyPr>
            <a:noAutofit/>
          </a:bodyPr>
          <a:lstStyle/>
          <a:p>
            <a:pPr algn="just">
              <a:lnSpc>
                <a:spcPct val="100000"/>
              </a:lnSpc>
              <a:spcBef>
                <a:spcPts val="0"/>
              </a:spcBef>
            </a:pPr>
            <a:r>
              <a:rPr lang="mn-MN" altLang="en-US" sz="2400" dirty="0">
                <a:latin typeface="Times New Roman" panose="02020603050405020304" pitchFamily="18" charset="0"/>
                <a:cs typeface="Times New Roman" pitchFamily="18" charset="0"/>
              </a:rPr>
              <a:t>Боловсруулсан загварыг үйлдвэрлэлд шилжүүлэх хугацааг богинсгохын тулд зохиогчдийг үйлдвэрийн инженерын албатай хамтруулж, дуусангуут үйлдвэрлэлд шилжүүлдэг. Үүнийг үр дүнтэй болгохын тулд үйлдвэрийн газрын үйлдвэрлэлийн, мөн маркетингийн, борлуулалтын албыг, мөн хэрэглэгчид, түүхий эд нийлүүлэгчидийг загвар зохиоход оролцуулдаг. Энэ нь давуу талуудтай:  </a:t>
            </a:r>
          </a:p>
          <a:p>
            <a:pPr marL="461963" indent="-227013" algn="just">
              <a:lnSpc>
                <a:spcPct val="100000"/>
              </a:lnSpc>
              <a:spcBef>
                <a:spcPts val="0"/>
              </a:spcBef>
              <a:buFont typeface="+mj-lt"/>
              <a:buAutoNum type="arabicPeriod"/>
            </a:pPr>
            <a:r>
              <a:rPr lang="mn-MN" altLang="en-US" sz="2400" dirty="0">
                <a:latin typeface="Times New Roman" panose="02020603050405020304" pitchFamily="18" charset="0"/>
                <a:cs typeface="Times New Roman" pitchFamily="18" charset="0"/>
              </a:rPr>
              <a:t> Үйлдвэрийн хүчин чадал, түүхий эд, ажилбарыг зөв сонгох боломжийг олгоно. Үйлдвэрлэх үед үүсэх зөрчлүүд багасна </a:t>
            </a:r>
            <a:r>
              <a:rPr lang="en-US" altLang="en-US" sz="2400" dirty="0">
                <a:latin typeface="Times New Roman" panose="02020603050405020304" pitchFamily="18" charset="0"/>
                <a:cs typeface="Times New Roman" pitchFamily="18" charset="0"/>
              </a:rPr>
              <a:t>(</a:t>
            </a:r>
            <a:r>
              <a:rPr lang="mn-MN" altLang="en-US" sz="2400" dirty="0">
                <a:latin typeface="Times New Roman" panose="02020603050405020304" pitchFamily="18" charset="0"/>
                <a:cs typeface="Times New Roman" pitchFamily="18" charset="0"/>
              </a:rPr>
              <a:t>загвар, чанар, зардал</a:t>
            </a:r>
            <a:r>
              <a:rPr lang="en-US" altLang="en-US" sz="2400" dirty="0">
                <a:latin typeface="Times New Roman" panose="02020603050405020304" pitchFamily="18" charset="0"/>
                <a:cs typeface="Times New Roman" pitchFamily="18" charset="0"/>
              </a:rPr>
              <a:t>)</a:t>
            </a:r>
            <a:r>
              <a:rPr lang="mn-MN" altLang="en-US" sz="2400" dirty="0">
                <a:latin typeface="Times New Roman" panose="02020603050405020304" pitchFamily="18" charset="0"/>
                <a:cs typeface="Times New Roman" pitchFamily="18" charset="0"/>
              </a:rPr>
              <a:t>.</a:t>
            </a:r>
          </a:p>
          <a:p>
            <a:pPr marL="461963" indent="-227013" algn="just">
              <a:lnSpc>
                <a:spcPct val="100000"/>
              </a:lnSpc>
              <a:spcBef>
                <a:spcPts val="0"/>
              </a:spcBef>
              <a:buFont typeface="+mj-lt"/>
              <a:buAutoNum type="arabicPeriod"/>
            </a:pPr>
            <a:r>
              <a:rPr lang="mn-MN" altLang="en-US" sz="2400" dirty="0">
                <a:latin typeface="Times New Roman" panose="02020603050405020304" pitchFamily="18" charset="0"/>
                <a:cs typeface="Times New Roman" pitchFamily="18" charset="0"/>
              </a:rPr>
              <a:t> Үйлдвэрлэх төхөөрөмж хэрэгсэлийг бэлтгэж, эхлэхэд зарцуулах хугацааг богиносно.</a:t>
            </a:r>
          </a:p>
          <a:p>
            <a:pPr marL="461963" indent="-227013" algn="just">
              <a:lnSpc>
                <a:spcPct val="100000"/>
              </a:lnSpc>
              <a:spcBef>
                <a:spcPts val="0"/>
              </a:spcBef>
              <a:buFont typeface="+mj-lt"/>
              <a:buAutoNum type="arabicPeriod"/>
            </a:pPr>
            <a:r>
              <a:rPr lang="mn-MN" altLang="en-US" sz="2400" dirty="0">
                <a:latin typeface="Times New Roman" panose="02020603050405020304" pitchFamily="18" charset="0"/>
                <a:cs typeface="Times New Roman" pitchFamily="18" charset="0"/>
              </a:rPr>
              <a:t> Нөөцийг үр ашигтайгаар байршуулах.</a:t>
            </a:r>
          </a:p>
          <a:p>
            <a:pPr marL="461963" indent="-227013" algn="just">
              <a:lnSpc>
                <a:spcPct val="100000"/>
              </a:lnSpc>
              <a:spcBef>
                <a:spcPts val="0"/>
              </a:spcBef>
              <a:buFont typeface="+mj-lt"/>
              <a:buAutoNum type="arabicPeriod"/>
            </a:pPr>
            <a:r>
              <a:rPr lang="mn-MN" altLang="en-US" sz="2400" dirty="0">
                <a:latin typeface="Times New Roman" panose="02020603050405020304" pitchFamily="18" charset="0"/>
                <a:cs typeface="Times New Roman" pitchFamily="18" charset="0"/>
              </a:rPr>
              <a:t> Асуудлыг зөвшилцөх замаар шийдвэрлэх боломж олгоно.</a:t>
            </a:r>
          </a:p>
          <a:p>
            <a:pPr algn="just">
              <a:lnSpc>
                <a:spcPct val="100000"/>
              </a:lnSpc>
              <a:spcBef>
                <a:spcPts val="0"/>
              </a:spcBef>
            </a:pPr>
            <a:r>
              <a:rPr lang="mn-MN" altLang="en-US" sz="2400" dirty="0">
                <a:latin typeface="Times New Roman" panose="02020603050405020304" pitchFamily="18" charset="0"/>
                <a:cs typeface="Times New Roman" pitchFamily="18" charset="0"/>
              </a:rPr>
              <a:t>Загвар боловсруулалтанд компьютерийн ашиглаж, өөрчлөлт хийх, хэсэгчлэн шалгах зэргээр боловсруултанд зарцуулах цагийг хэмнэж байна. </a:t>
            </a:r>
          </a:p>
          <a:p>
            <a:pPr algn="just">
              <a:lnSpc>
                <a:spcPct val="100000"/>
              </a:lnSpc>
              <a:spcBef>
                <a:spcPts val="0"/>
              </a:spcBef>
            </a:pPr>
            <a:endParaRPr lang="mn-MN" altLang="en-US" sz="24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793348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12357"/>
            <a:ext cx="11700016" cy="374469"/>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2.4. Үйл ажиллагааны </a:t>
            </a:r>
            <a:r>
              <a:rPr lang="en-US" sz="2400" b="1" dirty="0">
                <a:solidFill>
                  <a:srgbClr val="00B0F0"/>
                </a:solidFill>
                <a:latin typeface="Times New Roman" panose="02020603050405020304" pitchFamily="18" charset="0"/>
                <a:cs typeface="Times New Roman" panose="02020603050405020304" pitchFamily="18" charset="0"/>
              </a:rPr>
              <a:t>(</a:t>
            </a:r>
            <a:r>
              <a:rPr lang="mn-MN" sz="2400" b="1" dirty="0">
                <a:solidFill>
                  <a:srgbClr val="00B0F0"/>
                </a:solidFill>
                <a:latin typeface="Times New Roman" panose="02020603050405020304" pitchFamily="18" charset="0"/>
                <a:cs typeface="Times New Roman" panose="02020603050405020304" pitchFamily="18" charset="0"/>
              </a:rPr>
              <a:t>ҮА</a:t>
            </a:r>
            <a:r>
              <a:rPr lang="en-US" sz="2400" b="1" dirty="0">
                <a:solidFill>
                  <a:srgbClr val="00B0F0"/>
                </a:solidFill>
                <a:latin typeface="Times New Roman" panose="02020603050405020304" pitchFamily="18" charset="0"/>
                <a:cs typeface="Times New Roman" panose="02020603050405020304" pitchFamily="18" charset="0"/>
              </a:rPr>
              <a:t>) </a:t>
            </a:r>
            <a:r>
              <a:rPr lang="mn-MN" sz="2400" b="1" dirty="0">
                <a:solidFill>
                  <a:srgbClr val="00B0F0"/>
                </a:solidFill>
                <a:latin typeface="Times New Roman" panose="02020603050405020304" pitchFamily="18" charset="0"/>
                <a:cs typeface="Times New Roman" panose="02020603050405020304" pitchFamily="18" charset="0"/>
              </a:rPr>
              <a:t>ба тоног төхөөрөмжийн сонголт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1</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p:sp>
        <p:nvSpPr>
          <p:cNvPr id="3" name="Content Placeholder 2"/>
          <p:cNvSpPr>
            <a:spLocks noGrp="1"/>
          </p:cNvSpPr>
          <p:nvPr>
            <p:ph sz="quarter" idx="13"/>
          </p:nvPr>
        </p:nvSpPr>
        <p:spPr>
          <a:xfrm>
            <a:off x="69568" y="374469"/>
            <a:ext cx="11817632" cy="1973315"/>
          </a:xfrm>
        </p:spPr>
        <p:txBody>
          <a:bodyPr>
            <a:noAutofit/>
          </a:bodyPr>
          <a:lstStyle/>
          <a:p>
            <a:pPr algn="just">
              <a:lnSpc>
                <a:spcPct val="100000"/>
              </a:lnSpc>
              <a:spcBef>
                <a:spcPts val="0"/>
              </a:spcBef>
            </a:pPr>
            <a:r>
              <a:rPr lang="mn-MN" altLang="en-US" sz="2400" dirty="0">
                <a:latin typeface="Times New Roman" panose="02020603050405020304" pitchFamily="18" charset="0"/>
                <a:cs typeface="Times New Roman" pitchFamily="18" charset="0"/>
              </a:rPr>
              <a:t>ҮА-г сонгох асуудлын хамгийн гол зүйл нь бүтээгдэхүүн үйлдвэрлэх технологийг сонгож, хүчин зүйлсийг тодорхойлох асуудал юм. </a:t>
            </a:r>
          </a:p>
          <a:p>
            <a:pPr algn="just">
              <a:lnSpc>
                <a:spcPct val="100000"/>
              </a:lnSpc>
              <a:spcBef>
                <a:spcPts val="0"/>
              </a:spcBef>
            </a:pPr>
            <a:r>
              <a:rPr lang="mn-MN" altLang="en-US" sz="2400" dirty="0">
                <a:latin typeface="Times New Roman" panose="02020603050405020304" pitchFamily="18" charset="0"/>
                <a:cs typeface="Times New Roman" pitchFamily="18" charset="0"/>
              </a:rPr>
              <a:t>ҮА-ны сонголт нь хүчин чадлыг төлөвлөх, төхөөрөмжийг сонгох, байршуулах, ажлын системийн төлөвлөх асуудлуудад нөлөөлнө. Дараах зурагт үйлдвэрлэлийн төлөвлөлтөнд ү.а-ны сонголтын гүйцэтгэх үүргийг харуулав. </a:t>
            </a:r>
          </a:p>
        </p:txBody>
      </p:sp>
      <p:sp>
        <p:nvSpPr>
          <p:cNvPr id="4" name="Content Placeholder 2">
            <a:extLst>
              <a:ext uri="{FF2B5EF4-FFF2-40B4-BE49-F238E27FC236}">
                <a16:creationId xmlns:a16="http://schemas.microsoft.com/office/drawing/2014/main" id="{5E1874AF-5033-45EE-8C6B-0C512AD4341F}"/>
              </a:ext>
            </a:extLst>
          </p:cNvPr>
          <p:cNvSpPr txBox="1">
            <a:spLocks/>
          </p:cNvSpPr>
          <p:nvPr/>
        </p:nvSpPr>
        <p:spPr>
          <a:xfrm>
            <a:off x="631170" y="2924566"/>
            <a:ext cx="3657600" cy="640751"/>
          </a:xfrm>
          <a:prstGeom prst="rect">
            <a:avLst/>
          </a:prstGeom>
          <a:ln>
            <a:solidFill>
              <a:schemeClr val="tx1"/>
            </a:solidFill>
          </a:ln>
        </p:spPr>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Бүтээгдэхүүн үйлчилгээний загвар боловсруулах</a:t>
            </a:r>
            <a:endParaRPr lang="mn-MN" sz="1900" dirty="0">
              <a:latin typeface="Times New Roman" panose="02020603050405020304" pitchFamily="18" charset="0"/>
              <a:cs typeface="Times New Roman" pitchFamily="18" charset="0"/>
            </a:endParaRPr>
          </a:p>
        </p:txBody>
      </p:sp>
      <p:sp>
        <p:nvSpPr>
          <p:cNvPr id="5" name="Content Placeholder 2">
            <a:extLst>
              <a:ext uri="{FF2B5EF4-FFF2-40B4-BE49-F238E27FC236}">
                <a16:creationId xmlns:a16="http://schemas.microsoft.com/office/drawing/2014/main" id="{7FE38B0D-15F3-4409-83C7-D4F1EE440556}"/>
              </a:ext>
            </a:extLst>
          </p:cNvPr>
          <p:cNvSpPr txBox="1">
            <a:spLocks/>
          </p:cNvSpPr>
          <p:nvPr/>
        </p:nvSpPr>
        <p:spPr>
          <a:xfrm>
            <a:off x="4205114" y="5515712"/>
            <a:ext cx="3664156" cy="71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800" b="1" dirty="0">
                <a:solidFill>
                  <a:srgbClr val="0000FF"/>
                </a:solidFill>
                <a:latin typeface="Times New Roman" pitchFamily="18" charset="0"/>
                <a:cs typeface="Times New Roman" pitchFamily="18" charset="0"/>
              </a:rPr>
              <a:t>Зураг. </a:t>
            </a:r>
            <a:r>
              <a:rPr lang="mn-MN" sz="1800" i="1" dirty="0">
                <a:latin typeface="Times New Roman" panose="02020603050405020304" pitchFamily="18" charset="0"/>
                <a:cs typeface="Times New Roman" panose="02020603050405020304" pitchFamily="18" charset="0"/>
              </a:rPr>
              <a:t>Үйл ажиллагааны ба тоног төхөөрөмжийн сонголт</a:t>
            </a:r>
          </a:p>
        </p:txBody>
      </p:sp>
      <p:sp>
        <p:nvSpPr>
          <p:cNvPr id="6" name="Content Placeholder 2">
            <a:extLst>
              <a:ext uri="{FF2B5EF4-FFF2-40B4-BE49-F238E27FC236}">
                <a16:creationId xmlns:a16="http://schemas.microsoft.com/office/drawing/2014/main" id="{D3A180F7-1EFD-4370-9B50-AEEFA4B70CBC}"/>
              </a:ext>
            </a:extLst>
          </p:cNvPr>
          <p:cNvSpPr txBox="1">
            <a:spLocks/>
          </p:cNvSpPr>
          <p:nvPr/>
        </p:nvSpPr>
        <p:spPr>
          <a:xfrm>
            <a:off x="7545253" y="2549708"/>
            <a:ext cx="3657600" cy="365760"/>
          </a:xfrm>
          <a:prstGeom prst="rect">
            <a:avLst/>
          </a:prstGeom>
          <a:ln>
            <a:solidFill>
              <a:schemeClr val="tx1"/>
            </a:solidFill>
          </a:ln>
        </p:spPr>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Хүчин чадлын төлөвлөлт</a:t>
            </a:r>
            <a:endParaRPr lang="mn-MN" sz="1900" dirty="0">
              <a:latin typeface="Times New Roman" panose="02020603050405020304" pitchFamily="18" charset="0"/>
              <a:cs typeface="Times New Roman" pitchFamily="18" charset="0"/>
            </a:endParaRPr>
          </a:p>
        </p:txBody>
      </p:sp>
      <p:sp>
        <p:nvSpPr>
          <p:cNvPr id="7" name="Content Placeholder 2">
            <a:extLst>
              <a:ext uri="{FF2B5EF4-FFF2-40B4-BE49-F238E27FC236}">
                <a16:creationId xmlns:a16="http://schemas.microsoft.com/office/drawing/2014/main" id="{659E5EC8-60A9-40B8-A4FE-7C78648D4A26}"/>
              </a:ext>
            </a:extLst>
          </p:cNvPr>
          <p:cNvSpPr txBox="1">
            <a:spLocks/>
          </p:cNvSpPr>
          <p:nvPr/>
        </p:nvSpPr>
        <p:spPr>
          <a:xfrm>
            <a:off x="7545253" y="3052073"/>
            <a:ext cx="3657600" cy="594360"/>
          </a:xfrm>
          <a:prstGeom prst="rect">
            <a:avLst/>
          </a:prstGeom>
          <a:ln>
            <a:solidFill>
              <a:schemeClr val="tx1"/>
            </a:solidFill>
          </a:ln>
        </p:spPr>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Машин, тоног төхөөрөмжийн сонголт</a:t>
            </a:r>
            <a:endParaRPr lang="mn-MN" sz="1900" dirty="0">
              <a:latin typeface="Times New Roman" panose="02020603050405020304" pitchFamily="18" charset="0"/>
              <a:cs typeface="Times New Roman" pitchFamily="18" charset="0"/>
            </a:endParaRPr>
          </a:p>
        </p:txBody>
      </p:sp>
      <p:sp>
        <p:nvSpPr>
          <p:cNvPr id="8" name="Content Placeholder 2">
            <a:extLst>
              <a:ext uri="{FF2B5EF4-FFF2-40B4-BE49-F238E27FC236}">
                <a16:creationId xmlns:a16="http://schemas.microsoft.com/office/drawing/2014/main" id="{6CD25ED6-89C0-462F-8A10-BDFB1F0A7359}"/>
              </a:ext>
            </a:extLst>
          </p:cNvPr>
          <p:cNvSpPr txBox="1">
            <a:spLocks/>
          </p:cNvSpPr>
          <p:nvPr/>
        </p:nvSpPr>
        <p:spPr>
          <a:xfrm>
            <a:off x="7545253" y="3839645"/>
            <a:ext cx="3657600" cy="594360"/>
          </a:xfrm>
          <a:prstGeom prst="rect">
            <a:avLst/>
          </a:prstGeom>
          <a:ln>
            <a:solidFill>
              <a:schemeClr val="tx1"/>
            </a:solidFill>
          </a:ln>
        </p:spPr>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Үйлдвэрлэл ба тоног төхөөрөмжийн сонголт</a:t>
            </a:r>
            <a:endParaRPr lang="mn-MN" sz="1900" dirty="0">
              <a:latin typeface="Times New Roman" panose="02020603050405020304" pitchFamily="18" charset="0"/>
              <a:cs typeface="Times New Roman" pitchFamily="18" charset="0"/>
            </a:endParaRPr>
          </a:p>
        </p:txBody>
      </p:sp>
      <p:sp>
        <p:nvSpPr>
          <p:cNvPr id="10" name="Content Placeholder 2">
            <a:extLst>
              <a:ext uri="{FF2B5EF4-FFF2-40B4-BE49-F238E27FC236}">
                <a16:creationId xmlns:a16="http://schemas.microsoft.com/office/drawing/2014/main" id="{BE9FBFBB-626F-43F7-8F6E-6C38A77F3BA5}"/>
              </a:ext>
            </a:extLst>
          </p:cNvPr>
          <p:cNvSpPr txBox="1">
            <a:spLocks/>
          </p:cNvSpPr>
          <p:nvPr/>
        </p:nvSpPr>
        <p:spPr>
          <a:xfrm>
            <a:off x="7541730" y="4609139"/>
            <a:ext cx="3657600" cy="594360"/>
          </a:xfrm>
          <a:prstGeom prst="rect">
            <a:avLst/>
          </a:prstGeom>
          <a:ln>
            <a:solidFill>
              <a:schemeClr val="tx1"/>
            </a:solidFill>
          </a:ln>
        </p:spPr>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Үйл ажиллагааг гүйцэтгэх төсөл боловсруулах</a:t>
            </a:r>
            <a:endParaRPr lang="mn-MN" sz="1900" dirty="0">
              <a:latin typeface="Times New Roman" panose="02020603050405020304" pitchFamily="18" charset="0"/>
              <a:cs typeface="Times New Roman" pitchFamily="18" charset="0"/>
            </a:endParaRPr>
          </a:p>
        </p:txBody>
      </p:sp>
      <p:cxnSp>
        <p:nvCxnSpPr>
          <p:cNvPr id="12" name="Straight Arrow Connector 11">
            <a:extLst>
              <a:ext uri="{FF2B5EF4-FFF2-40B4-BE49-F238E27FC236}">
                <a16:creationId xmlns:a16="http://schemas.microsoft.com/office/drawing/2014/main" id="{646FFA1A-99D2-4ACA-88D2-13CD2E63B041}"/>
              </a:ext>
            </a:extLst>
          </p:cNvPr>
          <p:cNvCxnSpPr>
            <a:cxnSpLocks/>
          </p:cNvCxnSpPr>
          <p:nvPr/>
        </p:nvCxnSpPr>
        <p:spPr>
          <a:xfrm>
            <a:off x="4301138" y="3244941"/>
            <a:ext cx="64008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33D20F3A-7725-47B5-A63B-2223ABCE936E}"/>
              </a:ext>
            </a:extLst>
          </p:cNvPr>
          <p:cNvSpPr txBox="1">
            <a:spLocks/>
          </p:cNvSpPr>
          <p:nvPr/>
        </p:nvSpPr>
        <p:spPr>
          <a:xfrm>
            <a:off x="652330" y="4142100"/>
            <a:ext cx="3657600" cy="640751"/>
          </a:xfrm>
          <a:prstGeom prst="rect">
            <a:avLst/>
          </a:prstGeom>
          <a:ln>
            <a:solidFill>
              <a:schemeClr val="tx1"/>
            </a:solidFill>
          </a:ln>
        </p:spPr>
        <p:txBody>
          <a:bodyPr vert="horz" lIns="91440" tIns="0" rIns="9144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900" dirty="0">
                <a:latin typeface="Times New Roman" pitchFamily="18" charset="0"/>
                <a:cs typeface="Times New Roman" pitchFamily="18" charset="0"/>
              </a:rPr>
              <a:t>Бүтээгдэхүүн үйлчилгээний загвар боловсруулах</a:t>
            </a:r>
            <a:endParaRPr lang="mn-MN" sz="1900" dirty="0">
              <a:latin typeface="Times New Roman" panose="02020603050405020304" pitchFamily="18" charset="0"/>
              <a:cs typeface="Times New Roman" pitchFamily="18" charset="0"/>
            </a:endParaRPr>
          </a:p>
        </p:txBody>
      </p:sp>
      <p:sp>
        <p:nvSpPr>
          <p:cNvPr id="20" name="Rectangle: Rounded Corners 19">
            <a:extLst>
              <a:ext uri="{FF2B5EF4-FFF2-40B4-BE49-F238E27FC236}">
                <a16:creationId xmlns:a16="http://schemas.microsoft.com/office/drawing/2014/main" id="{E72E34D2-BB3A-4605-BA4D-206D05572AE8}"/>
              </a:ext>
            </a:extLst>
          </p:cNvPr>
          <p:cNvSpPr/>
          <p:nvPr/>
        </p:nvSpPr>
        <p:spPr>
          <a:xfrm>
            <a:off x="4950362" y="2476913"/>
            <a:ext cx="1933299" cy="27216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altLang="en-US" sz="1800" b="1" dirty="0">
                <a:latin typeface="Times New Roman" pitchFamily="18" charset="0"/>
                <a:cs typeface="Times New Roman" pitchFamily="18" charset="0"/>
              </a:rPr>
              <a:t>Үйл ажиллагааны сонголт</a:t>
            </a:r>
            <a:endParaRPr lang="mn-MN" sz="1800" b="1" dirty="0">
              <a:latin typeface="Times New Roman" panose="02020603050405020304" pitchFamily="18" charset="0"/>
              <a:cs typeface="Times New Roman" pitchFamily="18" charset="0"/>
            </a:endParaRPr>
          </a:p>
          <a:p>
            <a:pPr algn="ctr"/>
            <a:endParaRPr lang="en-US" dirty="0"/>
          </a:p>
        </p:txBody>
      </p:sp>
      <p:cxnSp>
        <p:nvCxnSpPr>
          <p:cNvPr id="22" name="Straight Arrow Connector 21">
            <a:extLst>
              <a:ext uri="{FF2B5EF4-FFF2-40B4-BE49-F238E27FC236}">
                <a16:creationId xmlns:a16="http://schemas.microsoft.com/office/drawing/2014/main" id="{B3119549-4F67-44F2-AA70-BDFB7148052A}"/>
              </a:ext>
            </a:extLst>
          </p:cNvPr>
          <p:cNvCxnSpPr>
            <a:cxnSpLocks/>
          </p:cNvCxnSpPr>
          <p:nvPr/>
        </p:nvCxnSpPr>
        <p:spPr>
          <a:xfrm>
            <a:off x="4310282" y="4462140"/>
            <a:ext cx="64008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29BD5D4-20D7-4822-B740-6198EA4C0137}"/>
              </a:ext>
            </a:extLst>
          </p:cNvPr>
          <p:cNvCxnSpPr>
            <a:cxnSpLocks/>
          </p:cNvCxnSpPr>
          <p:nvPr/>
        </p:nvCxnSpPr>
        <p:spPr>
          <a:xfrm>
            <a:off x="6874869" y="2727480"/>
            <a:ext cx="649224"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ED10F26-6067-4875-8468-D801DE6506EC}"/>
              </a:ext>
            </a:extLst>
          </p:cNvPr>
          <p:cNvCxnSpPr>
            <a:cxnSpLocks/>
          </p:cNvCxnSpPr>
          <p:nvPr/>
        </p:nvCxnSpPr>
        <p:spPr>
          <a:xfrm>
            <a:off x="6883661" y="3346072"/>
            <a:ext cx="64008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6CAA7F2-3A09-4BB6-A313-CCB225205CE0}"/>
              </a:ext>
            </a:extLst>
          </p:cNvPr>
          <p:cNvCxnSpPr>
            <a:cxnSpLocks/>
          </p:cNvCxnSpPr>
          <p:nvPr/>
        </p:nvCxnSpPr>
        <p:spPr>
          <a:xfrm>
            <a:off x="6883661" y="4903533"/>
            <a:ext cx="64008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1DA8437-0078-45DC-9AD0-4510A2FA304F}"/>
              </a:ext>
            </a:extLst>
          </p:cNvPr>
          <p:cNvCxnSpPr>
            <a:cxnSpLocks/>
          </p:cNvCxnSpPr>
          <p:nvPr/>
        </p:nvCxnSpPr>
        <p:spPr>
          <a:xfrm>
            <a:off x="6883661" y="4142100"/>
            <a:ext cx="64008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8312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12357"/>
            <a:ext cx="11700016" cy="374469"/>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2.4. Үйл ажиллагааны </a:t>
            </a:r>
            <a:r>
              <a:rPr lang="en-US" sz="2400" b="1" dirty="0">
                <a:solidFill>
                  <a:srgbClr val="00B0F0"/>
                </a:solidFill>
                <a:latin typeface="Times New Roman" panose="02020603050405020304" pitchFamily="18" charset="0"/>
                <a:cs typeface="Times New Roman" panose="02020603050405020304" pitchFamily="18" charset="0"/>
              </a:rPr>
              <a:t>(</a:t>
            </a:r>
            <a:r>
              <a:rPr lang="mn-MN" sz="2400" b="1" dirty="0">
                <a:solidFill>
                  <a:srgbClr val="00B0F0"/>
                </a:solidFill>
                <a:latin typeface="Times New Roman" panose="02020603050405020304" pitchFamily="18" charset="0"/>
                <a:cs typeface="Times New Roman" panose="02020603050405020304" pitchFamily="18" charset="0"/>
              </a:rPr>
              <a:t>ҮА</a:t>
            </a:r>
            <a:r>
              <a:rPr lang="en-US" sz="2400" b="1" dirty="0">
                <a:solidFill>
                  <a:srgbClr val="00B0F0"/>
                </a:solidFill>
                <a:latin typeface="Times New Roman" panose="02020603050405020304" pitchFamily="18" charset="0"/>
                <a:cs typeface="Times New Roman" panose="02020603050405020304" pitchFamily="18" charset="0"/>
              </a:rPr>
              <a:t>) </a:t>
            </a:r>
            <a:r>
              <a:rPr lang="mn-MN" sz="2400" b="1" dirty="0">
                <a:solidFill>
                  <a:srgbClr val="00B0F0"/>
                </a:solidFill>
                <a:latin typeface="Times New Roman" panose="02020603050405020304" pitchFamily="18" charset="0"/>
                <a:cs typeface="Times New Roman" panose="02020603050405020304" pitchFamily="18" charset="0"/>
              </a:rPr>
              <a:t>ба тоног төхөөрөмжийн сонголт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2</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3"/>
              </p:nvPr>
            </p:nvSpPr>
            <p:spPr>
              <a:xfrm>
                <a:off x="69568" y="374469"/>
                <a:ext cx="11817632" cy="6322422"/>
              </a:xfrm>
            </p:spPr>
            <p:txBody>
              <a:bodyPr>
                <a:noAutofit/>
              </a:bodyPr>
              <a:lstStyle/>
              <a:p>
                <a:pPr algn="just">
                  <a:lnSpc>
                    <a:spcPct val="100000"/>
                  </a:lnSpc>
                  <a:spcBef>
                    <a:spcPts val="0"/>
                  </a:spcBef>
                </a:pPr>
                <a:r>
                  <a:rPr lang="mn-MN" altLang="en-US" sz="2000" dirty="0">
                    <a:latin typeface="Times New Roman" panose="02020603050405020304" pitchFamily="18" charset="0"/>
                    <a:cs typeface="Times New Roman" pitchFamily="18" charset="0"/>
                  </a:rPr>
                  <a:t>Шинэ бүтээгдэхүүн үйлдвэрлэх үед ҮА-г сонгох асуудлыг зайлшгүй шийдэх ёстой. ҮА-ны сонголт хийхийн өмнө бүтээгдэхүүнийг бүхэлд нь эсвэл тодорхой хэсгийг өөрөө үйлдвэрлэх үү, эсвэл худалдан авах эсэхийг шийднэ. Хэрэв бүрдэл хэсгүүдийг худалдан авах бол ү.а-г сонгох шаардлагагүй. </a:t>
                </a:r>
              </a:p>
              <a:p>
                <a:pPr algn="just">
                  <a:lnSpc>
                    <a:spcPct val="100000"/>
                  </a:lnSpc>
                  <a:spcBef>
                    <a:spcPts val="0"/>
                  </a:spcBef>
                </a:pPr>
                <a:r>
                  <a:rPr lang="mn-MN" altLang="en-US" sz="2000" dirty="0">
                    <a:latin typeface="Times New Roman" panose="02020603050405020304" pitchFamily="18" charset="0"/>
                    <a:cs typeface="Times New Roman" pitchFamily="18" charset="0"/>
                  </a:rPr>
                  <a:t>Худалдан авах уу, үйлдвэрлэх үү гэдгийг шийдэх үед дараах хүчин зүйлсийг харгалзана. </a:t>
                </a:r>
              </a:p>
              <a:p>
                <a:pPr marL="687388" lvl="1" indent="-342900" algn="just">
                  <a:lnSpc>
                    <a:spcPct val="100000"/>
                  </a:lnSpc>
                  <a:spcBef>
                    <a:spcPts val="0"/>
                  </a:spcBef>
                  <a:buFont typeface="+mj-lt"/>
                  <a:buAutoNum type="arabicPeriod"/>
                </a:pPr>
                <a:r>
                  <a:rPr lang="mn-MN" altLang="en-US" sz="2000" dirty="0">
                    <a:latin typeface="Times New Roman" panose="02020603050405020304" pitchFamily="18" charset="0"/>
                    <a:cs typeface="Times New Roman" pitchFamily="18" charset="0"/>
                  </a:rPr>
                  <a:t>Одоогийн үйлдвэрийн хүчин чадлыг харгалзана. Хангалттай бол худалдан авахаас зайлсхийнэ.</a:t>
                </a:r>
              </a:p>
              <a:p>
                <a:pPr marL="687388" lvl="1" indent="-342900" algn="just">
                  <a:lnSpc>
                    <a:spcPct val="100000"/>
                  </a:lnSpc>
                  <a:spcBef>
                    <a:spcPts val="0"/>
                  </a:spcBef>
                  <a:buFont typeface="+mj-lt"/>
                  <a:buAutoNum type="arabicPeriod"/>
                </a:pPr>
                <a:r>
                  <a:rPr lang="mn-MN" altLang="en-US" sz="2000" dirty="0">
                    <a:latin typeface="Times New Roman" panose="02020603050405020304" pitchFamily="18" charset="0"/>
                    <a:cs typeface="Times New Roman" pitchFamily="18" charset="0"/>
                  </a:rPr>
                  <a:t>Тусгай мэдлэг: Ажлыг чанартай хийхэд шаардагдах мэдлэг, чадвар хангалттай биш байвал худалдан авахыг зохистой гэж үзнэ.</a:t>
                </a:r>
              </a:p>
              <a:p>
                <a:pPr marL="687388" lvl="1" indent="-342900" algn="just">
                  <a:lnSpc>
                    <a:spcPct val="100000"/>
                  </a:lnSpc>
                  <a:spcBef>
                    <a:spcPts val="0"/>
                  </a:spcBef>
                  <a:buFont typeface="+mj-lt"/>
                  <a:buAutoNum type="arabicPeriod"/>
                </a:pPr>
                <a:r>
                  <a:rPr lang="mn-MN" altLang="en-US" sz="2000" dirty="0">
                    <a:latin typeface="Times New Roman" panose="02020603050405020304" pitchFamily="18" charset="0"/>
                    <a:cs typeface="Times New Roman" pitchFamily="18" charset="0"/>
                  </a:rPr>
                  <a:t>Чанарын хүчин зүйлс: Нарийн төрөлжсөн үйлдвэр илүү чанартай үйлдвэрлэнэ. Иймд тухайн үйлдвэрийн газар уг бүтээгдэхүүнийг үйлдвэрлэхээр төрөлжсөн бол худалдан авсанаас үйлдвэрлэх нь дээр байдаг.</a:t>
                </a:r>
              </a:p>
              <a:p>
                <a:pPr marL="687388" lvl="1" indent="-342900" algn="just">
                  <a:lnSpc>
                    <a:spcPct val="100000"/>
                  </a:lnSpc>
                  <a:spcBef>
                    <a:spcPts val="0"/>
                  </a:spcBef>
                  <a:buFont typeface="+mj-lt"/>
                  <a:buAutoNum type="arabicPeriod"/>
                </a:pPr>
                <a:r>
                  <a:rPr lang="mn-MN" altLang="en-US" sz="2000" dirty="0">
                    <a:latin typeface="Times New Roman" panose="02020603050405020304" pitchFamily="18" charset="0"/>
                    <a:cs typeface="Times New Roman" pitchFamily="18" charset="0"/>
                  </a:rPr>
                  <a:t>Эрэлтийн өөрчлөлтийн хандлага: Хэрэв эрэлт өндөр, тогтвортой байвал өөрөө үйлдвэрлсэн нь дээр. Эрэлт бага, хэлбэлзэлтэй бусад байгууллагаар үйлдвэрлэсэн нь дээр байж болно. </a:t>
                </a:r>
              </a:p>
              <a:p>
                <a:pPr marL="687388" lvl="1" indent="-342900" algn="just">
                  <a:lnSpc>
                    <a:spcPct val="100000"/>
                  </a:lnSpc>
                  <a:spcBef>
                    <a:spcPts val="0"/>
                  </a:spcBef>
                  <a:buFont typeface="+mj-lt"/>
                  <a:buAutoNum type="arabicPeriod"/>
                </a:pPr>
                <a:r>
                  <a:rPr lang="mn-MN" altLang="en-US" sz="2000" dirty="0">
                    <a:latin typeface="Times New Roman" panose="02020603050405020304" pitchFamily="18" charset="0"/>
                    <a:cs typeface="Times New Roman" pitchFamily="18" charset="0"/>
                  </a:rPr>
                  <a:t>Зардал: Үйлдвэрлэх үү, худалдан авах эсэхийг шийдэхийн тулд зардлыг тооцоолно. Зардлын шинжилгээ:</a:t>
                </a:r>
              </a:p>
              <a:p>
                <a:pPr marL="344488" lvl="1" indent="0" algn="just">
                  <a:lnSpc>
                    <a:spcPct val="100000"/>
                  </a:lnSpc>
                  <a:spcBef>
                    <a:spcPts val="0"/>
                  </a:spcBef>
                  <a:buNone/>
                </a:pPr>
                <a14:m>
                  <m:oMathPara xmlns:m="http://schemas.openxmlformats.org/officeDocument/2006/math">
                    <m:oMathParaPr>
                      <m:jc m:val="centerGroup"/>
                    </m:oMathParaPr>
                    <m:oMath xmlns:m="http://schemas.openxmlformats.org/officeDocument/2006/math">
                      <m:sSub>
                        <m:sSubPr>
                          <m:ctrlPr>
                            <a:rPr lang="mn-MN" altLang="en-US" sz="2000" b="0" i="1" smtClean="0">
                              <a:latin typeface="Cambria Math" panose="02040503050406030204" pitchFamily="18" charset="0"/>
                              <a:cs typeface="Times New Roman" pitchFamily="18" charset="0"/>
                            </a:rPr>
                          </m:ctrlPr>
                        </m:sSubPr>
                        <m:e>
                          <m:r>
                            <a:rPr lang="en-US" altLang="en-US" sz="2000" b="0" i="1" smtClean="0">
                              <a:latin typeface="Cambria Math" panose="02040503050406030204" pitchFamily="18" charset="0"/>
                              <a:cs typeface="Times New Roman" pitchFamily="18" charset="0"/>
                            </a:rPr>
                            <m:t>𝑄</m:t>
                          </m:r>
                        </m:e>
                        <m:sub>
                          <m:r>
                            <a:rPr lang="en-US" altLang="en-US" sz="2000" b="0" i="1" smtClean="0">
                              <a:latin typeface="Cambria Math" panose="02040503050406030204" pitchFamily="18" charset="0"/>
                              <a:cs typeface="Times New Roman" pitchFamily="18" charset="0"/>
                            </a:rPr>
                            <m:t>𝑖</m:t>
                          </m:r>
                        </m:sub>
                      </m:sSub>
                      <m:r>
                        <a:rPr lang="en-US" altLang="en-US" sz="2000" i="1" smtClean="0">
                          <a:latin typeface="Cambria Math" panose="02040503050406030204" pitchFamily="18" charset="0"/>
                          <a:cs typeface="Times New Roman" pitchFamily="18" charset="0"/>
                        </a:rPr>
                        <m:t>=</m:t>
                      </m:r>
                      <m:f>
                        <m:fPr>
                          <m:ctrlPr>
                            <a:rPr lang="en-US" altLang="en-US" sz="2000" i="1" smtClean="0">
                              <a:latin typeface="Cambria Math" panose="02040503050406030204" pitchFamily="18" charset="0"/>
                              <a:cs typeface="Times New Roman" pitchFamily="18" charset="0"/>
                            </a:rPr>
                          </m:ctrlPr>
                        </m:fPr>
                        <m:num>
                          <m:sSub>
                            <m:sSubPr>
                              <m:ctrlPr>
                                <a:rPr lang="en-US" altLang="en-US" sz="2000" i="1" smtClean="0">
                                  <a:latin typeface="Cambria Math" panose="02040503050406030204" pitchFamily="18" charset="0"/>
                                  <a:cs typeface="Times New Roman" pitchFamily="18" charset="0"/>
                                </a:rPr>
                              </m:ctrlPr>
                            </m:sSubPr>
                            <m:e>
                              <m:r>
                                <a:rPr lang="en-US" altLang="en-US" sz="2000" i="1">
                                  <a:latin typeface="Cambria Math" panose="02040503050406030204" pitchFamily="18" charset="0"/>
                                  <a:cs typeface="Times New Roman" pitchFamily="18" charset="0"/>
                                </a:rPr>
                                <m:t>𝑇𝐹𝐶</m:t>
                              </m:r>
                            </m:e>
                            <m:sub>
                              <m:r>
                                <a:rPr lang="mn-MN" altLang="en-US" sz="2000" b="0" i="1" smtClean="0">
                                  <a:latin typeface="Cambria Math" panose="02040503050406030204" pitchFamily="18" charset="0"/>
                                  <a:cs typeface="Times New Roman" pitchFamily="18" charset="0"/>
                                </a:rPr>
                                <m:t>худалдан авах</m:t>
                              </m:r>
                            </m:sub>
                          </m:sSub>
                          <m:r>
                            <a:rPr lang="en-US" altLang="en-US" sz="2000" i="1" smtClean="0">
                              <a:latin typeface="Cambria Math" panose="02040503050406030204" pitchFamily="18" charset="0"/>
                              <a:cs typeface="Times New Roman" pitchFamily="18" charset="0"/>
                            </a:rPr>
                            <m:t>−</m:t>
                          </m:r>
                          <m:sSub>
                            <m:sSubPr>
                              <m:ctrlPr>
                                <a:rPr lang="en-US" altLang="en-US" sz="2000" i="1">
                                  <a:latin typeface="Cambria Math" panose="02040503050406030204" pitchFamily="18" charset="0"/>
                                  <a:cs typeface="Times New Roman" pitchFamily="18" charset="0"/>
                                </a:rPr>
                              </m:ctrlPr>
                            </m:sSubPr>
                            <m:e>
                              <m:r>
                                <a:rPr lang="en-US" altLang="en-US" sz="2000" i="1">
                                  <a:latin typeface="Cambria Math" panose="02040503050406030204" pitchFamily="18" charset="0"/>
                                  <a:cs typeface="Times New Roman" pitchFamily="18" charset="0"/>
                                </a:rPr>
                                <m:t>𝑇𝐹𝐶</m:t>
                              </m:r>
                            </m:e>
                            <m:sub>
                              <m:r>
                                <a:rPr lang="mn-MN" altLang="en-US" sz="2000" b="0" i="1" smtClean="0">
                                  <a:latin typeface="Cambria Math" panose="02040503050406030204" pitchFamily="18" charset="0"/>
                                  <a:cs typeface="Times New Roman" pitchFamily="18" charset="0"/>
                                </a:rPr>
                                <m:t>өөрөө үйлдвэрлэх</m:t>
                              </m:r>
                            </m:sub>
                          </m:sSub>
                        </m:num>
                        <m:den>
                          <m:sSub>
                            <m:sSubPr>
                              <m:ctrlPr>
                                <a:rPr lang="en-US" altLang="en-US" sz="2000" i="1">
                                  <a:latin typeface="Cambria Math" panose="02040503050406030204" pitchFamily="18" charset="0"/>
                                  <a:cs typeface="Times New Roman" pitchFamily="18" charset="0"/>
                                </a:rPr>
                              </m:ctrlPr>
                            </m:sSubPr>
                            <m:e>
                              <m:sSub>
                                <m:sSubPr>
                                  <m:ctrlPr>
                                    <a:rPr lang="en-US" altLang="en-US" sz="2000" i="1">
                                      <a:latin typeface="Cambria Math" panose="02040503050406030204" pitchFamily="18" charset="0"/>
                                      <a:cs typeface="Times New Roman" pitchFamily="18" charset="0"/>
                                    </a:rPr>
                                  </m:ctrlPr>
                                </m:sSubPr>
                                <m:e>
                                  <m:r>
                                    <a:rPr lang="en-US" altLang="en-US" sz="2000" b="0" i="1" smtClean="0">
                                      <a:latin typeface="Cambria Math" panose="02040503050406030204" pitchFamily="18" charset="0"/>
                                      <a:cs typeface="Times New Roman" pitchFamily="18" charset="0"/>
                                    </a:rPr>
                                    <m:t>𝐴𝑉𝐶</m:t>
                                  </m:r>
                                </m:e>
                                <m:sub>
                                  <m:r>
                                    <a:rPr lang="mn-MN" altLang="en-US" sz="2000" i="1">
                                      <a:latin typeface="Cambria Math" panose="02040503050406030204" pitchFamily="18" charset="0"/>
                                      <a:cs typeface="Times New Roman" pitchFamily="18" charset="0"/>
                                    </a:rPr>
                                    <m:t>өөрөө үйлдвэрлэх</m:t>
                                  </m:r>
                                </m:sub>
                              </m:sSub>
                              <m:r>
                                <a:rPr lang="mn-MN" altLang="en-US" sz="2000" b="0" i="1" smtClean="0">
                                  <a:latin typeface="Cambria Math" panose="02040503050406030204" pitchFamily="18" charset="0"/>
                                  <a:cs typeface="Times New Roman" pitchFamily="18" charset="0"/>
                                </a:rPr>
                                <m:t>−</m:t>
                              </m:r>
                              <m:r>
                                <a:rPr lang="en-US" altLang="en-US" sz="2000" b="0" i="1" smtClean="0">
                                  <a:latin typeface="Cambria Math" panose="02040503050406030204" pitchFamily="18" charset="0"/>
                                  <a:cs typeface="Times New Roman" pitchFamily="18" charset="0"/>
                                </a:rPr>
                                <m:t>𝐴𝑉𝐶</m:t>
                              </m:r>
                            </m:e>
                            <m:sub>
                              <m:r>
                                <a:rPr lang="mn-MN" altLang="en-US" sz="2000" i="1">
                                  <a:latin typeface="Cambria Math" panose="02040503050406030204" pitchFamily="18" charset="0"/>
                                  <a:cs typeface="Times New Roman" pitchFamily="18" charset="0"/>
                                </a:rPr>
                                <m:t>худалдан авах</m:t>
                              </m:r>
                            </m:sub>
                          </m:sSub>
                        </m:den>
                      </m:f>
                    </m:oMath>
                  </m:oMathPara>
                </a14:m>
                <a:endParaRPr lang="en-US" altLang="en-US" sz="2000" dirty="0">
                  <a:latin typeface="Times New Roman" panose="02020603050405020304" pitchFamily="18" charset="0"/>
                  <a:cs typeface="Times New Roman" pitchFamily="18" charset="0"/>
                </a:endParaRPr>
              </a:p>
              <a:p>
                <a:pPr marL="344488" lvl="1" indent="0" algn="just">
                  <a:lnSpc>
                    <a:spcPct val="100000"/>
                  </a:lnSpc>
                  <a:spcBef>
                    <a:spcPts val="0"/>
                  </a:spcBef>
                  <a:buNone/>
                </a:pPr>
                <a14:m>
                  <m:oMath xmlns:m="http://schemas.openxmlformats.org/officeDocument/2006/math">
                    <m:sSub>
                      <m:sSubPr>
                        <m:ctrlPr>
                          <a:rPr lang="mn-MN" altLang="en-US" sz="2000" b="0" i="1" smtClean="0">
                            <a:latin typeface="Cambria Math" panose="02040503050406030204" pitchFamily="18" charset="0"/>
                            <a:cs typeface="Times New Roman" pitchFamily="18" charset="0"/>
                          </a:rPr>
                        </m:ctrlPr>
                      </m:sSubPr>
                      <m:e>
                        <m:r>
                          <a:rPr lang="en-US" altLang="en-US" sz="2000" b="0" i="1" smtClean="0">
                            <a:latin typeface="Cambria Math" panose="02040503050406030204" pitchFamily="18" charset="0"/>
                            <a:cs typeface="Times New Roman" pitchFamily="18" charset="0"/>
                          </a:rPr>
                          <m:t>𝑄</m:t>
                        </m:r>
                      </m:e>
                      <m:sub>
                        <m:r>
                          <a:rPr lang="en-US" altLang="en-US" sz="2000" b="0" i="1" smtClean="0">
                            <a:latin typeface="Cambria Math" panose="02040503050406030204" pitchFamily="18" charset="0"/>
                            <a:cs typeface="Times New Roman" pitchFamily="18" charset="0"/>
                          </a:rPr>
                          <m:t>𝑖</m:t>
                        </m:r>
                      </m:sub>
                    </m:sSub>
                  </m:oMath>
                </a14:m>
                <a:r>
                  <a:rPr lang="en-US" altLang="en-US" sz="2000" dirty="0">
                    <a:latin typeface="Times New Roman" panose="02020603050405020304" pitchFamily="18" charset="0"/>
                    <a:cs typeface="Times New Roman" pitchFamily="18" charset="0"/>
                  </a:rPr>
                  <a:t>-2 </a:t>
                </a:r>
                <a:r>
                  <a:rPr lang="mn-MN" altLang="en-US" sz="2000" dirty="0">
                    <a:latin typeface="Times New Roman" panose="02020603050405020304" pitchFamily="18" charset="0"/>
                    <a:cs typeface="Times New Roman" pitchFamily="18" charset="0"/>
                  </a:rPr>
                  <a:t>хувилбарын зардал тэнцүү байх бүтээгдэхүүний хэмжээ. </a:t>
                </a:r>
              </a:p>
              <a:p>
                <a:pPr marL="344488" lvl="1" indent="0" algn="just">
                  <a:lnSpc>
                    <a:spcPct val="100000"/>
                  </a:lnSpc>
                  <a:spcBef>
                    <a:spcPts val="0"/>
                  </a:spcBef>
                  <a:buNone/>
                </a:pPr>
                <a:r>
                  <a:rPr lang="mn-MN" sz="2000" dirty="0">
                    <a:solidFill>
                      <a:srgbClr val="3C4043"/>
                    </a:solidFill>
                    <a:latin typeface="Times New Roman" panose="02020603050405020304" pitchFamily="18" charset="0"/>
                    <a:cs typeface="Times New Roman" pitchFamily="18" charset="0"/>
                  </a:rPr>
                  <a:t>Энэ хэмжээнээс илүү байвал өөрөө үйлдвэрлэх нь зардал багатай, харин бага байвал гаднаас худалдан авсан нь зардал багатай байна гэсэн үг.  Дээрх тохиолдолд аль зардал багатайг нь сонгоно. </a:t>
                </a:r>
                <a:endParaRPr lang="en-US" sz="2000" b="0" i="0" dirty="0">
                  <a:solidFill>
                    <a:srgbClr val="3C4043"/>
                  </a:solidFill>
                  <a:effectLst/>
                  <a:latin typeface="Times New Roman" panose="02020603050405020304" pitchFamily="18" charset="0"/>
                  <a:cs typeface="Times New Roman" pitchFamily="18" charset="0"/>
                </a:endParaRPr>
              </a:p>
              <a:p>
                <a:pPr marL="344488" lvl="1" indent="0" algn="just">
                  <a:lnSpc>
                    <a:spcPct val="100000"/>
                  </a:lnSpc>
                  <a:spcBef>
                    <a:spcPts val="0"/>
                  </a:spcBef>
                  <a:buNone/>
                </a:pPr>
                <a:endParaRPr lang="mn-MN" altLang="en-US" sz="2000" dirty="0">
                  <a:latin typeface="Times New Roman" panose="02020603050405020304"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3"/>
              </p:nvPr>
            </p:nvSpPr>
            <p:spPr>
              <a:xfrm>
                <a:off x="69568" y="374469"/>
                <a:ext cx="11817632" cy="6322422"/>
              </a:xfrm>
              <a:blipFill>
                <a:blip r:embed="rId3"/>
                <a:stretch>
                  <a:fillRect l="-464" t="-482" r="-516"/>
                </a:stretch>
              </a:blipFill>
            </p:spPr>
            <p:txBody>
              <a:bodyPr/>
              <a:lstStyle/>
              <a:p>
                <a:r>
                  <a:rPr lang="en-US">
                    <a:noFill/>
                  </a:rPr>
                  <a:t> </a:t>
                </a:r>
              </a:p>
            </p:txBody>
          </p:sp>
        </mc:Fallback>
      </mc:AlternateContent>
    </p:spTree>
    <p:extLst>
      <p:ext uri="{BB962C8B-B14F-4D97-AF65-F5344CB8AC3E}">
        <p14:creationId xmlns:p14="http://schemas.microsoft.com/office/powerpoint/2010/main" val="1598170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92BC30-439A-439F-865B-6346A60C683B}"/>
              </a:ext>
            </a:extLst>
          </p:cNvPr>
          <p:cNvSpPr>
            <a:spLocks noGrp="1"/>
          </p:cNvSpPr>
          <p:nvPr>
            <p:ph sz="quarter" idx="13"/>
          </p:nvPr>
        </p:nvSpPr>
        <p:spPr>
          <a:xfrm>
            <a:off x="325946" y="136525"/>
            <a:ext cx="11561254" cy="6219825"/>
          </a:xfrm>
        </p:spPr>
        <p:txBody>
          <a:bodyPr>
            <a:normAutofit fontScale="85000" lnSpcReduction="20000"/>
          </a:bodyPr>
          <a:lstStyle/>
          <a:p>
            <a:pPr marL="344488" lvl="1" indent="0" algn="just">
              <a:lnSpc>
                <a:spcPct val="100000"/>
              </a:lnSpc>
              <a:spcBef>
                <a:spcPts val="0"/>
              </a:spcBef>
              <a:buNone/>
            </a:pPr>
            <a:r>
              <a:rPr lang="en-US" altLang="en-US" sz="1500" dirty="0">
                <a:latin typeface="Times New Roman" panose="02020603050405020304" pitchFamily="18" charset="0"/>
                <a:cs typeface="Times New Roman" pitchFamily="18" charset="0"/>
              </a:rPr>
              <a:t>What does AVC mean in English? additional voluntary contribution</a:t>
            </a:r>
          </a:p>
          <a:p>
            <a:pPr marL="344488" lvl="1" indent="0" algn="just">
              <a:lnSpc>
                <a:spcPct val="100000"/>
              </a:lnSpc>
              <a:spcBef>
                <a:spcPts val="0"/>
              </a:spcBef>
              <a:buNone/>
            </a:pPr>
            <a:r>
              <a:rPr lang="en-US" altLang="en-US" sz="1500" dirty="0">
                <a:latin typeface="Times New Roman" panose="02020603050405020304" pitchFamily="18" charset="0"/>
                <a:cs typeface="Times New Roman" pitchFamily="18" charset="0"/>
              </a:rPr>
              <a:t>Noun. AVC (plural AVCs) (finance) Initialism of additional voluntary contribution (to a pension).</a:t>
            </a:r>
          </a:p>
          <a:p>
            <a:pPr marL="344488" lvl="1" indent="0" algn="just">
              <a:lnSpc>
                <a:spcPct val="100000"/>
              </a:lnSpc>
              <a:spcBef>
                <a:spcPts val="0"/>
              </a:spcBef>
              <a:buNone/>
            </a:pPr>
            <a:r>
              <a:rPr lang="en-US" sz="1200" b="0" i="0" dirty="0">
                <a:effectLst/>
                <a:latin typeface="Roboto" panose="02000000000000000000" pitchFamily="2" charset="0"/>
              </a:rPr>
              <a:t>What does AVC mean in English? </a:t>
            </a:r>
            <a:r>
              <a:rPr lang="mn-MN" sz="1200" b="0" i="0" dirty="0">
                <a:effectLst/>
                <a:latin typeface="Roboto" panose="02000000000000000000" pitchFamily="2" charset="0"/>
              </a:rPr>
              <a:t>нэмэлт сайн дурын хандив Нэр үг. </a:t>
            </a:r>
            <a:r>
              <a:rPr lang="en-US" sz="1200" b="0" i="0" dirty="0">
                <a:effectLst/>
                <a:latin typeface="Roboto" panose="02000000000000000000" pitchFamily="2" charset="0"/>
              </a:rPr>
              <a:t>AVC (</a:t>
            </a:r>
            <a:r>
              <a:rPr lang="mn-MN" sz="1200" b="0" i="0" dirty="0">
                <a:effectLst/>
                <a:latin typeface="Roboto" panose="02000000000000000000" pitchFamily="2" charset="0"/>
              </a:rPr>
              <a:t>олон тооны </a:t>
            </a:r>
            <a:r>
              <a:rPr lang="en-US" sz="1200" b="0" i="0" dirty="0">
                <a:effectLst/>
                <a:latin typeface="Roboto" panose="02000000000000000000" pitchFamily="2" charset="0"/>
              </a:rPr>
              <a:t>AVCs) (</a:t>
            </a:r>
            <a:r>
              <a:rPr lang="mn-MN" sz="1200" b="0" i="0" dirty="0">
                <a:effectLst/>
                <a:latin typeface="Roboto" panose="02000000000000000000" pitchFamily="2" charset="0"/>
              </a:rPr>
              <a:t>санхүү) Нэмэлт сайн дурын шимтгэлийг (тэтгэвэрт) эхлүүлэх.</a:t>
            </a:r>
            <a:endParaRPr lang="en-US" sz="1200" b="0" i="0" dirty="0">
              <a:effectLst/>
              <a:latin typeface="Roboto" panose="02000000000000000000" pitchFamily="2" charset="0"/>
            </a:endParaRPr>
          </a:p>
          <a:p>
            <a:pPr marL="344488" lvl="1" indent="0" algn="just">
              <a:lnSpc>
                <a:spcPct val="100000"/>
              </a:lnSpc>
              <a:spcBef>
                <a:spcPts val="0"/>
              </a:spcBef>
              <a:buNone/>
            </a:pPr>
            <a:r>
              <a:rPr lang="en-US" sz="1500" b="0" i="0" dirty="0">
                <a:effectLst/>
                <a:latin typeface="Times New Roman" panose="02020603050405020304" pitchFamily="18" charset="0"/>
                <a:cs typeface="Times New Roman" pitchFamily="18" charset="0"/>
              </a:rPr>
              <a:t>What does AVC mean in banking?</a:t>
            </a:r>
          </a:p>
          <a:p>
            <a:pPr marL="344488" lvl="1" indent="0" algn="just">
              <a:lnSpc>
                <a:spcPct val="100000"/>
              </a:lnSpc>
              <a:spcBef>
                <a:spcPts val="0"/>
              </a:spcBef>
              <a:buNone/>
            </a:pPr>
            <a:r>
              <a:rPr lang="en-US" sz="1500" b="0" i="0" dirty="0">
                <a:effectLst/>
                <a:latin typeface="Times New Roman" panose="02020603050405020304" pitchFamily="18" charset="0"/>
                <a:cs typeface="Times New Roman" pitchFamily="18" charset="0"/>
              </a:rPr>
              <a:t>Employers may offer their employees who are Plan members the option to make automatic contributions to an Additional Voluntary Contributions (AVC) account through payroll deduction (AVC Payroll Deduction Option).</a:t>
            </a:r>
            <a:endParaRPr lang="en-US" sz="1200" dirty="0">
              <a:latin typeface="Roboto" panose="02000000000000000000" pitchFamily="2" charset="0"/>
              <a:cs typeface="Times New Roman" pitchFamily="18" charset="0"/>
            </a:endParaRPr>
          </a:p>
          <a:p>
            <a:pPr marL="344488" lvl="1" indent="0" algn="just">
              <a:lnSpc>
                <a:spcPct val="100000"/>
              </a:lnSpc>
              <a:spcBef>
                <a:spcPts val="0"/>
              </a:spcBef>
              <a:buNone/>
            </a:pPr>
            <a:r>
              <a:rPr lang="en-US" sz="1200" b="0" i="0" dirty="0">
                <a:effectLst/>
                <a:latin typeface="Roboto" panose="02000000000000000000" pitchFamily="2" charset="0"/>
              </a:rPr>
              <a:t>AVC </a:t>
            </a:r>
            <a:r>
              <a:rPr lang="mn-MN" sz="1200" b="0" i="0" dirty="0">
                <a:effectLst/>
                <a:latin typeface="Roboto" panose="02000000000000000000" pitchFamily="2" charset="0"/>
              </a:rPr>
              <a:t>банкинд юу гэсэн үг вэ? Ажил олгогчид Төлөвлөгөөний гишүүн ажилчдадаа цалингийн хасалтаар (</a:t>
            </a:r>
            <a:r>
              <a:rPr lang="en-US" sz="1200" b="0" i="0" dirty="0">
                <a:effectLst/>
                <a:latin typeface="Roboto" panose="02000000000000000000" pitchFamily="2" charset="0"/>
              </a:rPr>
              <a:t>AVC </a:t>
            </a:r>
            <a:r>
              <a:rPr lang="mn-MN" sz="1200" b="0" i="0" dirty="0">
                <a:effectLst/>
                <a:latin typeface="Roboto" panose="02000000000000000000" pitchFamily="2" charset="0"/>
              </a:rPr>
              <a:t>Цалингийн Суутгалын Сонголт) Нэмэлт сайн дурын шимтгэл (</a:t>
            </a:r>
            <a:r>
              <a:rPr lang="en-US" sz="1200" b="0" i="0" dirty="0">
                <a:effectLst/>
                <a:latin typeface="Roboto" panose="02000000000000000000" pitchFamily="2" charset="0"/>
              </a:rPr>
              <a:t>AVC) </a:t>
            </a:r>
            <a:r>
              <a:rPr lang="mn-MN" sz="1200" b="0" i="0" dirty="0">
                <a:effectLst/>
                <a:latin typeface="Roboto" panose="02000000000000000000" pitchFamily="2" charset="0"/>
              </a:rPr>
              <a:t>дансанд автоматаар шимтгэл хийх сонголтыг санал болгож болно.</a:t>
            </a:r>
            <a:endParaRPr lang="en-US" sz="1200" b="0" i="0" dirty="0">
              <a:effectLst/>
              <a:latin typeface="Roboto" panose="02000000000000000000" pitchFamily="2" charset="0"/>
            </a:endParaRPr>
          </a:p>
          <a:p>
            <a:pPr marL="344488" lvl="1" indent="0" algn="just">
              <a:lnSpc>
                <a:spcPct val="100000"/>
              </a:lnSpc>
              <a:spcBef>
                <a:spcPts val="0"/>
              </a:spcBef>
              <a:buNone/>
            </a:pPr>
            <a:r>
              <a:rPr lang="en-US" sz="1200" b="0" i="0" dirty="0">
                <a:effectLst/>
                <a:latin typeface="Roboto" panose="02000000000000000000" pitchFamily="2" charset="0"/>
                <a:cs typeface="Times New Roman" pitchFamily="18" charset="0"/>
              </a:rPr>
              <a:t>What is the full form of AVC in company? Average Variable Cost Definition</a:t>
            </a:r>
          </a:p>
          <a:p>
            <a:pPr marL="344488" lvl="1" indent="0" algn="just">
              <a:lnSpc>
                <a:spcPct val="100000"/>
              </a:lnSpc>
              <a:spcBef>
                <a:spcPts val="0"/>
              </a:spcBef>
              <a:buNone/>
            </a:pPr>
            <a:r>
              <a:rPr lang="en-US" sz="1200" b="0" i="0" dirty="0">
                <a:effectLst/>
                <a:latin typeface="Roboto" panose="02000000000000000000" pitchFamily="2" charset="0"/>
                <a:cs typeface="Times New Roman" pitchFamily="18" charset="0"/>
              </a:rPr>
              <a:t>The average variable cost (AVC) is the total variable cost per unit of output. This is found by dividing total variable cost (TVC) by total output (Q). Total variable cost (TVC) is all the costs that vary with output, such as materials and labor.2021 </a:t>
            </a:r>
            <a:r>
              <a:rPr lang="en-US" sz="1200" b="0" i="0" dirty="0" err="1">
                <a:effectLst/>
                <a:latin typeface="Roboto" panose="02000000000000000000" pitchFamily="2" charset="0"/>
                <a:cs typeface="Times New Roman" pitchFamily="18" charset="0"/>
              </a:rPr>
              <a:t>оны</a:t>
            </a:r>
            <a:r>
              <a:rPr lang="en-US" sz="1200" b="0" i="0" dirty="0">
                <a:effectLst/>
                <a:latin typeface="Roboto" panose="02000000000000000000" pitchFamily="2" charset="0"/>
                <a:cs typeface="Times New Roman" pitchFamily="18" charset="0"/>
              </a:rPr>
              <a:t> 9-р </a:t>
            </a:r>
            <a:r>
              <a:rPr lang="en-US" sz="1200" b="0" i="0" dirty="0" err="1">
                <a:effectLst/>
                <a:latin typeface="Roboto" panose="02000000000000000000" pitchFamily="2" charset="0"/>
                <a:cs typeface="Times New Roman" pitchFamily="18" charset="0"/>
              </a:rPr>
              <a:t>сарын</a:t>
            </a:r>
            <a:r>
              <a:rPr lang="en-US" sz="1200" b="0" i="0" dirty="0">
                <a:effectLst/>
                <a:latin typeface="Roboto" panose="02000000000000000000" pitchFamily="2" charset="0"/>
                <a:cs typeface="Times New Roman" pitchFamily="18" charset="0"/>
              </a:rPr>
              <a:t> 16.</a:t>
            </a:r>
          </a:p>
          <a:p>
            <a:pPr marL="344488" lvl="1" indent="0" algn="just">
              <a:lnSpc>
                <a:spcPct val="100000"/>
              </a:lnSpc>
              <a:spcBef>
                <a:spcPts val="0"/>
              </a:spcBef>
              <a:buNone/>
            </a:pPr>
            <a:r>
              <a:rPr lang="en-US" sz="1200" b="0" i="0" dirty="0">
                <a:effectLst/>
                <a:latin typeface="Roboto" panose="02000000000000000000" pitchFamily="2" charset="0"/>
                <a:cs typeface="Times New Roman" pitchFamily="18" charset="0"/>
              </a:rPr>
              <a:t>hat is the full form of AVC in company? Average Variable Cost Definition</a:t>
            </a:r>
          </a:p>
          <a:p>
            <a:pPr marL="344488" lvl="1" indent="0" algn="just">
              <a:lnSpc>
                <a:spcPct val="100000"/>
              </a:lnSpc>
              <a:spcBef>
                <a:spcPts val="0"/>
              </a:spcBef>
              <a:buNone/>
            </a:pPr>
            <a:endParaRPr lang="en-US" sz="1200" b="0" i="0" dirty="0">
              <a:effectLst/>
              <a:latin typeface="Roboto" panose="02000000000000000000" pitchFamily="2" charset="0"/>
              <a:cs typeface="Times New Roman" pitchFamily="18" charset="0"/>
            </a:endParaRPr>
          </a:p>
          <a:p>
            <a:pPr marL="344488" lvl="1" indent="0" algn="just">
              <a:lnSpc>
                <a:spcPct val="100000"/>
              </a:lnSpc>
              <a:spcBef>
                <a:spcPts val="0"/>
              </a:spcBef>
              <a:buNone/>
            </a:pPr>
            <a:r>
              <a:rPr lang="en-US" sz="1200" b="0" i="0" dirty="0">
                <a:effectLst/>
                <a:latin typeface="Roboto" panose="02000000000000000000" pitchFamily="2" charset="0"/>
                <a:cs typeface="Times New Roman" pitchFamily="18" charset="0"/>
              </a:rPr>
              <a:t>The average variable cost (AVC) is the total variable cost per unit of output. This is found by dividing total variable cost (TVC) by total output (Q). Total variable cost (TVC) is all the costs that vary with output, such as materials and labor.2021 </a:t>
            </a:r>
            <a:r>
              <a:rPr lang="en-US" sz="1200" b="0" i="0" dirty="0" err="1">
                <a:effectLst/>
                <a:latin typeface="Roboto" panose="02000000000000000000" pitchFamily="2" charset="0"/>
                <a:cs typeface="Times New Roman" pitchFamily="18" charset="0"/>
              </a:rPr>
              <a:t>оны</a:t>
            </a:r>
            <a:r>
              <a:rPr lang="en-US" sz="1200" b="0" i="0" dirty="0">
                <a:effectLst/>
                <a:latin typeface="Roboto" panose="02000000000000000000" pitchFamily="2" charset="0"/>
                <a:cs typeface="Times New Roman" pitchFamily="18" charset="0"/>
              </a:rPr>
              <a:t> 9-р </a:t>
            </a:r>
            <a:r>
              <a:rPr lang="en-US" sz="1200" b="0" i="0" dirty="0" err="1">
                <a:effectLst/>
                <a:latin typeface="Roboto" panose="02000000000000000000" pitchFamily="2" charset="0"/>
                <a:cs typeface="Times New Roman" pitchFamily="18" charset="0"/>
              </a:rPr>
              <a:t>сарын</a:t>
            </a:r>
            <a:r>
              <a:rPr lang="en-US" sz="1200" b="0" i="0" dirty="0">
                <a:effectLst/>
                <a:latin typeface="Roboto" panose="02000000000000000000" pitchFamily="2" charset="0"/>
                <a:cs typeface="Times New Roman" pitchFamily="18" charset="0"/>
              </a:rPr>
              <a:t> 16</a:t>
            </a:r>
          </a:p>
          <a:p>
            <a:pPr marL="344488" lvl="1" indent="0" algn="just">
              <a:lnSpc>
                <a:spcPct val="100000"/>
              </a:lnSpc>
              <a:spcBef>
                <a:spcPts val="0"/>
              </a:spcBef>
              <a:buNone/>
            </a:pPr>
            <a:r>
              <a:rPr lang="mn-MN" sz="1050" b="0" i="0" dirty="0">
                <a:effectLst/>
                <a:latin typeface="Roboto" panose="02000000000000000000" pitchFamily="2" charset="0"/>
              </a:rPr>
              <a:t>Компани дахь </a:t>
            </a:r>
            <a:r>
              <a:rPr lang="en-US" sz="1050" b="0" i="0" dirty="0">
                <a:effectLst/>
                <a:latin typeface="Roboto" panose="02000000000000000000" pitchFamily="2" charset="0"/>
              </a:rPr>
              <a:t>AVC-</a:t>
            </a:r>
            <a:r>
              <a:rPr lang="mn-MN" sz="1050" b="0" i="0" dirty="0">
                <a:effectLst/>
                <a:latin typeface="Roboto" panose="02000000000000000000" pitchFamily="2" charset="0"/>
              </a:rPr>
              <a:t>ийн бүрэн хэлбэр нь юу вэ? Дундаж хувьсах зардлын тодорхойлолт Дундаж хувьсах зардал (</a:t>
            </a:r>
            <a:r>
              <a:rPr lang="en-US" sz="1050" b="0" i="0" dirty="0">
                <a:effectLst/>
                <a:latin typeface="Roboto" panose="02000000000000000000" pitchFamily="2" charset="0"/>
              </a:rPr>
              <a:t>AVC) </a:t>
            </a:r>
            <a:r>
              <a:rPr lang="mn-MN" sz="1050" b="0" i="0" dirty="0">
                <a:effectLst/>
                <a:latin typeface="Roboto" panose="02000000000000000000" pitchFamily="2" charset="0"/>
              </a:rPr>
              <a:t>нь бүтээгдэхүүний нэгжид ногдох нийт хувьсах зардал юм. Үүнийг нийт хувьсах зардлыг (</a:t>
            </a:r>
            <a:r>
              <a:rPr lang="en-US" sz="1050" b="0" i="0" dirty="0">
                <a:effectLst/>
                <a:latin typeface="Roboto" panose="02000000000000000000" pitchFamily="2" charset="0"/>
              </a:rPr>
              <a:t>TVC) </a:t>
            </a:r>
            <a:r>
              <a:rPr lang="mn-MN" sz="1050" b="0" i="0" dirty="0">
                <a:effectLst/>
                <a:latin typeface="Roboto" panose="02000000000000000000" pitchFamily="2" charset="0"/>
              </a:rPr>
              <a:t>нийт гарц (</a:t>
            </a:r>
            <a:r>
              <a:rPr lang="en-US" sz="1050" b="0" i="0" dirty="0">
                <a:effectLst/>
                <a:latin typeface="Roboto" panose="02000000000000000000" pitchFamily="2" charset="0"/>
              </a:rPr>
              <a:t>Q)-</a:t>
            </a:r>
            <a:r>
              <a:rPr lang="mn-MN" sz="1050" b="0" i="0" dirty="0">
                <a:effectLst/>
                <a:latin typeface="Roboto" panose="02000000000000000000" pitchFamily="2" charset="0"/>
              </a:rPr>
              <a:t>д хуваах замаар олно. Нийт хувьсах зардал (</a:t>
            </a:r>
            <a:r>
              <a:rPr lang="en-US" sz="1050" b="0" i="0" dirty="0">
                <a:effectLst/>
                <a:latin typeface="Roboto" panose="02000000000000000000" pitchFamily="2" charset="0"/>
              </a:rPr>
              <a:t>TVC) </a:t>
            </a:r>
            <a:r>
              <a:rPr lang="mn-MN" sz="1050" b="0" i="0" dirty="0">
                <a:effectLst/>
                <a:latin typeface="Roboto" panose="02000000000000000000" pitchFamily="2" charset="0"/>
              </a:rPr>
              <a:t>нь материал, хөдөлмөр гэх мэт бүтээгдэхүүнээс хамаарч өөрчлөгддөг бүх зардал юм.2021оны 9-р сарын 16</a:t>
            </a:r>
            <a:endParaRPr lang="en-US" sz="1200" b="0" i="0" dirty="0">
              <a:effectLst/>
              <a:latin typeface="Roboto" panose="02000000000000000000" pitchFamily="2" charset="0"/>
              <a:cs typeface="Times New Roman" pitchFamily="18" charset="0"/>
            </a:endParaRPr>
          </a:p>
          <a:p>
            <a:pPr marL="344488" lvl="1" indent="0" algn="just">
              <a:lnSpc>
                <a:spcPct val="100000"/>
              </a:lnSpc>
              <a:spcBef>
                <a:spcPts val="0"/>
              </a:spcBef>
              <a:buNone/>
            </a:pPr>
            <a:r>
              <a:rPr lang="en-US" sz="1500" b="0" i="0" dirty="0">
                <a:effectLst/>
                <a:latin typeface="Times New Roman" panose="02020603050405020304" pitchFamily="18" charset="0"/>
                <a:cs typeface="Times New Roman" pitchFamily="18" charset="0"/>
              </a:rPr>
              <a:t>What is the full form of AVC in company?</a:t>
            </a:r>
          </a:p>
          <a:p>
            <a:pPr marL="344488" lvl="1" indent="0" algn="just">
              <a:lnSpc>
                <a:spcPct val="100000"/>
              </a:lnSpc>
              <a:spcBef>
                <a:spcPts val="0"/>
              </a:spcBef>
              <a:buNone/>
            </a:pPr>
            <a:r>
              <a:rPr lang="en-US" sz="1500" b="0" i="0" dirty="0">
                <a:effectLst/>
                <a:latin typeface="Times New Roman" panose="02020603050405020304" pitchFamily="18" charset="0"/>
                <a:cs typeface="Times New Roman" pitchFamily="18" charset="0"/>
              </a:rPr>
              <a:t>Average Variable Cost Definition</a:t>
            </a:r>
          </a:p>
          <a:p>
            <a:pPr marL="344488" lvl="1" indent="0" algn="just">
              <a:lnSpc>
                <a:spcPct val="100000"/>
              </a:lnSpc>
              <a:spcBef>
                <a:spcPts val="0"/>
              </a:spcBef>
              <a:buNone/>
            </a:pPr>
            <a:endParaRPr lang="en-US" sz="1500" b="0" i="0" dirty="0">
              <a:effectLst/>
              <a:latin typeface="Times New Roman" panose="02020603050405020304" pitchFamily="18" charset="0"/>
              <a:cs typeface="Times New Roman" pitchFamily="18" charset="0"/>
            </a:endParaRPr>
          </a:p>
          <a:p>
            <a:pPr marL="344488" lvl="1" indent="0" algn="just">
              <a:lnSpc>
                <a:spcPct val="100000"/>
              </a:lnSpc>
              <a:spcBef>
                <a:spcPts val="0"/>
              </a:spcBef>
              <a:buNone/>
            </a:pPr>
            <a:r>
              <a:rPr lang="en-US" sz="1500" b="0" i="0" dirty="0">
                <a:effectLst/>
                <a:latin typeface="Times New Roman" panose="02020603050405020304" pitchFamily="18" charset="0"/>
                <a:cs typeface="Times New Roman" pitchFamily="18" charset="0"/>
              </a:rPr>
              <a:t>The average variable cost (AVC) is the total variable cost per unit of output. This is found by dividing total variable cost (TVC) by total output (Q). Total variable cost (TVC) is all the costs that vary with output, such as materials and labor.2021 </a:t>
            </a:r>
            <a:r>
              <a:rPr lang="en-US" sz="1500" b="0" i="0" dirty="0" err="1">
                <a:effectLst/>
                <a:latin typeface="Times New Roman" panose="02020603050405020304" pitchFamily="18" charset="0"/>
                <a:cs typeface="Times New Roman" pitchFamily="18" charset="0"/>
              </a:rPr>
              <a:t>оны</a:t>
            </a:r>
            <a:r>
              <a:rPr lang="en-US" sz="1500" b="0" i="0" dirty="0">
                <a:effectLst/>
                <a:latin typeface="Times New Roman" panose="02020603050405020304" pitchFamily="18" charset="0"/>
                <a:cs typeface="Times New Roman" pitchFamily="18" charset="0"/>
              </a:rPr>
              <a:t> 9-р </a:t>
            </a:r>
            <a:r>
              <a:rPr lang="en-US" sz="1500" b="0" i="0" dirty="0" err="1">
                <a:effectLst/>
                <a:latin typeface="Times New Roman" panose="02020603050405020304" pitchFamily="18" charset="0"/>
                <a:cs typeface="Times New Roman" pitchFamily="18" charset="0"/>
              </a:rPr>
              <a:t>сарын</a:t>
            </a:r>
            <a:r>
              <a:rPr lang="en-US" sz="1500" b="0" i="0" dirty="0">
                <a:effectLst/>
                <a:latin typeface="Times New Roman" panose="02020603050405020304" pitchFamily="18" charset="0"/>
                <a:cs typeface="Times New Roman" pitchFamily="18" charset="0"/>
              </a:rPr>
              <a:t> 16</a:t>
            </a:r>
          </a:p>
          <a:p>
            <a:pPr marL="344488" lvl="1" indent="0" algn="just">
              <a:lnSpc>
                <a:spcPct val="100000"/>
              </a:lnSpc>
              <a:spcBef>
                <a:spcPts val="0"/>
              </a:spcBef>
              <a:buNone/>
            </a:pPr>
            <a:r>
              <a:rPr lang="mn-MN" sz="1200" b="0" i="0" dirty="0">
                <a:effectLst/>
                <a:latin typeface="Roboto" panose="02000000000000000000" pitchFamily="2" charset="0"/>
              </a:rPr>
              <a:t>Компани дахь </a:t>
            </a:r>
            <a:r>
              <a:rPr lang="en-US" sz="1200" b="0" i="0" dirty="0">
                <a:effectLst/>
                <a:latin typeface="Roboto" panose="02000000000000000000" pitchFamily="2" charset="0"/>
              </a:rPr>
              <a:t>AVC-</a:t>
            </a:r>
            <a:r>
              <a:rPr lang="mn-MN" sz="1200" b="0" i="0" dirty="0">
                <a:effectLst/>
                <a:latin typeface="Roboto" panose="02000000000000000000" pitchFamily="2" charset="0"/>
              </a:rPr>
              <a:t>ийн бүрэн хэлбэр нь юу вэ? Дундаж хувьсах зардлын тодорхойлолт Дундаж хувьсах зардал (</a:t>
            </a:r>
            <a:r>
              <a:rPr lang="en-US" sz="1200" b="0" i="0" dirty="0">
                <a:effectLst/>
                <a:latin typeface="Roboto" panose="02000000000000000000" pitchFamily="2" charset="0"/>
              </a:rPr>
              <a:t>AVC) </a:t>
            </a:r>
            <a:r>
              <a:rPr lang="mn-MN" sz="1200" b="0" i="0" dirty="0">
                <a:effectLst/>
                <a:latin typeface="Roboto" panose="02000000000000000000" pitchFamily="2" charset="0"/>
              </a:rPr>
              <a:t>нь бүтээгдэхүүний нэгжид ногдох нийт хувьсах зардал юм. Үүнийг нийт хувьсах зардлыг (</a:t>
            </a:r>
            <a:r>
              <a:rPr lang="en-US" sz="1200" b="0" i="0" dirty="0">
                <a:effectLst/>
                <a:latin typeface="Roboto" panose="02000000000000000000" pitchFamily="2" charset="0"/>
              </a:rPr>
              <a:t>TVC) </a:t>
            </a:r>
            <a:r>
              <a:rPr lang="mn-MN" sz="1200" b="0" i="0" dirty="0">
                <a:effectLst/>
                <a:latin typeface="Roboto" panose="02000000000000000000" pitchFamily="2" charset="0"/>
              </a:rPr>
              <a:t>нийт гарц (</a:t>
            </a:r>
            <a:r>
              <a:rPr lang="en-US" sz="1200" b="0" i="0" dirty="0">
                <a:effectLst/>
                <a:latin typeface="Roboto" panose="02000000000000000000" pitchFamily="2" charset="0"/>
              </a:rPr>
              <a:t>Q)-</a:t>
            </a:r>
            <a:r>
              <a:rPr lang="mn-MN" sz="1200" b="0" i="0" dirty="0">
                <a:effectLst/>
                <a:latin typeface="Roboto" panose="02000000000000000000" pitchFamily="2" charset="0"/>
              </a:rPr>
              <a:t>д хуваах замаар олно. Нийт хувьсах зардал (</a:t>
            </a:r>
            <a:r>
              <a:rPr lang="en-US" sz="1200" b="0" i="0" dirty="0">
                <a:effectLst/>
                <a:latin typeface="Roboto" panose="02000000000000000000" pitchFamily="2" charset="0"/>
              </a:rPr>
              <a:t>TVC) </a:t>
            </a:r>
            <a:r>
              <a:rPr lang="mn-MN" sz="1200" b="0" i="0" dirty="0">
                <a:effectLst/>
                <a:latin typeface="Roboto" panose="02000000000000000000" pitchFamily="2" charset="0"/>
              </a:rPr>
              <a:t>нь материал, хөдөлмөр гэх мэт бүтээгдэхүүнээс хамаарч өөрчлөгддөг бүх зардал юм.2021оны 9-р сарын 16</a:t>
            </a:r>
            <a:endParaRPr lang="en-US" sz="1200" b="0" i="0" dirty="0">
              <a:effectLst/>
              <a:latin typeface="Roboto" panose="02000000000000000000" pitchFamily="2" charset="0"/>
            </a:endParaRPr>
          </a:p>
          <a:p>
            <a:pPr marL="344488" lvl="1" indent="0" algn="just">
              <a:lnSpc>
                <a:spcPct val="100000"/>
              </a:lnSpc>
              <a:spcBef>
                <a:spcPts val="0"/>
              </a:spcBef>
              <a:buNone/>
            </a:pPr>
            <a:r>
              <a:rPr lang="en-US" sz="1500" b="0" i="0" dirty="0">
                <a:effectLst/>
                <a:latin typeface="Times New Roman" panose="02020603050405020304" pitchFamily="18" charset="0"/>
                <a:cs typeface="Times New Roman" pitchFamily="18" charset="0"/>
              </a:rPr>
              <a:t>What is an example of AVC?</a:t>
            </a:r>
          </a:p>
          <a:p>
            <a:pPr marL="344488" lvl="1" indent="0" algn="just">
              <a:lnSpc>
                <a:spcPct val="100000"/>
              </a:lnSpc>
              <a:spcBef>
                <a:spcPts val="0"/>
              </a:spcBef>
              <a:buNone/>
            </a:pPr>
            <a:r>
              <a:rPr lang="en-US" sz="1500" b="0" i="0" dirty="0">
                <a:effectLst/>
                <a:latin typeface="Times New Roman" panose="02020603050405020304" pitchFamily="18" charset="0"/>
                <a:cs typeface="Times New Roman" pitchFamily="18" charset="0"/>
              </a:rPr>
              <a:t>Average variable cost obtained when variable cost is divided by quantity of output. For example, the variable cost of producing 80 haircuts is $400, so the average variable cost is $400/80, or $5 per haircut.</a:t>
            </a:r>
            <a:endParaRPr lang="en-US" sz="1200" dirty="0">
              <a:latin typeface="Roboto" panose="02000000000000000000" pitchFamily="2" charset="0"/>
              <a:cs typeface="Times New Roman" pitchFamily="18" charset="0"/>
            </a:endParaRPr>
          </a:p>
          <a:p>
            <a:pPr marL="344488" lvl="1" indent="0" algn="just">
              <a:lnSpc>
                <a:spcPct val="100000"/>
              </a:lnSpc>
              <a:spcBef>
                <a:spcPts val="0"/>
              </a:spcBef>
              <a:buNone/>
            </a:pPr>
            <a:r>
              <a:rPr lang="en-US" sz="1200" b="0" i="0" dirty="0">
                <a:effectLst/>
                <a:latin typeface="Roboto" panose="02000000000000000000" pitchFamily="2" charset="0"/>
              </a:rPr>
              <a:t>AVC-</a:t>
            </a:r>
            <a:r>
              <a:rPr lang="mn-MN" sz="1200" b="0" i="0" dirty="0">
                <a:effectLst/>
                <a:latin typeface="Roboto" panose="02000000000000000000" pitchFamily="2" charset="0"/>
              </a:rPr>
              <a:t>ийн жишээ юу вэ? Хувьсах зардлыг үйлдвэрлэлийн тоонд хуваах үед гарсан дундаж хувьсах зардал. Жишээлбэл, 80 үсний засалт үйлдвэрлэх хувьсах зардал нь 400 доллар байдаг тул дундаж хувьсах зардал нь 400/80 доллар буюу нэг үсний засалт хийхэд 5 доллар байдаг.</a:t>
            </a:r>
            <a:endParaRPr lang="en-US" sz="1200" b="0" i="0" dirty="0">
              <a:effectLst/>
              <a:latin typeface="Roboto" panose="02000000000000000000" pitchFamily="2" charset="0"/>
            </a:endParaRPr>
          </a:p>
          <a:p>
            <a:pPr algn="l"/>
            <a:r>
              <a:rPr lang="en-US" sz="1200" b="0" i="0" dirty="0">
                <a:effectLst/>
                <a:latin typeface="Google Sans"/>
              </a:rPr>
              <a:t>How do I set up AVC?</a:t>
            </a:r>
            <a:endParaRPr lang="en-US" sz="1200" b="0" i="0" dirty="0">
              <a:effectLst/>
              <a:latin typeface="arial" panose="020B0604020202020204" pitchFamily="34" charset="0"/>
            </a:endParaRPr>
          </a:p>
          <a:p>
            <a:pPr algn="l"/>
            <a:r>
              <a:rPr lang="en-US" sz="1200" b="0" i="0" dirty="0">
                <a:effectLst/>
                <a:latin typeface="Google Sans"/>
              </a:rPr>
              <a:t>Any member of a pension scheme can make AVCs. The process is simple. When you decide to make AVCs and the amount you would like to contribute, complete an application form and give it to your payroll department. Your AVCs will then be deducted directly from your salary, so you get full tax relief at source.</a:t>
            </a:r>
            <a:endParaRPr lang="en-US" sz="1200" b="0" i="0" dirty="0">
              <a:effectLst/>
              <a:latin typeface="arial" panose="020B0604020202020204" pitchFamily="34" charset="0"/>
            </a:endParaRPr>
          </a:p>
          <a:p>
            <a:pPr marL="344488" lvl="1" indent="0" algn="just">
              <a:lnSpc>
                <a:spcPct val="100000"/>
              </a:lnSpc>
              <a:spcBef>
                <a:spcPts val="0"/>
              </a:spcBef>
              <a:buNone/>
            </a:pPr>
            <a:r>
              <a:rPr lang="mn-MN" sz="1200" b="0" i="0" dirty="0">
                <a:effectLst/>
                <a:latin typeface="Roboto" panose="02000000000000000000" pitchFamily="2" charset="0"/>
              </a:rPr>
              <a:t>Би </a:t>
            </a:r>
            <a:r>
              <a:rPr lang="en-US" sz="1200" b="0" i="0" dirty="0">
                <a:effectLst/>
                <a:latin typeface="Roboto" panose="02000000000000000000" pitchFamily="2" charset="0"/>
              </a:rPr>
              <a:t>AVC-</a:t>
            </a:r>
            <a:r>
              <a:rPr lang="mn-MN" sz="1200" b="0" i="0" dirty="0">
                <a:effectLst/>
                <a:latin typeface="Roboto" panose="02000000000000000000" pitchFamily="2" charset="0"/>
              </a:rPr>
              <a:t>г хэрхэн тохируулах вэ? Тэтгэврийн тогтолцооны аль ч гишүүн </a:t>
            </a:r>
            <a:r>
              <a:rPr lang="en-US" sz="1200" b="0" i="0" dirty="0">
                <a:effectLst/>
                <a:latin typeface="Roboto" panose="02000000000000000000" pitchFamily="2" charset="0"/>
              </a:rPr>
              <a:t>AVC </a:t>
            </a:r>
            <a:r>
              <a:rPr lang="mn-MN" sz="1200" b="0" i="0" dirty="0">
                <a:effectLst/>
                <a:latin typeface="Roboto" panose="02000000000000000000" pitchFamily="2" charset="0"/>
              </a:rPr>
              <a:t>хийх боломжтой. Процесс нь энгийн. Та </a:t>
            </a:r>
            <a:r>
              <a:rPr lang="en-US" sz="1200" b="0" i="0" dirty="0">
                <a:effectLst/>
                <a:latin typeface="Roboto" panose="02000000000000000000" pitchFamily="2" charset="0"/>
              </a:rPr>
              <a:t>AVC </a:t>
            </a:r>
            <a:r>
              <a:rPr lang="mn-MN" sz="1200" b="0" i="0" dirty="0">
                <a:effectLst/>
                <a:latin typeface="Roboto" panose="02000000000000000000" pitchFamily="2" charset="0"/>
              </a:rPr>
              <a:t>болон хувь нэмрээ оруулахаар шийдсэн бол өргөдлийн маягтыг бөглөж, цалингийн хэлтэст өгнө үү. Дараа нь таны </a:t>
            </a:r>
            <a:r>
              <a:rPr lang="en-US" sz="1200" b="0" i="0" dirty="0">
                <a:effectLst/>
                <a:latin typeface="Roboto" panose="02000000000000000000" pitchFamily="2" charset="0"/>
              </a:rPr>
              <a:t>AVC </a:t>
            </a:r>
            <a:r>
              <a:rPr lang="mn-MN" sz="1200" b="0" i="0" dirty="0">
                <a:effectLst/>
                <a:latin typeface="Roboto" panose="02000000000000000000" pitchFamily="2" charset="0"/>
              </a:rPr>
              <a:t>таны цалингаас шууд хасагдах тул та татварын бүрэн хөнгөлөлтийг эх үүсвэр дээр авах болно.</a:t>
            </a:r>
            <a:endParaRPr lang="en-US" sz="1500" b="0" i="0" dirty="0">
              <a:effectLst/>
              <a:latin typeface="Times New Roman" panose="02020603050405020304" pitchFamily="18" charset="0"/>
              <a:cs typeface="Times New Roman" pitchFamily="18" charset="0"/>
            </a:endParaRPr>
          </a:p>
          <a:p>
            <a:pPr algn="l"/>
            <a:r>
              <a:rPr lang="en-US" sz="1050" b="0" i="0" dirty="0">
                <a:effectLst/>
                <a:latin typeface="Google Sans"/>
              </a:rPr>
              <a:t>How do you calculate AVC with total cost?</a:t>
            </a:r>
            <a:endParaRPr lang="en-US" sz="1050" b="0" i="0" dirty="0">
              <a:effectLst/>
              <a:latin typeface="arial" panose="020B0604020202020204" pitchFamily="34" charset="0"/>
            </a:endParaRPr>
          </a:p>
          <a:p>
            <a:pPr algn="l"/>
            <a:r>
              <a:rPr lang="en-US" sz="1050" b="0" i="0" dirty="0">
                <a:effectLst/>
                <a:latin typeface="Google Sans"/>
              </a:rPr>
              <a:t>The way to find the AVC is : TC at 0 output is 5 which means fixed cost (FC) is 5. Hence, if we subtract 5 from the TCs for all the subsequent output levels we will get the VC at each output. Now, AVC = VC /Q. Which is easy to find.2017 </a:t>
            </a:r>
            <a:r>
              <a:rPr lang="en-US" sz="1050" b="0" i="0" dirty="0" err="1">
                <a:effectLst/>
                <a:latin typeface="Google Sans"/>
              </a:rPr>
              <a:t>оны</a:t>
            </a:r>
            <a:r>
              <a:rPr lang="en-US" sz="1050" b="0" i="0" dirty="0">
                <a:effectLst/>
                <a:latin typeface="Google Sans"/>
              </a:rPr>
              <a:t> 3-р </a:t>
            </a:r>
            <a:r>
              <a:rPr lang="en-US" sz="1050" b="0" i="0" dirty="0" err="1">
                <a:effectLst/>
                <a:latin typeface="Google Sans"/>
              </a:rPr>
              <a:t>сарын</a:t>
            </a:r>
            <a:r>
              <a:rPr lang="en-US" sz="1050" b="0" i="0" dirty="0">
                <a:effectLst/>
                <a:latin typeface="Google Sans"/>
              </a:rPr>
              <a:t> 11</a:t>
            </a:r>
          </a:p>
          <a:p>
            <a:pPr algn="l"/>
            <a:r>
              <a:rPr lang="en-US" sz="800" b="0" i="0" dirty="0">
                <a:solidFill>
                  <a:srgbClr val="3C4043"/>
                </a:solidFill>
                <a:effectLst/>
                <a:latin typeface="Roboto" panose="02000000000000000000" pitchFamily="2" charset="0"/>
              </a:rPr>
              <a:t>AVC-</a:t>
            </a:r>
            <a:r>
              <a:rPr lang="mn-MN" sz="800" b="0" i="0" dirty="0">
                <a:solidFill>
                  <a:srgbClr val="3C4043"/>
                </a:solidFill>
                <a:effectLst/>
                <a:latin typeface="Roboto" panose="02000000000000000000" pitchFamily="2" charset="0"/>
              </a:rPr>
              <a:t>ийг нийт өртөгтэй хэрхэн тооцох вэ? </a:t>
            </a:r>
            <a:r>
              <a:rPr lang="en-US" sz="800" b="0" i="0" dirty="0">
                <a:solidFill>
                  <a:srgbClr val="3C4043"/>
                </a:solidFill>
                <a:effectLst/>
                <a:latin typeface="Roboto" panose="02000000000000000000" pitchFamily="2" charset="0"/>
              </a:rPr>
              <a:t>AVC-</a:t>
            </a:r>
            <a:r>
              <a:rPr lang="mn-MN" sz="800" b="0" i="0" dirty="0">
                <a:solidFill>
                  <a:srgbClr val="3C4043"/>
                </a:solidFill>
                <a:effectLst/>
                <a:latin typeface="Roboto" panose="02000000000000000000" pitchFamily="2" charset="0"/>
              </a:rPr>
              <a:t>г олох арга нь: 0 гаралт дээрх </a:t>
            </a:r>
            <a:r>
              <a:rPr lang="en-US" sz="800" b="0" i="0" dirty="0">
                <a:solidFill>
                  <a:srgbClr val="3C4043"/>
                </a:solidFill>
                <a:effectLst/>
                <a:latin typeface="Roboto" panose="02000000000000000000" pitchFamily="2" charset="0"/>
              </a:rPr>
              <a:t>TC </a:t>
            </a:r>
            <a:r>
              <a:rPr lang="mn-MN" sz="800" b="0" i="0" dirty="0">
                <a:solidFill>
                  <a:srgbClr val="3C4043"/>
                </a:solidFill>
                <a:effectLst/>
                <a:latin typeface="Roboto" panose="02000000000000000000" pitchFamily="2" charset="0"/>
              </a:rPr>
              <a:t>нь 5 бөгөөд энэ нь тогтмол зардал (</a:t>
            </a:r>
            <a:r>
              <a:rPr lang="en-US" sz="800" b="0" i="0" dirty="0">
                <a:solidFill>
                  <a:srgbClr val="3C4043"/>
                </a:solidFill>
                <a:effectLst/>
                <a:latin typeface="Roboto" panose="02000000000000000000" pitchFamily="2" charset="0"/>
              </a:rPr>
              <a:t>FC) </a:t>
            </a:r>
            <a:r>
              <a:rPr lang="mn-MN" sz="800" b="0" i="0" dirty="0">
                <a:solidFill>
                  <a:srgbClr val="3C4043"/>
                </a:solidFill>
                <a:effectLst/>
                <a:latin typeface="Roboto" panose="02000000000000000000" pitchFamily="2" charset="0"/>
              </a:rPr>
              <a:t>нь 5 гэсэн үг юм. Тиймээс, хэрэв бид дараагийн бүх гаралтын түвшний ТС-ээс 5-ыг хасвал гаралт бүр дээр </a:t>
            </a:r>
            <a:r>
              <a:rPr lang="en-US" sz="800" b="0" i="0" dirty="0">
                <a:solidFill>
                  <a:srgbClr val="3C4043"/>
                </a:solidFill>
                <a:effectLst/>
                <a:latin typeface="Roboto" panose="02000000000000000000" pitchFamily="2" charset="0"/>
              </a:rPr>
              <a:t>VC-</a:t>
            </a:r>
            <a:r>
              <a:rPr lang="mn-MN" sz="800" b="0" i="0" dirty="0">
                <a:solidFill>
                  <a:srgbClr val="3C4043"/>
                </a:solidFill>
                <a:effectLst/>
                <a:latin typeface="Roboto" panose="02000000000000000000" pitchFamily="2" charset="0"/>
              </a:rPr>
              <a:t>ийг авна. Одоо </a:t>
            </a:r>
            <a:r>
              <a:rPr lang="en-US" sz="800" b="0" i="0" dirty="0">
                <a:solidFill>
                  <a:srgbClr val="3C4043"/>
                </a:solidFill>
                <a:effectLst/>
                <a:latin typeface="Roboto" panose="02000000000000000000" pitchFamily="2" charset="0"/>
              </a:rPr>
              <a:t>AVC = VC /Q. </a:t>
            </a:r>
            <a:r>
              <a:rPr lang="mn-MN" sz="800" b="0" i="0" dirty="0">
                <a:solidFill>
                  <a:srgbClr val="3C4043"/>
                </a:solidFill>
                <a:effectLst/>
                <a:latin typeface="Roboto" panose="02000000000000000000" pitchFamily="2" charset="0"/>
              </a:rPr>
              <a:t>Аль нь амархан олддог.2017оны 3-р сарын 11</a:t>
            </a:r>
            <a:endParaRPr lang="en-US" sz="1050" b="0" i="0" dirty="0">
              <a:effectLst/>
              <a:latin typeface="arial" panose="020B0604020202020204" pitchFamily="34" charset="0"/>
            </a:endParaRPr>
          </a:p>
          <a:p>
            <a:pPr marL="344488" lvl="1" indent="0" algn="just">
              <a:lnSpc>
                <a:spcPct val="100000"/>
              </a:lnSpc>
              <a:spcBef>
                <a:spcPts val="0"/>
              </a:spcBef>
              <a:buNone/>
            </a:pPr>
            <a:endParaRPr lang="en-US" sz="1200" b="0" i="0" dirty="0">
              <a:effectLst/>
              <a:latin typeface="Google Sans"/>
            </a:endParaRPr>
          </a:p>
        </p:txBody>
      </p:sp>
      <p:sp>
        <p:nvSpPr>
          <p:cNvPr id="4" name="Slide Number Placeholder 3">
            <a:extLst>
              <a:ext uri="{FF2B5EF4-FFF2-40B4-BE49-F238E27FC236}">
                <a16:creationId xmlns:a16="http://schemas.microsoft.com/office/drawing/2014/main" id="{09D5131F-CC7C-4771-BE9D-F3D418EC4E25}"/>
              </a:ext>
            </a:extLst>
          </p:cNvPr>
          <p:cNvSpPr>
            <a:spLocks noGrp="1"/>
          </p:cNvSpPr>
          <p:nvPr>
            <p:ph type="sldNum" sz="quarter" idx="12"/>
          </p:nvPr>
        </p:nvSpPr>
        <p:spPr/>
        <p:txBody>
          <a:bodyPr/>
          <a:lstStyle/>
          <a:p>
            <a:pPr>
              <a:defRPr/>
            </a:pPr>
            <a:fld id="{A65E8343-3605-4CE2-AB97-E196D52989FF}" type="slidenum">
              <a:rPr lang="en-US" altLang="en-US" smtClean="0">
                <a:solidFill>
                  <a:srgbClr val="5FCBEF"/>
                </a:solidFill>
              </a:rPr>
              <a:pPr>
                <a:defRPr/>
              </a:pPr>
              <a:t>13</a:t>
            </a:fld>
            <a:endParaRPr lang="en-US" altLang="en-US">
              <a:solidFill>
                <a:srgbClr val="5FCBEF"/>
              </a:solidFill>
            </a:endParaRPr>
          </a:p>
        </p:txBody>
      </p:sp>
    </p:spTree>
    <p:extLst>
      <p:ext uri="{BB962C8B-B14F-4D97-AF65-F5344CB8AC3E}">
        <p14:creationId xmlns:p14="http://schemas.microsoft.com/office/powerpoint/2010/main" val="3314427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12357"/>
            <a:ext cx="11700016" cy="374469"/>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2.4. Үйл ажиллагааны </a:t>
            </a:r>
            <a:r>
              <a:rPr lang="en-US" sz="2400" b="1" dirty="0">
                <a:solidFill>
                  <a:srgbClr val="00B0F0"/>
                </a:solidFill>
                <a:latin typeface="Times New Roman" panose="02020603050405020304" pitchFamily="18" charset="0"/>
                <a:cs typeface="Times New Roman" panose="02020603050405020304" pitchFamily="18" charset="0"/>
              </a:rPr>
              <a:t>(</a:t>
            </a:r>
            <a:r>
              <a:rPr lang="mn-MN" sz="2400" b="1" dirty="0">
                <a:solidFill>
                  <a:srgbClr val="00B0F0"/>
                </a:solidFill>
                <a:latin typeface="Times New Roman" panose="02020603050405020304" pitchFamily="18" charset="0"/>
                <a:cs typeface="Times New Roman" panose="02020603050405020304" pitchFamily="18" charset="0"/>
              </a:rPr>
              <a:t>ҮА</a:t>
            </a:r>
            <a:r>
              <a:rPr lang="en-US" sz="2400" b="1" dirty="0">
                <a:solidFill>
                  <a:srgbClr val="00B0F0"/>
                </a:solidFill>
                <a:latin typeface="Times New Roman" panose="02020603050405020304" pitchFamily="18" charset="0"/>
                <a:cs typeface="Times New Roman" panose="02020603050405020304" pitchFamily="18" charset="0"/>
              </a:rPr>
              <a:t>) </a:t>
            </a:r>
            <a:r>
              <a:rPr lang="mn-MN" sz="2400" b="1" dirty="0">
                <a:solidFill>
                  <a:srgbClr val="00B0F0"/>
                </a:solidFill>
                <a:latin typeface="Times New Roman" panose="02020603050405020304" pitchFamily="18" charset="0"/>
                <a:cs typeface="Times New Roman" panose="02020603050405020304" pitchFamily="18" charset="0"/>
              </a:rPr>
              <a:t>ба тоног төхөөрөмжийн сонголт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3</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p:sp>
        <p:nvSpPr>
          <p:cNvPr id="3" name="Content Placeholder 2"/>
          <p:cNvSpPr>
            <a:spLocks noGrp="1"/>
          </p:cNvSpPr>
          <p:nvPr>
            <p:ph sz="quarter" idx="13"/>
          </p:nvPr>
        </p:nvSpPr>
        <p:spPr>
          <a:xfrm>
            <a:off x="69568" y="374469"/>
            <a:ext cx="11817632" cy="6322422"/>
          </a:xfrm>
        </p:spPr>
        <p:txBody>
          <a:bodyPr>
            <a:noAutofit/>
          </a:bodyPr>
          <a:lstStyle/>
          <a:p>
            <a:pPr algn="just">
              <a:lnSpc>
                <a:spcPct val="100000"/>
              </a:lnSpc>
              <a:spcBef>
                <a:spcPts val="0"/>
              </a:spcBef>
            </a:pPr>
            <a:r>
              <a:rPr lang="mn-MN" altLang="en-US" sz="2000" dirty="0">
                <a:latin typeface="Times New Roman" panose="02020603050405020304" pitchFamily="18" charset="0"/>
                <a:cs typeface="Times New Roman" pitchFamily="18" charset="0"/>
              </a:rPr>
              <a:t>Бүтээгдэхүүнийг өөрөө үйлдвэрлэнэ гэсэн шийдвэр гарсан үед ү.а-ны сонголт хийнэ. Түүхий эд материалыг бүтээгдэхүүн болгох явцыг үйлдвэрлэлийн ү.а гэнэ. Дараах байдлаар ангилна.</a:t>
            </a:r>
          </a:p>
          <a:p>
            <a:pPr marL="687388" lvl="1" indent="-342900" algn="just">
              <a:lnSpc>
                <a:spcPct val="100000"/>
              </a:lnSpc>
              <a:spcBef>
                <a:spcPts val="0"/>
              </a:spcBef>
              <a:buFont typeface="+mj-lt"/>
              <a:buAutoNum type="arabicPeriod"/>
            </a:pPr>
            <a:r>
              <a:rPr lang="mn-MN" altLang="en-US" sz="2000" dirty="0">
                <a:latin typeface="Times New Roman" panose="02020603050405020304" pitchFamily="18" charset="0"/>
                <a:cs typeface="Times New Roman" pitchFamily="18" charset="0"/>
              </a:rPr>
              <a:t>Тасралтгүй ү.а:</a:t>
            </a:r>
            <a:r>
              <a:rPr lang="mn-MN" altLang="en-US" sz="2000" b="1" dirty="0">
                <a:latin typeface="Times New Roman" panose="02020603050405020304" pitchFamily="18" charset="0"/>
                <a:cs typeface="Times New Roman" pitchFamily="18" charset="0"/>
              </a:rPr>
              <a:t> </a:t>
            </a:r>
            <a:r>
              <a:rPr lang="mn-MN" altLang="en-US" sz="2000" dirty="0">
                <a:latin typeface="Times New Roman" panose="02020603050405020304" pitchFamily="18" charset="0"/>
                <a:cs typeface="Times New Roman" pitchFamily="18" charset="0"/>
              </a:rPr>
              <a:t>Өндөр стандарчилагдсан бүтээгдэхүүнийг үйлдвэрлэхэд өргөн хэрэглэнэ.</a:t>
            </a:r>
          </a:p>
          <a:p>
            <a:pPr marL="687388" lvl="1" indent="-342900" algn="just">
              <a:lnSpc>
                <a:spcPct val="100000"/>
              </a:lnSpc>
              <a:spcBef>
                <a:spcPts val="0"/>
              </a:spcBef>
              <a:buFont typeface="+mj-lt"/>
              <a:buAutoNum type="arabicPeriod"/>
            </a:pPr>
            <a:r>
              <a:rPr lang="mn-MN" altLang="en-US" sz="2000" dirty="0">
                <a:latin typeface="Times New Roman" panose="02020603050405020304" pitchFamily="18" charset="0"/>
                <a:cs typeface="Times New Roman" pitchFamily="18" charset="0"/>
              </a:rPr>
              <a:t>Бүтээгдэхүүнийг их хэмжээгээр, дамжлагаар үйлдвэрлэх: Үүнийг ү.а нь хэсэгчилсэн байдлаар тасралтгүй явагддаг үйлдвэрлэл гэж үзнэ. Үүнийг 1 юмуу хоорондоо төстэй бүтээгдэхүүнийг их хэмжээгээр үйлдвэрлэхэд хэрэглэнэ. </a:t>
            </a:r>
          </a:p>
          <a:p>
            <a:pPr marL="687388" lvl="1" indent="-342900" algn="just">
              <a:lnSpc>
                <a:spcPct val="100000"/>
              </a:lnSpc>
              <a:spcBef>
                <a:spcPts val="0"/>
              </a:spcBef>
              <a:buFont typeface="+mj-lt"/>
              <a:buAutoNum type="arabicPeriod"/>
            </a:pPr>
            <a:r>
              <a:rPr lang="mn-MN" altLang="en-US" sz="2000" dirty="0">
                <a:latin typeface="Times New Roman" panose="02020603050405020304" pitchFamily="18" charset="0"/>
                <a:cs typeface="Times New Roman" pitchFamily="18" charset="0"/>
              </a:rPr>
              <a:t>Давталттай үйл ажиллагаа: Өмнө нь үйлдвэрлэсэнтэй адил бүтээгдэхүнийг яг адилхан ү.а-гаар их хэмжээгээр үйлдвэрлэхийг хэлнэ..</a:t>
            </a:r>
          </a:p>
          <a:p>
            <a:pPr marL="687388" lvl="1" indent="-342900" algn="just">
              <a:lnSpc>
                <a:spcPct val="100000"/>
              </a:lnSpc>
              <a:spcBef>
                <a:spcPts val="0"/>
              </a:spcBef>
              <a:buFont typeface="+mj-lt"/>
              <a:buAutoNum type="arabicPeriod"/>
            </a:pPr>
            <a:r>
              <a:rPr lang="mn-MN" altLang="en-US" sz="2000" dirty="0">
                <a:latin typeface="Times New Roman" panose="02020603050405020304" pitchFamily="18" charset="0"/>
                <a:cs typeface="Times New Roman" pitchFamily="18" charset="0"/>
              </a:rPr>
              <a:t>Тасралттай ү.а: Хэрэглэгчийн хүсэлтийн дагуу бага хэмжээгээр, эсвэл багц хэсгээр үйлдвэрлэх ү.а. Ж нь засварын газрын төхөөрөмжийн үйлдвэр, захиалгын хувцасны үйлдвэр. Мөн бүтээгдэхүүн нь том онгоц, усан онгоц г.м-ийн тусгай зохиогдсон зураг төслийн дагуу үйлдвэрлэдэг бүтээгдэхүүн байна.  </a:t>
            </a:r>
          </a:p>
          <a:p>
            <a:pPr marL="230188" indent="-230188" algn="just">
              <a:lnSpc>
                <a:spcPct val="100000"/>
              </a:lnSpc>
              <a:spcBef>
                <a:spcPts val="0"/>
              </a:spcBef>
            </a:pPr>
            <a:r>
              <a:rPr lang="mn-MN" altLang="en-US" sz="2000" dirty="0">
                <a:latin typeface="Times New Roman" panose="02020603050405020304" pitchFamily="18" charset="0"/>
                <a:cs typeface="Times New Roman" pitchFamily="18" charset="0"/>
              </a:rPr>
              <a:t>1-ийн ү.а цөөн ажиллагаатай нэг машинаар гүйцэтгэдэг технологийг өргөн хэрэглэнэ. 3 ба 4 нь дотроо хэд хэдэн үе шатанд хуваагдах ба гол үр дүн нь үйлдвэрлэлийг олон хувилбараар явуулж удирдах боломжтой. </a:t>
            </a:r>
          </a:p>
          <a:p>
            <a:pPr marL="230188" indent="-230188" algn="just">
              <a:lnSpc>
                <a:spcPct val="100000"/>
              </a:lnSpc>
              <a:spcBef>
                <a:spcPts val="0"/>
              </a:spcBef>
            </a:pPr>
            <a:r>
              <a:rPr lang="mn-MN" altLang="en-US" sz="2000" dirty="0">
                <a:latin typeface="Times New Roman" panose="02020603050405020304" pitchFamily="18" charset="0"/>
                <a:cs typeface="Times New Roman" pitchFamily="18" charset="0"/>
              </a:rPr>
              <a:t>ҮА-ны дээрх төрөл, бүтээгдэхүүн үйлдвэрлэлийн хэмжээ 2 хоорондоо нягт холбоотой. Дараах хүснэгтээр илэрхийлье. Хүснэгтийн мөрийн дагуу бүтээгдэхүүнийг үйлдвэрлэх аргыг, багананы дагуу ү.а-ны төрлийг харуулав. ҮА-ны төрөлд гарч байгаа өөрчлөлт нь бүтээгдэхүүн үйлдвэрлэх арга, түүний мөчлөгтэй холбоотой. Ж нь: бүтээгдэхүүнийг дөнгөж үйлдэрлэж эхлэх үед түүний эрэлт бага тул цехийн хэмжээнд үйлдвэрлэдэг. Мөчлөг нь өсч эрэлт нэмэгдэх тусам түүнийг цехийн хэмжээнд үйлдвэрлэх боломжгүй болно. </a:t>
            </a:r>
          </a:p>
        </p:txBody>
      </p:sp>
    </p:spTree>
    <p:extLst>
      <p:ext uri="{BB962C8B-B14F-4D97-AF65-F5344CB8AC3E}">
        <p14:creationId xmlns:p14="http://schemas.microsoft.com/office/powerpoint/2010/main" val="2920864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12358"/>
            <a:ext cx="11700016" cy="362112"/>
          </a:xfrm>
        </p:spPr>
        <p:txBody>
          <a:bodyPr>
            <a:noAutofit/>
          </a:bodyPr>
          <a:lstStyle/>
          <a:p>
            <a:pPr algn="just"/>
            <a:r>
              <a:rPr lang="mn-MN" sz="2000" b="1" dirty="0">
                <a:solidFill>
                  <a:srgbClr val="00B0F0"/>
                </a:solidFill>
                <a:latin typeface="Times New Roman" panose="02020603050405020304" pitchFamily="18" charset="0"/>
                <a:cs typeface="Times New Roman" panose="02020603050405020304" pitchFamily="18" charset="0"/>
              </a:rPr>
              <a:t>2.4. Үйл ажиллагааны </a:t>
            </a:r>
            <a:r>
              <a:rPr lang="en-US" sz="2000" b="1" dirty="0">
                <a:solidFill>
                  <a:srgbClr val="00B0F0"/>
                </a:solidFill>
                <a:latin typeface="Times New Roman" panose="02020603050405020304" pitchFamily="18" charset="0"/>
                <a:cs typeface="Times New Roman" panose="02020603050405020304" pitchFamily="18" charset="0"/>
              </a:rPr>
              <a:t>(</a:t>
            </a:r>
            <a:r>
              <a:rPr lang="mn-MN" sz="2000" b="1" dirty="0">
                <a:solidFill>
                  <a:srgbClr val="00B0F0"/>
                </a:solidFill>
                <a:latin typeface="Times New Roman" panose="02020603050405020304" pitchFamily="18" charset="0"/>
                <a:cs typeface="Times New Roman" panose="02020603050405020304" pitchFamily="18" charset="0"/>
              </a:rPr>
              <a:t>ҮА</a:t>
            </a:r>
            <a:r>
              <a:rPr lang="en-US" sz="2000" b="1" dirty="0">
                <a:solidFill>
                  <a:srgbClr val="00B0F0"/>
                </a:solidFill>
                <a:latin typeface="Times New Roman" panose="02020603050405020304" pitchFamily="18" charset="0"/>
                <a:cs typeface="Times New Roman" panose="02020603050405020304" pitchFamily="18" charset="0"/>
              </a:rPr>
              <a:t>) </a:t>
            </a:r>
            <a:r>
              <a:rPr lang="mn-MN" sz="2000" b="1" dirty="0">
                <a:solidFill>
                  <a:srgbClr val="00B0F0"/>
                </a:solidFill>
                <a:latin typeface="Times New Roman" panose="02020603050405020304" pitchFamily="18" charset="0"/>
                <a:cs typeface="Times New Roman" panose="02020603050405020304" pitchFamily="18" charset="0"/>
              </a:rPr>
              <a:t>ба тоног төхөөрөмжийн сонголт </a:t>
            </a:r>
            <a:r>
              <a:rPr lang="en-US" altLang="en-US" sz="2000" b="1" dirty="0">
                <a:solidFill>
                  <a:srgbClr val="00B0F0"/>
                </a:solidFill>
                <a:latin typeface="Times New Roman" panose="02020603050405020304" pitchFamily="18" charset="0"/>
                <a:cs typeface="Times New Roman" panose="02020603050405020304" pitchFamily="18" charset="0"/>
              </a:rPr>
              <a:t>(4)</a:t>
            </a:r>
            <a:endParaRPr lang="en-US" sz="2000" b="1" dirty="0">
              <a:solidFill>
                <a:srgbClr val="00B0F0"/>
              </a:solidFill>
            </a:endParaRPr>
          </a:p>
        </p:txBody>
      </p:sp>
      <p:sp>
        <p:nvSpPr>
          <p:cNvPr id="3" name="Content Placeholder 2"/>
          <p:cNvSpPr>
            <a:spLocks noGrp="1"/>
          </p:cNvSpPr>
          <p:nvPr>
            <p:ph sz="quarter" idx="13"/>
          </p:nvPr>
        </p:nvSpPr>
        <p:spPr>
          <a:xfrm>
            <a:off x="187184" y="0"/>
            <a:ext cx="11817632" cy="621574"/>
          </a:xfrm>
        </p:spPr>
        <p:txBody>
          <a:bodyPr>
            <a:noAutofit/>
          </a:bodyPr>
          <a:lstStyle/>
          <a:p>
            <a:pPr algn="r">
              <a:lnSpc>
                <a:spcPct val="100000"/>
              </a:lnSpc>
              <a:spcBef>
                <a:spcPts val="0"/>
              </a:spcBef>
            </a:pPr>
            <a:r>
              <a:rPr lang="mn-MN" altLang="en-US" sz="2000" dirty="0">
                <a:latin typeface="Times New Roman" panose="02020603050405020304" pitchFamily="18" charset="0"/>
                <a:cs typeface="Times New Roman" pitchFamily="18" charset="0"/>
              </a:rPr>
              <a:t>Хүснэгт. Үйл ажиллагааны матриц</a:t>
            </a:r>
          </a:p>
        </p:txBody>
      </p:sp>
      <p:graphicFrame>
        <p:nvGraphicFramePr>
          <p:cNvPr id="4" name="Table 4">
            <a:extLst>
              <a:ext uri="{FF2B5EF4-FFF2-40B4-BE49-F238E27FC236}">
                <a16:creationId xmlns:a16="http://schemas.microsoft.com/office/drawing/2014/main" id="{90033765-3032-4B00-8EB6-0A499998EC7E}"/>
              </a:ext>
            </a:extLst>
          </p:cNvPr>
          <p:cNvGraphicFramePr>
            <a:graphicFrameLocks noGrp="1"/>
          </p:cNvGraphicFramePr>
          <p:nvPr>
            <p:extLst>
              <p:ext uri="{D42A27DB-BD31-4B8C-83A1-F6EECF244321}">
                <p14:modId xmlns:p14="http://schemas.microsoft.com/office/powerpoint/2010/main" val="851562873"/>
              </p:ext>
            </p:extLst>
          </p:nvPr>
        </p:nvGraphicFramePr>
        <p:xfrm>
          <a:off x="69568" y="374470"/>
          <a:ext cx="11985392" cy="6345814"/>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1869259710"/>
                    </a:ext>
                  </a:extLst>
                </a:gridCol>
                <a:gridCol w="2377440">
                  <a:extLst>
                    <a:ext uri="{9D8B030D-6E8A-4147-A177-3AD203B41FA5}">
                      <a16:colId xmlns:a16="http://schemas.microsoft.com/office/drawing/2014/main" val="3801051621"/>
                    </a:ext>
                  </a:extLst>
                </a:gridCol>
                <a:gridCol w="2286000">
                  <a:extLst>
                    <a:ext uri="{9D8B030D-6E8A-4147-A177-3AD203B41FA5}">
                      <a16:colId xmlns:a16="http://schemas.microsoft.com/office/drawing/2014/main" val="770014874"/>
                    </a:ext>
                  </a:extLst>
                </a:gridCol>
                <a:gridCol w="2188249">
                  <a:extLst>
                    <a:ext uri="{9D8B030D-6E8A-4147-A177-3AD203B41FA5}">
                      <a16:colId xmlns:a16="http://schemas.microsoft.com/office/drawing/2014/main" val="2076864782"/>
                    </a:ext>
                  </a:extLst>
                </a:gridCol>
                <a:gridCol w="1658983">
                  <a:extLst>
                    <a:ext uri="{9D8B030D-6E8A-4147-A177-3AD203B41FA5}">
                      <a16:colId xmlns:a16="http://schemas.microsoft.com/office/drawing/2014/main" val="77052994"/>
                    </a:ext>
                  </a:extLst>
                </a:gridCol>
                <a:gridCol w="1828800">
                  <a:extLst>
                    <a:ext uri="{9D8B030D-6E8A-4147-A177-3AD203B41FA5}">
                      <a16:colId xmlns:a16="http://schemas.microsoft.com/office/drawing/2014/main" val="2174635099"/>
                    </a:ext>
                  </a:extLst>
                </a:gridCol>
                <a:gridCol w="1188720">
                  <a:extLst>
                    <a:ext uri="{9D8B030D-6E8A-4147-A177-3AD203B41FA5}">
                      <a16:colId xmlns:a16="http://schemas.microsoft.com/office/drawing/2014/main" val="715599753"/>
                    </a:ext>
                  </a:extLst>
                </a:gridCol>
              </a:tblGrid>
              <a:tr h="368970">
                <a:tc gridSpan="2">
                  <a:txBody>
                    <a:bodyPr/>
                    <a:lstStyle/>
                    <a:p>
                      <a:pPr algn="ctr"/>
                      <a:endParaRPr lang="en-US"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I</a:t>
                      </a:r>
                    </a:p>
                  </a:txBody>
                  <a:tcPr anchor="ctr"/>
                </a:tc>
                <a:tc>
                  <a:txBody>
                    <a:bodyPr/>
                    <a:lstStyle/>
                    <a:p>
                      <a:pPr algn="ctr"/>
                      <a:r>
                        <a:rPr lang="en-US" dirty="0">
                          <a:latin typeface="Times New Roman" panose="02020603050405020304" pitchFamily="18" charset="0"/>
                          <a:cs typeface="Times New Roman" panose="02020603050405020304" pitchFamily="18" charset="0"/>
                        </a:rPr>
                        <a:t>II</a:t>
                      </a:r>
                    </a:p>
                  </a:txBody>
                  <a:tcPr anchor="ctr"/>
                </a:tc>
                <a:tc>
                  <a:txBody>
                    <a:bodyPr/>
                    <a:lstStyle/>
                    <a:p>
                      <a:pPr algn="ctr"/>
                      <a:r>
                        <a:rPr lang="en-US" dirty="0">
                          <a:latin typeface="Times New Roman" panose="02020603050405020304" pitchFamily="18" charset="0"/>
                          <a:cs typeface="Times New Roman" panose="02020603050405020304" pitchFamily="18" charset="0"/>
                        </a:rPr>
                        <a:t>III</a:t>
                      </a:r>
                    </a:p>
                  </a:txBody>
                  <a:tcPr anchor="ctr"/>
                </a:tc>
                <a:tc>
                  <a:txBody>
                    <a:bodyPr/>
                    <a:lstStyle/>
                    <a:p>
                      <a:pPr algn="ctr"/>
                      <a:r>
                        <a:rPr lang="en-US" dirty="0">
                          <a:latin typeface="Times New Roman" panose="02020603050405020304" pitchFamily="18" charset="0"/>
                          <a:cs typeface="Times New Roman" panose="02020603050405020304" pitchFamily="18" charset="0"/>
                        </a:rPr>
                        <a:t>IV</a:t>
                      </a:r>
                    </a:p>
                  </a:txBody>
                  <a:tcPr anchor="ctr"/>
                </a:tc>
                <a:tc rowSpan="2">
                  <a:txBody>
                    <a:bodyPr/>
                    <a:lstStyle/>
                    <a:p>
                      <a:pPr algn="ctr"/>
                      <a:r>
                        <a:rPr lang="mn-MN" dirty="0">
                          <a:latin typeface="Times New Roman" panose="02020603050405020304" pitchFamily="18" charset="0"/>
                          <a:cs typeface="Times New Roman" panose="02020603050405020304" pitchFamily="18" charset="0"/>
                        </a:rPr>
                        <a:t>Үр дүнгийн үзүүлэлт</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86665315"/>
                  </a:ext>
                </a:extLst>
              </a:tr>
              <a:tr h="1695322">
                <a:tc gridSpan="2">
                  <a:txBody>
                    <a:bodyPr/>
                    <a:lstStyle/>
                    <a:p>
                      <a:pPr algn="ctr"/>
                      <a:r>
                        <a:rPr lang="mn-MN" dirty="0">
                          <a:latin typeface="Times New Roman" panose="02020603050405020304" pitchFamily="18" charset="0"/>
                          <a:cs typeface="Times New Roman" panose="02020603050405020304" pitchFamily="18" charset="0"/>
                        </a:rPr>
                        <a:t>Үйл ажиллагааны</a:t>
                      </a:r>
                    </a:p>
                    <a:p>
                      <a:pPr algn="ctr"/>
                      <a:r>
                        <a:rPr lang="mn-MN" dirty="0">
                          <a:latin typeface="Times New Roman" panose="02020603050405020304" pitchFamily="18" charset="0"/>
                          <a:cs typeface="Times New Roman" panose="02020603050405020304" pitchFamily="18" charset="0"/>
                        </a:rPr>
                        <a:t>төрөл</a:t>
                      </a:r>
                      <a:endParaRPr lang="en-US" dirty="0">
                        <a:latin typeface="Times New Roman" panose="02020603050405020304" pitchFamily="18" charset="0"/>
                        <a:cs typeface="Times New Roman" panose="02020603050405020304" pitchFamily="18" charset="0"/>
                      </a:endParaRPr>
                    </a:p>
                  </a:txBody>
                  <a:tcPr anchor="ctr"/>
                </a:tc>
                <a:tc hMerge="1">
                  <a:txBody>
                    <a:bodyPr/>
                    <a:lstStyle/>
                    <a:p>
                      <a:pPr algn="ctr"/>
                      <a:r>
                        <a:rPr lang="mn-MN" dirty="0">
                          <a:latin typeface="Times New Roman" panose="02020603050405020304" pitchFamily="18" charset="0"/>
                          <a:cs typeface="Times New Roman" panose="02020603050405020304" pitchFamily="18" charset="0"/>
                        </a:rPr>
                        <a:t>Үйл ажиллагааны төрөл</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mn-MN" dirty="0">
                          <a:latin typeface="Times New Roman" panose="02020603050405020304" pitchFamily="18" charset="0"/>
                          <a:cs typeface="Times New Roman" panose="02020603050405020304" pitchFamily="18" charset="0"/>
                        </a:rPr>
                        <a:t>Бага зэрэг стандартчилагдсан нэг төрлийн бүтээгдэхүүнийг бага хэмжээгээр үйлдвэрлэх</a:t>
                      </a:r>
                      <a:endParaRPr 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mn-MN" dirty="0">
                          <a:latin typeface="Times New Roman" panose="02020603050405020304" pitchFamily="18" charset="0"/>
                          <a:cs typeface="Times New Roman" panose="02020603050405020304" pitchFamily="18" charset="0"/>
                        </a:rPr>
                        <a:t>Олон төрлийн бүтээгдэхүүнийг бага хэмжээгээр үйлдвэрлэх</a:t>
                      </a:r>
                      <a:endParaRPr 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mn-MN" dirty="0">
                          <a:latin typeface="Times New Roman" panose="02020603050405020304" pitchFamily="18" charset="0"/>
                          <a:cs typeface="Times New Roman" panose="02020603050405020304" pitchFamily="18" charset="0"/>
                        </a:rPr>
                        <a:t>Цөөн төрлийн бүтээгдэхүүн-ийг их хэмжээгээр үйлдвэрлэх</a:t>
                      </a:r>
                      <a:endParaRPr 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mn-MN" dirty="0">
                          <a:latin typeface="Times New Roman" panose="02020603050405020304" pitchFamily="18" charset="0"/>
                          <a:cs typeface="Times New Roman" panose="02020603050405020304" pitchFamily="18" charset="0"/>
                        </a:rPr>
                        <a:t>Өндөр чанартай бүтээгдэхүүнийг их хэмжээгээр үйлдвэрлэх</a:t>
                      </a: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r>
                        <a:rPr lang="mn-MN" dirty="0">
                          <a:latin typeface="Times New Roman" panose="02020603050405020304" pitchFamily="18" charset="0"/>
                          <a:cs typeface="Times New Roman" panose="02020603050405020304" pitchFamily="18" charset="0"/>
                        </a:rPr>
                        <a:t>Үр дүнгийн үзүүлэлт</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97438508"/>
                  </a:ext>
                </a:extLst>
              </a:tr>
              <a:tr h="600313">
                <a:tc>
                  <a:txBody>
                    <a:bodyPr/>
                    <a:lstStyle/>
                    <a:p>
                      <a:pPr algn="ctr"/>
                      <a:r>
                        <a:rPr lang="en-US" dirty="0">
                          <a:latin typeface="Times New Roman" panose="02020603050405020304" pitchFamily="18" charset="0"/>
                          <a:cs typeface="Times New Roman" panose="02020603050405020304" pitchFamily="18" charset="0"/>
                        </a:rPr>
                        <a:t>I</a:t>
                      </a:r>
                    </a:p>
                  </a:txBody>
                  <a:tcPr anchor="ctr"/>
                </a:tc>
                <a:tc>
                  <a:txBody>
                    <a:bodyPr/>
                    <a:lstStyle/>
                    <a:p>
                      <a:pPr algn="ctr"/>
                      <a:r>
                        <a:rPr lang="mn-MN" dirty="0">
                          <a:latin typeface="Times New Roman" panose="02020603050405020304" pitchFamily="18" charset="0"/>
                          <a:cs typeface="Times New Roman" panose="02020603050405020304" pitchFamily="18" charset="0"/>
                        </a:rPr>
                        <a:t>Үйлдвэрлэлийн нэгж хэсэг</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mn-MN" dirty="0">
                          <a:latin typeface="Times New Roman" panose="02020603050405020304" pitchFamily="18" charset="0"/>
                          <a:cs typeface="Times New Roman" panose="02020603050405020304" pitchFamily="18" charset="0"/>
                        </a:rPr>
                        <a:t>Хэвлэлийн үйлдвэр</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a:latin typeface="Times New Roman" panose="02020603050405020304" pitchFamily="18" charset="0"/>
                        <a:cs typeface="Times New Roman" panose="02020603050405020304" pitchFamily="18" charset="0"/>
                      </a:endParaRPr>
                    </a:p>
                  </a:txBody>
                  <a:tcPr anchor="ctr"/>
                </a:tc>
                <a:tc>
                  <a:txBody>
                    <a:bodyPr/>
                    <a:lstStyle/>
                    <a:p>
                      <a:pPr algn="ctr"/>
                      <a:endParaRPr lang="en-US">
                        <a:latin typeface="Times New Roman" panose="02020603050405020304" pitchFamily="18" charset="0"/>
                        <a:cs typeface="Times New Roman" panose="02020603050405020304" pitchFamily="18" charset="0"/>
                      </a:endParaRPr>
                    </a:p>
                  </a:txBody>
                  <a:tcPr anchor="ct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mn-MN" sz="2000" dirty="0">
                          <a:latin typeface="Times New Roman" panose="02020603050405020304" pitchFamily="18" charset="0"/>
                          <a:cs typeface="Times New Roman" panose="02020603050405020304" pitchFamily="18" charset="0"/>
                        </a:rPr>
                        <a:t>Уян хатан байдал ба чанар сайжирна</a:t>
                      </a:r>
                    </a:p>
                    <a:p>
                      <a:pPr marL="0" marR="0" lvl="0" indent="0" algn="ctr" defTabSz="914400" rtl="0" eaLnBrk="1" fontAlgn="auto" latinLnBrk="0" hangingPunct="1">
                        <a:lnSpc>
                          <a:spcPct val="100000"/>
                        </a:lnSpc>
                        <a:spcBef>
                          <a:spcPts val="0"/>
                        </a:spcBef>
                        <a:spcAft>
                          <a:spcPts val="0"/>
                        </a:spcAft>
                        <a:buClrTx/>
                        <a:buSzTx/>
                        <a:buFontTx/>
                        <a:buNone/>
                        <a:tabLst/>
                        <a:defRPr/>
                      </a:pPr>
                      <a:r>
                        <a:rPr lang="mn-MN" sz="2800" dirty="0">
                          <a:latin typeface="Times New Roman" panose="02020603050405020304" pitchFamily="18" charset="0"/>
                          <a:cs typeface="Times New Roman" panose="02020603050405020304" pitchFamily="18" charset="0"/>
                          <a:sym typeface="Symbol" panose="05050102010706020507" pitchFamily="18" charset="2"/>
                        </a:rPr>
                        <a:t></a:t>
                      </a:r>
                      <a:r>
                        <a:rPr lang="mn-MN" sz="18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vert="vert" anchor="ctr"/>
                </a:tc>
                <a:extLst>
                  <a:ext uri="{0D108BD9-81ED-4DB2-BD59-A6C34878D82A}">
                    <a16:rowId xmlns:a16="http://schemas.microsoft.com/office/drawing/2014/main" val="565816040"/>
                  </a:ext>
                </a:extLst>
              </a:tr>
              <a:tr h="768308">
                <a:tc>
                  <a:txBody>
                    <a:bodyPr/>
                    <a:lstStyle/>
                    <a:p>
                      <a:pPr algn="ctr"/>
                      <a:r>
                        <a:rPr lang="en-US" dirty="0">
                          <a:latin typeface="Times New Roman" panose="02020603050405020304" pitchFamily="18" charset="0"/>
                          <a:cs typeface="Times New Roman" panose="02020603050405020304" pitchFamily="18" charset="0"/>
                        </a:rPr>
                        <a:t>II</a:t>
                      </a:r>
                    </a:p>
                  </a:txBody>
                  <a:tcPr anchor="ctr"/>
                </a:tc>
                <a:tc>
                  <a:txBody>
                    <a:bodyPr/>
                    <a:lstStyle/>
                    <a:p>
                      <a:pPr algn="ctr"/>
                      <a:r>
                        <a:rPr lang="mn-MN" dirty="0">
                          <a:latin typeface="Times New Roman" panose="02020603050405020304" pitchFamily="18" charset="0"/>
                          <a:cs typeface="Times New Roman" panose="02020603050405020304" pitchFamily="18" charset="0"/>
                        </a:rPr>
                        <a:t>Нэгдсэн биш шугам дээр бүтээгдэхүүнийг үйлдвэрлэх</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mn-MN" dirty="0">
                          <a:latin typeface="Times New Roman" panose="02020603050405020304" pitchFamily="18" charset="0"/>
                          <a:cs typeface="Times New Roman" panose="02020603050405020304" pitchFamily="18" charset="0"/>
                        </a:rPr>
                        <a:t>Хүнд аж үйлдвэрийн тоног төхөөрөмж үйлдвэрлэх</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09838436"/>
                  </a:ext>
                </a:extLst>
              </a:tr>
              <a:tr h="736802">
                <a:tc>
                  <a:txBody>
                    <a:bodyPr/>
                    <a:lstStyle/>
                    <a:p>
                      <a:pPr algn="ctr"/>
                      <a:r>
                        <a:rPr lang="en-US" dirty="0">
                          <a:latin typeface="Times New Roman" panose="02020603050405020304" pitchFamily="18" charset="0"/>
                          <a:cs typeface="Times New Roman" panose="02020603050405020304" pitchFamily="18" charset="0"/>
                        </a:rPr>
                        <a:t>III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mn-MN" dirty="0">
                          <a:latin typeface="Times New Roman" panose="02020603050405020304" pitchFamily="18" charset="0"/>
                          <a:cs typeface="Times New Roman" panose="02020603050405020304" pitchFamily="18" charset="0"/>
                        </a:rPr>
                        <a:t>Нэгдсэн  шугам дээр бүтээгдэхүүнийг үйлдвэрлэх</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mn-MN" dirty="0">
                          <a:latin typeface="Times New Roman" panose="02020603050405020304" pitchFamily="18" charset="0"/>
                          <a:cs typeface="Times New Roman" panose="02020603050405020304" pitchFamily="18" charset="0"/>
                        </a:rPr>
                        <a:t>Автомашины үйлдвэр</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98980705"/>
                  </a:ext>
                </a:extLst>
              </a:tr>
              <a:tr h="917164">
                <a:tc>
                  <a:txBody>
                    <a:bodyPr/>
                    <a:lstStyle/>
                    <a:p>
                      <a:pPr algn="ctr"/>
                      <a:r>
                        <a:rPr lang="en-US" dirty="0">
                          <a:latin typeface="Times New Roman" panose="02020603050405020304" pitchFamily="18" charset="0"/>
                          <a:cs typeface="Times New Roman" panose="02020603050405020304" pitchFamily="18" charset="0"/>
                        </a:rPr>
                        <a:t>IV</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mn-MN" dirty="0">
                          <a:latin typeface="Times New Roman" panose="02020603050405020304" pitchFamily="18" charset="0"/>
                          <a:cs typeface="Times New Roman" panose="02020603050405020304" pitchFamily="18" charset="0"/>
                        </a:rPr>
                        <a:t>Бүтээгдэхүүнийг тасралтгүй үйлдвэрлэх</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mn-MN" dirty="0">
                          <a:latin typeface="Times New Roman" panose="02020603050405020304" pitchFamily="18" charset="0"/>
                          <a:cs typeface="Times New Roman" panose="02020603050405020304" pitchFamily="18" charset="0"/>
                        </a:rPr>
                        <a:t>Чихрийн үйлдвэр</a:t>
                      </a: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95132536"/>
                  </a:ext>
                </a:extLst>
              </a:tr>
              <a:tr h="368970">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gridSpan="5">
                  <a:txBody>
                    <a:bodyPr/>
                    <a:lstStyle/>
                    <a:p>
                      <a:pPr algn="ctr"/>
                      <a:r>
                        <a:rPr lang="mn-MN" sz="2000" dirty="0">
                          <a:latin typeface="Times New Roman" panose="02020603050405020304" pitchFamily="18" charset="0"/>
                          <a:cs typeface="Times New Roman" panose="02020603050405020304" pitchFamily="18" charset="0"/>
                        </a:rPr>
                        <a:t>Уян хатан байдал ба чанар сайжирна  </a:t>
                      </a:r>
                      <a:r>
                        <a:rPr lang="mn-MN" sz="2400" dirty="0">
                          <a:latin typeface="Times New Roman" panose="02020603050405020304" pitchFamily="18" charset="0"/>
                          <a:cs typeface="Times New Roman" panose="02020603050405020304" pitchFamily="18" charset="0"/>
                        </a:rPr>
                        <a:t> </a:t>
                      </a:r>
                      <a:r>
                        <a:rPr lang="mn-MN" sz="3200" dirty="0">
                          <a:latin typeface="Times New Roman" panose="02020603050405020304" pitchFamily="18" charset="0"/>
                          <a:cs typeface="Times New Roman" panose="02020603050405020304" pitchFamily="18" charset="0"/>
                          <a:sym typeface="Symbol" panose="05050102010706020507" pitchFamily="18" charset="2"/>
                        </a:rPr>
                        <a:t></a:t>
                      </a:r>
                      <a:r>
                        <a:rPr lang="mn-M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26569343"/>
                  </a:ext>
                </a:extLst>
              </a:tr>
            </a:tbl>
          </a:graphicData>
        </a:graphic>
      </p:graphicFrame>
    </p:spTree>
    <p:extLst>
      <p:ext uri="{BB962C8B-B14F-4D97-AF65-F5344CB8AC3E}">
        <p14:creationId xmlns:p14="http://schemas.microsoft.com/office/powerpoint/2010/main" val="1101321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12357"/>
            <a:ext cx="11700016" cy="374469"/>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2.4. Үйл ажиллагааны </a:t>
            </a:r>
            <a:r>
              <a:rPr lang="en-US" sz="2400" b="1" dirty="0">
                <a:solidFill>
                  <a:srgbClr val="00B0F0"/>
                </a:solidFill>
                <a:latin typeface="Times New Roman" panose="02020603050405020304" pitchFamily="18" charset="0"/>
                <a:cs typeface="Times New Roman" panose="02020603050405020304" pitchFamily="18" charset="0"/>
              </a:rPr>
              <a:t>(</a:t>
            </a:r>
            <a:r>
              <a:rPr lang="mn-MN" sz="2400" b="1" dirty="0">
                <a:solidFill>
                  <a:srgbClr val="00B0F0"/>
                </a:solidFill>
                <a:latin typeface="Times New Roman" panose="02020603050405020304" pitchFamily="18" charset="0"/>
                <a:cs typeface="Times New Roman" panose="02020603050405020304" pitchFamily="18" charset="0"/>
              </a:rPr>
              <a:t>ҮА</a:t>
            </a:r>
            <a:r>
              <a:rPr lang="en-US" sz="2400" b="1" dirty="0">
                <a:solidFill>
                  <a:srgbClr val="00B0F0"/>
                </a:solidFill>
                <a:latin typeface="Times New Roman" panose="02020603050405020304" pitchFamily="18" charset="0"/>
                <a:cs typeface="Times New Roman" panose="02020603050405020304" pitchFamily="18" charset="0"/>
              </a:rPr>
              <a:t>) </a:t>
            </a:r>
            <a:r>
              <a:rPr lang="mn-MN" sz="2400" b="1" dirty="0">
                <a:solidFill>
                  <a:srgbClr val="00B0F0"/>
                </a:solidFill>
                <a:latin typeface="Times New Roman" panose="02020603050405020304" pitchFamily="18" charset="0"/>
                <a:cs typeface="Times New Roman" panose="02020603050405020304" pitchFamily="18" charset="0"/>
              </a:rPr>
              <a:t>ба тоног төхөөрөмжийн сонголт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5</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p:sp>
        <p:nvSpPr>
          <p:cNvPr id="3" name="Content Placeholder 2"/>
          <p:cNvSpPr>
            <a:spLocks noGrp="1"/>
          </p:cNvSpPr>
          <p:nvPr>
            <p:ph sz="quarter" idx="13"/>
          </p:nvPr>
        </p:nvSpPr>
        <p:spPr>
          <a:xfrm>
            <a:off x="69568" y="374469"/>
            <a:ext cx="11817632" cy="6322422"/>
          </a:xfrm>
        </p:spPr>
        <p:txBody>
          <a:bodyPr>
            <a:noAutofit/>
          </a:bodyPr>
          <a:lstStyle/>
          <a:p>
            <a:pPr algn="just">
              <a:lnSpc>
                <a:spcPct val="100000"/>
              </a:lnSpc>
              <a:spcBef>
                <a:spcPts val="0"/>
              </a:spcBef>
            </a:pPr>
            <a:r>
              <a:rPr lang="mn-MN" altLang="en-US" sz="2000" dirty="0">
                <a:latin typeface="Times New Roman" panose="02020603050405020304" pitchFamily="18" charset="0"/>
                <a:cs typeface="Times New Roman" pitchFamily="18" charset="0"/>
              </a:rPr>
              <a:t>Хүснэгтийн дотор нүдэнд ү.а явуулах үйлдвэрийн төрлийг харуулсан. Эдгээр үйлдвэрийн газрууд матрицын дотор талд өөр өөр байрлалыг сонгох боломжтой. Бүтээгдэхүүн-үйл ажиллагааны матриц дээр автомашины үйлдвэрлэлийг 3-р мөр, 3-р багананы огтолцол дээр байрлуулсан байна. 3-р мөр, 2-р багананы огтолцол дээр байрлуулбал үйлдвэрлэх бүтээгдэхүүний хэмжээ өмнөх сонголтын үеийнхээс бага боллоо гэдгийг харуулна. Учир нь бүтээгдэхүүнийг нэгдмэл биш шугаман дээр үйлдвэрлэх үед үйлдвэрлэх хурд, шугамын бүтээмж нэгдсэн шугам дээр үйлдвэрлэсэнээс үйлдвэрлэсэнээс бага байна. Түрүүчийн байрлал дээр байрлуулахад ү.а нь 1 дор явагдаж, хяналт тавих, бүтээгдэхүүний чанарыг сайжруулах боломжтой болно. Ийм шинжилгээг дээрхи матрицыг ашиглан хийх боломжтой. Иймд үйлдвэрлэлийн менежер бүтээгдэхүүний үйлдвэрлэл мөчлөгийнхөө аль шатанд байгаа, одоо аль шатанд шилжих бэ гэдгиийг харгалзан ү.а-г сонгоно. Зарим бүтээгдэхүүний эрэлт тодорхой түвшинд хүрээд нэмэгддэггүй буурч болдог. Ийм учраас менжер хүн үйлдвэрлэлийн ү.а-нд өөрчлөлт оруулах шаардлага байгаа эсэхийг дээрхи онцлогийг харгалзан үзэж зөв шийдвэрлэх үүрэгтэй. </a:t>
            </a:r>
          </a:p>
          <a:p>
            <a:pPr algn="just">
              <a:lnSpc>
                <a:spcPct val="100000"/>
              </a:lnSpc>
              <a:spcBef>
                <a:spcPts val="0"/>
              </a:spcBef>
            </a:pPr>
            <a:r>
              <a:rPr lang="mn-MN" altLang="en-US" sz="2000" dirty="0">
                <a:latin typeface="Times New Roman" panose="02020603050405020304" pitchFamily="18" charset="0"/>
                <a:cs typeface="Times New Roman" pitchFamily="18" charset="0"/>
              </a:rPr>
              <a:t>Орчин үед бүтээгдэхүүний үйлдвэрлэл өсч, ү.а нарийсах тусам түүнийг автоматжуулах, роботжуулах, компьютержүүлэх шаардлага өсч байна. Автоматжуулалт олон давуу талтай </a:t>
            </a:r>
            <a:r>
              <a:rPr lang="en-US" altLang="en-US" sz="2000" dirty="0">
                <a:latin typeface="Times New Roman" panose="02020603050405020304" pitchFamily="18" charset="0"/>
                <a:cs typeface="Times New Roman" pitchFamily="18" charset="0"/>
              </a:rPr>
              <a:t>(</a:t>
            </a:r>
            <a:r>
              <a:rPr lang="mn-MN" altLang="en-US" sz="2000" dirty="0">
                <a:latin typeface="Times New Roman" panose="02020603050405020304" pitchFamily="18" charset="0"/>
                <a:cs typeface="Times New Roman" pitchFamily="18" charset="0"/>
              </a:rPr>
              <a:t>стандарт, гүйцэтгэл, чанар сайжирна, цалин нэмэх, хөдөлмөрийн нөхцөлийн маргаан гарахгүй г.м</a:t>
            </a:r>
            <a:r>
              <a:rPr lang="en-US" altLang="en-US" sz="2000" dirty="0">
                <a:latin typeface="Times New Roman" panose="02020603050405020304" pitchFamily="18" charset="0"/>
                <a:cs typeface="Times New Roman" pitchFamily="18" charset="0"/>
              </a:rPr>
              <a:t>)</a:t>
            </a:r>
            <a:r>
              <a:rPr lang="mn-MN" altLang="en-US" sz="2000" dirty="0">
                <a:latin typeface="Times New Roman" panose="02020603050405020304" pitchFamily="18" charset="0"/>
                <a:cs typeface="Times New Roman" pitchFamily="18" charset="0"/>
              </a:rPr>
              <a:t>, дутагдалтай тал: а. Автаматжуулалт маш өндөр зардалтай., б. Заримдаа уян хатан биш., в. Улсын ажилгүйдлийн түвшинг нэмэгдэнэ. Иймд сөрөг үр дагаварыг тооцож, урьдчилан арга хэмжээ авах хэрэгтэй. Жишээ нь: 1980-аад оны үед Женерал моторс автоматжуулалтанд ихээхэн хөрөнгө зарцуулсан боловч үйлдвэрлэлийн уян хатан ажиллагаа алдагдаж, бүтээмжийг асар их өртөг зардалаар нэмэгдүүлэхэд хүргэсэн. Хэрэгцээнээс илүү бүтээгдэхүүн үйлдвэрлэсэн. </a:t>
            </a:r>
          </a:p>
        </p:txBody>
      </p:sp>
    </p:spTree>
    <p:extLst>
      <p:ext uri="{BB962C8B-B14F-4D97-AF65-F5344CB8AC3E}">
        <p14:creationId xmlns:p14="http://schemas.microsoft.com/office/powerpoint/2010/main" val="1080269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12357"/>
            <a:ext cx="11700016" cy="374469"/>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2.4. Үйл ажиллагааны </a:t>
            </a:r>
            <a:r>
              <a:rPr lang="en-US" sz="2400" b="1" dirty="0">
                <a:solidFill>
                  <a:srgbClr val="00B0F0"/>
                </a:solidFill>
                <a:latin typeface="Times New Roman" panose="02020603050405020304" pitchFamily="18" charset="0"/>
                <a:cs typeface="Times New Roman" panose="02020603050405020304" pitchFamily="18" charset="0"/>
              </a:rPr>
              <a:t>(</a:t>
            </a:r>
            <a:r>
              <a:rPr lang="mn-MN" sz="2400" b="1" dirty="0">
                <a:solidFill>
                  <a:srgbClr val="00B0F0"/>
                </a:solidFill>
                <a:latin typeface="Times New Roman" panose="02020603050405020304" pitchFamily="18" charset="0"/>
                <a:cs typeface="Times New Roman" panose="02020603050405020304" pitchFamily="18" charset="0"/>
              </a:rPr>
              <a:t>ҮА</a:t>
            </a:r>
            <a:r>
              <a:rPr lang="en-US" sz="2400" b="1" dirty="0">
                <a:solidFill>
                  <a:srgbClr val="00B0F0"/>
                </a:solidFill>
                <a:latin typeface="Times New Roman" panose="02020603050405020304" pitchFamily="18" charset="0"/>
                <a:cs typeface="Times New Roman" panose="02020603050405020304" pitchFamily="18" charset="0"/>
              </a:rPr>
              <a:t>) </a:t>
            </a:r>
            <a:r>
              <a:rPr lang="mn-MN" sz="2400" b="1" dirty="0">
                <a:solidFill>
                  <a:srgbClr val="00B0F0"/>
                </a:solidFill>
                <a:latin typeface="Times New Roman" panose="02020603050405020304" pitchFamily="18" charset="0"/>
                <a:cs typeface="Times New Roman" panose="02020603050405020304" pitchFamily="18" charset="0"/>
              </a:rPr>
              <a:t>ба тоног төхөөрөмжийн сонголт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6</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p:sp>
        <p:nvSpPr>
          <p:cNvPr id="3" name="Content Placeholder 2"/>
          <p:cNvSpPr>
            <a:spLocks noGrp="1"/>
          </p:cNvSpPr>
          <p:nvPr>
            <p:ph sz="quarter" idx="13"/>
          </p:nvPr>
        </p:nvSpPr>
        <p:spPr>
          <a:xfrm>
            <a:off x="5111931" y="386826"/>
            <a:ext cx="6892885" cy="6322422"/>
          </a:xfrm>
        </p:spPr>
        <p:txBody>
          <a:bodyPr>
            <a:noAutofit/>
          </a:bodyPr>
          <a:lstStyle/>
          <a:p>
            <a:pPr algn="just">
              <a:lnSpc>
                <a:spcPct val="100000"/>
              </a:lnSpc>
              <a:spcBef>
                <a:spcPts val="0"/>
              </a:spcBef>
            </a:pPr>
            <a:r>
              <a:rPr lang="mn-MN" altLang="en-US" sz="2000" dirty="0">
                <a:latin typeface="Times New Roman" panose="02020603050405020304" pitchFamily="18" charset="0"/>
                <a:cs typeface="Times New Roman" pitchFamily="18" charset="0"/>
              </a:rPr>
              <a:t>Ү.А ба тоног төхөөрөмжийн сонголт хийхэд өргөн хэрэглэгддэг нэг арга бол огтолцлын цэгийн шинжилгээний арга </a:t>
            </a:r>
            <a:r>
              <a:rPr lang="en-US" altLang="en-US" sz="2000" dirty="0">
                <a:latin typeface="Times New Roman" panose="02020603050405020304" pitchFamily="18" charset="0"/>
                <a:cs typeface="Times New Roman" pitchFamily="18" charset="0"/>
              </a:rPr>
              <a:t>(</a:t>
            </a:r>
            <a:r>
              <a:rPr lang="mn-MN" altLang="en-US" sz="2000" dirty="0">
                <a:latin typeface="Times New Roman" panose="02020603050405020304" pitchFamily="18" charset="0"/>
                <a:cs typeface="Times New Roman" pitchFamily="18" charset="0"/>
              </a:rPr>
              <a:t>ОЦША</a:t>
            </a:r>
            <a:r>
              <a:rPr lang="en-US" altLang="en-US" sz="2000" dirty="0">
                <a:latin typeface="Times New Roman" panose="02020603050405020304" pitchFamily="18" charset="0"/>
                <a:cs typeface="Times New Roman" pitchFamily="18" charset="0"/>
              </a:rPr>
              <a:t>) </a:t>
            </a:r>
            <a:r>
              <a:rPr lang="mn-MN" altLang="en-US" sz="2000" dirty="0">
                <a:latin typeface="Times New Roman" panose="02020603050405020304" pitchFamily="18" charset="0"/>
                <a:cs typeface="Times New Roman" pitchFamily="18" charset="0"/>
              </a:rPr>
              <a:t>юм.  Энэ нь үйлдвэрлэх бүтээгдэхүүний хэмжээнээс ашиг алдагдлийн хэмжээ хэрхэн хамаарахыг харуулдаг. Ялангуяа ү.а ба тоног төхөөрөмж нь их хөрөнгө оруулалт шаардаж байгаа үед хувьсах зардал нь бүтээгдэхүүний хэмжээнээс хамааран өөрчлөгдөх зүй тогтолтой байвал</a:t>
            </a:r>
            <a:r>
              <a:rPr lang="en-US" altLang="en-US" sz="2000" dirty="0">
                <a:latin typeface="Times New Roman" panose="02020603050405020304" pitchFamily="18" charset="0"/>
                <a:cs typeface="Times New Roman" pitchFamily="18" charset="0"/>
              </a:rPr>
              <a:t> </a:t>
            </a:r>
            <a:r>
              <a:rPr lang="mn-MN" altLang="en-US" sz="2000" dirty="0">
                <a:latin typeface="Times New Roman" panose="02020603050405020304" pitchFamily="18" charset="0"/>
                <a:cs typeface="Times New Roman" pitchFamily="18" charset="0"/>
              </a:rPr>
              <a:t>ОЦША-г хэрэглэх нь тохиромжтой байдаг.</a:t>
            </a:r>
          </a:p>
          <a:p>
            <a:pPr algn="just">
              <a:lnSpc>
                <a:spcPct val="100000"/>
              </a:lnSpc>
              <a:spcBef>
                <a:spcPts val="0"/>
              </a:spcBef>
            </a:pPr>
            <a:r>
              <a:rPr lang="mn-MN" altLang="en-US" sz="2000" dirty="0">
                <a:latin typeface="Times New Roman" panose="02020603050405020304" pitchFamily="18" charset="0"/>
                <a:cs typeface="Times New Roman" pitchFamily="18" charset="0"/>
              </a:rPr>
              <a:t>Жишээлбэл, иж бүрэн ажиллагаатай төв худалдан авахад 20 сая төгрөг, тусгай зориулалтын машинуудыг тус тусад нь худалдан авахад 10 сая төгрөгний хөрөнгө оруулалтын зардал шаардлагатай. Иж бүрэн ажиллагаатай төв худалдан авахад нэгж бүтээгдэхүүн бүрд 75 төгрөгний хувьсах зардал, тусгай зориулалтын машин худалдан авч засварын цех ажиллуулахад нэгж бүтээгдэхүүн үйлдвэрлэхэд 150 төгрөгний зардал гарна гэвэл сонголтыг график дээрх огтолцолын цэгээс хамааруулан хийнэ. </a:t>
            </a:r>
          </a:p>
        </p:txBody>
      </p:sp>
      <p:cxnSp>
        <p:nvCxnSpPr>
          <p:cNvPr id="5" name="Straight Arrow Connector 4">
            <a:extLst>
              <a:ext uri="{FF2B5EF4-FFF2-40B4-BE49-F238E27FC236}">
                <a16:creationId xmlns:a16="http://schemas.microsoft.com/office/drawing/2014/main" id="{1B4A91D7-6508-41C7-8B25-A4E569DD6B52}"/>
              </a:ext>
            </a:extLst>
          </p:cNvPr>
          <p:cNvCxnSpPr>
            <a:cxnSpLocks/>
          </p:cNvCxnSpPr>
          <p:nvPr/>
        </p:nvCxnSpPr>
        <p:spPr>
          <a:xfrm flipV="1">
            <a:off x="808074" y="648585"/>
            <a:ext cx="0" cy="2780415"/>
          </a:xfrm>
          <a:prstGeom prst="straightConnector1">
            <a:avLst/>
          </a:prstGeom>
          <a:ln w="34925">
            <a:tailEnd type="stealth" w="lg" len="lg"/>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D63893A-8665-4942-8F80-1A92F68A671D}"/>
              </a:ext>
            </a:extLst>
          </p:cNvPr>
          <p:cNvCxnSpPr>
            <a:cxnSpLocks/>
          </p:cNvCxnSpPr>
          <p:nvPr/>
        </p:nvCxnSpPr>
        <p:spPr>
          <a:xfrm>
            <a:off x="799365" y="3411582"/>
            <a:ext cx="3702966" cy="0"/>
          </a:xfrm>
          <a:prstGeom prst="straightConnector1">
            <a:avLst/>
          </a:prstGeom>
          <a:ln w="34925">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F1A6235-78E5-451E-9593-807550933FE3}"/>
              </a:ext>
            </a:extLst>
          </p:cNvPr>
          <p:cNvCxnSpPr>
            <a:cxnSpLocks/>
          </p:cNvCxnSpPr>
          <p:nvPr/>
        </p:nvCxnSpPr>
        <p:spPr>
          <a:xfrm flipV="1">
            <a:off x="808074" y="1480353"/>
            <a:ext cx="2603866" cy="1491447"/>
          </a:xfrm>
          <a:prstGeom prst="straightConnector1">
            <a:avLst/>
          </a:prstGeom>
          <a:ln w="15875">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7E7D57D-1EA5-4965-8416-437E8F90663B}"/>
              </a:ext>
            </a:extLst>
          </p:cNvPr>
          <p:cNvCxnSpPr>
            <a:cxnSpLocks/>
          </p:cNvCxnSpPr>
          <p:nvPr/>
        </p:nvCxnSpPr>
        <p:spPr>
          <a:xfrm flipV="1">
            <a:off x="808074" y="2038792"/>
            <a:ext cx="2842702" cy="407728"/>
          </a:xfrm>
          <a:prstGeom prst="straightConnector1">
            <a:avLst/>
          </a:prstGeom>
          <a:ln w="15875">
            <a:prstDash val="lgDashDot"/>
            <a:tailEnd type="none" w="lg" len="lg"/>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BC538F0C-DCE1-47EF-A1A4-913ED00C4E4A}"/>
              </a:ext>
            </a:extLst>
          </p:cNvPr>
          <p:cNvSpPr txBox="1">
            <a:spLocks/>
          </p:cNvSpPr>
          <p:nvPr/>
        </p:nvSpPr>
        <p:spPr>
          <a:xfrm>
            <a:off x="1017777" y="4008519"/>
            <a:ext cx="3664156" cy="71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800" b="1" dirty="0">
                <a:solidFill>
                  <a:srgbClr val="0000FF"/>
                </a:solidFill>
                <a:latin typeface="Times New Roman" pitchFamily="18" charset="0"/>
                <a:cs typeface="Times New Roman" pitchFamily="18" charset="0"/>
              </a:rPr>
              <a:t>Зураг. </a:t>
            </a:r>
            <a:r>
              <a:rPr lang="mn-MN" altLang="en-US" sz="1800" i="1" dirty="0">
                <a:latin typeface="Times New Roman" panose="02020603050405020304" pitchFamily="18" charset="0"/>
                <a:cs typeface="Times New Roman" pitchFamily="18" charset="0"/>
              </a:rPr>
              <a:t>Огтолцлын цэгийн шинжилгээний арга</a:t>
            </a:r>
            <a:endParaRPr lang="mn-MN" sz="1800" i="1" dirty="0">
              <a:latin typeface="Times New Roman" panose="02020603050405020304" pitchFamily="18" charset="0"/>
              <a:cs typeface="Times New Roman" pitchFamily="18" charset="0"/>
            </a:endParaRPr>
          </a:p>
        </p:txBody>
      </p:sp>
      <p:sp>
        <p:nvSpPr>
          <p:cNvPr id="20" name="Content Placeholder 2">
            <a:extLst>
              <a:ext uri="{FF2B5EF4-FFF2-40B4-BE49-F238E27FC236}">
                <a16:creationId xmlns:a16="http://schemas.microsoft.com/office/drawing/2014/main" id="{F5BFEB58-DA7F-40B6-B17C-A03BB136825A}"/>
              </a:ext>
            </a:extLst>
          </p:cNvPr>
          <p:cNvSpPr txBox="1">
            <a:spLocks/>
          </p:cNvSpPr>
          <p:nvPr/>
        </p:nvSpPr>
        <p:spPr>
          <a:xfrm>
            <a:off x="2396610" y="2456585"/>
            <a:ext cx="1561266" cy="4077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600" dirty="0">
                <a:latin typeface="Times New Roman" pitchFamily="18" charset="0"/>
                <a:cs typeface="Times New Roman" pitchFamily="18" charset="0"/>
              </a:rPr>
              <a:t>Механикжсан төв</a:t>
            </a:r>
            <a:endParaRPr lang="mn-MN" sz="1600" i="1" dirty="0">
              <a:latin typeface="Times New Roman" panose="02020603050405020304" pitchFamily="18" charset="0"/>
              <a:cs typeface="Times New Roman" pitchFamily="18" charset="0"/>
            </a:endParaRPr>
          </a:p>
        </p:txBody>
      </p:sp>
      <p:sp>
        <p:nvSpPr>
          <p:cNvPr id="21" name="Content Placeholder 2">
            <a:extLst>
              <a:ext uri="{FF2B5EF4-FFF2-40B4-BE49-F238E27FC236}">
                <a16:creationId xmlns:a16="http://schemas.microsoft.com/office/drawing/2014/main" id="{0D9B26D9-4C59-4F2F-A534-7276C2385ACB}"/>
              </a:ext>
            </a:extLst>
          </p:cNvPr>
          <p:cNvSpPr txBox="1">
            <a:spLocks/>
          </p:cNvSpPr>
          <p:nvPr/>
        </p:nvSpPr>
        <p:spPr>
          <a:xfrm>
            <a:off x="1986062" y="716427"/>
            <a:ext cx="2593355" cy="71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600" dirty="0">
                <a:latin typeface="Times New Roman" panose="02020603050405020304" pitchFamily="18" charset="0"/>
                <a:cs typeface="Times New Roman" pitchFamily="18" charset="0"/>
              </a:rPr>
              <a:t>тусгай зориулалтын машин ашиглан байгуулсан төв</a:t>
            </a:r>
            <a:endParaRPr lang="mn-MN" sz="1600" i="1" dirty="0">
              <a:latin typeface="Times New Roman" panose="02020603050405020304" pitchFamily="18" charset="0"/>
              <a:cs typeface="Times New Roman" pitchFamily="18" charset="0"/>
            </a:endParaRPr>
          </a:p>
        </p:txBody>
      </p:sp>
      <p:sp>
        <p:nvSpPr>
          <p:cNvPr id="22" name="Content Placeholder 2">
            <a:extLst>
              <a:ext uri="{FF2B5EF4-FFF2-40B4-BE49-F238E27FC236}">
                <a16:creationId xmlns:a16="http://schemas.microsoft.com/office/drawing/2014/main" id="{F2612E5E-7DA7-495F-B0C6-04AC812F9923}"/>
              </a:ext>
            </a:extLst>
          </p:cNvPr>
          <p:cNvSpPr txBox="1">
            <a:spLocks/>
          </p:cNvSpPr>
          <p:nvPr/>
        </p:nvSpPr>
        <p:spPr>
          <a:xfrm>
            <a:off x="3490573" y="3439066"/>
            <a:ext cx="1621358" cy="4077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600" dirty="0">
                <a:latin typeface="Times New Roman" pitchFamily="18" charset="0"/>
                <a:cs typeface="Times New Roman" pitchFamily="18" charset="0"/>
              </a:rPr>
              <a:t>Бүтээгдэхүүний хэмжээ</a:t>
            </a:r>
            <a:endParaRPr lang="mn-MN" sz="1600" i="1" dirty="0">
              <a:latin typeface="Times New Roman" panose="02020603050405020304" pitchFamily="18" charset="0"/>
              <a:cs typeface="Times New Roman" pitchFamily="18" charset="0"/>
            </a:endParaRPr>
          </a:p>
        </p:txBody>
      </p:sp>
      <p:sp>
        <p:nvSpPr>
          <p:cNvPr id="23" name="Content Placeholder 2">
            <a:extLst>
              <a:ext uri="{FF2B5EF4-FFF2-40B4-BE49-F238E27FC236}">
                <a16:creationId xmlns:a16="http://schemas.microsoft.com/office/drawing/2014/main" id="{4C31104A-97CD-4D89-9938-C0CF9505A4D8}"/>
              </a:ext>
            </a:extLst>
          </p:cNvPr>
          <p:cNvSpPr txBox="1">
            <a:spLocks/>
          </p:cNvSpPr>
          <p:nvPr/>
        </p:nvSpPr>
        <p:spPr>
          <a:xfrm>
            <a:off x="668822" y="434656"/>
            <a:ext cx="1090390" cy="4077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mn-MN" altLang="en-US" sz="1600" dirty="0">
                <a:latin typeface="Times New Roman" pitchFamily="18" charset="0"/>
                <a:cs typeface="Times New Roman" pitchFamily="18" charset="0"/>
              </a:rPr>
              <a:t>Нийт зардал</a:t>
            </a:r>
            <a:endParaRPr lang="mn-MN" sz="1600" i="1" dirty="0">
              <a:latin typeface="Times New Roman" panose="02020603050405020304" pitchFamily="18" charset="0"/>
              <a:cs typeface="Times New Roman" pitchFamily="18" charset="0"/>
            </a:endParaRPr>
          </a:p>
        </p:txBody>
      </p:sp>
      <p:cxnSp>
        <p:nvCxnSpPr>
          <p:cNvPr id="24" name="Straight Arrow Connector 23">
            <a:extLst>
              <a:ext uri="{FF2B5EF4-FFF2-40B4-BE49-F238E27FC236}">
                <a16:creationId xmlns:a16="http://schemas.microsoft.com/office/drawing/2014/main" id="{ADC4BEC5-0ACF-4BFF-BC57-E6A5318CAB72}"/>
              </a:ext>
            </a:extLst>
          </p:cNvPr>
          <p:cNvCxnSpPr>
            <a:cxnSpLocks/>
          </p:cNvCxnSpPr>
          <p:nvPr/>
        </p:nvCxnSpPr>
        <p:spPr>
          <a:xfrm>
            <a:off x="3024116" y="1255711"/>
            <a:ext cx="0" cy="346645"/>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4A8B876-C7D4-4C74-99B7-EF255A65C780}"/>
              </a:ext>
            </a:extLst>
          </p:cNvPr>
          <p:cNvCxnSpPr>
            <a:cxnSpLocks/>
          </p:cNvCxnSpPr>
          <p:nvPr/>
        </p:nvCxnSpPr>
        <p:spPr>
          <a:xfrm flipV="1">
            <a:off x="3067659" y="2191918"/>
            <a:ext cx="0" cy="346645"/>
          </a:xfrm>
          <a:prstGeom prst="straightConnector1">
            <a:avLst/>
          </a:prstGeom>
          <a:ln w="1905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168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84" y="12357"/>
            <a:ext cx="11700016" cy="374469"/>
          </a:xfrm>
        </p:spPr>
        <p:txBody>
          <a:bodyPr>
            <a:noAutofit/>
          </a:bodyPr>
          <a:lstStyle/>
          <a:p>
            <a:pPr algn="just"/>
            <a:r>
              <a:rPr lang="mn-MN" sz="2400" b="1" dirty="0">
                <a:solidFill>
                  <a:srgbClr val="00B0F0"/>
                </a:solidFill>
                <a:latin typeface="Times New Roman" panose="02020603050405020304" pitchFamily="18" charset="0"/>
                <a:cs typeface="Times New Roman" panose="02020603050405020304" pitchFamily="18" charset="0"/>
              </a:rPr>
              <a:t>2.4. Үйл ажиллагааны </a:t>
            </a:r>
            <a:r>
              <a:rPr lang="en-US" sz="2400" b="1" dirty="0">
                <a:solidFill>
                  <a:srgbClr val="00B0F0"/>
                </a:solidFill>
                <a:latin typeface="Times New Roman" panose="02020603050405020304" pitchFamily="18" charset="0"/>
                <a:cs typeface="Times New Roman" panose="02020603050405020304" pitchFamily="18" charset="0"/>
              </a:rPr>
              <a:t>(</a:t>
            </a:r>
            <a:r>
              <a:rPr lang="mn-MN" sz="2400" b="1" dirty="0">
                <a:solidFill>
                  <a:srgbClr val="00B0F0"/>
                </a:solidFill>
                <a:latin typeface="Times New Roman" panose="02020603050405020304" pitchFamily="18" charset="0"/>
                <a:cs typeface="Times New Roman" panose="02020603050405020304" pitchFamily="18" charset="0"/>
              </a:rPr>
              <a:t>ҮА</a:t>
            </a:r>
            <a:r>
              <a:rPr lang="en-US" sz="2400" b="1" dirty="0">
                <a:solidFill>
                  <a:srgbClr val="00B0F0"/>
                </a:solidFill>
                <a:latin typeface="Times New Roman" panose="02020603050405020304" pitchFamily="18" charset="0"/>
                <a:cs typeface="Times New Roman" panose="02020603050405020304" pitchFamily="18" charset="0"/>
              </a:rPr>
              <a:t>) </a:t>
            </a:r>
            <a:r>
              <a:rPr lang="mn-MN" sz="2400" b="1" dirty="0">
                <a:solidFill>
                  <a:srgbClr val="00B0F0"/>
                </a:solidFill>
                <a:latin typeface="Times New Roman" panose="02020603050405020304" pitchFamily="18" charset="0"/>
                <a:cs typeface="Times New Roman" panose="02020603050405020304" pitchFamily="18" charset="0"/>
              </a:rPr>
              <a:t>ба тоног төхөөрөмжийн сонголт </a:t>
            </a:r>
            <a:r>
              <a:rPr lang="en-US" altLang="en-US" sz="2400" b="1" dirty="0">
                <a:solidFill>
                  <a:srgbClr val="00B0F0"/>
                </a:solidFill>
                <a:latin typeface="Times New Roman" panose="02020603050405020304" pitchFamily="18" charset="0"/>
                <a:cs typeface="Times New Roman" panose="02020603050405020304" pitchFamily="18" charset="0"/>
              </a:rPr>
              <a:t>(</a:t>
            </a:r>
            <a:r>
              <a:rPr lang="mn-MN" altLang="en-US" sz="2400" b="1" dirty="0">
                <a:solidFill>
                  <a:srgbClr val="00B0F0"/>
                </a:solidFill>
                <a:latin typeface="Times New Roman" panose="02020603050405020304" pitchFamily="18" charset="0"/>
                <a:cs typeface="Times New Roman" panose="02020603050405020304" pitchFamily="18" charset="0"/>
              </a:rPr>
              <a:t>7</a:t>
            </a:r>
            <a:r>
              <a:rPr lang="en-US" altLang="en-US" sz="2400" b="1"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ndParaRPr>
          </a:p>
        </p:txBody>
      </p:sp>
      <p:sp>
        <p:nvSpPr>
          <p:cNvPr id="3" name="Content Placeholder 2"/>
          <p:cNvSpPr>
            <a:spLocks noGrp="1"/>
          </p:cNvSpPr>
          <p:nvPr>
            <p:ph sz="quarter" idx="13"/>
          </p:nvPr>
        </p:nvSpPr>
        <p:spPr>
          <a:xfrm>
            <a:off x="69568" y="374469"/>
            <a:ext cx="11817632" cy="6322422"/>
          </a:xfrm>
        </p:spPr>
        <p:txBody>
          <a:bodyPr>
            <a:noAutofit/>
          </a:bodyPr>
          <a:lstStyle/>
          <a:p>
            <a:pPr algn="just">
              <a:lnSpc>
                <a:spcPct val="100000"/>
              </a:lnSpc>
              <a:spcBef>
                <a:spcPts val="0"/>
              </a:spcBef>
            </a:pPr>
            <a:r>
              <a:rPr lang="mn-MN" altLang="en-US" sz="2000" dirty="0">
                <a:latin typeface="Times New Roman" panose="02020603050405020304" pitchFamily="18" charset="0"/>
                <a:cs typeface="Times New Roman" pitchFamily="18" charset="0"/>
              </a:rPr>
              <a:t>Графикаас харахад </a:t>
            </a:r>
            <a:r>
              <a:rPr lang="en-US" altLang="en-US" sz="2000" dirty="0">
                <a:latin typeface="Times New Roman" panose="02020603050405020304" pitchFamily="18" charset="0"/>
                <a:cs typeface="Times New Roman" pitchFamily="18" charset="0"/>
              </a:rPr>
              <a:t>Q </a:t>
            </a:r>
            <a:r>
              <a:rPr lang="mn-MN" altLang="en-US" sz="2000" dirty="0">
                <a:latin typeface="Times New Roman" panose="02020603050405020304" pitchFamily="18" charset="0"/>
                <a:cs typeface="Times New Roman" pitchFamily="18" charset="0"/>
              </a:rPr>
              <a:t>хэмжээнээс доош бүтээгдэхүүн үйлдвэрлэвэл 10 сая төгрөгний хөрөнгө оруулалтын зардалтай хувилбарыг, </a:t>
            </a:r>
            <a:r>
              <a:rPr lang="en-US" altLang="en-US" sz="2000" dirty="0">
                <a:latin typeface="Times New Roman" panose="02020603050405020304" pitchFamily="18" charset="0"/>
                <a:cs typeface="Times New Roman" pitchFamily="18" charset="0"/>
              </a:rPr>
              <a:t>Q </a:t>
            </a:r>
            <a:r>
              <a:rPr lang="mn-MN" altLang="en-US" sz="2000" dirty="0">
                <a:latin typeface="Times New Roman" panose="02020603050405020304" pitchFamily="18" charset="0"/>
                <a:cs typeface="Times New Roman" pitchFamily="18" charset="0"/>
              </a:rPr>
              <a:t>хэмжээнээс дээш бүтээгдэхүүн үйлдвэрлэвэл 20 сая төгрөгний хөрөнгө оруулалтын бүхий хувилбарыг сонгох нь бага зардалтай байна. Ийм шинжилгээг хийх үед олох нийт орлогыг тооцон орлого зарлага тэнцэх бүтээгдэхүүний хэмжээг тооцох замаар үйлдвэрлэх бүтээгдэхүүний хэмжээг тооцож болно. Энэ бүхнээс үзвэл бүтээгдэхүүний загварыг сайжруулах, шинэ бүтээгдэхүүн үйлдвэрлэх явдал бол хэрэглэгчийн хэрэгцээг хангахад чухал нөлөө үзүүлээд зогсохгүй үйлдвэрлэлийг ямар аргаар явуулах, ямар төхөөрөмжийг сонгох асуудлыг зөв шийдвэрлэхэд чухал нөлөө үзүүлдэг байна. </a:t>
            </a:r>
          </a:p>
        </p:txBody>
      </p:sp>
    </p:spTree>
    <p:extLst>
      <p:ext uri="{BB962C8B-B14F-4D97-AF65-F5344CB8AC3E}">
        <p14:creationId xmlns:p14="http://schemas.microsoft.com/office/powerpoint/2010/main" val="1735070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696" y="136525"/>
            <a:ext cx="11832609" cy="365125"/>
          </a:xfrm>
        </p:spPr>
        <p:txBody>
          <a:bodyPr>
            <a:noAutofit/>
          </a:bodyPr>
          <a:lstStyle/>
          <a:p>
            <a:r>
              <a:rPr lang="mn-MN" sz="3200" b="1" dirty="0">
                <a:solidFill>
                  <a:srgbClr val="0070C0"/>
                </a:solidFill>
                <a:latin typeface="Times New Roman" panose="02020603050405020304" pitchFamily="18" charset="0"/>
                <a:ea typeface="Malgun Gothic" panose="020B0503020000020004" pitchFamily="34" charset="-127"/>
                <a:cs typeface="Times New Roman" panose="02020603050405020304" pitchFamily="18" charset="0"/>
              </a:rPr>
              <a:t>Лекц №2 ХИЧЭЭЛИЙН ШАЛГАХ АСУУЛТУУД:</a:t>
            </a:r>
            <a:endParaRPr lang="en-US" sz="3200" dirty="0"/>
          </a:p>
        </p:txBody>
      </p:sp>
      <p:sp>
        <p:nvSpPr>
          <p:cNvPr id="3" name="Content Placeholder 2"/>
          <p:cNvSpPr>
            <a:spLocks noGrp="1"/>
          </p:cNvSpPr>
          <p:nvPr>
            <p:ph sz="quarter" idx="13"/>
          </p:nvPr>
        </p:nvSpPr>
        <p:spPr>
          <a:xfrm>
            <a:off x="179695" y="411163"/>
            <a:ext cx="11502788" cy="6127749"/>
          </a:xfrm>
        </p:spPr>
        <p:txBody>
          <a:bodyPr>
            <a:noAutofit/>
          </a:bodyPr>
          <a:lstStyle/>
          <a:p>
            <a:pPr algn="just">
              <a:lnSpc>
                <a:spcPct val="100000"/>
              </a:lnSpc>
            </a:pPr>
            <a:r>
              <a:rPr lang="mn-MN" sz="2000" dirty="0">
                <a:latin typeface="Times New Roman" pitchFamily="18" charset="0"/>
                <a:cs typeface="Times New Roman" pitchFamily="18" charset="0"/>
              </a:rPr>
              <a:t>1. Бүтээгдэхүүний загвар, үйлчилгээний төсөл зохиохыг шаарддаг хүчин зүйлсийг бичнэ үү.</a:t>
            </a:r>
          </a:p>
          <a:p>
            <a:pPr algn="just">
              <a:lnSpc>
                <a:spcPct val="100000"/>
              </a:lnSpc>
            </a:pPr>
            <a:r>
              <a:rPr lang="mn-MN" sz="2000" dirty="0">
                <a:latin typeface="Times New Roman" pitchFamily="18" charset="0"/>
                <a:cs typeface="Times New Roman" pitchFamily="18" charset="0"/>
              </a:rPr>
              <a:t>2. </a:t>
            </a:r>
            <a:r>
              <a:rPr lang="mn-MN" altLang="en-US" sz="2000" dirty="0">
                <a:latin typeface="Times New Roman" panose="02020603050405020304" pitchFamily="18" charset="0"/>
                <a:cs typeface="Times New Roman" pitchFamily="18" charset="0"/>
              </a:rPr>
              <a:t>ШУ техникийн дэвшлийн суурь, хавсарга судалгаа, тэдгээрийн харьцуулалтыг </a:t>
            </a:r>
            <a:r>
              <a:rPr lang="mn-MN" sz="2000" dirty="0">
                <a:latin typeface="Times New Roman" pitchFamily="18" charset="0"/>
                <a:cs typeface="Times New Roman" pitchFamily="18" charset="0"/>
              </a:rPr>
              <a:t> бичнэ үү.</a:t>
            </a:r>
          </a:p>
          <a:p>
            <a:pPr algn="just">
              <a:lnSpc>
                <a:spcPct val="100000"/>
              </a:lnSpc>
            </a:pPr>
            <a:r>
              <a:rPr lang="mn-MN" sz="2000" dirty="0">
                <a:latin typeface="Times New Roman" pitchFamily="18" charset="0"/>
                <a:cs typeface="Times New Roman" pitchFamily="18" charset="0"/>
              </a:rPr>
              <a:t>3. К</a:t>
            </a:r>
            <a:r>
              <a:rPr lang="mn-MN" altLang="en-US" sz="2000" dirty="0">
                <a:latin typeface="Times New Roman" panose="02020603050405020304" pitchFamily="18" charset="0"/>
                <a:cs typeface="Times New Roman" pitchFamily="18" charset="0"/>
              </a:rPr>
              <a:t>омпьютерээр загвар боловсруулах арга, түүний давуу талуудыг бичнэ үү.</a:t>
            </a:r>
            <a:endParaRPr lang="mn-MN" sz="2000" dirty="0">
              <a:latin typeface="Times New Roman" pitchFamily="18" charset="0"/>
              <a:cs typeface="Times New Roman" pitchFamily="18" charset="0"/>
            </a:endParaRPr>
          </a:p>
          <a:p>
            <a:pPr algn="just">
              <a:lnSpc>
                <a:spcPct val="100000"/>
              </a:lnSpc>
            </a:pPr>
            <a:r>
              <a:rPr lang="mn-MN" sz="2000" dirty="0">
                <a:latin typeface="Times New Roman" pitchFamily="18" charset="0"/>
                <a:cs typeface="Times New Roman" pitchFamily="18" charset="0"/>
              </a:rPr>
              <a:t>4. </a:t>
            </a:r>
            <a:r>
              <a:rPr lang="mn-MN" altLang="en-US" sz="2000" dirty="0">
                <a:latin typeface="Times New Roman" panose="02020603050405020304" pitchFamily="18" charset="0"/>
                <a:cs typeface="Times New Roman" pitchFamily="18" charset="0"/>
              </a:rPr>
              <a:t>Стандартчилалын давуу болон сул талын тухай</a:t>
            </a:r>
            <a:r>
              <a:rPr lang="mn-MN" sz="2000" dirty="0">
                <a:latin typeface="Times New Roman" pitchFamily="18" charset="0"/>
                <a:cs typeface="Times New Roman" pitchFamily="18" charset="0"/>
              </a:rPr>
              <a:t> бичнэ үү.</a:t>
            </a:r>
          </a:p>
          <a:p>
            <a:pPr algn="just">
              <a:lnSpc>
                <a:spcPct val="100000"/>
              </a:lnSpc>
            </a:pPr>
            <a:r>
              <a:rPr lang="mn-MN" sz="2000" dirty="0">
                <a:latin typeface="Times New Roman" pitchFamily="18" charset="0"/>
                <a:cs typeface="Times New Roman" pitchFamily="18" charset="0"/>
              </a:rPr>
              <a:t>5. Б</a:t>
            </a:r>
            <a:r>
              <a:rPr lang="mn-MN" altLang="en-US" sz="2000" dirty="0">
                <a:latin typeface="Times New Roman" panose="02020603050405020304" pitchFamily="18" charset="0"/>
                <a:cs typeface="Times New Roman" pitchFamily="18" charset="0"/>
              </a:rPr>
              <a:t>үтээгдэхүүнийг өөрөө үйлдвэрлэх үү, эсвэл худалдан авах эсэхийг шийдвэрлэхэд харгалзах хүчин зүйлс, шийдвэрлэх арга замыг бичнэ үү.</a:t>
            </a:r>
            <a:endParaRPr lang="mn-MN" sz="2000" dirty="0">
              <a:latin typeface="Times New Roman" pitchFamily="18" charset="0"/>
              <a:cs typeface="Times New Roman" pitchFamily="18" charset="0"/>
            </a:endParaRPr>
          </a:p>
          <a:p>
            <a:pPr algn="just">
              <a:lnSpc>
                <a:spcPct val="100000"/>
              </a:lnSpc>
            </a:pPr>
            <a:r>
              <a:rPr lang="mn-MN" sz="2000" dirty="0">
                <a:latin typeface="Times New Roman" pitchFamily="18" charset="0"/>
                <a:cs typeface="Times New Roman" pitchFamily="18" charset="0"/>
              </a:rPr>
              <a:t>6. Бүтээгдэхүүний амьдралын мөчлөг гэж юу вэ? Бүтээгдэхүүний загвар боловсруулах үед бүтээгдэхүүний амьдралын мөчлөгийг яагаад харгалзах шаардлагатай бэ? </a:t>
            </a:r>
          </a:p>
          <a:p>
            <a:pPr algn="just">
              <a:lnSpc>
                <a:spcPct val="100000"/>
              </a:lnSpc>
            </a:pPr>
            <a:r>
              <a:rPr lang="mn-MN" sz="2000" dirty="0">
                <a:latin typeface="Times New Roman" pitchFamily="18" charset="0"/>
                <a:cs typeface="Times New Roman" pitchFamily="18" charset="0"/>
              </a:rPr>
              <a:t>7. Бүтээгдэхүүний загвар боловсруулахад талуудын оролцоо яагаад чухал бэ, тайлбарыг бичнэ үү.</a:t>
            </a:r>
          </a:p>
          <a:p>
            <a:pPr algn="just">
              <a:lnSpc>
                <a:spcPct val="100000"/>
              </a:lnSpc>
            </a:pPr>
            <a:r>
              <a:rPr lang="mn-MN" sz="2000" dirty="0">
                <a:latin typeface="Times New Roman" pitchFamily="18" charset="0"/>
                <a:cs typeface="Times New Roman" pitchFamily="18" charset="0"/>
              </a:rPr>
              <a:t>8. Ү</a:t>
            </a:r>
            <a:r>
              <a:rPr lang="mn-MN" altLang="en-US" sz="2000" dirty="0">
                <a:latin typeface="Times New Roman" panose="02020603050405020304" pitchFamily="18" charset="0"/>
                <a:cs typeface="Times New Roman" pitchFamily="18" charset="0"/>
              </a:rPr>
              <a:t>йлдвэрлэлийн системийн ангилалыг нэрлэж, тайлбар бичнэ үү</a:t>
            </a:r>
            <a:r>
              <a:rPr lang="mn-MN" sz="20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ct val="100000"/>
              </a:lnSpc>
            </a:pPr>
            <a:r>
              <a:rPr lang="mn-MN" sz="2000" dirty="0">
                <a:latin typeface="Times New Roman" panose="02020603050405020304" pitchFamily="18" charset="0"/>
                <a:ea typeface="Times New Roman" panose="02020603050405020304" pitchFamily="18" charset="0"/>
                <a:cs typeface="Times New Roman" panose="02020603050405020304" pitchFamily="18" charset="0"/>
              </a:rPr>
              <a:t>9. Бүтээгдэхүүний ү</a:t>
            </a:r>
            <a:r>
              <a:rPr lang="mn-MN" altLang="en-US" sz="2000" dirty="0">
                <a:latin typeface="Times New Roman" panose="02020603050405020304" pitchFamily="18" charset="0"/>
                <a:cs typeface="Times New Roman" pitchFamily="18" charset="0"/>
              </a:rPr>
              <a:t>йл ажиллагааны матрицийн </a:t>
            </a:r>
            <a:r>
              <a:rPr lang="mn-MN" sz="2000" dirty="0">
                <a:latin typeface="Times New Roman" panose="02020603050405020304" pitchFamily="18" charset="0"/>
                <a:ea typeface="Times New Roman" panose="02020603050405020304" pitchFamily="18" charset="0"/>
                <a:cs typeface="Times New Roman" panose="02020603050405020304" pitchFamily="18" charset="0"/>
              </a:rPr>
              <a:t>бичнэ үү.</a:t>
            </a:r>
          </a:p>
          <a:p>
            <a:pPr algn="just">
              <a:lnSpc>
                <a:spcPct val="100000"/>
              </a:lnSpc>
            </a:pPr>
            <a:r>
              <a:rPr lang="mn-MN" sz="2000" dirty="0">
                <a:latin typeface="Times New Roman" panose="02020603050405020304" pitchFamily="18" charset="0"/>
                <a:ea typeface="Times New Roman" panose="02020603050405020304" pitchFamily="18" charset="0"/>
                <a:cs typeface="Times New Roman" panose="02020603050405020304" pitchFamily="18" charset="0"/>
              </a:rPr>
              <a:t>10. Ү</a:t>
            </a:r>
            <a:r>
              <a:rPr lang="mn-MN" altLang="en-US" sz="2000" dirty="0">
                <a:latin typeface="Times New Roman" panose="02020603050405020304" pitchFamily="18" charset="0"/>
                <a:cs typeface="Times New Roman" pitchFamily="18" charset="0"/>
              </a:rPr>
              <a:t>йлдвэрлэлийн автоматжуулах, роботжуулах, компьютержүүлэлтйин тухай бичнэ үү</a:t>
            </a:r>
            <a:r>
              <a:rPr lang="mn-MN" sz="20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ct val="100000"/>
              </a:lnSpc>
            </a:pPr>
            <a:r>
              <a:rPr lang="mn-MN" sz="2000" dirty="0">
                <a:latin typeface="Times New Roman" panose="02020603050405020304" pitchFamily="18" charset="0"/>
                <a:ea typeface="Times New Roman" panose="02020603050405020304" pitchFamily="18" charset="0"/>
                <a:cs typeface="Times New Roman" panose="02020603050405020304" pitchFamily="18" charset="0"/>
              </a:rPr>
              <a:t>11. Үйлдвэрлэлийн </a:t>
            </a:r>
            <a:r>
              <a:rPr lang="mn-MN" altLang="en-US" sz="2000" dirty="0">
                <a:latin typeface="Times New Roman" panose="02020603050405020304" pitchFamily="18" charset="0"/>
                <a:cs typeface="Times New Roman" pitchFamily="18" charset="0"/>
              </a:rPr>
              <a:t>тоног төхөөрөмжийн сонголт хийх аргын тухай </a:t>
            </a:r>
            <a:r>
              <a:rPr lang="mn-MN" sz="2000" dirty="0">
                <a:latin typeface="Times New Roman" panose="02020603050405020304" pitchFamily="18" charset="0"/>
                <a:ea typeface="Times New Roman" panose="02020603050405020304" pitchFamily="18" charset="0"/>
                <a:cs typeface="Times New Roman" panose="02020603050405020304" pitchFamily="18" charset="0"/>
              </a:rPr>
              <a:t>бичнэ үү.</a:t>
            </a:r>
          </a:p>
        </p:txBody>
      </p:sp>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rPr>
              <a:pPr>
                <a:defRPr/>
              </a:pPr>
              <a:t>19</a:t>
            </a:fld>
            <a:endParaRPr lang="en-US" altLang="en-US">
              <a:solidFill>
                <a:srgbClr val="5FCBEF"/>
              </a:solidFill>
            </a:endParaRPr>
          </a:p>
        </p:txBody>
      </p:sp>
    </p:spTree>
    <p:extLst>
      <p:ext uri="{BB962C8B-B14F-4D97-AF65-F5344CB8AC3E}">
        <p14:creationId xmlns:p14="http://schemas.microsoft.com/office/powerpoint/2010/main" val="349962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dirty="0">
                <a:latin typeface="Times New Roman" panose="02020603050405020304" pitchFamily="18" charset="0"/>
                <a:cs typeface="Times New Roman" panose="02020603050405020304" pitchFamily="18" charset="0"/>
              </a:rPr>
              <a:t>Анхаарал тавьсанд баярлалаа</a:t>
            </a:r>
            <a:endParaRPr lang="en-US"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sz="quarter" idx="13"/>
          </p:nvPr>
        </p:nvPicPr>
        <p:blipFill>
          <a:blip r:embed="rId3" cstate="print">
            <a:extLst>
              <a:ext uri="{28A0092B-C50C-407E-A947-70E740481C1C}">
                <a14:useLocalDpi xmlns:a14="http://schemas.microsoft.com/office/drawing/2010/main" val="0"/>
              </a:ext>
            </a:extLst>
          </a:blip>
          <a:stretch>
            <a:fillRect/>
          </a:stretch>
        </p:blipFill>
        <p:spPr>
          <a:xfrm>
            <a:off x="2052311" y="2638748"/>
            <a:ext cx="8087377" cy="2820473"/>
          </a:xfrm>
        </p:spPr>
      </p:pic>
      <p:sp>
        <p:nvSpPr>
          <p:cNvPr id="4" name="Slide Number Placeholder 3"/>
          <p:cNvSpPr>
            <a:spLocks noGrp="1"/>
          </p:cNvSpPr>
          <p:nvPr>
            <p:ph type="sldNum" sz="quarter" idx="12"/>
          </p:nvPr>
        </p:nvSpPr>
        <p:spPr/>
        <p:txBody>
          <a:bodyPr/>
          <a:lstStyle/>
          <a:p>
            <a:pPr>
              <a:defRPr/>
            </a:pPr>
            <a:fld id="{A65E8343-3605-4CE2-AB97-E196D52989FF}" type="slidenum">
              <a:rPr lang="en-US" altLang="en-US" smtClean="0">
                <a:solidFill>
                  <a:srgbClr val="5FCBEF"/>
                </a:solidFill>
                <a:latin typeface="Times New Roman" panose="02020603050405020304" pitchFamily="18" charset="0"/>
                <a:cs typeface="Times New Roman" panose="02020603050405020304" pitchFamily="18" charset="0"/>
              </a:rPr>
              <a:pPr>
                <a:defRPr/>
              </a:pPr>
              <a:t>20</a:t>
            </a:fld>
            <a:endParaRPr lang="en-US" altLang="en-US">
              <a:solidFill>
                <a:srgbClr val="5FCBE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32328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1.2"/>
  <p:tag name="ISPRING_ULTRA_SCORM_COURSE_ID" val="AD6E72FF-7317-4BE4-89BA-62A41CA4BB50"/>
  <p:tag name="ISPRING_CMI5_LAUNCH_METHOD" val="any window"/>
  <p:tag name="ISPRING_SCORM_ENDPOINT" val="&lt;endpoint&gt;&lt;enable&gt;0&lt;/enable&gt;&lt;lrs&gt;http://&lt;/lrs&gt;&lt;auth&gt;0&lt;/auth&gt;&lt;login&gt;&lt;/login&gt;&lt;password&gt;&lt;/password&gt;&lt;key&gt;&lt;/key&gt;&lt;name&gt;&lt;/name&gt;&lt;email&gt;&lt;/email&gt;&lt;/endpoint&gt;&#10;"/>
  <p:tag name="ISPRING_SCORM_RATE_SLIDES" val="1"/>
  <p:tag name="ISPRINGCLOUDFOLDERID" val="1"/>
  <p:tag name="ISPRINGONLINEFOLDERID" val="1"/>
  <p:tag name="ISPRING_OUTPUT_FOLDER" val="[[&quot;ZTNZ{076B95FB-54AF-48EC-9D2E-048DFDFE1B6C}&quot;,&quot;D:\\Lessons\\CN104 - Engineering Economy\\F.CN104 Инженерийн эдийн засаг_2020-08-21\\Lecture&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free&quot;},&quot;advancedSettings&quot;:{&quot;enableTextAllocation&quot;:&quot;T_TRUE&quot;,&quot;viewingFromLocalDrive&quot;:&quot;T_TRUE&quot;,&quot;contentScale&quot;:75,&quot;contentScaleMode&quot;:&quot;SCAL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QUIZZES" val="0"/>
  <p:tag name="ISPRING_SCORM_PASSING_SCORE" val="100.000000"/>
  <p:tag name="ISPRING_PRESENTATION_TITLE" val="CN104 Lecture1_Oyu_2020-08-23"/>
  <p:tag name="ISPRING_FIRST_PUBLI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2879</TotalTime>
  <Words>3772</Words>
  <Application>Microsoft Office PowerPoint</Application>
  <PresentationFormat>Widescreen</PresentationFormat>
  <Paragraphs>230</Paragraphs>
  <Slides>20</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vt:lpstr>
      <vt:lpstr>Calibri</vt:lpstr>
      <vt:lpstr>Calibri Light</vt:lpstr>
      <vt:lpstr>Cambria Math</vt:lpstr>
      <vt:lpstr>Google Sans</vt:lpstr>
      <vt:lpstr>Roboto</vt:lpstr>
      <vt:lpstr>Times New Roman</vt:lpstr>
      <vt:lpstr>Office Theme</vt:lpstr>
      <vt:lpstr>Лекц 2. Бүтээгдэхүүний загвар, үйл ажиллагаа, төхөөрөмжийн сонголт</vt:lpstr>
      <vt:lpstr>ХИЧЭЭЛИЙН СУРАЛЦАХУЙН ҮР ДҮНГҮҮД: Оюутан энэ сэдвийг судалснаар дараах чадваруудтай болсон байна.</vt:lpstr>
      <vt:lpstr>Хичээлийн АГУУЛГА</vt:lpstr>
      <vt:lpstr>2.1. Бүтээгдэхүүн, үйлчилгээний загварыг боловсруулах (БҮЗБ) шаардлага, үе шат (1)</vt:lpstr>
      <vt:lpstr>2.1. Бүтээгдэхүүн, үйлчилгээний загварыг боловсруулах (БҮЗБ) шаардлага, үе шат (2)</vt:lpstr>
      <vt:lpstr>2.1. Бүтээгдэхүүн, үйлчилгээний загварыг боловсруулах (БҮЗБ) шаардлага, үе шат (3)</vt:lpstr>
      <vt:lpstr>2.1. Бүтээгдэхүүн, үйлчилгээний загварыг боловсруулах (БҮЗБ) шаардлага, үе шат (4)</vt:lpstr>
      <vt:lpstr>2.2. Стандартчилал (1)</vt:lpstr>
      <vt:lpstr>2.3. Бүтээгдэхүүний амьдралын мөчлөг БАМ(1)</vt:lpstr>
      <vt:lpstr>2.3. Бүтээгдэхүүний амьдралын мөчлөг БАМ (2)</vt:lpstr>
      <vt:lpstr>2.4. Үйл ажиллагааны (ҮА) ба тоног төхөөрөмжийн сонголт (1)</vt:lpstr>
      <vt:lpstr>2.4. Үйл ажиллагааны (ҮА) ба тоног төхөөрөмжийн сонголт (2)</vt:lpstr>
      <vt:lpstr>PowerPoint Presentation</vt:lpstr>
      <vt:lpstr>2.4. Үйл ажиллагааны (ҮА) ба тоног төхөөрөмжийн сонголт (3)</vt:lpstr>
      <vt:lpstr>2.4. Үйл ажиллагааны (ҮА) ба тоног төхөөрөмжийн сонголт (4)</vt:lpstr>
      <vt:lpstr>2.4. Үйл ажиллагааны (ҮА) ба тоног төхөөрөмжийн сонголт (5)</vt:lpstr>
      <vt:lpstr>2.4. Үйл ажиллагааны (ҮА) ба тоног төхөөрөмжийн сонголт (6)</vt:lpstr>
      <vt:lpstr>2.4. Үйл ажиллагааны (ҮА) ба тоног төхөөрөмжийн сонголт (7)</vt:lpstr>
      <vt:lpstr>Лекц №2 ХИЧЭЭЛИЙН ШАЛГАХ АСУУЛТУУД:</vt:lpstr>
      <vt:lpstr>Анхаарал тавьсанд баярлалаа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CN104 Lecture1_Oyu_2020-08-23</dc:title>
  <dc:creator>lkhagvaa</dc:creator>
  <cp:lastModifiedBy>Ariunaa Tsogbadrakh</cp:lastModifiedBy>
  <cp:revision>273</cp:revision>
  <dcterms:created xsi:type="dcterms:W3CDTF">2017-08-25T16:55:18Z</dcterms:created>
  <dcterms:modified xsi:type="dcterms:W3CDTF">2025-01-27T09:54:03Z</dcterms:modified>
</cp:coreProperties>
</file>