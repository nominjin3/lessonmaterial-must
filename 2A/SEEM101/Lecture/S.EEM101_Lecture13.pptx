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88" r:id="rId2"/>
    <p:sldId id="348" r:id="rId3"/>
    <p:sldId id="257" r:id="rId4"/>
    <p:sldId id="351" r:id="rId5"/>
    <p:sldId id="350" r:id="rId6"/>
    <p:sldId id="349" r:id="rId7"/>
    <p:sldId id="352" r:id="rId8"/>
    <p:sldId id="353" r:id="rId9"/>
    <p:sldId id="354" r:id="rId10"/>
    <p:sldId id="356" r:id="rId11"/>
    <p:sldId id="355" r:id="rId12"/>
    <p:sldId id="357" r:id="rId13"/>
    <p:sldId id="358" r:id="rId14"/>
    <p:sldId id="359" r:id="rId15"/>
    <p:sldId id="360" r:id="rId16"/>
    <p:sldId id="361" r:id="rId17"/>
    <p:sldId id="362" r:id="rId18"/>
    <p:sldId id="363" r:id="rId19"/>
    <p:sldId id="364" r:id="rId20"/>
    <p:sldId id="365" r:id="rId21"/>
    <p:sldId id="366" r:id="rId22"/>
    <p:sldId id="367" r:id="rId23"/>
    <p:sldId id="368" r:id="rId24"/>
    <p:sldId id="369" r:id="rId25"/>
    <p:sldId id="370" r:id="rId26"/>
    <p:sldId id="286" r:id="rId27"/>
  </p:sldIdLst>
  <p:sldSz cx="12192000" cy="6858000"/>
  <p:notesSz cx="7315200" cy="96012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0FF65C-CA29-52B5-E688-B9F869745318}" name="T B" initials="TB" userId="cc74087b7d702bd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11" autoAdjust="0"/>
    <p:restoredTop sz="72310" autoAdjust="0"/>
  </p:normalViewPr>
  <p:slideViewPr>
    <p:cSldViewPr snapToGrid="0">
      <p:cViewPr varScale="1">
        <p:scale>
          <a:sx n="59" d="100"/>
          <a:sy n="59" d="100"/>
        </p:scale>
        <p:origin x="162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minjin Tsogtbayar" userId="c94a63f096c67c9e" providerId="LiveId" clId="{1D03B473-5C41-4C92-89E8-3498AA8364B6}"/>
    <pc:docChg chg="modSld">
      <pc:chgData name="Nominjin Tsogtbayar" userId="c94a63f096c67c9e" providerId="LiveId" clId="{1D03B473-5C41-4C92-89E8-3498AA8364B6}" dt="2025-12-05T06:29:50.042" v="1" actId="1038"/>
      <pc:docMkLst>
        <pc:docMk/>
      </pc:docMkLst>
      <pc:sldChg chg="modSp mod">
        <pc:chgData name="Nominjin Tsogtbayar" userId="c94a63f096c67c9e" providerId="LiveId" clId="{1D03B473-5C41-4C92-89E8-3498AA8364B6}" dt="2025-12-05T06:29:50.042" v="1" actId="1038"/>
        <pc:sldMkLst>
          <pc:docMk/>
          <pc:sldMk cId="101943033" sldId="353"/>
        </pc:sldMkLst>
        <pc:spChg chg="mod">
          <ac:chgData name="Nominjin Tsogtbayar" userId="c94a63f096c67c9e" providerId="LiveId" clId="{1D03B473-5C41-4C92-89E8-3498AA8364B6}" dt="2025-12-05T06:29:50.042" v="1" actId="1038"/>
          <ac:spMkLst>
            <pc:docMk/>
            <pc:sldMk cId="101943033" sldId="353"/>
            <ac:spMk id="3" creationId="{C94E1CFB-F0C2-C1F5-9641-0E803F316EC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4C622D43-C65E-428A-89C7-8C19C0C28B05}" type="datetimeFigureOut">
              <a:rPr lang="en-US" smtClean="0"/>
              <a:t>12/5/2025</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E4CFEF27-99CE-459F-8C01-F12FB244F5E1}" type="slidenum">
              <a:rPr lang="en-US" smtClean="0"/>
              <a:t>‹#›</a:t>
            </a:fld>
            <a:endParaRPr lang="en-US" dirty="0"/>
          </a:p>
        </p:txBody>
      </p:sp>
    </p:spTree>
    <p:extLst>
      <p:ext uri="{BB962C8B-B14F-4D97-AF65-F5344CB8AC3E}">
        <p14:creationId xmlns:p14="http://schemas.microsoft.com/office/powerpoint/2010/main" val="3465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EDF642-B262-430D-B430-4F661DAD0EEB}" type="slidenum">
              <a:rPr lang="en-US" smtClean="0"/>
              <a:pPr/>
              <a:t>1</a:t>
            </a:fld>
            <a:endParaRPr lang="en-US"/>
          </a:p>
        </p:txBody>
      </p:sp>
    </p:spTree>
    <p:extLst>
      <p:ext uri="{BB962C8B-B14F-4D97-AF65-F5344CB8AC3E}">
        <p14:creationId xmlns:p14="http://schemas.microsoft.com/office/powerpoint/2010/main" val="1255196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a:t>
            </a:fld>
            <a:endParaRPr lang="en-US" dirty="0"/>
          </a:p>
        </p:txBody>
      </p:sp>
    </p:spTree>
    <p:extLst>
      <p:ext uri="{BB962C8B-B14F-4D97-AF65-F5344CB8AC3E}">
        <p14:creationId xmlns:p14="http://schemas.microsoft.com/office/powerpoint/2010/main" val="4189764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a:t>
            </a:fld>
            <a:endParaRPr lang="en-US" dirty="0"/>
          </a:p>
        </p:txBody>
      </p:sp>
    </p:spTree>
    <p:extLst>
      <p:ext uri="{BB962C8B-B14F-4D97-AF65-F5344CB8AC3E}">
        <p14:creationId xmlns:p14="http://schemas.microsoft.com/office/powerpoint/2010/main" val="2959048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a:t>
            </a:fld>
            <a:endParaRPr lang="en-US" dirty="0"/>
          </a:p>
        </p:txBody>
      </p:sp>
    </p:spTree>
    <p:extLst>
      <p:ext uri="{BB962C8B-B14F-4D97-AF65-F5344CB8AC3E}">
        <p14:creationId xmlns:p14="http://schemas.microsoft.com/office/powerpoint/2010/main" val="245070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5</a:t>
            </a:fld>
            <a:endParaRPr lang="en-US" dirty="0"/>
          </a:p>
        </p:txBody>
      </p:sp>
    </p:spTree>
    <p:extLst>
      <p:ext uri="{BB962C8B-B14F-4D97-AF65-F5344CB8AC3E}">
        <p14:creationId xmlns:p14="http://schemas.microsoft.com/office/powerpoint/2010/main" val="3304163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sz="1200" b="1" kern="1200" dirty="0">
                <a:solidFill>
                  <a:schemeClr val="tx1"/>
                </a:solidFill>
                <a:effectLst/>
                <a:latin typeface="+mn-lt"/>
                <a:ea typeface="+mn-ea"/>
                <a:cs typeface="+mn-cs"/>
              </a:rPr>
              <a:t>Төхөөрөмжийн элэгдэл хуучралт:</a:t>
            </a:r>
            <a:r>
              <a:rPr lang="mn-M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pPr marL="171450" indent="-171450">
              <a:buFontTx/>
              <a:buChar char="-"/>
            </a:pPr>
            <a:r>
              <a:rPr lang="mn-MN" sz="1200" kern="1200" dirty="0">
                <a:solidFill>
                  <a:schemeClr val="tx1"/>
                </a:solidFill>
                <a:effectLst/>
                <a:latin typeface="+mn-lt"/>
                <a:ea typeface="+mn-ea"/>
                <a:cs typeface="+mn-cs"/>
              </a:rPr>
              <a:t>засвар үйлчилгээг тогтмол хийх шаардлага үүсэх, </a:t>
            </a:r>
            <a:endParaRPr lang="en-US" sz="1200" kern="1200" dirty="0">
              <a:solidFill>
                <a:schemeClr val="tx1"/>
              </a:solidFill>
              <a:effectLst/>
              <a:latin typeface="+mn-lt"/>
              <a:ea typeface="+mn-ea"/>
              <a:cs typeface="+mn-cs"/>
            </a:endParaRPr>
          </a:p>
          <a:p>
            <a:pPr marL="171450" indent="-171450">
              <a:buFontTx/>
              <a:buChar char="-"/>
            </a:pPr>
            <a:r>
              <a:rPr lang="mn-MN" sz="1200" kern="1200" dirty="0">
                <a:solidFill>
                  <a:schemeClr val="tx1"/>
                </a:solidFill>
                <a:effectLst/>
                <a:latin typeface="+mn-lt"/>
                <a:ea typeface="+mn-ea"/>
                <a:cs typeface="+mn-cs"/>
              </a:rPr>
              <a:t>засвар үйлчилгээний зардал </a:t>
            </a:r>
            <a:endParaRPr lang="en-US" sz="1200" kern="1200" dirty="0">
              <a:solidFill>
                <a:schemeClr val="tx1"/>
              </a:solidFill>
              <a:effectLst/>
              <a:latin typeface="+mn-lt"/>
              <a:ea typeface="+mn-ea"/>
              <a:cs typeface="+mn-cs"/>
            </a:endParaRPr>
          </a:p>
          <a:p>
            <a:pPr marL="171450" indent="-171450">
              <a:buFontTx/>
              <a:buChar char="-"/>
            </a:pPr>
            <a:r>
              <a:rPr lang="mn-MN" sz="1200" kern="1200" dirty="0">
                <a:solidFill>
                  <a:schemeClr val="tx1"/>
                </a:solidFill>
                <a:effectLst/>
                <a:latin typeface="+mn-lt"/>
                <a:ea typeface="+mn-ea"/>
                <a:cs typeface="+mn-cs"/>
              </a:rPr>
              <a:t>эрчим хүчний хэрэглээ нэмэгдэх, </a:t>
            </a:r>
            <a:endParaRPr lang="en-US" sz="1200" kern="1200" dirty="0">
              <a:solidFill>
                <a:schemeClr val="tx1"/>
              </a:solidFill>
              <a:effectLst/>
              <a:latin typeface="+mn-lt"/>
              <a:ea typeface="+mn-ea"/>
              <a:cs typeface="+mn-cs"/>
            </a:endParaRPr>
          </a:p>
          <a:p>
            <a:pPr marL="171450" indent="-171450">
              <a:buFontTx/>
              <a:buChar char="-"/>
            </a:pPr>
            <a:r>
              <a:rPr lang="mn-MN" sz="1200" kern="1200" dirty="0">
                <a:solidFill>
                  <a:schemeClr val="tx1"/>
                </a:solidFill>
                <a:effectLst/>
                <a:latin typeface="+mn-lt"/>
                <a:ea typeface="+mn-ea"/>
                <a:cs typeface="+mn-cs"/>
              </a:rPr>
              <a:t>засвар хийх хугацаа уртсах зэрэг үр дагавар үүсдэг. </a:t>
            </a:r>
            <a:endParaRPr lang="en-US" sz="1200" kern="1200" dirty="0">
              <a:solidFill>
                <a:schemeClr val="tx1"/>
              </a:solidFill>
              <a:effectLst/>
              <a:latin typeface="+mn-lt"/>
              <a:ea typeface="+mn-ea"/>
              <a:cs typeface="+mn-cs"/>
            </a:endParaRPr>
          </a:p>
          <a:p>
            <a:pPr marL="171450" indent="-171450">
              <a:buFontTx/>
              <a:buChar char="-"/>
            </a:pPr>
            <a:r>
              <a:rPr lang="mn-MN" sz="1200" kern="1200" dirty="0">
                <a:solidFill>
                  <a:schemeClr val="tx1"/>
                </a:solidFill>
                <a:effectLst/>
                <a:latin typeface="+mn-lt"/>
                <a:ea typeface="+mn-ea"/>
                <a:cs typeface="+mn-cs"/>
              </a:rPr>
              <a:t>Зарим тохиолдолд гэнэтийн осол тохиолдсоны улмаас хөрөнгө гэмтэх, муудах, улмаар байгууллагын эдийн засагт сөргөөр нөлөөлж болно. </a:t>
            </a:r>
          </a:p>
          <a:p>
            <a:pPr marL="0" indent="0">
              <a:buFontTx/>
              <a:buNone/>
            </a:pPr>
            <a:r>
              <a:rPr lang="mn-MN" sz="1200" b="1" kern="1200" dirty="0">
                <a:solidFill>
                  <a:schemeClr val="tx1"/>
                </a:solidFill>
                <a:effectLst/>
                <a:latin typeface="+mn-lt"/>
                <a:ea typeface="+mn-ea"/>
                <a:cs typeface="+mn-cs"/>
              </a:rPr>
              <a:t>Технологийн өөрчлөлт, шинэчлэлт:</a:t>
            </a:r>
            <a:r>
              <a:rPr lang="mn-MN" sz="1200" kern="1200" dirty="0">
                <a:solidFill>
                  <a:schemeClr val="tx1"/>
                </a:solidFill>
                <a:effectLst/>
                <a:latin typeface="+mn-lt"/>
                <a:ea typeface="+mn-ea"/>
                <a:cs typeface="+mn-cs"/>
              </a:rPr>
              <a:t> Ерөнхийдөө, нэгж бүтээгдэхүүнд харгалзах зардал, чанар бусад хүчин зүйлс технологийн өөрчлөлтөд эерэгээр нөлөөлөх бөгөөд ингэснээр хөрөнгийг шинэ технологийн илүү үр ашиг сайтай хөрөнгөөр солих шаардлага үүсдэг. </a:t>
            </a:r>
            <a:endParaRPr lang="en-US" sz="1200" kern="1200" dirty="0">
              <a:solidFill>
                <a:schemeClr val="tx1"/>
              </a:solidFill>
              <a:effectLst/>
              <a:latin typeface="+mn-lt"/>
              <a:ea typeface="+mn-ea"/>
              <a:cs typeface="+mn-cs"/>
            </a:endParaRPr>
          </a:p>
          <a:p>
            <a:pPr marL="0" indent="0">
              <a:buFontTx/>
              <a:buNone/>
            </a:pPr>
            <a:r>
              <a:rPr lang="mn-MN" sz="1200" kern="1200" dirty="0">
                <a:solidFill>
                  <a:schemeClr val="tx1"/>
                </a:solidFill>
                <a:effectLst/>
                <a:latin typeface="+mn-lt"/>
                <a:ea typeface="+mn-ea"/>
                <a:cs typeface="+mn-cs"/>
              </a:rPr>
              <a:t>Аливаа шинэчлэн солих (орлуулах) асуудалд эдгээр гурван гол шалтгааны нэгээс илүү хүчин зүйл нөлөөлж болно. Онцлох зүйлүүдээс үл хамааран хөрөнгийн шинэчлэлт компанид эдийн засгийн боломж бололцоог олгодог.</a:t>
            </a:r>
            <a:endParaRPr lang="en-US" dirty="0"/>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6</a:t>
            </a:fld>
            <a:endParaRPr lang="en-US" dirty="0"/>
          </a:p>
        </p:txBody>
      </p:sp>
    </p:spTree>
    <p:extLst>
      <p:ext uri="{BB962C8B-B14F-4D97-AF65-F5344CB8AC3E}">
        <p14:creationId xmlns:p14="http://schemas.microsoft.com/office/powerpoint/2010/main" val="2174104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7</a:t>
            </a:fld>
            <a:endParaRPr lang="en-US" dirty="0"/>
          </a:p>
        </p:txBody>
      </p:sp>
    </p:spTree>
    <p:extLst>
      <p:ext uri="{BB962C8B-B14F-4D97-AF65-F5344CB8AC3E}">
        <p14:creationId xmlns:p14="http://schemas.microsoft.com/office/powerpoint/2010/main" val="4235487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8</a:t>
            </a:fld>
            <a:endParaRPr lang="en-US" dirty="0"/>
          </a:p>
        </p:txBody>
      </p:sp>
    </p:spTree>
    <p:extLst>
      <p:ext uri="{BB962C8B-B14F-4D97-AF65-F5344CB8AC3E}">
        <p14:creationId xmlns:p14="http://schemas.microsoft.com/office/powerpoint/2010/main" val="2227943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9</a:t>
            </a:fld>
            <a:endParaRPr lang="en-US" dirty="0"/>
          </a:p>
        </p:txBody>
      </p:sp>
    </p:spTree>
    <p:extLst>
      <p:ext uri="{BB962C8B-B14F-4D97-AF65-F5344CB8AC3E}">
        <p14:creationId xmlns:p14="http://schemas.microsoft.com/office/powerpoint/2010/main" val="655773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10</a:t>
            </a:fld>
            <a:endParaRPr lang="en-US" dirty="0"/>
          </a:p>
        </p:txBody>
      </p:sp>
    </p:spTree>
    <p:extLst>
      <p:ext uri="{BB962C8B-B14F-4D97-AF65-F5344CB8AC3E}">
        <p14:creationId xmlns:p14="http://schemas.microsoft.com/office/powerpoint/2010/main" val="2702342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11</a:t>
            </a:fld>
            <a:endParaRPr lang="en-US" dirty="0"/>
          </a:p>
        </p:txBody>
      </p:sp>
    </p:spTree>
    <p:extLst>
      <p:ext uri="{BB962C8B-B14F-4D97-AF65-F5344CB8AC3E}">
        <p14:creationId xmlns:p14="http://schemas.microsoft.com/office/powerpoint/2010/main" val="4111530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200" dirty="0">
                <a:solidFill>
                  <a:srgbClr val="000000"/>
                </a:solidFill>
                <a:effectLst/>
                <a:latin typeface="Times New Roman" panose="02020603050405020304" pitchFamily="18" charset="0"/>
                <a:ea typeface="Times New Roman" panose="02020603050405020304" pitchFamily="18" charset="0"/>
              </a:rPr>
              <a:t>Хуучин хөрөнгөтэй холбоотой өмнөх судалгааны үед хийгдсэн ямар ч </a:t>
            </a:r>
            <a:r>
              <a:rPr lang="mn-MN" sz="1200" i="1" dirty="0">
                <a:solidFill>
                  <a:srgbClr val="000000"/>
                </a:solidFill>
                <a:effectLst/>
                <a:latin typeface="Times New Roman" panose="02020603050405020304" pitchFamily="18" charset="0"/>
                <a:ea typeface="Times New Roman" panose="02020603050405020304" pitchFamily="18" charset="0"/>
              </a:rPr>
              <a:t>үнэлгээний алдаа</a:t>
            </a:r>
            <a:r>
              <a:rPr lang="mn-MN" sz="1200" dirty="0">
                <a:solidFill>
                  <a:srgbClr val="000000"/>
                </a:solidFill>
                <a:effectLst/>
                <a:latin typeface="Times New Roman" panose="02020603050405020304" pitchFamily="18" charset="0"/>
                <a:ea typeface="Times New Roman" panose="02020603050405020304" pitchFamily="18" charset="0"/>
              </a:rPr>
              <a:t> хамааралгүй (орлогын албан татварын нөлөө ороогүй тохиолдолд) байна. </a:t>
            </a:r>
            <a:endParaRPr lang="en-US" dirty="0"/>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12</a:t>
            </a:fld>
            <a:endParaRPr lang="en-US" dirty="0"/>
          </a:p>
        </p:txBody>
      </p:sp>
    </p:spTree>
    <p:extLst>
      <p:ext uri="{BB962C8B-B14F-4D97-AF65-F5344CB8AC3E}">
        <p14:creationId xmlns:p14="http://schemas.microsoft.com/office/powerpoint/2010/main" val="3340692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13</a:t>
            </a:fld>
            <a:endParaRPr lang="en-US" dirty="0"/>
          </a:p>
        </p:txBody>
      </p:sp>
    </p:spTree>
    <p:extLst>
      <p:ext uri="{BB962C8B-B14F-4D97-AF65-F5344CB8AC3E}">
        <p14:creationId xmlns:p14="http://schemas.microsoft.com/office/powerpoint/2010/main" val="1015981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sz="1200" i="1" kern="1200" dirty="0">
                <a:solidFill>
                  <a:schemeClr val="tx1"/>
                </a:solidFill>
                <a:effectLst/>
                <a:latin typeface="+mn-lt"/>
                <a:ea typeface="+mn-ea"/>
                <a:cs typeface="+mn-cs"/>
              </a:rPr>
              <a:t>Одоогийн хэрэгжиж болохуйц зах зээлийн үнэ</a:t>
            </a:r>
            <a:r>
              <a:rPr lang="mn-MN" sz="1200" kern="1200" dirty="0">
                <a:solidFill>
                  <a:schemeClr val="tx1"/>
                </a:solidFill>
                <a:effectLst/>
                <a:latin typeface="+mn-lt"/>
                <a:ea typeface="+mn-ea"/>
                <a:cs typeface="+mn-cs"/>
              </a:rPr>
              <a:t> MV гэж шинэчлэн солих судалгаанд хуучин хөрөнгөд харгалзах хөрөнгө оруулалтын зөв мөнгөн дүн (хэмжээ) юм. Үүнийг хэрэгжүүлэх зөв арга зам бол </a:t>
            </a:r>
            <a:r>
              <a:rPr lang="mn-MN" sz="1200" i="1" kern="1200" dirty="0">
                <a:solidFill>
                  <a:schemeClr val="tx1"/>
                </a:solidFill>
                <a:effectLst/>
                <a:latin typeface="+mn-lt"/>
                <a:ea typeface="+mn-ea"/>
                <a:cs typeface="+mn-cs"/>
              </a:rPr>
              <a:t>алдагдсан боломжийн зардал</a:t>
            </a:r>
            <a:r>
              <a:rPr lang="mn-MN" sz="1200" kern="1200" dirty="0">
                <a:solidFill>
                  <a:schemeClr val="tx1"/>
                </a:solidFill>
                <a:effectLst/>
                <a:latin typeface="+mn-lt"/>
                <a:ea typeface="+mn-ea"/>
                <a:cs typeface="+mn-cs"/>
              </a:rPr>
              <a:t>, эсвэл </a:t>
            </a:r>
            <a:r>
              <a:rPr lang="mn-MN" sz="1200" i="1" kern="1200" dirty="0">
                <a:solidFill>
                  <a:schemeClr val="tx1"/>
                </a:solidFill>
                <a:effectLst/>
                <a:latin typeface="+mn-lt"/>
                <a:ea typeface="+mn-ea"/>
                <a:cs typeface="+mn-cs"/>
              </a:rPr>
              <a:t>алдагдсан боломжийн зарчм</a:t>
            </a:r>
            <a:r>
              <a:rPr lang="mn-MN" sz="1200" kern="1200" dirty="0">
                <a:solidFill>
                  <a:schemeClr val="tx1"/>
                </a:solidFill>
                <a:effectLst/>
                <a:latin typeface="+mn-lt"/>
                <a:ea typeface="+mn-ea"/>
                <a:cs typeface="+mn-cs"/>
              </a:rPr>
              <a:t>ыг ашиглах явдал юм. Өөрөөр хэлбэл, хуучин хөрөнгийг үргэлжлүүлэн ашиглахаар шийдсэн бол тухайн үед олж авах боломжтой байсан цэвэр зах зээлийн үнэ MV-ийг алдаж байна гэсэн үг юм. Тиймээс энэ нөхцөл байдлыг хуучин хөрөнгийн </a:t>
            </a:r>
            <a:r>
              <a:rPr lang="mn-MN" sz="1200" i="1" kern="1200" dirty="0">
                <a:solidFill>
                  <a:schemeClr val="tx1"/>
                </a:solidFill>
                <a:effectLst/>
                <a:latin typeface="+mn-lt"/>
                <a:ea typeface="+mn-ea"/>
                <a:cs typeface="+mn-cs"/>
              </a:rPr>
              <a:t>алдагдсан боломжийн зардал</a:t>
            </a:r>
            <a:r>
              <a:rPr lang="mn-MN" sz="1200" kern="1200" dirty="0">
                <a:solidFill>
                  <a:schemeClr val="tx1"/>
                </a:solidFill>
                <a:effectLst/>
                <a:latin typeface="+mn-lt"/>
                <a:ea typeface="+mn-ea"/>
                <a:cs typeface="+mn-cs"/>
              </a:rPr>
              <a:t> гэнэ. </a:t>
            </a:r>
            <a:endParaRPr lang="en-US" sz="1200" kern="1200" dirty="0">
              <a:solidFill>
                <a:schemeClr val="tx1"/>
              </a:solidFill>
              <a:effectLst/>
              <a:latin typeface="+mn-lt"/>
              <a:ea typeface="+mn-ea"/>
              <a:cs typeface="+mn-cs"/>
            </a:endParaRPr>
          </a:p>
          <a:p>
            <a:r>
              <a:rPr lang="mn-MN" sz="1200" kern="1200" dirty="0">
                <a:solidFill>
                  <a:schemeClr val="tx1"/>
                </a:solidFill>
                <a:effectLst/>
                <a:latin typeface="+mn-lt"/>
                <a:ea typeface="+mn-ea"/>
                <a:cs typeface="+mn-cs"/>
              </a:rPr>
              <a:t>Энэ тайлбарт нэг зүйлийг анхаарах хэрэгтэй. Хэрвээ хуучин хөрөнгийг шинэ хөрөнгөтэй ижил түвшинд ашиглагдахуйцаар шинэчлэн завсарлаж сайжруулах шаардлагатай бол шинэчлэн солих судалгааны хүрээнд хуучин хөрөнгийн нийт хөрөнгө оруулалтыг тодорхойлохдоо засвар үйлчилгээнд шаардлагатай байгаа нэмэлт мөнгөн дүнг (жишээ нь, засварын зардал гэх мэт.) одоогийн боломжит зах зээлийн үнэ MV дээр нэмэх шаардлагатай.</a:t>
            </a:r>
            <a:r>
              <a:rPr lang="en-US" dirty="0">
                <a:effectLst/>
              </a:rPr>
              <a:t> </a:t>
            </a:r>
            <a:r>
              <a:rPr lang="en-US" sz="1200" kern="1200" dirty="0" err="1">
                <a:solidFill>
                  <a:schemeClr val="tx1"/>
                </a:solidFill>
                <a:effectLst/>
                <a:latin typeface="+mn-lt"/>
                <a:ea typeface="+mn-ea"/>
                <a:cs typeface="+mn-cs"/>
              </a:rPr>
              <a:t>Татварын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дараах</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шинэчлэн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солих</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судалгаанд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хуучин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хөрөнгийг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үйлчилгээнд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үргэлжлүүлэн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ашиглах</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бол</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боломжит</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ашиг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алдагдал</a:t>
            </a:r>
            <a:r>
              <a:rPr lang="en-US" sz="1200" kern="1200" dirty="0">
                <a:solidFill>
                  <a:schemeClr val="tx1"/>
                </a:solidFill>
                <a:effectLst/>
                <a:latin typeface="+mn-lt"/>
                <a:ea typeface="+mn-ea"/>
                <a:cs typeface="+mn-cs"/>
              </a:rPr>
              <a:t>)-т</a:t>
            </a:r>
            <a:r>
              <a:rPr lang="mn-MN" sz="1200" kern="1200" dirty="0">
                <a:solidFill>
                  <a:schemeClr val="tx1"/>
                </a:solidFill>
                <a:effectLst/>
                <a:latin typeface="+mn-lt"/>
                <a:ea typeface="+mn-ea"/>
                <a:cs typeface="+mn-cs"/>
              </a:rPr>
              <a:t>а</a:t>
            </a:r>
            <a:r>
              <a:rPr lang="en-US" sz="1200" kern="1200" dirty="0">
                <a:solidFill>
                  <a:schemeClr val="tx1"/>
                </a:solidFill>
                <a:effectLst/>
                <a:latin typeface="+mn-lt"/>
                <a:ea typeface="+mn-ea"/>
                <a:cs typeface="+mn-cs"/>
              </a:rPr>
              <a:t>й </a:t>
            </a:r>
            <a:r>
              <a:rPr lang="en-US" sz="1200" kern="1200" dirty="0" err="1">
                <a:solidFill>
                  <a:schemeClr val="tx1"/>
                </a:solidFill>
                <a:effectLst/>
                <a:latin typeface="+mn-lt"/>
                <a:ea typeface="+mn-ea"/>
                <a:cs typeface="+mn-cs"/>
              </a:rPr>
              <a:t>холбоотой</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орлогын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албан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татварын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нөлөөллөөр</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өөрчилсөн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татварын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өмнөх</a:t>
            </a:r>
            <a:r>
              <a:rPr lang="en-US" sz="1200" kern="1200" dirty="0">
                <a:solidFill>
                  <a:schemeClr val="tx1"/>
                </a:solidFill>
                <a:effectLst/>
                <a:latin typeface="+mn-lt"/>
                <a:ea typeface="+mn-ea"/>
                <a:cs typeface="+mn-cs"/>
              </a:rPr>
              <a:t>  MV </a:t>
            </a:r>
            <a:r>
              <a:rPr lang="en-US" sz="1200" kern="1200" dirty="0" err="1">
                <a:solidFill>
                  <a:schemeClr val="tx1"/>
                </a:solidFill>
                <a:effectLst/>
                <a:latin typeface="+mn-lt"/>
                <a:ea typeface="+mn-ea"/>
                <a:cs typeface="+mn-cs"/>
              </a:rPr>
              <a:t>алдагддаг</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14</a:t>
            </a:fld>
            <a:endParaRPr lang="en-US" dirty="0"/>
          </a:p>
        </p:txBody>
      </p:sp>
    </p:spTree>
    <p:extLst>
      <p:ext uri="{BB962C8B-B14F-4D97-AF65-F5344CB8AC3E}">
        <p14:creationId xmlns:p14="http://schemas.microsoft.com/office/powerpoint/2010/main" val="11447931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15</a:t>
            </a:fld>
            <a:endParaRPr lang="en-US" dirty="0"/>
          </a:p>
        </p:txBody>
      </p:sp>
    </p:spTree>
    <p:extLst>
      <p:ext uri="{BB962C8B-B14F-4D97-AF65-F5344CB8AC3E}">
        <p14:creationId xmlns:p14="http://schemas.microsoft.com/office/powerpoint/2010/main" val="174442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mn-MN" sz="1200" i="1" kern="1200" dirty="0">
                <a:solidFill>
                  <a:schemeClr val="tx1"/>
                </a:solidFill>
                <a:effectLst/>
                <a:latin typeface="+mn-lt"/>
                <a:ea typeface="+mn-ea"/>
                <a:cs typeface="+mn-cs"/>
              </a:rPr>
              <a:t>Эдийн засгийн ашиглалтын хугацаа</a:t>
            </a:r>
            <a:r>
              <a:rPr lang="mn-MN" sz="1200" kern="1200" dirty="0">
                <a:solidFill>
                  <a:schemeClr val="tx1"/>
                </a:solidFill>
                <a:effectLst/>
                <a:latin typeface="+mn-lt"/>
                <a:ea typeface="+mn-ea"/>
                <a:cs typeface="+mn-cs"/>
              </a:rPr>
              <a:t> гэж тухайн хөрөнгийг өмчлөх ба ашиглах </a:t>
            </a:r>
            <a:r>
              <a:rPr lang="mn-MN" sz="1200" b="1" kern="1200" dirty="0">
                <a:solidFill>
                  <a:schemeClr val="tx1"/>
                </a:solidFill>
                <a:effectLst/>
                <a:latin typeface="+mn-lt"/>
                <a:ea typeface="+mn-ea"/>
                <a:cs typeface="+mn-cs"/>
              </a:rPr>
              <a:t>үе тутмын хамгийн бага эквивалент жилийн зардал (EUAC – minimum equivalent uniform annual cost) </a:t>
            </a:r>
            <a:r>
              <a:rPr lang="mn-MN" sz="1200" kern="1200" dirty="0">
                <a:solidFill>
                  <a:schemeClr val="tx1"/>
                </a:solidFill>
                <a:effectLst/>
                <a:latin typeface="+mn-lt"/>
                <a:ea typeface="+mn-ea"/>
                <a:cs typeface="+mn-cs"/>
              </a:rPr>
              <a:t>бий болох хугацааг хэлнэ. Хэрэв хөрөнгийн зохистой менежментийг хэрэгжүүлвэл тухайн хөрөнгийн эдийн засгийн ашиглалтын хугацаа нь ашиглалтад орсон үеэс ашиглалтаас гаргах хугацаа хүртэлх, эсвэл дахин үргэлжлүүлж ашиглах хугацаа хүртэлх, эсвэл үндсэн үйлчилгээнээс шинэчлэн солих хугацаа хүртэлх хугацаатай давхцах болно.</a:t>
            </a:r>
            <a:r>
              <a:rPr lang="en-US" dirty="0">
                <a:effectLst/>
              </a:rPr>
              <a:t> </a:t>
            </a:r>
            <a:r>
              <a:rPr lang="mn-MN" sz="1200" kern="1200" dirty="0">
                <a:solidFill>
                  <a:schemeClr val="tx1"/>
                </a:solidFill>
                <a:effectLst/>
                <a:latin typeface="+mn-lt"/>
                <a:ea typeface="+mn-ea"/>
                <a:cs typeface="+mn-cs"/>
              </a:rPr>
              <a:t>Үндсэндээ зардлын мөнгөн урсгалын AW-ийг заримдаа EUAC гэж нэрлэдэг. </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16</a:t>
            </a:fld>
            <a:endParaRPr lang="en-US" dirty="0"/>
          </a:p>
        </p:txBody>
      </p:sp>
    </p:spTree>
    <p:extLst>
      <p:ext uri="{BB962C8B-B14F-4D97-AF65-F5344CB8AC3E}">
        <p14:creationId xmlns:p14="http://schemas.microsoft.com/office/powerpoint/2010/main" val="1888866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200" dirty="0">
                <a:latin typeface="Times New Roman" panose="02020603050405020304" pitchFamily="18" charset="0"/>
                <a:cs typeface="Times New Roman" panose="02020603050405020304" pitchFamily="18" charset="0"/>
              </a:rPr>
              <a:t>Minimum equivalent uniform annual cost (EUAC) </a:t>
            </a:r>
            <a:r>
              <a:rPr lang="en-US" sz="1200" dirty="0">
                <a:latin typeface="Times New Roman" panose="02020603050405020304" pitchFamily="18" charset="0"/>
                <a:cs typeface="Times New Roman" panose="02020603050405020304" pitchFamily="18" charset="0"/>
              </a:rPr>
              <a:t>–</a:t>
            </a:r>
            <a:r>
              <a:rPr lang="mn-MN" sz="1200" dirty="0">
                <a:latin typeface="Times New Roman" panose="02020603050405020304" pitchFamily="18" charset="0"/>
                <a:cs typeface="Times New Roman" panose="02020603050405020304" pitchFamily="18" charset="0"/>
              </a:rPr>
              <a:t> үе тутмын жилийн хамгийн бага зардал</a:t>
            </a:r>
            <a:endParaRPr lang="en-US" sz="12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17</a:t>
            </a:fld>
            <a:endParaRPr lang="en-US" dirty="0"/>
          </a:p>
        </p:txBody>
      </p:sp>
    </p:spTree>
    <p:extLst>
      <p:ext uri="{BB962C8B-B14F-4D97-AF65-F5344CB8AC3E}">
        <p14:creationId xmlns:p14="http://schemas.microsoft.com/office/powerpoint/2010/main" val="3325713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sSub>
                      <m:sSubPr>
                        <m:ctrlPr>
                          <a:rPr lang="en-US" sz="1200" i="1" kern="1200" smtClean="0">
                            <a:solidFill>
                              <a:schemeClr val="tx1"/>
                            </a:solidFill>
                            <a:effectLst/>
                            <a:latin typeface="Cambria Math" panose="02040503050406030204" pitchFamily="18" charset="0"/>
                            <a:ea typeface="+mn-ea"/>
                            <a:cs typeface="+mn-cs"/>
                          </a:rPr>
                        </m:ctrlPr>
                      </m:sSubPr>
                      <m:e>
                        <m:r>
                          <m:rPr>
                            <m:sty m:val="p"/>
                          </m:rPr>
                          <a:rPr lang="mn-MN" sz="1200" kern="1200">
                            <a:solidFill>
                              <a:schemeClr val="tx1"/>
                            </a:solidFill>
                            <a:effectLst/>
                            <a:latin typeface="Cambria Math" panose="02040503050406030204" pitchFamily="18" charset="0"/>
                            <a:ea typeface="+mn-ea"/>
                            <a:cs typeface="+mn-cs"/>
                          </a:rPr>
                          <m:t>PW</m:t>
                        </m:r>
                      </m:e>
                      <m:sub>
                        <m:r>
                          <a:rPr lang="mn-MN" sz="1200" i="1" kern="1200">
                            <a:solidFill>
                              <a:schemeClr val="tx1"/>
                            </a:solidFill>
                            <a:effectLst/>
                            <a:latin typeface="Cambria Math" panose="02040503050406030204" pitchFamily="18" charset="0"/>
                            <a:ea typeface="+mn-ea"/>
                            <a:cs typeface="+mn-cs"/>
                          </a:rPr>
                          <m:t>𝑘</m:t>
                        </m:r>
                      </m:sub>
                    </m:sSub>
                    <m:d>
                      <m:dPr>
                        <m:ctrlPr>
                          <a:rPr lang="en-US" sz="1200" i="1" kern="1200">
                            <a:solidFill>
                              <a:schemeClr val="tx1"/>
                            </a:solidFill>
                            <a:effectLst/>
                            <a:latin typeface="Cambria Math" panose="02040503050406030204" pitchFamily="18" charset="0"/>
                            <a:ea typeface="+mn-ea"/>
                            <a:cs typeface="+mn-cs"/>
                          </a:rPr>
                        </m:ctrlPr>
                      </m:dPr>
                      <m:e>
                        <m:r>
                          <a:rPr lang="mn-MN" sz="1200" i="1" kern="1200">
                            <a:solidFill>
                              <a:schemeClr val="tx1"/>
                            </a:solidFill>
                            <a:effectLst/>
                            <a:latin typeface="Cambria Math" panose="02040503050406030204" pitchFamily="18" charset="0"/>
                            <a:ea typeface="+mn-ea"/>
                            <a:cs typeface="+mn-cs"/>
                          </a:rPr>
                          <m:t>𝑖</m:t>
                        </m:r>
                        <m:r>
                          <a:rPr lang="mn-MN" sz="1200" i="1" kern="1200">
                            <a:solidFill>
                              <a:schemeClr val="tx1"/>
                            </a:solidFill>
                            <a:effectLst/>
                            <a:latin typeface="Cambria Math" panose="02040503050406030204" pitchFamily="18" charset="0"/>
                            <a:ea typeface="+mn-ea"/>
                            <a:cs typeface="+mn-cs"/>
                          </a:rPr>
                          <m:t>%</m:t>
                        </m:r>
                      </m:e>
                    </m:d>
                    <m:r>
                      <a:rPr lang="mn-MN" sz="1200" i="1" kern="1200">
                        <a:solidFill>
                          <a:schemeClr val="tx1"/>
                        </a:solidFill>
                        <a:effectLst/>
                        <a:latin typeface="Cambria Math" panose="02040503050406030204" pitchFamily="18" charset="0"/>
                        <a:ea typeface="+mn-ea"/>
                        <a:cs typeface="+mn-cs"/>
                      </a:rPr>
                      <m:t>=</m:t>
                    </m:r>
                    <m:r>
                      <a:rPr lang="mn-MN" sz="1200" i="1" kern="1200">
                        <a:solidFill>
                          <a:schemeClr val="tx1"/>
                        </a:solidFill>
                        <a:effectLst/>
                        <a:latin typeface="Cambria Math" panose="02040503050406030204" pitchFamily="18" charset="0"/>
                        <a:ea typeface="+mn-ea"/>
                        <a:cs typeface="+mn-cs"/>
                      </a:rPr>
                      <m:t>𝐼</m:t>
                    </m:r>
                    <m:r>
                      <a:rPr lang="mn-MN"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m:rPr>
                            <m:sty m:val="p"/>
                          </m:rPr>
                          <a:rPr lang="mn-MN" sz="1200" kern="1200">
                            <a:solidFill>
                              <a:schemeClr val="tx1"/>
                            </a:solidFill>
                            <a:effectLst/>
                            <a:latin typeface="Cambria Math" panose="02040503050406030204" pitchFamily="18" charset="0"/>
                            <a:ea typeface="+mn-ea"/>
                            <a:cs typeface="+mn-cs"/>
                          </a:rPr>
                          <m:t>MV</m:t>
                        </m:r>
                      </m:e>
                      <m:sub>
                        <m:r>
                          <a:rPr lang="mn-MN" sz="1200" i="1" kern="1200">
                            <a:solidFill>
                              <a:schemeClr val="tx1"/>
                            </a:solidFill>
                            <a:effectLst/>
                            <a:latin typeface="Cambria Math" panose="02040503050406030204" pitchFamily="18" charset="0"/>
                            <a:ea typeface="+mn-ea"/>
                            <a:cs typeface="+mn-cs"/>
                          </a:rPr>
                          <m:t>𝑘</m:t>
                        </m:r>
                      </m:sub>
                    </m:sSub>
                    <m:d>
                      <m:dPr>
                        <m:ctrlPr>
                          <a:rPr lang="en-US" sz="1200" i="1" kern="1200">
                            <a:solidFill>
                              <a:schemeClr val="tx1"/>
                            </a:solidFill>
                            <a:effectLst/>
                            <a:latin typeface="Cambria Math" panose="02040503050406030204" pitchFamily="18" charset="0"/>
                            <a:ea typeface="+mn-ea"/>
                            <a:cs typeface="+mn-cs"/>
                          </a:rPr>
                        </m:ctrlPr>
                      </m:dPr>
                      <m:e>
                        <m:f>
                          <m:fPr>
                            <m:type m:val="lin"/>
                            <m:ctrlPr>
                              <a:rPr lang="en-US" sz="1200" i="1" kern="1200">
                                <a:solidFill>
                                  <a:schemeClr val="tx1"/>
                                </a:solidFill>
                                <a:effectLst/>
                                <a:latin typeface="Cambria Math" panose="02040503050406030204" pitchFamily="18" charset="0"/>
                                <a:ea typeface="+mn-ea"/>
                                <a:cs typeface="+mn-cs"/>
                              </a:rPr>
                            </m:ctrlPr>
                          </m:fPr>
                          <m:num>
                            <m:r>
                              <a:rPr lang="mn-MN" sz="1200" i="1" kern="1200">
                                <a:solidFill>
                                  <a:schemeClr val="tx1"/>
                                </a:solidFill>
                                <a:effectLst/>
                                <a:latin typeface="Cambria Math" panose="02040503050406030204" pitchFamily="18" charset="0"/>
                                <a:ea typeface="+mn-ea"/>
                                <a:cs typeface="+mn-cs"/>
                              </a:rPr>
                              <m:t>𝑃</m:t>
                            </m:r>
                          </m:num>
                          <m:den>
                            <m:r>
                              <a:rPr lang="mn-MN" sz="1200" i="1" kern="1200">
                                <a:solidFill>
                                  <a:schemeClr val="tx1"/>
                                </a:solidFill>
                                <a:effectLst/>
                                <a:latin typeface="Cambria Math" panose="02040503050406030204" pitchFamily="18" charset="0"/>
                                <a:ea typeface="+mn-ea"/>
                                <a:cs typeface="+mn-cs"/>
                              </a:rPr>
                              <m:t>𝐹</m:t>
                            </m:r>
                          </m:den>
                        </m:f>
                        <m:r>
                          <a:rPr lang="mn-MN" sz="1200" i="1" kern="1200">
                            <a:solidFill>
                              <a:schemeClr val="tx1"/>
                            </a:solidFill>
                            <a:effectLst/>
                            <a:latin typeface="Cambria Math" panose="02040503050406030204" pitchFamily="18" charset="0"/>
                            <a:ea typeface="+mn-ea"/>
                            <a:cs typeface="+mn-cs"/>
                          </a:rPr>
                          <m:t>, </m:t>
                        </m:r>
                        <m:r>
                          <a:rPr lang="mn-MN" sz="1200" i="1" kern="1200">
                            <a:solidFill>
                              <a:schemeClr val="tx1"/>
                            </a:solidFill>
                            <a:effectLst/>
                            <a:latin typeface="Cambria Math" panose="02040503050406030204" pitchFamily="18" charset="0"/>
                            <a:ea typeface="+mn-ea"/>
                            <a:cs typeface="+mn-cs"/>
                          </a:rPr>
                          <m:t>𝑖</m:t>
                        </m:r>
                        <m:r>
                          <a:rPr lang="mn-MN" sz="1200" i="1" kern="1200">
                            <a:solidFill>
                              <a:schemeClr val="tx1"/>
                            </a:solidFill>
                            <a:effectLst/>
                            <a:latin typeface="Cambria Math" panose="02040503050406030204" pitchFamily="18" charset="0"/>
                            <a:ea typeface="+mn-ea"/>
                            <a:cs typeface="+mn-cs"/>
                          </a:rPr>
                          <m:t>%, </m:t>
                        </m:r>
                        <m:r>
                          <a:rPr lang="mn-MN" sz="1200" i="1" kern="1200">
                            <a:solidFill>
                              <a:schemeClr val="tx1"/>
                            </a:solidFill>
                            <a:effectLst/>
                            <a:latin typeface="Cambria Math" panose="02040503050406030204" pitchFamily="18" charset="0"/>
                            <a:ea typeface="+mn-ea"/>
                            <a:cs typeface="+mn-cs"/>
                          </a:rPr>
                          <m:t>𝑘</m:t>
                        </m:r>
                      </m:e>
                    </m:d>
                    <m:r>
                      <a:rPr lang="mn-MN" sz="1200" i="1" kern="1200">
                        <a:solidFill>
                          <a:schemeClr val="tx1"/>
                        </a:solidFill>
                        <a:effectLst/>
                        <a:latin typeface="Cambria Math" panose="02040503050406030204" pitchFamily="18" charset="0"/>
                        <a:ea typeface="+mn-ea"/>
                        <a:cs typeface="+mn-cs"/>
                      </a:rPr>
                      <m:t>+</m:t>
                    </m:r>
                    <m:nary>
                      <m:naryPr>
                        <m:chr m:val="∑"/>
                        <m:limLoc m:val="undOvr"/>
                        <m:ctrlPr>
                          <a:rPr lang="en-US" sz="1200" i="1" kern="1200">
                            <a:solidFill>
                              <a:schemeClr val="tx1"/>
                            </a:solidFill>
                            <a:effectLst/>
                            <a:latin typeface="Cambria Math" panose="02040503050406030204" pitchFamily="18" charset="0"/>
                            <a:ea typeface="+mn-ea"/>
                            <a:cs typeface="+mn-cs"/>
                          </a:rPr>
                        </m:ctrlPr>
                      </m:naryPr>
                      <m:sub>
                        <m:r>
                          <a:rPr lang="mn-MN" sz="1200" i="1" kern="1200">
                            <a:solidFill>
                              <a:schemeClr val="tx1"/>
                            </a:solidFill>
                            <a:effectLst/>
                            <a:latin typeface="Cambria Math" panose="02040503050406030204" pitchFamily="18" charset="0"/>
                            <a:ea typeface="+mn-ea"/>
                            <a:cs typeface="+mn-cs"/>
                          </a:rPr>
                          <m:t>𝑗</m:t>
                        </m:r>
                        <m:r>
                          <a:rPr lang="mn-MN" sz="1200" i="1" kern="1200">
                            <a:solidFill>
                              <a:schemeClr val="tx1"/>
                            </a:solidFill>
                            <a:effectLst/>
                            <a:latin typeface="Cambria Math" panose="02040503050406030204" pitchFamily="18" charset="0"/>
                            <a:ea typeface="+mn-ea"/>
                            <a:cs typeface="+mn-cs"/>
                          </a:rPr>
                          <m:t>=1</m:t>
                        </m:r>
                      </m:sub>
                      <m:sup>
                        <m:r>
                          <a:rPr lang="mn-MN" sz="1200" i="1" kern="1200">
                            <a:solidFill>
                              <a:schemeClr val="tx1"/>
                            </a:solidFill>
                            <a:effectLst/>
                            <a:latin typeface="Cambria Math" panose="02040503050406030204" pitchFamily="18" charset="0"/>
                            <a:ea typeface="+mn-ea"/>
                            <a:cs typeface="+mn-cs"/>
                          </a:rPr>
                          <m:t>𝑘</m:t>
                        </m:r>
                      </m:sup>
                      <m:e>
                        <m:sSub>
                          <m:sSubPr>
                            <m:ctrlPr>
                              <a:rPr lang="en-US" sz="1200" i="1" kern="1200">
                                <a:solidFill>
                                  <a:schemeClr val="tx1"/>
                                </a:solidFill>
                                <a:effectLst/>
                                <a:latin typeface="Cambria Math" panose="02040503050406030204" pitchFamily="18" charset="0"/>
                                <a:ea typeface="+mn-ea"/>
                                <a:cs typeface="+mn-cs"/>
                              </a:rPr>
                            </m:ctrlPr>
                          </m:sSubPr>
                          <m:e>
                            <m:r>
                              <a:rPr lang="mn-MN" sz="1200" i="1" kern="1200">
                                <a:solidFill>
                                  <a:schemeClr val="tx1"/>
                                </a:solidFill>
                                <a:effectLst/>
                                <a:latin typeface="Cambria Math" panose="02040503050406030204" pitchFamily="18" charset="0"/>
                                <a:ea typeface="+mn-ea"/>
                                <a:cs typeface="+mn-cs"/>
                              </a:rPr>
                              <m:t>𝐸</m:t>
                            </m:r>
                          </m:e>
                          <m:sub>
                            <m:r>
                              <a:rPr lang="mn-MN" sz="1200" i="1" kern="1200">
                                <a:solidFill>
                                  <a:schemeClr val="tx1"/>
                                </a:solidFill>
                                <a:effectLst/>
                                <a:latin typeface="Cambria Math" panose="02040503050406030204" pitchFamily="18" charset="0"/>
                                <a:ea typeface="+mn-ea"/>
                                <a:cs typeface="+mn-cs"/>
                              </a:rPr>
                              <m:t>𝑗</m:t>
                            </m:r>
                          </m:sub>
                        </m:sSub>
                        <m:d>
                          <m:dPr>
                            <m:ctrlPr>
                              <a:rPr lang="en-US" sz="1200" i="1" kern="1200">
                                <a:solidFill>
                                  <a:schemeClr val="tx1"/>
                                </a:solidFill>
                                <a:effectLst/>
                                <a:latin typeface="Cambria Math" panose="02040503050406030204" pitchFamily="18" charset="0"/>
                                <a:ea typeface="+mn-ea"/>
                                <a:cs typeface="+mn-cs"/>
                              </a:rPr>
                            </m:ctrlPr>
                          </m:dPr>
                          <m:e>
                            <m:f>
                              <m:fPr>
                                <m:type m:val="lin"/>
                                <m:ctrlPr>
                                  <a:rPr lang="en-US" sz="1200" i="1" kern="1200">
                                    <a:solidFill>
                                      <a:schemeClr val="tx1"/>
                                    </a:solidFill>
                                    <a:effectLst/>
                                    <a:latin typeface="Cambria Math" panose="02040503050406030204" pitchFamily="18" charset="0"/>
                                    <a:ea typeface="+mn-ea"/>
                                    <a:cs typeface="+mn-cs"/>
                                  </a:rPr>
                                </m:ctrlPr>
                              </m:fPr>
                              <m:num>
                                <m:r>
                                  <a:rPr lang="mn-MN" sz="1200" i="1" kern="1200">
                                    <a:solidFill>
                                      <a:schemeClr val="tx1"/>
                                    </a:solidFill>
                                    <a:effectLst/>
                                    <a:latin typeface="Cambria Math" panose="02040503050406030204" pitchFamily="18" charset="0"/>
                                    <a:ea typeface="+mn-ea"/>
                                    <a:cs typeface="+mn-cs"/>
                                  </a:rPr>
                                  <m:t>𝑃</m:t>
                                </m:r>
                              </m:num>
                              <m:den>
                                <m:r>
                                  <a:rPr lang="mn-MN" sz="1200" i="1" kern="1200">
                                    <a:solidFill>
                                      <a:schemeClr val="tx1"/>
                                    </a:solidFill>
                                    <a:effectLst/>
                                    <a:latin typeface="Cambria Math" panose="02040503050406030204" pitchFamily="18" charset="0"/>
                                    <a:ea typeface="+mn-ea"/>
                                    <a:cs typeface="+mn-cs"/>
                                  </a:rPr>
                                  <m:t>𝐹</m:t>
                                </m:r>
                              </m:den>
                            </m:f>
                            <m:r>
                              <a:rPr lang="mn-MN" sz="1200" i="1" kern="1200">
                                <a:solidFill>
                                  <a:schemeClr val="tx1"/>
                                </a:solidFill>
                                <a:effectLst/>
                                <a:latin typeface="Cambria Math" panose="02040503050406030204" pitchFamily="18" charset="0"/>
                                <a:ea typeface="+mn-ea"/>
                                <a:cs typeface="+mn-cs"/>
                              </a:rPr>
                              <m:t>, </m:t>
                            </m:r>
                            <m:r>
                              <a:rPr lang="mn-MN" sz="1200" i="1" kern="1200">
                                <a:solidFill>
                                  <a:schemeClr val="tx1"/>
                                </a:solidFill>
                                <a:effectLst/>
                                <a:latin typeface="Cambria Math" panose="02040503050406030204" pitchFamily="18" charset="0"/>
                                <a:ea typeface="+mn-ea"/>
                                <a:cs typeface="+mn-cs"/>
                              </a:rPr>
                              <m:t>𝑖</m:t>
                            </m:r>
                            <m:r>
                              <a:rPr lang="mn-MN" sz="1200" i="1" kern="1200">
                                <a:solidFill>
                                  <a:schemeClr val="tx1"/>
                                </a:solidFill>
                                <a:effectLst/>
                                <a:latin typeface="Cambria Math" panose="02040503050406030204" pitchFamily="18" charset="0"/>
                                <a:ea typeface="+mn-ea"/>
                                <a:cs typeface="+mn-cs"/>
                              </a:rPr>
                              <m:t>%, </m:t>
                            </m:r>
                            <m:r>
                              <a:rPr lang="mn-MN" sz="1200" i="1" kern="1200">
                                <a:solidFill>
                                  <a:schemeClr val="tx1"/>
                                </a:solidFill>
                                <a:effectLst/>
                                <a:latin typeface="Cambria Math" panose="02040503050406030204" pitchFamily="18" charset="0"/>
                                <a:ea typeface="+mn-ea"/>
                                <a:cs typeface="+mn-cs"/>
                              </a:rPr>
                              <m:t>𝑗</m:t>
                            </m:r>
                          </m:e>
                        </m:d>
                      </m:e>
                    </m:nary>
                  </m:oMath>
                </a14:m>
                <a:r>
                  <a:rPr lang="en-US" dirty="0"/>
                  <a:t> - </a:t>
                </a:r>
                <a:r>
                  <a:rPr lang="mn-MN" sz="1200" i="1" kern="1200" dirty="0">
                    <a:solidFill>
                      <a:schemeClr val="tx1"/>
                    </a:solidFill>
                    <a:effectLst/>
                    <a:latin typeface="+mn-lt"/>
                    <a:ea typeface="+mn-ea"/>
                    <a:cs typeface="+mn-cs"/>
                  </a:rPr>
                  <a:t>k</a:t>
                </a:r>
                <a:r>
                  <a:rPr lang="mn-MN" sz="1200" kern="1200" dirty="0">
                    <a:solidFill>
                      <a:schemeClr val="tx1"/>
                    </a:solidFill>
                    <a:effectLst/>
                    <a:latin typeface="+mn-lt"/>
                    <a:ea typeface="+mn-ea"/>
                    <a:cs typeface="+mn-cs"/>
                  </a:rPr>
                  <a:t> жилийн эцэс дэх зах зээлийн үнэ MV-ийн PW-ээр тохируулсан анхдагч хөрөнгө оруулалт </a:t>
                </a:r>
                <a:r>
                  <a:rPr lang="mn-MN" sz="1200" i="1" kern="1200" dirty="0">
                    <a:solidFill>
                      <a:schemeClr val="tx1"/>
                    </a:solidFill>
                    <a:effectLst/>
                    <a:latin typeface="+mn-lt"/>
                    <a:ea typeface="+mn-ea"/>
                    <a:cs typeface="+mn-cs"/>
                  </a:rPr>
                  <a:t>I</a:t>
                </a:r>
                <a:r>
                  <a:rPr lang="mn-MN" sz="1200" kern="1200" dirty="0">
                    <a:solidFill>
                      <a:schemeClr val="tx1"/>
                    </a:solidFill>
                    <a:effectLst/>
                    <a:latin typeface="+mn-lt"/>
                    <a:ea typeface="+mn-ea"/>
                    <a:cs typeface="+mn-cs"/>
                  </a:rPr>
                  <a:t> болон </a:t>
                </a:r>
                <a:r>
                  <a:rPr lang="mn-MN" sz="1200" i="1" kern="1200" dirty="0">
                    <a:solidFill>
                      <a:schemeClr val="tx1"/>
                    </a:solidFill>
                    <a:effectLst/>
                    <a:latin typeface="+mn-lt"/>
                    <a:ea typeface="+mn-ea"/>
                    <a:cs typeface="+mn-cs"/>
                  </a:rPr>
                  <a:t>k</a:t>
                </a:r>
                <a:r>
                  <a:rPr lang="mn-MN" sz="1200" kern="1200" dirty="0">
                    <a:solidFill>
                      <a:schemeClr val="tx1"/>
                    </a:solidFill>
                    <a:effectLst/>
                    <a:latin typeface="+mn-lt"/>
                    <a:ea typeface="+mn-ea"/>
                    <a:cs typeface="+mn-cs"/>
                  </a:rPr>
                  <a:t> дугаар жилийн турш гарсан жилийн зардал </a:t>
                </a:r>
                <a:r>
                  <a:rPr lang="mn-MN" sz="1200" i="1" kern="1200" dirty="0">
                    <a:solidFill>
                      <a:schemeClr val="tx1"/>
                    </a:solidFill>
                    <a:effectLst/>
                    <a:latin typeface="+mn-lt"/>
                    <a:ea typeface="+mn-ea"/>
                    <a:cs typeface="+mn-cs"/>
                  </a:rPr>
                  <a:t>E</a:t>
                </a:r>
                <a:r>
                  <a:rPr lang="mn-MN" sz="1200" i="1" kern="1200" baseline="-25000" dirty="0">
                    <a:solidFill>
                      <a:schemeClr val="tx1"/>
                    </a:solidFill>
                    <a:effectLst/>
                    <a:latin typeface="+mn-lt"/>
                    <a:ea typeface="+mn-ea"/>
                    <a:cs typeface="+mn-cs"/>
                  </a:rPr>
                  <a:t>j</a:t>
                </a:r>
                <a:r>
                  <a:rPr lang="mn-MN" sz="1200" kern="1200" dirty="0">
                    <a:solidFill>
                      <a:schemeClr val="tx1"/>
                    </a:solidFill>
                    <a:effectLst/>
                    <a:latin typeface="+mn-lt"/>
                    <a:ea typeface="+mn-ea"/>
                    <a:cs typeface="+mn-cs"/>
                  </a:rPr>
                  <a:t>-ын PW-ийн нийлбэр (хэрвээ жилийн эхлэл хугацаанаас хойно тохиосон бол анхны хөрөнгө оруулалтын мөнгөн дүнгийн </a:t>
                </a:r>
                <a:r>
                  <a:rPr lang="en-US" sz="1200" kern="1200" dirty="0">
                    <a:solidFill>
                      <a:schemeClr val="tx1"/>
                    </a:solidFill>
                    <a:effectLst/>
                    <a:latin typeface="+mn-lt"/>
                    <a:ea typeface="+mn-ea"/>
                    <a:cs typeface="+mn-cs"/>
                  </a:rPr>
                  <a:t>PW</a:t>
                </a:r>
                <a:r>
                  <a:rPr lang="mn-MN" sz="1200" kern="1200" dirty="0">
                    <a:solidFill>
                      <a:schemeClr val="tx1"/>
                    </a:solidFill>
                    <a:effectLst/>
                    <a:latin typeface="+mn-lt"/>
                    <a:ea typeface="+mn-ea"/>
                    <a:cs typeface="+mn-cs"/>
                  </a:rPr>
                  <a:t>) байна. </a:t>
                </a:r>
                <a:endParaRPr lang="en-US" sz="1200" kern="1200" dirty="0">
                  <a:solidFill>
                    <a:schemeClr val="tx1"/>
                  </a:solidFill>
                  <a:effectLst/>
                  <a:latin typeface="+mn-lt"/>
                  <a:ea typeface="+mn-ea"/>
                  <a:cs typeface="+mn-cs"/>
                </a:endParaRPr>
              </a:p>
              <a:p>
                <a14:m>
                  <m:oMath xmlns:m="http://schemas.openxmlformats.org/officeDocument/2006/math">
                    <m:sSub>
                      <m:sSubPr>
                        <m:ctrlPr>
                          <a:rPr lang="en-US" sz="1200" i="1" kern="1200" smtClean="0">
                            <a:solidFill>
                              <a:schemeClr val="tx1"/>
                            </a:solidFill>
                            <a:effectLst/>
                            <a:latin typeface="Cambria Math" panose="02040503050406030204" pitchFamily="18" charset="0"/>
                            <a:ea typeface="+mn-ea"/>
                            <a:cs typeface="+mn-cs"/>
                          </a:rPr>
                        </m:ctrlPr>
                      </m:sSubPr>
                      <m:e>
                        <m:r>
                          <m:rPr>
                            <m:sty m:val="p"/>
                          </m:rPr>
                          <a:rPr lang="mn-MN" sz="1200" kern="1200">
                            <a:solidFill>
                              <a:schemeClr val="tx1"/>
                            </a:solidFill>
                            <a:effectLst/>
                            <a:latin typeface="Cambria Math" panose="02040503050406030204" pitchFamily="18" charset="0"/>
                            <a:ea typeface="+mn-ea"/>
                            <a:cs typeface="+mn-cs"/>
                          </a:rPr>
                          <m:t>TC</m:t>
                        </m:r>
                      </m:e>
                      <m:sub>
                        <m:r>
                          <a:rPr lang="mn-MN" sz="1200" i="1" kern="1200">
                            <a:solidFill>
                              <a:schemeClr val="tx1"/>
                            </a:solidFill>
                            <a:effectLst/>
                            <a:latin typeface="Cambria Math" panose="02040503050406030204" pitchFamily="18" charset="0"/>
                            <a:ea typeface="+mn-ea"/>
                            <a:cs typeface="+mn-cs"/>
                          </a:rPr>
                          <m:t>𝑘</m:t>
                        </m:r>
                      </m:sub>
                    </m:sSub>
                    <m:d>
                      <m:dPr>
                        <m:ctrlPr>
                          <a:rPr lang="en-US" sz="1200" i="1" kern="1200">
                            <a:solidFill>
                              <a:schemeClr val="tx1"/>
                            </a:solidFill>
                            <a:effectLst/>
                            <a:latin typeface="Cambria Math" panose="02040503050406030204" pitchFamily="18" charset="0"/>
                            <a:ea typeface="+mn-ea"/>
                            <a:cs typeface="+mn-cs"/>
                          </a:rPr>
                        </m:ctrlPr>
                      </m:dPr>
                      <m:e>
                        <m:r>
                          <a:rPr lang="mn-MN" sz="1200" i="1" kern="1200">
                            <a:solidFill>
                              <a:schemeClr val="tx1"/>
                            </a:solidFill>
                            <a:effectLst/>
                            <a:latin typeface="Cambria Math" panose="02040503050406030204" pitchFamily="18" charset="0"/>
                            <a:ea typeface="+mn-ea"/>
                            <a:cs typeface="+mn-cs"/>
                          </a:rPr>
                          <m:t>𝑖</m:t>
                        </m:r>
                        <m:r>
                          <a:rPr lang="mn-MN" sz="1200" i="1" kern="1200">
                            <a:solidFill>
                              <a:schemeClr val="tx1"/>
                            </a:solidFill>
                            <a:effectLst/>
                            <a:latin typeface="Cambria Math" panose="02040503050406030204" pitchFamily="18" charset="0"/>
                            <a:ea typeface="+mn-ea"/>
                            <a:cs typeface="+mn-cs"/>
                          </a:rPr>
                          <m:t>%</m:t>
                        </m:r>
                      </m:e>
                    </m:d>
                    <m:r>
                      <a:rPr lang="mn-MN"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m:rPr>
                            <m:sty m:val="p"/>
                          </m:rPr>
                          <a:rPr lang="mn-MN" sz="1200" kern="1200">
                            <a:solidFill>
                              <a:schemeClr val="tx1"/>
                            </a:solidFill>
                            <a:effectLst/>
                            <a:latin typeface="Cambria Math" panose="02040503050406030204" pitchFamily="18" charset="0"/>
                            <a:ea typeface="+mn-ea"/>
                            <a:cs typeface="+mn-cs"/>
                          </a:rPr>
                          <m:t>MV</m:t>
                        </m:r>
                      </m:e>
                      <m:sub>
                        <m:r>
                          <a:rPr lang="mn-MN" sz="1200" i="1" kern="1200">
                            <a:solidFill>
                              <a:schemeClr val="tx1"/>
                            </a:solidFill>
                            <a:effectLst/>
                            <a:latin typeface="Cambria Math" panose="02040503050406030204" pitchFamily="18" charset="0"/>
                            <a:ea typeface="+mn-ea"/>
                            <a:cs typeface="+mn-cs"/>
                          </a:rPr>
                          <m:t>𝑘</m:t>
                        </m:r>
                        <m:r>
                          <a:rPr lang="mn-MN" sz="1200" i="1" kern="1200">
                            <a:solidFill>
                              <a:schemeClr val="tx1"/>
                            </a:solidFill>
                            <a:effectLst/>
                            <a:latin typeface="Cambria Math" panose="02040503050406030204" pitchFamily="18" charset="0"/>
                            <a:ea typeface="+mn-ea"/>
                            <a:cs typeface="+mn-cs"/>
                          </a:rPr>
                          <m:t>−1</m:t>
                        </m:r>
                      </m:sub>
                    </m:sSub>
                    <m:r>
                      <a:rPr lang="mn-MN"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m:rPr>
                            <m:sty m:val="p"/>
                          </m:rPr>
                          <a:rPr lang="mn-MN" sz="1200" kern="1200">
                            <a:solidFill>
                              <a:schemeClr val="tx1"/>
                            </a:solidFill>
                            <a:effectLst/>
                            <a:latin typeface="Cambria Math" panose="02040503050406030204" pitchFamily="18" charset="0"/>
                            <a:ea typeface="+mn-ea"/>
                            <a:cs typeface="+mn-cs"/>
                          </a:rPr>
                          <m:t>MV</m:t>
                        </m:r>
                      </m:e>
                      <m:sub>
                        <m:r>
                          <a:rPr lang="mn-MN" sz="1200" i="1" kern="1200">
                            <a:solidFill>
                              <a:schemeClr val="tx1"/>
                            </a:solidFill>
                            <a:effectLst/>
                            <a:latin typeface="Cambria Math" panose="02040503050406030204" pitchFamily="18" charset="0"/>
                            <a:ea typeface="+mn-ea"/>
                            <a:cs typeface="+mn-cs"/>
                          </a:rPr>
                          <m:t>𝑘</m:t>
                        </m:r>
                      </m:sub>
                    </m:sSub>
                    <m:r>
                      <a:rPr lang="mn-MN"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mn-MN" sz="1200" i="1" kern="1200">
                            <a:solidFill>
                              <a:schemeClr val="tx1"/>
                            </a:solidFill>
                            <a:effectLst/>
                            <a:latin typeface="Cambria Math" panose="02040503050406030204" pitchFamily="18" charset="0"/>
                            <a:ea typeface="+mn-ea"/>
                            <a:cs typeface="+mn-cs"/>
                          </a:rPr>
                          <m:t>𝑖</m:t>
                        </m:r>
                        <m:r>
                          <m:rPr>
                            <m:sty m:val="p"/>
                          </m:rPr>
                          <a:rPr lang="mn-MN" sz="1200" kern="1200">
                            <a:solidFill>
                              <a:schemeClr val="tx1"/>
                            </a:solidFill>
                            <a:effectLst/>
                            <a:latin typeface="Cambria Math" panose="02040503050406030204" pitchFamily="18" charset="0"/>
                            <a:ea typeface="+mn-ea"/>
                            <a:cs typeface="+mn-cs"/>
                          </a:rPr>
                          <m:t>MV</m:t>
                        </m:r>
                      </m:e>
                      <m:sub>
                        <m:r>
                          <a:rPr lang="mn-MN" sz="1200" i="1" kern="1200">
                            <a:solidFill>
                              <a:schemeClr val="tx1"/>
                            </a:solidFill>
                            <a:effectLst/>
                            <a:latin typeface="Cambria Math" panose="02040503050406030204" pitchFamily="18" charset="0"/>
                            <a:ea typeface="+mn-ea"/>
                            <a:cs typeface="+mn-cs"/>
                          </a:rPr>
                          <m:t>𝑘</m:t>
                        </m:r>
                        <m:r>
                          <a:rPr lang="mn-MN" sz="1200" i="1" kern="1200">
                            <a:solidFill>
                              <a:schemeClr val="tx1"/>
                            </a:solidFill>
                            <a:effectLst/>
                            <a:latin typeface="Cambria Math" panose="02040503050406030204" pitchFamily="18" charset="0"/>
                            <a:ea typeface="+mn-ea"/>
                            <a:cs typeface="+mn-cs"/>
                          </a:rPr>
                          <m:t>−1</m:t>
                        </m:r>
                      </m:sub>
                    </m:sSub>
                    <m:r>
                      <a:rPr lang="mn-MN"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mn-MN" sz="1200" i="1" kern="1200">
                            <a:solidFill>
                              <a:schemeClr val="tx1"/>
                            </a:solidFill>
                            <a:effectLst/>
                            <a:latin typeface="Cambria Math" panose="02040503050406030204" pitchFamily="18" charset="0"/>
                            <a:ea typeface="+mn-ea"/>
                            <a:cs typeface="+mn-cs"/>
                          </a:rPr>
                          <m:t>𝐸</m:t>
                        </m:r>
                      </m:e>
                      <m:sub>
                        <m:r>
                          <a:rPr lang="mn-MN" sz="1200" i="1" kern="1200">
                            <a:solidFill>
                              <a:schemeClr val="tx1"/>
                            </a:solidFill>
                            <a:effectLst/>
                            <a:latin typeface="Cambria Math" panose="02040503050406030204" pitchFamily="18" charset="0"/>
                            <a:ea typeface="+mn-ea"/>
                            <a:cs typeface="+mn-cs"/>
                          </a:rPr>
                          <m:t>𝑘</m:t>
                        </m:r>
                      </m:sub>
                    </m:sSub>
                  </m:oMath>
                </a14:m>
                <a:r>
                  <a:rPr lang="en-US" dirty="0"/>
                  <a:t> - </a:t>
                </a:r>
                <a:r>
                  <a:rPr lang="mn-MN" sz="1200" kern="1200" dirty="0">
                    <a:solidFill>
                      <a:schemeClr val="tx1"/>
                    </a:solidFill>
                    <a:effectLst/>
                    <a:latin typeface="+mn-lt"/>
                    <a:ea typeface="+mn-ea"/>
                    <a:cs typeface="+mn-cs"/>
                  </a:rPr>
                  <a:t>Энэ тэгшитгэл үйлчилгээний жилийн туршид зах зээлийн үнэ MV-ийн алдагдал, </a:t>
                </a:r>
                <a:r>
                  <a:rPr lang="mn-MN" sz="1200" i="1" kern="1200" dirty="0">
                    <a:solidFill>
                      <a:schemeClr val="tx1"/>
                    </a:solidFill>
                    <a:effectLst/>
                    <a:latin typeface="+mn-lt"/>
                    <a:ea typeface="+mn-ea"/>
                    <a:cs typeface="+mn-cs"/>
                  </a:rPr>
                  <a:t>k</a:t>
                </a:r>
                <a:r>
                  <a:rPr lang="mn-MN" sz="1200" kern="1200" dirty="0">
                    <a:solidFill>
                      <a:schemeClr val="tx1"/>
                    </a:solidFill>
                    <a:effectLst/>
                    <a:latin typeface="+mn-lt"/>
                    <a:ea typeface="+mn-ea"/>
                    <a:cs typeface="+mn-cs"/>
                  </a:rPr>
                  <a:t> жилийн эхэн дэх хөрөнгийн хөрөнгө оруулалтын алдагдсан боломжийн зардал болон </a:t>
                </a:r>
                <a:r>
                  <a:rPr lang="mn-MN" sz="1200" i="1" kern="1200" dirty="0">
                    <a:solidFill>
                      <a:schemeClr val="tx1"/>
                    </a:solidFill>
                    <a:effectLst/>
                    <a:latin typeface="+mn-lt"/>
                    <a:ea typeface="+mn-ea"/>
                    <a:cs typeface="+mn-cs"/>
                  </a:rPr>
                  <a:t>k</a:t>
                </a:r>
                <a:r>
                  <a:rPr lang="mn-MN" sz="1200" kern="1200" dirty="0">
                    <a:solidFill>
                      <a:schemeClr val="tx1"/>
                    </a:solidFill>
                    <a:effectLst/>
                    <a:latin typeface="+mn-lt"/>
                    <a:ea typeface="+mn-ea"/>
                    <a:cs typeface="+mn-cs"/>
                  </a:rPr>
                  <a:t> жилд гарсан жилийн зардал (</a:t>
                </a:r>
                <a:r>
                  <a:rPr lang="mn-MN" sz="1200" i="1" kern="1200" dirty="0">
                    <a:solidFill>
                      <a:schemeClr val="tx1"/>
                    </a:solidFill>
                    <a:effectLst/>
                    <a:latin typeface="+mn-lt"/>
                    <a:ea typeface="+mn-ea"/>
                    <a:cs typeface="+mn-cs"/>
                  </a:rPr>
                  <a:t>E</a:t>
                </a:r>
                <a:r>
                  <a:rPr lang="mn-MN" sz="1200" i="1" kern="1200" baseline="-25000" dirty="0">
                    <a:solidFill>
                      <a:schemeClr val="tx1"/>
                    </a:solidFill>
                    <a:effectLst/>
                    <a:latin typeface="+mn-lt"/>
                    <a:ea typeface="+mn-ea"/>
                    <a:cs typeface="+mn-cs"/>
                  </a:rPr>
                  <a:t>k</a:t>
                </a:r>
                <a:r>
                  <a:rPr lang="mn-MN" sz="1200" kern="1200" dirty="0">
                    <a:solidFill>
                      <a:schemeClr val="tx1"/>
                    </a:solidFill>
                    <a:effectLst/>
                    <a:latin typeface="+mn-lt"/>
                    <a:ea typeface="+mn-ea"/>
                    <a:cs typeface="+mn-cs"/>
                  </a:rPr>
                  <a:t>)-ын нийлбэр байна. </a:t>
                </a:r>
                <a:endParaRPr lang="en-US" dirty="0"/>
              </a:p>
              <a:p>
                <a:endParaRPr lang="en-US" dirty="0"/>
              </a:p>
            </p:txBody>
          </p:sp>
        </mc:Choice>
        <mc:Fallback xmlns="">
          <p:sp>
            <p:nvSpPr>
              <p:cNvPr id="3" name="Notes Placeholder 2"/>
              <p:cNvSpPr>
                <a:spLocks noGrp="1"/>
              </p:cNvSpPr>
              <p:nvPr>
                <p:ph type="body" idx="1"/>
              </p:nvPr>
            </p:nvSpPr>
            <p:spPr/>
            <p:txBody>
              <a:bodyPr/>
              <a:lstStyle/>
              <a:p>
                <a:r>
                  <a:rPr lang="mn-MN" sz="1200" i="0" kern="1200">
                    <a:solidFill>
                      <a:schemeClr val="tx1"/>
                    </a:solidFill>
                    <a:effectLst/>
                    <a:latin typeface="Cambria Math" panose="02040503050406030204" pitchFamily="18" charset="0"/>
                    <a:ea typeface="+mn-ea"/>
                    <a:cs typeface="+mn-cs"/>
                  </a:rPr>
                  <a:t>PW</a:t>
                </a:r>
                <a:r>
                  <a:rPr lang="en-US" sz="1200" i="0" kern="1200">
                    <a:solidFill>
                      <a:schemeClr val="tx1"/>
                    </a:solidFill>
                    <a:effectLst/>
                    <a:latin typeface="Cambria Math" panose="02040503050406030204" pitchFamily="18" charset="0"/>
                    <a:ea typeface="+mn-ea"/>
                    <a:cs typeface="+mn-cs"/>
                  </a:rPr>
                  <a:t>_</a:t>
                </a:r>
                <a:r>
                  <a:rPr lang="mn-MN" sz="1200" i="0" kern="1200">
                    <a:solidFill>
                      <a:schemeClr val="tx1"/>
                    </a:solidFill>
                    <a:effectLst/>
                    <a:latin typeface="Cambria Math" panose="02040503050406030204" pitchFamily="18" charset="0"/>
                    <a:ea typeface="+mn-ea"/>
                    <a:cs typeface="+mn-cs"/>
                  </a:rPr>
                  <a:t>𝑘</a:t>
                </a:r>
                <a:r>
                  <a:rPr lang="en-US" sz="1200" i="0" kern="1200">
                    <a:solidFill>
                      <a:schemeClr val="tx1"/>
                    </a:solidFill>
                    <a:effectLst/>
                    <a:latin typeface="Cambria Math" panose="02040503050406030204" pitchFamily="18" charset="0"/>
                    <a:ea typeface="+mn-ea"/>
                    <a:cs typeface="+mn-cs"/>
                  </a:rPr>
                  <a:t> (</a:t>
                </a:r>
                <a:r>
                  <a:rPr lang="mn-MN" sz="1200" i="0" kern="1200">
                    <a:solidFill>
                      <a:schemeClr val="tx1"/>
                    </a:solidFill>
                    <a:effectLst/>
                    <a:latin typeface="Cambria Math" panose="02040503050406030204" pitchFamily="18" charset="0"/>
                    <a:ea typeface="+mn-ea"/>
                    <a:cs typeface="+mn-cs"/>
                  </a:rPr>
                  <a:t>𝑖%)=𝐼−MV</a:t>
                </a:r>
                <a:r>
                  <a:rPr lang="en-US" sz="1200" i="0" kern="1200">
                    <a:solidFill>
                      <a:schemeClr val="tx1"/>
                    </a:solidFill>
                    <a:effectLst/>
                    <a:latin typeface="Cambria Math" panose="02040503050406030204" pitchFamily="18" charset="0"/>
                    <a:ea typeface="+mn-ea"/>
                    <a:cs typeface="+mn-cs"/>
                  </a:rPr>
                  <a:t>_</a:t>
                </a:r>
                <a:r>
                  <a:rPr lang="mn-MN" sz="1200" i="0" kern="1200">
                    <a:solidFill>
                      <a:schemeClr val="tx1"/>
                    </a:solidFill>
                    <a:effectLst/>
                    <a:latin typeface="Cambria Math" panose="02040503050406030204" pitchFamily="18" charset="0"/>
                    <a:ea typeface="+mn-ea"/>
                    <a:cs typeface="+mn-cs"/>
                  </a:rPr>
                  <a:t>𝑘</a:t>
                </a:r>
                <a:r>
                  <a:rPr lang="en-US" sz="1200" i="0" kern="1200">
                    <a:solidFill>
                      <a:schemeClr val="tx1"/>
                    </a:solidFill>
                    <a:effectLst/>
                    <a:latin typeface="Cambria Math" panose="02040503050406030204" pitchFamily="18" charset="0"/>
                    <a:ea typeface="+mn-ea"/>
                    <a:cs typeface="+mn-cs"/>
                  </a:rPr>
                  <a:t> (</a:t>
                </a:r>
                <a:r>
                  <a:rPr lang="mn-MN" sz="1200" i="0" kern="1200">
                    <a:solidFill>
                      <a:schemeClr val="tx1"/>
                    </a:solidFill>
                    <a:effectLst/>
                    <a:latin typeface="Cambria Math" panose="02040503050406030204" pitchFamily="18" charset="0"/>
                    <a:ea typeface="+mn-ea"/>
                    <a:cs typeface="+mn-cs"/>
                  </a:rPr>
                  <a:t>𝑃</a:t>
                </a:r>
                <a:r>
                  <a:rPr lang="en-US" sz="1200" i="0" kern="1200">
                    <a:solidFill>
                      <a:schemeClr val="tx1"/>
                    </a:solidFill>
                    <a:effectLst/>
                    <a:latin typeface="Cambria Math" panose="02040503050406030204" pitchFamily="18" charset="0"/>
                    <a:ea typeface="+mn-ea"/>
                    <a:cs typeface="+mn-cs"/>
                  </a:rPr>
                  <a:t>∕</a:t>
                </a:r>
                <a:r>
                  <a:rPr lang="mn-MN" sz="1200" i="0" kern="1200">
                    <a:solidFill>
                      <a:schemeClr val="tx1"/>
                    </a:solidFill>
                    <a:effectLst/>
                    <a:latin typeface="Cambria Math" panose="02040503050406030204" pitchFamily="18" charset="0"/>
                    <a:ea typeface="+mn-ea"/>
                    <a:cs typeface="+mn-cs"/>
                  </a:rPr>
                  <a:t>𝐹, 𝑖%, 𝑘)+</a:t>
                </a:r>
                <a:r>
                  <a:rPr lang="en-US" sz="1200" i="0" kern="1200">
                    <a:solidFill>
                      <a:schemeClr val="tx1"/>
                    </a:solidFill>
                    <a:effectLst/>
                    <a:latin typeface="Cambria Math" panose="02040503050406030204" pitchFamily="18" charset="0"/>
                    <a:ea typeface="+mn-ea"/>
                    <a:cs typeface="+mn-cs"/>
                  </a:rPr>
                  <a:t>∑1</a:t>
                </a:r>
                <a:r>
                  <a:rPr lang="mn-MN" sz="1200" i="0" kern="1200">
                    <a:solidFill>
                      <a:schemeClr val="tx1"/>
                    </a:solidFill>
                    <a:effectLst/>
                    <a:latin typeface="Cambria Math" panose="02040503050406030204" pitchFamily="18" charset="0"/>
                    <a:ea typeface="+mn-ea"/>
                    <a:cs typeface="+mn-cs"/>
                  </a:rPr>
                  <a:t>_</a:t>
                </a:r>
                <a:r>
                  <a:rPr lang="en-US" sz="1200" i="0" kern="1200">
                    <a:solidFill>
                      <a:schemeClr val="tx1"/>
                    </a:solidFill>
                    <a:effectLst/>
                    <a:latin typeface="Cambria Math" panose="02040503050406030204" pitchFamily="18" charset="0"/>
                    <a:ea typeface="+mn-ea"/>
                    <a:cs typeface="+mn-cs"/>
                  </a:rPr>
                  <a:t>(</a:t>
                </a:r>
                <a:r>
                  <a:rPr lang="mn-MN" sz="1200" i="0" kern="1200">
                    <a:solidFill>
                      <a:schemeClr val="tx1"/>
                    </a:solidFill>
                    <a:effectLst/>
                    <a:latin typeface="Cambria Math" panose="02040503050406030204" pitchFamily="18" charset="0"/>
                    <a:ea typeface="+mn-ea"/>
                    <a:cs typeface="+mn-cs"/>
                  </a:rPr>
                  <a:t>𝑗=1</a:t>
                </a:r>
                <a:r>
                  <a:rPr lang="en-US" sz="1200" i="0" kern="1200">
                    <a:solidFill>
                      <a:schemeClr val="tx1"/>
                    </a:solidFill>
                    <a:effectLst/>
                    <a:latin typeface="Cambria Math" panose="02040503050406030204" pitchFamily="18" charset="0"/>
                    <a:ea typeface="+mn-ea"/>
                    <a:cs typeface="+mn-cs"/>
                  </a:rPr>
                  <a:t>)</a:t>
                </a:r>
                <a:r>
                  <a:rPr lang="mn-MN" sz="1200" i="0" kern="1200">
                    <a:solidFill>
                      <a:schemeClr val="tx1"/>
                    </a:solidFill>
                    <a:effectLst/>
                    <a:latin typeface="Cambria Math" panose="02040503050406030204" pitchFamily="18" charset="0"/>
                    <a:ea typeface="+mn-ea"/>
                    <a:cs typeface="+mn-cs"/>
                  </a:rPr>
                  <a:t>^𝑘▒〖𝐸</a:t>
                </a:r>
                <a:r>
                  <a:rPr lang="en-US" sz="1200" i="0" kern="1200">
                    <a:solidFill>
                      <a:schemeClr val="tx1"/>
                    </a:solidFill>
                    <a:effectLst/>
                    <a:latin typeface="Cambria Math" panose="02040503050406030204" pitchFamily="18" charset="0"/>
                    <a:ea typeface="+mn-ea"/>
                    <a:cs typeface="+mn-cs"/>
                  </a:rPr>
                  <a:t>_</a:t>
                </a:r>
                <a:r>
                  <a:rPr lang="mn-MN" sz="1200" i="0" kern="1200">
                    <a:solidFill>
                      <a:schemeClr val="tx1"/>
                    </a:solidFill>
                    <a:effectLst/>
                    <a:latin typeface="Cambria Math" panose="02040503050406030204" pitchFamily="18" charset="0"/>
                    <a:ea typeface="+mn-ea"/>
                    <a:cs typeface="+mn-cs"/>
                  </a:rPr>
                  <a:t>𝑗</a:t>
                </a:r>
                <a:r>
                  <a:rPr lang="en-US" sz="1200" i="0" kern="1200">
                    <a:solidFill>
                      <a:schemeClr val="tx1"/>
                    </a:solidFill>
                    <a:effectLst/>
                    <a:latin typeface="Cambria Math" panose="02040503050406030204" pitchFamily="18" charset="0"/>
                    <a:ea typeface="+mn-ea"/>
                    <a:cs typeface="+mn-cs"/>
                  </a:rPr>
                  <a:t> (</a:t>
                </a:r>
                <a:r>
                  <a:rPr lang="mn-MN" sz="1200" i="0" kern="1200">
                    <a:solidFill>
                      <a:schemeClr val="tx1"/>
                    </a:solidFill>
                    <a:effectLst/>
                    <a:latin typeface="Cambria Math" panose="02040503050406030204" pitchFamily="18" charset="0"/>
                    <a:ea typeface="+mn-ea"/>
                    <a:cs typeface="+mn-cs"/>
                  </a:rPr>
                  <a:t>𝑃</a:t>
                </a:r>
                <a:r>
                  <a:rPr lang="en-US" sz="1200" i="0" kern="1200">
                    <a:solidFill>
                      <a:schemeClr val="tx1"/>
                    </a:solidFill>
                    <a:effectLst/>
                    <a:latin typeface="Cambria Math" panose="02040503050406030204" pitchFamily="18" charset="0"/>
                    <a:ea typeface="+mn-ea"/>
                    <a:cs typeface="+mn-cs"/>
                  </a:rPr>
                  <a:t>∕</a:t>
                </a:r>
                <a:r>
                  <a:rPr lang="mn-MN" sz="1200" i="0" kern="1200">
                    <a:solidFill>
                      <a:schemeClr val="tx1"/>
                    </a:solidFill>
                    <a:effectLst/>
                    <a:latin typeface="Cambria Math" panose="02040503050406030204" pitchFamily="18" charset="0"/>
                    <a:ea typeface="+mn-ea"/>
                    <a:cs typeface="+mn-cs"/>
                  </a:rPr>
                  <a:t>𝐹, 𝑖%, 𝑗) 〗</a:t>
                </a:r>
                <a:r>
                  <a:rPr lang="en-US" dirty="0"/>
                  <a:t> - </a:t>
                </a:r>
                <a:r>
                  <a:rPr lang="mn-MN" sz="1200" i="1" kern="1200" dirty="0">
                    <a:solidFill>
                      <a:schemeClr val="tx1"/>
                    </a:solidFill>
                    <a:effectLst/>
                    <a:latin typeface="+mn-lt"/>
                    <a:ea typeface="+mn-ea"/>
                    <a:cs typeface="+mn-cs"/>
                  </a:rPr>
                  <a:t>k</a:t>
                </a:r>
                <a:r>
                  <a:rPr lang="mn-MN" sz="1200" kern="1200" dirty="0">
                    <a:solidFill>
                      <a:schemeClr val="tx1"/>
                    </a:solidFill>
                    <a:effectLst/>
                    <a:latin typeface="+mn-lt"/>
                    <a:ea typeface="+mn-ea"/>
                    <a:cs typeface="+mn-cs"/>
                  </a:rPr>
                  <a:t> жилийн эцэс дэх зах зээлийн үнэ MV-ийн PW-ээр тохируулсан анхдагч хөрөнгө оруулалт </a:t>
                </a:r>
                <a:r>
                  <a:rPr lang="mn-MN" sz="1200" i="1" kern="1200" dirty="0">
                    <a:solidFill>
                      <a:schemeClr val="tx1"/>
                    </a:solidFill>
                    <a:effectLst/>
                    <a:latin typeface="+mn-lt"/>
                    <a:ea typeface="+mn-ea"/>
                    <a:cs typeface="+mn-cs"/>
                  </a:rPr>
                  <a:t>I</a:t>
                </a:r>
                <a:r>
                  <a:rPr lang="mn-MN" sz="1200" kern="1200" dirty="0">
                    <a:solidFill>
                      <a:schemeClr val="tx1"/>
                    </a:solidFill>
                    <a:effectLst/>
                    <a:latin typeface="+mn-lt"/>
                    <a:ea typeface="+mn-ea"/>
                    <a:cs typeface="+mn-cs"/>
                  </a:rPr>
                  <a:t> болон </a:t>
                </a:r>
                <a:r>
                  <a:rPr lang="mn-MN" sz="1200" i="1" kern="1200" dirty="0">
                    <a:solidFill>
                      <a:schemeClr val="tx1"/>
                    </a:solidFill>
                    <a:effectLst/>
                    <a:latin typeface="+mn-lt"/>
                    <a:ea typeface="+mn-ea"/>
                    <a:cs typeface="+mn-cs"/>
                  </a:rPr>
                  <a:t>k</a:t>
                </a:r>
                <a:r>
                  <a:rPr lang="mn-MN" sz="1200" kern="1200" dirty="0">
                    <a:solidFill>
                      <a:schemeClr val="tx1"/>
                    </a:solidFill>
                    <a:effectLst/>
                    <a:latin typeface="+mn-lt"/>
                    <a:ea typeface="+mn-ea"/>
                    <a:cs typeface="+mn-cs"/>
                  </a:rPr>
                  <a:t> дугаар жилийн турш гарсан жилийн зардал </a:t>
                </a:r>
                <a:r>
                  <a:rPr lang="mn-MN" sz="1200" i="1" kern="1200" dirty="0">
                    <a:solidFill>
                      <a:schemeClr val="tx1"/>
                    </a:solidFill>
                    <a:effectLst/>
                    <a:latin typeface="+mn-lt"/>
                    <a:ea typeface="+mn-ea"/>
                    <a:cs typeface="+mn-cs"/>
                  </a:rPr>
                  <a:t>E</a:t>
                </a:r>
                <a:r>
                  <a:rPr lang="mn-MN" sz="1200" i="1" kern="1200" baseline="-25000" dirty="0">
                    <a:solidFill>
                      <a:schemeClr val="tx1"/>
                    </a:solidFill>
                    <a:effectLst/>
                    <a:latin typeface="+mn-lt"/>
                    <a:ea typeface="+mn-ea"/>
                    <a:cs typeface="+mn-cs"/>
                  </a:rPr>
                  <a:t>j</a:t>
                </a:r>
                <a:r>
                  <a:rPr lang="mn-MN" sz="1200" kern="1200" dirty="0">
                    <a:solidFill>
                      <a:schemeClr val="tx1"/>
                    </a:solidFill>
                    <a:effectLst/>
                    <a:latin typeface="+mn-lt"/>
                    <a:ea typeface="+mn-ea"/>
                    <a:cs typeface="+mn-cs"/>
                  </a:rPr>
                  <a:t>-ын PW-ийн нийлбэр (хэрвээ жилийн эхлэл хугацаанаас хойно тохиосон бол анхны хөрөнгө оруулалтын мөнгөн дүнгийн </a:t>
                </a:r>
                <a:r>
                  <a:rPr lang="en-US" sz="1200" kern="1200" dirty="0">
                    <a:solidFill>
                      <a:schemeClr val="tx1"/>
                    </a:solidFill>
                    <a:effectLst/>
                    <a:latin typeface="+mn-lt"/>
                    <a:ea typeface="+mn-ea"/>
                    <a:cs typeface="+mn-cs"/>
                  </a:rPr>
                  <a:t>PW</a:t>
                </a:r>
                <a:r>
                  <a:rPr lang="mn-MN" sz="1200" kern="1200" dirty="0">
                    <a:solidFill>
                      <a:schemeClr val="tx1"/>
                    </a:solidFill>
                    <a:effectLst/>
                    <a:latin typeface="+mn-lt"/>
                    <a:ea typeface="+mn-ea"/>
                    <a:cs typeface="+mn-cs"/>
                  </a:rPr>
                  <a:t>) байна. </a:t>
                </a:r>
                <a:endParaRPr lang="en-US" sz="1200" kern="1200" dirty="0">
                  <a:solidFill>
                    <a:schemeClr val="tx1"/>
                  </a:solidFill>
                  <a:effectLst/>
                  <a:latin typeface="+mn-lt"/>
                  <a:ea typeface="+mn-ea"/>
                  <a:cs typeface="+mn-cs"/>
                </a:endParaRPr>
              </a:p>
              <a:p>
                <a:r>
                  <a:rPr lang="mn-MN" sz="1200" i="0" kern="1200">
                    <a:solidFill>
                      <a:schemeClr val="tx1"/>
                    </a:solidFill>
                    <a:effectLst/>
                    <a:latin typeface="Cambria Math" panose="02040503050406030204" pitchFamily="18" charset="0"/>
                    <a:ea typeface="+mn-ea"/>
                    <a:cs typeface="+mn-cs"/>
                  </a:rPr>
                  <a:t>TC</a:t>
                </a:r>
                <a:r>
                  <a:rPr lang="en-US" sz="1200" i="0" kern="1200">
                    <a:solidFill>
                      <a:schemeClr val="tx1"/>
                    </a:solidFill>
                    <a:effectLst/>
                    <a:latin typeface="Cambria Math" panose="02040503050406030204" pitchFamily="18" charset="0"/>
                    <a:ea typeface="+mn-ea"/>
                    <a:cs typeface="+mn-cs"/>
                  </a:rPr>
                  <a:t>_</a:t>
                </a:r>
                <a:r>
                  <a:rPr lang="mn-MN" sz="1200" i="0" kern="1200">
                    <a:solidFill>
                      <a:schemeClr val="tx1"/>
                    </a:solidFill>
                    <a:effectLst/>
                    <a:latin typeface="Cambria Math" panose="02040503050406030204" pitchFamily="18" charset="0"/>
                    <a:ea typeface="+mn-ea"/>
                    <a:cs typeface="+mn-cs"/>
                  </a:rPr>
                  <a:t>𝑘</a:t>
                </a:r>
                <a:r>
                  <a:rPr lang="en-US" sz="1200" i="0" kern="1200">
                    <a:solidFill>
                      <a:schemeClr val="tx1"/>
                    </a:solidFill>
                    <a:effectLst/>
                    <a:latin typeface="Cambria Math" panose="02040503050406030204" pitchFamily="18" charset="0"/>
                    <a:ea typeface="+mn-ea"/>
                    <a:cs typeface="+mn-cs"/>
                  </a:rPr>
                  <a:t> (</a:t>
                </a:r>
                <a:r>
                  <a:rPr lang="mn-MN" sz="1200" i="0" kern="1200">
                    <a:solidFill>
                      <a:schemeClr val="tx1"/>
                    </a:solidFill>
                    <a:effectLst/>
                    <a:latin typeface="Cambria Math" panose="02040503050406030204" pitchFamily="18" charset="0"/>
                    <a:ea typeface="+mn-ea"/>
                    <a:cs typeface="+mn-cs"/>
                  </a:rPr>
                  <a:t>𝑖%)=MV</a:t>
                </a:r>
                <a:r>
                  <a:rPr lang="en-US" sz="1200" i="0" kern="1200">
                    <a:solidFill>
                      <a:schemeClr val="tx1"/>
                    </a:solidFill>
                    <a:effectLst/>
                    <a:latin typeface="Cambria Math" panose="02040503050406030204" pitchFamily="18" charset="0"/>
                    <a:ea typeface="+mn-ea"/>
                    <a:cs typeface="+mn-cs"/>
                  </a:rPr>
                  <a:t>_(</a:t>
                </a:r>
                <a:r>
                  <a:rPr lang="mn-MN" sz="1200" i="0" kern="1200">
                    <a:solidFill>
                      <a:schemeClr val="tx1"/>
                    </a:solidFill>
                    <a:effectLst/>
                    <a:latin typeface="Cambria Math" panose="02040503050406030204" pitchFamily="18" charset="0"/>
                    <a:ea typeface="+mn-ea"/>
                    <a:cs typeface="+mn-cs"/>
                  </a:rPr>
                  <a:t>𝑘−1</a:t>
                </a:r>
                <a:r>
                  <a:rPr lang="en-US" sz="1200" i="0" kern="1200">
                    <a:solidFill>
                      <a:schemeClr val="tx1"/>
                    </a:solidFill>
                    <a:effectLst/>
                    <a:latin typeface="Cambria Math" panose="02040503050406030204" pitchFamily="18" charset="0"/>
                    <a:ea typeface="+mn-ea"/>
                    <a:cs typeface="+mn-cs"/>
                  </a:rPr>
                  <a:t>)</a:t>
                </a:r>
                <a:r>
                  <a:rPr lang="mn-MN" sz="1200" i="0" kern="1200">
                    <a:solidFill>
                      <a:schemeClr val="tx1"/>
                    </a:solidFill>
                    <a:effectLst/>
                    <a:latin typeface="Cambria Math" panose="02040503050406030204" pitchFamily="18" charset="0"/>
                    <a:ea typeface="+mn-ea"/>
                    <a:cs typeface="+mn-cs"/>
                  </a:rPr>
                  <a:t>−MV</a:t>
                </a:r>
                <a:r>
                  <a:rPr lang="en-US" sz="1200" i="0" kern="1200">
                    <a:solidFill>
                      <a:schemeClr val="tx1"/>
                    </a:solidFill>
                    <a:effectLst/>
                    <a:latin typeface="Cambria Math" panose="02040503050406030204" pitchFamily="18" charset="0"/>
                    <a:ea typeface="+mn-ea"/>
                    <a:cs typeface="+mn-cs"/>
                  </a:rPr>
                  <a:t>_</a:t>
                </a:r>
                <a:r>
                  <a:rPr lang="mn-MN" sz="1200" i="0" kern="1200">
                    <a:solidFill>
                      <a:schemeClr val="tx1"/>
                    </a:solidFill>
                    <a:effectLst/>
                    <a:latin typeface="Cambria Math" panose="02040503050406030204" pitchFamily="18" charset="0"/>
                    <a:ea typeface="+mn-ea"/>
                    <a:cs typeface="+mn-cs"/>
                  </a:rPr>
                  <a:t>𝑘+</a:t>
                </a:r>
                <a:r>
                  <a:rPr lang="en-US" sz="1200" i="0" kern="1200">
                    <a:solidFill>
                      <a:schemeClr val="tx1"/>
                    </a:solidFill>
                    <a:effectLst/>
                    <a:latin typeface="Cambria Math" panose="02040503050406030204" pitchFamily="18" charset="0"/>
                    <a:ea typeface="+mn-ea"/>
                    <a:cs typeface="+mn-cs"/>
                  </a:rPr>
                  <a:t>〖</a:t>
                </a:r>
                <a:r>
                  <a:rPr lang="mn-MN" sz="1200" i="0" kern="1200">
                    <a:solidFill>
                      <a:schemeClr val="tx1"/>
                    </a:solidFill>
                    <a:effectLst/>
                    <a:latin typeface="Cambria Math" panose="02040503050406030204" pitchFamily="18" charset="0"/>
                    <a:ea typeface="+mn-ea"/>
                    <a:cs typeface="+mn-cs"/>
                  </a:rPr>
                  <a:t>𝑖MV</a:t>
                </a:r>
                <a:r>
                  <a:rPr lang="en-US" sz="1200" i="0" kern="1200">
                    <a:solidFill>
                      <a:schemeClr val="tx1"/>
                    </a:solidFill>
                    <a:effectLst/>
                    <a:latin typeface="Cambria Math" panose="02040503050406030204" pitchFamily="18" charset="0"/>
                    <a:ea typeface="+mn-ea"/>
                    <a:cs typeface="+mn-cs"/>
                  </a:rPr>
                  <a:t>〗_(</a:t>
                </a:r>
                <a:r>
                  <a:rPr lang="mn-MN" sz="1200" i="0" kern="1200">
                    <a:solidFill>
                      <a:schemeClr val="tx1"/>
                    </a:solidFill>
                    <a:effectLst/>
                    <a:latin typeface="Cambria Math" panose="02040503050406030204" pitchFamily="18" charset="0"/>
                    <a:ea typeface="+mn-ea"/>
                    <a:cs typeface="+mn-cs"/>
                  </a:rPr>
                  <a:t>𝑘−1</a:t>
                </a:r>
                <a:r>
                  <a:rPr lang="en-US" sz="1200" i="0" kern="1200">
                    <a:solidFill>
                      <a:schemeClr val="tx1"/>
                    </a:solidFill>
                    <a:effectLst/>
                    <a:latin typeface="Cambria Math" panose="02040503050406030204" pitchFamily="18" charset="0"/>
                    <a:ea typeface="+mn-ea"/>
                    <a:cs typeface="+mn-cs"/>
                  </a:rPr>
                  <a:t>)</a:t>
                </a:r>
                <a:r>
                  <a:rPr lang="mn-MN" sz="1200" i="0" kern="1200">
                    <a:solidFill>
                      <a:schemeClr val="tx1"/>
                    </a:solidFill>
                    <a:effectLst/>
                    <a:latin typeface="Cambria Math" panose="02040503050406030204" pitchFamily="18" charset="0"/>
                    <a:ea typeface="+mn-ea"/>
                    <a:cs typeface="+mn-cs"/>
                  </a:rPr>
                  <a:t>+𝐸</a:t>
                </a:r>
                <a:r>
                  <a:rPr lang="en-US" sz="1200" i="0" kern="1200">
                    <a:solidFill>
                      <a:schemeClr val="tx1"/>
                    </a:solidFill>
                    <a:effectLst/>
                    <a:latin typeface="Cambria Math" panose="02040503050406030204" pitchFamily="18" charset="0"/>
                    <a:ea typeface="+mn-ea"/>
                    <a:cs typeface="+mn-cs"/>
                  </a:rPr>
                  <a:t>_</a:t>
                </a:r>
                <a:r>
                  <a:rPr lang="mn-MN" sz="1200" i="0" kern="1200">
                    <a:solidFill>
                      <a:schemeClr val="tx1"/>
                    </a:solidFill>
                    <a:effectLst/>
                    <a:latin typeface="Cambria Math" panose="02040503050406030204" pitchFamily="18" charset="0"/>
                    <a:ea typeface="+mn-ea"/>
                    <a:cs typeface="+mn-cs"/>
                  </a:rPr>
                  <a:t>𝑘</a:t>
                </a:r>
                <a:r>
                  <a:rPr lang="en-US" dirty="0"/>
                  <a:t> - </a:t>
                </a:r>
                <a:r>
                  <a:rPr lang="mn-MN" sz="1200" kern="1200" dirty="0">
                    <a:solidFill>
                      <a:schemeClr val="tx1"/>
                    </a:solidFill>
                    <a:effectLst/>
                    <a:latin typeface="+mn-lt"/>
                    <a:ea typeface="+mn-ea"/>
                    <a:cs typeface="+mn-cs"/>
                  </a:rPr>
                  <a:t>Энэ тэгшитгэл үйлчилгээний жилийн туршид зах зээлийн үнэ MV-ийн алдагдал, </a:t>
                </a:r>
                <a:r>
                  <a:rPr lang="mn-MN" sz="1200" i="1" kern="1200" dirty="0">
                    <a:solidFill>
                      <a:schemeClr val="tx1"/>
                    </a:solidFill>
                    <a:effectLst/>
                    <a:latin typeface="+mn-lt"/>
                    <a:ea typeface="+mn-ea"/>
                    <a:cs typeface="+mn-cs"/>
                  </a:rPr>
                  <a:t>k</a:t>
                </a:r>
                <a:r>
                  <a:rPr lang="mn-MN" sz="1200" kern="1200" dirty="0">
                    <a:solidFill>
                      <a:schemeClr val="tx1"/>
                    </a:solidFill>
                    <a:effectLst/>
                    <a:latin typeface="+mn-lt"/>
                    <a:ea typeface="+mn-ea"/>
                    <a:cs typeface="+mn-cs"/>
                  </a:rPr>
                  <a:t> жилийн эхэн дэх хөрөнгийн хөрөнгө оруулалтын алдагдсан боломжийн зардал болон </a:t>
                </a:r>
                <a:r>
                  <a:rPr lang="mn-MN" sz="1200" i="1" kern="1200" dirty="0">
                    <a:solidFill>
                      <a:schemeClr val="tx1"/>
                    </a:solidFill>
                    <a:effectLst/>
                    <a:latin typeface="+mn-lt"/>
                    <a:ea typeface="+mn-ea"/>
                    <a:cs typeface="+mn-cs"/>
                  </a:rPr>
                  <a:t>k</a:t>
                </a:r>
                <a:r>
                  <a:rPr lang="mn-MN" sz="1200" kern="1200" dirty="0">
                    <a:solidFill>
                      <a:schemeClr val="tx1"/>
                    </a:solidFill>
                    <a:effectLst/>
                    <a:latin typeface="+mn-lt"/>
                    <a:ea typeface="+mn-ea"/>
                    <a:cs typeface="+mn-cs"/>
                  </a:rPr>
                  <a:t> жилд гарсан жилийн зардал (</a:t>
                </a:r>
                <a:r>
                  <a:rPr lang="mn-MN" sz="1200" i="1" kern="1200" dirty="0">
                    <a:solidFill>
                      <a:schemeClr val="tx1"/>
                    </a:solidFill>
                    <a:effectLst/>
                    <a:latin typeface="+mn-lt"/>
                    <a:ea typeface="+mn-ea"/>
                    <a:cs typeface="+mn-cs"/>
                  </a:rPr>
                  <a:t>E</a:t>
                </a:r>
                <a:r>
                  <a:rPr lang="mn-MN" sz="1200" i="1" kern="1200" baseline="-25000" dirty="0">
                    <a:solidFill>
                      <a:schemeClr val="tx1"/>
                    </a:solidFill>
                    <a:effectLst/>
                    <a:latin typeface="+mn-lt"/>
                    <a:ea typeface="+mn-ea"/>
                    <a:cs typeface="+mn-cs"/>
                  </a:rPr>
                  <a:t>k</a:t>
                </a:r>
                <a:r>
                  <a:rPr lang="mn-MN" sz="1200" kern="1200" dirty="0">
                    <a:solidFill>
                      <a:schemeClr val="tx1"/>
                    </a:solidFill>
                    <a:effectLst/>
                    <a:latin typeface="+mn-lt"/>
                    <a:ea typeface="+mn-ea"/>
                    <a:cs typeface="+mn-cs"/>
                  </a:rPr>
                  <a:t>)-ын нийлбэр байна. </a:t>
                </a:r>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E4CFEF27-99CE-459F-8C01-F12FB244F5E1}" type="slidenum">
              <a:rPr lang="en-US" smtClean="0"/>
              <a:t>18</a:t>
            </a:fld>
            <a:endParaRPr lang="en-US" dirty="0"/>
          </a:p>
        </p:txBody>
      </p:sp>
    </p:spTree>
    <p:extLst>
      <p:ext uri="{BB962C8B-B14F-4D97-AF65-F5344CB8AC3E}">
        <p14:creationId xmlns:p14="http://schemas.microsoft.com/office/powerpoint/2010/main" val="389319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19</a:t>
            </a:fld>
            <a:endParaRPr lang="en-US" dirty="0"/>
          </a:p>
        </p:txBody>
      </p:sp>
    </p:spTree>
    <p:extLst>
      <p:ext uri="{BB962C8B-B14F-4D97-AF65-F5344CB8AC3E}">
        <p14:creationId xmlns:p14="http://schemas.microsoft.com/office/powerpoint/2010/main" val="3674532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20</a:t>
            </a:fld>
            <a:endParaRPr lang="en-US" dirty="0"/>
          </a:p>
        </p:txBody>
      </p:sp>
    </p:spTree>
    <p:extLst>
      <p:ext uri="{BB962C8B-B14F-4D97-AF65-F5344CB8AC3E}">
        <p14:creationId xmlns:p14="http://schemas.microsoft.com/office/powerpoint/2010/main" val="3754545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21</a:t>
            </a:fld>
            <a:endParaRPr lang="en-US" dirty="0"/>
          </a:p>
        </p:txBody>
      </p:sp>
    </p:spTree>
    <p:extLst>
      <p:ext uri="{BB962C8B-B14F-4D97-AF65-F5344CB8AC3E}">
        <p14:creationId xmlns:p14="http://schemas.microsoft.com/office/powerpoint/2010/main" val="13225081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22</a:t>
            </a:fld>
            <a:endParaRPr lang="en-US" dirty="0"/>
          </a:p>
        </p:txBody>
      </p:sp>
    </p:spTree>
    <p:extLst>
      <p:ext uri="{BB962C8B-B14F-4D97-AF65-F5344CB8AC3E}">
        <p14:creationId xmlns:p14="http://schemas.microsoft.com/office/powerpoint/2010/main" val="2597095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23</a:t>
            </a:fld>
            <a:endParaRPr lang="en-US" dirty="0"/>
          </a:p>
        </p:txBody>
      </p:sp>
    </p:spTree>
    <p:extLst>
      <p:ext uri="{BB962C8B-B14F-4D97-AF65-F5344CB8AC3E}">
        <p14:creationId xmlns:p14="http://schemas.microsoft.com/office/powerpoint/2010/main" val="194393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24</a:t>
            </a:fld>
            <a:endParaRPr lang="en-US" dirty="0"/>
          </a:p>
        </p:txBody>
      </p:sp>
    </p:spTree>
    <p:extLst>
      <p:ext uri="{BB962C8B-B14F-4D97-AF65-F5344CB8AC3E}">
        <p14:creationId xmlns:p14="http://schemas.microsoft.com/office/powerpoint/2010/main" val="38767208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25</a:t>
            </a:fld>
            <a:endParaRPr lang="en-US" dirty="0"/>
          </a:p>
        </p:txBody>
      </p:sp>
    </p:spTree>
    <p:extLst>
      <p:ext uri="{BB962C8B-B14F-4D97-AF65-F5344CB8AC3E}">
        <p14:creationId xmlns:p14="http://schemas.microsoft.com/office/powerpoint/2010/main" val="15438354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26</a:t>
            </a:fld>
            <a:endParaRPr lang="en-US" dirty="0"/>
          </a:p>
        </p:txBody>
      </p:sp>
    </p:spTree>
    <p:extLst>
      <p:ext uri="{BB962C8B-B14F-4D97-AF65-F5344CB8AC3E}">
        <p14:creationId xmlns:p14="http://schemas.microsoft.com/office/powerpoint/2010/main" val="2150977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7D8C-4D35-6BE7-8913-EE48165F65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E3668D-C2DB-80DC-A1DD-F60A137AF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3D1920-FED3-D39C-539E-7B5A566391DD}"/>
              </a:ext>
            </a:extLst>
          </p:cNvPr>
          <p:cNvSpPr>
            <a:spLocks noGrp="1"/>
          </p:cNvSpPr>
          <p:nvPr>
            <p:ph type="dt" sz="half" idx="10"/>
          </p:nvPr>
        </p:nvSpPr>
        <p:spPr/>
        <p:txBody>
          <a:bodyPr/>
          <a:lstStyle/>
          <a:p>
            <a:fld id="{83867F83-6740-47E4-93AE-3D5AB4AA4876}" type="datetimeFigureOut">
              <a:rPr lang="en-US" smtClean="0"/>
              <a:t>12/5/2025</a:t>
            </a:fld>
            <a:endParaRPr lang="en-US" dirty="0"/>
          </a:p>
        </p:txBody>
      </p:sp>
      <p:sp>
        <p:nvSpPr>
          <p:cNvPr id="5" name="Footer Placeholder 4">
            <a:extLst>
              <a:ext uri="{FF2B5EF4-FFF2-40B4-BE49-F238E27FC236}">
                <a16:creationId xmlns:a16="http://schemas.microsoft.com/office/drawing/2014/main" id="{8E53230D-E594-D7A5-32EC-9616DF2086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421CD8-BAE7-5A75-5A6C-4A94631F2DE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091586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BC744-581C-A465-D5AD-698E57356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00F86A-AA32-A112-1308-F20B349FF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C6181-E825-1285-E416-EE218D446D42}"/>
              </a:ext>
            </a:extLst>
          </p:cNvPr>
          <p:cNvSpPr>
            <a:spLocks noGrp="1"/>
          </p:cNvSpPr>
          <p:nvPr>
            <p:ph type="dt" sz="half" idx="10"/>
          </p:nvPr>
        </p:nvSpPr>
        <p:spPr/>
        <p:txBody>
          <a:bodyPr/>
          <a:lstStyle/>
          <a:p>
            <a:fld id="{83867F83-6740-47E4-93AE-3D5AB4AA4876}" type="datetimeFigureOut">
              <a:rPr lang="en-US" smtClean="0"/>
              <a:t>12/5/2025</a:t>
            </a:fld>
            <a:endParaRPr lang="en-US" dirty="0"/>
          </a:p>
        </p:txBody>
      </p:sp>
      <p:sp>
        <p:nvSpPr>
          <p:cNvPr id="5" name="Footer Placeholder 4">
            <a:extLst>
              <a:ext uri="{FF2B5EF4-FFF2-40B4-BE49-F238E27FC236}">
                <a16:creationId xmlns:a16="http://schemas.microsoft.com/office/drawing/2014/main" id="{572C597F-71A2-6113-48B7-23FBF239C2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B3508B-421D-3159-299D-6A50E1BB8ADB}"/>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87891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90E7-AF98-583B-B3C9-E30B90DF8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172DBB-25A0-77B9-56E0-E617E9D7AD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1DC2C-A214-4BAD-37A9-2AF51A57E355}"/>
              </a:ext>
            </a:extLst>
          </p:cNvPr>
          <p:cNvSpPr>
            <a:spLocks noGrp="1"/>
          </p:cNvSpPr>
          <p:nvPr>
            <p:ph type="dt" sz="half" idx="10"/>
          </p:nvPr>
        </p:nvSpPr>
        <p:spPr/>
        <p:txBody>
          <a:bodyPr/>
          <a:lstStyle/>
          <a:p>
            <a:fld id="{83867F83-6740-47E4-93AE-3D5AB4AA4876}" type="datetimeFigureOut">
              <a:rPr lang="en-US" smtClean="0"/>
              <a:t>12/5/2025</a:t>
            </a:fld>
            <a:endParaRPr lang="en-US" dirty="0"/>
          </a:p>
        </p:txBody>
      </p:sp>
      <p:sp>
        <p:nvSpPr>
          <p:cNvPr id="5" name="Footer Placeholder 4">
            <a:extLst>
              <a:ext uri="{FF2B5EF4-FFF2-40B4-BE49-F238E27FC236}">
                <a16:creationId xmlns:a16="http://schemas.microsoft.com/office/drawing/2014/main" id="{091C845C-023D-8EAD-81C8-4BBE5DA6C6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E7C64A-2365-EABC-5F33-CDA3D6CE0229}"/>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2041445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0046-0812-2CE0-21AB-F2D471CDD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F84E91-81BA-B0C8-43E2-0C1FB07087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761BD2-1A58-7C56-D7A7-135866A4D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83FC1E-148B-EB6A-533C-A895CE8A2DE2}"/>
              </a:ext>
            </a:extLst>
          </p:cNvPr>
          <p:cNvSpPr>
            <a:spLocks noGrp="1"/>
          </p:cNvSpPr>
          <p:nvPr>
            <p:ph type="dt" sz="half" idx="10"/>
          </p:nvPr>
        </p:nvSpPr>
        <p:spPr/>
        <p:txBody>
          <a:bodyPr/>
          <a:lstStyle/>
          <a:p>
            <a:fld id="{83867F83-6740-47E4-93AE-3D5AB4AA4876}" type="datetimeFigureOut">
              <a:rPr lang="en-US" smtClean="0"/>
              <a:t>12/5/2025</a:t>
            </a:fld>
            <a:endParaRPr lang="en-US" dirty="0"/>
          </a:p>
        </p:txBody>
      </p:sp>
      <p:sp>
        <p:nvSpPr>
          <p:cNvPr id="6" name="Footer Placeholder 5">
            <a:extLst>
              <a:ext uri="{FF2B5EF4-FFF2-40B4-BE49-F238E27FC236}">
                <a16:creationId xmlns:a16="http://schemas.microsoft.com/office/drawing/2014/main" id="{41E110CF-5980-BE5D-9406-39F27D7591C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86073-4A93-20AE-0F86-129975236E0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17067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A182-292F-33B0-9A13-21D03CA661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CB62B1-B0F4-D60D-9CE6-4D0E730C75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70E5CA-EE3A-F3E7-7FBE-BB5ADF5C6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79186F-B8E2-72F3-72AE-3FA8848ED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88BD3-5740-E308-43A7-9518ACE58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B1AE7A-40F2-FDED-EA7F-916E5163350B}"/>
              </a:ext>
            </a:extLst>
          </p:cNvPr>
          <p:cNvSpPr>
            <a:spLocks noGrp="1"/>
          </p:cNvSpPr>
          <p:nvPr>
            <p:ph type="dt" sz="half" idx="10"/>
          </p:nvPr>
        </p:nvSpPr>
        <p:spPr/>
        <p:txBody>
          <a:bodyPr/>
          <a:lstStyle/>
          <a:p>
            <a:fld id="{83867F83-6740-47E4-93AE-3D5AB4AA4876}" type="datetimeFigureOut">
              <a:rPr lang="en-US" smtClean="0"/>
              <a:t>12/5/2025</a:t>
            </a:fld>
            <a:endParaRPr lang="en-US" dirty="0"/>
          </a:p>
        </p:txBody>
      </p:sp>
      <p:sp>
        <p:nvSpPr>
          <p:cNvPr id="8" name="Footer Placeholder 7">
            <a:extLst>
              <a:ext uri="{FF2B5EF4-FFF2-40B4-BE49-F238E27FC236}">
                <a16:creationId xmlns:a16="http://schemas.microsoft.com/office/drawing/2014/main" id="{276873A7-8D41-C1BE-DFF8-172CB3F3BF4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C8E814-2557-C6DE-8A25-A4EF60D29B4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413382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397D-71F1-CCDC-44C6-DBC5BFE1CF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E7B16D-F9FC-BCE6-1B42-BDE141D9DF5D}"/>
              </a:ext>
            </a:extLst>
          </p:cNvPr>
          <p:cNvSpPr>
            <a:spLocks noGrp="1"/>
          </p:cNvSpPr>
          <p:nvPr>
            <p:ph type="dt" sz="half" idx="10"/>
          </p:nvPr>
        </p:nvSpPr>
        <p:spPr/>
        <p:txBody>
          <a:bodyPr/>
          <a:lstStyle/>
          <a:p>
            <a:fld id="{83867F83-6740-47E4-93AE-3D5AB4AA4876}" type="datetimeFigureOut">
              <a:rPr lang="en-US" smtClean="0"/>
              <a:t>12/5/2025</a:t>
            </a:fld>
            <a:endParaRPr lang="en-US" dirty="0"/>
          </a:p>
        </p:txBody>
      </p:sp>
      <p:sp>
        <p:nvSpPr>
          <p:cNvPr id="4" name="Footer Placeholder 3">
            <a:extLst>
              <a:ext uri="{FF2B5EF4-FFF2-40B4-BE49-F238E27FC236}">
                <a16:creationId xmlns:a16="http://schemas.microsoft.com/office/drawing/2014/main" id="{0B6116CF-3051-29AA-D7A5-D541C877A31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5D2961-87BC-269D-8A12-082DD2B0C414}"/>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6081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042EFB-3455-988C-4371-6A02EC617A67}"/>
              </a:ext>
            </a:extLst>
          </p:cNvPr>
          <p:cNvSpPr>
            <a:spLocks noGrp="1"/>
          </p:cNvSpPr>
          <p:nvPr>
            <p:ph type="dt" sz="half" idx="10"/>
          </p:nvPr>
        </p:nvSpPr>
        <p:spPr/>
        <p:txBody>
          <a:bodyPr/>
          <a:lstStyle/>
          <a:p>
            <a:fld id="{83867F83-6740-47E4-93AE-3D5AB4AA4876}" type="datetimeFigureOut">
              <a:rPr lang="en-US" smtClean="0"/>
              <a:t>12/5/2025</a:t>
            </a:fld>
            <a:endParaRPr lang="en-US" dirty="0"/>
          </a:p>
        </p:txBody>
      </p:sp>
      <p:sp>
        <p:nvSpPr>
          <p:cNvPr id="3" name="Footer Placeholder 2">
            <a:extLst>
              <a:ext uri="{FF2B5EF4-FFF2-40B4-BE49-F238E27FC236}">
                <a16:creationId xmlns:a16="http://schemas.microsoft.com/office/drawing/2014/main" id="{E1023196-D0D5-1737-480A-AC1B231A720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8AA5807-4B8C-8F0B-1E78-8808049AAFDC}"/>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62293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8877-E86E-7B34-444B-E143B1819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B929B-DC3D-522B-D048-3021588858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23059F-6707-DF7E-1BE4-62F707BB9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D24B2-E883-95C9-6B96-0C3CA02A0AC4}"/>
              </a:ext>
            </a:extLst>
          </p:cNvPr>
          <p:cNvSpPr>
            <a:spLocks noGrp="1"/>
          </p:cNvSpPr>
          <p:nvPr>
            <p:ph type="dt" sz="half" idx="10"/>
          </p:nvPr>
        </p:nvSpPr>
        <p:spPr/>
        <p:txBody>
          <a:bodyPr/>
          <a:lstStyle/>
          <a:p>
            <a:fld id="{83867F83-6740-47E4-93AE-3D5AB4AA4876}" type="datetimeFigureOut">
              <a:rPr lang="en-US" smtClean="0"/>
              <a:t>12/5/2025</a:t>
            </a:fld>
            <a:endParaRPr lang="en-US" dirty="0"/>
          </a:p>
        </p:txBody>
      </p:sp>
      <p:sp>
        <p:nvSpPr>
          <p:cNvPr id="6" name="Footer Placeholder 5">
            <a:extLst>
              <a:ext uri="{FF2B5EF4-FFF2-40B4-BE49-F238E27FC236}">
                <a16:creationId xmlns:a16="http://schemas.microsoft.com/office/drawing/2014/main" id="{14C2D7E2-C7A6-E14A-739A-278F59E25B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64A7BBE-F519-5822-9D2B-941BE610F1AE}"/>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5489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29B-0D66-F795-85BE-7E78BDADB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EC4CF0-08AB-1C0A-815A-2BA203A8A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63B9B51-C177-2817-1D1A-C92F903B4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A76B8-0006-54B6-EC79-B119F0FF5ABE}"/>
              </a:ext>
            </a:extLst>
          </p:cNvPr>
          <p:cNvSpPr>
            <a:spLocks noGrp="1"/>
          </p:cNvSpPr>
          <p:nvPr>
            <p:ph type="dt" sz="half" idx="10"/>
          </p:nvPr>
        </p:nvSpPr>
        <p:spPr/>
        <p:txBody>
          <a:bodyPr/>
          <a:lstStyle/>
          <a:p>
            <a:fld id="{83867F83-6740-47E4-93AE-3D5AB4AA4876}" type="datetimeFigureOut">
              <a:rPr lang="en-US" smtClean="0"/>
              <a:t>12/5/2025</a:t>
            </a:fld>
            <a:endParaRPr lang="en-US" dirty="0"/>
          </a:p>
        </p:txBody>
      </p:sp>
      <p:sp>
        <p:nvSpPr>
          <p:cNvPr id="6" name="Footer Placeholder 5">
            <a:extLst>
              <a:ext uri="{FF2B5EF4-FFF2-40B4-BE49-F238E27FC236}">
                <a16:creationId xmlns:a16="http://schemas.microsoft.com/office/drawing/2014/main" id="{C3DF90E3-24E4-AFFB-E554-B66EC265A2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B57FE3-ECEA-4E08-D41E-EA19B38B4AEF}"/>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042817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C9902-7CD5-F898-A3C7-EA33606C1F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D88072-5629-164B-6FBB-FD7D6676D0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54E99-671D-9C4B-5F52-93E666ABDFA2}"/>
              </a:ext>
            </a:extLst>
          </p:cNvPr>
          <p:cNvSpPr>
            <a:spLocks noGrp="1"/>
          </p:cNvSpPr>
          <p:nvPr>
            <p:ph type="dt" sz="half" idx="10"/>
          </p:nvPr>
        </p:nvSpPr>
        <p:spPr/>
        <p:txBody>
          <a:bodyPr/>
          <a:lstStyle/>
          <a:p>
            <a:fld id="{83867F83-6740-47E4-93AE-3D5AB4AA4876}" type="datetimeFigureOut">
              <a:rPr lang="en-US" smtClean="0"/>
              <a:t>12/5/2025</a:t>
            </a:fld>
            <a:endParaRPr lang="en-US" dirty="0"/>
          </a:p>
        </p:txBody>
      </p:sp>
      <p:sp>
        <p:nvSpPr>
          <p:cNvPr id="5" name="Footer Placeholder 4">
            <a:extLst>
              <a:ext uri="{FF2B5EF4-FFF2-40B4-BE49-F238E27FC236}">
                <a16:creationId xmlns:a16="http://schemas.microsoft.com/office/drawing/2014/main" id="{D3052A27-D855-9487-5850-AA12D3CC7A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AB33CC-E6C6-4390-2D7D-F9F348F4AFE6}"/>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064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627C86-B539-8330-A66A-0FE29628B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18C975-ECBF-3772-1D5D-5F4B5DD65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A6307C-889B-74E9-03D3-079595FBAA0C}"/>
              </a:ext>
            </a:extLst>
          </p:cNvPr>
          <p:cNvSpPr>
            <a:spLocks noGrp="1"/>
          </p:cNvSpPr>
          <p:nvPr>
            <p:ph type="dt" sz="half" idx="10"/>
          </p:nvPr>
        </p:nvSpPr>
        <p:spPr/>
        <p:txBody>
          <a:bodyPr/>
          <a:lstStyle/>
          <a:p>
            <a:fld id="{83867F83-6740-47E4-93AE-3D5AB4AA4876}" type="datetimeFigureOut">
              <a:rPr lang="en-US" smtClean="0"/>
              <a:t>12/5/2025</a:t>
            </a:fld>
            <a:endParaRPr lang="en-US" dirty="0"/>
          </a:p>
        </p:txBody>
      </p:sp>
      <p:sp>
        <p:nvSpPr>
          <p:cNvPr id="5" name="Footer Placeholder 4">
            <a:extLst>
              <a:ext uri="{FF2B5EF4-FFF2-40B4-BE49-F238E27FC236}">
                <a16:creationId xmlns:a16="http://schemas.microsoft.com/office/drawing/2014/main" id="{0F71C601-CDCF-8113-0351-6229FE2145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145360-2CBE-551F-CCEE-8E997F9ABDA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1597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87FCA-762D-6470-BFF4-B2C55CEA1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24B729-E129-522C-12D0-6FFCA7620B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80C4F-690A-D0BF-6490-9F27DEC27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67F83-6740-47E4-93AE-3D5AB4AA4876}" type="datetimeFigureOut">
              <a:rPr lang="en-US" smtClean="0"/>
              <a:t>12/5/2025</a:t>
            </a:fld>
            <a:endParaRPr lang="en-US" dirty="0"/>
          </a:p>
        </p:txBody>
      </p:sp>
      <p:sp>
        <p:nvSpPr>
          <p:cNvPr id="5" name="Footer Placeholder 4">
            <a:extLst>
              <a:ext uri="{FF2B5EF4-FFF2-40B4-BE49-F238E27FC236}">
                <a16:creationId xmlns:a16="http://schemas.microsoft.com/office/drawing/2014/main" id="{AB97EBD5-0880-276D-00D3-BDE8B6BCD3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495C48-2E4B-20AA-E642-20DF5BE9E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28A5F-89C8-4E63-9CC2-CD7E02775F2F}" type="slidenum">
              <a:rPr lang="en-US" smtClean="0"/>
              <a:t>‹#›</a:t>
            </a:fld>
            <a:endParaRPr lang="en-US" dirty="0"/>
          </a:p>
        </p:txBody>
      </p:sp>
    </p:spTree>
    <p:extLst>
      <p:ext uri="{BB962C8B-B14F-4D97-AF65-F5344CB8AC3E}">
        <p14:creationId xmlns:p14="http://schemas.microsoft.com/office/powerpoint/2010/main" val="1887561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83" y="1786737"/>
            <a:ext cx="11180072" cy="2249581"/>
          </a:xfrm>
        </p:spPr>
        <p:txBody>
          <a:bodyPr>
            <a:normAutofit/>
          </a:bodyPr>
          <a:lstStyle/>
          <a:p>
            <a:r>
              <a:rPr lang="mn-MN" altLang="en-US" sz="4400" b="1" dirty="0">
                <a:solidFill>
                  <a:srgbClr val="002060"/>
                </a:solidFill>
                <a:latin typeface="Times New Roman" panose="02020603050405020304" pitchFamily="18" charset="0"/>
                <a:cs typeface="Times New Roman" panose="02020603050405020304" pitchFamily="18" charset="0"/>
              </a:rPr>
              <a:t>ЛЕКЦ №</a:t>
            </a:r>
            <a:r>
              <a:rPr lang="en-US" altLang="en-US" sz="4400" b="1" dirty="0">
                <a:solidFill>
                  <a:srgbClr val="002060"/>
                </a:solidFill>
                <a:latin typeface="Times New Roman" panose="02020603050405020304" pitchFamily="18" charset="0"/>
                <a:cs typeface="Times New Roman" panose="02020603050405020304" pitchFamily="18" charset="0"/>
              </a:rPr>
              <a:t>13</a:t>
            </a:r>
            <a:br>
              <a:rPr lang="en-US" altLang="en-US" sz="4400" dirty="0">
                <a:solidFill>
                  <a:srgbClr val="002060"/>
                </a:solidFill>
                <a:latin typeface="Times New Roman" panose="02020603050405020304" pitchFamily="18" charset="0"/>
                <a:cs typeface="Times New Roman" panose="02020603050405020304" pitchFamily="18" charset="0"/>
              </a:rPr>
            </a:br>
            <a:r>
              <a:rPr lang="mn-MN" sz="4000" b="1" dirty="0">
                <a:solidFill>
                  <a:srgbClr val="002060"/>
                </a:solidFill>
                <a:latin typeface="Times New Roman" panose="02020603050405020304" pitchFamily="18" charset="0"/>
                <a:cs typeface="Times New Roman" panose="02020603050405020304" pitchFamily="18" charset="0"/>
              </a:rPr>
              <a:t>Хөрөнгийн шинэчлэн сайжруулалт болон засвар үйлчилгээний шинжилгээ</a:t>
            </a:r>
            <a:endParaRPr lang="en-US" sz="4400" dirty="0">
              <a:solidFill>
                <a:schemeClr val="tx2"/>
              </a:solidFill>
              <a:effectLst>
                <a:outerShdw blurRad="63500" dist="38100" dir="5400000" algn="t" rotWithShape="0">
                  <a:prstClr val="black">
                    <a:alpha val="25000"/>
                  </a:prstClr>
                </a:outerShdw>
              </a:effectLst>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1751012" y="4210050"/>
            <a:ext cx="8689976" cy="1339541"/>
          </a:xfrm>
        </p:spPr>
        <p:txBody>
          <a:bodyPr vert="horz" lIns="91440" tIns="45720" rIns="91440" bIns="45720" rtlCol="0">
            <a:normAutofit/>
          </a:bodyPr>
          <a:lstStyle/>
          <a:p>
            <a:r>
              <a:rPr lang="en-US" altLang="en-US" sz="28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S.EEM101</a:t>
            </a:r>
            <a:br>
              <a:rPr lang="en-US" altLang="en-US" i="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mn-MN" altLang="en-US" sz="28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Инженерийн эдийн засаг</a:t>
            </a:r>
            <a:br>
              <a:rPr lang="mn-MN" altLang="en-US" sz="28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en-US" altLang="en-US" sz="28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Engineering Economy</a:t>
            </a:r>
            <a:endParaRPr lang="mn-MN" altLang="en-US" sz="2800" b="1" dirty="0">
              <a:solidFill>
                <a:srgbClr val="00206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9CC73B9C-8601-4C97-A368-5C8122BF1745}" type="slidenum">
              <a:rPr lang="en-US" altLang="en-US" smtClean="0">
                <a:solidFill>
                  <a:srgbClr val="5FCBEF"/>
                </a:solidFill>
                <a:latin typeface="Times New Roman" panose="02020603050405020304" pitchFamily="18" charset="0"/>
                <a:cs typeface="Times New Roman" panose="02020603050405020304" pitchFamily="18" charset="0"/>
              </a:rPr>
              <a:pPr>
                <a:defRPr/>
              </a:pPr>
              <a:t>1</a:t>
            </a:fld>
            <a:endParaRPr lang="en-US" altLang="en-US">
              <a:solidFill>
                <a:srgbClr val="5FCBEF"/>
              </a:solidFill>
              <a:latin typeface="Times New Roman" panose="02020603050405020304" pitchFamily="18" charset="0"/>
              <a:cs typeface="Times New Roman" panose="02020603050405020304" pitchFamily="18" charset="0"/>
            </a:endParaRPr>
          </a:p>
        </p:txBody>
      </p:sp>
      <p:pic>
        <p:nvPicPr>
          <p:cNvPr id="5" name="Picture 2" descr="Logo"/>
          <p:cNvPicPr>
            <a:picLocks noChangeAspect="1" noChangeArrowheads="1"/>
          </p:cNvPicPr>
          <p:nvPr/>
        </p:nvPicPr>
        <p:blipFill>
          <a:blip r:embed="rId3">
            <a:extLst>
              <a:ext uri="{28A0092B-C50C-407E-A947-70E740481C1C}">
                <a14:useLocalDpi xmlns:a14="http://schemas.microsoft.com/office/drawing/2010/main" val="0"/>
              </a:ext>
            </a:extLst>
          </a:blip>
          <a:srcRect r="86166"/>
          <a:stretch>
            <a:fillRect/>
          </a:stretch>
        </p:blipFill>
        <p:spPr bwMode="auto">
          <a:xfrm>
            <a:off x="10173953" y="61544"/>
            <a:ext cx="1444330" cy="213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ubtitle 2"/>
          <p:cNvSpPr txBox="1">
            <a:spLocks/>
          </p:cNvSpPr>
          <p:nvPr/>
        </p:nvSpPr>
        <p:spPr bwMode="auto">
          <a:xfrm>
            <a:off x="524750" y="128634"/>
            <a:ext cx="9649203" cy="146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SzPct val="125000"/>
              <a:buFont typeface="Arial" panose="020B0604020202020204" pitchFamily="34" charset="0"/>
              <a:buChar char="•"/>
              <a:defRPr sz="2400">
                <a:solidFill>
                  <a:schemeClr val="tx1"/>
                </a:solidFill>
                <a:latin typeface="Tw Cen MT" panose="020B0602020104020603" pitchFamily="34" charset="0"/>
              </a:defRPr>
            </a:lvl1pPr>
            <a:lvl2pPr marL="685800" indent="-228600">
              <a:lnSpc>
                <a:spcPct val="120000"/>
              </a:lnSpc>
              <a:spcBef>
                <a:spcPts val="500"/>
              </a:spcBef>
              <a:buSzPct val="125000"/>
              <a:buFont typeface="Arial" panose="020B0604020202020204" pitchFamily="34" charset="0"/>
              <a:buChar char="•"/>
              <a:defRPr sz="2000">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buChar char="•"/>
              <a:defRPr>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9pPr>
          </a:lstStyle>
          <a:p>
            <a:pPr algn="ctr" fontAlgn="base">
              <a:lnSpc>
                <a:spcPct val="100000"/>
              </a:lnSpc>
              <a:spcBef>
                <a:spcPct val="0"/>
              </a:spcBef>
              <a:spcAft>
                <a:spcPct val="0"/>
              </a:spcAft>
              <a:buFont typeface="Arial" panose="020B0604020202020204" pitchFamily="34" charset="0"/>
              <a:buNone/>
            </a:pPr>
            <a:r>
              <a:rPr lang="mn-MN" altLang="en-US" sz="2800" b="1" dirty="0">
                <a:solidFill>
                  <a:srgbClr val="002060"/>
                </a:solidFill>
                <a:latin typeface="Times New Roman" panose="02020603050405020304" pitchFamily="18" charset="0"/>
                <a:cs typeface="Times New Roman" panose="02020603050405020304" pitchFamily="18" charset="0"/>
              </a:rPr>
              <a:t>ШИНЖЛЭХ УХААН</a:t>
            </a:r>
            <a:r>
              <a:rPr lang="en-US" altLang="en-US" sz="2800" b="1" dirty="0">
                <a:solidFill>
                  <a:srgbClr val="002060"/>
                </a:solidFill>
                <a:latin typeface="Times New Roman" panose="02020603050405020304" pitchFamily="18" charset="0"/>
                <a:cs typeface="Times New Roman" panose="02020603050405020304" pitchFamily="18" charset="0"/>
              </a:rPr>
              <a:t>,</a:t>
            </a:r>
            <a:r>
              <a:rPr lang="mn-MN" altLang="en-US" sz="2800" b="1" dirty="0">
                <a:solidFill>
                  <a:srgbClr val="002060"/>
                </a:solidFill>
                <a:latin typeface="Times New Roman" panose="02020603050405020304" pitchFamily="18" charset="0"/>
                <a:cs typeface="Times New Roman" panose="02020603050405020304" pitchFamily="18" charset="0"/>
              </a:rPr>
              <a:t> ТЕХНОЛОГИЙН ИХ СУРГУУЛЬ</a:t>
            </a:r>
          </a:p>
          <a:p>
            <a:pPr algn="ctr" fontAlgn="base">
              <a:lnSpc>
                <a:spcPct val="100000"/>
              </a:lnSpc>
              <a:spcBef>
                <a:spcPct val="0"/>
              </a:spcBef>
              <a:spcAft>
                <a:spcPct val="0"/>
              </a:spcAft>
              <a:buFont typeface="Arial" panose="020B0604020202020204" pitchFamily="34" charset="0"/>
              <a:buNone/>
            </a:pPr>
            <a:r>
              <a:rPr lang="mn-MN" altLang="en-US" sz="2800" b="1" dirty="0">
                <a:solidFill>
                  <a:srgbClr val="002060"/>
                </a:solidFill>
                <a:latin typeface="Times New Roman" panose="02020603050405020304" pitchFamily="18" charset="0"/>
                <a:cs typeface="Times New Roman" panose="02020603050405020304" pitchFamily="18" charset="0"/>
              </a:rPr>
              <a:t>МЭДЭЭЛЭЛ</a:t>
            </a:r>
            <a:r>
              <a:rPr lang="en-US" altLang="en-US" sz="2800" b="1" dirty="0">
                <a:solidFill>
                  <a:srgbClr val="002060"/>
                </a:solidFill>
                <a:latin typeface="Times New Roman" panose="02020603050405020304" pitchFamily="18" charset="0"/>
                <a:cs typeface="Times New Roman" panose="02020603050405020304" pitchFamily="18" charset="0"/>
              </a:rPr>
              <a:t>,</a:t>
            </a:r>
            <a:r>
              <a:rPr lang="mn-MN" altLang="en-US" sz="2800" b="1" dirty="0">
                <a:solidFill>
                  <a:srgbClr val="002060"/>
                </a:solidFill>
                <a:latin typeface="Times New Roman" panose="02020603050405020304" pitchFamily="18" charset="0"/>
                <a:cs typeface="Times New Roman" panose="02020603050405020304" pitchFamily="18" charset="0"/>
              </a:rPr>
              <a:t> ХОЛБООНЫ ТЕХНОЛОГИЙН СУРГУУЛЬ</a:t>
            </a:r>
          </a:p>
        </p:txBody>
      </p:sp>
      <p:sp>
        <p:nvSpPr>
          <p:cNvPr id="8" name="Subtitle 2">
            <a:extLst>
              <a:ext uri="{FF2B5EF4-FFF2-40B4-BE49-F238E27FC236}">
                <a16:creationId xmlns:a16="http://schemas.microsoft.com/office/drawing/2014/main" id="{BF113D12-AC11-4AC5-B21C-E90CB9AA525E}"/>
              </a:ext>
            </a:extLst>
          </p:cNvPr>
          <p:cNvSpPr txBox="1">
            <a:spLocks/>
          </p:cNvSpPr>
          <p:nvPr/>
        </p:nvSpPr>
        <p:spPr>
          <a:xfrm>
            <a:off x="1751012" y="5763201"/>
            <a:ext cx="8689976" cy="625889"/>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120000"/>
              </a:lnSpc>
              <a:spcBef>
                <a:spcPts val="1000"/>
              </a:spcBef>
              <a:buClr>
                <a:schemeClr val="tx1"/>
              </a:buClr>
              <a:buFont typeface="Arial" panose="020B0604020202020204" pitchFamily="34" charset="0"/>
              <a:buNone/>
              <a:defRPr sz="2200" kern="1200" cap="all" baseline="0">
                <a:solidFill>
                  <a:schemeClr val="bg1">
                    <a:lumMod val="50000"/>
                  </a:schemeClr>
                </a:solidFill>
                <a:effectLst/>
                <a:latin typeface="+mn-lt"/>
                <a:ea typeface="+mn-ea"/>
                <a:cs typeface="+mn-cs"/>
              </a:defRPr>
            </a:lvl1pPr>
            <a:lvl2pPr marL="457200" indent="0" algn="ctr" defTabSz="914400" rtl="0" eaLnBrk="1" latinLnBrk="0" hangingPunct="1">
              <a:lnSpc>
                <a:spcPct val="120000"/>
              </a:lnSpc>
              <a:spcBef>
                <a:spcPts val="500"/>
              </a:spcBef>
              <a:buClr>
                <a:schemeClr val="tx1"/>
              </a:buClr>
              <a:buFont typeface="Arial" panose="020B0604020202020204" pitchFamily="34" charset="0"/>
              <a:buNone/>
              <a:defRPr sz="2000" kern="1200" cap="all"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tx1"/>
              </a:buClr>
              <a:buFont typeface="Arial" panose="020B0604020202020204" pitchFamily="34" charset="0"/>
              <a:buNone/>
              <a:defRPr sz="1800" kern="1200" cap="all" baseline="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9pPr>
          </a:lstStyle>
          <a:p>
            <a:r>
              <a:rPr lang="mn-MN" altLang="en-US" sz="2900" cap="none" dirty="0">
                <a:solidFill>
                  <a:srgbClr val="002060"/>
                </a:solidFill>
                <a:latin typeface="Times New Roman" panose="02020603050405020304" pitchFamily="18" charset="0"/>
                <a:cs typeface="Times New Roman" panose="02020603050405020304" pitchFamily="18" charset="0"/>
              </a:rPr>
              <a:t>Холбооны салбарын багш, дэд проф.,</a:t>
            </a:r>
            <a:r>
              <a:rPr lang="en-US" altLang="en-US" sz="2900" cap="none" dirty="0">
                <a:solidFill>
                  <a:srgbClr val="002060"/>
                </a:solidFill>
                <a:latin typeface="Times New Roman" panose="02020603050405020304" pitchFamily="18" charset="0"/>
                <a:cs typeface="Times New Roman" panose="02020603050405020304" pitchFamily="18" charset="0"/>
              </a:rPr>
              <a:t> </a:t>
            </a:r>
            <a:r>
              <a:rPr lang="mn-MN" altLang="en-US" sz="2900" cap="none" dirty="0">
                <a:solidFill>
                  <a:srgbClr val="002060"/>
                </a:solidFill>
                <a:latin typeface="Times New Roman" panose="02020603050405020304" pitchFamily="18" charset="0"/>
                <a:cs typeface="Times New Roman" panose="02020603050405020304" pitchFamily="18" charset="0"/>
              </a:rPr>
              <a:t>Ц.Балжинням</a:t>
            </a:r>
            <a:endParaRPr lang="mn-MN" altLang="en-US" sz="2400" cap="none" dirty="0">
              <a:solidFill>
                <a:srgbClr val="002060"/>
              </a:solidFill>
              <a:latin typeface="Times New Roman" panose="02020603050405020304" pitchFamily="18" charset="0"/>
              <a:cs typeface="Times New Roman" panose="02020603050405020304" pitchFamily="18" charset="0"/>
            </a:endParaRPr>
          </a:p>
          <a:p>
            <a:r>
              <a:rPr lang="mn-MN" altLang="en-US" sz="2400" cap="none" dirty="0">
                <a:solidFill>
                  <a:srgbClr val="002060"/>
                </a:solidFill>
                <a:latin typeface="Times New Roman" panose="02020603050405020304" pitchFamily="18" charset="0"/>
                <a:cs typeface="Times New Roman" panose="02020603050405020304" pitchFamily="18" charset="0"/>
              </a:rPr>
              <a:t>Улаанбаатар</a:t>
            </a:r>
          </a:p>
        </p:txBody>
      </p:sp>
    </p:spTree>
    <p:extLst>
      <p:ext uri="{BB962C8B-B14F-4D97-AF65-F5344CB8AC3E}">
        <p14:creationId xmlns:p14="http://schemas.microsoft.com/office/powerpoint/2010/main" val="3190798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8F32-BFE1-C21B-C995-8F54A877F02F}"/>
              </a:ext>
            </a:extLst>
          </p:cNvPr>
          <p:cNvSpPr>
            <a:spLocks noGrp="1"/>
          </p:cNvSpPr>
          <p:nvPr>
            <p:ph type="title"/>
          </p:nvPr>
        </p:nvSpPr>
        <p:spPr>
          <a:xfrm>
            <a:off x="146303" y="91749"/>
            <a:ext cx="11801855" cy="688539"/>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Хичээлийн суралцахуйн үр дүнгүүд </a:t>
            </a:r>
            <a:br>
              <a:rPr lang="mn-MN" sz="3200" b="1" dirty="0">
                <a:solidFill>
                  <a:srgbClr val="002060"/>
                </a:solidFill>
                <a:latin typeface="Times New Roman" panose="02020603050405020304" pitchFamily="18" charset="0"/>
                <a:cs typeface="Times New Roman" panose="02020603050405020304" pitchFamily="18" charset="0"/>
              </a:rPr>
            </a:br>
            <a:r>
              <a:rPr lang="mn-MN" sz="1800" b="1" dirty="0">
                <a:solidFill>
                  <a:srgbClr val="002060"/>
                </a:solidFill>
                <a:latin typeface="Times New Roman" panose="02020603050405020304" pitchFamily="18" charset="0"/>
                <a:cs typeface="Times New Roman" panose="02020603050405020304" pitchFamily="18" charset="0"/>
              </a:rPr>
              <a:t>Оюутан энэ сэдвийг судалснаар дараах ур чадваруудтай болсон байна. </a:t>
            </a:r>
            <a:endParaRPr lang="en-US" sz="32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5DFE0557-5EF0-6AAF-FD86-D7A6892F3C29}"/>
              </a:ext>
            </a:extLst>
          </p:cNvPr>
          <p:cNvGraphicFramePr>
            <a:graphicFrameLocks noGrp="1"/>
          </p:cNvGraphicFramePr>
          <p:nvPr>
            <p:ph idx="1"/>
            <p:extLst>
              <p:ext uri="{D42A27DB-BD31-4B8C-83A1-F6EECF244321}">
                <p14:modId xmlns:p14="http://schemas.microsoft.com/office/powerpoint/2010/main" val="589637391"/>
              </p:ext>
            </p:extLst>
          </p:nvPr>
        </p:nvGraphicFramePr>
        <p:xfrm>
          <a:off x="146304" y="792480"/>
          <a:ext cx="11960352" cy="4646676"/>
        </p:xfrm>
        <a:graphic>
          <a:graphicData uri="http://schemas.openxmlformats.org/drawingml/2006/table">
            <a:tbl>
              <a:tblPr firstRow="1" bandRow="1">
                <a:tableStyleId>{5C22544A-7EE6-4342-B048-85BDC9FD1C3A}</a:tableStyleId>
              </a:tblPr>
              <a:tblGrid>
                <a:gridCol w="621792">
                  <a:extLst>
                    <a:ext uri="{9D8B030D-6E8A-4147-A177-3AD203B41FA5}">
                      <a16:colId xmlns:a16="http://schemas.microsoft.com/office/drawing/2014/main" val="78146492"/>
                    </a:ext>
                  </a:extLst>
                </a:gridCol>
                <a:gridCol w="4291584">
                  <a:extLst>
                    <a:ext uri="{9D8B030D-6E8A-4147-A177-3AD203B41FA5}">
                      <a16:colId xmlns:a16="http://schemas.microsoft.com/office/drawing/2014/main" val="2993372031"/>
                    </a:ext>
                  </a:extLst>
                </a:gridCol>
                <a:gridCol w="3169920">
                  <a:extLst>
                    <a:ext uri="{9D8B030D-6E8A-4147-A177-3AD203B41FA5}">
                      <a16:colId xmlns:a16="http://schemas.microsoft.com/office/drawing/2014/main" val="3377302877"/>
                    </a:ext>
                  </a:extLst>
                </a:gridCol>
                <a:gridCol w="2292096">
                  <a:extLst>
                    <a:ext uri="{9D8B030D-6E8A-4147-A177-3AD203B41FA5}">
                      <a16:colId xmlns:a16="http://schemas.microsoft.com/office/drawing/2014/main" val="574671118"/>
                    </a:ext>
                  </a:extLst>
                </a:gridCol>
                <a:gridCol w="1584960">
                  <a:extLst>
                    <a:ext uri="{9D8B030D-6E8A-4147-A177-3AD203B41FA5}">
                      <a16:colId xmlns:a16="http://schemas.microsoft.com/office/drawing/2014/main" val="1155244748"/>
                    </a:ext>
                  </a:extLst>
                </a:gridCol>
              </a:tblGrid>
              <a:tr h="424112">
                <a:tc>
                  <a:txBody>
                    <a:bodyPr/>
                    <a:lstStyle/>
                    <a:p>
                      <a:pPr algn="ctr">
                        <a:lnSpc>
                          <a:spcPct val="90000"/>
                        </a:lnSpc>
                        <a:spcAft>
                          <a:spcPts val="0"/>
                        </a:spcAft>
                      </a:pP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д/д</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дүнгүүд</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 илэрхийлэх үйл үг</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a:t>
                      </a:r>
                      <a:r>
                        <a:rPr lang="en-US"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дүн</a:t>
                      </a:r>
                      <a:r>
                        <a:rPr lang="en-US"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a:t>
                      </a: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түвшин</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90000"/>
                        </a:lnSpc>
                        <a:spcAft>
                          <a:spcPts val="0"/>
                        </a:spcAft>
                      </a:pPr>
                      <a:r>
                        <a:rPr lang="en-US"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Блумын</a:t>
                      </a:r>
                      <a:r>
                        <a:rPr lang="en-US"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90000"/>
                        </a:lnSpc>
                        <a:spcAft>
                          <a:spcPts val="0"/>
                        </a:spcAft>
                      </a:pPr>
                      <a:r>
                        <a:rPr lang="en-US"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CLOs</a:t>
                      </a: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хамаарал</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2494423415"/>
                  </a:ext>
                </a:extLst>
              </a:tr>
              <a:tr h="396255">
                <a:tc>
                  <a:txBody>
                    <a:bodyPr/>
                    <a:lstStyle/>
                    <a:p>
                      <a:pPr algn="ctr">
                        <a:lnSpc>
                          <a:spcPct val="90000"/>
                        </a:lnSpc>
                        <a:spcAft>
                          <a:spcPts val="0"/>
                        </a:spcAft>
                      </a:pP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a:t>
                      </a:r>
                    </a:p>
                  </a:txBody>
                  <a:tcPr marL="68586" marR="68586" marT="0" marB="0" anchor="ctr">
                    <a:solidFill>
                      <a:schemeClr val="accent1">
                        <a:lumMod val="20000"/>
                        <a:lumOff val="80000"/>
                      </a:schemeClr>
                    </a:solidFill>
                  </a:tcPr>
                </a:tc>
                <a:tc>
                  <a:txBody>
                    <a:bodyPr/>
                    <a:lstStyle/>
                    <a:p>
                      <a:pPr algn="l">
                        <a:lnSpc>
                          <a:spcPct val="90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Хөрөнгийн шинэчлэлтийн шинжилгээний шалтгааныг </a:t>
                      </a:r>
                      <a:r>
                        <a:rPr lang="mn-MN" sz="2400" dirty="0">
                          <a:effectLst/>
                          <a:latin typeface="Times New Roman" panose="02020603050405020304" pitchFamily="18" charset="0"/>
                          <a:cs typeface="Times New Roman" panose="02020603050405020304" pitchFamily="18" charset="0"/>
                        </a:rPr>
                        <a:t>тайлбарлах, </a:t>
                      </a:r>
                      <a:r>
                        <a:rPr lang="mn-MN" sz="2400" kern="1200" dirty="0">
                          <a:solidFill>
                            <a:schemeClr val="dk1"/>
                          </a:solidFill>
                          <a:effectLst/>
                          <a:latin typeface="Times New Roman" panose="02020603050405020304" pitchFamily="18" charset="0"/>
                          <a:ea typeface="+mn-ea"/>
                          <a:cs typeface="Times New Roman" panose="02020603050405020304" pitchFamily="18" charset="0"/>
                        </a:rPr>
                        <a:t>ашиглах</a:t>
                      </a:r>
                      <a:endParaRPr lang="en-US"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000" dirty="0">
                          <a:effectLst/>
                          <a:latin typeface="Times New Roman" panose="02020603050405020304" pitchFamily="18" charset="0"/>
                          <a:cs typeface="Times New Roman" panose="02020603050405020304" pitchFamily="18" charset="0"/>
                        </a:rPr>
                        <a:t>Тайлбарлах </a:t>
                      </a:r>
                      <a:r>
                        <a:rPr lang="en-US" sz="2000" dirty="0">
                          <a:effectLst/>
                          <a:latin typeface="Times New Roman" panose="02020603050405020304" pitchFamily="18" charset="0"/>
                          <a:cs typeface="Times New Roman" panose="02020603050405020304" pitchFamily="18" charset="0"/>
                        </a:rPr>
                        <a:t>(Explain)</a:t>
                      </a:r>
                      <a:endParaRPr lang="mn-MN" sz="2000" dirty="0">
                        <a:effectLst/>
                        <a:latin typeface="Times New Roman" panose="02020603050405020304" pitchFamily="18" charset="0"/>
                        <a:cs typeface="Times New Roman" panose="02020603050405020304" pitchFamily="18" charset="0"/>
                      </a:endParaRPr>
                    </a:p>
                    <a:p>
                      <a:pPr algn="ctr">
                        <a:lnSpc>
                          <a:spcPct val="90000"/>
                        </a:lnSpc>
                        <a:spcAft>
                          <a:spcPts val="0"/>
                        </a:spcAft>
                      </a:pPr>
                      <a:r>
                        <a:rPr lang="mn-MN" sz="2000" dirty="0">
                          <a:effectLst/>
                          <a:latin typeface="Times New Roman" panose="02020603050405020304" pitchFamily="18" charset="0"/>
                          <a:ea typeface="Times New Roman" panose="02020603050405020304" pitchFamily="18" charset="0"/>
                          <a:cs typeface="Times New Roman" panose="02020603050405020304" pitchFamily="18" charset="0"/>
                        </a:rPr>
                        <a:t>Хэрэглэх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(Apply)</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90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4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90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Хэрэглэх</a:t>
                      </a:r>
                      <a:r>
                        <a:rPr lang="mn-MN" sz="24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400" dirty="0">
                          <a:effectLst/>
                          <a:latin typeface="Times New Roman" panose="02020603050405020304" pitchFamily="18" charset="0"/>
                          <a:cs typeface="Times New Roman" panose="02020603050405020304" pitchFamily="18" charset="0"/>
                        </a:rPr>
                        <a:t>1, 3</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954028067"/>
                  </a:ext>
                </a:extLst>
              </a:tr>
              <a:tr h="0">
                <a:tc>
                  <a:txBody>
                    <a:bodyPr/>
                    <a:lstStyle/>
                    <a:p>
                      <a:pPr algn="ctr">
                        <a:lnSpc>
                          <a:spcPct val="90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2</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mn-MN" sz="2400" dirty="0">
                          <a:effectLst/>
                          <a:latin typeface="Times New Roman" panose="02020603050405020304" pitchFamily="18" charset="0"/>
                          <a:cs typeface="Times New Roman" panose="02020603050405020304" pitchFamily="18" charset="0"/>
                        </a:rPr>
                        <a:t>Хөрөнгийн шинэчлэлтийн шинжилгээнд нөлөөлөх хүчин зүйлсийг ойлгох, тайлбарлах</a:t>
                      </a: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000" dirty="0">
                          <a:effectLst/>
                          <a:latin typeface="Times New Roman" panose="02020603050405020304" pitchFamily="18" charset="0"/>
                          <a:cs typeface="Times New Roman" panose="02020603050405020304" pitchFamily="18" charset="0"/>
                        </a:rPr>
                        <a:t>Тайлбарлах </a:t>
                      </a:r>
                      <a:r>
                        <a:rPr lang="en-US" sz="2000" dirty="0">
                          <a:effectLst/>
                          <a:latin typeface="Times New Roman" panose="02020603050405020304" pitchFamily="18" charset="0"/>
                          <a:cs typeface="Times New Roman" panose="02020603050405020304" pitchFamily="18" charset="0"/>
                        </a:rPr>
                        <a:t>(Explain)</a:t>
                      </a:r>
                      <a:endParaRPr lang="mn-MN" sz="2000" dirty="0">
                        <a:effectLst/>
                        <a:latin typeface="Times New Roman" panose="02020603050405020304" pitchFamily="18" charset="0"/>
                        <a:cs typeface="Times New Roman" panose="02020603050405020304" pitchFamily="18" charset="0"/>
                      </a:endParaRPr>
                    </a:p>
                    <a:p>
                      <a:pPr algn="ctr">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 </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(Apply)</a:t>
                      </a:r>
                      <a:endParaRPr lang="mn-MN" sz="2000" kern="1200" dirty="0">
                        <a:solidFill>
                          <a:schemeClr val="dk1"/>
                        </a:solidFill>
                        <a:effectLst/>
                        <a:latin typeface="Times New Roman" panose="02020603050405020304" pitchFamily="18" charset="0"/>
                        <a:ea typeface="+mn-ea"/>
                        <a:cs typeface="Times New Roman" panose="02020603050405020304" pitchFamily="18" charset="0"/>
                      </a:endParaRPr>
                    </a:p>
                    <a:p>
                      <a:pPr algn="ctr">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Шийдэх</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 /Solve/</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90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4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90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4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400" dirty="0">
                          <a:effectLst/>
                          <a:latin typeface="Times New Roman" panose="02020603050405020304" pitchFamily="18" charset="0"/>
                          <a:cs typeface="Times New Roman" panose="02020603050405020304" pitchFamily="18" charset="0"/>
                        </a:rPr>
                        <a:t>1, 3</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810878109"/>
                  </a:ext>
                </a:extLst>
              </a:tr>
              <a:tr h="116681">
                <a:tc>
                  <a:txBody>
                    <a:bodyPr/>
                    <a:lstStyle/>
                    <a:p>
                      <a:pPr algn="ctr">
                        <a:lnSpc>
                          <a:spcPct val="90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mn-MN" sz="2400" dirty="0">
                          <a:effectLst/>
                          <a:latin typeface="Times New Roman" panose="02020603050405020304" pitchFamily="18" charset="0"/>
                          <a:cs typeface="Times New Roman" panose="02020603050405020304" pitchFamily="18" charset="0"/>
                        </a:rPr>
                        <a:t>Хуучин ба шинэ хөрөнгийг харьцуулах аргачлалыг төслийн үнэлгээнд хэрэглэх</a:t>
                      </a: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000" dirty="0">
                          <a:effectLst/>
                          <a:latin typeface="Times New Roman" panose="02020603050405020304" pitchFamily="18" charset="0"/>
                          <a:cs typeface="Times New Roman" panose="02020603050405020304" pitchFamily="18" charset="0"/>
                        </a:rPr>
                        <a:t>Тайлбарлах </a:t>
                      </a:r>
                      <a:r>
                        <a:rPr lang="en-US" sz="2000" dirty="0">
                          <a:effectLst/>
                          <a:latin typeface="Times New Roman" panose="02020603050405020304" pitchFamily="18" charset="0"/>
                          <a:cs typeface="Times New Roman" panose="02020603050405020304" pitchFamily="18" charset="0"/>
                        </a:rPr>
                        <a:t>(Explain)</a:t>
                      </a:r>
                      <a:endParaRPr lang="mn-MN" sz="2000" dirty="0">
                        <a:effectLst/>
                        <a:latin typeface="Times New Roman" panose="02020603050405020304" pitchFamily="18" charset="0"/>
                        <a:cs typeface="Times New Roman" panose="02020603050405020304" pitchFamily="18" charset="0"/>
                      </a:endParaRPr>
                    </a:p>
                    <a:p>
                      <a:pPr algn="ctr">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 </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(Apply)</a:t>
                      </a:r>
                      <a:endParaRPr lang="mn-MN" sz="2000" kern="1200" dirty="0">
                        <a:solidFill>
                          <a:schemeClr val="dk1"/>
                        </a:solidFill>
                        <a:effectLst/>
                        <a:latin typeface="Times New Roman" panose="02020603050405020304" pitchFamily="18" charset="0"/>
                        <a:ea typeface="+mn-ea"/>
                        <a:cs typeface="Times New Roman" panose="02020603050405020304" pitchFamily="18" charset="0"/>
                      </a:endParaRPr>
                    </a:p>
                    <a:p>
                      <a:pPr algn="ctr">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Шийдэх</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 /Solve/</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90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4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90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4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400" dirty="0">
                          <a:effectLst/>
                          <a:latin typeface="Times New Roman" panose="02020603050405020304" pitchFamily="18" charset="0"/>
                          <a:cs typeface="Times New Roman" panose="02020603050405020304" pitchFamily="18" charset="0"/>
                        </a:rPr>
                        <a:t>1, 3</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656165348"/>
                  </a:ext>
                </a:extLst>
              </a:tr>
              <a:tr h="0">
                <a:tc>
                  <a:txBody>
                    <a:bodyPr/>
                    <a:lstStyle/>
                    <a:p>
                      <a:pPr algn="ctr">
                        <a:lnSpc>
                          <a:spcPct val="90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4</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l">
                        <a:lnSpc>
                          <a:spcPct val="90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Сэдэвтэй холбоотой материалуудыг ашиглах</a:t>
                      </a:r>
                      <a:endParaRPr lang="en-US"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Гүйцэтгэх </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(Function)</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90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4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90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4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400" dirty="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1746794371"/>
                  </a:ext>
                </a:extLst>
              </a:tr>
            </a:tbl>
          </a:graphicData>
        </a:graphic>
      </p:graphicFrame>
    </p:spTree>
    <p:extLst>
      <p:ext uri="{BB962C8B-B14F-4D97-AF65-F5344CB8AC3E}">
        <p14:creationId xmlns:p14="http://schemas.microsoft.com/office/powerpoint/2010/main" val="2758320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979-432A-FF79-CEB4-02905EE440F1}"/>
              </a:ext>
            </a:extLst>
          </p:cNvPr>
          <p:cNvSpPr>
            <a:spLocks noGrp="1"/>
          </p:cNvSpPr>
          <p:nvPr>
            <p:ph type="title"/>
          </p:nvPr>
        </p:nvSpPr>
        <p:spPr>
          <a:xfrm>
            <a:off x="143256" y="170053"/>
            <a:ext cx="11804904" cy="537083"/>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Хичээлийн агуулга </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314662-AB2C-97F1-A468-80697FD949D7}"/>
              </a:ext>
            </a:extLst>
          </p:cNvPr>
          <p:cNvSpPr>
            <a:spLocks noGrp="1"/>
          </p:cNvSpPr>
          <p:nvPr>
            <p:ph idx="1"/>
          </p:nvPr>
        </p:nvSpPr>
        <p:spPr>
          <a:xfrm>
            <a:off x="143256" y="707136"/>
            <a:ext cx="11804904" cy="4351338"/>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Шинэчлэн сайжруулалт </a:t>
            </a:r>
          </a:p>
          <a:p>
            <a:pPr algn="just"/>
            <a:r>
              <a:rPr lang="mn-MN" sz="3200" dirty="0">
                <a:solidFill>
                  <a:srgbClr val="002060"/>
                </a:solidFill>
                <a:latin typeface="Times New Roman" panose="02020603050405020304" pitchFamily="18" charset="0"/>
                <a:cs typeface="Times New Roman" panose="02020603050405020304" pitchFamily="18" charset="0"/>
              </a:rPr>
              <a:t>Хөрөнгийн шинэчлэлт хийх хэрэгцээ, шалтгаан</a:t>
            </a:r>
          </a:p>
          <a:p>
            <a:pPr algn="just"/>
            <a:r>
              <a:rPr lang="mn-MN" sz="3200" dirty="0">
                <a:solidFill>
                  <a:srgbClr val="002060"/>
                </a:solidFill>
                <a:latin typeface="Times New Roman" panose="02020603050405020304" pitchFamily="18" charset="0"/>
                <a:cs typeface="Times New Roman" panose="02020603050405020304" pitchFamily="18" charset="0"/>
              </a:rPr>
              <a:t>Засвар үйлчилгээний төрлүүд</a:t>
            </a:r>
          </a:p>
          <a:p>
            <a:pPr algn="just"/>
            <a:r>
              <a:rPr lang="mn-MN" sz="3200" dirty="0">
                <a:solidFill>
                  <a:srgbClr val="002060"/>
                </a:solidFill>
                <a:latin typeface="Times New Roman" panose="02020603050405020304" pitchFamily="18" charset="0"/>
                <a:cs typeface="Times New Roman" panose="02020603050405020304" pitchFamily="18" charset="0"/>
              </a:rPr>
              <a:t>Шинэчлэн сайжруулалтын төрлүүд</a:t>
            </a:r>
          </a:p>
          <a:p>
            <a:pPr algn="just"/>
            <a:r>
              <a:rPr lang="mn-MN" sz="3200" dirty="0">
                <a:solidFill>
                  <a:srgbClr val="002060"/>
                </a:solidFill>
                <a:latin typeface="Times New Roman" panose="02020603050405020304" pitchFamily="18" charset="0"/>
                <a:cs typeface="Times New Roman" panose="02020603050405020304" pitchFamily="18" charset="0"/>
              </a:rPr>
              <a:t>Хөрөнгийн ашиглалтын янз бүрийн төрлүүдийн ялгаа</a:t>
            </a:r>
          </a:p>
          <a:p>
            <a:pPr algn="just"/>
            <a:r>
              <a:rPr lang="mn-MN" sz="3200" dirty="0">
                <a:solidFill>
                  <a:srgbClr val="002060"/>
                </a:solidFill>
                <a:latin typeface="Times New Roman" panose="02020603050405020304" pitchFamily="18" charset="0"/>
                <a:cs typeface="Times New Roman" panose="02020603050405020304" pitchFamily="18" charset="0"/>
              </a:rPr>
              <a:t>Хөрөнгийн шинэчлэлтийн шинжилгээнд нөлөөлөх хүчин зүйлс</a:t>
            </a:r>
          </a:p>
          <a:p>
            <a:pPr algn="just"/>
            <a:r>
              <a:rPr lang="mn-MN" sz="3200" dirty="0">
                <a:solidFill>
                  <a:srgbClr val="002060"/>
                </a:solidFill>
                <a:latin typeface="Times New Roman" panose="02020603050405020304" pitchFamily="18" charset="0"/>
                <a:cs typeface="Times New Roman" panose="02020603050405020304" pitchFamily="18" charset="0"/>
              </a:rPr>
              <a:t>Хуучин ба шинэ хөрөнгийг харьцуулах аргачлал</a:t>
            </a:r>
          </a:p>
        </p:txBody>
      </p:sp>
    </p:spTree>
    <p:extLst>
      <p:ext uri="{BB962C8B-B14F-4D97-AF65-F5344CB8AC3E}">
        <p14:creationId xmlns:p14="http://schemas.microsoft.com/office/powerpoint/2010/main" val="232091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9751-2058-5996-5E4E-E5BB7FDC3950}"/>
              </a:ext>
            </a:extLst>
          </p:cNvPr>
          <p:cNvSpPr>
            <a:spLocks noGrp="1"/>
          </p:cNvSpPr>
          <p:nvPr>
            <p:ph type="title"/>
          </p:nvPr>
        </p:nvSpPr>
        <p:spPr>
          <a:xfrm>
            <a:off x="167640" y="96901"/>
            <a:ext cx="11792712" cy="524891"/>
          </a:xfrm>
        </p:spPr>
        <p:txBody>
          <a:bodyPr>
            <a:normAutofit fontScale="90000"/>
          </a:bodyPr>
          <a:lstStyle/>
          <a:p>
            <a:r>
              <a:rPr lang="mn-MN" sz="4400" b="1" dirty="0">
                <a:solidFill>
                  <a:srgbClr val="002060"/>
                </a:solidFill>
                <a:latin typeface="Times New Roman" panose="02020603050405020304" pitchFamily="18" charset="0"/>
                <a:cs typeface="Times New Roman" panose="02020603050405020304" pitchFamily="18" charset="0"/>
              </a:rPr>
              <a:t>Шинэчлэн сайжруулалт</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4E1CFB-F0C2-C1F5-9641-0E803F316ECC}"/>
              </a:ext>
            </a:extLst>
          </p:cNvPr>
          <p:cNvSpPr>
            <a:spLocks noGrp="1"/>
          </p:cNvSpPr>
          <p:nvPr>
            <p:ph idx="1"/>
          </p:nvPr>
        </p:nvSpPr>
        <p:spPr>
          <a:xfrm>
            <a:off x="167640" y="621792"/>
            <a:ext cx="11792712" cy="5257800"/>
          </a:xfrm>
        </p:spPr>
        <p:txBody>
          <a:bodyPr>
            <a:normAutofit fontScale="92500"/>
          </a:bodyPr>
          <a:lstStyle/>
          <a:p>
            <a:pPr algn="just">
              <a:lnSpc>
                <a:spcPct val="100000"/>
              </a:lnSpc>
              <a:spcBef>
                <a:spcPts val="0"/>
              </a:spcBef>
            </a:pPr>
            <a:r>
              <a:rPr lang="mn-MN" sz="3600" dirty="0">
                <a:solidFill>
                  <a:srgbClr val="002060"/>
                </a:solidFill>
                <a:latin typeface="Times New Roman" panose="02020603050405020304" pitchFamily="18" charset="0"/>
                <a:cs typeface="Times New Roman" panose="02020603050405020304" pitchFamily="18" charset="0"/>
              </a:rPr>
              <a:t>Компани үйлдвэрлэл, үйл ажиллагаандаа машин техник, тоног төхөөрөмж болон бусад олон төрлийн үйлдвэрлэлийн хэрэгслийг ашигладаг. </a:t>
            </a:r>
          </a:p>
          <a:p>
            <a:pPr algn="just">
              <a:lnSpc>
                <a:spcPct val="100000"/>
              </a:lnSpc>
              <a:spcBef>
                <a:spcPts val="0"/>
              </a:spcBef>
            </a:pPr>
            <a:r>
              <a:rPr lang="mn-MN" sz="3600" dirty="0">
                <a:solidFill>
                  <a:srgbClr val="002060"/>
                </a:solidFill>
                <a:latin typeface="Times New Roman" panose="02020603050405020304" pitchFamily="18" charset="0"/>
                <a:cs typeface="Times New Roman" panose="02020603050405020304" pitchFamily="18" charset="0"/>
              </a:rPr>
              <a:t>Өөрийн үйл ажиллагааг үр ашигтай явуулахын тулд байнга хяналт тавьж, найдвартай ажиллагааг хангах шаардлагатай. </a:t>
            </a:r>
          </a:p>
          <a:p>
            <a:pPr algn="just">
              <a:lnSpc>
                <a:spcPct val="100000"/>
              </a:lnSpc>
              <a:spcBef>
                <a:spcPts val="0"/>
              </a:spcBef>
            </a:pPr>
            <a:r>
              <a:rPr lang="mn-MN" sz="3600" dirty="0">
                <a:solidFill>
                  <a:srgbClr val="002060"/>
                </a:solidFill>
                <a:latin typeface="Times New Roman" panose="02020603050405020304" pitchFamily="18" charset="0"/>
                <a:cs typeface="Times New Roman" panose="02020603050405020304" pitchFamily="18" charset="0"/>
              </a:rPr>
              <a:t>Байгууллага зах зээлд өрсөлдөх чадвартай байхын тулд хуучин тоног төхөөрөмжөө шинэчлэн сайжруулах, эсвэл засварын зардалдаа анхаарч тухайн техник, тоног төхөөрөмжийг авч үлдэх эсэх талаар шийдвэр гаргах хэрэгтэй болно.</a:t>
            </a:r>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1392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9751-2058-5996-5E4E-E5BB7FDC3950}"/>
              </a:ext>
            </a:extLst>
          </p:cNvPr>
          <p:cNvSpPr>
            <a:spLocks noGrp="1"/>
          </p:cNvSpPr>
          <p:nvPr>
            <p:ph type="title"/>
          </p:nvPr>
        </p:nvSpPr>
        <p:spPr>
          <a:xfrm>
            <a:off x="167640" y="96902"/>
            <a:ext cx="11804904" cy="536448"/>
          </a:xfrm>
        </p:spPr>
        <p:txBody>
          <a:bodyPr>
            <a:normAutofit fontScale="90000"/>
          </a:bodyPr>
          <a:lstStyle/>
          <a:p>
            <a:r>
              <a:rPr lang="mn-MN" sz="4400" b="1" dirty="0">
                <a:solidFill>
                  <a:srgbClr val="002060"/>
                </a:solidFill>
                <a:latin typeface="Times New Roman" panose="02020603050405020304" pitchFamily="18" charset="0"/>
                <a:cs typeface="Times New Roman" panose="02020603050405020304" pitchFamily="18" charset="0"/>
              </a:rPr>
              <a:t>Шинэчлэн сайжруулалт</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4E1CFB-F0C2-C1F5-9641-0E803F316ECC}"/>
              </a:ext>
            </a:extLst>
          </p:cNvPr>
          <p:cNvSpPr>
            <a:spLocks noGrp="1"/>
          </p:cNvSpPr>
          <p:nvPr>
            <p:ph idx="1"/>
          </p:nvPr>
        </p:nvSpPr>
        <p:spPr>
          <a:xfrm>
            <a:off x="167640" y="633350"/>
            <a:ext cx="11804904" cy="5055961"/>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Хөрөнгийн ашиглалтын орчинд эдийн засгийн өөрчлөлтийн улмаас </a:t>
            </a:r>
          </a:p>
          <a:p>
            <a:pPr lvl="1" algn="just"/>
            <a:r>
              <a:rPr lang="mn-MN" sz="2800" dirty="0">
                <a:solidFill>
                  <a:srgbClr val="002060"/>
                </a:solidFill>
                <a:latin typeface="Times New Roman" panose="02020603050405020304" pitchFamily="18" charset="0"/>
                <a:cs typeface="Times New Roman" panose="02020603050405020304" pitchFamily="18" charset="0"/>
              </a:rPr>
              <a:t>Хөрөнгийг шинэчлэн солих, </a:t>
            </a:r>
          </a:p>
          <a:p>
            <a:pPr lvl="1" algn="just"/>
            <a:r>
              <a:rPr lang="mn-MN" sz="2800" dirty="0">
                <a:solidFill>
                  <a:srgbClr val="002060"/>
                </a:solidFill>
                <a:latin typeface="Times New Roman" panose="02020603050405020304" pitchFamily="18" charset="0"/>
                <a:cs typeface="Times New Roman" panose="02020603050405020304" pitchFamily="18" charset="0"/>
              </a:rPr>
              <a:t>Ашиглалтаас хасах, </a:t>
            </a:r>
          </a:p>
          <a:p>
            <a:pPr lvl="1" algn="just"/>
            <a:r>
              <a:rPr lang="mn-MN" sz="2800" dirty="0">
                <a:solidFill>
                  <a:srgbClr val="002060"/>
                </a:solidFill>
                <a:latin typeface="Times New Roman" panose="02020603050405020304" pitchFamily="18" charset="0"/>
                <a:cs typeface="Times New Roman" panose="02020603050405020304" pitchFamily="18" charset="0"/>
              </a:rPr>
              <a:t>Үргэлжлүүлэн ашиглах шаардлага урган гардаг. </a:t>
            </a:r>
          </a:p>
          <a:p>
            <a:pPr algn="just"/>
            <a:r>
              <a:rPr lang="mn-MN" sz="3200" dirty="0">
                <a:solidFill>
                  <a:srgbClr val="002060"/>
                </a:solidFill>
                <a:latin typeface="Times New Roman" panose="02020603050405020304" pitchFamily="18" charset="0"/>
                <a:cs typeface="Times New Roman" panose="02020603050405020304" pitchFamily="18" charset="0"/>
              </a:rPr>
              <a:t>Эдгээр өөрчлөлтийн шалтгаан янз бүр байж болох бөгөөд заримдаа санхүүгийн таагүй үр дүнг дагуулдаг. </a:t>
            </a:r>
          </a:p>
          <a:p>
            <a:pPr algn="just"/>
            <a:r>
              <a:rPr lang="mn-MN" sz="3200" dirty="0">
                <a:solidFill>
                  <a:srgbClr val="002060"/>
                </a:solidFill>
                <a:latin typeface="Times New Roman" panose="02020603050405020304" pitchFamily="18" charset="0"/>
                <a:cs typeface="Times New Roman" panose="02020603050405020304" pitchFamily="18" charset="0"/>
              </a:rPr>
              <a:t>Инженерчлэлийн эдийн засагт </a:t>
            </a:r>
            <a:r>
              <a:rPr lang="mn-MN" sz="3200" b="1" dirty="0">
                <a:solidFill>
                  <a:srgbClr val="002060"/>
                </a:solidFill>
                <a:latin typeface="Times New Roman" panose="02020603050405020304" pitchFamily="18" charset="0"/>
                <a:cs typeface="Times New Roman" panose="02020603050405020304" pitchFamily="18" charset="0"/>
              </a:rPr>
              <a:t>хөрөнгийг (төхөөрөмжийг) шинэчлэн солихдоо </a:t>
            </a:r>
            <a:r>
              <a:rPr lang="mn-MN" sz="3200" dirty="0">
                <a:solidFill>
                  <a:srgbClr val="002060"/>
                </a:solidFill>
                <a:latin typeface="Times New Roman" panose="02020603050405020304" pitchFamily="18" charset="0"/>
                <a:cs typeface="Times New Roman" panose="02020603050405020304" pitchFamily="18" charset="0"/>
              </a:rPr>
              <a:t>өмнөх хичээлүүд дээр үзсэн </a:t>
            </a:r>
            <a:r>
              <a:rPr lang="mn-MN" sz="3200" b="1" dirty="0">
                <a:solidFill>
                  <a:srgbClr val="002060"/>
                </a:solidFill>
                <a:latin typeface="Times New Roman" panose="02020603050405020304" pitchFamily="18" charset="0"/>
                <a:cs typeface="Times New Roman" panose="02020603050405020304" pitchFamily="18" charset="0"/>
              </a:rPr>
              <a:t>хоёр болон түүнээс дээш хувилбаруудыг харьцуулан сонгох үндсэн аргуудыг ашигладаг.</a:t>
            </a:r>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5339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9751-2058-5996-5E4E-E5BB7FDC3950}"/>
              </a:ext>
            </a:extLst>
          </p:cNvPr>
          <p:cNvSpPr>
            <a:spLocks noGrp="1"/>
          </p:cNvSpPr>
          <p:nvPr>
            <p:ph type="title"/>
          </p:nvPr>
        </p:nvSpPr>
        <p:spPr>
          <a:xfrm>
            <a:off x="167640" y="121285"/>
            <a:ext cx="11780520" cy="451739"/>
          </a:xfrm>
        </p:spPr>
        <p:txBody>
          <a:bodyPr>
            <a:normAutofit fontScale="90000"/>
          </a:bodyPr>
          <a:lstStyle/>
          <a:p>
            <a:r>
              <a:rPr lang="mn-MN" sz="4400" b="1" dirty="0">
                <a:solidFill>
                  <a:srgbClr val="002060"/>
                </a:solidFill>
                <a:latin typeface="Times New Roman" panose="02020603050405020304" pitchFamily="18" charset="0"/>
                <a:cs typeface="Times New Roman" panose="02020603050405020304" pitchFamily="18" charset="0"/>
              </a:rPr>
              <a:t>Хөрөнгийн шинэчлэлт хийх хэрэгцээ, шалтгаан</a:t>
            </a:r>
          </a:p>
        </p:txBody>
      </p:sp>
      <p:sp>
        <p:nvSpPr>
          <p:cNvPr id="3" name="Content Placeholder 2">
            <a:extLst>
              <a:ext uri="{FF2B5EF4-FFF2-40B4-BE49-F238E27FC236}">
                <a16:creationId xmlns:a16="http://schemas.microsoft.com/office/drawing/2014/main" id="{C94E1CFB-F0C2-C1F5-9641-0E803F316ECC}"/>
              </a:ext>
            </a:extLst>
          </p:cNvPr>
          <p:cNvSpPr>
            <a:spLocks noGrp="1"/>
          </p:cNvSpPr>
          <p:nvPr>
            <p:ph idx="1"/>
          </p:nvPr>
        </p:nvSpPr>
        <p:spPr>
          <a:xfrm>
            <a:off x="167640" y="597408"/>
            <a:ext cx="11780520" cy="5547360"/>
          </a:xfrm>
        </p:spPr>
        <p:txBody>
          <a:bodyPr>
            <a:normAutofit/>
          </a:bodyPr>
          <a:lstStyle/>
          <a:p>
            <a:pPr algn="just"/>
            <a:r>
              <a:rPr lang="mn-MN" sz="4000" dirty="0">
                <a:solidFill>
                  <a:srgbClr val="002060"/>
                </a:solidFill>
                <a:latin typeface="Times New Roman" panose="02020603050405020304" pitchFamily="18" charset="0"/>
                <a:cs typeface="Times New Roman" panose="02020603050405020304" pitchFamily="18" charset="0"/>
              </a:rPr>
              <a:t>Тохиолддог ихэнх хүчин зүйлсийг тооцсон дараах гурван үндсэн шалтгаан байна:</a:t>
            </a:r>
          </a:p>
          <a:p>
            <a:pPr lvl="1" algn="just"/>
            <a:r>
              <a:rPr lang="mn-MN" sz="3600" b="1" dirty="0">
                <a:solidFill>
                  <a:srgbClr val="002060"/>
                </a:solidFill>
                <a:latin typeface="Times New Roman" panose="02020603050405020304" pitchFamily="18" charset="0"/>
                <a:cs typeface="Times New Roman" panose="02020603050405020304" pitchFamily="18" charset="0"/>
              </a:rPr>
              <a:t>Төхөөрөмжийн элэгдэл хуучралт</a:t>
            </a:r>
          </a:p>
          <a:p>
            <a:pPr lvl="2" algn="just"/>
            <a:r>
              <a:rPr lang="mn-MN" sz="3200" dirty="0">
                <a:solidFill>
                  <a:srgbClr val="002060"/>
                </a:solidFill>
                <a:latin typeface="Times New Roman" panose="02020603050405020304" pitchFamily="18" charset="0"/>
                <a:cs typeface="Times New Roman" panose="02020603050405020304" pitchFamily="18" charset="0"/>
              </a:rPr>
              <a:t>Хөрөнгийн бодит нөхцөл байдалд гарсан өөрчлөлтүүд юм.</a:t>
            </a:r>
          </a:p>
          <a:p>
            <a:pPr lvl="1" algn="just"/>
            <a:r>
              <a:rPr lang="mn-MN" sz="3600" b="1" dirty="0">
                <a:solidFill>
                  <a:srgbClr val="002060"/>
                </a:solidFill>
                <a:latin typeface="Times New Roman" panose="02020603050405020304" pitchFamily="18" charset="0"/>
                <a:cs typeface="Times New Roman" panose="02020603050405020304" pitchFamily="18" charset="0"/>
              </a:rPr>
              <a:t>Өөрчлөгдөх шаардлага</a:t>
            </a:r>
          </a:p>
          <a:p>
            <a:pPr lvl="2" algn="just"/>
            <a:r>
              <a:rPr lang="mn-MN" sz="3200" dirty="0">
                <a:solidFill>
                  <a:srgbClr val="002060"/>
                </a:solidFill>
                <a:latin typeface="Times New Roman" panose="02020603050405020304" pitchFamily="18" charset="0"/>
                <a:cs typeface="Times New Roman" panose="02020603050405020304" pitchFamily="18" charset="0"/>
              </a:rPr>
              <a:t>Бүтээгдэхүүн, үйлчилгээний эрэлт хэрэгцээ өсөх, эсвэл буурахын хэрээр, эсвэл бүтээгдэхүүн, үйлчилгээний хэлбэр, загвар өөрчлөгдөхийн хэрээр холбогдох хөрөнгийг өөрчлөх, шинэчлэн солих шаардлага үүсдэг.</a:t>
            </a:r>
          </a:p>
          <a:p>
            <a:pPr lvl="1" algn="just"/>
            <a:r>
              <a:rPr lang="mn-MN" sz="3600" b="1" dirty="0">
                <a:solidFill>
                  <a:srgbClr val="002060"/>
                </a:solidFill>
                <a:latin typeface="Times New Roman" panose="02020603050405020304" pitchFamily="18" charset="0"/>
                <a:cs typeface="Times New Roman" panose="02020603050405020304" pitchFamily="18" charset="0"/>
              </a:rPr>
              <a:t>Технологийн өөрчлөлт, шинэчлэлт</a:t>
            </a:r>
          </a:p>
          <a:p>
            <a:pPr algn="just"/>
            <a:endParaRPr lang="en-US" sz="40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4830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9751-2058-5996-5E4E-E5BB7FDC3950}"/>
              </a:ext>
            </a:extLst>
          </p:cNvPr>
          <p:cNvSpPr>
            <a:spLocks noGrp="1"/>
          </p:cNvSpPr>
          <p:nvPr>
            <p:ph type="title"/>
          </p:nvPr>
        </p:nvSpPr>
        <p:spPr>
          <a:xfrm>
            <a:off x="118872" y="109093"/>
            <a:ext cx="11878056" cy="488315"/>
          </a:xfrm>
        </p:spPr>
        <p:txBody>
          <a:bodyPr>
            <a:noAutofit/>
          </a:bodyPr>
          <a:lstStyle/>
          <a:p>
            <a:pPr algn="just"/>
            <a:r>
              <a:rPr lang="mn-MN" sz="3200" b="1" dirty="0">
                <a:solidFill>
                  <a:srgbClr val="002060"/>
                </a:solidFill>
                <a:latin typeface="Times New Roman" panose="02020603050405020304" pitchFamily="18" charset="0"/>
                <a:cs typeface="Times New Roman" panose="02020603050405020304" pitchFamily="18" charset="0"/>
              </a:rPr>
              <a:t>Засвар үйлчилгээний төрлүүд</a:t>
            </a:r>
            <a:endParaRPr lang="en-US"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4E1CFB-F0C2-C1F5-9641-0E803F316ECC}"/>
              </a:ext>
            </a:extLst>
          </p:cNvPr>
          <p:cNvSpPr>
            <a:spLocks noGrp="1"/>
          </p:cNvSpPr>
          <p:nvPr>
            <p:ph idx="1"/>
          </p:nvPr>
        </p:nvSpPr>
        <p:spPr>
          <a:xfrm>
            <a:off x="118872" y="692567"/>
            <a:ext cx="11878056" cy="5513161"/>
          </a:xfrm>
        </p:spPr>
        <p:txBody>
          <a:bodyPr>
            <a:normAutofit fontScale="92500" lnSpcReduction="10000"/>
          </a:bodyPr>
          <a:lstStyle/>
          <a:p>
            <a:pPr algn="just"/>
            <a:r>
              <a:rPr lang="mn-MN" sz="4000" dirty="0">
                <a:solidFill>
                  <a:srgbClr val="002060"/>
                </a:solidFill>
                <a:latin typeface="Times New Roman" panose="02020603050405020304" pitchFamily="18" charset="0"/>
                <a:cs typeface="Times New Roman" panose="02020603050405020304" pitchFamily="18" charset="0"/>
              </a:rPr>
              <a:t>Байгууллагын техник, тоног төхөөрөмжид хийх засвар үйлчилгээг 2 төрөл болгон ангилна: </a:t>
            </a:r>
          </a:p>
          <a:p>
            <a:pPr lvl="1" algn="just"/>
            <a:r>
              <a:rPr lang="mn-MN" sz="3600" b="1" dirty="0">
                <a:solidFill>
                  <a:srgbClr val="002060"/>
                </a:solidFill>
                <a:latin typeface="Times New Roman" panose="02020603050405020304" pitchFamily="18" charset="0"/>
                <a:cs typeface="Times New Roman" panose="02020603050405020304" pitchFamily="18" charset="0"/>
              </a:rPr>
              <a:t>Урьдчилан сэргийлэх засвар</a:t>
            </a:r>
          </a:p>
          <a:p>
            <a:pPr lvl="2" algn="just"/>
            <a:r>
              <a:rPr lang="mn-MN" sz="3400" dirty="0">
                <a:solidFill>
                  <a:srgbClr val="002060"/>
                </a:solidFill>
                <a:latin typeface="Times New Roman" panose="02020603050405020304" pitchFamily="18" charset="0"/>
                <a:cs typeface="Times New Roman" panose="02020603050405020304" pitchFamily="18" charset="0"/>
              </a:rPr>
              <a:t>Гарч болзошгүй гэмтлийг илрүүлэх зоригоор тогтмол хугацаатай техникийн үзлэг, үйлчилгээ, хяналт шалгалт хийсний үндсэн дээр үйлдвэрлэлийн хэрэгслийг ашиглалтын явцад засаж сайжруулан ирээдүйд гарч болзошгүй томоохон алдагдлаас сэргийлэх үйл явц. </a:t>
            </a:r>
          </a:p>
          <a:p>
            <a:pPr lvl="1" algn="just"/>
            <a:r>
              <a:rPr lang="mn-MN" sz="3600" b="1" dirty="0">
                <a:solidFill>
                  <a:srgbClr val="002060"/>
                </a:solidFill>
                <a:latin typeface="Times New Roman" panose="02020603050405020304" pitchFamily="18" charset="0"/>
                <a:cs typeface="Times New Roman" panose="02020603050405020304" pitchFamily="18" charset="0"/>
              </a:rPr>
              <a:t>Ослын засвар</a:t>
            </a:r>
          </a:p>
          <a:p>
            <a:pPr lvl="2" algn="just"/>
            <a:r>
              <a:rPr lang="mn-MN" sz="3400" dirty="0">
                <a:solidFill>
                  <a:srgbClr val="002060"/>
                </a:solidFill>
                <a:latin typeface="Times New Roman" panose="02020603050405020304" pitchFamily="18" charset="0"/>
                <a:cs typeface="Times New Roman" panose="02020603050405020304" pitchFamily="18" charset="0"/>
              </a:rPr>
              <a:t>Тоног төхөөрөмж эвдэрч зогссоны дараа, ихэвчлэн онцгой нөхцөлд хийдэг. Энэ үед сул зогсолтын хугацаа, засварын зардал нэмэгдэж, их хэмжээний хохирол учирдаг.</a:t>
            </a:r>
            <a:endParaRPr lang="en-US" sz="3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732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9751-2058-5996-5E4E-E5BB7FDC3950}"/>
              </a:ext>
            </a:extLst>
          </p:cNvPr>
          <p:cNvSpPr>
            <a:spLocks noGrp="1"/>
          </p:cNvSpPr>
          <p:nvPr>
            <p:ph type="title"/>
          </p:nvPr>
        </p:nvSpPr>
        <p:spPr>
          <a:xfrm>
            <a:off x="216407" y="96901"/>
            <a:ext cx="11901523" cy="512699"/>
          </a:xfrm>
        </p:spPr>
        <p:txBody>
          <a:bodyPr>
            <a:noAutofit/>
          </a:bodyPr>
          <a:lstStyle/>
          <a:p>
            <a:r>
              <a:rPr lang="mn-MN" sz="3400" b="1" dirty="0">
                <a:solidFill>
                  <a:srgbClr val="002060"/>
                </a:solidFill>
                <a:latin typeface="Times New Roman" panose="02020603050405020304" pitchFamily="18" charset="0"/>
                <a:cs typeface="Times New Roman" panose="02020603050405020304" pitchFamily="18" charset="0"/>
              </a:rPr>
              <a:t>Засвар үйлчилгээний төрлүүд</a:t>
            </a:r>
            <a:endParaRPr lang="en-US" sz="3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4E1CFB-F0C2-C1F5-9641-0E803F316ECC}"/>
              </a:ext>
            </a:extLst>
          </p:cNvPr>
          <p:cNvSpPr>
            <a:spLocks noGrp="1"/>
          </p:cNvSpPr>
          <p:nvPr>
            <p:ph idx="1"/>
          </p:nvPr>
        </p:nvSpPr>
        <p:spPr>
          <a:xfrm>
            <a:off x="7012142" y="707790"/>
            <a:ext cx="4989577" cy="4998066"/>
          </a:xfrm>
        </p:spPr>
        <p:txBody>
          <a:bodyPr>
            <a:normAutofit lnSpcReduction="10000"/>
          </a:bodyPr>
          <a:lstStyle/>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Урьдчилан сэргийлэх засвар хийснээр ослын зардлыг бууруулах боломжтой. </a:t>
            </a:r>
          </a:p>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Урьдчилан сэргийлэх засварын зардал ослын зардалтай харьцуулахад их байж болно. </a:t>
            </a:r>
          </a:p>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Нийт зардал хамгийн бага байх үеийн засварын хэмжээг </a:t>
            </a:r>
            <a:r>
              <a:rPr lang="mn-MN" sz="3200" b="1" dirty="0">
                <a:solidFill>
                  <a:srgbClr val="002060"/>
                </a:solidFill>
                <a:latin typeface="Times New Roman" panose="02020603050405020304" pitchFamily="18" charset="0"/>
                <a:cs typeface="Times New Roman" panose="02020603050405020304" pitchFamily="18" charset="0"/>
              </a:rPr>
              <a:t>засварын оновчтой хэмжээ</a:t>
            </a:r>
            <a:r>
              <a:rPr lang="mn-MN" sz="3200" dirty="0">
                <a:solidFill>
                  <a:srgbClr val="002060"/>
                </a:solidFill>
                <a:latin typeface="Times New Roman" panose="02020603050405020304" pitchFamily="18" charset="0"/>
                <a:cs typeface="Times New Roman" panose="02020603050405020304" pitchFamily="18" charset="0"/>
              </a:rPr>
              <a:t> гэнэ. </a:t>
            </a:r>
            <a:endParaRPr lang="en-US" sz="3200" dirty="0">
              <a:solidFill>
                <a:srgbClr val="00206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D988DE4-DCBA-053E-4C56-9C03E7427BF1}"/>
              </a:ext>
            </a:extLst>
          </p:cNvPr>
          <p:cNvPicPr>
            <a:picLocks noChangeAspect="1"/>
          </p:cNvPicPr>
          <p:nvPr/>
        </p:nvPicPr>
        <p:blipFill>
          <a:blip r:embed="rId3"/>
          <a:stretch>
            <a:fillRect/>
          </a:stretch>
        </p:blipFill>
        <p:spPr>
          <a:xfrm>
            <a:off x="216407" y="609600"/>
            <a:ext cx="6928105" cy="5540610"/>
          </a:xfrm>
          <a:prstGeom prst="rect">
            <a:avLst/>
          </a:prstGeom>
        </p:spPr>
      </p:pic>
    </p:spTree>
    <p:extLst>
      <p:ext uri="{BB962C8B-B14F-4D97-AF65-F5344CB8AC3E}">
        <p14:creationId xmlns:p14="http://schemas.microsoft.com/office/powerpoint/2010/main" val="101943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9751-2058-5996-5E4E-E5BB7FDC3950}"/>
              </a:ext>
            </a:extLst>
          </p:cNvPr>
          <p:cNvSpPr>
            <a:spLocks noGrp="1"/>
          </p:cNvSpPr>
          <p:nvPr>
            <p:ph type="title"/>
          </p:nvPr>
        </p:nvSpPr>
        <p:spPr>
          <a:xfrm>
            <a:off x="131064" y="121285"/>
            <a:ext cx="11902440" cy="427355"/>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Шинэчлэн сайжруулалтын төрлүүд</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4E1CFB-F0C2-C1F5-9641-0E803F316ECC}"/>
              </a:ext>
            </a:extLst>
          </p:cNvPr>
          <p:cNvSpPr>
            <a:spLocks noGrp="1"/>
          </p:cNvSpPr>
          <p:nvPr>
            <p:ph idx="1"/>
          </p:nvPr>
        </p:nvSpPr>
        <p:spPr>
          <a:xfrm>
            <a:off x="144780" y="644434"/>
            <a:ext cx="11902440" cy="5274129"/>
          </a:xfrm>
        </p:spPr>
        <p:txBody>
          <a:bodyPr>
            <a:normAutofit/>
          </a:bodyPr>
          <a:lstStyle/>
          <a:p>
            <a:r>
              <a:rPr lang="mn-MN" sz="3600" dirty="0">
                <a:solidFill>
                  <a:srgbClr val="002060"/>
                </a:solidFill>
                <a:latin typeface="Times New Roman" panose="02020603050405020304" pitchFamily="18" charset="0"/>
                <a:cs typeface="Times New Roman" panose="02020603050405020304" pitchFamily="18" charset="0"/>
              </a:rPr>
              <a:t>Шинэчлэн сайжруулалтын хоёр төрлийн шинжилгээ байдаг. </a:t>
            </a:r>
          </a:p>
          <a:p>
            <a:pPr marL="914400" lvl="1" indent="-457200" algn="just">
              <a:buFont typeface="+mj-lt"/>
              <a:buAutoNum type="arabicPeriod"/>
            </a:pPr>
            <a:r>
              <a:rPr lang="mn-MN" sz="3600" dirty="0">
                <a:solidFill>
                  <a:srgbClr val="002060"/>
                </a:solidFill>
                <a:latin typeface="Times New Roman" panose="02020603050405020304" pitchFamily="18" charset="0"/>
                <a:cs typeface="Times New Roman" panose="02020603050405020304" pitchFamily="18" charset="0"/>
              </a:rPr>
              <a:t>Цаг хугацааны явцад элэгдэж байгаа хөрөнгийг солих. Энэ нь 2 үе шаттай: </a:t>
            </a:r>
          </a:p>
          <a:p>
            <a:pPr marL="1371600" lvl="2" indent="-457200" algn="just">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Хөрөнгийн эдийн засгийн амьдралын хугацааг тодорхойлох</a:t>
            </a:r>
          </a:p>
          <a:p>
            <a:pPr marL="1371600" lvl="2" indent="-457200" algn="just">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Байгаа хөрөнгийг шинэ хөрөнгөөр солих</a:t>
            </a:r>
          </a:p>
          <a:p>
            <a:pPr marL="914400" lvl="1" indent="-457200" algn="just">
              <a:buFont typeface="+mj-lt"/>
              <a:buAutoNum type="arabicPeriod"/>
            </a:pPr>
            <a:r>
              <a:rPr lang="mn-MN" sz="3600" dirty="0">
                <a:solidFill>
                  <a:srgbClr val="002060"/>
                </a:solidFill>
                <a:latin typeface="Times New Roman" panose="02020603050405020304" pitchFamily="18" charset="0"/>
                <a:cs typeface="Times New Roman" panose="02020603050405020304" pitchFamily="18" charset="0"/>
              </a:rPr>
              <a:t>Гэнэтийн эвдрэлийн улмаас шинэчлэн солих. Бүрэн эвдэрсэн хөрөнгийн тухайд энгийн магадлалын загвараар тооцоо хийнэ.</a:t>
            </a:r>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2236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9751-2058-5996-5E4E-E5BB7FDC3950}"/>
              </a:ext>
            </a:extLst>
          </p:cNvPr>
          <p:cNvSpPr>
            <a:spLocks noGrp="1"/>
          </p:cNvSpPr>
          <p:nvPr>
            <p:ph type="title"/>
          </p:nvPr>
        </p:nvSpPr>
        <p:spPr>
          <a:xfrm>
            <a:off x="170689" y="72519"/>
            <a:ext cx="11420838" cy="451738"/>
          </a:xfrm>
        </p:spPr>
        <p:txBody>
          <a:bodyPr>
            <a:noAutofit/>
          </a:bodyPr>
          <a:lstStyle/>
          <a:p>
            <a:pPr algn="just"/>
            <a:r>
              <a:rPr lang="mn-MN" sz="3200" b="1" dirty="0">
                <a:solidFill>
                  <a:srgbClr val="002060"/>
                </a:solidFill>
                <a:latin typeface="Times New Roman" panose="02020603050405020304" pitchFamily="18" charset="0"/>
                <a:cs typeface="Times New Roman" panose="02020603050405020304" pitchFamily="18" charset="0"/>
              </a:rPr>
              <a:t>Хөрөнгийн ашиглалтын янз бүрийн төрлүүдийн ялгаа</a:t>
            </a:r>
            <a:endParaRPr lang="en-US"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4E1CFB-F0C2-C1F5-9641-0E803F316ECC}"/>
              </a:ext>
            </a:extLst>
          </p:cNvPr>
          <p:cNvSpPr>
            <a:spLocks noGrp="1"/>
          </p:cNvSpPr>
          <p:nvPr>
            <p:ph idx="1"/>
          </p:nvPr>
        </p:nvSpPr>
        <p:spPr>
          <a:xfrm>
            <a:off x="92092" y="516200"/>
            <a:ext cx="11929219" cy="6091864"/>
          </a:xfrm>
        </p:spPr>
        <p:txBody>
          <a:bodyPr>
            <a:normAutofit lnSpcReduction="10000"/>
          </a:bodyPr>
          <a:lstStyle/>
          <a:p>
            <a:pPr algn="just">
              <a:spcBef>
                <a:spcPts val="200"/>
              </a:spcBef>
            </a:pPr>
            <a:r>
              <a:rPr lang="mn-MN" b="1" dirty="0">
                <a:solidFill>
                  <a:srgbClr val="002060"/>
                </a:solidFill>
                <a:latin typeface="Times New Roman" panose="02020603050405020304" pitchFamily="18" charset="0"/>
                <a:cs typeface="Times New Roman" panose="02020603050405020304" pitchFamily="18" charset="0"/>
              </a:rPr>
              <a:t>Эдийн засгийн ашиглалтын хугацаа </a:t>
            </a:r>
            <a:r>
              <a:rPr lang="mn-MN" dirty="0">
                <a:solidFill>
                  <a:srgbClr val="002060"/>
                </a:solidFill>
                <a:latin typeface="Times New Roman" panose="02020603050405020304" pitchFamily="18" charset="0"/>
                <a:cs typeface="Times New Roman" panose="02020603050405020304" pitchFamily="18" charset="0"/>
              </a:rPr>
              <a:t>– тухайн хөрөнгийг өмчлөх ба ашиглах үеийн хамгийн бага эквивалент үе тутмын тэнцүү жилийн зардал (</a:t>
            </a:r>
            <a:r>
              <a:rPr lang="en-US" dirty="0">
                <a:solidFill>
                  <a:srgbClr val="002060"/>
                </a:solidFill>
                <a:latin typeface="Times New Roman" panose="02020603050405020304" pitchFamily="18" charset="0"/>
                <a:cs typeface="Times New Roman" panose="02020603050405020304" pitchFamily="18" charset="0"/>
              </a:rPr>
              <a:t>EUAC – minimum equivalent uniform annual cost) </a:t>
            </a:r>
            <a:r>
              <a:rPr lang="mn-MN" dirty="0">
                <a:solidFill>
                  <a:srgbClr val="002060"/>
                </a:solidFill>
                <a:latin typeface="Times New Roman" panose="02020603050405020304" pitchFamily="18" charset="0"/>
                <a:cs typeface="Times New Roman" panose="02020603050405020304" pitchFamily="18" charset="0"/>
              </a:rPr>
              <a:t>бий болох хугацааг хэлнэ. </a:t>
            </a:r>
          </a:p>
          <a:p>
            <a:pPr lvl="1" algn="just">
              <a:spcBef>
                <a:spcPts val="200"/>
              </a:spcBef>
            </a:pPr>
            <a:r>
              <a:rPr lang="mn-MN" sz="2000" dirty="0">
                <a:solidFill>
                  <a:srgbClr val="002060"/>
                </a:solidFill>
                <a:latin typeface="Times New Roman" panose="02020603050405020304" pitchFamily="18" charset="0"/>
                <a:cs typeface="Times New Roman" panose="02020603050405020304" pitchFamily="18" charset="0"/>
              </a:rPr>
              <a:t>Хэрэв хөрөнгийн зохистой менежментийг хэрэгжүүлвэл тухайн хөрөнгийн эдийн засгийн ашиглалтын хугацаа нь ашиглалтанд орсон үеэс ашиглалтаас гаргах хугацаа хүртэлх, эсвэл дахин үргэлжлүүлж ашиглах хугацаа хүртэлх, эсвэл үндсэн үйлчилгээнээс шинэчлэн солих хүгацаа хүртэлх хугацаатай давхцах болно. </a:t>
            </a:r>
          </a:p>
          <a:p>
            <a:pPr algn="just">
              <a:spcBef>
                <a:spcPts val="200"/>
              </a:spcBef>
            </a:pPr>
            <a:r>
              <a:rPr lang="mn-MN" b="1" dirty="0">
                <a:solidFill>
                  <a:srgbClr val="002060"/>
                </a:solidFill>
                <a:latin typeface="Times New Roman" panose="02020603050405020304" pitchFamily="18" charset="0"/>
                <a:cs typeface="Times New Roman" panose="02020603050405020304" pitchFamily="18" charset="0"/>
              </a:rPr>
              <a:t>Эзэмших хугацаа </a:t>
            </a:r>
            <a:r>
              <a:rPr lang="mn-MN" dirty="0">
                <a:solidFill>
                  <a:srgbClr val="002060"/>
                </a:solidFill>
                <a:latin typeface="Times New Roman" panose="02020603050405020304" pitchFamily="18" charset="0"/>
                <a:cs typeface="Times New Roman" panose="02020603050405020304" pitchFamily="18" charset="0"/>
              </a:rPr>
              <a:t>– эзэмшигч тухайн бүтээгдэхүүн, үйлчилгээг худалдан авсан өдрөөс эхлэн эзэмшлээс гаргах хүртэлх хугацааны үеийг хэлнэ. </a:t>
            </a:r>
          </a:p>
          <a:p>
            <a:pPr lvl="1" algn="just">
              <a:spcBef>
                <a:spcPts val="200"/>
              </a:spcBef>
            </a:pPr>
            <a:r>
              <a:rPr lang="mn-MN" sz="2000" dirty="0">
                <a:solidFill>
                  <a:srgbClr val="002060"/>
                </a:solidFill>
                <a:latin typeface="Times New Roman" panose="02020603050405020304" pitchFamily="18" charset="0"/>
                <a:cs typeface="Times New Roman" panose="02020603050405020304" pitchFamily="18" charset="0"/>
              </a:rPr>
              <a:t>Тухайн хөрөнгийг эзэмшигч тухайн хугацаанд ашиглалтын өөр өөр ангилалд ашиглаж болно. </a:t>
            </a:r>
          </a:p>
          <a:p>
            <a:pPr lvl="2" algn="just">
              <a:spcBef>
                <a:spcPts val="200"/>
              </a:spcBef>
            </a:pPr>
            <a:r>
              <a:rPr lang="mn-MN" sz="1600" dirty="0">
                <a:solidFill>
                  <a:srgbClr val="002060"/>
                </a:solidFill>
                <a:latin typeface="Times New Roman" panose="02020603050405020304" pitchFamily="18" charset="0"/>
                <a:cs typeface="Times New Roman" panose="02020603050405020304" pitchFamily="18" charset="0"/>
              </a:rPr>
              <a:t>Жишээлбэл, автомашиныг гэр бүлийн хэрэгцээнд хэдэн жилийн турш ашиглаж байснаа дараагийн хэдэн жилд орон нутгийн зорчигч тээвэрт ашиглаж болно. </a:t>
            </a:r>
          </a:p>
          <a:p>
            <a:pPr algn="just">
              <a:spcBef>
                <a:spcPts val="200"/>
              </a:spcBef>
            </a:pPr>
            <a:r>
              <a:rPr lang="mn-MN" b="1" dirty="0">
                <a:solidFill>
                  <a:srgbClr val="002060"/>
                </a:solidFill>
                <a:latin typeface="Times New Roman" panose="02020603050405020304" pitchFamily="18" charset="0"/>
                <a:cs typeface="Times New Roman" panose="02020603050405020304" pitchFamily="18" charset="0"/>
              </a:rPr>
              <a:t>Бодит ашиглалтын хугацаа </a:t>
            </a:r>
            <a:r>
              <a:rPr lang="mn-MN" dirty="0">
                <a:solidFill>
                  <a:srgbClr val="002060"/>
                </a:solidFill>
                <a:latin typeface="Times New Roman" panose="02020603050405020304" pitchFamily="18" charset="0"/>
                <a:cs typeface="Times New Roman" panose="02020603050405020304" pitchFamily="18" charset="0"/>
              </a:rPr>
              <a:t>– тухайн хөрөнгө хамгийн анх хэрэглэгдэж эхэлсэн үеэс хөрөнгийг ашиглалтаас гаргах, устгах хүртэлх хугацаа юм. </a:t>
            </a:r>
          </a:p>
          <a:p>
            <a:pPr lvl="1" algn="just">
              <a:spcBef>
                <a:spcPts val="200"/>
              </a:spcBef>
            </a:pPr>
            <a:r>
              <a:rPr lang="mn-MN" sz="2000" dirty="0">
                <a:solidFill>
                  <a:srgbClr val="002060"/>
                </a:solidFill>
                <a:latin typeface="Times New Roman" panose="02020603050405020304" pitchFamily="18" charset="0"/>
                <a:cs typeface="Times New Roman" panose="02020603050405020304" pitchFamily="18" charset="0"/>
              </a:rPr>
              <a:t>Жишээлбэл, өмнөх жишээнд дурьдсан автомашин хэд хэдэн эзэмшигчийг дамжсан байж болно.</a:t>
            </a:r>
          </a:p>
          <a:p>
            <a:pPr algn="just">
              <a:spcBef>
                <a:spcPts val="200"/>
              </a:spcBef>
            </a:pPr>
            <a:r>
              <a:rPr lang="mn-MN" b="1" dirty="0">
                <a:solidFill>
                  <a:srgbClr val="002060"/>
                </a:solidFill>
                <a:latin typeface="Times New Roman" panose="02020603050405020304" pitchFamily="18" charset="0"/>
                <a:cs typeface="Times New Roman" panose="02020603050405020304" pitchFamily="18" charset="0"/>
              </a:rPr>
              <a:t>Ашиглалтын хугацаа </a:t>
            </a:r>
            <a:r>
              <a:rPr lang="mn-MN" dirty="0">
                <a:solidFill>
                  <a:srgbClr val="002060"/>
                </a:solidFill>
                <a:latin typeface="Times New Roman" panose="02020603050405020304" pitchFamily="18" charset="0"/>
                <a:cs typeface="Times New Roman" panose="02020603050405020304" pitchFamily="18" charset="0"/>
              </a:rPr>
              <a:t>– тухайн хөрөнгийг бүтээмжтэй үйлчилгээнд (үндсэн, эсвэл нөөц хөрөнгийн аль нэг хэлбэрээр) ашиглах хугацаа (жил)-ны үеийг хэлнэ. </a:t>
            </a:r>
          </a:p>
          <a:p>
            <a:pPr lvl="1" algn="just">
              <a:spcBef>
                <a:spcPts val="200"/>
              </a:spcBef>
            </a:pPr>
            <a:r>
              <a:rPr lang="mn-MN" sz="2000" dirty="0">
                <a:solidFill>
                  <a:srgbClr val="002060"/>
                </a:solidFill>
                <a:latin typeface="Times New Roman" panose="02020603050405020304" pitchFamily="18" charset="0"/>
                <a:cs typeface="Times New Roman" panose="02020603050405020304" pitchFamily="18" charset="0"/>
              </a:rPr>
              <a:t>Ө.х, тухайн хөрөнгийг ашиг олох зорилгоор бизнес, үйлчилгээнд хэр удаан ашиглахыг үнэлсэн үнэлгээ юм.</a:t>
            </a:r>
            <a:endParaRPr lang="mn-M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3753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9751-2058-5996-5E4E-E5BB7FDC3950}"/>
              </a:ext>
            </a:extLst>
          </p:cNvPr>
          <p:cNvSpPr>
            <a:spLocks noGrp="1"/>
          </p:cNvSpPr>
          <p:nvPr>
            <p:ph type="title"/>
          </p:nvPr>
        </p:nvSpPr>
        <p:spPr>
          <a:xfrm>
            <a:off x="121920" y="109094"/>
            <a:ext cx="11850624" cy="359210"/>
          </a:xfrm>
        </p:spPr>
        <p:txBody>
          <a:bodyPr>
            <a:noAutofit/>
          </a:bodyPr>
          <a:lstStyle/>
          <a:p>
            <a:pPr algn="just"/>
            <a:r>
              <a:rPr lang="mn-MN" sz="2800" b="1" dirty="0">
                <a:solidFill>
                  <a:srgbClr val="002060"/>
                </a:solidFill>
                <a:latin typeface="Times New Roman" panose="02020603050405020304" pitchFamily="18" charset="0"/>
                <a:cs typeface="Times New Roman" panose="02020603050405020304" pitchFamily="18" charset="0"/>
              </a:rPr>
              <a:t>Хөрөнгийн шинэчлэлтийн шинжилгээнд нөлөөлөх хүчин зүйлс</a:t>
            </a:r>
            <a:endParaRPr lang="en-US" sz="28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825ECBD5-BDBB-C52C-1F09-DC9A6AB3C674}"/>
              </a:ext>
            </a:extLst>
          </p:cNvPr>
          <p:cNvSpPr>
            <a:spLocks noGrp="1"/>
          </p:cNvSpPr>
          <p:nvPr>
            <p:ph idx="1"/>
          </p:nvPr>
        </p:nvSpPr>
        <p:spPr>
          <a:xfrm>
            <a:off x="121920" y="608076"/>
            <a:ext cx="11850624" cy="5670804"/>
          </a:xfrm>
        </p:spPr>
        <p:txBody>
          <a:bodyPr>
            <a:normAutofit fontScale="92500" lnSpcReduction="10000"/>
          </a:bodyPr>
          <a:lstStyle/>
          <a:p>
            <a:pPr algn="just">
              <a:lnSpc>
                <a:spcPct val="100000"/>
              </a:lnSpc>
              <a:spcBef>
                <a:spcPts val="200"/>
              </a:spcBef>
            </a:pPr>
            <a:r>
              <a:rPr lang="mn-MN" sz="3600" dirty="0">
                <a:solidFill>
                  <a:srgbClr val="002060"/>
                </a:solidFill>
                <a:latin typeface="Times New Roman" panose="02020603050405020304" pitchFamily="18" charset="0"/>
                <a:cs typeface="Times New Roman" panose="02020603050405020304" pitchFamily="18" charset="0"/>
              </a:rPr>
              <a:t>Хөрөнгийн шинэчлэлтийн судалгаанд заавал тооцох ёстой хэд хэдэн хүчин зүйлс байдаг. </a:t>
            </a:r>
          </a:p>
          <a:p>
            <a:pPr algn="just">
              <a:lnSpc>
                <a:spcPct val="100000"/>
              </a:lnSpc>
              <a:spcBef>
                <a:spcPts val="200"/>
              </a:spcBef>
            </a:pPr>
            <a:r>
              <a:rPr lang="mn-MN" sz="3600" dirty="0">
                <a:solidFill>
                  <a:srgbClr val="002060"/>
                </a:solidFill>
                <a:latin typeface="Times New Roman" panose="02020603050405020304" pitchFamily="18" charset="0"/>
                <a:cs typeface="Times New Roman" panose="02020603050405020304" pitchFamily="18" charset="0"/>
              </a:rPr>
              <a:t>Эдгээр хүчин зүйлсийн хувьд зөв үзэл баримтлал барьснаар хөрөнгийн шинэчлэлтийн шинжилгээ хийхэд учрах бэрхшээл багасдаг. </a:t>
            </a:r>
          </a:p>
          <a:p>
            <a:pPr marL="914400" lvl="1" indent="-457200" algn="just">
              <a:lnSpc>
                <a:spcPct val="100000"/>
              </a:lnSpc>
              <a:spcBef>
                <a:spcPts val="200"/>
              </a:spcBef>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Өмнө нь хийж байсан алдааг хүлээн зөвшөөрөх</a:t>
            </a:r>
          </a:p>
          <a:p>
            <a:pPr marL="914400" lvl="1" indent="-457200" algn="just">
              <a:lnSpc>
                <a:spcPct val="100000"/>
              </a:lnSpc>
              <a:spcBef>
                <a:spcPts val="200"/>
              </a:spcBef>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Буцааж болохгүй зардал (нөхөгдөшгүй зардлууд)</a:t>
            </a:r>
          </a:p>
          <a:p>
            <a:pPr marL="914400" lvl="1" indent="-457200" algn="just">
              <a:lnSpc>
                <a:spcPct val="100000"/>
              </a:lnSpc>
              <a:spcBef>
                <a:spcPts val="200"/>
              </a:spcBef>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Хөрөнгийн одоогийн үнэлгээ болон хөндлөнгийн үнэлгээ </a:t>
            </a:r>
          </a:p>
          <a:p>
            <a:pPr marL="914400" lvl="1" indent="-457200" algn="just">
              <a:lnSpc>
                <a:spcPct val="100000"/>
              </a:lnSpc>
              <a:spcBef>
                <a:spcPts val="200"/>
              </a:spcBef>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Санал болгож буй шинэчлэн солих хөрөнгийн эдийн засгийн ашиглалтын хугацаа</a:t>
            </a:r>
          </a:p>
          <a:p>
            <a:pPr marL="914400" lvl="1" indent="-457200" algn="just">
              <a:lnSpc>
                <a:spcPct val="100000"/>
              </a:lnSpc>
              <a:spcBef>
                <a:spcPts val="200"/>
              </a:spcBef>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Хуучин хөрөнгийн үлдсэн (эдийн засгийн ашиглалтын) хугацаа</a:t>
            </a:r>
          </a:p>
          <a:p>
            <a:pPr marL="914400" lvl="1" indent="-457200" algn="just">
              <a:lnSpc>
                <a:spcPct val="100000"/>
              </a:lnSpc>
              <a:spcBef>
                <a:spcPts val="200"/>
              </a:spcBef>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Орлогын албан татварын тооцоолол.</a:t>
            </a:r>
          </a:p>
        </p:txBody>
      </p:sp>
    </p:spTree>
    <p:extLst>
      <p:ext uri="{BB962C8B-B14F-4D97-AF65-F5344CB8AC3E}">
        <p14:creationId xmlns:p14="http://schemas.microsoft.com/office/powerpoint/2010/main" val="282836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9751-2058-5996-5E4E-E5BB7FDC3950}"/>
              </a:ext>
            </a:extLst>
          </p:cNvPr>
          <p:cNvSpPr>
            <a:spLocks noGrp="1"/>
          </p:cNvSpPr>
          <p:nvPr>
            <p:ph type="title"/>
          </p:nvPr>
        </p:nvSpPr>
        <p:spPr>
          <a:xfrm>
            <a:off x="265175" y="109094"/>
            <a:ext cx="11492585" cy="359210"/>
          </a:xfrm>
        </p:spPr>
        <p:txBody>
          <a:bodyPr>
            <a:noAutofit/>
          </a:bodyPr>
          <a:lstStyle/>
          <a:p>
            <a:pPr algn="just">
              <a:spcBef>
                <a:spcPts val="200"/>
              </a:spcBef>
            </a:pPr>
            <a:r>
              <a:rPr lang="en-US" sz="3600" b="1" dirty="0">
                <a:solidFill>
                  <a:srgbClr val="002060"/>
                </a:solidFill>
                <a:latin typeface="Times New Roman" panose="02020603050405020304" pitchFamily="18" charset="0"/>
                <a:cs typeface="Times New Roman" panose="02020603050405020304" pitchFamily="18" charset="0"/>
              </a:rPr>
              <a:t>1. </a:t>
            </a:r>
            <a:r>
              <a:rPr lang="mn-MN" sz="3600" b="1" dirty="0">
                <a:solidFill>
                  <a:srgbClr val="002060"/>
                </a:solidFill>
                <a:latin typeface="Times New Roman" panose="02020603050405020304" pitchFamily="18" charset="0"/>
                <a:cs typeface="Times New Roman" panose="02020603050405020304" pitchFamily="18" charset="0"/>
              </a:rPr>
              <a:t>Өмнөх үнэлгээний алдаа</a:t>
            </a:r>
            <a:endParaRPr lang="en-US" sz="36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825ECBD5-BDBB-C52C-1F09-DC9A6AB3C674}"/>
              </a:ext>
            </a:extLst>
          </p:cNvPr>
          <p:cNvSpPr>
            <a:spLocks noGrp="1"/>
          </p:cNvSpPr>
          <p:nvPr>
            <p:ph idx="1"/>
          </p:nvPr>
        </p:nvSpPr>
        <p:spPr>
          <a:xfrm>
            <a:off x="174225" y="620268"/>
            <a:ext cx="11843549" cy="5159829"/>
          </a:xfrm>
        </p:spPr>
        <p:txBody>
          <a:bodyPr>
            <a:normAutofit fontScale="92500"/>
          </a:bodyPr>
          <a:lstStyle/>
          <a:p>
            <a:pPr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Хөрөнгийн шинэчлэлтийн шинжилгээний эдийн засаг ирээдүй цагт төвлөрдөг. </a:t>
            </a:r>
          </a:p>
          <a:p>
            <a:pPr lvl="1"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Жишээлбэл, хөрөнгийн дансны үнэ </a:t>
            </a:r>
            <a:r>
              <a:rPr lang="en-US" sz="3200" dirty="0">
                <a:solidFill>
                  <a:srgbClr val="002060"/>
                </a:solidFill>
                <a:latin typeface="Times New Roman" panose="02020603050405020304" pitchFamily="18" charset="0"/>
                <a:cs typeface="Times New Roman" panose="02020603050405020304" pitchFamily="18" charset="0"/>
              </a:rPr>
              <a:t>BV </a:t>
            </a:r>
            <a:r>
              <a:rPr lang="mn-MN" sz="3200" dirty="0">
                <a:solidFill>
                  <a:srgbClr val="002060"/>
                </a:solidFill>
                <a:latin typeface="Times New Roman" panose="02020603050405020304" pitchFamily="18" charset="0"/>
                <a:cs typeface="Times New Roman" panose="02020603050405020304" pitchFamily="18" charset="0"/>
              </a:rPr>
              <a:t>нь зах зээлийн үнэ </a:t>
            </a:r>
            <a:r>
              <a:rPr lang="en-US" sz="3200" dirty="0">
                <a:solidFill>
                  <a:srgbClr val="002060"/>
                </a:solidFill>
                <a:latin typeface="Times New Roman" panose="02020603050405020304" pitchFamily="18" charset="0"/>
                <a:cs typeface="Times New Roman" panose="02020603050405020304" pitchFamily="18" charset="0"/>
              </a:rPr>
              <a:t>MV-</a:t>
            </a:r>
            <a:r>
              <a:rPr lang="mn-MN" sz="3200" dirty="0">
                <a:solidFill>
                  <a:srgbClr val="002060"/>
                </a:solidFill>
                <a:latin typeface="Times New Roman" panose="02020603050405020304" pitchFamily="18" charset="0"/>
                <a:cs typeface="Times New Roman" panose="02020603050405020304" pitchFamily="18" charset="0"/>
              </a:rPr>
              <a:t>ээс их үед үүсэх зөрүүг үнэлгээний алдаа гэж ихэвчлэн тодорхойлдог. </a:t>
            </a:r>
          </a:p>
          <a:p>
            <a:pPr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Ийм алдаа хүчин чадал (багтаамж) хангалтгүй, ашиглалтын зардал тооцоолсон хэмжээнээс их гарсан зэрэг үед бас бий болдог. </a:t>
            </a:r>
          </a:p>
          <a:p>
            <a:pPr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Эдгээр зөрүүний ихэнх нь алдааны үр дүн биш, харин анхны үнэлгээний үед ирээдүйн нөхцөл байдлыг урьдчилан тооцоолох чадвар муу байсантай холбоотой байдаг.</a:t>
            </a:r>
          </a:p>
        </p:txBody>
      </p:sp>
    </p:spTree>
    <p:extLst>
      <p:ext uri="{BB962C8B-B14F-4D97-AF65-F5344CB8AC3E}">
        <p14:creationId xmlns:p14="http://schemas.microsoft.com/office/powerpoint/2010/main" val="2148586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9751-2058-5996-5E4E-E5BB7FDC3950}"/>
              </a:ext>
            </a:extLst>
          </p:cNvPr>
          <p:cNvSpPr>
            <a:spLocks noGrp="1"/>
          </p:cNvSpPr>
          <p:nvPr>
            <p:ph type="title"/>
          </p:nvPr>
        </p:nvSpPr>
        <p:spPr>
          <a:xfrm>
            <a:off x="109728" y="96901"/>
            <a:ext cx="11440296" cy="537083"/>
          </a:xfrm>
        </p:spPr>
        <p:txBody>
          <a:bodyPr>
            <a:noAutofit/>
          </a:bodyPr>
          <a:lstStyle/>
          <a:p>
            <a:pPr algn="just"/>
            <a:r>
              <a:rPr lang="en-US" sz="3600" b="1" dirty="0">
                <a:solidFill>
                  <a:srgbClr val="002060"/>
                </a:solidFill>
                <a:latin typeface="Times New Roman" panose="02020603050405020304" pitchFamily="18" charset="0"/>
                <a:cs typeface="Times New Roman" panose="02020603050405020304" pitchFamily="18" charset="0"/>
              </a:rPr>
              <a:t>2. </a:t>
            </a:r>
            <a:r>
              <a:rPr lang="mn-MN" sz="3600" b="1" dirty="0">
                <a:solidFill>
                  <a:srgbClr val="002060"/>
                </a:solidFill>
                <a:latin typeface="Times New Roman" panose="02020603050405020304" pitchFamily="18" charset="0"/>
                <a:cs typeface="Times New Roman" panose="02020603050405020304" pitchFamily="18" charset="0"/>
              </a:rPr>
              <a:t>Нөхөгдөшгүй зардлууд</a:t>
            </a:r>
            <a:endParaRPr lang="en-US" sz="36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825ECBD5-BDBB-C52C-1F09-DC9A6AB3C674}"/>
              </a:ext>
            </a:extLst>
          </p:cNvPr>
          <p:cNvSpPr>
            <a:spLocks noGrp="1"/>
          </p:cNvSpPr>
          <p:nvPr>
            <p:ph idx="1"/>
          </p:nvPr>
        </p:nvSpPr>
        <p:spPr>
          <a:xfrm>
            <a:off x="109728" y="729996"/>
            <a:ext cx="11789663" cy="5597652"/>
          </a:xfrm>
        </p:spPr>
        <p:txBody>
          <a:bodyPr>
            <a:normAutofit/>
          </a:bodyPr>
          <a:lstStyle/>
          <a:p>
            <a:pPr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Нөхөгдөшгүй зардал – тухайн хөрөнгийн </a:t>
            </a:r>
            <a:r>
              <a:rPr lang="en-US" sz="3600" dirty="0">
                <a:solidFill>
                  <a:srgbClr val="002060"/>
                </a:solidFill>
                <a:latin typeface="Times New Roman" panose="02020603050405020304" pitchFamily="18" charset="0"/>
                <a:cs typeface="Times New Roman" panose="02020603050405020304" pitchFamily="18" charset="0"/>
              </a:rPr>
              <a:t>BV </a:t>
            </a:r>
            <a:r>
              <a:rPr lang="mn-MN" sz="3600" dirty="0">
                <a:solidFill>
                  <a:srgbClr val="002060"/>
                </a:solidFill>
                <a:latin typeface="Times New Roman" panose="02020603050405020304" pitchFamily="18" charset="0"/>
                <a:cs typeface="Times New Roman" panose="02020603050405020304" pitchFamily="18" charset="0"/>
              </a:rPr>
              <a:t>ба </a:t>
            </a:r>
            <a:r>
              <a:rPr lang="en-US" sz="3600" dirty="0">
                <a:solidFill>
                  <a:srgbClr val="002060"/>
                </a:solidFill>
                <a:latin typeface="Times New Roman" panose="02020603050405020304" pitchFamily="18" charset="0"/>
                <a:cs typeface="Times New Roman" panose="02020603050405020304" pitchFamily="18" charset="0"/>
              </a:rPr>
              <a:t>MV </a:t>
            </a:r>
            <a:r>
              <a:rPr lang="mn-MN" sz="3600" dirty="0">
                <a:solidFill>
                  <a:srgbClr val="002060"/>
                </a:solidFill>
                <a:latin typeface="Times New Roman" panose="02020603050405020304" pitchFamily="18" charset="0"/>
                <a:cs typeface="Times New Roman" panose="02020603050405020304" pitchFamily="18" charset="0"/>
              </a:rPr>
              <a:t>хоёрын хоорондын зөрүү. </a:t>
            </a:r>
          </a:p>
          <a:p>
            <a:pPr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Шинэчлэн солих талаар гаргаж байгаа шийдвэрт нөхөгдөшгүй зардал ямар нэгэн байдлаар нөлөөлөхгүй (орлогын албан татварт нөлөөлөхөөс бусад үед). </a:t>
            </a:r>
          </a:p>
          <a:p>
            <a:pPr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Орлогын албан татварын асуудлыг авч үзэхдээ ИЭЗС-нд нөхөгдөшгүй зардлыг оруулах шаардлагатай. </a:t>
            </a:r>
          </a:p>
          <a:p>
            <a:pPr lvl="1"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Тухайлбал, практик дээр хөрөнгийн шинэчлэлт хийх судалгаанд нөхөгдөшгүй зардлыг буруу судалж боловсруулсан тохиолдолд ноцтой алдаа гарч болно.</a:t>
            </a:r>
            <a:endParaRPr lang="mn-MN"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5854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9751-2058-5996-5E4E-E5BB7FDC3950}"/>
              </a:ext>
            </a:extLst>
          </p:cNvPr>
          <p:cNvSpPr>
            <a:spLocks noGrp="1"/>
          </p:cNvSpPr>
          <p:nvPr>
            <p:ph type="title"/>
          </p:nvPr>
        </p:nvSpPr>
        <p:spPr>
          <a:xfrm>
            <a:off x="172756" y="85345"/>
            <a:ext cx="11897323" cy="577396"/>
          </a:xfrm>
        </p:spPr>
        <p:txBody>
          <a:bodyPr>
            <a:noAutofit/>
          </a:bodyPr>
          <a:lstStyle/>
          <a:p>
            <a:pPr algn="just">
              <a:spcBef>
                <a:spcPts val="200"/>
              </a:spcBef>
            </a:pPr>
            <a:r>
              <a:rPr lang="en-US" sz="2800" b="1" dirty="0">
                <a:solidFill>
                  <a:srgbClr val="002060"/>
                </a:solidFill>
                <a:latin typeface="Times New Roman" panose="02020603050405020304" pitchFamily="18" charset="0"/>
                <a:cs typeface="Times New Roman" panose="02020603050405020304" pitchFamily="18" charset="0"/>
              </a:rPr>
              <a:t>3. </a:t>
            </a:r>
            <a:r>
              <a:rPr lang="mn-MN" sz="2800" b="1" dirty="0">
                <a:solidFill>
                  <a:srgbClr val="002060"/>
                </a:solidFill>
                <a:latin typeface="Times New Roman" panose="02020603050405020304" pitchFamily="18" charset="0"/>
                <a:cs typeface="Times New Roman" panose="02020603050405020304" pitchFamily="18" charset="0"/>
              </a:rPr>
              <a:t>Хуучин хөрөнгийн хөрөнгө оруулалтын үнэ ба хөндлөнгийн үнэлгээ</a:t>
            </a:r>
            <a:endParaRPr lang="en-US" sz="28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825ECBD5-BDBB-C52C-1F09-DC9A6AB3C674}"/>
              </a:ext>
            </a:extLst>
          </p:cNvPr>
          <p:cNvSpPr>
            <a:spLocks noGrp="1"/>
          </p:cNvSpPr>
          <p:nvPr>
            <p:ph idx="1"/>
          </p:nvPr>
        </p:nvSpPr>
        <p:spPr>
          <a:xfrm>
            <a:off x="172756" y="662741"/>
            <a:ext cx="11846488" cy="5159829"/>
          </a:xfrm>
        </p:spPr>
        <p:txBody>
          <a:bodyPr>
            <a:normAutofit lnSpcReduction="10000"/>
          </a:bodyPr>
          <a:lstStyle/>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Хуучин хөрөнгийн хөрөнгө оруулалтын үнийг ойролцоогоор тооцоолохын тулд </a:t>
            </a:r>
            <a:r>
              <a:rPr lang="mn-MN" sz="3200" b="1" dirty="0">
                <a:solidFill>
                  <a:srgbClr val="002060"/>
                </a:solidFill>
                <a:latin typeface="Times New Roman" panose="02020603050405020304" pitchFamily="18" charset="0"/>
                <a:cs typeface="Times New Roman" panose="02020603050405020304" pitchFamily="18" charset="0"/>
              </a:rPr>
              <a:t>хөндлөнгийн үнэлгээ</a:t>
            </a:r>
            <a:r>
              <a:rPr lang="mn-MN" sz="3200" dirty="0">
                <a:solidFill>
                  <a:srgbClr val="002060"/>
                </a:solidFill>
                <a:latin typeface="Times New Roman" panose="02020603050405020304" pitchFamily="18" charset="0"/>
                <a:cs typeface="Times New Roman" panose="02020603050405020304" pitchFamily="18" charset="0"/>
              </a:rPr>
              <a:t>г</a:t>
            </a:r>
            <a:r>
              <a:rPr lang="mn-MN" sz="3200" b="1"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ашиглана. </a:t>
            </a:r>
          </a:p>
          <a:p>
            <a:pPr algn="just">
              <a:spcBef>
                <a:spcPts val="200"/>
              </a:spcBef>
            </a:pPr>
            <a:r>
              <a:rPr lang="mn-MN" sz="3200" b="1" dirty="0">
                <a:solidFill>
                  <a:srgbClr val="002060"/>
                </a:solidFill>
                <a:latin typeface="Times New Roman" panose="02020603050405020304" pitchFamily="18" charset="0"/>
                <a:cs typeface="Times New Roman" panose="02020603050405020304" pitchFamily="18" charset="0"/>
              </a:rPr>
              <a:t>Хөндлөнгийн үнэлгээ </a:t>
            </a:r>
            <a:r>
              <a:rPr lang="mn-MN" sz="3200" dirty="0">
                <a:solidFill>
                  <a:srgbClr val="002060"/>
                </a:solidFill>
                <a:latin typeface="Times New Roman" panose="02020603050405020304" pitchFamily="18" charset="0"/>
                <a:cs typeface="Times New Roman" panose="02020603050405020304" pitchFamily="18" charset="0"/>
              </a:rPr>
              <a:t>– ашигласан (хоёр дахь) хөрөнгийн үнэн зөв, шударга зах зээлийн үнэ </a:t>
            </a:r>
            <a:r>
              <a:rPr lang="en-US" sz="3200" dirty="0">
                <a:solidFill>
                  <a:srgbClr val="002060"/>
                </a:solidFill>
                <a:latin typeface="Times New Roman" panose="02020603050405020304" pitchFamily="18" charset="0"/>
                <a:cs typeface="Times New Roman" panose="02020603050405020304" pitchFamily="18" charset="0"/>
              </a:rPr>
              <a:t>MV-</a:t>
            </a:r>
            <a:r>
              <a:rPr lang="mn-MN" sz="3200" dirty="0">
                <a:solidFill>
                  <a:srgbClr val="002060"/>
                </a:solidFill>
                <a:latin typeface="Times New Roman" panose="02020603050405020304" pitchFamily="18" charset="0"/>
                <a:cs typeface="Times New Roman" panose="02020603050405020304" pitchFamily="18" charset="0"/>
              </a:rPr>
              <a:t>ийг тогтоохын тулд хөндлөнгийн гуравдагч этгээдийн гаргасан хэтийн төлөв юм. </a:t>
            </a:r>
          </a:p>
          <a:p>
            <a:pPr lvl="1" algn="just">
              <a:spcBef>
                <a:spcPts val="200"/>
              </a:spcBef>
            </a:pPr>
            <a:r>
              <a:rPr lang="mn-MN" sz="2800" b="1" dirty="0">
                <a:solidFill>
                  <a:srgbClr val="002060"/>
                </a:solidFill>
                <a:latin typeface="Times New Roman" panose="02020603050405020304" pitchFamily="18" charset="0"/>
                <a:cs typeface="Times New Roman" panose="02020603050405020304" pitchFamily="18" charset="0"/>
              </a:rPr>
              <a:t>Хөндлөнгийн үнэлгээ </a:t>
            </a:r>
            <a:r>
              <a:rPr lang="mn-MN" sz="2800" dirty="0">
                <a:solidFill>
                  <a:srgbClr val="002060"/>
                </a:solidFill>
                <a:latin typeface="Times New Roman" panose="02020603050405020304" pitchFamily="18" charset="0"/>
                <a:cs typeface="Times New Roman" panose="02020603050405020304" pitchFamily="18" charset="0"/>
              </a:rPr>
              <a:t>– хуучин хөрөнгийн үнийг тодорхойлох алдагдсан боломжийн зардал гэж бас нэрлэдэг.</a:t>
            </a:r>
          </a:p>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Энэ үнэлгээ нь (харах өнцөг нь) шинжээчийг шинэчлэн солих судалгаа хийхдээ одоогийн болон ирээдүйн мөнгөн урсгалд анхаарлаа хандуулахыг шаарддаг бөгөөд ингэснээр өнгөрсөн (нөхөгдөшгүй) зардалд анхаарлаа хандуулж зогсохоос зайлсхийдэг. </a:t>
            </a:r>
          </a:p>
        </p:txBody>
      </p:sp>
    </p:spTree>
    <p:extLst>
      <p:ext uri="{BB962C8B-B14F-4D97-AF65-F5344CB8AC3E}">
        <p14:creationId xmlns:p14="http://schemas.microsoft.com/office/powerpoint/2010/main" val="353496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B478C-749C-DFDA-D112-F2D0F210683E}"/>
              </a:ext>
            </a:extLst>
          </p:cNvPr>
          <p:cNvSpPr>
            <a:spLocks noGrp="1"/>
          </p:cNvSpPr>
          <p:nvPr>
            <p:ph type="title"/>
          </p:nvPr>
        </p:nvSpPr>
        <p:spPr>
          <a:xfrm>
            <a:off x="119921" y="125286"/>
            <a:ext cx="11842230" cy="795592"/>
          </a:xfrm>
        </p:spPr>
        <p:txBody>
          <a:bodyPr>
            <a:noAutofit/>
          </a:bodyPr>
          <a:lstStyle/>
          <a:p>
            <a:pPr algn="just"/>
            <a:r>
              <a:rPr lang="en-US" sz="3100" b="1" dirty="0">
                <a:solidFill>
                  <a:srgbClr val="002060"/>
                </a:solidFill>
                <a:latin typeface="Times New Roman" panose="02020603050405020304" pitchFamily="18" charset="0"/>
                <a:cs typeface="Times New Roman" panose="02020603050405020304" pitchFamily="18" charset="0"/>
              </a:rPr>
              <a:t>3. </a:t>
            </a:r>
            <a:r>
              <a:rPr lang="mn-MN" sz="3100" b="1" dirty="0">
                <a:solidFill>
                  <a:srgbClr val="002060"/>
                </a:solidFill>
                <a:latin typeface="Times New Roman" panose="02020603050405020304" pitchFamily="18" charset="0"/>
                <a:cs typeface="Times New Roman" panose="02020603050405020304" pitchFamily="18" charset="0"/>
              </a:rPr>
              <a:t>Хуучин хөрөнгийн хөрөнгө оруулалтын үнэ ба хөндлөнгийн үнэлгээ</a:t>
            </a:r>
            <a:endParaRPr lang="en-US" sz="31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ED30B67-35A4-E2EB-712B-8C43061480D4}"/>
              </a:ext>
            </a:extLst>
          </p:cNvPr>
          <p:cNvSpPr>
            <a:spLocks noGrp="1"/>
          </p:cNvSpPr>
          <p:nvPr>
            <p:ph idx="1"/>
          </p:nvPr>
        </p:nvSpPr>
        <p:spPr>
          <a:xfrm>
            <a:off x="119921" y="965848"/>
            <a:ext cx="11842230" cy="4351338"/>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Хөндлөнгийн үнэлгээг ашиглаж байгаа үед </a:t>
            </a:r>
            <a:r>
              <a:rPr lang="mn-MN" sz="3600" b="1" i="1" dirty="0">
                <a:solidFill>
                  <a:srgbClr val="002060"/>
                </a:solidFill>
                <a:latin typeface="Times New Roman" panose="02020603050405020304" pitchFamily="18" charset="0"/>
                <a:cs typeface="Times New Roman" panose="02020603050405020304" pitchFamily="18" charset="0"/>
              </a:rPr>
              <a:t>хуучин хөрөнгийн нийт хөрөнгө оруулалт нь тухайн үеийн зах зээлийн үнэ </a:t>
            </a:r>
            <a:r>
              <a:rPr lang="en-US" sz="3600" b="1" i="1" dirty="0">
                <a:solidFill>
                  <a:srgbClr val="002060"/>
                </a:solidFill>
                <a:latin typeface="Times New Roman" panose="02020603050405020304" pitchFamily="18" charset="0"/>
                <a:cs typeface="Times New Roman" panose="02020603050405020304" pitchFamily="18" charset="0"/>
              </a:rPr>
              <a:t>MV-</a:t>
            </a:r>
            <a:r>
              <a:rPr lang="mn-MN" sz="3600" b="1" i="1" dirty="0">
                <a:solidFill>
                  <a:srgbClr val="002060"/>
                </a:solidFill>
                <a:latin typeface="Times New Roman" panose="02020603050405020304" pitchFamily="18" charset="0"/>
                <a:cs typeface="Times New Roman" panose="02020603050405020304" pitchFamily="18" charset="0"/>
              </a:rPr>
              <a:t>ээр хуучин хөрөнгийг зарахгүй байх үеийн алдагдсан боломжийн зардал дээр хуучин хөрөнгийг шинэ хөрөнгөтэй өрсөлдөхүйц түвшинд засах зардлыг нэмсэн дүнг хэлнэ. </a:t>
            </a:r>
          </a:p>
          <a:p>
            <a:pPr algn="just"/>
            <a:r>
              <a:rPr lang="mn-MN" sz="3600" dirty="0">
                <a:solidFill>
                  <a:srgbClr val="002060"/>
                </a:solidFill>
                <a:latin typeface="Times New Roman" panose="02020603050405020304" pitchFamily="18" charset="0"/>
                <a:cs typeface="Times New Roman" panose="02020603050405020304" pitchFamily="18" charset="0"/>
              </a:rPr>
              <a:t>Бүх боломжит өрсөлдөгч хувилбаруудыг авч үзнэ.</a:t>
            </a:r>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4143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D30B67-35A4-E2EB-712B-8C43061480D4}"/>
              </a:ext>
            </a:extLst>
          </p:cNvPr>
          <p:cNvSpPr>
            <a:spLocks noGrp="1"/>
          </p:cNvSpPr>
          <p:nvPr>
            <p:ph idx="1"/>
          </p:nvPr>
        </p:nvSpPr>
        <p:spPr>
          <a:xfrm>
            <a:off x="118671" y="166230"/>
            <a:ext cx="11903439" cy="6444432"/>
          </a:xfrm>
        </p:spPr>
        <p:txBody>
          <a:bodyPr>
            <a:normAutofit/>
          </a:bodyPr>
          <a:lstStyle/>
          <a:p>
            <a:pPr marL="514350" indent="-514350" algn="just">
              <a:spcBef>
                <a:spcPts val="200"/>
              </a:spcBef>
              <a:buFont typeface="+mj-lt"/>
              <a:buAutoNum type="arabicPeriod" startAt="4"/>
            </a:pPr>
            <a:r>
              <a:rPr lang="mn-MN" sz="3600" b="1" dirty="0">
                <a:solidFill>
                  <a:srgbClr val="002060"/>
                </a:solidFill>
                <a:latin typeface="Times New Roman" panose="02020603050405020304" pitchFamily="18" charset="0"/>
                <a:cs typeface="Times New Roman" panose="02020603050405020304" pitchFamily="18" charset="0"/>
              </a:rPr>
              <a:t>Шинэ хөрөнгийн эдийн засгийн ашиглалтын хугацаа </a:t>
            </a:r>
          </a:p>
          <a:p>
            <a:pPr marL="514350" indent="-514350" algn="just">
              <a:spcBef>
                <a:spcPts val="200"/>
              </a:spcBef>
              <a:buFont typeface="+mj-lt"/>
              <a:buAutoNum type="arabicPeriod" startAt="4"/>
            </a:pPr>
            <a:r>
              <a:rPr lang="mn-MN" sz="3600" b="1" dirty="0">
                <a:solidFill>
                  <a:srgbClr val="002060"/>
                </a:solidFill>
                <a:latin typeface="Times New Roman" panose="02020603050405020304" pitchFamily="18" charset="0"/>
                <a:cs typeface="Times New Roman" panose="02020603050405020304" pitchFamily="18" charset="0"/>
              </a:rPr>
              <a:t>Хуучин хөрөнгийн эдийн засгийн ашиглалтын хугацаа </a:t>
            </a:r>
          </a:p>
          <a:p>
            <a:pPr lvl="1"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Хуучин хөрөнгийн эдийн засгийн ашиглалтын хугацаа ихэвчлэн нэг жил байдаг. </a:t>
            </a:r>
          </a:p>
          <a:p>
            <a:pPr marL="514350" indent="-514350" algn="just">
              <a:spcBef>
                <a:spcPts val="200"/>
              </a:spcBef>
              <a:buFont typeface="+mj-lt"/>
              <a:buAutoNum type="arabicPeriod" startAt="4"/>
            </a:pPr>
            <a:r>
              <a:rPr lang="mn-MN" sz="3600" b="1" dirty="0">
                <a:solidFill>
                  <a:srgbClr val="002060"/>
                </a:solidFill>
                <a:latin typeface="Times New Roman" panose="02020603050405020304" pitchFamily="18" charset="0"/>
                <a:cs typeface="Times New Roman" panose="02020603050405020304" pitchFamily="18" charset="0"/>
              </a:rPr>
              <a:t>Орлогын албан татварын үр дагаварын ач холбогдол</a:t>
            </a:r>
          </a:p>
          <a:p>
            <a:pPr lvl="1"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Хөрөнгийн шинэчлэлт ихэвчлэн элэгдэл тооцох хөрөнгийг борлуулснаас олсон ашиг буюу алдагдлыг бий болгодог. </a:t>
            </a:r>
          </a:p>
          <a:p>
            <a:pPr lvl="1"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Тиймээс энэ тохиолдолд эдийн засгийн нарийвчилсан шинжилгээ хийхийн тулд судалгааг татварын дараах дүнг ашиглан хийх шаардлагатай. </a:t>
            </a:r>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5596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A35C-193A-7B86-FBE3-51D2EFA76EFA}"/>
              </a:ext>
            </a:extLst>
          </p:cNvPr>
          <p:cNvSpPr>
            <a:spLocks noGrp="1"/>
          </p:cNvSpPr>
          <p:nvPr>
            <p:ph type="title"/>
          </p:nvPr>
        </p:nvSpPr>
        <p:spPr>
          <a:xfrm>
            <a:off x="148651" y="125284"/>
            <a:ext cx="11843479" cy="479684"/>
          </a:xfrm>
        </p:spPr>
        <p:txBody>
          <a:bodyPr>
            <a:noAutofit/>
          </a:bodyPr>
          <a:lstStyle/>
          <a:p>
            <a:pPr algn="just">
              <a:spcBef>
                <a:spcPts val="200"/>
              </a:spcBef>
            </a:pPr>
            <a:r>
              <a:rPr lang="mn-MN" sz="3400" b="1" dirty="0">
                <a:solidFill>
                  <a:srgbClr val="002060"/>
                </a:solidFill>
                <a:latin typeface="Times New Roman" panose="02020603050405020304" pitchFamily="18" charset="0"/>
                <a:cs typeface="Times New Roman" panose="02020603050405020304" pitchFamily="18" charset="0"/>
              </a:rPr>
              <a:t>Хуучин ба шинэ хөрөнгийг харьцуулах аргачлал</a:t>
            </a:r>
            <a:endParaRPr lang="en-US" sz="34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4EC838-12F7-FA38-5B84-838127BA5C34}"/>
              </a:ext>
            </a:extLst>
          </p:cNvPr>
          <p:cNvSpPr>
            <a:spLocks noGrp="1"/>
          </p:cNvSpPr>
          <p:nvPr>
            <p:ph idx="1"/>
          </p:nvPr>
        </p:nvSpPr>
        <p:spPr>
          <a:xfrm>
            <a:off x="148651" y="776313"/>
            <a:ext cx="11843479" cy="4667251"/>
          </a:xfrm>
        </p:spPr>
        <p:txBody>
          <a:bodyPr>
            <a:noAutofit/>
          </a:bodyPr>
          <a:lstStyle/>
          <a:p>
            <a:pPr algn="just">
              <a:spcBef>
                <a:spcPts val="200"/>
              </a:spcBef>
            </a:pPr>
            <a:r>
              <a:rPr lang="mn-MN" sz="3300" dirty="0">
                <a:solidFill>
                  <a:srgbClr val="002060"/>
                </a:solidFill>
                <a:latin typeface="Times New Roman" panose="02020603050405020304" pitchFamily="18" charset="0"/>
                <a:cs typeface="Times New Roman" panose="02020603050405020304" pitchFamily="18" charset="0"/>
              </a:rPr>
              <a:t>Шинэчлэн солигдох нөхцөлд байгаа хуучин тоног төхөөрөмжийг </a:t>
            </a:r>
            <a:r>
              <a:rPr lang="mn-MN" sz="3300" b="1" dirty="0">
                <a:solidFill>
                  <a:srgbClr val="002060"/>
                </a:solidFill>
                <a:latin typeface="Times New Roman" panose="02020603050405020304" pitchFamily="18" charset="0"/>
                <a:cs typeface="Times New Roman" panose="02020603050405020304" pitchFamily="18" charset="0"/>
              </a:rPr>
              <a:t>Хамгаалагч</a:t>
            </a:r>
            <a:r>
              <a:rPr lang="mn-MN" sz="3300" dirty="0">
                <a:solidFill>
                  <a:srgbClr val="002060"/>
                </a:solidFill>
                <a:latin typeface="Times New Roman" panose="02020603050405020304" pitchFamily="18" charset="0"/>
                <a:cs typeface="Times New Roman" panose="02020603050405020304" pitchFamily="18" charset="0"/>
              </a:rPr>
              <a:t> буюу </a:t>
            </a:r>
            <a:r>
              <a:rPr lang="en-US" sz="3300" b="1" dirty="0">
                <a:solidFill>
                  <a:srgbClr val="002060"/>
                </a:solidFill>
                <a:latin typeface="Times New Roman" panose="02020603050405020304" pitchFamily="18" charset="0"/>
                <a:cs typeface="Times New Roman" panose="02020603050405020304" pitchFamily="18" charset="0"/>
              </a:rPr>
              <a:t>Defender</a:t>
            </a:r>
            <a:r>
              <a:rPr lang="en-US" sz="3300" dirty="0">
                <a:solidFill>
                  <a:srgbClr val="002060"/>
                </a:solidFill>
                <a:latin typeface="Times New Roman" panose="02020603050405020304" pitchFamily="18" charset="0"/>
                <a:cs typeface="Times New Roman" panose="02020603050405020304" pitchFamily="18" charset="0"/>
              </a:rPr>
              <a:t>, </a:t>
            </a:r>
            <a:r>
              <a:rPr lang="mn-MN" sz="3300" dirty="0">
                <a:solidFill>
                  <a:srgbClr val="002060"/>
                </a:solidFill>
                <a:latin typeface="Times New Roman" panose="02020603050405020304" pitchFamily="18" charset="0"/>
                <a:cs typeface="Times New Roman" panose="02020603050405020304" pitchFamily="18" charset="0"/>
              </a:rPr>
              <a:t>шинэ тоног төхөөрөмжийг </a:t>
            </a:r>
            <a:r>
              <a:rPr lang="mn-MN" sz="3300" b="1" dirty="0">
                <a:solidFill>
                  <a:srgbClr val="002060"/>
                </a:solidFill>
                <a:latin typeface="Times New Roman" panose="02020603050405020304" pitchFamily="18" charset="0"/>
                <a:cs typeface="Times New Roman" panose="02020603050405020304" pitchFamily="18" charset="0"/>
              </a:rPr>
              <a:t>Өрсөлдөгч</a:t>
            </a:r>
            <a:r>
              <a:rPr lang="mn-MN" sz="3300" dirty="0">
                <a:solidFill>
                  <a:srgbClr val="002060"/>
                </a:solidFill>
                <a:latin typeface="Times New Roman" panose="02020603050405020304" pitchFamily="18" charset="0"/>
                <a:cs typeface="Times New Roman" panose="02020603050405020304" pitchFamily="18" charset="0"/>
              </a:rPr>
              <a:t> буюу </a:t>
            </a:r>
            <a:r>
              <a:rPr lang="en-US" sz="3300" b="1" dirty="0">
                <a:solidFill>
                  <a:srgbClr val="002060"/>
                </a:solidFill>
                <a:latin typeface="Times New Roman" panose="02020603050405020304" pitchFamily="18" charset="0"/>
                <a:cs typeface="Times New Roman" panose="02020603050405020304" pitchFamily="18" charset="0"/>
              </a:rPr>
              <a:t>Challenger</a:t>
            </a:r>
            <a:r>
              <a:rPr lang="en-US" sz="3300" dirty="0">
                <a:solidFill>
                  <a:srgbClr val="002060"/>
                </a:solidFill>
                <a:latin typeface="Times New Roman" panose="02020603050405020304" pitchFamily="18" charset="0"/>
                <a:cs typeface="Times New Roman" panose="02020603050405020304" pitchFamily="18" charset="0"/>
              </a:rPr>
              <a:t> </a:t>
            </a:r>
            <a:r>
              <a:rPr lang="mn-MN" sz="3300" dirty="0">
                <a:solidFill>
                  <a:srgbClr val="002060"/>
                </a:solidFill>
                <a:latin typeface="Times New Roman" panose="02020603050405020304" pitchFamily="18" charset="0"/>
                <a:cs typeface="Times New Roman" panose="02020603050405020304" pitchFamily="18" charset="0"/>
              </a:rPr>
              <a:t>гэж нэрлэнэ. </a:t>
            </a:r>
          </a:p>
          <a:p>
            <a:pPr algn="just">
              <a:spcBef>
                <a:spcPts val="200"/>
              </a:spcBef>
            </a:pPr>
            <a:r>
              <a:rPr lang="mn-MN" sz="3300" dirty="0">
                <a:solidFill>
                  <a:srgbClr val="002060"/>
                </a:solidFill>
                <a:latin typeface="Times New Roman" panose="02020603050405020304" pitchFamily="18" charset="0"/>
                <a:cs typeface="Times New Roman" panose="02020603050405020304" pitchFamily="18" charset="0"/>
              </a:rPr>
              <a:t>Эдийн засгийн ашиглалтын хугацаа, хамгийн бага </a:t>
            </a:r>
            <a:r>
              <a:rPr lang="en-US" sz="3300" dirty="0">
                <a:solidFill>
                  <a:srgbClr val="002060"/>
                </a:solidFill>
                <a:latin typeface="Times New Roman" panose="02020603050405020304" pitchFamily="18" charset="0"/>
                <a:cs typeface="Times New Roman" panose="02020603050405020304" pitchFamily="18" charset="0"/>
              </a:rPr>
              <a:t>EUAC, </a:t>
            </a:r>
            <a:r>
              <a:rPr lang="mn-MN" sz="3300" dirty="0">
                <a:solidFill>
                  <a:srgbClr val="002060"/>
                </a:solidFill>
                <a:latin typeface="Times New Roman" panose="02020603050405020304" pitchFamily="18" charset="0"/>
                <a:cs typeface="Times New Roman" panose="02020603050405020304" pitchFamily="18" charset="0"/>
              </a:rPr>
              <a:t>хуучин болон шинэ хөрөнгийн хоёулангийх нь жил бүрийн нийт зардал (ахиуц зардал) –ыг мэдэх нь чухал.</a:t>
            </a:r>
          </a:p>
          <a:p>
            <a:pPr algn="just">
              <a:spcBef>
                <a:spcPts val="200"/>
              </a:spcBef>
            </a:pPr>
            <a:r>
              <a:rPr lang="mn-MN" sz="3300" dirty="0">
                <a:solidFill>
                  <a:srgbClr val="002060"/>
                </a:solidFill>
                <a:latin typeface="Times New Roman" panose="02020603050405020304" pitchFamily="18" charset="0"/>
                <a:cs typeface="Times New Roman" panose="02020603050405020304" pitchFamily="18" charset="0"/>
              </a:rPr>
              <a:t>Ингэснээр тэдгээрийн эдийн засгийн ашиглалтын хугацааны үнэлгээ, зардалд тулгуурлан тус бүрийн хувьд хамгийн тааламжтай нөхцөлөөр хооронд нь харьцуулах боломжтой болно.</a:t>
            </a:r>
            <a:endParaRPr lang="en-US" sz="33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9041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A35C-193A-7B86-FBE3-51D2EFA76EFA}"/>
              </a:ext>
            </a:extLst>
          </p:cNvPr>
          <p:cNvSpPr>
            <a:spLocks noGrp="1"/>
          </p:cNvSpPr>
          <p:nvPr>
            <p:ph type="title"/>
          </p:nvPr>
        </p:nvSpPr>
        <p:spPr>
          <a:xfrm>
            <a:off x="133661" y="125283"/>
            <a:ext cx="11828489" cy="479685"/>
          </a:xfrm>
        </p:spPr>
        <p:txBody>
          <a:bodyPr>
            <a:noAutofit/>
          </a:bodyPr>
          <a:lstStyle/>
          <a:p>
            <a:pPr algn="just">
              <a:spcBef>
                <a:spcPts val="200"/>
              </a:spcBef>
            </a:pPr>
            <a:r>
              <a:rPr lang="mn-MN" sz="3800" b="1" dirty="0">
                <a:solidFill>
                  <a:srgbClr val="002060"/>
                </a:solidFill>
                <a:latin typeface="Times New Roman" panose="02020603050405020304" pitchFamily="18" charset="0"/>
                <a:cs typeface="Times New Roman" panose="02020603050405020304" pitchFamily="18" charset="0"/>
              </a:rPr>
              <a:t>Хуучин ба шинэ хөрөнгийг харьцуулах аргачлал</a:t>
            </a:r>
            <a:endParaRPr lang="en-US" sz="38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84EC838-12F7-FA38-5B84-838127BA5C34}"/>
                  </a:ext>
                </a:extLst>
              </p:cNvPr>
              <p:cNvSpPr>
                <a:spLocks noGrp="1"/>
              </p:cNvSpPr>
              <p:nvPr>
                <p:ph idx="1"/>
              </p:nvPr>
            </p:nvSpPr>
            <p:spPr>
              <a:xfrm>
                <a:off x="133661" y="604968"/>
                <a:ext cx="11828489" cy="5930743"/>
              </a:xfrm>
            </p:spPr>
            <p:txBody>
              <a:bodyPr>
                <a:noAutofit/>
              </a:bodyPr>
              <a:lstStyle/>
              <a:p>
                <a:pPr algn="just">
                  <a:spcBef>
                    <a:spcPts val="200"/>
                  </a:spcBef>
                </a:pPr>
                <a:r>
                  <a:rPr lang="mn-MN" dirty="0">
                    <a:solidFill>
                      <a:srgbClr val="002060"/>
                    </a:solidFill>
                    <a:latin typeface="Times New Roman" panose="02020603050405020304" pitchFamily="18" charset="0"/>
                    <a:cs typeface="Times New Roman" panose="02020603050405020304" pitchFamily="18" charset="0"/>
                  </a:rPr>
                  <a:t>Анхдагч хөрөнгө оруулалтын тооцоо, жилийн зардал ба зах зээлийн үнэ </a:t>
                </a:r>
                <a14:m>
                  <m:oMath xmlns:m="http://schemas.openxmlformats.org/officeDocument/2006/math">
                    <m:r>
                      <a:rPr lang="en-US" dirty="0">
                        <a:solidFill>
                          <a:srgbClr val="002060"/>
                        </a:solidFill>
                        <a:latin typeface="Cambria Math" panose="02040503050406030204" pitchFamily="18" charset="0"/>
                      </a:rPr>
                      <m:t>𝑀𝑉</m:t>
                    </m:r>
                  </m:oMath>
                </a14:m>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ийн тооцоог нийт зардлыг </a:t>
                </a:r>
                <a14:m>
                  <m:oMath xmlns:m="http://schemas.openxmlformats.org/officeDocument/2006/math">
                    <m:r>
                      <a:rPr lang="en-US" dirty="0">
                        <a:solidFill>
                          <a:srgbClr val="002060"/>
                        </a:solidFill>
                        <a:latin typeface="Cambria Math" panose="02040503050406030204" pitchFamily="18" charset="0"/>
                      </a:rPr>
                      <m:t>𝑘</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дугаар жилийн </a:t>
                </a:r>
                <a14:m>
                  <m:oMath xmlns:m="http://schemas.openxmlformats.org/officeDocument/2006/math">
                    <m:r>
                      <a:rPr lang="en-US" dirty="0">
                        <a:solidFill>
                          <a:srgbClr val="002060"/>
                        </a:solidFill>
                        <a:latin typeface="Cambria Math" panose="02040503050406030204" pitchFamily="18" charset="0"/>
                      </a:rPr>
                      <m:t>𝑃𝑊</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буюу </a:t>
                </a:r>
                <a14:m>
                  <m:oMath xmlns:m="http://schemas.openxmlformats.org/officeDocument/2006/math">
                    <m:sSub>
                      <m:sSubPr>
                        <m:ctrlPr>
                          <a:rPr lang="en-US" i="1">
                            <a:solidFill>
                              <a:srgbClr val="002060"/>
                            </a:solidFill>
                            <a:latin typeface="Cambria Math" panose="02040503050406030204" pitchFamily="18" charset="0"/>
                          </a:rPr>
                        </m:ctrlPr>
                      </m:sSubPr>
                      <m:e>
                        <m:r>
                          <m:rPr>
                            <m:sty m:val="p"/>
                          </m:rPr>
                          <a:rPr lang="mn-MN">
                            <a:solidFill>
                              <a:srgbClr val="002060"/>
                            </a:solidFill>
                            <a:latin typeface="Cambria Math" panose="02040503050406030204" pitchFamily="18" charset="0"/>
                          </a:rPr>
                          <m:t>PW</m:t>
                        </m:r>
                      </m:e>
                      <m:sub>
                        <m:r>
                          <a:rPr lang="mn-MN">
                            <a:solidFill>
                              <a:srgbClr val="002060"/>
                            </a:solidFill>
                            <a:latin typeface="Cambria Math" panose="02040503050406030204" pitchFamily="18" charset="0"/>
                          </a:rPr>
                          <m:t>𝑘</m:t>
                        </m:r>
                      </m:sub>
                    </m:sSub>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г тодорхойлоход ашиглаж болно. Ийм маягаар, татварын өмнөх дүнд тулгуурлавал:</a:t>
                </a:r>
              </a:p>
              <a:p>
                <a:pPr marL="0" indent="0" algn="just">
                  <a:spcBef>
                    <a:spcPts val="200"/>
                  </a:spcBef>
                  <a:buNone/>
                </a:pPr>
                <a14:m>
                  <m:oMathPara xmlns:m="http://schemas.openxmlformats.org/officeDocument/2006/math">
                    <m:oMathParaPr>
                      <m:jc m:val="centerGroup"/>
                    </m:oMathParaPr>
                    <m:oMath xmlns:m="http://schemas.openxmlformats.org/officeDocument/2006/math">
                      <m:sSub>
                        <m:sSubPr>
                          <m:ctrlPr>
                            <a:rPr lang="en-US" sz="3600" i="1">
                              <a:solidFill>
                                <a:srgbClr val="002060"/>
                              </a:solidFill>
                              <a:latin typeface="Cambria Math" panose="02040503050406030204" pitchFamily="18" charset="0"/>
                            </a:rPr>
                          </m:ctrlPr>
                        </m:sSubPr>
                        <m:e>
                          <m:r>
                            <m:rPr>
                              <m:sty m:val="p"/>
                            </m:rPr>
                            <a:rPr lang="mn-MN" sz="3600">
                              <a:solidFill>
                                <a:srgbClr val="002060"/>
                              </a:solidFill>
                              <a:latin typeface="Cambria Math" panose="02040503050406030204" pitchFamily="18" charset="0"/>
                            </a:rPr>
                            <m:t>PW</m:t>
                          </m:r>
                        </m:e>
                        <m:sub>
                          <m:r>
                            <a:rPr lang="mn-MN" sz="3600">
                              <a:solidFill>
                                <a:srgbClr val="002060"/>
                              </a:solidFill>
                              <a:latin typeface="Cambria Math" panose="02040503050406030204" pitchFamily="18" charset="0"/>
                            </a:rPr>
                            <m:t>𝑘</m:t>
                          </m:r>
                        </m:sub>
                      </m:sSub>
                      <m:d>
                        <m:dPr>
                          <m:ctrlPr>
                            <a:rPr lang="en-US" sz="3600" i="1">
                              <a:solidFill>
                                <a:srgbClr val="002060"/>
                              </a:solidFill>
                              <a:latin typeface="Cambria Math" panose="02040503050406030204" pitchFamily="18" charset="0"/>
                            </a:rPr>
                          </m:ctrlPr>
                        </m:dPr>
                        <m:e>
                          <m:r>
                            <a:rPr lang="mn-MN" sz="3600">
                              <a:solidFill>
                                <a:srgbClr val="002060"/>
                              </a:solidFill>
                              <a:latin typeface="Cambria Math" panose="02040503050406030204" pitchFamily="18" charset="0"/>
                            </a:rPr>
                            <m:t>𝑖</m:t>
                          </m:r>
                          <m:r>
                            <a:rPr lang="mn-MN" sz="3600">
                              <a:solidFill>
                                <a:srgbClr val="002060"/>
                              </a:solidFill>
                              <a:latin typeface="Cambria Math" panose="02040503050406030204" pitchFamily="18" charset="0"/>
                            </a:rPr>
                            <m:t>%</m:t>
                          </m:r>
                        </m:e>
                      </m:d>
                      <m:r>
                        <a:rPr lang="mn-MN" sz="3600">
                          <a:solidFill>
                            <a:srgbClr val="002060"/>
                          </a:solidFill>
                          <a:latin typeface="Cambria Math" panose="02040503050406030204" pitchFamily="18" charset="0"/>
                        </a:rPr>
                        <m:t>=</m:t>
                      </m:r>
                      <m:r>
                        <a:rPr lang="mn-MN" sz="3600">
                          <a:solidFill>
                            <a:srgbClr val="002060"/>
                          </a:solidFill>
                          <a:latin typeface="Cambria Math" panose="02040503050406030204" pitchFamily="18" charset="0"/>
                        </a:rPr>
                        <m:t>𝐼</m:t>
                      </m:r>
                      <m:r>
                        <a:rPr lang="mn-MN" sz="3600">
                          <a:solidFill>
                            <a:srgbClr val="002060"/>
                          </a:solidFill>
                          <a:latin typeface="Cambria Math" panose="02040503050406030204" pitchFamily="18" charset="0"/>
                        </a:rPr>
                        <m:t>−</m:t>
                      </m:r>
                      <m:sSub>
                        <m:sSubPr>
                          <m:ctrlPr>
                            <a:rPr lang="en-US" sz="3600" i="1">
                              <a:solidFill>
                                <a:srgbClr val="002060"/>
                              </a:solidFill>
                              <a:latin typeface="Cambria Math" panose="02040503050406030204" pitchFamily="18" charset="0"/>
                            </a:rPr>
                          </m:ctrlPr>
                        </m:sSubPr>
                        <m:e>
                          <m:r>
                            <m:rPr>
                              <m:sty m:val="p"/>
                            </m:rPr>
                            <a:rPr lang="mn-MN" sz="3600">
                              <a:solidFill>
                                <a:srgbClr val="002060"/>
                              </a:solidFill>
                              <a:latin typeface="Cambria Math" panose="02040503050406030204" pitchFamily="18" charset="0"/>
                            </a:rPr>
                            <m:t>MV</m:t>
                          </m:r>
                        </m:e>
                        <m:sub>
                          <m:r>
                            <a:rPr lang="mn-MN" sz="3600">
                              <a:solidFill>
                                <a:srgbClr val="002060"/>
                              </a:solidFill>
                              <a:latin typeface="Cambria Math" panose="02040503050406030204" pitchFamily="18" charset="0"/>
                            </a:rPr>
                            <m:t>𝑘</m:t>
                          </m:r>
                        </m:sub>
                      </m:sSub>
                      <m:d>
                        <m:dPr>
                          <m:ctrlPr>
                            <a:rPr lang="en-US" sz="3600" i="1">
                              <a:solidFill>
                                <a:srgbClr val="002060"/>
                              </a:solidFill>
                              <a:latin typeface="Cambria Math" panose="02040503050406030204" pitchFamily="18" charset="0"/>
                            </a:rPr>
                          </m:ctrlPr>
                        </m:dPr>
                        <m:e>
                          <m:f>
                            <m:fPr>
                              <m:type m:val="lin"/>
                              <m:ctrlPr>
                                <a:rPr lang="en-US" sz="3600" i="1">
                                  <a:solidFill>
                                    <a:srgbClr val="002060"/>
                                  </a:solidFill>
                                  <a:latin typeface="Cambria Math" panose="02040503050406030204" pitchFamily="18" charset="0"/>
                                </a:rPr>
                              </m:ctrlPr>
                            </m:fPr>
                            <m:num>
                              <m:r>
                                <a:rPr lang="mn-MN" sz="3600">
                                  <a:solidFill>
                                    <a:srgbClr val="002060"/>
                                  </a:solidFill>
                                  <a:latin typeface="Cambria Math" panose="02040503050406030204" pitchFamily="18" charset="0"/>
                                </a:rPr>
                                <m:t>𝑃</m:t>
                              </m:r>
                            </m:num>
                            <m:den>
                              <m:r>
                                <a:rPr lang="mn-MN" sz="3600">
                                  <a:solidFill>
                                    <a:srgbClr val="002060"/>
                                  </a:solidFill>
                                  <a:latin typeface="Cambria Math" panose="02040503050406030204" pitchFamily="18" charset="0"/>
                                </a:rPr>
                                <m:t>𝐹</m:t>
                              </m:r>
                            </m:den>
                          </m:f>
                          <m:r>
                            <a:rPr lang="mn-MN" sz="3600">
                              <a:solidFill>
                                <a:srgbClr val="002060"/>
                              </a:solidFill>
                              <a:latin typeface="Cambria Math" panose="02040503050406030204" pitchFamily="18" charset="0"/>
                            </a:rPr>
                            <m:t>, </m:t>
                          </m:r>
                          <m:r>
                            <a:rPr lang="mn-MN" sz="3600">
                              <a:solidFill>
                                <a:srgbClr val="002060"/>
                              </a:solidFill>
                              <a:latin typeface="Cambria Math" panose="02040503050406030204" pitchFamily="18" charset="0"/>
                            </a:rPr>
                            <m:t>𝑖</m:t>
                          </m:r>
                          <m:r>
                            <a:rPr lang="mn-MN" sz="3600">
                              <a:solidFill>
                                <a:srgbClr val="002060"/>
                              </a:solidFill>
                              <a:latin typeface="Cambria Math" panose="02040503050406030204" pitchFamily="18" charset="0"/>
                            </a:rPr>
                            <m:t>%, </m:t>
                          </m:r>
                          <m:r>
                            <a:rPr lang="mn-MN" sz="3600">
                              <a:solidFill>
                                <a:srgbClr val="002060"/>
                              </a:solidFill>
                              <a:latin typeface="Cambria Math" panose="02040503050406030204" pitchFamily="18" charset="0"/>
                            </a:rPr>
                            <m:t>𝑘</m:t>
                          </m:r>
                        </m:e>
                      </m:d>
                      <m:r>
                        <a:rPr lang="mn-MN" sz="3600">
                          <a:solidFill>
                            <a:srgbClr val="002060"/>
                          </a:solidFill>
                          <a:latin typeface="Cambria Math" panose="02040503050406030204" pitchFamily="18" charset="0"/>
                        </a:rPr>
                        <m:t>+</m:t>
                      </m:r>
                      <m:nary>
                        <m:naryPr>
                          <m:chr m:val="∑"/>
                          <m:limLoc m:val="undOvr"/>
                          <m:ctrlPr>
                            <a:rPr lang="en-US" sz="3600" i="1">
                              <a:solidFill>
                                <a:srgbClr val="002060"/>
                              </a:solidFill>
                              <a:latin typeface="Cambria Math" panose="02040503050406030204" pitchFamily="18" charset="0"/>
                            </a:rPr>
                          </m:ctrlPr>
                        </m:naryPr>
                        <m:sub>
                          <m:r>
                            <a:rPr lang="mn-MN" sz="3600">
                              <a:solidFill>
                                <a:srgbClr val="002060"/>
                              </a:solidFill>
                              <a:latin typeface="Cambria Math" panose="02040503050406030204" pitchFamily="18" charset="0"/>
                            </a:rPr>
                            <m:t>𝑗</m:t>
                          </m:r>
                          <m:r>
                            <a:rPr lang="mn-MN" sz="3600">
                              <a:solidFill>
                                <a:srgbClr val="002060"/>
                              </a:solidFill>
                              <a:latin typeface="Cambria Math" panose="02040503050406030204" pitchFamily="18" charset="0"/>
                            </a:rPr>
                            <m:t>=1</m:t>
                          </m:r>
                        </m:sub>
                        <m:sup>
                          <m:r>
                            <a:rPr lang="mn-MN" sz="3600">
                              <a:solidFill>
                                <a:srgbClr val="002060"/>
                              </a:solidFill>
                              <a:latin typeface="Cambria Math" panose="02040503050406030204" pitchFamily="18" charset="0"/>
                            </a:rPr>
                            <m:t>𝑘</m:t>
                          </m:r>
                        </m:sup>
                        <m:e>
                          <m:sSub>
                            <m:sSubPr>
                              <m:ctrlPr>
                                <a:rPr lang="en-US" sz="3600" i="1">
                                  <a:solidFill>
                                    <a:srgbClr val="002060"/>
                                  </a:solidFill>
                                  <a:latin typeface="Cambria Math" panose="02040503050406030204" pitchFamily="18" charset="0"/>
                                </a:rPr>
                              </m:ctrlPr>
                            </m:sSubPr>
                            <m:e>
                              <m:r>
                                <a:rPr lang="mn-MN" sz="3600">
                                  <a:solidFill>
                                    <a:srgbClr val="002060"/>
                                  </a:solidFill>
                                  <a:latin typeface="Cambria Math" panose="02040503050406030204" pitchFamily="18" charset="0"/>
                                </a:rPr>
                                <m:t>𝐸</m:t>
                              </m:r>
                            </m:e>
                            <m:sub>
                              <m:r>
                                <a:rPr lang="mn-MN" sz="3600">
                                  <a:solidFill>
                                    <a:srgbClr val="002060"/>
                                  </a:solidFill>
                                  <a:latin typeface="Cambria Math" panose="02040503050406030204" pitchFamily="18" charset="0"/>
                                </a:rPr>
                                <m:t>𝑗</m:t>
                              </m:r>
                            </m:sub>
                          </m:sSub>
                          <m:d>
                            <m:dPr>
                              <m:ctrlPr>
                                <a:rPr lang="en-US" sz="3600" i="1">
                                  <a:solidFill>
                                    <a:srgbClr val="002060"/>
                                  </a:solidFill>
                                  <a:latin typeface="Cambria Math" panose="02040503050406030204" pitchFamily="18" charset="0"/>
                                </a:rPr>
                              </m:ctrlPr>
                            </m:dPr>
                            <m:e>
                              <m:f>
                                <m:fPr>
                                  <m:type m:val="lin"/>
                                  <m:ctrlPr>
                                    <a:rPr lang="en-US" sz="3600" i="1">
                                      <a:solidFill>
                                        <a:srgbClr val="002060"/>
                                      </a:solidFill>
                                      <a:latin typeface="Cambria Math" panose="02040503050406030204" pitchFamily="18" charset="0"/>
                                    </a:rPr>
                                  </m:ctrlPr>
                                </m:fPr>
                                <m:num>
                                  <m:r>
                                    <a:rPr lang="mn-MN" sz="3600">
                                      <a:solidFill>
                                        <a:srgbClr val="002060"/>
                                      </a:solidFill>
                                      <a:latin typeface="Cambria Math" panose="02040503050406030204" pitchFamily="18" charset="0"/>
                                    </a:rPr>
                                    <m:t>𝑃</m:t>
                                  </m:r>
                                </m:num>
                                <m:den>
                                  <m:r>
                                    <a:rPr lang="mn-MN" sz="3600">
                                      <a:solidFill>
                                        <a:srgbClr val="002060"/>
                                      </a:solidFill>
                                      <a:latin typeface="Cambria Math" panose="02040503050406030204" pitchFamily="18" charset="0"/>
                                    </a:rPr>
                                    <m:t>𝐹</m:t>
                                  </m:r>
                                </m:den>
                              </m:f>
                              <m:r>
                                <a:rPr lang="mn-MN" sz="3600">
                                  <a:solidFill>
                                    <a:srgbClr val="002060"/>
                                  </a:solidFill>
                                  <a:latin typeface="Cambria Math" panose="02040503050406030204" pitchFamily="18" charset="0"/>
                                </a:rPr>
                                <m:t>, </m:t>
                              </m:r>
                              <m:r>
                                <a:rPr lang="mn-MN" sz="3600">
                                  <a:solidFill>
                                    <a:srgbClr val="002060"/>
                                  </a:solidFill>
                                  <a:latin typeface="Cambria Math" panose="02040503050406030204" pitchFamily="18" charset="0"/>
                                </a:rPr>
                                <m:t>𝑖</m:t>
                              </m:r>
                              <m:r>
                                <a:rPr lang="mn-MN" sz="3600">
                                  <a:solidFill>
                                    <a:srgbClr val="002060"/>
                                  </a:solidFill>
                                  <a:latin typeface="Cambria Math" panose="02040503050406030204" pitchFamily="18" charset="0"/>
                                </a:rPr>
                                <m:t>%, </m:t>
                              </m:r>
                              <m:r>
                                <a:rPr lang="mn-MN" sz="3600">
                                  <a:solidFill>
                                    <a:srgbClr val="002060"/>
                                  </a:solidFill>
                                  <a:latin typeface="Cambria Math" panose="02040503050406030204" pitchFamily="18" charset="0"/>
                                </a:rPr>
                                <m:t>𝑗</m:t>
                              </m:r>
                            </m:e>
                          </m:d>
                        </m:e>
                      </m:nary>
                    </m:oMath>
                  </m:oMathPara>
                </a14:m>
                <a:endParaRPr lang="mn-MN" sz="3600" dirty="0">
                  <a:solidFill>
                    <a:srgbClr val="002060"/>
                  </a:solidFill>
                  <a:latin typeface="Times New Roman" panose="02020603050405020304" pitchFamily="18" charset="0"/>
                  <a:cs typeface="Times New Roman" panose="02020603050405020304" pitchFamily="18" charset="0"/>
                </a:endParaRPr>
              </a:p>
              <a:p>
                <a:pPr algn="just">
                  <a:spcBef>
                    <a:spcPts val="200"/>
                  </a:spcBef>
                </a:pPr>
                <a14:m>
                  <m:oMath xmlns:m="http://schemas.openxmlformats.org/officeDocument/2006/math">
                    <m:r>
                      <a:rPr lang="en-US" i="1" dirty="0" smtClean="0">
                        <a:solidFill>
                          <a:srgbClr val="002060"/>
                        </a:solidFill>
                        <a:latin typeface="Cambria Math" panose="02040503050406030204" pitchFamily="18" charset="0"/>
                      </a:rPr>
                      <m:t>𝑘</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жил бүрийн нийт ахиуц зардал </a:t>
                </a:r>
                <a14:m>
                  <m:oMath xmlns:m="http://schemas.openxmlformats.org/officeDocument/2006/math">
                    <m:sSub>
                      <m:sSubPr>
                        <m:ctrlPr>
                          <a:rPr lang="en-US" i="1">
                            <a:solidFill>
                              <a:srgbClr val="002060"/>
                            </a:solidFill>
                            <a:latin typeface="Cambria Math" panose="02040503050406030204" pitchFamily="18" charset="0"/>
                          </a:rPr>
                        </m:ctrlPr>
                      </m:sSubPr>
                      <m:e>
                        <m:r>
                          <m:rPr>
                            <m:sty m:val="p"/>
                          </m:rPr>
                          <a:rPr lang="mn-MN">
                            <a:solidFill>
                              <a:srgbClr val="002060"/>
                            </a:solidFill>
                            <a:latin typeface="Cambria Math" panose="02040503050406030204" pitchFamily="18" charset="0"/>
                          </a:rPr>
                          <m:t>TC</m:t>
                        </m:r>
                      </m:e>
                      <m:sub>
                        <m:r>
                          <a:rPr lang="mn-MN">
                            <a:solidFill>
                              <a:srgbClr val="002060"/>
                            </a:solidFill>
                            <a:latin typeface="Cambria Math" panose="02040503050406030204" pitchFamily="18" charset="0"/>
                          </a:rPr>
                          <m:t>𝑘</m:t>
                        </m:r>
                      </m:sub>
                    </m:sSub>
                  </m:oMath>
                </a14:m>
                <a:r>
                  <a:rPr lang="mn-MN" dirty="0">
                    <a:solidFill>
                      <a:srgbClr val="002060"/>
                    </a:solidFill>
                    <a:latin typeface="Times New Roman" panose="02020603050405020304" pitchFamily="18" charset="0"/>
                    <a:cs typeface="Times New Roman" panose="02020603050405020304" pitchFamily="18" charset="0"/>
                  </a:rPr>
                  <a:t>:</a:t>
                </a:r>
                <a:endParaRPr lang="en-US" dirty="0">
                  <a:solidFill>
                    <a:srgbClr val="002060"/>
                  </a:solidFill>
                  <a:latin typeface="Times New Roman" panose="02020603050405020304" pitchFamily="18" charset="0"/>
                  <a:cs typeface="Times New Roman" panose="02020603050405020304" pitchFamily="18" charset="0"/>
                </a:endParaRPr>
              </a:p>
              <a:p>
                <a:pPr marL="0" indent="0" algn="just">
                  <a:spcBef>
                    <a:spcPts val="200"/>
                  </a:spcBef>
                  <a:buNone/>
                </a:pPr>
                <a14:m>
                  <m:oMathPara xmlns:m="http://schemas.openxmlformats.org/officeDocument/2006/math">
                    <m:oMathParaPr>
                      <m:jc m:val="centerGroup"/>
                    </m:oMathParaPr>
                    <m:oMath xmlns:m="http://schemas.openxmlformats.org/officeDocument/2006/math">
                      <m:sSub>
                        <m:sSubPr>
                          <m:ctrlPr>
                            <a:rPr lang="en-US" sz="3600" i="1">
                              <a:solidFill>
                                <a:srgbClr val="002060"/>
                              </a:solidFill>
                              <a:latin typeface="Cambria Math" panose="02040503050406030204" pitchFamily="18" charset="0"/>
                            </a:rPr>
                          </m:ctrlPr>
                        </m:sSubPr>
                        <m:e>
                          <m:r>
                            <m:rPr>
                              <m:sty m:val="p"/>
                            </m:rPr>
                            <a:rPr lang="mn-MN" sz="3600">
                              <a:solidFill>
                                <a:srgbClr val="002060"/>
                              </a:solidFill>
                              <a:latin typeface="Cambria Math" panose="02040503050406030204" pitchFamily="18" charset="0"/>
                            </a:rPr>
                            <m:t>TC</m:t>
                          </m:r>
                        </m:e>
                        <m:sub>
                          <m:r>
                            <a:rPr lang="mn-MN" sz="3600">
                              <a:solidFill>
                                <a:srgbClr val="002060"/>
                              </a:solidFill>
                              <a:latin typeface="Cambria Math" panose="02040503050406030204" pitchFamily="18" charset="0"/>
                            </a:rPr>
                            <m:t>𝑘</m:t>
                          </m:r>
                        </m:sub>
                      </m:sSub>
                      <m:d>
                        <m:dPr>
                          <m:ctrlPr>
                            <a:rPr lang="en-US" sz="3600" i="1">
                              <a:solidFill>
                                <a:srgbClr val="002060"/>
                              </a:solidFill>
                              <a:latin typeface="Cambria Math" panose="02040503050406030204" pitchFamily="18" charset="0"/>
                            </a:rPr>
                          </m:ctrlPr>
                        </m:dPr>
                        <m:e>
                          <m:r>
                            <a:rPr lang="mn-MN" sz="3600">
                              <a:solidFill>
                                <a:srgbClr val="002060"/>
                              </a:solidFill>
                              <a:latin typeface="Cambria Math" panose="02040503050406030204" pitchFamily="18" charset="0"/>
                            </a:rPr>
                            <m:t>𝑖</m:t>
                          </m:r>
                          <m:r>
                            <a:rPr lang="mn-MN" sz="3600">
                              <a:solidFill>
                                <a:srgbClr val="002060"/>
                              </a:solidFill>
                              <a:latin typeface="Cambria Math" panose="02040503050406030204" pitchFamily="18" charset="0"/>
                            </a:rPr>
                            <m:t>%</m:t>
                          </m:r>
                        </m:e>
                      </m:d>
                      <m:r>
                        <a:rPr lang="mn-MN" sz="3600">
                          <a:solidFill>
                            <a:srgbClr val="002060"/>
                          </a:solidFill>
                          <a:latin typeface="Cambria Math" panose="02040503050406030204" pitchFamily="18" charset="0"/>
                        </a:rPr>
                        <m:t>=</m:t>
                      </m:r>
                      <m:sSub>
                        <m:sSubPr>
                          <m:ctrlPr>
                            <a:rPr lang="en-US" sz="3600" i="1">
                              <a:solidFill>
                                <a:srgbClr val="002060"/>
                              </a:solidFill>
                              <a:latin typeface="Cambria Math" panose="02040503050406030204" pitchFamily="18" charset="0"/>
                            </a:rPr>
                          </m:ctrlPr>
                        </m:sSubPr>
                        <m:e>
                          <m:r>
                            <m:rPr>
                              <m:sty m:val="p"/>
                            </m:rPr>
                            <a:rPr lang="mn-MN" sz="3600">
                              <a:solidFill>
                                <a:srgbClr val="002060"/>
                              </a:solidFill>
                              <a:latin typeface="Cambria Math" panose="02040503050406030204" pitchFamily="18" charset="0"/>
                            </a:rPr>
                            <m:t>MV</m:t>
                          </m:r>
                        </m:e>
                        <m:sub>
                          <m:r>
                            <a:rPr lang="mn-MN" sz="3600">
                              <a:solidFill>
                                <a:srgbClr val="002060"/>
                              </a:solidFill>
                              <a:latin typeface="Cambria Math" panose="02040503050406030204" pitchFamily="18" charset="0"/>
                            </a:rPr>
                            <m:t>𝑘</m:t>
                          </m:r>
                          <m:r>
                            <a:rPr lang="mn-MN" sz="3600">
                              <a:solidFill>
                                <a:srgbClr val="002060"/>
                              </a:solidFill>
                              <a:latin typeface="Cambria Math" panose="02040503050406030204" pitchFamily="18" charset="0"/>
                            </a:rPr>
                            <m:t>−1</m:t>
                          </m:r>
                        </m:sub>
                      </m:sSub>
                      <m:r>
                        <a:rPr lang="mn-MN" sz="3600">
                          <a:solidFill>
                            <a:srgbClr val="002060"/>
                          </a:solidFill>
                          <a:latin typeface="Cambria Math" panose="02040503050406030204" pitchFamily="18" charset="0"/>
                        </a:rPr>
                        <m:t>−</m:t>
                      </m:r>
                      <m:sSub>
                        <m:sSubPr>
                          <m:ctrlPr>
                            <a:rPr lang="en-US" sz="3600" i="1">
                              <a:solidFill>
                                <a:srgbClr val="002060"/>
                              </a:solidFill>
                              <a:latin typeface="Cambria Math" panose="02040503050406030204" pitchFamily="18" charset="0"/>
                            </a:rPr>
                          </m:ctrlPr>
                        </m:sSubPr>
                        <m:e>
                          <m:r>
                            <m:rPr>
                              <m:sty m:val="p"/>
                            </m:rPr>
                            <a:rPr lang="mn-MN" sz="3600">
                              <a:solidFill>
                                <a:srgbClr val="002060"/>
                              </a:solidFill>
                              <a:latin typeface="Cambria Math" panose="02040503050406030204" pitchFamily="18" charset="0"/>
                            </a:rPr>
                            <m:t>MV</m:t>
                          </m:r>
                        </m:e>
                        <m:sub>
                          <m:r>
                            <a:rPr lang="mn-MN" sz="3600">
                              <a:solidFill>
                                <a:srgbClr val="002060"/>
                              </a:solidFill>
                              <a:latin typeface="Cambria Math" panose="02040503050406030204" pitchFamily="18" charset="0"/>
                            </a:rPr>
                            <m:t>𝑘</m:t>
                          </m:r>
                        </m:sub>
                      </m:sSub>
                      <m:r>
                        <a:rPr lang="mn-MN" sz="3600">
                          <a:solidFill>
                            <a:srgbClr val="002060"/>
                          </a:solidFill>
                          <a:latin typeface="Cambria Math" panose="02040503050406030204" pitchFamily="18" charset="0"/>
                        </a:rPr>
                        <m:t>+</m:t>
                      </m:r>
                      <m:sSub>
                        <m:sSubPr>
                          <m:ctrlPr>
                            <a:rPr lang="en-US" sz="3600" i="1">
                              <a:solidFill>
                                <a:srgbClr val="002060"/>
                              </a:solidFill>
                              <a:latin typeface="Cambria Math" panose="02040503050406030204" pitchFamily="18" charset="0"/>
                            </a:rPr>
                          </m:ctrlPr>
                        </m:sSubPr>
                        <m:e>
                          <m:r>
                            <a:rPr lang="mn-MN" sz="3600">
                              <a:solidFill>
                                <a:srgbClr val="002060"/>
                              </a:solidFill>
                              <a:latin typeface="Cambria Math" panose="02040503050406030204" pitchFamily="18" charset="0"/>
                            </a:rPr>
                            <m:t>𝑖</m:t>
                          </m:r>
                          <m:r>
                            <m:rPr>
                              <m:sty m:val="p"/>
                            </m:rPr>
                            <a:rPr lang="mn-MN" sz="3600">
                              <a:solidFill>
                                <a:srgbClr val="002060"/>
                              </a:solidFill>
                              <a:latin typeface="Cambria Math" panose="02040503050406030204" pitchFamily="18" charset="0"/>
                            </a:rPr>
                            <m:t>MV</m:t>
                          </m:r>
                        </m:e>
                        <m:sub>
                          <m:r>
                            <a:rPr lang="mn-MN" sz="3600">
                              <a:solidFill>
                                <a:srgbClr val="002060"/>
                              </a:solidFill>
                              <a:latin typeface="Cambria Math" panose="02040503050406030204" pitchFamily="18" charset="0"/>
                            </a:rPr>
                            <m:t>𝑘</m:t>
                          </m:r>
                          <m:r>
                            <a:rPr lang="mn-MN" sz="3600">
                              <a:solidFill>
                                <a:srgbClr val="002060"/>
                              </a:solidFill>
                              <a:latin typeface="Cambria Math" panose="02040503050406030204" pitchFamily="18" charset="0"/>
                            </a:rPr>
                            <m:t>−1</m:t>
                          </m:r>
                        </m:sub>
                      </m:sSub>
                      <m:r>
                        <a:rPr lang="mn-MN" sz="3600">
                          <a:solidFill>
                            <a:srgbClr val="002060"/>
                          </a:solidFill>
                          <a:latin typeface="Cambria Math" panose="02040503050406030204" pitchFamily="18" charset="0"/>
                        </a:rPr>
                        <m:t>+</m:t>
                      </m:r>
                      <m:sSub>
                        <m:sSubPr>
                          <m:ctrlPr>
                            <a:rPr lang="en-US" sz="3600" i="1">
                              <a:solidFill>
                                <a:srgbClr val="002060"/>
                              </a:solidFill>
                              <a:latin typeface="Cambria Math" panose="02040503050406030204" pitchFamily="18" charset="0"/>
                            </a:rPr>
                          </m:ctrlPr>
                        </m:sSubPr>
                        <m:e>
                          <m:r>
                            <a:rPr lang="mn-MN" sz="3600">
                              <a:solidFill>
                                <a:srgbClr val="002060"/>
                              </a:solidFill>
                              <a:latin typeface="Cambria Math" panose="02040503050406030204" pitchFamily="18" charset="0"/>
                            </a:rPr>
                            <m:t>𝐸</m:t>
                          </m:r>
                        </m:e>
                        <m:sub>
                          <m:r>
                            <a:rPr lang="mn-MN" sz="3600">
                              <a:solidFill>
                                <a:srgbClr val="002060"/>
                              </a:solidFill>
                              <a:latin typeface="Cambria Math" panose="02040503050406030204" pitchFamily="18" charset="0"/>
                            </a:rPr>
                            <m:t>𝑘</m:t>
                          </m:r>
                        </m:sub>
                      </m:sSub>
                    </m:oMath>
                  </m:oMathPara>
                </a14:m>
                <a:endParaRPr lang="mn-MN" sz="3600" dirty="0">
                  <a:solidFill>
                    <a:srgbClr val="002060"/>
                  </a:solidFill>
                  <a:latin typeface="Times New Roman" panose="02020603050405020304" pitchFamily="18" charset="0"/>
                  <a:cs typeface="Times New Roman" panose="02020603050405020304" pitchFamily="18" charset="0"/>
                </a:endParaRPr>
              </a:p>
              <a:p>
                <a:pPr algn="just">
                  <a:spcBef>
                    <a:spcPts val="200"/>
                  </a:spcBef>
                </a:pPr>
                <a:r>
                  <a:rPr lang="mn-MN" dirty="0">
                    <a:solidFill>
                      <a:srgbClr val="002060"/>
                    </a:solidFill>
                    <a:latin typeface="Times New Roman" panose="02020603050405020304" pitchFamily="18" charset="0"/>
                    <a:cs typeface="Times New Roman" panose="02020603050405020304" pitchFamily="18" charset="0"/>
                  </a:rPr>
                  <a:t>Эдгээр нийт ахиуц (эсвэл жилээс жилд) зардлыг </a:t>
                </a:r>
                <a14:m>
                  <m:oMath xmlns:m="http://schemas.openxmlformats.org/officeDocument/2006/math">
                    <m:r>
                      <a:rPr lang="en-US" sz="3200" b="1" i="1" dirty="0" smtClean="0">
                        <a:solidFill>
                          <a:srgbClr val="002060"/>
                        </a:solidFill>
                        <a:latin typeface="Cambria Math" panose="02040503050406030204" pitchFamily="18" charset="0"/>
                      </a:rPr>
                      <m:t>𝒌</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жилийг оруулан өмнөх жил бүрийн </a:t>
                </a:r>
                <a:r>
                  <a:rPr lang="en-US" dirty="0">
                    <a:solidFill>
                      <a:srgbClr val="002060"/>
                    </a:solidFill>
                    <a:latin typeface="Times New Roman" panose="02020603050405020304" pitchFamily="18" charset="0"/>
                    <a:cs typeface="Times New Roman" panose="02020603050405020304" pitchFamily="18" charset="0"/>
                  </a:rPr>
                  <a:t>EUAC-</a:t>
                </a:r>
                <a:r>
                  <a:rPr lang="mn-MN" dirty="0">
                    <a:solidFill>
                      <a:srgbClr val="002060"/>
                    </a:solidFill>
                    <a:latin typeface="Times New Roman" panose="02020603050405020304" pitchFamily="18" charset="0"/>
                    <a:cs typeface="Times New Roman" panose="02020603050405020304" pitchFamily="18" charset="0"/>
                  </a:rPr>
                  <a:t>ыг олоход ашиглана. </a:t>
                </a:r>
              </a:p>
              <a:p>
                <a:pPr algn="just">
                  <a:spcBef>
                    <a:spcPts val="200"/>
                  </a:spcBef>
                </a:pPr>
                <a:r>
                  <a:rPr lang="mn-MN" dirty="0">
                    <a:solidFill>
                      <a:srgbClr val="002060"/>
                    </a:solidFill>
                    <a:latin typeface="Times New Roman" panose="02020603050405020304" pitchFamily="18" charset="0"/>
                    <a:cs typeface="Times New Roman" panose="02020603050405020304" pitchFamily="18" charset="0"/>
                  </a:rPr>
                  <a:t>Хөрөнгийн ашиглалтын хугацааны туршид бий болсон хамгийн бага </a:t>
                </a:r>
                <a14:m>
                  <m:oMath xmlns:m="http://schemas.openxmlformats.org/officeDocument/2006/math">
                    <m:sSub>
                      <m:sSubPr>
                        <m:ctrlPr>
                          <a:rPr lang="en-US" sz="3200" b="1" i="1" dirty="0" smtClean="0">
                            <a:solidFill>
                              <a:srgbClr val="002060"/>
                            </a:solidFill>
                            <a:latin typeface="Cambria Math" panose="02040503050406030204" pitchFamily="18" charset="0"/>
                          </a:rPr>
                        </m:ctrlPr>
                      </m:sSubPr>
                      <m:e>
                        <m:r>
                          <a:rPr lang="en-US" sz="3200" b="1" i="1" dirty="0">
                            <a:solidFill>
                              <a:srgbClr val="002060"/>
                            </a:solidFill>
                            <a:latin typeface="Cambria Math" panose="02040503050406030204" pitchFamily="18" charset="0"/>
                          </a:rPr>
                          <m:t>𝑬𝑼𝑨𝑪</m:t>
                        </m:r>
                      </m:e>
                      <m:sub>
                        <m:r>
                          <a:rPr lang="en-US" sz="3200" b="1" i="1" dirty="0" smtClean="0">
                            <a:solidFill>
                              <a:srgbClr val="002060"/>
                            </a:solidFill>
                            <a:latin typeface="Cambria Math" panose="02040503050406030204" pitchFamily="18" charset="0"/>
                          </a:rPr>
                          <m:t>𝒌</m:t>
                        </m:r>
                      </m:sub>
                    </m:sSub>
                  </m:oMath>
                </a14:m>
                <a:r>
                  <a:rPr lang="en-US" sz="3200" b="1"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түүний эдийн засгийн ашиглалтын хугацааг тодорхойлдог.</a:t>
                </a:r>
              </a:p>
            </p:txBody>
          </p:sp>
        </mc:Choice>
        <mc:Fallback xmlns="">
          <p:sp>
            <p:nvSpPr>
              <p:cNvPr id="3" name="Content Placeholder 2">
                <a:extLst>
                  <a:ext uri="{FF2B5EF4-FFF2-40B4-BE49-F238E27FC236}">
                    <a16:creationId xmlns:a16="http://schemas.microsoft.com/office/drawing/2014/main" id="{384EC838-12F7-FA38-5B84-838127BA5C34}"/>
                  </a:ext>
                </a:extLst>
              </p:cNvPr>
              <p:cNvSpPr>
                <a:spLocks noGrp="1" noRot="1" noChangeAspect="1" noMove="1" noResize="1" noEditPoints="1" noAdjustHandles="1" noChangeArrowheads="1" noChangeShapeType="1" noTextEdit="1"/>
              </p:cNvSpPr>
              <p:nvPr>
                <p:ph idx="1"/>
              </p:nvPr>
            </p:nvSpPr>
            <p:spPr>
              <a:xfrm>
                <a:off x="133661" y="604968"/>
                <a:ext cx="11828489" cy="5930743"/>
              </a:xfrm>
              <a:blipFill>
                <a:blip r:embed="rId3"/>
                <a:stretch>
                  <a:fillRect l="-928" t="-1747" r="-1031"/>
                </a:stretch>
              </a:blipFill>
            </p:spPr>
            <p:txBody>
              <a:bodyPr/>
              <a:lstStyle/>
              <a:p>
                <a:r>
                  <a:rPr lang="en-US">
                    <a:noFill/>
                  </a:rPr>
                  <a:t> </a:t>
                </a:r>
              </a:p>
            </p:txBody>
          </p:sp>
        </mc:Fallback>
      </mc:AlternateContent>
    </p:spTree>
    <p:extLst>
      <p:ext uri="{BB962C8B-B14F-4D97-AF65-F5344CB8AC3E}">
        <p14:creationId xmlns:p14="http://schemas.microsoft.com/office/powerpoint/2010/main" val="4266141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23461-41C5-2BF6-C2BF-28E51C835F09}"/>
              </a:ext>
            </a:extLst>
          </p:cNvPr>
          <p:cNvSpPr>
            <a:spLocks noGrp="1"/>
          </p:cNvSpPr>
          <p:nvPr>
            <p:ph type="title"/>
          </p:nvPr>
        </p:nvSpPr>
        <p:spPr>
          <a:xfrm>
            <a:off x="167390" y="140272"/>
            <a:ext cx="11857219" cy="489315"/>
          </a:xfrm>
        </p:spPr>
        <p:txBody>
          <a:bodyPr>
            <a:noAutofit/>
          </a:bodyPr>
          <a:lstStyle/>
          <a:p>
            <a:pPr algn="just">
              <a:spcBef>
                <a:spcPts val="200"/>
              </a:spcBef>
            </a:pPr>
            <a:r>
              <a:rPr lang="mn-MN" sz="3800" b="1" dirty="0">
                <a:solidFill>
                  <a:srgbClr val="002060"/>
                </a:solidFill>
                <a:latin typeface="Times New Roman" panose="02020603050405020304" pitchFamily="18" charset="0"/>
                <a:cs typeface="Times New Roman" panose="02020603050405020304" pitchFamily="18" charset="0"/>
              </a:rPr>
              <a:t>Хуучин ба шинэ хөрөнгийг харьцуулах аргачлал</a:t>
            </a:r>
            <a:endParaRPr lang="en-US" sz="3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026A7AE-5AA8-8B11-CF92-3CA2A9CC14A7}"/>
              </a:ext>
            </a:extLst>
          </p:cNvPr>
          <p:cNvSpPr>
            <a:spLocks noGrp="1"/>
          </p:cNvSpPr>
          <p:nvPr>
            <p:ph idx="1"/>
          </p:nvPr>
        </p:nvSpPr>
        <p:spPr>
          <a:xfrm>
            <a:off x="167390" y="629587"/>
            <a:ext cx="11857219" cy="4721902"/>
          </a:xfrm>
        </p:spPr>
        <p:txBody>
          <a:bodyPr>
            <a:noAutofit/>
          </a:bodyPr>
          <a:lstStyle/>
          <a:p>
            <a:pPr algn="just">
              <a:lnSpc>
                <a:spcPct val="100000"/>
              </a:lnSpc>
              <a:spcBef>
                <a:spcPts val="200"/>
              </a:spcBef>
            </a:pPr>
            <a:r>
              <a:rPr lang="mn-MN" sz="3400" dirty="0">
                <a:solidFill>
                  <a:srgbClr val="002060"/>
                </a:solidFill>
                <a:latin typeface="Times New Roman" panose="02020603050405020304" pitchFamily="18" charset="0"/>
                <a:cs typeface="Times New Roman" panose="02020603050405020304" pitchFamily="18" charset="0"/>
              </a:rPr>
              <a:t>Хуучин хөрөнгийн эдийн засгийн ашиглалтын үлдсэн хугацааг хэрхэн тодорхойлж байгаагаас үл хамааран хуучин хөрөнгийг үргэлжлүүлэн ашиглах шийдвэр нь зөвхөн энэ хугацааны турш үргэлжлүүлэн ашиглах ёстой гэсэн үг биш юм. </a:t>
            </a:r>
          </a:p>
          <a:p>
            <a:pPr algn="just">
              <a:lnSpc>
                <a:spcPct val="100000"/>
              </a:lnSpc>
              <a:spcBef>
                <a:spcPts val="200"/>
              </a:spcBef>
            </a:pPr>
            <a:r>
              <a:rPr lang="mn-MN" sz="3400" dirty="0">
                <a:solidFill>
                  <a:srgbClr val="002060"/>
                </a:solidFill>
                <a:latin typeface="Times New Roman" panose="02020603050405020304" pitchFamily="18" charset="0"/>
                <a:cs typeface="Times New Roman" panose="02020603050405020304" pitchFamily="18" charset="0"/>
              </a:rPr>
              <a:t>Үнэн хэрэгтээ, хуучин хөрөнгийн ахиуц зардал (үйлчилгээний нэмэлт жилд зарцуулагдсан нийт зардал) нь хамгийн сайн шинэ хөрөнгийн хамгийн бага </a:t>
            </a:r>
            <a:r>
              <a:rPr lang="en-US" sz="3400" dirty="0">
                <a:solidFill>
                  <a:srgbClr val="002060"/>
                </a:solidFill>
                <a:latin typeface="Times New Roman" panose="02020603050405020304" pitchFamily="18" charset="0"/>
                <a:cs typeface="Times New Roman" panose="02020603050405020304" pitchFamily="18" charset="0"/>
              </a:rPr>
              <a:t>EUAC –</a:t>
            </a:r>
            <a:r>
              <a:rPr lang="mn-MN" sz="3400" dirty="0">
                <a:solidFill>
                  <a:srgbClr val="002060"/>
                </a:solidFill>
                <a:latin typeface="Times New Roman" panose="02020603050405020304" pitchFamily="18" charset="0"/>
                <a:cs typeface="Times New Roman" panose="02020603050405020304" pitchFamily="18" charset="0"/>
              </a:rPr>
              <a:t>ээс бага байх хугацаа хүртэл хуучин хөрөнгийг ашиглах ёстой.</a:t>
            </a:r>
          </a:p>
        </p:txBody>
      </p:sp>
    </p:spTree>
    <p:extLst>
      <p:ext uri="{BB962C8B-B14F-4D97-AF65-F5344CB8AC3E}">
        <p14:creationId xmlns:p14="http://schemas.microsoft.com/office/powerpoint/2010/main" val="1687572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23461-41C5-2BF6-C2BF-28E51C835F09}"/>
              </a:ext>
            </a:extLst>
          </p:cNvPr>
          <p:cNvSpPr>
            <a:spLocks noGrp="1"/>
          </p:cNvSpPr>
          <p:nvPr>
            <p:ph type="title"/>
          </p:nvPr>
        </p:nvSpPr>
        <p:spPr>
          <a:xfrm>
            <a:off x="160421" y="268872"/>
            <a:ext cx="11871158" cy="597401"/>
          </a:xfrm>
        </p:spPr>
        <p:txBody>
          <a:bodyPr>
            <a:noAutofit/>
          </a:bodyPr>
          <a:lstStyle/>
          <a:p>
            <a:pPr algn="just">
              <a:spcBef>
                <a:spcPts val="200"/>
              </a:spcBef>
            </a:pPr>
            <a:r>
              <a:rPr lang="mn-MN" sz="3800" b="1" dirty="0">
                <a:solidFill>
                  <a:srgbClr val="002060"/>
                </a:solidFill>
                <a:latin typeface="Times New Roman" panose="02020603050405020304" pitchFamily="18" charset="0"/>
                <a:cs typeface="Times New Roman" panose="02020603050405020304" pitchFamily="18" charset="0"/>
              </a:rPr>
              <a:t>Хуучин ба шинэ хөрөнгийг харьцуулах аргачлал</a:t>
            </a:r>
            <a:endParaRPr lang="en-US" sz="3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026A7AE-5AA8-8B11-CF92-3CA2A9CC14A7}"/>
              </a:ext>
            </a:extLst>
          </p:cNvPr>
          <p:cNvSpPr>
            <a:spLocks noGrp="1"/>
          </p:cNvSpPr>
          <p:nvPr>
            <p:ph idx="1"/>
          </p:nvPr>
        </p:nvSpPr>
        <p:spPr>
          <a:xfrm>
            <a:off x="160421" y="866273"/>
            <a:ext cx="11871158" cy="4351338"/>
          </a:xfrm>
        </p:spPr>
        <p:txBody>
          <a:bodyPr>
            <a:normAutofit/>
          </a:bodyPr>
          <a:lstStyle/>
          <a:p>
            <a:pPr algn="just">
              <a:spcBef>
                <a:spcPts val="200"/>
              </a:spcBef>
            </a:pPr>
            <a:r>
              <a:rPr lang="mn-MN" sz="3800" dirty="0">
                <a:solidFill>
                  <a:srgbClr val="002060"/>
                </a:solidFill>
                <a:latin typeface="Times New Roman" panose="02020603050405020304" pitchFamily="18" charset="0"/>
                <a:cs typeface="Times New Roman" panose="02020603050405020304" pitchFamily="18" charset="0"/>
              </a:rPr>
              <a:t>Хуучин ба шинэ хөрөнгийг харьцуулахад давтагдах чанарын таамаглалыг хэрэглэх боломжгүй бол үнийн саналын таамаглалыг ашиглаж болно. </a:t>
            </a:r>
          </a:p>
          <a:p>
            <a:pPr algn="just">
              <a:spcBef>
                <a:spcPts val="200"/>
              </a:spcBef>
            </a:pPr>
            <a:r>
              <a:rPr lang="mn-MN" sz="3800" dirty="0">
                <a:solidFill>
                  <a:srgbClr val="002060"/>
                </a:solidFill>
                <a:latin typeface="Times New Roman" panose="02020603050405020304" pitchFamily="18" charset="0"/>
                <a:cs typeface="Times New Roman" panose="02020603050405020304" pitchFamily="18" charset="0"/>
              </a:rPr>
              <a:t>Үнийн саналын таамаглалыг ашиглаж байгаа үед бүх хувилбаруудад судалгааны тодорхой үеийг ашигладаг. </a:t>
            </a:r>
          </a:p>
          <a:p>
            <a:pPr algn="just">
              <a:spcBef>
                <a:spcPts val="200"/>
              </a:spcBef>
            </a:pPr>
            <a:r>
              <a:rPr lang="mn-MN" sz="3800" dirty="0">
                <a:solidFill>
                  <a:srgbClr val="002060"/>
                </a:solidFill>
                <a:latin typeface="Times New Roman" panose="02020603050405020304" pitchFamily="18" charset="0"/>
                <a:cs typeface="Times New Roman" panose="02020603050405020304" pitchFamily="18" charset="0"/>
              </a:rPr>
              <a:t>Үнэ болон татварын өөрчлөлтийн үр нөлөөг хөрөнгийг шинэчлэх судалгаанд тооцсон үед үнийн саналын таамаглалыг ашигладаг.</a:t>
            </a:r>
          </a:p>
        </p:txBody>
      </p:sp>
    </p:spTree>
    <p:extLst>
      <p:ext uri="{BB962C8B-B14F-4D97-AF65-F5344CB8AC3E}">
        <p14:creationId xmlns:p14="http://schemas.microsoft.com/office/powerpoint/2010/main" val="8664986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23461-41C5-2BF6-C2BF-28E51C835F09}"/>
              </a:ext>
            </a:extLst>
          </p:cNvPr>
          <p:cNvSpPr>
            <a:spLocks noGrp="1"/>
          </p:cNvSpPr>
          <p:nvPr>
            <p:ph type="title"/>
          </p:nvPr>
        </p:nvSpPr>
        <p:spPr>
          <a:xfrm>
            <a:off x="208547" y="-7447"/>
            <a:ext cx="11550285" cy="502580"/>
          </a:xfrm>
        </p:spPr>
        <p:txBody>
          <a:bodyPr>
            <a:noAutofit/>
          </a:bodyPr>
          <a:lstStyle/>
          <a:p>
            <a:r>
              <a:rPr lang="mn-MN" sz="3300" b="1" dirty="0">
                <a:solidFill>
                  <a:srgbClr val="002060"/>
                </a:solidFill>
                <a:latin typeface="Times New Roman" panose="02020603050405020304" pitchFamily="18" charset="0"/>
                <a:cs typeface="Times New Roman" panose="02020603050405020304" pitchFamily="18" charset="0"/>
              </a:rPr>
              <a:t>Татварын дараах эдийн засгийн ашиглалтын хугацаа</a:t>
            </a:r>
            <a:endParaRPr lang="en-US" sz="33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026A7AE-5AA8-8B11-CF92-3CA2A9CC14A7}"/>
              </a:ext>
            </a:extLst>
          </p:cNvPr>
          <p:cNvSpPr>
            <a:spLocks noGrp="1"/>
          </p:cNvSpPr>
          <p:nvPr>
            <p:ph idx="1"/>
          </p:nvPr>
        </p:nvSpPr>
        <p:spPr>
          <a:xfrm>
            <a:off x="144379" y="334712"/>
            <a:ext cx="11855116" cy="820321"/>
          </a:xfrm>
        </p:spPr>
        <p:txBody>
          <a:bodyPr>
            <a:noAutofit/>
          </a:bodyPr>
          <a:lstStyle/>
          <a:p>
            <a:pPr algn="just">
              <a:spcBef>
                <a:spcPts val="200"/>
              </a:spcBef>
            </a:pPr>
            <a:r>
              <a:rPr lang="mn-MN" sz="2200" dirty="0">
                <a:solidFill>
                  <a:srgbClr val="002060"/>
                </a:solidFill>
                <a:latin typeface="Times New Roman" panose="02020603050405020304" pitchFamily="18" charset="0"/>
                <a:cs typeface="Times New Roman" panose="02020603050405020304" pitchFamily="18" charset="0"/>
              </a:rPr>
              <a:t>Татварын дараах шинжилгээг хөрөнгийн эдийн засгийн ашиглалтын хугацааг тодорхойлохын тулд ашиглаж болно. Үүний тулд орлогын татварын үр нөлөөг тооцох зорилгоор өмнөх тэгшитгэлийг өргөжүүлэх замаар ашиглана:</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C3264D-1D35-4030-8536-6EDD67DE0462}"/>
                  </a:ext>
                </a:extLst>
              </p:cNvPr>
              <p:cNvSpPr txBox="1">
                <a:spLocks/>
              </p:cNvSpPr>
              <p:nvPr/>
            </p:nvSpPr>
            <p:spPr>
              <a:xfrm>
                <a:off x="176465" y="1220704"/>
                <a:ext cx="11855116" cy="28058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spcBef>
                    <a:spcPts val="200"/>
                  </a:spcBef>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3400" i="1" smtClean="0">
                              <a:solidFill>
                                <a:srgbClr val="002060"/>
                              </a:solidFill>
                              <a:latin typeface="Cambria Math" panose="02040503050406030204" pitchFamily="18" charset="0"/>
                            </a:rPr>
                          </m:ctrlPr>
                        </m:sSubPr>
                        <m:e>
                          <m:r>
                            <m:rPr>
                              <m:sty m:val="p"/>
                            </m:rPr>
                            <a:rPr lang="en-US" sz="3400">
                              <a:solidFill>
                                <a:srgbClr val="002060"/>
                              </a:solidFill>
                              <a:latin typeface="Cambria Math" panose="02040503050406030204" pitchFamily="18" charset="0"/>
                            </a:rPr>
                            <m:t>PW</m:t>
                          </m:r>
                        </m:e>
                        <m:sub>
                          <m:r>
                            <a:rPr lang="mn-MN" sz="3400">
                              <a:solidFill>
                                <a:srgbClr val="002060"/>
                              </a:solidFill>
                              <a:latin typeface="Cambria Math" panose="02040503050406030204" pitchFamily="18" charset="0"/>
                            </a:rPr>
                            <m:t>𝑘</m:t>
                          </m:r>
                        </m:sub>
                      </m:sSub>
                      <m:d>
                        <m:dPr>
                          <m:ctrlPr>
                            <a:rPr lang="en-US" sz="3400" i="1">
                              <a:solidFill>
                                <a:srgbClr val="002060"/>
                              </a:solidFill>
                              <a:latin typeface="Cambria Math" panose="02040503050406030204" pitchFamily="18" charset="0"/>
                            </a:rPr>
                          </m:ctrlPr>
                        </m:dPr>
                        <m:e>
                          <m:r>
                            <a:rPr lang="mn-MN" sz="3400">
                              <a:solidFill>
                                <a:srgbClr val="002060"/>
                              </a:solidFill>
                              <a:latin typeface="Cambria Math" panose="02040503050406030204" pitchFamily="18" charset="0"/>
                            </a:rPr>
                            <m:t>𝑖</m:t>
                          </m:r>
                          <m:r>
                            <a:rPr lang="mn-MN" sz="3400">
                              <a:solidFill>
                                <a:srgbClr val="002060"/>
                              </a:solidFill>
                              <a:latin typeface="Cambria Math" panose="02040503050406030204" pitchFamily="18" charset="0"/>
                            </a:rPr>
                            <m:t>%</m:t>
                          </m:r>
                        </m:e>
                      </m:d>
                      <m:r>
                        <a:rPr lang="en-US" sz="3400" b="0" i="1" smtClean="0">
                          <a:solidFill>
                            <a:srgbClr val="002060"/>
                          </a:solidFill>
                          <a:latin typeface="Cambria Math" panose="02040503050406030204" pitchFamily="18" charset="0"/>
                        </a:rPr>
                        <m:t> </m:t>
                      </m:r>
                      <m:r>
                        <a:rPr lang="en-US" sz="3400" i="1" smtClean="0">
                          <a:solidFill>
                            <a:srgbClr val="002060"/>
                          </a:solidFill>
                          <a:latin typeface="Cambria Math" panose="02040503050406030204" pitchFamily="18" charset="0"/>
                        </a:rPr>
                        <m:t>=</m:t>
                      </m:r>
                      <m:r>
                        <a:rPr lang="mn-MN" sz="3400">
                          <a:solidFill>
                            <a:srgbClr val="002060"/>
                          </a:solidFill>
                          <a:latin typeface="Cambria Math" panose="02040503050406030204" pitchFamily="18" charset="0"/>
                        </a:rPr>
                        <m:t>=</m:t>
                      </m:r>
                      <m:r>
                        <a:rPr lang="mn-MN" sz="3400">
                          <a:solidFill>
                            <a:srgbClr val="002060"/>
                          </a:solidFill>
                          <a:latin typeface="Cambria Math" panose="02040503050406030204" pitchFamily="18" charset="0"/>
                        </a:rPr>
                        <m:t>𝐼</m:t>
                      </m:r>
                      <m:r>
                        <a:rPr lang="mn-MN" sz="3400">
                          <a:solidFill>
                            <a:srgbClr val="002060"/>
                          </a:solidFill>
                          <a:latin typeface="Cambria Math" panose="02040503050406030204" pitchFamily="18" charset="0"/>
                        </a:rPr>
                        <m:t>+</m:t>
                      </m:r>
                      <m:nary>
                        <m:naryPr>
                          <m:chr m:val="∑"/>
                          <m:limLoc m:val="undOvr"/>
                          <m:ctrlPr>
                            <a:rPr lang="en-US" sz="3400" i="1">
                              <a:solidFill>
                                <a:srgbClr val="002060"/>
                              </a:solidFill>
                              <a:latin typeface="Cambria Math" panose="02040503050406030204" pitchFamily="18" charset="0"/>
                            </a:rPr>
                          </m:ctrlPr>
                        </m:naryPr>
                        <m:sub>
                          <m:r>
                            <a:rPr lang="mn-MN" sz="3400">
                              <a:solidFill>
                                <a:srgbClr val="002060"/>
                              </a:solidFill>
                              <a:latin typeface="Cambria Math" panose="02040503050406030204" pitchFamily="18" charset="0"/>
                            </a:rPr>
                            <m:t>𝑗</m:t>
                          </m:r>
                          <m:r>
                            <a:rPr lang="mn-MN" sz="3400">
                              <a:solidFill>
                                <a:srgbClr val="002060"/>
                              </a:solidFill>
                              <a:latin typeface="Cambria Math" panose="02040503050406030204" pitchFamily="18" charset="0"/>
                            </a:rPr>
                            <m:t>=1</m:t>
                          </m:r>
                        </m:sub>
                        <m:sup>
                          <m:r>
                            <a:rPr lang="mn-MN" sz="3400">
                              <a:solidFill>
                                <a:srgbClr val="002060"/>
                              </a:solidFill>
                              <a:latin typeface="Cambria Math" panose="02040503050406030204" pitchFamily="18" charset="0"/>
                            </a:rPr>
                            <m:t>𝑘</m:t>
                          </m:r>
                        </m:sup>
                        <m:e>
                          <m:d>
                            <m:dPr>
                              <m:begChr m:val="["/>
                              <m:endChr m:val="]"/>
                              <m:ctrlPr>
                                <a:rPr lang="en-US" sz="3400" i="1">
                                  <a:solidFill>
                                    <a:srgbClr val="002060"/>
                                  </a:solidFill>
                                  <a:latin typeface="Cambria Math" panose="02040503050406030204" pitchFamily="18" charset="0"/>
                                </a:rPr>
                              </m:ctrlPr>
                            </m:dPr>
                            <m:e>
                              <m:d>
                                <m:dPr>
                                  <m:ctrlPr>
                                    <a:rPr lang="en-US" sz="3400" i="1">
                                      <a:solidFill>
                                        <a:srgbClr val="002060"/>
                                      </a:solidFill>
                                      <a:latin typeface="Cambria Math" panose="02040503050406030204" pitchFamily="18" charset="0"/>
                                    </a:rPr>
                                  </m:ctrlPr>
                                </m:dPr>
                                <m:e>
                                  <m:r>
                                    <a:rPr lang="mn-MN" sz="3400">
                                      <a:solidFill>
                                        <a:srgbClr val="002060"/>
                                      </a:solidFill>
                                      <a:latin typeface="Cambria Math" panose="02040503050406030204" pitchFamily="18" charset="0"/>
                                    </a:rPr>
                                    <m:t>1−</m:t>
                                  </m:r>
                                  <m:r>
                                    <a:rPr lang="mn-MN" sz="3400">
                                      <a:solidFill>
                                        <a:srgbClr val="002060"/>
                                      </a:solidFill>
                                      <a:latin typeface="Cambria Math" panose="02040503050406030204" pitchFamily="18" charset="0"/>
                                    </a:rPr>
                                    <m:t>𝑡</m:t>
                                  </m:r>
                                </m:e>
                              </m:d>
                              <m:sSub>
                                <m:sSubPr>
                                  <m:ctrlPr>
                                    <a:rPr lang="en-US" sz="3400" i="1">
                                      <a:solidFill>
                                        <a:srgbClr val="002060"/>
                                      </a:solidFill>
                                      <a:latin typeface="Cambria Math" panose="02040503050406030204" pitchFamily="18" charset="0"/>
                                    </a:rPr>
                                  </m:ctrlPr>
                                </m:sSubPr>
                                <m:e>
                                  <m:r>
                                    <a:rPr lang="mn-MN" sz="3400">
                                      <a:solidFill>
                                        <a:srgbClr val="002060"/>
                                      </a:solidFill>
                                      <a:latin typeface="Cambria Math" panose="02040503050406030204" pitchFamily="18" charset="0"/>
                                    </a:rPr>
                                    <m:t>𝐸</m:t>
                                  </m:r>
                                </m:e>
                                <m:sub>
                                  <m:r>
                                    <a:rPr lang="mn-MN" sz="3400">
                                      <a:solidFill>
                                        <a:srgbClr val="002060"/>
                                      </a:solidFill>
                                      <a:latin typeface="Cambria Math" panose="02040503050406030204" pitchFamily="18" charset="0"/>
                                    </a:rPr>
                                    <m:t>𝑗</m:t>
                                  </m:r>
                                </m:sub>
                              </m:sSub>
                              <m:r>
                                <a:rPr lang="mn-MN" sz="3400">
                                  <a:solidFill>
                                    <a:srgbClr val="002060"/>
                                  </a:solidFill>
                                  <a:latin typeface="Cambria Math" panose="02040503050406030204" pitchFamily="18" charset="0"/>
                                </a:rPr>
                                <m:t>−</m:t>
                              </m:r>
                              <m:r>
                                <a:rPr lang="mn-MN" sz="3400">
                                  <a:solidFill>
                                    <a:srgbClr val="002060"/>
                                  </a:solidFill>
                                  <a:latin typeface="Cambria Math" panose="02040503050406030204" pitchFamily="18" charset="0"/>
                                </a:rPr>
                                <m:t>𝑡</m:t>
                              </m:r>
                              <m:sSub>
                                <m:sSubPr>
                                  <m:ctrlPr>
                                    <a:rPr lang="en-US" sz="3400" i="1">
                                      <a:solidFill>
                                        <a:srgbClr val="002060"/>
                                      </a:solidFill>
                                      <a:latin typeface="Cambria Math" panose="02040503050406030204" pitchFamily="18" charset="0"/>
                                    </a:rPr>
                                  </m:ctrlPr>
                                </m:sSubPr>
                                <m:e>
                                  <m:r>
                                    <a:rPr lang="mn-MN" sz="3400">
                                      <a:solidFill>
                                        <a:srgbClr val="002060"/>
                                      </a:solidFill>
                                      <a:latin typeface="Cambria Math" panose="02040503050406030204" pitchFamily="18" charset="0"/>
                                    </a:rPr>
                                    <m:t>𝑑</m:t>
                                  </m:r>
                                </m:e>
                                <m:sub>
                                  <m:r>
                                    <a:rPr lang="mn-MN" sz="3400">
                                      <a:solidFill>
                                        <a:srgbClr val="002060"/>
                                      </a:solidFill>
                                      <a:latin typeface="Cambria Math" panose="02040503050406030204" pitchFamily="18" charset="0"/>
                                    </a:rPr>
                                    <m:t>𝑗</m:t>
                                  </m:r>
                                </m:sub>
                              </m:sSub>
                            </m:e>
                          </m:d>
                          <m:d>
                            <m:dPr>
                              <m:ctrlPr>
                                <a:rPr lang="en-US" sz="3400" i="1">
                                  <a:solidFill>
                                    <a:srgbClr val="002060"/>
                                  </a:solidFill>
                                  <a:latin typeface="Cambria Math" panose="02040503050406030204" pitchFamily="18" charset="0"/>
                                </a:rPr>
                              </m:ctrlPr>
                            </m:dPr>
                            <m:e>
                              <m:f>
                                <m:fPr>
                                  <m:type m:val="lin"/>
                                  <m:ctrlPr>
                                    <a:rPr lang="en-US" sz="3400" i="1">
                                      <a:solidFill>
                                        <a:srgbClr val="002060"/>
                                      </a:solidFill>
                                      <a:latin typeface="Cambria Math" panose="02040503050406030204" pitchFamily="18" charset="0"/>
                                    </a:rPr>
                                  </m:ctrlPr>
                                </m:fPr>
                                <m:num>
                                  <m:r>
                                    <a:rPr lang="mn-MN" sz="3400">
                                      <a:solidFill>
                                        <a:srgbClr val="002060"/>
                                      </a:solidFill>
                                      <a:latin typeface="Cambria Math" panose="02040503050406030204" pitchFamily="18" charset="0"/>
                                    </a:rPr>
                                    <m:t>𝑃</m:t>
                                  </m:r>
                                </m:num>
                                <m:den>
                                  <m:r>
                                    <a:rPr lang="mn-MN" sz="3400">
                                      <a:solidFill>
                                        <a:srgbClr val="002060"/>
                                      </a:solidFill>
                                      <a:latin typeface="Cambria Math" panose="02040503050406030204" pitchFamily="18" charset="0"/>
                                    </a:rPr>
                                    <m:t>𝐹</m:t>
                                  </m:r>
                                </m:den>
                              </m:f>
                              <m:r>
                                <a:rPr lang="mn-MN" sz="3400">
                                  <a:solidFill>
                                    <a:srgbClr val="002060"/>
                                  </a:solidFill>
                                  <a:latin typeface="Cambria Math" panose="02040503050406030204" pitchFamily="18" charset="0"/>
                                </a:rPr>
                                <m:t>, </m:t>
                              </m:r>
                              <m:r>
                                <a:rPr lang="mn-MN" sz="3400">
                                  <a:solidFill>
                                    <a:srgbClr val="002060"/>
                                  </a:solidFill>
                                  <a:latin typeface="Cambria Math" panose="02040503050406030204" pitchFamily="18" charset="0"/>
                                </a:rPr>
                                <m:t>𝑖</m:t>
                              </m:r>
                              <m:r>
                                <a:rPr lang="mn-MN" sz="3400">
                                  <a:solidFill>
                                    <a:srgbClr val="002060"/>
                                  </a:solidFill>
                                  <a:latin typeface="Cambria Math" panose="02040503050406030204" pitchFamily="18" charset="0"/>
                                </a:rPr>
                                <m:t>%, </m:t>
                              </m:r>
                              <m:r>
                                <a:rPr lang="mn-MN" sz="3400">
                                  <a:solidFill>
                                    <a:srgbClr val="002060"/>
                                  </a:solidFill>
                                  <a:latin typeface="Cambria Math" panose="02040503050406030204" pitchFamily="18" charset="0"/>
                                </a:rPr>
                                <m:t>𝑗</m:t>
                              </m:r>
                            </m:e>
                          </m:d>
                          <m:r>
                            <a:rPr lang="en-US" sz="3400" i="1" smtClean="0">
                              <a:solidFill>
                                <a:srgbClr val="002060"/>
                              </a:solidFill>
                              <a:latin typeface="Cambria Math" panose="02040503050406030204" pitchFamily="18" charset="0"/>
                            </a:rPr>
                            <m:t>−</m:t>
                          </m:r>
                        </m:e>
                      </m:nary>
                      <m:r>
                        <a:rPr lang="mn-MN" sz="3400">
                          <a:solidFill>
                            <a:srgbClr val="002060"/>
                          </a:solidFill>
                          <a:latin typeface="Cambria Math" panose="02040503050406030204" pitchFamily="18" charset="0"/>
                        </a:rPr>
                        <m:t>−</m:t>
                      </m:r>
                      <m:d>
                        <m:dPr>
                          <m:begChr m:val="["/>
                          <m:endChr m:val="]"/>
                          <m:ctrlPr>
                            <a:rPr lang="en-US" sz="3400" i="1">
                              <a:solidFill>
                                <a:srgbClr val="002060"/>
                              </a:solidFill>
                              <a:latin typeface="Cambria Math" panose="02040503050406030204" pitchFamily="18" charset="0"/>
                            </a:rPr>
                          </m:ctrlPr>
                        </m:dPr>
                        <m:e>
                          <m:d>
                            <m:dPr>
                              <m:ctrlPr>
                                <a:rPr lang="en-US" sz="3400" i="1">
                                  <a:solidFill>
                                    <a:srgbClr val="002060"/>
                                  </a:solidFill>
                                  <a:latin typeface="Cambria Math" panose="02040503050406030204" pitchFamily="18" charset="0"/>
                                </a:rPr>
                              </m:ctrlPr>
                            </m:dPr>
                            <m:e>
                              <m:r>
                                <a:rPr lang="mn-MN" sz="3400">
                                  <a:solidFill>
                                    <a:srgbClr val="002060"/>
                                  </a:solidFill>
                                  <a:latin typeface="Cambria Math" panose="02040503050406030204" pitchFamily="18" charset="0"/>
                                </a:rPr>
                                <m:t>1−</m:t>
                              </m:r>
                              <m:r>
                                <a:rPr lang="mn-MN" sz="3400">
                                  <a:solidFill>
                                    <a:srgbClr val="002060"/>
                                  </a:solidFill>
                                  <a:latin typeface="Cambria Math" panose="02040503050406030204" pitchFamily="18" charset="0"/>
                                </a:rPr>
                                <m:t>𝑡</m:t>
                              </m:r>
                            </m:e>
                          </m:d>
                          <m:sSub>
                            <m:sSubPr>
                              <m:ctrlPr>
                                <a:rPr lang="en-US" sz="3400" i="1">
                                  <a:solidFill>
                                    <a:srgbClr val="002060"/>
                                  </a:solidFill>
                                  <a:latin typeface="Cambria Math" panose="02040503050406030204" pitchFamily="18" charset="0"/>
                                </a:rPr>
                              </m:ctrlPr>
                            </m:sSubPr>
                            <m:e>
                              <m:r>
                                <m:rPr>
                                  <m:sty m:val="p"/>
                                </m:rPr>
                                <a:rPr lang="mn-MN" sz="3400">
                                  <a:solidFill>
                                    <a:srgbClr val="002060"/>
                                  </a:solidFill>
                                  <a:latin typeface="Cambria Math" panose="02040503050406030204" pitchFamily="18" charset="0"/>
                                </a:rPr>
                                <m:t>MV</m:t>
                              </m:r>
                            </m:e>
                            <m:sub>
                              <m:r>
                                <a:rPr lang="mn-MN" sz="3400">
                                  <a:solidFill>
                                    <a:srgbClr val="002060"/>
                                  </a:solidFill>
                                  <a:latin typeface="Cambria Math" panose="02040503050406030204" pitchFamily="18" charset="0"/>
                                </a:rPr>
                                <m:t>𝑘</m:t>
                              </m:r>
                            </m:sub>
                          </m:sSub>
                          <m:r>
                            <a:rPr lang="mn-MN" sz="3400">
                              <a:solidFill>
                                <a:srgbClr val="002060"/>
                              </a:solidFill>
                              <a:latin typeface="Cambria Math" panose="02040503050406030204" pitchFamily="18" charset="0"/>
                            </a:rPr>
                            <m:t>+</m:t>
                          </m:r>
                          <m:r>
                            <a:rPr lang="mn-MN" sz="3400">
                              <a:solidFill>
                                <a:srgbClr val="002060"/>
                              </a:solidFill>
                              <a:latin typeface="Cambria Math" panose="02040503050406030204" pitchFamily="18" charset="0"/>
                            </a:rPr>
                            <m:t>𝑡</m:t>
                          </m:r>
                          <m:d>
                            <m:dPr>
                              <m:ctrlPr>
                                <a:rPr lang="en-US" sz="3400" i="1">
                                  <a:solidFill>
                                    <a:srgbClr val="002060"/>
                                  </a:solidFill>
                                  <a:latin typeface="Cambria Math" panose="02040503050406030204" pitchFamily="18" charset="0"/>
                                </a:rPr>
                              </m:ctrlPr>
                            </m:dPr>
                            <m:e>
                              <m:sSub>
                                <m:sSubPr>
                                  <m:ctrlPr>
                                    <a:rPr lang="en-US" sz="3400" i="1">
                                      <a:solidFill>
                                        <a:srgbClr val="002060"/>
                                      </a:solidFill>
                                      <a:latin typeface="Cambria Math" panose="02040503050406030204" pitchFamily="18" charset="0"/>
                                    </a:rPr>
                                  </m:ctrlPr>
                                </m:sSubPr>
                                <m:e>
                                  <m:r>
                                    <m:rPr>
                                      <m:sty m:val="p"/>
                                    </m:rPr>
                                    <a:rPr lang="mn-MN" sz="3400">
                                      <a:solidFill>
                                        <a:srgbClr val="002060"/>
                                      </a:solidFill>
                                      <a:latin typeface="Cambria Math" panose="02040503050406030204" pitchFamily="18" charset="0"/>
                                    </a:rPr>
                                    <m:t>BV</m:t>
                                  </m:r>
                                </m:e>
                                <m:sub>
                                  <m:r>
                                    <a:rPr lang="mn-MN" sz="3400">
                                      <a:solidFill>
                                        <a:srgbClr val="002060"/>
                                      </a:solidFill>
                                      <a:latin typeface="Cambria Math" panose="02040503050406030204" pitchFamily="18" charset="0"/>
                                    </a:rPr>
                                    <m:t>𝑘</m:t>
                                  </m:r>
                                </m:sub>
                              </m:sSub>
                            </m:e>
                          </m:d>
                        </m:e>
                      </m:d>
                      <m:d>
                        <m:dPr>
                          <m:ctrlPr>
                            <a:rPr lang="en-US" sz="3400" i="1">
                              <a:solidFill>
                                <a:srgbClr val="002060"/>
                              </a:solidFill>
                              <a:latin typeface="Cambria Math" panose="02040503050406030204" pitchFamily="18" charset="0"/>
                            </a:rPr>
                          </m:ctrlPr>
                        </m:dPr>
                        <m:e>
                          <m:f>
                            <m:fPr>
                              <m:type m:val="lin"/>
                              <m:ctrlPr>
                                <a:rPr lang="en-US" sz="3400" i="1">
                                  <a:solidFill>
                                    <a:srgbClr val="002060"/>
                                  </a:solidFill>
                                  <a:latin typeface="Cambria Math" panose="02040503050406030204" pitchFamily="18" charset="0"/>
                                </a:rPr>
                              </m:ctrlPr>
                            </m:fPr>
                            <m:num>
                              <m:r>
                                <a:rPr lang="mn-MN" sz="3400">
                                  <a:solidFill>
                                    <a:srgbClr val="002060"/>
                                  </a:solidFill>
                                  <a:latin typeface="Cambria Math" panose="02040503050406030204" pitchFamily="18" charset="0"/>
                                </a:rPr>
                                <m:t>𝑃</m:t>
                              </m:r>
                            </m:num>
                            <m:den>
                              <m:r>
                                <a:rPr lang="mn-MN" sz="3400">
                                  <a:solidFill>
                                    <a:srgbClr val="002060"/>
                                  </a:solidFill>
                                  <a:latin typeface="Cambria Math" panose="02040503050406030204" pitchFamily="18" charset="0"/>
                                </a:rPr>
                                <m:t>𝐹</m:t>
                              </m:r>
                            </m:den>
                          </m:f>
                          <m:r>
                            <a:rPr lang="mn-MN" sz="3400">
                              <a:solidFill>
                                <a:srgbClr val="002060"/>
                              </a:solidFill>
                              <a:latin typeface="Cambria Math" panose="02040503050406030204" pitchFamily="18" charset="0"/>
                            </a:rPr>
                            <m:t>, </m:t>
                          </m:r>
                          <m:r>
                            <a:rPr lang="mn-MN" sz="3400">
                              <a:solidFill>
                                <a:srgbClr val="002060"/>
                              </a:solidFill>
                              <a:latin typeface="Cambria Math" panose="02040503050406030204" pitchFamily="18" charset="0"/>
                            </a:rPr>
                            <m:t>𝑖</m:t>
                          </m:r>
                          <m:r>
                            <a:rPr lang="mn-MN" sz="3400">
                              <a:solidFill>
                                <a:srgbClr val="002060"/>
                              </a:solidFill>
                              <a:latin typeface="Cambria Math" panose="02040503050406030204" pitchFamily="18" charset="0"/>
                            </a:rPr>
                            <m:t>%, </m:t>
                          </m:r>
                          <m:r>
                            <a:rPr lang="mn-MN" sz="3400">
                              <a:solidFill>
                                <a:srgbClr val="002060"/>
                              </a:solidFill>
                              <a:latin typeface="Cambria Math" panose="02040503050406030204" pitchFamily="18" charset="0"/>
                            </a:rPr>
                            <m:t>𝑘</m:t>
                          </m:r>
                        </m:e>
                      </m:d>
                    </m:oMath>
                  </m:oMathPara>
                </a14:m>
                <a:endParaRPr lang="en-US" sz="34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4" name="Content Placeholder 2">
                <a:extLst>
                  <a:ext uri="{FF2B5EF4-FFF2-40B4-BE49-F238E27FC236}">
                    <a16:creationId xmlns:a16="http://schemas.microsoft.com/office/drawing/2014/main" id="{C9C3264D-1D35-4030-8536-6EDD67DE0462}"/>
                  </a:ext>
                </a:extLst>
              </p:cNvPr>
              <p:cNvSpPr txBox="1">
                <a:spLocks noRot="1" noChangeAspect="1" noMove="1" noResize="1" noEditPoints="1" noAdjustHandles="1" noChangeArrowheads="1" noChangeShapeType="1" noTextEdit="1"/>
              </p:cNvSpPr>
              <p:nvPr/>
            </p:nvSpPr>
            <p:spPr>
              <a:xfrm>
                <a:off x="176465" y="1220704"/>
                <a:ext cx="11855116" cy="280586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54D08653-2690-43E5-BBF7-6AB9C0AF3C16}"/>
                  </a:ext>
                </a:extLst>
              </p:cNvPr>
              <p:cNvSpPr txBox="1">
                <a:spLocks/>
              </p:cNvSpPr>
              <p:nvPr/>
            </p:nvSpPr>
            <p:spPr>
              <a:xfrm>
                <a:off x="56131" y="3948531"/>
                <a:ext cx="11855116" cy="25747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200"/>
                  </a:spcBef>
                </a:pPr>
                <a:r>
                  <a:rPr lang="mn-MN" sz="2200" dirty="0">
                    <a:solidFill>
                      <a:srgbClr val="002060"/>
                    </a:solidFill>
                    <a:latin typeface="Times New Roman" panose="02020603050405020304" pitchFamily="18" charset="0"/>
                    <a:cs typeface="Times New Roman" panose="02020603050405020304" pitchFamily="18" charset="0"/>
                  </a:rPr>
                  <a:t>Энэ тэгшитгэл </a:t>
                </a:r>
              </a:p>
              <a:p>
                <a:pPr marL="636588" lvl="1" indent="-342900" algn="just">
                  <a:spcBef>
                    <a:spcPts val="200"/>
                  </a:spcBef>
                  <a:buFont typeface="+mj-lt"/>
                  <a:buAutoNum type="arabicPeriod"/>
                </a:pPr>
                <a:r>
                  <a:rPr lang="mn-MN" sz="2200" dirty="0">
                    <a:solidFill>
                      <a:srgbClr val="002060"/>
                    </a:solidFill>
                    <a:latin typeface="Times New Roman" panose="02020603050405020304" pitchFamily="18" charset="0"/>
                    <a:cs typeface="Times New Roman" panose="02020603050405020304" pitchFamily="18" charset="0"/>
                  </a:rPr>
                  <a:t>Капиталын анхны хөрөнгө оруулалт </a:t>
                </a:r>
                <a14:m>
                  <m:oMath xmlns:m="http://schemas.openxmlformats.org/officeDocument/2006/math">
                    <m:r>
                      <a:rPr lang="en-US" sz="2200" i="1" dirty="0" smtClean="0">
                        <a:solidFill>
                          <a:srgbClr val="002060"/>
                        </a:solidFill>
                        <a:latin typeface="Cambria Math" panose="02040503050406030204" pitchFamily="18" charset="0"/>
                      </a:rPr>
                      <m:t>𝐼</m:t>
                    </m:r>
                  </m:oMath>
                </a14:m>
                <a:r>
                  <a:rPr lang="en-US" sz="2200" dirty="0">
                    <a:solidFill>
                      <a:srgbClr val="002060"/>
                    </a:solidFill>
                    <a:latin typeface="Times New Roman" panose="02020603050405020304" pitchFamily="18" charset="0"/>
                    <a:cs typeface="Times New Roman" panose="02020603050405020304" pitchFamily="18" charset="0"/>
                  </a:rPr>
                  <a:t> (</a:t>
                </a:r>
                <a:r>
                  <a:rPr lang="mn-MN" sz="2200" dirty="0">
                    <a:solidFill>
                      <a:srgbClr val="002060"/>
                    </a:solidFill>
                    <a:latin typeface="Times New Roman" panose="02020603050405020304" pitchFamily="18" charset="0"/>
                    <a:cs typeface="Times New Roman" panose="02020603050405020304" pitchFamily="18" charset="0"/>
                  </a:rPr>
                  <a:t>хэрвээ эхлэл хугацаанаас хойно тохиосон бол хөрөнгө оруулалтын мөнгөн дүнгийн </a:t>
                </a:r>
                <a14:m>
                  <m:oMath xmlns:m="http://schemas.openxmlformats.org/officeDocument/2006/math">
                    <m:r>
                      <a:rPr lang="en-US" sz="2200" i="1" dirty="0" smtClean="0">
                        <a:solidFill>
                          <a:srgbClr val="002060"/>
                        </a:solidFill>
                        <a:latin typeface="Cambria Math" panose="02040503050406030204" pitchFamily="18" charset="0"/>
                      </a:rPr>
                      <m:t>𝑃𝑊</m:t>
                    </m:r>
                  </m:oMath>
                </a14:m>
                <a:r>
                  <a:rPr lang="en-US" sz="2200" dirty="0">
                    <a:solidFill>
                      <a:srgbClr val="002060"/>
                    </a:solidFill>
                    <a:latin typeface="Times New Roman" panose="02020603050405020304" pitchFamily="18" charset="0"/>
                    <a:cs typeface="Times New Roman" panose="02020603050405020304" pitchFamily="18" charset="0"/>
                  </a:rPr>
                  <a:t>) </a:t>
                </a:r>
                <a:r>
                  <a:rPr lang="mn-MN" sz="2200" dirty="0">
                    <a:solidFill>
                      <a:srgbClr val="002060"/>
                    </a:solidFill>
                    <a:latin typeface="Times New Roman" panose="02020603050405020304" pitchFamily="18" charset="0"/>
                    <a:cs typeface="Times New Roman" panose="02020603050405020304" pitchFamily="18" charset="0"/>
                  </a:rPr>
                  <a:t>дээр жил бүрийн элэгдлийн шимтгэлийн мөнгөн дүнгийн (</a:t>
                </a:r>
                <a14:m>
                  <m:oMath xmlns:m="http://schemas.openxmlformats.org/officeDocument/2006/math">
                    <m:sSub>
                      <m:sSubPr>
                        <m:ctrlPr>
                          <a:rPr lang="en-US" sz="2200" i="1" dirty="0" smtClean="0">
                            <a:solidFill>
                              <a:srgbClr val="002060"/>
                            </a:solidFill>
                            <a:latin typeface="Cambria Math" panose="02040503050406030204" pitchFamily="18" charset="0"/>
                          </a:rPr>
                        </m:ctrlPr>
                      </m:sSubPr>
                      <m:e>
                        <m:r>
                          <a:rPr lang="en-US" sz="2200" i="1" dirty="0" smtClean="0">
                            <a:solidFill>
                              <a:srgbClr val="002060"/>
                            </a:solidFill>
                            <a:latin typeface="Cambria Math" panose="02040503050406030204" pitchFamily="18" charset="0"/>
                          </a:rPr>
                          <m:t>𝑑</m:t>
                        </m:r>
                      </m:e>
                      <m:sub>
                        <m:r>
                          <a:rPr lang="en-US" sz="2200" i="1" dirty="0" smtClean="0">
                            <a:solidFill>
                              <a:srgbClr val="002060"/>
                            </a:solidFill>
                            <a:latin typeface="Cambria Math" panose="02040503050406030204" pitchFamily="18" charset="0"/>
                          </a:rPr>
                          <m:t>𝑗</m:t>
                        </m:r>
                      </m:sub>
                    </m:sSub>
                  </m:oMath>
                </a14:m>
                <a:r>
                  <a:rPr lang="en-US" sz="2200" dirty="0">
                    <a:solidFill>
                      <a:srgbClr val="002060"/>
                    </a:solidFill>
                    <a:latin typeface="Times New Roman" panose="02020603050405020304" pitchFamily="18" charset="0"/>
                    <a:cs typeface="Times New Roman" panose="02020603050405020304" pitchFamily="18" charset="0"/>
                  </a:rPr>
                  <a:t>) </a:t>
                </a:r>
                <a:r>
                  <a:rPr lang="mn-MN" sz="2200" dirty="0">
                    <a:solidFill>
                      <a:srgbClr val="002060"/>
                    </a:solidFill>
                    <a:latin typeface="Times New Roman" panose="02020603050405020304" pitchFamily="18" charset="0"/>
                    <a:cs typeface="Times New Roman" panose="02020603050405020304" pitchFamily="18" charset="0"/>
                  </a:rPr>
                  <a:t>тохируулгыг хийсэн </a:t>
                </a:r>
                <a14:m>
                  <m:oMath xmlns:m="http://schemas.openxmlformats.org/officeDocument/2006/math">
                    <m:r>
                      <a:rPr lang="en-US" sz="2200" i="1" dirty="0" smtClean="0">
                        <a:solidFill>
                          <a:srgbClr val="002060"/>
                        </a:solidFill>
                        <a:latin typeface="Cambria Math" panose="02040503050406030204" pitchFamily="18" charset="0"/>
                      </a:rPr>
                      <m:t>𝑘</m:t>
                    </m:r>
                  </m:oMath>
                </a14:m>
                <a:r>
                  <a:rPr lang="en-US" sz="2200" dirty="0">
                    <a:solidFill>
                      <a:srgbClr val="002060"/>
                    </a:solidFill>
                    <a:latin typeface="Times New Roman" panose="02020603050405020304" pitchFamily="18" charset="0"/>
                    <a:cs typeface="Times New Roman" panose="02020603050405020304" pitchFamily="18" charset="0"/>
                  </a:rPr>
                  <a:t> </a:t>
                </a:r>
                <a:r>
                  <a:rPr lang="mn-MN" sz="2200" dirty="0">
                    <a:solidFill>
                      <a:srgbClr val="002060"/>
                    </a:solidFill>
                    <a:latin typeface="Times New Roman" panose="02020603050405020304" pitchFamily="18" charset="0"/>
                    <a:cs typeface="Times New Roman" panose="02020603050405020304" pitchFamily="18" charset="0"/>
                  </a:rPr>
                  <a:t>дугаар жилийн турш гарсан жилийн зардлын татварын дараах </a:t>
                </a:r>
                <a14:m>
                  <m:oMath xmlns:m="http://schemas.openxmlformats.org/officeDocument/2006/math">
                    <m:r>
                      <a:rPr lang="en-US" sz="2200" i="1" dirty="0" smtClean="0">
                        <a:solidFill>
                          <a:srgbClr val="002060"/>
                        </a:solidFill>
                        <a:latin typeface="Cambria Math" panose="02040503050406030204" pitchFamily="18" charset="0"/>
                      </a:rPr>
                      <m:t>𝑃𝑊</m:t>
                    </m:r>
                  </m:oMath>
                </a14:m>
                <a:r>
                  <a:rPr lang="en-US" sz="2200" dirty="0">
                    <a:solidFill>
                      <a:srgbClr val="002060"/>
                    </a:solidFill>
                    <a:latin typeface="Times New Roman" panose="02020603050405020304" pitchFamily="18" charset="0"/>
                    <a:cs typeface="Times New Roman" panose="02020603050405020304" pitchFamily="18" charset="0"/>
                  </a:rPr>
                  <a:t>-</a:t>
                </a:r>
                <a:r>
                  <a:rPr lang="mn-MN" sz="2200" dirty="0">
                    <a:solidFill>
                      <a:srgbClr val="002060"/>
                    </a:solidFill>
                    <a:latin typeface="Times New Roman" panose="02020603050405020304" pitchFamily="18" charset="0"/>
                    <a:cs typeface="Times New Roman" panose="02020603050405020304" pitchFamily="18" charset="0"/>
                  </a:rPr>
                  <a:t>ийг нэмэн, улмаар </a:t>
                </a:r>
                <a:endParaRPr lang="en-US" sz="2200" dirty="0">
                  <a:solidFill>
                    <a:srgbClr val="002060"/>
                  </a:solidFill>
                  <a:latin typeface="Times New Roman" panose="02020603050405020304" pitchFamily="18" charset="0"/>
                  <a:cs typeface="Times New Roman" panose="02020603050405020304" pitchFamily="18" charset="0"/>
                </a:endParaRPr>
              </a:p>
              <a:p>
                <a:pPr marL="636588" lvl="1" indent="-342900" algn="just">
                  <a:spcBef>
                    <a:spcPts val="200"/>
                  </a:spcBef>
                  <a:buFont typeface="+mj-lt"/>
                  <a:buAutoNum type="arabicPeriod"/>
                </a:pPr>
                <a14:m>
                  <m:oMath xmlns:m="http://schemas.openxmlformats.org/officeDocument/2006/math">
                    <m:r>
                      <m:rPr>
                        <m:sty m:val="p"/>
                      </m:rPr>
                      <a:rPr lang="en-US" sz="2200" dirty="0" smtClean="0">
                        <a:solidFill>
                          <a:srgbClr val="002060"/>
                        </a:solidFill>
                        <a:latin typeface="Cambria Math" panose="02040503050406030204" pitchFamily="18" charset="0"/>
                      </a:rPr>
                      <m:t>k</m:t>
                    </m:r>
                  </m:oMath>
                </a14:m>
                <a:r>
                  <a:rPr lang="en-US" sz="2200" dirty="0">
                    <a:solidFill>
                      <a:srgbClr val="002060"/>
                    </a:solidFill>
                    <a:latin typeface="Times New Roman" panose="02020603050405020304" pitchFamily="18" charset="0"/>
                    <a:cs typeface="Times New Roman" panose="02020603050405020304" pitchFamily="18" charset="0"/>
                  </a:rPr>
                  <a:t> </a:t>
                </a:r>
                <a:r>
                  <a:rPr lang="mn-MN" sz="2200" dirty="0">
                    <a:solidFill>
                      <a:srgbClr val="002060"/>
                    </a:solidFill>
                    <a:latin typeface="Times New Roman" panose="02020603050405020304" pitchFamily="18" charset="0"/>
                    <a:cs typeface="Times New Roman" panose="02020603050405020304" pitchFamily="18" charset="0"/>
                  </a:rPr>
                  <a:t>дугаар жилийн эцэс дэх хөрөнгө устгалын ашиг, эсвэл алдагдлын татварын дараах үр дагавраар тохируулсан татварын дараах нийт зардлын </a:t>
                </a:r>
                <a:r>
                  <a:rPr lang="en-US" sz="2200" dirty="0">
                    <a:solidFill>
                      <a:srgbClr val="002060"/>
                    </a:solidFill>
                    <a:latin typeface="Times New Roman" panose="02020603050405020304" pitchFamily="18" charset="0"/>
                    <a:cs typeface="Times New Roman" panose="02020603050405020304" pitchFamily="18" charset="0"/>
                  </a:rPr>
                  <a:t>PW-</a:t>
                </a:r>
                <a:r>
                  <a:rPr lang="mn-MN" sz="2200" dirty="0">
                    <a:solidFill>
                      <a:srgbClr val="002060"/>
                    </a:solidFill>
                    <a:latin typeface="Times New Roman" panose="02020603050405020304" pitchFamily="18" charset="0"/>
                    <a:cs typeface="Times New Roman" panose="02020603050405020304" pitchFamily="18" charset="0"/>
                  </a:rPr>
                  <a:t>ийг хасах замаар </a:t>
                </a:r>
                <a14:m>
                  <m:oMath xmlns:m="http://schemas.openxmlformats.org/officeDocument/2006/math">
                    <m:sSub>
                      <m:sSubPr>
                        <m:ctrlPr>
                          <a:rPr lang="en-US" sz="2200" i="1">
                            <a:solidFill>
                              <a:srgbClr val="002060"/>
                            </a:solidFill>
                            <a:latin typeface="Cambria Math" panose="02040503050406030204" pitchFamily="18" charset="0"/>
                          </a:rPr>
                        </m:ctrlPr>
                      </m:sSubPr>
                      <m:e>
                        <m:r>
                          <m:rPr>
                            <m:sty m:val="p"/>
                          </m:rPr>
                          <a:rPr lang="en-US" sz="2200">
                            <a:solidFill>
                              <a:srgbClr val="002060"/>
                            </a:solidFill>
                            <a:latin typeface="Cambria Math" panose="02040503050406030204" pitchFamily="18" charset="0"/>
                          </a:rPr>
                          <m:t>PW</m:t>
                        </m:r>
                      </m:e>
                      <m:sub>
                        <m:r>
                          <a:rPr lang="mn-MN" sz="2200">
                            <a:solidFill>
                              <a:srgbClr val="002060"/>
                            </a:solidFill>
                            <a:latin typeface="Cambria Math" panose="02040503050406030204" pitchFamily="18" charset="0"/>
                          </a:rPr>
                          <m:t>𝑘</m:t>
                        </m:r>
                      </m:sub>
                    </m:sSub>
                    <m:d>
                      <m:dPr>
                        <m:ctrlPr>
                          <a:rPr lang="en-US" sz="2200" i="1">
                            <a:solidFill>
                              <a:srgbClr val="002060"/>
                            </a:solidFill>
                            <a:latin typeface="Cambria Math" panose="02040503050406030204" pitchFamily="18" charset="0"/>
                          </a:rPr>
                        </m:ctrlPr>
                      </m:dPr>
                      <m:e>
                        <m:r>
                          <a:rPr lang="mn-MN" sz="2200">
                            <a:solidFill>
                              <a:srgbClr val="002060"/>
                            </a:solidFill>
                            <a:latin typeface="Cambria Math" panose="02040503050406030204" pitchFamily="18" charset="0"/>
                          </a:rPr>
                          <m:t>𝑖</m:t>
                        </m:r>
                        <m:r>
                          <a:rPr lang="mn-MN" sz="2200">
                            <a:solidFill>
                              <a:srgbClr val="002060"/>
                            </a:solidFill>
                            <a:latin typeface="Cambria Math" panose="02040503050406030204" pitchFamily="18" charset="0"/>
                          </a:rPr>
                          <m:t>%</m:t>
                        </m:r>
                      </m:e>
                    </m:d>
                    <m:r>
                      <a:rPr lang="mn-MN" sz="2200" i="1">
                        <a:solidFill>
                          <a:srgbClr val="002060"/>
                        </a:solidFill>
                        <a:latin typeface="Cambria Math" panose="02040503050406030204" pitchFamily="18" charset="0"/>
                      </a:rPr>
                      <m:t> </m:t>
                    </m:r>
                  </m:oMath>
                </a14:m>
                <a:r>
                  <a:rPr lang="mn-MN" sz="2200" dirty="0">
                    <a:solidFill>
                      <a:srgbClr val="002060"/>
                    </a:solidFill>
                    <a:latin typeface="Times New Roman" panose="02020603050405020304" pitchFamily="18" charset="0"/>
                    <a:cs typeface="Times New Roman" panose="02020603050405020304" pitchFamily="18" charset="0"/>
                  </a:rPr>
                  <a:t>буюу </a:t>
                </a:r>
                <a14:m>
                  <m:oMath xmlns:m="http://schemas.openxmlformats.org/officeDocument/2006/math">
                    <m:r>
                      <a:rPr lang="en-US" sz="2200" i="1" dirty="0" smtClean="0">
                        <a:solidFill>
                          <a:srgbClr val="002060"/>
                        </a:solidFill>
                        <a:latin typeface="Cambria Math" panose="02040503050406030204" pitchFamily="18" charset="0"/>
                      </a:rPr>
                      <m:t>𝑘</m:t>
                    </m:r>
                  </m:oMath>
                </a14:m>
                <a:r>
                  <a:rPr lang="en-US" sz="2200" dirty="0">
                    <a:solidFill>
                      <a:srgbClr val="002060"/>
                    </a:solidFill>
                    <a:latin typeface="Times New Roman" panose="02020603050405020304" pitchFamily="18" charset="0"/>
                    <a:cs typeface="Times New Roman" panose="02020603050405020304" pitchFamily="18" charset="0"/>
                  </a:rPr>
                  <a:t> </a:t>
                </a:r>
                <a:r>
                  <a:rPr lang="mn-MN" sz="2200" dirty="0">
                    <a:solidFill>
                      <a:srgbClr val="002060"/>
                    </a:solidFill>
                    <a:latin typeface="Times New Roman" panose="02020603050405020304" pitchFamily="18" charset="0"/>
                    <a:cs typeface="Times New Roman" panose="02020603050405020304" pitchFamily="18" charset="0"/>
                  </a:rPr>
                  <a:t>дугаар жилийн татварын дараах мөнгөн урсгалын (зардлаар илэрхийлсэн ТДМУ) </a:t>
                </a:r>
                <a:r>
                  <a:rPr lang="en-US" sz="2200" dirty="0">
                    <a:solidFill>
                      <a:srgbClr val="002060"/>
                    </a:solidFill>
                    <a:latin typeface="Times New Roman" panose="02020603050405020304" pitchFamily="18" charset="0"/>
                    <a:cs typeface="Times New Roman" panose="02020603050405020304" pitchFamily="18" charset="0"/>
                  </a:rPr>
                  <a:t>PW-</a:t>
                </a:r>
                <a:r>
                  <a:rPr lang="mn-MN" sz="2200" dirty="0">
                    <a:solidFill>
                      <a:srgbClr val="002060"/>
                    </a:solidFill>
                    <a:latin typeface="Times New Roman" panose="02020603050405020304" pitchFamily="18" charset="0"/>
                    <a:cs typeface="Times New Roman" panose="02020603050405020304" pitchFamily="18" charset="0"/>
                  </a:rPr>
                  <a:t>ийг тооцоолдог.</a:t>
                </a:r>
              </a:p>
            </p:txBody>
          </p:sp>
        </mc:Choice>
        <mc:Fallback xmlns="">
          <p:sp>
            <p:nvSpPr>
              <p:cNvPr id="5" name="Content Placeholder 2">
                <a:extLst>
                  <a:ext uri="{FF2B5EF4-FFF2-40B4-BE49-F238E27FC236}">
                    <a16:creationId xmlns:a16="http://schemas.microsoft.com/office/drawing/2014/main" id="{54D08653-2690-43E5-BBF7-6AB9C0AF3C16}"/>
                  </a:ext>
                </a:extLst>
              </p:cNvPr>
              <p:cNvSpPr txBox="1">
                <a:spLocks noRot="1" noChangeAspect="1" noMove="1" noResize="1" noEditPoints="1" noAdjustHandles="1" noChangeArrowheads="1" noChangeShapeType="1" noTextEdit="1"/>
              </p:cNvSpPr>
              <p:nvPr/>
            </p:nvSpPr>
            <p:spPr>
              <a:xfrm>
                <a:off x="56131" y="3948531"/>
                <a:ext cx="11855116" cy="2574757"/>
              </a:xfrm>
              <a:prstGeom prst="rect">
                <a:avLst/>
              </a:prstGeom>
              <a:blipFill>
                <a:blip r:embed="rId4"/>
                <a:stretch>
                  <a:fillRect l="-566" t="-2844" r="-668" b="-16825"/>
                </a:stretch>
              </a:blipFill>
            </p:spPr>
            <p:txBody>
              <a:bodyPr/>
              <a:lstStyle/>
              <a:p>
                <a:r>
                  <a:rPr lang="en-US">
                    <a:noFill/>
                  </a:rPr>
                  <a:t> </a:t>
                </a:r>
              </a:p>
            </p:txBody>
          </p:sp>
        </mc:Fallback>
      </mc:AlternateContent>
    </p:spTree>
    <p:extLst>
      <p:ext uri="{BB962C8B-B14F-4D97-AF65-F5344CB8AC3E}">
        <p14:creationId xmlns:p14="http://schemas.microsoft.com/office/powerpoint/2010/main" val="4084090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FA56C-2C97-B5F6-E1A7-C18D804B17DD}"/>
              </a:ext>
            </a:extLst>
          </p:cNvPr>
          <p:cNvSpPr>
            <a:spLocks noGrp="1"/>
          </p:cNvSpPr>
          <p:nvPr>
            <p:ph type="title"/>
          </p:nvPr>
        </p:nvSpPr>
        <p:spPr>
          <a:xfrm>
            <a:off x="136358" y="140536"/>
            <a:ext cx="11919284" cy="449180"/>
          </a:xfrm>
        </p:spPr>
        <p:txBody>
          <a:bodyPr>
            <a:noAutofit/>
          </a:bodyPr>
          <a:lstStyle/>
          <a:p>
            <a:r>
              <a:rPr lang="mn-MN" sz="3400" b="1" dirty="0">
                <a:solidFill>
                  <a:srgbClr val="002060"/>
                </a:solidFill>
                <a:latin typeface="Times New Roman" panose="02020603050405020304" pitchFamily="18" charset="0"/>
                <a:cs typeface="Times New Roman" panose="02020603050405020304" pitchFamily="18" charset="0"/>
              </a:rPr>
              <a:t>Татварын дараах эдийн засгийн ашиглалтын хугацаа</a:t>
            </a:r>
            <a:endParaRPr lang="en-US" sz="34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A250C8-DEDB-AE32-0516-06FFA5B09843}"/>
                  </a:ext>
                </a:extLst>
              </p:cNvPr>
              <p:cNvSpPr>
                <a:spLocks noGrp="1"/>
              </p:cNvSpPr>
              <p:nvPr>
                <p:ph idx="1"/>
              </p:nvPr>
            </p:nvSpPr>
            <p:spPr>
              <a:xfrm>
                <a:off x="136358" y="589715"/>
                <a:ext cx="11919284" cy="5650663"/>
              </a:xfrm>
            </p:spPr>
            <p:txBody>
              <a:bodyPr>
                <a:normAutofit/>
              </a:bodyPr>
              <a:lstStyle/>
              <a:p>
                <a:pPr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Дээрх тэгшитгэлийг </a:t>
                </a:r>
                <a14:m>
                  <m:oMath xmlns:m="http://schemas.openxmlformats.org/officeDocument/2006/math">
                    <m:r>
                      <a:rPr lang="en-US" sz="3600" i="1" dirty="0" smtClean="0">
                        <a:solidFill>
                          <a:srgbClr val="002060"/>
                        </a:solidFill>
                        <a:latin typeface="Cambria Math" panose="02040503050406030204" pitchFamily="18" charset="0"/>
                      </a:rPr>
                      <m:t>𝑘</m:t>
                    </m:r>
                  </m:oMath>
                </a14:m>
                <a:r>
                  <a:rPr lang="en-US" sz="3600" dirty="0">
                    <a:solidFill>
                      <a:srgbClr val="002060"/>
                    </a:solidFill>
                    <a:latin typeface="Times New Roman" panose="02020603050405020304" pitchFamily="18" charset="0"/>
                    <a:cs typeface="Times New Roman" panose="02020603050405020304" pitchFamily="18" charset="0"/>
                  </a:rPr>
                  <a:t> </a:t>
                </a:r>
                <a:r>
                  <a:rPr lang="mn-MN" sz="3600" dirty="0">
                    <a:solidFill>
                      <a:srgbClr val="002060"/>
                    </a:solidFill>
                    <a:latin typeface="Times New Roman" panose="02020603050405020304" pitchFamily="18" charset="0"/>
                    <a:cs typeface="Times New Roman" panose="02020603050405020304" pitchFamily="18" charset="0"/>
                  </a:rPr>
                  <a:t>дугаар жил бүрийн татварын дараах нийт ахиуц зардал </a:t>
                </a:r>
                <a14:m>
                  <m:oMath xmlns:m="http://schemas.openxmlformats.org/officeDocument/2006/math">
                    <m:sSub>
                      <m:sSubPr>
                        <m:ctrlPr>
                          <a:rPr lang="en-US" sz="3600" i="1">
                            <a:solidFill>
                              <a:srgbClr val="002060"/>
                            </a:solidFill>
                            <a:latin typeface="Cambria Math" panose="02040503050406030204" pitchFamily="18" charset="0"/>
                          </a:rPr>
                        </m:ctrlPr>
                      </m:sSubPr>
                      <m:e>
                        <m:r>
                          <m:rPr>
                            <m:sty m:val="p"/>
                          </m:rPr>
                          <a:rPr lang="mn-MN" sz="3600">
                            <a:solidFill>
                              <a:srgbClr val="002060"/>
                            </a:solidFill>
                            <a:latin typeface="Cambria Math" panose="02040503050406030204" pitchFamily="18" charset="0"/>
                          </a:rPr>
                          <m:t>TC</m:t>
                        </m:r>
                      </m:e>
                      <m:sub>
                        <m:r>
                          <a:rPr lang="mn-MN" sz="3600">
                            <a:solidFill>
                              <a:srgbClr val="002060"/>
                            </a:solidFill>
                            <a:latin typeface="Cambria Math" panose="02040503050406030204" pitchFamily="18" charset="0"/>
                          </a:rPr>
                          <m:t>𝑘</m:t>
                        </m:r>
                      </m:sub>
                    </m:sSub>
                  </m:oMath>
                </a14:m>
                <a:r>
                  <a:rPr lang="en-US" sz="3600" dirty="0">
                    <a:solidFill>
                      <a:srgbClr val="002060"/>
                    </a:solidFill>
                    <a:latin typeface="Times New Roman" panose="02020603050405020304" pitchFamily="18" charset="0"/>
                    <a:cs typeface="Times New Roman" panose="02020603050405020304" pitchFamily="18" charset="0"/>
                  </a:rPr>
                  <a:t>–</a:t>
                </a:r>
                <a:r>
                  <a:rPr lang="mn-MN" sz="3600" dirty="0">
                    <a:solidFill>
                      <a:srgbClr val="002060"/>
                    </a:solidFill>
                    <a:latin typeface="Times New Roman" panose="02020603050405020304" pitchFamily="18" charset="0"/>
                    <a:cs typeface="Times New Roman" panose="02020603050405020304" pitchFamily="18" charset="0"/>
                  </a:rPr>
                  <a:t>ыг тооцоолоход мөн ашигладаг. </a:t>
                </a:r>
              </a:p>
              <a:p>
                <a:pPr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Өөрөөр хэлбэл, </a:t>
                </a:r>
              </a:p>
              <a:p>
                <a:pPr marL="0" indent="0" algn="just">
                  <a:spcBef>
                    <a:spcPts val="200"/>
                  </a:spcBef>
                  <a:buNone/>
                </a:pPr>
                <a14:m>
                  <m:oMathPara xmlns:m="http://schemas.openxmlformats.org/officeDocument/2006/math">
                    <m:oMathParaPr>
                      <m:jc m:val="centerGroup"/>
                    </m:oMathParaPr>
                    <m:oMath xmlns:m="http://schemas.openxmlformats.org/officeDocument/2006/math">
                      <m:sSub>
                        <m:sSubPr>
                          <m:ctrlPr>
                            <a:rPr lang="mn-MN" sz="4800" i="1" smtClean="0">
                              <a:solidFill>
                                <a:srgbClr val="002060"/>
                              </a:solidFill>
                              <a:latin typeface="Cambria Math" panose="02040503050406030204" pitchFamily="18" charset="0"/>
                            </a:rPr>
                          </m:ctrlPr>
                        </m:sSubPr>
                        <m:e>
                          <m:r>
                            <a:rPr lang="en-US" sz="4800" b="0" i="1" smtClean="0">
                              <a:solidFill>
                                <a:srgbClr val="002060"/>
                              </a:solidFill>
                              <a:latin typeface="Cambria Math" panose="02040503050406030204" pitchFamily="18" charset="0"/>
                            </a:rPr>
                            <m:t>𝑇𝐶</m:t>
                          </m:r>
                        </m:e>
                        <m:sub>
                          <m:r>
                            <a:rPr lang="en-US" sz="4800" b="0" i="1" smtClean="0">
                              <a:solidFill>
                                <a:srgbClr val="002060"/>
                              </a:solidFill>
                              <a:latin typeface="Cambria Math" panose="02040503050406030204" pitchFamily="18" charset="0"/>
                            </a:rPr>
                            <m:t>𝑘</m:t>
                          </m:r>
                        </m:sub>
                      </m:sSub>
                      <m:r>
                        <a:rPr lang="en-US" sz="4800" b="0" i="1" smtClean="0">
                          <a:solidFill>
                            <a:srgbClr val="002060"/>
                          </a:solidFill>
                          <a:latin typeface="Cambria Math" panose="02040503050406030204" pitchFamily="18" charset="0"/>
                        </a:rPr>
                        <m:t>=</m:t>
                      </m:r>
                      <m:d>
                        <m:dPr>
                          <m:ctrlPr>
                            <a:rPr lang="en-US" sz="4800" b="0" i="1" smtClean="0">
                              <a:solidFill>
                                <a:srgbClr val="002060"/>
                              </a:solidFill>
                              <a:latin typeface="Cambria Math" panose="02040503050406030204" pitchFamily="18" charset="0"/>
                            </a:rPr>
                          </m:ctrlPr>
                        </m:dPr>
                        <m:e>
                          <m:sSub>
                            <m:sSubPr>
                              <m:ctrlPr>
                                <a:rPr lang="en-US" sz="4800" b="0" i="1" smtClean="0">
                                  <a:solidFill>
                                    <a:srgbClr val="002060"/>
                                  </a:solidFill>
                                  <a:latin typeface="Cambria Math" panose="02040503050406030204" pitchFamily="18" charset="0"/>
                                </a:rPr>
                              </m:ctrlPr>
                            </m:sSubPr>
                            <m:e>
                              <m:r>
                                <a:rPr lang="en-US" sz="4800" b="0" i="1" smtClean="0">
                                  <a:solidFill>
                                    <a:srgbClr val="002060"/>
                                  </a:solidFill>
                                  <a:latin typeface="Cambria Math" panose="02040503050406030204" pitchFamily="18" charset="0"/>
                                </a:rPr>
                                <m:t>𝑃𝑊</m:t>
                              </m:r>
                            </m:e>
                            <m:sub>
                              <m:r>
                                <a:rPr lang="en-US" sz="4800" b="0" i="1" smtClean="0">
                                  <a:solidFill>
                                    <a:srgbClr val="002060"/>
                                  </a:solidFill>
                                  <a:latin typeface="Cambria Math" panose="02040503050406030204" pitchFamily="18" charset="0"/>
                                </a:rPr>
                                <m:t>𝑘</m:t>
                              </m:r>
                            </m:sub>
                          </m:sSub>
                          <m:r>
                            <a:rPr lang="en-US" sz="4800" b="0" i="1" smtClean="0">
                              <a:solidFill>
                                <a:srgbClr val="002060"/>
                              </a:solidFill>
                              <a:latin typeface="Cambria Math" panose="02040503050406030204" pitchFamily="18" charset="0"/>
                            </a:rPr>
                            <m:t>−</m:t>
                          </m:r>
                          <m:sSub>
                            <m:sSubPr>
                              <m:ctrlPr>
                                <a:rPr lang="en-US" sz="4800" i="1">
                                  <a:solidFill>
                                    <a:srgbClr val="002060"/>
                                  </a:solidFill>
                                  <a:latin typeface="Cambria Math" panose="02040503050406030204" pitchFamily="18" charset="0"/>
                                </a:rPr>
                              </m:ctrlPr>
                            </m:sSubPr>
                            <m:e>
                              <m:r>
                                <a:rPr lang="en-US" sz="4800" i="1">
                                  <a:solidFill>
                                    <a:srgbClr val="002060"/>
                                  </a:solidFill>
                                  <a:latin typeface="Cambria Math" panose="02040503050406030204" pitchFamily="18" charset="0"/>
                                </a:rPr>
                                <m:t>𝑃𝑊</m:t>
                              </m:r>
                            </m:e>
                            <m:sub>
                              <m:r>
                                <a:rPr lang="en-US" sz="4800" i="1">
                                  <a:solidFill>
                                    <a:srgbClr val="002060"/>
                                  </a:solidFill>
                                  <a:latin typeface="Cambria Math" panose="02040503050406030204" pitchFamily="18" charset="0"/>
                                </a:rPr>
                                <m:t>𝑘</m:t>
                              </m:r>
                              <m:r>
                                <a:rPr lang="en-US" sz="4800" b="0" i="1" smtClean="0">
                                  <a:solidFill>
                                    <a:srgbClr val="002060"/>
                                  </a:solidFill>
                                  <a:latin typeface="Cambria Math" panose="02040503050406030204" pitchFamily="18" charset="0"/>
                                </a:rPr>
                                <m:t>−1</m:t>
                              </m:r>
                            </m:sub>
                          </m:sSub>
                        </m:e>
                      </m:d>
                      <m:d>
                        <m:dPr>
                          <m:ctrlPr>
                            <a:rPr lang="en-US" sz="4800" b="0" i="1" smtClean="0">
                              <a:solidFill>
                                <a:srgbClr val="002060"/>
                              </a:solidFill>
                              <a:latin typeface="Cambria Math" panose="02040503050406030204" pitchFamily="18" charset="0"/>
                            </a:rPr>
                          </m:ctrlPr>
                        </m:dPr>
                        <m:e>
                          <m:f>
                            <m:fPr>
                              <m:ctrlPr>
                                <a:rPr lang="en-US" sz="4800" b="0" i="1" smtClean="0">
                                  <a:solidFill>
                                    <a:srgbClr val="002060"/>
                                  </a:solidFill>
                                  <a:latin typeface="Cambria Math" panose="02040503050406030204" pitchFamily="18" charset="0"/>
                                </a:rPr>
                              </m:ctrlPr>
                            </m:fPr>
                            <m:num>
                              <m:r>
                                <a:rPr lang="en-US" sz="4800" b="0" i="1" smtClean="0">
                                  <a:solidFill>
                                    <a:srgbClr val="002060"/>
                                  </a:solidFill>
                                  <a:latin typeface="Cambria Math" panose="02040503050406030204" pitchFamily="18" charset="0"/>
                                </a:rPr>
                                <m:t>𝐹</m:t>
                              </m:r>
                            </m:num>
                            <m:den>
                              <m:r>
                                <a:rPr lang="en-US" sz="4800" b="0" i="1" smtClean="0">
                                  <a:solidFill>
                                    <a:srgbClr val="002060"/>
                                  </a:solidFill>
                                  <a:latin typeface="Cambria Math" panose="02040503050406030204" pitchFamily="18" charset="0"/>
                                </a:rPr>
                                <m:t>𝑃</m:t>
                              </m:r>
                            </m:den>
                          </m:f>
                          <m:r>
                            <a:rPr lang="en-US" sz="4800" b="0" i="1" smtClean="0">
                              <a:solidFill>
                                <a:srgbClr val="002060"/>
                              </a:solidFill>
                              <a:latin typeface="Cambria Math" panose="02040503050406030204" pitchFamily="18" charset="0"/>
                            </a:rPr>
                            <m:t>,</m:t>
                          </m:r>
                          <m:r>
                            <a:rPr lang="en-US" sz="4800" b="0" i="1" smtClean="0">
                              <a:solidFill>
                                <a:srgbClr val="002060"/>
                              </a:solidFill>
                              <a:latin typeface="Cambria Math" panose="02040503050406030204" pitchFamily="18" charset="0"/>
                            </a:rPr>
                            <m:t>𝑖</m:t>
                          </m:r>
                          <m:r>
                            <a:rPr lang="en-US" sz="4800" b="0" i="1" smtClean="0">
                              <a:solidFill>
                                <a:srgbClr val="002060"/>
                              </a:solidFill>
                              <a:latin typeface="Cambria Math" panose="02040503050406030204" pitchFamily="18" charset="0"/>
                            </a:rPr>
                            <m:t>%,</m:t>
                          </m:r>
                          <m:r>
                            <a:rPr lang="en-US" sz="4800" b="0" i="1" smtClean="0">
                              <a:solidFill>
                                <a:srgbClr val="002060"/>
                              </a:solidFill>
                              <a:latin typeface="Cambria Math" panose="02040503050406030204" pitchFamily="18" charset="0"/>
                            </a:rPr>
                            <m:t>𝑘</m:t>
                          </m:r>
                        </m:e>
                      </m:d>
                    </m:oMath>
                  </m:oMathPara>
                </a14:m>
                <a:endParaRPr lang="mn-MN" sz="3600" dirty="0">
                  <a:solidFill>
                    <a:srgbClr val="002060"/>
                  </a:solidFill>
                  <a:latin typeface="Times New Roman" panose="02020603050405020304" pitchFamily="18" charset="0"/>
                  <a:cs typeface="Times New Roman" panose="02020603050405020304" pitchFamily="18" charset="0"/>
                </a:endParaRPr>
              </a:p>
              <a:p>
                <a:pPr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Энэ тэгшитгэлийг хялбарчилвал:</a:t>
                </a:r>
              </a:p>
              <a:p>
                <a:pPr marL="0" indent="0" algn="just">
                  <a:spcBef>
                    <a:spcPts val="200"/>
                  </a:spcBef>
                  <a:buNone/>
                </a:pPr>
                <a14:m>
                  <m:oMathPara xmlns:m="http://schemas.openxmlformats.org/officeDocument/2006/math">
                    <m:oMathParaPr>
                      <m:jc m:val="centerGroup"/>
                    </m:oMathParaPr>
                    <m:oMath xmlns:m="http://schemas.openxmlformats.org/officeDocument/2006/math">
                      <m:sSub>
                        <m:sSubPr>
                          <m:ctrlPr>
                            <a:rPr lang="en-US" sz="4800" i="1" smtClean="0">
                              <a:solidFill>
                                <a:srgbClr val="002060"/>
                              </a:solidFill>
                              <a:latin typeface="Cambria Math" panose="02040503050406030204" pitchFamily="18" charset="0"/>
                            </a:rPr>
                          </m:ctrlPr>
                        </m:sSubPr>
                        <m:e>
                          <m:r>
                            <m:rPr>
                              <m:sty m:val="p"/>
                            </m:rPr>
                            <a:rPr lang="en-US" sz="4800">
                              <a:solidFill>
                                <a:srgbClr val="002060"/>
                              </a:solidFill>
                              <a:latin typeface="Cambria Math" panose="02040503050406030204" pitchFamily="18" charset="0"/>
                            </a:rPr>
                            <m:t>TC</m:t>
                          </m:r>
                        </m:e>
                        <m:sub>
                          <m:r>
                            <a:rPr lang="mn-MN" sz="4800" i="1">
                              <a:solidFill>
                                <a:srgbClr val="002060"/>
                              </a:solidFill>
                              <a:latin typeface="Cambria Math" panose="02040503050406030204" pitchFamily="18" charset="0"/>
                            </a:rPr>
                            <m:t>𝑘</m:t>
                          </m:r>
                        </m:sub>
                      </m:sSub>
                      <m:d>
                        <m:dPr>
                          <m:ctrlPr>
                            <a:rPr lang="en-US" sz="4800" i="1">
                              <a:solidFill>
                                <a:srgbClr val="002060"/>
                              </a:solidFill>
                              <a:latin typeface="Cambria Math" panose="02040503050406030204" pitchFamily="18" charset="0"/>
                            </a:rPr>
                          </m:ctrlPr>
                        </m:dPr>
                        <m:e>
                          <m:r>
                            <a:rPr lang="mn-MN" sz="4800" i="1">
                              <a:solidFill>
                                <a:srgbClr val="002060"/>
                              </a:solidFill>
                              <a:latin typeface="Cambria Math" panose="02040503050406030204" pitchFamily="18" charset="0"/>
                            </a:rPr>
                            <m:t>𝑖</m:t>
                          </m:r>
                          <m:r>
                            <a:rPr lang="mn-MN" sz="4800" i="1">
                              <a:solidFill>
                                <a:srgbClr val="002060"/>
                              </a:solidFill>
                              <a:latin typeface="Cambria Math" panose="02040503050406030204" pitchFamily="18" charset="0"/>
                            </a:rPr>
                            <m:t>%=</m:t>
                          </m:r>
                        </m:e>
                      </m:d>
                      <m:r>
                        <a:rPr lang="mn-MN" sz="4800" i="1">
                          <a:solidFill>
                            <a:srgbClr val="002060"/>
                          </a:solidFill>
                          <a:latin typeface="Cambria Math" panose="02040503050406030204" pitchFamily="18" charset="0"/>
                        </a:rPr>
                        <m:t>=</m:t>
                      </m:r>
                      <m:d>
                        <m:dPr>
                          <m:ctrlPr>
                            <a:rPr lang="en-US" sz="4800" i="1">
                              <a:solidFill>
                                <a:srgbClr val="002060"/>
                              </a:solidFill>
                              <a:latin typeface="Cambria Math" panose="02040503050406030204" pitchFamily="18" charset="0"/>
                            </a:rPr>
                          </m:ctrlPr>
                        </m:dPr>
                        <m:e>
                          <m:r>
                            <a:rPr lang="mn-MN" sz="4800" i="1">
                              <a:solidFill>
                                <a:srgbClr val="002060"/>
                              </a:solidFill>
                              <a:latin typeface="Cambria Math" panose="02040503050406030204" pitchFamily="18" charset="0"/>
                            </a:rPr>
                            <m:t>1−</m:t>
                          </m:r>
                          <m:r>
                            <a:rPr lang="mn-MN" sz="4800" i="1">
                              <a:solidFill>
                                <a:srgbClr val="002060"/>
                              </a:solidFill>
                              <a:latin typeface="Cambria Math" panose="02040503050406030204" pitchFamily="18" charset="0"/>
                            </a:rPr>
                            <m:t>𝑡</m:t>
                          </m:r>
                        </m:e>
                      </m:d>
                      <m:d>
                        <m:dPr>
                          <m:ctrlPr>
                            <a:rPr lang="en-US" sz="4800" i="1">
                              <a:solidFill>
                                <a:srgbClr val="002060"/>
                              </a:solidFill>
                              <a:latin typeface="Cambria Math" panose="02040503050406030204" pitchFamily="18" charset="0"/>
                            </a:rPr>
                          </m:ctrlPr>
                        </m:dPr>
                        <m:e>
                          <m:sSub>
                            <m:sSubPr>
                              <m:ctrlPr>
                                <a:rPr lang="en-US" sz="4800" i="1">
                                  <a:solidFill>
                                    <a:srgbClr val="002060"/>
                                  </a:solidFill>
                                  <a:latin typeface="Cambria Math" panose="02040503050406030204" pitchFamily="18" charset="0"/>
                                </a:rPr>
                              </m:ctrlPr>
                            </m:sSubPr>
                            <m:e>
                              <m:r>
                                <m:rPr>
                                  <m:sty m:val="p"/>
                                </m:rPr>
                                <a:rPr lang="mn-MN" sz="4800">
                                  <a:solidFill>
                                    <a:srgbClr val="002060"/>
                                  </a:solidFill>
                                  <a:latin typeface="Cambria Math" panose="02040503050406030204" pitchFamily="18" charset="0"/>
                                </a:rPr>
                                <m:t>MV</m:t>
                              </m:r>
                            </m:e>
                            <m:sub>
                              <m:r>
                                <a:rPr lang="mn-MN" sz="4800" i="1">
                                  <a:solidFill>
                                    <a:srgbClr val="002060"/>
                                  </a:solidFill>
                                  <a:latin typeface="Cambria Math" panose="02040503050406030204" pitchFamily="18" charset="0"/>
                                </a:rPr>
                                <m:t>𝑘</m:t>
                              </m:r>
                              <m:r>
                                <a:rPr lang="mn-MN" sz="4800" i="1">
                                  <a:solidFill>
                                    <a:srgbClr val="002060"/>
                                  </a:solidFill>
                                  <a:latin typeface="Cambria Math" panose="02040503050406030204" pitchFamily="18" charset="0"/>
                                </a:rPr>
                                <m:t>−1</m:t>
                              </m:r>
                            </m:sub>
                          </m:sSub>
                          <m:r>
                            <a:rPr lang="mn-MN" sz="4800" i="1">
                              <a:solidFill>
                                <a:srgbClr val="002060"/>
                              </a:solidFill>
                              <a:latin typeface="Cambria Math" panose="02040503050406030204" pitchFamily="18" charset="0"/>
                            </a:rPr>
                            <m:t>−</m:t>
                          </m:r>
                          <m:sSub>
                            <m:sSubPr>
                              <m:ctrlPr>
                                <a:rPr lang="en-US" sz="4800" i="1">
                                  <a:solidFill>
                                    <a:srgbClr val="002060"/>
                                  </a:solidFill>
                                  <a:latin typeface="Cambria Math" panose="02040503050406030204" pitchFamily="18" charset="0"/>
                                </a:rPr>
                              </m:ctrlPr>
                            </m:sSubPr>
                            <m:e>
                              <m:r>
                                <m:rPr>
                                  <m:sty m:val="p"/>
                                </m:rPr>
                                <a:rPr lang="mn-MN" sz="4800">
                                  <a:solidFill>
                                    <a:srgbClr val="002060"/>
                                  </a:solidFill>
                                  <a:latin typeface="Cambria Math" panose="02040503050406030204" pitchFamily="18" charset="0"/>
                                </a:rPr>
                                <m:t>MV</m:t>
                              </m:r>
                            </m:e>
                            <m:sub>
                              <m:r>
                                <a:rPr lang="mn-MN" sz="4800" i="1">
                                  <a:solidFill>
                                    <a:srgbClr val="002060"/>
                                  </a:solidFill>
                                  <a:latin typeface="Cambria Math" panose="02040503050406030204" pitchFamily="18" charset="0"/>
                                </a:rPr>
                                <m:t>𝑘</m:t>
                              </m:r>
                            </m:sub>
                          </m:sSub>
                          <m:r>
                            <a:rPr lang="mn-MN" sz="4800" i="1">
                              <a:solidFill>
                                <a:srgbClr val="002060"/>
                              </a:solidFill>
                              <a:latin typeface="Cambria Math" panose="02040503050406030204" pitchFamily="18" charset="0"/>
                            </a:rPr>
                            <m:t>+</m:t>
                          </m:r>
                          <m:sSub>
                            <m:sSubPr>
                              <m:ctrlPr>
                                <a:rPr lang="en-US" sz="4800" i="1">
                                  <a:solidFill>
                                    <a:srgbClr val="002060"/>
                                  </a:solidFill>
                                  <a:latin typeface="Cambria Math" panose="02040503050406030204" pitchFamily="18" charset="0"/>
                                </a:rPr>
                              </m:ctrlPr>
                            </m:sSubPr>
                            <m:e>
                              <m:r>
                                <a:rPr lang="mn-MN" sz="4800" i="1">
                                  <a:solidFill>
                                    <a:srgbClr val="002060"/>
                                  </a:solidFill>
                                  <a:latin typeface="Cambria Math" panose="02040503050406030204" pitchFamily="18" charset="0"/>
                                </a:rPr>
                                <m:t>𝑖</m:t>
                              </m:r>
                              <m:r>
                                <m:rPr>
                                  <m:sty m:val="p"/>
                                </m:rPr>
                                <a:rPr lang="mn-MN" sz="4800">
                                  <a:solidFill>
                                    <a:srgbClr val="002060"/>
                                  </a:solidFill>
                                  <a:latin typeface="Cambria Math" panose="02040503050406030204" pitchFamily="18" charset="0"/>
                                </a:rPr>
                                <m:t>MV</m:t>
                              </m:r>
                            </m:e>
                            <m:sub>
                              <m:r>
                                <a:rPr lang="mn-MN" sz="4800" i="1">
                                  <a:solidFill>
                                    <a:srgbClr val="002060"/>
                                  </a:solidFill>
                                  <a:latin typeface="Cambria Math" panose="02040503050406030204" pitchFamily="18" charset="0"/>
                                </a:rPr>
                                <m:t>𝑘</m:t>
                              </m:r>
                              <m:r>
                                <a:rPr lang="mn-MN" sz="4800" i="1">
                                  <a:solidFill>
                                    <a:srgbClr val="002060"/>
                                  </a:solidFill>
                                  <a:latin typeface="Cambria Math" panose="02040503050406030204" pitchFamily="18" charset="0"/>
                                </a:rPr>
                                <m:t>−1</m:t>
                              </m:r>
                            </m:sub>
                          </m:sSub>
                          <m:r>
                            <a:rPr lang="mn-MN" sz="4800" i="1">
                              <a:solidFill>
                                <a:srgbClr val="002060"/>
                              </a:solidFill>
                              <a:latin typeface="Cambria Math" panose="02040503050406030204" pitchFamily="18" charset="0"/>
                            </a:rPr>
                            <m:t>+</m:t>
                          </m:r>
                          <m:sSub>
                            <m:sSubPr>
                              <m:ctrlPr>
                                <a:rPr lang="en-US" sz="4800" i="1">
                                  <a:solidFill>
                                    <a:srgbClr val="002060"/>
                                  </a:solidFill>
                                  <a:latin typeface="Cambria Math" panose="02040503050406030204" pitchFamily="18" charset="0"/>
                                </a:rPr>
                              </m:ctrlPr>
                            </m:sSubPr>
                            <m:e>
                              <m:r>
                                <a:rPr lang="mn-MN" sz="4800" i="1">
                                  <a:solidFill>
                                    <a:srgbClr val="002060"/>
                                  </a:solidFill>
                                  <a:latin typeface="Cambria Math" panose="02040503050406030204" pitchFamily="18" charset="0"/>
                                </a:rPr>
                                <m:t>𝐸</m:t>
                              </m:r>
                            </m:e>
                            <m:sub>
                              <m:r>
                                <a:rPr lang="mn-MN" sz="4800" i="1">
                                  <a:solidFill>
                                    <a:srgbClr val="002060"/>
                                  </a:solidFill>
                                  <a:latin typeface="Cambria Math" panose="02040503050406030204" pitchFamily="18" charset="0"/>
                                </a:rPr>
                                <m:t>𝑘</m:t>
                              </m:r>
                            </m:sub>
                          </m:sSub>
                          <m:r>
                            <a:rPr lang="en-US" sz="4800" b="0" i="1" smtClean="0">
                              <a:solidFill>
                                <a:srgbClr val="002060"/>
                              </a:solidFill>
                              <a:latin typeface="Cambria Math" panose="02040503050406030204" pitchFamily="18" charset="0"/>
                            </a:rPr>
                            <m:t>+</m:t>
                          </m:r>
                        </m:e>
                      </m:d>
                      <m:r>
                        <a:rPr lang="mn-MN" sz="4800" i="1">
                          <a:solidFill>
                            <a:srgbClr val="002060"/>
                          </a:solidFill>
                          <a:latin typeface="Cambria Math" panose="02040503050406030204" pitchFamily="18" charset="0"/>
                        </a:rPr>
                        <m:t>+</m:t>
                      </m:r>
                      <m:r>
                        <a:rPr lang="mn-MN" sz="4800" i="1">
                          <a:solidFill>
                            <a:srgbClr val="002060"/>
                          </a:solidFill>
                          <a:latin typeface="Cambria Math" panose="02040503050406030204" pitchFamily="18" charset="0"/>
                        </a:rPr>
                        <m:t>𝑖</m:t>
                      </m:r>
                      <m:d>
                        <m:dPr>
                          <m:ctrlPr>
                            <a:rPr lang="en-US" sz="4800" i="1">
                              <a:solidFill>
                                <a:srgbClr val="002060"/>
                              </a:solidFill>
                              <a:latin typeface="Cambria Math" panose="02040503050406030204" pitchFamily="18" charset="0"/>
                            </a:rPr>
                          </m:ctrlPr>
                        </m:dPr>
                        <m:e>
                          <m:r>
                            <a:rPr lang="mn-MN" sz="4800" i="1">
                              <a:solidFill>
                                <a:srgbClr val="002060"/>
                              </a:solidFill>
                              <a:latin typeface="Cambria Math" panose="02040503050406030204" pitchFamily="18" charset="0"/>
                            </a:rPr>
                            <m:t>𝑡</m:t>
                          </m:r>
                        </m:e>
                      </m:d>
                      <m:d>
                        <m:dPr>
                          <m:ctrlPr>
                            <a:rPr lang="en-US" sz="4800" i="1">
                              <a:solidFill>
                                <a:srgbClr val="002060"/>
                              </a:solidFill>
                              <a:latin typeface="Cambria Math" panose="02040503050406030204" pitchFamily="18" charset="0"/>
                            </a:rPr>
                          </m:ctrlPr>
                        </m:dPr>
                        <m:e>
                          <m:sSub>
                            <m:sSubPr>
                              <m:ctrlPr>
                                <a:rPr lang="en-US" sz="4800" i="1">
                                  <a:solidFill>
                                    <a:srgbClr val="002060"/>
                                  </a:solidFill>
                                  <a:latin typeface="Cambria Math" panose="02040503050406030204" pitchFamily="18" charset="0"/>
                                </a:rPr>
                              </m:ctrlPr>
                            </m:sSubPr>
                            <m:e>
                              <m:r>
                                <m:rPr>
                                  <m:sty m:val="p"/>
                                </m:rPr>
                                <a:rPr lang="mn-MN" sz="4800">
                                  <a:solidFill>
                                    <a:srgbClr val="002060"/>
                                  </a:solidFill>
                                  <a:latin typeface="Cambria Math" panose="02040503050406030204" pitchFamily="18" charset="0"/>
                                </a:rPr>
                                <m:t>BV</m:t>
                              </m:r>
                            </m:e>
                            <m:sub>
                              <m:r>
                                <a:rPr lang="mn-MN" sz="4800" i="1">
                                  <a:solidFill>
                                    <a:srgbClr val="002060"/>
                                  </a:solidFill>
                                  <a:latin typeface="Cambria Math" panose="02040503050406030204" pitchFamily="18" charset="0"/>
                                </a:rPr>
                                <m:t>𝑘</m:t>
                              </m:r>
                              <m:r>
                                <a:rPr lang="mn-MN" sz="4800" i="1">
                                  <a:solidFill>
                                    <a:srgbClr val="002060"/>
                                  </a:solidFill>
                                  <a:latin typeface="Cambria Math" panose="02040503050406030204" pitchFamily="18" charset="0"/>
                                </a:rPr>
                                <m:t>−1</m:t>
                              </m:r>
                            </m:sub>
                          </m:sSub>
                        </m:e>
                      </m:d>
                    </m:oMath>
                  </m:oMathPara>
                </a14:m>
                <a:endParaRPr lang="mn-MN" sz="48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2A250C8-DEDB-AE32-0516-06FFA5B09843}"/>
                  </a:ext>
                </a:extLst>
              </p:cNvPr>
              <p:cNvSpPr>
                <a:spLocks noGrp="1" noRot="1" noChangeAspect="1" noMove="1" noResize="1" noEditPoints="1" noAdjustHandles="1" noChangeArrowheads="1" noChangeShapeType="1" noTextEdit="1"/>
              </p:cNvSpPr>
              <p:nvPr>
                <p:ph idx="1"/>
              </p:nvPr>
            </p:nvSpPr>
            <p:spPr>
              <a:xfrm>
                <a:off x="136358" y="589715"/>
                <a:ext cx="11919284" cy="5650663"/>
              </a:xfrm>
              <a:blipFill>
                <a:blip r:embed="rId3"/>
                <a:stretch>
                  <a:fillRect l="-1380" t="-2805" r="-1534"/>
                </a:stretch>
              </a:blipFill>
            </p:spPr>
            <p:txBody>
              <a:bodyPr/>
              <a:lstStyle/>
              <a:p>
                <a:r>
                  <a:rPr lang="en-US">
                    <a:noFill/>
                  </a:rPr>
                  <a:t> </a:t>
                </a:r>
              </a:p>
            </p:txBody>
          </p:sp>
        </mc:Fallback>
      </mc:AlternateContent>
    </p:spTree>
    <p:extLst>
      <p:ext uri="{BB962C8B-B14F-4D97-AF65-F5344CB8AC3E}">
        <p14:creationId xmlns:p14="http://schemas.microsoft.com/office/powerpoint/2010/main" val="1153138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FA56C-2C97-B5F6-E1A7-C18D804B17DD}"/>
              </a:ext>
            </a:extLst>
          </p:cNvPr>
          <p:cNvSpPr>
            <a:spLocks noGrp="1"/>
          </p:cNvSpPr>
          <p:nvPr>
            <p:ph type="title"/>
          </p:nvPr>
        </p:nvSpPr>
        <p:spPr>
          <a:xfrm>
            <a:off x="128337" y="76369"/>
            <a:ext cx="11919284" cy="934284"/>
          </a:xfrm>
        </p:spPr>
        <p:txBody>
          <a:bodyPr>
            <a:normAutofit fontScale="90000"/>
          </a:bodyPr>
          <a:lstStyle/>
          <a:p>
            <a:pPr algn="just">
              <a:spcBef>
                <a:spcPts val="200"/>
              </a:spcBef>
            </a:pPr>
            <a:r>
              <a:rPr lang="mn-MN" sz="3400" b="1" dirty="0">
                <a:solidFill>
                  <a:srgbClr val="002060"/>
                </a:solidFill>
                <a:latin typeface="Times New Roman" panose="02020603050405020304" pitchFamily="18" charset="0"/>
                <a:cs typeface="Times New Roman" panose="02020603050405020304" pitchFamily="18" charset="0"/>
              </a:rPr>
              <a:t>Хуучин хөрөнгийн татварын дараах хөрөнгө оруулалтын үнэ цэнийг тооцоолох ерөнхий аргачлал</a:t>
            </a:r>
            <a:endParaRPr lang="en-US" sz="3400" b="1" dirty="0">
              <a:solidFill>
                <a:srgbClr val="00206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B1D72BE-2EF5-2656-8D01-19E33E2EBB4F}"/>
              </a:ext>
            </a:extLst>
          </p:cNvPr>
          <p:cNvSpPr>
            <a:spLocks noGrp="1"/>
          </p:cNvSpPr>
          <p:nvPr>
            <p:ph idx="1"/>
          </p:nvPr>
        </p:nvSpPr>
        <p:spPr>
          <a:xfrm>
            <a:off x="127733" y="1010653"/>
            <a:ext cx="11919284" cy="1556084"/>
          </a:xfrm>
        </p:spPr>
        <p:txBody>
          <a:bodyPr>
            <a:normAutofit/>
          </a:bodyPr>
          <a:lstStyle/>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Хуучин хөрөнгийн татварын дараах хөрөнгө оруулалтын үнэлгээний тооцоолол нь маш энгийн. </a:t>
            </a:r>
            <a:endParaRPr lang="en-US" sz="3200" dirty="0">
              <a:solidFill>
                <a:srgbClr val="002060"/>
              </a:solidFill>
              <a:latin typeface="Times New Roman" panose="02020603050405020304" pitchFamily="18" charset="0"/>
              <a:cs typeface="Times New Roman" panose="02020603050405020304" pitchFamily="18" charset="0"/>
            </a:endParaRPr>
          </a:p>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Хуучин хөрөнгөө одоо зарсан бол (0 жил):</a:t>
            </a:r>
          </a:p>
          <a:p>
            <a:pPr algn="just">
              <a:spcBef>
                <a:spcPts val="200"/>
              </a:spcBef>
            </a:pPr>
            <a:endParaRPr lang="en-US" sz="3200"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F422AE10-A994-A6FC-F8B0-C8D4146F6529}"/>
              </a:ext>
            </a:extLst>
          </p:cNvPr>
          <p:cNvGraphicFramePr>
            <a:graphicFrameLocks noGrp="1"/>
          </p:cNvGraphicFramePr>
          <p:nvPr>
            <p:extLst>
              <p:ext uri="{D42A27DB-BD31-4B8C-83A1-F6EECF244321}">
                <p14:modId xmlns:p14="http://schemas.microsoft.com/office/powerpoint/2010/main" val="2237824351"/>
              </p:ext>
            </p:extLst>
          </p:nvPr>
        </p:nvGraphicFramePr>
        <p:xfrm>
          <a:off x="127733" y="2626539"/>
          <a:ext cx="11919283" cy="3220807"/>
        </p:xfrm>
        <a:graphic>
          <a:graphicData uri="http://schemas.openxmlformats.org/drawingml/2006/table">
            <a:tbl>
              <a:tblPr firstRow="1" firstCol="1" bandRow="1">
                <a:tableStyleId>{5C22544A-7EE6-4342-B048-85BDC9FD1C3A}</a:tableStyleId>
              </a:tblPr>
              <a:tblGrid>
                <a:gridCol w="1134319">
                  <a:extLst>
                    <a:ext uri="{9D8B030D-6E8A-4147-A177-3AD203B41FA5}">
                      <a16:colId xmlns:a16="http://schemas.microsoft.com/office/drawing/2014/main" val="3159084770"/>
                    </a:ext>
                  </a:extLst>
                </a:gridCol>
                <a:gridCol w="1334771">
                  <a:extLst>
                    <a:ext uri="{9D8B030D-6E8A-4147-A177-3AD203B41FA5}">
                      <a16:colId xmlns:a16="http://schemas.microsoft.com/office/drawing/2014/main" val="3031060329"/>
                    </a:ext>
                  </a:extLst>
                </a:gridCol>
                <a:gridCol w="1350028">
                  <a:extLst>
                    <a:ext uri="{9D8B030D-6E8A-4147-A177-3AD203B41FA5}">
                      <a16:colId xmlns:a16="http://schemas.microsoft.com/office/drawing/2014/main" val="1224151132"/>
                    </a:ext>
                  </a:extLst>
                </a:gridCol>
                <a:gridCol w="1760722">
                  <a:extLst>
                    <a:ext uri="{9D8B030D-6E8A-4147-A177-3AD203B41FA5}">
                      <a16:colId xmlns:a16="http://schemas.microsoft.com/office/drawing/2014/main" val="3403602087"/>
                    </a:ext>
                  </a:extLst>
                </a:gridCol>
                <a:gridCol w="2550954">
                  <a:extLst>
                    <a:ext uri="{9D8B030D-6E8A-4147-A177-3AD203B41FA5}">
                      <a16:colId xmlns:a16="http://schemas.microsoft.com/office/drawing/2014/main" val="3674568563"/>
                    </a:ext>
                  </a:extLst>
                </a:gridCol>
                <a:gridCol w="3788489">
                  <a:extLst>
                    <a:ext uri="{9D8B030D-6E8A-4147-A177-3AD203B41FA5}">
                      <a16:colId xmlns:a16="http://schemas.microsoft.com/office/drawing/2014/main" val="980545122"/>
                    </a:ext>
                  </a:extLst>
                </a:gridCol>
              </a:tblGrid>
              <a:tr h="1939384">
                <a:tc>
                  <a:txBody>
                    <a:bodyPr/>
                    <a:lstStyle/>
                    <a:p>
                      <a:pPr marL="0" marR="0" algn="ctr">
                        <a:lnSpc>
                          <a:spcPct val="107000"/>
                        </a:lnSpc>
                        <a:spcBef>
                          <a:spcPts val="0"/>
                        </a:spcBef>
                        <a:spcAft>
                          <a:spcPts val="0"/>
                        </a:spcAft>
                      </a:pPr>
                      <a:r>
                        <a:rPr lang="mn-MN" sz="2400" dirty="0">
                          <a:effectLst/>
                          <a:latin typeface="Times New Roman" panose="02020603050405020304" pitchFamily="18" charset="0"/>
                          <a:cs typeface="Times New Roman" panose="02020603050405020304" pitchFamily="18" charset="0"/>
                        </a:rPr>
                        <a:t>Жил</a:t>
                      </a:r>
                      <a:r>
                        <a:rPr lang="en-US" sz="2400" dirty="0">
                          <a:effectLst/>
                          <a:latin typeface="Times New Roman" panose="02020603050405020304" pitchFamily="18" charset="0"/>
                          <a:cs typeface="Times New Roman" panose="02020603050405020304" pitchFamily="18" charset="0"/>
                        </a:rPr>
                        <a:t>-</a:t>
                      </a:r>
                      <a:r>
                        <a:rPr lang="mn-MN" sz="2400" dirty="0">
                          <a:effectLst/>
                          <a:latin typeface="Times New Roman" panose="02020603050405020304" pitchFamily="18" charset="0"/>
                          <a:cs typeface="Times New Roman" panose="02020603050405020304" pitchFamily="18" charset="0"/>
                        </a:rPr>
                        <a:t>ийн эцэс</a:t>
                      </a:r>
                      <a:r>
                        <a:rPr lang="en-US" sz="2400" dirty="0">
                          <a:effectLst/>
                          <a:latin typeface="Times New Roman" panose="02020603050405020304" pitchFamily="18" charset="0"/>
                          <a:cs typeface="Times New Roman" panose="02020603050405020304" pitchFamily="18" charset="0"/>
                        </a:rPr>
                        <a:t>, k</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mn-MN" sz="2400" dirty="0">
                          <a:effectLst/>
                          <a:latin typeface="Times New Roman" panose="02020603050405020304" pitchFamily="18" charset="0"/>
                          <a:cs typeface="Times New Roman" panose="02020603050405020304" pitchFamily="18" charset="0"/>
                        </a:rPr>
                        <a:t>ТӨМУ</a:t>
                      </a:r>
                      <a:endParaRPr lang="en-US" sz="2400" dirty="0">
                        <a:effectLst/>
                        <a:latin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(BTCF)</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mn-MN" sz="2400" dirty="0">
                          <a:effectLst/>
                          <a:latin typeface="Times New Roman" panose="02020603050405020304" pitchFamily="18" charset="0"/>
                          <a:cs typeface="Times New Roman" panose="02020603050405020304" pitchFamily="18" charset="0"/>
                        </a:rPr>
                        <a:t>Элэгдэл</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mn-MN" sz="2800" dirty="0">
                          <a:effectLst/>
                          <a:latin typeface="Times New Roman" panose="02020603050405020304" pitchFamily="18" charset="0"/>
                          <a:cs typeface="Times New Roman" panose="02020603050405020304" pitchFamily="18" charset="0"/>
                        </a:rPr>
                        <a:t>Татвар ноогдох орлого</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mn-MN" sz="2800" dirty="0">
                          <a:effectLst/>
                          <a:latin typeface="Times New Roman" panose="02020603050405020304" pitchFamily="18" charset="0"/>
                          <a:cs typeface="Times New Roman" panose="02020603050405020304" pitchFamily="18" charset="0"/>
                        </a:rPr>
                        <a:t>Орлогын албан татварын мөнгөн урсгал</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mn-MN" sz="2800" dirty="0">
                          <a:effectLst/>
                          <a:latin typeface="Times New Roman" panose="02020603050405020304" pitchFamily="18" charset="0"/>
                          <a:cs typeface="Times New Roman" panose="02020603050405020304" pitchFamily="18" charset="0"/>
                        </a:rPr>
                        <a:t>ТДМУ </a:t>
                      </a:r>
                      <a:r>
                        <a:rPr lang="en-US" sz="2800" dirty="0">
                          <a:effectLst/>
                          <a:latin typeface="Times New Roman" panose="02020603050405020304" pitchFamily="18" charset="0"/>
                          <a:cs typeface="Times New Roman" panose="02020603050405020304" pitchFamily="18" charset="0"/>
                        </a:rPr>
                        <a:t>(</a:t>
                      </a:r>
                      <a:r>
                        <a:rPr lang="mn-MN" sz="2800" dirty="0">
                          <a:effectLst/>
                          <a:latin typeface="Times New Roman" panose="02020603050405020304" pitchFamily="18" charset="0"/>
                          <a:cs typeface="Times New Roman" panose="02020603050405020304" pitchFamily="18" charset="0"/>
                        </a:rPr>
                        <a:t>ATCF</a:t>
                      </a:r>
                      <a:r>
                        <a:rPr lang="en-US" sz="2800" dirty="0">
                          <a:effectLst/>
                          <a:latin typeface="Times New Roman" panose="02020603050405020304" pitchFamily="18" charset="0"/>
                          <a:cs typeface="Times New Roman" panose="02020603050405020304" pitchFamily="18" charset="0"/>
                        </a:rPr>
                        <a:t>)</a:t>
                      </a:r>
                      <a:r>
                        <a:rPr lang="mn-MN" sz="2800" dirty="0">
                          <a:effectLst/>
                          <a:latin typeface="Times New Roman" panose="02020603050405020304" pitchFamily="18" charset="0"/>
                          <a:cs typeface="Times New Roman" panose="02020603050405020304" pitchFamily="18" charset="0"/>
                        </a:rPr>
                        <a:t> (хэрвээ хуучин хөрөнгө зарагдсан бол)</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906898162"/>
                  </a:ext>
                </a:extLst>
              </a:tr>
              <a:tr h="1281423">
                <a:tc>
                  <a:txBody>
                    <a:bodyPr/>
                    <a:lstStyle/>
                    <a:p>
                      <a:pPr marL="0" marR="0" algn="ctr">
                        <a:lnSpc>
                          <a:spcPct val="107000"/>
                        </a:lnSpc>
                        <a:spcBef>
                          <a:spcPts val="0"/>
                        </a:spcBef>
                        <a:spcAft>
                          <a:spcPts val="0"/>
                        </a:spcAft>
                      </a:pPr>
                      <a:r>
                        <a:rPr lang="mn-MN" sz="3200" dirty="0">
                          <a:effectLst/>
                          <a:latin typeface="Times New Roman" panose="02020603050405020304" pitchFamily="18" charset="0"/>
                          <a:cs typeface="Times New Roman" panose="02020603050405020304" pitchFamily="18" charset="0"/>
                        </a:rPr>
                        <a:t>0</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3200" dirty="0">
                          <a:effectLst/>
                          <a:latin typeface="Times New Roman" panose="02020603050405020304" pitchFamily="18" charset="0"/>
                          <a:cs typeface="Times New Roman" panose="02020603050405020304" pitchFamily="18" charset="0"/>
                        </a:rPr>
                        <a:t>MV</a:t>
                      </a:r>
                      <a:r>
                        <a:rPr lang="en-US" sz="3200" baseline="-25000" dirty="0">
                          <a:effectLst/>
                          <a:latin typeface="Times New Roman" panose="02020603050405020304" pitchFamily="18" charset="0"/>
                          <a:cs typeface="Times New Roman" panose="02020603050405020304" pitchFamily="18" charset="0"/>
                        </a:rPr>
                        <a:t>0</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mn-MN" sz="2600" dirty="0">
                          <a:effectLst/>
                          <a:latin typeface="Times New Roman" panose="02020603050405020304" pitchFamily="18" charset="0"/>
                          <a:cs typeface="Times New Roman" panose="02020603050405020304" pitchFamily="18" charset="0"/>
                        </a:rPr>
                        <a:t>Байхгүй</a:t>
                      </a:r>
                      <a:endParaRPr lang="en-US" sz="2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800" dirty="0">
                          <a:effectLst/>
                          <a:latin typeface="Times New Roman" panose="02020603050405020304" pitchFamily="18" charset="0"/>
                          <a:cs typeface="Times New Roman" panose="02020603050405020304" pitchFamily="18" charset="0"/>
                        </a:rPr>
                        <a:t>MV</a:t>
                      </a:r>
                      <a:r>
                        <a:rPr lang="en-US" sz="2800" baseline="-25000" dirty="0">
                          <a:effectLst/>
                          <a:latin typeface="Times New Roman" panose="02020603050405020304" pitchFamily="18" charset="0"/>
                          <a:cs typeface="Times New Roman" panose="02020603050405020304" pitchFamily="18" charset="0"/>
                        </a:rPr>
                        <a:t>0</a:t>
                      </a:r>
                      <a:r>
                        <a:rPr lang="en-US" sz="2800" dirty="0">
                          <a:effectLst/>
                          <a:latin typeface="Times New Roman" panose="02020603050405020304" pitchFamily="18" charset="0"/>
                          <a:cs typeface="Times New Roman" panose="02020603050405020304" pitchFamily="18" charset="0"/>
                        </a:rPr>
                        <a:t>– BV</a:t>
                      </a:r>
                      <a:r>
                        <a:rPr lang="en-US" sz="2800" baseline="-25000" dirty="0">
                          <a:effectLst/>
                          <a:latin typeface="Times New Roman" panose="02020603050405020304" pitchFamily="18" charset="0"/>
                          <a:cs typeface="Times New Roman" panose="02020603050405020304" pitchFamily="18" charset="0"/>
                        </a:rPr>
                        <a:t>0</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3000" dirty="0">
                          <a:effectLst/>
                          <a:latin typeface="Times New Roman" panose="02020603050405020304" pitchFamily="18" charset="0"/>
                          <a:cs typeface="Times New Roman" panose="02020603050405020304" pitchFamily="18" charset="0"/>
                        </a:rPr>
                        <a:t>–t(MV</a:t>
                      </a:r>
                      <a:r>
                        <a:rPr lang="en-US" sz="3000" baseline="-25000" dirty="0">
                          <a:effectLst/>
                          <a:latin typeface="Times New Roman" panose="02020603050405020304" pitchFamily="18" charset="0"/>
                          <a:cs typeface="Times New Roman" panose="02020603050405020304" pitchFamily="18" charset="0"/>
                        </a:rPr>
                        <a:t>0</a:t>
                      </a:r>
                      <a:r>
                        <a:rPr lang="en-US" sz="3000" dirty="0">
                          <a:effectLst/>
                          <a:latin typeface="Times New Roman" panose="02020603050405020304" pitchFamily="18" charset="0"/>
                          <a:cs typeface="Times New Roman" panose="02020603050405020304" pitchFamily="18" charset="0"/>
                        </a:rPr>
                        <a:t>– BV</a:t>
                      </a:r>
                      <a:r>
                        <a:rPr lang="en-US" sz="3000" baseline="-25000" dirty="0">
                          <a:effectLst/>
                          <a:latin typeface="Times New Roman" panose="02020603050405020304" pitchFamily="18" charset="0"/>
                          <a:cs typeface="Times New Roman" panose="02020603050405020304" pitchFamily="18" charset="0"/>
                        </a:rPr>
                        <a:t>0</a:t>
                      </a:r>
                      <a:r>
                        <a:rPr lang="en-US" sz="3000" dirty="0">
                          <a:effectLst/>
                          <a:latin typeface="Times New Roman" panose="02020603050405020304" pitchFamily="18" charset="0"/>
                          <a:cs typeface="Times New Roman" panose="02020603050405020304" pitchFamily="18" charset="0"/>
                        </a:rPr>
                        <a:t>)</a:t>
                      </a:r>
                      <a:endParaRPr lang="en-US" sz="3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3000" dirty="0">
                          <a:effectLst/>
                          <a:latin typeface="Times New Roman" panose="02020603050405020304" pitchFamily="18" charset="0"/>
                          <a:cs typeface="Times New Roman" panose="02020603050405020304" pitchFamily="18" charset="0"/>
                        </a:rPr>
                        <a:t>MV</a:t>
                      </a:r>
                      <a:r>
                        <a:rPr lang="en-US" sz="3000" baseline="-25000" dirty="0">
                          <a:effectLst/>
                          <a:latin typeface="Times New Roman" panose="02020603050405020304" pitchFamily="18" charset="0"/>
                          <a:cs typeface="Times New Roman" panose="02020603050405020304" pitchFamily="18" charset="0"/>
                        </a:rPr>
                        <a:t>0 </a:t>
                      </a:r>
                      <a:r>
                        <a:rPr lang="en-US" sz="3000" dirty="0">
                          <a:effectLst/>
                          <a:latin typeface="Times New Roman" panose="02020603050405020304" pitchFamily="18" charset="0"/>
                          <a:cs typeface="Times New Roman" panose="02020603050405020304" pitchFamily="18" charset="0"/>
                        </a:rPr>
                        <a:t>–t(MV</a:t>
                      </a:r>
                      <a:r>
                        <a:rPr lang="en-US" sz="3000" baseline="-25000" dirty="0">
                          <a:effectLst/>
                          <a:latin typeface="Times New Roman" panose="02020603050405020304" pitchFamily="18" charset="0"/>
                          <a:cs typeface="Times New Roman" panose="02020603050405020304" pitchFamily="18" charset="0"/>
                        </a:rPr>
                        <a:t>0</a:t>
                      </a:r>
                      <a:r>
                        <a:rPr lang="en-US" sz="3000" dirty="0">
                          <a:effectLst/>
                          <a:latin typeface="Times New Roman" panose="02020603050405020304" pitchFamily="18" charset="0"/>
                          <a:cs typeface="Times New Roman" panose="02020603050405020304" pitchFamily="18" charset="0"/>
                        </a:rPr>
                        <a:t>– BV</a:t>
                      </a:r>
                      <a:r>
                        <a:rPr lang="en-US" sz="3000" baseline="-25000" dirty="0">
                          <a:effectLst/>
                          <a:latin typeface="Times New Roman" panose="02020603050405020304" pitchFamily="18" charset="0"/>
                          <a:cs typeface="Times New Roman" panose="02020603050405020304" pitchFamily="18" charset="0"/>
                        </a:rPr>
                        <a:t>0</a:t>
                      </a:r>
                      <a:r>
                        <a:rPr lang="en-US" sz="3000" dirty="0">
                          <a:effectLst/>
                          <a:latin typeface="Times New Roman" panose="02020603050405020304" pitchFamily="18" charset="0"/>
                          <a:cs typeface="Times New Roman" panose="02020603050405020304" pitchFamily="18" charset="0"/>
                        </a:rPr>
                        <a:t>)</a:t>
                      </a:r>
                      <a:endParaRPr lang="en-US" sz="3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75890756"/>
                  </a:ext>
                </a:extLst>
              </a:tr>
            </a:tbl>
          </a:graphicData>
        </a:graphic>
      </p:graphicFrame>
    </p:spTree>
    <p:extLst>
      <p:ext uri="{BB962C8B-B14F-4D97-AF65-F5344CB8AC3E}">
        <p14:creationId xmlns:p14="http://schemas.microsoft.com/office/powerpoint/2010/main" val="632029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FA56C-2C97-B5F6-E1A7-C18D804B17DD}"/>
              </a:ext>
            </a:extLst>
          </p:cNvPr>
          <p:cNvSpPr>
            <a:spLocks noGrp="1"/>
          </p:cNvSpPr>
          <p:nvPr>
            <p:ph type="title"/>
          </p:nvPr>
        </p:nvSpPr>
        <p:spPr>
          <a:xfrm>
            <a:off x="136832" y="75665"/>
            <a:ext cx="11766156" cy="695579"/>
          </a:xfrm>
        </p:spPr>
        <p:txBody>
          <a:bodyPr>
            <a:noAutofit/>
          </a:bodyPr>
          <a:lstStyle/>
          <a:p>
            <a:pPr algn="just"/>
            <a:r>
              <a:rPr lang="mn-MN" sz="3100" b="1" dirty="0">
                <a:solidFill>
                  <a:srgbClr val="002060"/>
                </a:solidFill>
                <a:latin typeface="Times New Roman" panose="02020603050405020304" pitchFamily="18" charset="0"/>
                <a:cs typeface="Times New Roman" panose="02020603050405020304" pitchFamily="18" charset="0"/>
              </a:rPr>
              <a:t>Хуучин хөрөнгийн татварын дараах хөрөнгө оруулалтын үнэ цэнийг тооцоолох ерөнхий аргачлал</a:t>
            </a:r>
            <a:endParaRPr lang="en-US" sz="3100" b="1" dirty="0">
              <a:solidFill>
                <a:srgbClr val="00206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B1D72BE-2EF5-2656-8D01-19E33E2EBB4F}"/>
              </a:ext>
            </a:extLst>
          </p:cNvPr>
          <p:cNvSpPr>
            <a:spLocks noGrp="1"/>
          </p:cNvSpPr>
          <p:nvPr>
            <p:ph idx="1"/>
          </p:nvPr>
        </p:nvSpPr>
        <p:spPr>
          <a:xfrm>
            <a:off x="42892" y="795628"/>
            <a:ext cx="11860096" cy="569876"/>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Хэрвээ хөрөнгийг үргэлжлүүлэн ашиглахаар шийдсэн бол:</a:t>
            </a:r>
            <a:endParaRPr lang="en-US" sz="3200"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Content Placeholder 4">
            <a:extLst>
              <a:ext uri="{FF2B5EF4-FFF2-40B4-BE49-F238E27FC236}">
                <a16:creationId xmlns:a16="http://schemas.microsoft.com/office/drawing/2014/main" id="{74EEFF0C-19CB-0836-4387-D4B1D0603ACC}"/>
              </a:ext>
            </a:extLst>
          </p:cNvPr>
          <p:cNvGraphicFramePr>
            <a:graphicFrameLocks/>
          </p:cNvGraphicFramePr>
          <p:nvPr>
            <p:extLst>
              <p:ext uri="{D42A27DB-BD31-4B8C-83A1-F6EECF244321}">
                <p14:modId xmlns:p14="http://schemas.microsoft.com/office/powerpoint/2010/main" val="3925451774"/>
              </p:ext>
            </p:extLst>
          </p:nvPr>
        </p:nvGraphicFramePr>
        <p:xfrm>
          <a:off x="217617" y="1301397"/>
          <a:ext cx="11860095" cy="3423691"/>
        </p:xfrm>
        <a:graphic>
          <a:graphicData uri="http://schemas.openxmlformats.org/drawingml/2006/table">
            <a:tbl>
              <a:tblPr firstRow="1" firstCol="1" bandRow="1">
                <a:tableStyleId>{5C22544A-7EE6-4342-B048-85BDC9FD1C3A}</a:tableStyleId>
              </a:tblPr>
              <a:tblGrid>
                <a:gridCol w="889288">
                  <a:extLst>
                    <a:ext uri="{9D8B030D-6E8A-4147-A177-3AD203B41FA5}">
                      <a16:colId xmlns:a16="http://schemas.microsoft.com/office/drawing/2014/main" val="2235456503"/>
                    </a:ext>
                  </a:extLst>
                </a:gridCol>
                <a:gridCol w="1475874">
                  <a:extLst>
                    <a:ext uri="{9D8B030D-6E8A-4147-A177-3AD203B41FA5}">
                      <a16:colId xmlns:a16="http://schemas.microsoft.com/office/drawing/2014/main" val="3760934271"/>
                    </a:ext>
                  </a:extLst>
                </a:gridCol>
                <a:gridCol w="1299410">
                  <a:extLst>
                    <a:ext uri="{9D8B030D-6E8A-4147-A177-3AD203B41FA5}">
                      <a16:colId xmlns:a16="http://schemas.microsoft.com/office/drawing/2014/main" val="1762978572"/>
                    </a:ext>
                  </a:extLst>
                </a:gridCol>
                <a:gridCol w="1957137">
                  <a:extLst>
                    <a:ext uri="{9D8B030D-6E8A-4147-A177-3AD203B41FA5}">
                      <a16:colId xmlns:a16="http://schemas.microsoft.com/office/drawing/2014/main" val="403725126"/>
                    </a:ext>
                  </a:extLst>
                </a:gridCol>
                <a:gridCol w="2903621">
                  <a:extLst>
                    <a:ext uri="{9D8B030D-6E8A-4147-A177-3AD203B41FA5}">
                      <a16:colId xmlns:a16="http://schemas.microsoft.com/office/drawing/2014/main" val="276095926"/>
                    </a:ext>
                  </a:extLst>
                </a:gridCol>
                <a:gridCol w="3334765">
                  <a:extLst>
                    <a:ext uri="{9D8B030D-6E8A-4147-A177-3AD203B41FA5}">
                      <a16:colId xmlns:a16="http://schemas.microsoft.com/office/drawing/2014/main" val="500161485"/>
                    </a:ext>
                  </a:extLst>
                </a:gridCol>
              </a:tblGrid>
              <a:tr h="2084793">
                <a:tc>
                  <a:txBody>
                    <a:bodyPr/>
                    <a:lstStyle/>
                    <a:p>
                      <a:pPr marL="0" marR="0" algn="ctr">
                        <a:lnSpc>
                          <a:spcPct val="107000"/>
                        </a:lnSpc>
                        <a:spcBef>
                          <a:spcPts val="0"/>
                        </a:spcBef>
                        <a:spcAft>
                          <a:spcPts val="0"/>
                        </a:spcAft>
                      </a:pPr>
                      <a:r>
                        <a:rPr lang="mn-MN" sz="2000" dirty="0">
                          <a:effectLst/>
                          <a:latin typeface="Times New Roman" panose="02020603050405020304" pitchFamily="18" charset="0"/>
                          <a:cs typeface="Times New Roman" panose="02020603050405020304" pitchFamily="18" charset="0"/>
                        </a:rPr>
                        <a:t>Жил</a:t>
                      </a:r>
                      <a:r>
                        <a:rPr lang="en-US" sz="2000" dirty="0">
                          <a:effectLst/>
                          <a:latin typeface="Times New Roman" panose="02020603050405020304" pitchFamily="18" charset="0"/>
                          <a:cs typeface="Times New Roman" panose="02020603050405020304" pitchFamily="18" charset="0"/>
                        </a:rPr>
                        <a:t>-</a:t>
                      </a:r>
                      <a:r>
                        <a:rPr lang="mn-MN" sz="2000" dirty="0">
                          <a:effectLst/>
                          <a:latin typeface="Times New Roman" panose="02020603050405020304" pitchFamily="18" charset="0"/>
                          <a:cs typeface="Times New Roman" panose="02020603050405020304" pitchFamily="18" charset="0"/>
                        </a:rPr>
                        <a:t>ийн эцэс</a:t>
                      </a:r>
                      <a:r>
                        <a:rPr lang="en-US" sz="2000" dirty="0">
                          <a:effectLst/>
                          <a:latin typeface="Times New Roman" panose="02020603050405020304" pitchFamily="18" charset="0"/>
                          <a:cs typeface="Times New Roman" panose="02020603050405020304" pitchFamily="18" charset="0"/>
                        </a:rPr>
                        <a:t>, k</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(A) </a:t>
                      </a:r>
                      <a:r>
                        <a:rPr lang="mn-MN" sz="2400" dirty="0">
                          <a:effectLst/>
                          <a:latin typeface="Times New Roman" panose="02020603050405020304" pitchFamily="18" charset="0"/>
                          <a:cs typeface="Times New Roman" panose="02020603050405020304" pitchFamily="18" charset="0"/>
                        </a:rPr>
                        <a:t>ТӨМУ</a:t>
                      </a:r>
                      <a:endParaRPr lang="en-US" sz="3200" dirty="0">
                        <a:effectLst/>
                        <a:latin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(BTCF)</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(B) </a:t>
                      </a:r>
                      <a:r>
                        <a:rPr lang="mn-MN" sz="2000" dirty="0">
                          <a:effectLst/>
                          <a:latin typeface="Times New Roman" panose="02020603050405020304" pitchFamily="18" charset="0"/>
                          <a:cs typeface="Times New Roman" panose="02020603050405020304" pitchFamily="18" charset="0"/>
                        </a:rPr>
                        <a:t>Элэгдэл</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(C) </a:t>
                      </a:r>
                      <a:endParaRPr lang="en-US" sz="3200" dirty="0">
                        <a:effectLst/>
                        <a:latin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mn-MN" sz="2400" dirty="0">
                          <a:effectLst/>
                          <a:latin typeface="Times New Roman" panose="02020603050405020304" pitchFamily="18" charset="0"/>
                          <a:cs typeface="Times New Roman" panose="02020603050405020304" pitchFamily="18" charset="0"/>
                        </a:rPr>
                        <a:t>Татвар ноогдох орлого</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mn-MN" sz="2400" dirty="0">
                          <a:effectLst/>
                          <a:latin typeface="Times New Roman" panose="02020603050405020304" pitchFamily="18" charset="0"/>
                          <a:cs typeface="Times New Roman" panose="02020603050405020304" pitchFamily="18" charset="0"/>
                        </a:rPr>
                        <a:t>(D)= – t(C)</a:t>
                      </a:r>
                      <a:endParaRPr lang="en-US" sz="3200" dirty="0">
                        <a:effectLst/>
                        <a:latin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mn-MN" sz="2400" dirty="0">
                          <a:effectLst/>
                          <a:latin typeface="Times New Roman" panose="02020603050405020304" pitchFamily="18" charset="0"/>
                          <a:cs typeface="Times New Roman" panose="02020603050405020304" pitchFamily="18" charset="0"/>
                        </a:rPr>
                        <a:t>Орлогын албан татварын мөнгөн урсгал</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mn-MN" sz="2400" dirty="0">
                          <a:effectLst/>
                          <a:latin typeface="Times New Roman" panose="02020603050405020304" pitchFamily="18" charset="0"/>
                          <a:cs typeface="Times New Roman" panose="02020603050405020304" pitchFamily="18" charset="0"/>
                        </a:rPr>
                        <a:t>(E) = (A) + (D)</a:t>
                      </a:r>
                      <a:endParaRPr lang="en-US" sz="3200" dirty="0">
                        <a:effectLst/>
                        <a:latin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mn-MN" sz="2400" dirty="0">
                          <a:effectLst/>
                          <a:latin typeface="Times New Roman" panose="02020603050405020304" pitchFamily="18" charset="0"/>
                          <a:cs typeface="Times New Roman" panose="02020603050405020304" pitchFamily="18" charset="0"/>
                        </a:rPr>
                        <a:t>ТДМУ </a:t>
                      </a:r>
                      <a:r>
                        <a:rPr lang="en-US" sz="2400" dirty="0">
                          <a:effectLst/>
                          <a:latin typeface="Times New Roman" panose="02020603050405020304" pitchFamily="18" charset="0"/>
                          <a:cs typeface="Times New Roman" panose="02020603050405020304" pitchFamily="18" charset="0"/>
                        </a:rPr>
                        <a:t>(</a:t>
                      </a:r>
                      <a:r>
                        <a:rPr lang="mn-MN" sz="2400" dirty="0">
                          <a:effectLst/>
                          <a:latin typeface="Times New Roman" panose="02020603050405020304" pitchFamily="18" charset="0"/>
                          <a:cs typeface="Times New Roman" panose="02020603050405020304" pitchFamily="18" charset="0"/>
                        </a:rPr>
                        <a:t>ATCF</a:t>
                      </a:r>
                      <a:r>
                        <a:rPr lang="en-US" sz="2400" dirty="0">
                          <a:effectLst/>
                          <a:latin typeface="Times New Roman" panose="02020603050405020304" pitchFamily="18" charset="0"/>
                          <a:cs typeface="Times New Roman" panose="02020603050405020304" pitchFamily="18" charset="0"/>
                        </a:rPr>
                        <a:t>)</a:t>
                      </a:r>
                      <a:r>
                        <a:rPr lang="mn-MN" sz="2400" dirty="0">
                          <a:effectLst/>
                          <a:latin typeface="Times New Roman" panose="02020603050405020304" pitchFamily="18" charset="0"/>
                          <a:cs typeface="Times New Roman" panose="02020603050405020304" pitchFamily="18" charset="0"/>
                        </a:rPr>
                        <a:t> (хэрвээ хуучин хөрөнгө зарагдсан бол)</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62960287"/>
                  </a:ext>
                </a:extLst>
              </a:tr>
              <a:tr h="816842">
                <a:tc>
                  <a:txBody>
                    <a:bodyPr/>
                    <a:lstStyle/>
                    <a:p>
                      <a:pPr marL="0" marR="0" algn="ctr">
                        <a:lnSpc>
                          <a:spcPct val="107000"/>
                        </a:lnSpc>
                        <a:spcBef>
                          <a:spcPts val="0"/>
                        </a:spcBef>
                        <a:spcAft>
                          <a:spcPts val="0"/>
                        </a:spcAft>
                      </a:pPr>
                      <a:r>
                        <a:rPr lang="mn-MN" sz="2800" dirty="0">
                          <a:effectLst/>
                          <a:latin typeface="Times New Roman" panose="02020603050405020304" pitchFamily="18" charset="0"/>
                          <a:cs typeface="Times New Roman" panose="02020603050405020304" pitchFamily="18" charset="0"/>
                        </a:rPr>
                        <a:t>0</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800" dirty="0">
                          <a:effectLst/>
                          <a:latin typeface="Times New Roman" panose="02020603050405020304" pitchFamily="18" charset="0"/>
                          <a:cs typeface="Times New Roman" panose="02020603050405020304" pitchFamily="18" charset="0"/>
                        </a:rPr>
                        <a:t>–MV</a:t>
                      </a:r>
                      <a:r>
                        <a:rPr lang="en-US" sz="2800" baseline="-25000" dirty="0">
                          <a:effectLst/>
                          <a:latin typeface="Times New Roman" panose="02020603050405020304" pitchFamily="18" charset="0"/>
                          <a:cs typeface="Times New Roman" panose="02020603050405020304" pitchFamily="18" charset="0"/>
                        </a:rPr>
                        <a:t>0</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mn-MN" sz="2800" dirty="0">
                          <a:effectLst/>
                          <a:latin typeface="Times New Roman" panose="02020603050405020304" pitchFamily="18" charset="0"/>
                          <a:cs typeface="Times New Roman" panose="02020603050405020304" pitchFamily="18" charset="0"/>
                        </a:rPr>
                        <a:t>Байхгүй</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800" dirty="0">
                          <a:effectLst/>
                          <a:latin typeface="Times New Roman" panose="02020603050405020304" pitchFamily="18" charset="0"/>
                          <a:cs typeface="Times New Roman" panose="02020603050405020304" pitchFamily="18" charset="0"/>
                        </a:rPr>
                        <a:t>–(MV</a:t>
                      </a:r>
                      <a:r>
                        <a:rPr lang="en-US" sz="2800" baseline="-25000" dirty="0">
                          <a:effectLst/>
                          <a:latin typeface="Times New Roman" panose="02020603050405020304" pitchFamily="18" charset="0"/>
                          <a:cs typeface="Times New Roman" panose="02020603050405020304" pitchFamily="18" charset="0"/>
                        </a:rPr>
                        <a:t>0</a:t>
                      </a:r>
                      <a:r>
                        <a:rPr lang="en-US" sz="2800" dirty="0">
                          <a:effectLst/>
                          <a:latin typeface="Times New Roman" panose="02020603050405020304" pitchFamily="18" charset="0"/>
                          <a:cs typeface="Times New Roman" panose="02020603050405020304" pitchFamily="18" charset="0"/>
                        </a:rPr>
                        <a:t>– BV</a:t>
                      </a:r>
                      <a:r>
                        <a:rPr lang="en-US" sz="2800" baseline="-25000" dirty="0">
                          <a:effectLst/>
                          <a:latin typeface="Times New Roman" panose="02020603050405020304" pitchFamily="18" charset="0"/>
                          <a:cs typeface="Times New Roman" panose="02020603050405020304" pitchFamily="18" charset="0"/>
                        </a:rPr>
                        <a:t>0</a:t>
                      </a:r>
                      <a:r>
                        <a:rPr lang="en-US" sz="2800" dirty="0">
                          <a:effectLst/>
                          <a:latin typeface="Times New Roman" panose="02020603050405020304" pitchFamily="18" charset="0"/>
                          <a:cs typeface="Times New Roman" panose="02020603050405020304" pitchFamily="18" charset="0"/>
                        </a:rPr>
                        <a:t>)</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800" dirty="0">
                          <a:effectLst/>
                          <a:latin typeface="Times New Roman" panose="02020603050405020304" pitchFamily="18" charset="0"/>
                          <a:cs typeface="Times New Roman" panose="02020603050405020304" pitchFamily="18" charset="0"/>
                        </a:rPr>
                        <a:t>–t [– (MV</a:t>
                      </a:r>
                      <a:r>
                        <a:rPr lang="en-US" sz="2800" baseline="-25000" dirty="0">
                          <a:effectLst/>
                          <a:latin typeface="Times New Roman" panose="02020603050405020304" pitchFamily="18" charset="0"/>
                          <a:cs typeface="Times New Roman" panose="02020603050405020304" pitchFamily="18" charset="0"/>
                        </a:rPr>
                        <a:t>0</a:t>
                      </a:r>
                      <a:r>
                        <a:rPr lang="en-US" sz="2800" dirty="0">
                          <a:effectLst/>
                          <a:latin typeface="Times New Roman" panose="02020603050405020304" pitchFamily="18" charset="0"/>
                          <a:cs typeface="Times New Roman" panose="02020603050405020304" pitchFamily="18" charset="0"/>
                        </a:rPr>
                        <a:t>– BV</a:t>
                      </a:r>
                      <a:r>
                        <a:rPr lang="en-US" sz="2800" baseline="-25000" dirty="0">
                          <a:effectLst/>
                          <a:latin typeface="Times New Roman" panose="02020603050405020304" pitchFamily="18" charset="0"/>
                          <a:cs typeface="Times New Roman" panose="02020603050405020304" pitchFamily="18" charset="0"/>
                        </a:rPr>
                        <a:t>0</a:t>
                      </a:r>
                      <a:r>
                        <a:rPr lang="en-US" sz="28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2800" dirty="0">
                          <a:effectLst/>
                          <a:latin typeface="Times New Roman" panose="02020603050405020304" pitchFamily="18" charset="0"/>
                          <a:cs typeface="Times New Roman" panose="02020603050405020304" pitchFamily="18" charset="0"/>
                        </a:rPr>
                        <a:t>t (MV</a:t>
                      </a:r>
                      <a:r>
                        <a:rPr lang="en-US" sz="2800" baseline="-25000" dirty="0">
                          <a:effectLst/>
                          <a:latin typeface="Times New Roman" panose="02020603050405020304" pitchFamily="18" charset="0"/>
                          <a:cs typeface="Times New Roman" panose="02020603050405020304" pitchFamily="18" charset="0"/>
                        </a:rPr>
                        <a:t>0</a:t>
                      </a:r>
                      <a:r>
                        <a:rPr lang="en-US" sz="2800" dirty="0">
                          <a:effectLst/>
                          <a:latin typeface="Times New Roman" panose="02020603050405020304" pitchFamily="18" charset="0"/>
                          <a:cs typeface="Times New Roman" panose="02020603050405020304" pitchFamily="18" charset="0"/>
                        </a:rPr>
                        <a:t>– BV</a:t>
                      </a:r>
                      <a:r>
                        <a:rPr lang="en-US" sz="2800" baseline="-25000" dirty="0">
                          <a:effectLst/>
                          <a:latin typeface="Times New Roman" panose="02020603050405020304" pitchFamily="18" charset="0"/>
                          <a:cs typeface="Times New Roman" panose="02020603050405020304" pitchFamily="18" charset="0"/>
                        </a:rPr>
                        <a:t>0</a:t>
                      </a:r>
                      <a:r>
                        <a:rPr lang="en-US" sz="2800" dirty="0">
                          <a:effectLst/>
                          <a:latin typeface="Times New Roman" panose="02020603050405020304" pitchFamily="18" charset="0"/>
                          <a:cs typeface="Times New Roman" panose="02020603050405020304" pitchFamily="18" charset="0"/>
                        </a:rPr>
                        <a:t>)</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800" dirty="0">
                          <a:effectLst/>
                          <a:latin typeface="Times New Roman" panose="02020603050405020304" pitchFamily="18" charset="0"/>
                          <a:cs typeface="Times New Roman" panose="02020603050405020304" pitchFamily="18" charset="0"/>
                        </a:rPr>
                        <a:t>–MV</a:t>
                      </a:r>
                      <a:r>
                        <a:rPr lang="en-US" sz="2800" baseline="-25000" dirty="0">
                          <a:effectLst/>
                          <a:latin typeface="Times New Roman" panose="02020603050405020304" pitchFamily="18" charset="0"/>
                          <a:cs typeface="Times New Roman" panose="02020603050405020304" pitchFamily="18" charset="0"/>
                        </a:rPr>
                        <a:t>0 </a:t>
                      </a:r>
                      <a:r>
                        <a:rPr lang="en-US" sz="2800" dirty="0">
                          <a:effectLst/>
                          <a:latin typeface="Times New Roman" panose="02020603050405020304" pitchFamily="18" charset="0"/>
                          <a:cs typeface="Times New Roman" panose="02020603050405020304" pitchFamily="18" charset="0"/>
                        </a:rPr>
                        <a:t>+t(MV</a:t>
                      </a:r>
                      <a:r>
                        <a:rPr lang="en-US" sz="2800" baseline="-25000" dirty="0">
                          <a:effectLst/>
                          <a:latin typeface="Times New Roman" panose="02020603050405020304" pitchFamily="18" charset="0"/>
                          <a:cs typeface="Times New Roman" panose="02020603050405020304" pitchFamily="18" charset="0"/>
                        </a:rPr>
                        <a:t>0</a:t>
                      </a:r>
                      <a:r>
                        <a:rPr lang="en-US" sz="2800" dirty="0">
                          <a:effectLst/>
                          <a:latin typeface="Times New Roman" panose="02020603050405020304" pitchFamily="18" charset="0"/>
                          <a:cs typeface="Times New Roman" panose="02020603050405020304" pitchFamily="18" charset="0"/>
                        </a:rPr>
                        <a:t>– BV</a:t>
                      </a:r>
                      <a:r>
                        <a:rPr lang="en-US" sz="2800" baseline="-25000" dirty="0">
                          <a:effectLst/>
                          <a:latin typeface="Times New Roman" panose="02020603050405020304" pitchFamily="18" charset="0"/>
                          <a:cs typeface="Times New Roman" panose="02020603050405020304" pitchFamily="18" charset="0"/>
                        </a:rPr>
                        <a:t>0</a:t>
                      </a:r>
                      <a:r>
                        <a:rPr lang="en-US" sz="2800" dirty="0">
                          <a:effectLst/>
                          <a:latin typeface="Times New Roman" panose="02020603050405020304" pitchFamily="18" charset="0"/>
                          <a:cs typeface="Times New Roman" panose="02020603050405020304" pitchFamily="18" charset="0"/>
                        </a:rPr>
                        <a:t>)</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3461108"/>
                  </a:ext>
                </a:extLst>
              </a:tr>
            </a:tbl>
          </a:graphicData>
        </a:graphic>
      </p:graphicFrame>
      <p:sp>
        <p:nvSpPr>
          <p:cNvPr id="5" name="Content Placeholder 3">
            <a:extLst>
              <a:ext uri="{FF2B5EF4-FFF2-40B4-BE49-F238E27FC236}">
                <a16:creationId xmlns:a16="http://schemas.microsoft.com/office/drawing/2014/main" id="{857C129A-8605-41D3-84B3-7ADB0BC61221}"/>
              </a:ext>
            </a:extLst>
          </p:cNvPr>
          <p:cNvSpPr txBox="1">
            <a:spLocks/>
          </p:cNvSpPr>
          <p:nvPr/>
        </p:nvSpPr>
        <p:spPr>
          <a:xfrm>
            <a:off x="124640" y="4852416"/>
            <a:ext cx="11860096" cy="172679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Өмнөх өгөгдлүүд хуучин хөрөнгийг үргэлжлүүлэн ашиглахтай холбоотой алдагдсан боломжийн зардал болно.</a:t>
            </a:r>
          </a:p>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Өгөгдлүүд өмнөх хүснэгтийн өгөгдлүүдтэй ижил бөгөөд хэтийн төлвөөс хамааран (үргэлжлүүлэн ашиглах, эсвэл худалдах гэсэн) зөвхөн тэмдэг өөрчлөгдсөн байгааг анхаарах хэрэгтэй. </a:t>
            </a:r>
          </a:p>
          <a:p>
            <a:pPr algn="just">
              <a:spcBef>
                <a:spcPts val="200"/>
              </a:spcBef>
            </a:pPr>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3966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FA56C-2C97-B5F6-E1A7-C18D804B17DD}"/>
              </a:ext>
            </a:extLst>
          </p:cNvPr>
          <p:cNvSpPr>
            <a:spLocks noGrp="1"/>
          </p:cNvSpPr>
          <p:nvPr>
            <p:ph type="title"/>
          </p:nvPr>
        </p:nvSpPr>
        <p:spPr>
          <a:xfrm>
            <a:off x="131064" y="48133"/>
            <a:ext cx="11829288" cy="488315"/>
          </a:xfrm>
        </p:spPr>
        <p:txBody>
          <a:bodyPr>
            <a:noAutofit/>
          </a:bodyPr>
          <a:lstStyle/>
          <a:p>
            <a:pPr algn="just"/>
            <a:r>
              <a:rPr lang="mn-MN" sz="2700" b="1" dirty="0">
                <a:solidFill>
                  <a:srgbClr val="002060"/>
                </a:solidFill>
                <a:latin typeface="Times New Roman" panose="02020603050405020304" pitchFamily="18" charset="0"/>
                <a:cs typeface="Times New Roman" panose="02020603050405020304" pitchFamily="18" charset="0"/>
              </a:rPr>
              <a:t>Хуучин хөрөнгө болон шинэ хөрөнгөд зориулсан </a:t>
            </a:r>
            <a:r>
              <a:rPr lang="en-US" sz="2700" b="1" dirty="0">
                <a:solidFill>
                  <a:srgbClr val="002060"/>
                </a:solidFill>
                <a:latin typeface="Times New Roman" panose="02020603050405020304" pitchFamily="18" charset="0"/>
                <a:cs typeface="Times New Roman" panose="02020603050405020304" pitchFamily="18" charset="0"/>
              </a:rPr>
              <a:t>EUAC-</a:t>
            </a:r>
            <a:r>
              <a:rPr lang="mn-MN" sz="2700" b="1" dirty="0">
                <a:solidFill>
                  <a:srgbClr val="002060"/>
                </a:solidFill>
                <a:latin typeface="Times New Roman" panose="02020603050405020304" pitchFamily="18" charset="0"/>
                <a:cs typeface="Times New Roman" panose="02020603050405020304" pitchFamily="18" charset="0"/>
              </a:rPr>
              <a:t>ын нийтлэг загвар</a:t>
            </a:r>
            <a:endParaRPr lang="en-US" sz="2700" b="1" dirty="0">
              <a:solidFill>
                <a:srgbClr val="00206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8E281621-0AAF-4F60-B98F-6EED0FB5B172}"/>
              </a:ext>
            </a:extLst>
          </p:cNvPr>
          <p:cNvPicPr>
            <a:picLocks noGrp="1"/>
          </p:cNvPicPr>
          <p:nvPr>
            <p:ph idx="1"/>
          </p:nvPr>
        </p:nvPicPr>
        <p:blipFill rotWithShape="1">
          <a:blip r:embed="rId3" cstate="print">
            <a:extLst>
              <a:ext uri="{28A0092B-C50C-407E-A947-70E740481C1C}">
                <a14:useLocalDpi xmlns:a14="http://schemas.microsoft.com/office/drawing/2010/main" val="0"/>
              </a:ext>
            </a:extLst>
          </a:blip>
          <a:srcRect r="3546" b="7419"/>
          <a:stretch/>
        </p:blipFill>
        <p:spPr bwMode="auto">
          <a:xfrm>
            <a:off x="131064" y="536448"/>
            <a:ext cx="11929872" cy="607161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28468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EB99C4FA-7FF9-AF4B-1EC1-2FF43FDE8B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43467" y="1520612"/>
            <a:ext cx="10905066" cy="3816774"/>
          </a:xfrm>
          <a:prstGeom prst="rect">
            <a:avLst/>
          </a:prstGeom>
          <a:ln>
            <a:noFill/>
          </a:ln>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2642163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CE_TITLE" val="S.EEM101_Lecture13_2023-24.A_ByTs.B_2023.11.18"/>
  <p:tag name="ISPRING_ULTRA_SCORM_COURSE_ID" val="B48D505F-10C7-4CC9-97FE-74E01175425C"/>
  <p:tag name="ISPRING_CMI5_LAUNCH_METHOD" val="any window"/>
  <p:tag name="ISPRINGCLOUDFOLDERID" val="1"/>
  <p:tag name="ISPRINGONLINEFOLDERID" val="1"/>
  <p:tag name="ISPRING_OUTPUT_FOLDER" val="[[&quot;\uFFFD12\u001E{5CDD3A6F-82E0-49E5-B476-77BB91554EEC}&quot;,&quot;C:\\Users\\217\\Download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PASSING_SCORE" val="0.000000"/>
  <p:tag name="ISPRING_CURRENT_PLAYER_ID" val="universal"/>
  <p:tag name="ISPRING_PRESENTATION_TITLE" val="S.EEM101_Lecture13_2023-24.A_ByTs.B_2023.11.18"/>
  <p:tag name="ISPRING_FIRST_PUBLISH" val="1"/>
  <p:tag name="ISPRING_SCORM_ENDPOINT" val="&lt;endpoint&gt;&lt;enable&gt;0&lt;/enable&gt;&lt;lrs&gt;http://&lt;/lrs&gt;&lt;auth&gt;0&lt;/auth&gt;&lt;login&gt;&lt;/login&gt;&lt;password&gt;&lt;/password&gt;&lt;key&gt;&lt;/key&gt;&lt;name&gt;&lt;/name&gt;&lt;email&gt;&lt;/email&gt;&lt;/endpoint&gt;&#10;"/>
  <p:tag name="ISPRING_SCORM_RATE_QUIZZES"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5196</TotalTime>
  <Words>2446</Words>
  <Application>Microsoft Office PowerPoint</Application>
  <PresentationFormat>Widescreen</PresentationFormat>
  <Paragraphs>237</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Cambria Math</vt:lpstr>
      <vt:lpstr>Times New Roman</vt:lpstr>
      <vt:lpstr>Office Theme</vt:lpstr>
      <vt:lpstr>ЛЕКЦ №13 Хөрөнгийн шинэчлэн сайжруулалт болон засвар үйлчилгээний шинжилгээ</vt:lpstr>
      <vt:lpstr>Хичээлийн суралцахуйн үр дүнгүүд  Оюутан энэ сэдвийг судалснаар дараах ур чадваруудтай болсон байна. </vt:lpstr>
      <vt:lpstr>Хичээлийн агуулга </vt:lpstr>
      <vt:lpstr>Шинэчлэн сайжруулалт</vt:lpstr>
      <vt:lpstr>Шинэчлэн сайжруулалт</vt:lpstr>
      <vt:lpstr>Хөрөнгийн шинэчлэлт хийх хэрэгцээ, шалтгаан</vt:lpstr>
      <vt:lpstr>Засвар үйлчилгээний төрлүүд</vt:lpstr>
      <vt:lpstr>Засвар үйлчилгээний төрлүүд</vt:lpstr>
      <vt:lpstr>Шинэчлэн сайжруулалтын төрлүүд</vt:lpstr>
      <vt:lpstr>Хөрөнгийн ашиглалтын янз бүрийн төрлүүдийн ялгаа</vt:lpstr>
      <vt:lpstr>Хөрөнгийн шинэчлэлтийн шинжилгээнд нөлөөлөх хүчин зүйлс</vt:lpstr>
      <vt:lpstr>1. Өмнөх үнэлгээний алдаа</vt:lpstr>
      <vt:lpstr>2. Нөхөгдөшгүй зардлууд</vt:lpstr>
      <vt:lpstr>3. Хуучин хөрөнгийн хөрөнгө оруулалтын үнэ ба хөндлөнгийн үнэлгээ</vt:lpstr>
      <vt:lpstr>3. Хуучин хөрөнгийн хөрөнгө оруулалтын үнэ ба хөндлөнгийн үнэлгээ</vt:lpstr>
      <vt:lpstr>PowerPoint Presentation</vt:lpstr>
      <vt:lpstr>Хуучин ба шинэ хөрөнгийг харьцуулах аргачлал</vt:lpstr>
      <vt:lpstr>Хуучин ба шинэ хөрөнгийг харьцуулах аргачлал</vt:lpstr>
      <vt:lpstr>Хуучин ба шинэ хөрөнгийг харьцуулах аргачлал</vt:lpstr>
      <vt:lpstr>Хуучин ба шинэ хөрөнгийг харьцуулах аргачлал</vt:lpstr>
      <vt:lpstr>Татварын дараах эдийн засгийн ашиглалтын хугацаа</vt:lpstr>
      <vt:lpstr>Татварын дараах эдийн засгийн ашиглалтын хугацаа</vt:lpstr>
      <vt:lpstr>Хуучин хөрөнгийн татварын дараах хөрөнгө оруулалтын үнэ цэнийг тооцоолох ерөнхий аргачлал</vt:lpstr>
      <vt:lpstr>Хуучин хөрөнгийн татварын дараах хөрөнгө оруулалтын үнэ цэнийг тооцоолох ерөнхий аргачлал</vt:lpstr>
      <vt:lpstr>Хуучин хөрөнгө болон шинэ хөрөнгөд зориулсан EUAC-ын нийтлэг загвар</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S.EEM101_Lecture13_2023-24.A_ByTs.B_2023.11.18</dc:title>
  <dc:creator>Oyu Chuluun</dc:creator>
  <cp:lastModifiedBy>Nominjin Tsogtbayar</cp:lastModifiedBy>
  <cp:revision>190</cp:revision>
  <cp:lastPrinted>2023-11-01T06:47:32Z</cp:lastPrinted>
  <dcterms:created xsi:type="dcterms:W3CDTF">2023-09-05T14:21:28Z</dcterms:created>
  <dcterms:modified xsi:type="dcterms:W3CDTF">2025-12-05T06:30:01Z</dcterms:modified>
</cp:coreProperties>
</file>