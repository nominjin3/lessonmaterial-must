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388" r:id="rId2"/>
    <p:sldId id="348" r:id="rId3"/>
    <p:sldId id="257" r:id="rId4"/>
    <p:sldId id="349" r:id="rId5"/>
    <p:sldId id="350" r:id="rId6"/>
    <p:sldId id="351" r:id="rId7"/>
    <p:sldId id="352" r:id="rId8"/>
    <p:sldId id="353" r:id="rId9"/>
    <p:sldId id="354" r:id="rId10"/>
    <p:sldId id="355" r:id="rId11"/>
    <p:sldId id="356" r:id="rId12"/>
    <p:sldId id="357" r:id="rId13"/>
    <p:sldId id="358" r:id="rId14"/>
    <p:sldId id="359" r:id="rId15"/>
    <p:sldId id="360" r:id="rId16"/>
    <p:sldId id="361" r:id="rId17"/>
    <p:sldId id="362" r:id="rId18"/>
    <p:sldId id="363" r:id="rId19"/>
    <p:sldId id="364" r:id="rId20"/>
    <p:sldId id="365" r:id="rId21"/>
    <p:sldId id="366" r:id="rId22"/>
    <p:sldId id="367" r:id="rId23"/>
    <p:sldId id="368" r:id="rId24"/>
    <p:sldId id="369" r:id="rId25"/>
    <p:sldId id="370" r:id="rId26"/>
    <p:sldId id="371" r:id="rId27"/>
    <p:sldId id="372" r:id="rId28"/>
    <p:sldId id="373" r:id="rId29"/>
    <p:sldId id="374" r:id="rId30"/>
    <p:sldId id="375" r:id="rId31"/>
    <p:sldId id="376" r:id="rId32"/>
    <p:sldId id="377" r:id="rId33"/>
    <p:sldId id="378" r:id="rId34"/>
    <p:sldId id="379" r:id="rId35"/>
    <p:sldId id="380" r:id="rId36"/>
    <p:sldId id="381" r:id="rId37"/>
    <p:sldId id="382" r:id="rId38"/>
    <p:sldId id="383" r:id="rId39"/>
    <p:sldId id="385" r:id="rId40"/>
    <p:sldId id="386" r:id="rId41"/>
    <p:sldId id="286" r:id="rId42"/>
  </p:sldIdLst>
  <p:sldSz cx="12192000" cy="6858000"/>
  <p:notesSz cx="7315200" cy="96012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0FF65C-CA29-52B5-E688-B9F869745318}" name="T B" initials="TB" userId="cc74087b7d702b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11" autoAdjust="0"/>
    <p:restoredTop sz="72310" autoAdjust="0"/>
  </p:normalViewPr>
  <p:slideViewPr>
    <p:cSldViewPr snapToGrid="0">
      <p:cViewPr varScale="1">
        <p:scale>
          <a:sx n="59" d="100"/>
          <a:sy n="59" d="100"/>
        </p:scale>
        <p:origin x="1627" y="10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minjin Tsogtbayar" userId="c94a63f096c67c9e" providerId="LiveId" clId="{1D03B473-5C41-4C92-89E8-3498AA8364B6}"/>
    <pc:docChg chg="modSld">
      <pc:chgData name="Nominjin Tsogtbayar" userId="c94a63f096c67c9e" providerId="LiveId" clId="{1D03B473-5C41-4C92-89E8-3498AA8364B6}" dt="2025-12-06T07:30:02.460" v="0" actId="1076"/>
      <pc:docMkLst>
        <pc:docMk/>
      </pc:docMkLst>
      <pc:sldChg chg="modSp mod">
        <pc:chgData name="Nominjin Tsogtbayar" userId="c94a63f096c67c9e" providerId="LiveId" clId="{1D03B473-5C41-4C92-89E8-3498AA8364B6}" dt="2025-12-06T07:30:02.460" v="0" actId="1076"/>
        <pc:sldMkLst>
          <pc:docMk/>
          <pc:sldMk cId="1290155707" sldId="354"/>
        </pc:sldMkLst>
        <pc:picChg chg="mod">
          <ac:chgData name="Nominjin Tsogtbayar" userId="c94a63f096c67c9e" providerId="LiveId" clId="{1D03B473-5C41-4C92-89E8-3498AA8364B6}" dt="2025-12-06T07:30:02.460" v="0" actId="1076"/>
          <ac:picMkLst>
            <pc:docMk/>
            <pc:sldMk cId="1290155707" sldId="354"/>
            <ac:picMk id="10" creationId="{29BAE8E4-8A95-FE90-7EC3-B35A3193370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4C622D43-C65E-428A-89C7-8C19C0C28B05}" type="datetimeFigureOut">
              <a:rPr lang="en-US" smtClean="0"/>
              <a:t>12/6/2025</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E4CFEF27-99CE-459F-8C01-F12FB244F5E1}" type="slidenum">
              <a:rPr lang="en-US" smtClean="0"/>
              <a:t>‹#›</a:t>
            </a:fld>
            <a:endParaRPr lang="en-US" dirty="0"/>
          </a:p>
        </p:txBody>
      </p:sp>
    </p:spTree>
    <p:extLst>
      <p:ext uri="{BB962C8B-B14F-4D97-AF65-F5344CB8AC3E}">
        <p14:creationId xmlns:p14="http://schemas.microsoft.com/office/powerpoint/2010/main" val="346522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EDF642-B262-430D-B430-4F661DAD0EEB}" type="slidenum">
              <a:rPr lang="en-US" smtClean="0"/>
              <a:pPr/>
              <a:t>1</a:t>
            </a:fld>
            <a:endParaRPr lang="en-US"/>
          </a:p>
        </p:txBody>
      </p:sp>
    </p:spTree>
    <p:extLst>
      <p:ext uri="{BB962C8B-B14F-4D97-AF65-F5344CB8AC3E}">
        <p14:creationId xmlns:p14="http://schemas.microsoft.com/office/powerpoint/2010/main" val="1255196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a:t>
            </a:fld>
            <a:endParaRPr lang="en-US" dirty="0"/>
          </a:p>
        </p:txBody>
      </p:sp>
    </p:spTree>
    <p:extLst>
      <p:ext uri="{BB962C8B-B14F-4D97-AF65-F5344CB8AC3E}">
        <p14:creationId xmlns:p14="http://schemas.microsoft.com/office/powerpoint/2010/main" val="2631483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a:t>
            </a:fld>
            <a:endParaRPr lang="en-US" dirty="0"/>
          </a:p>
        </p:txBody>
      </p:sp>
    </p:spTree>
    <p:extLst>
      <p:ext uri="{BB962C8B-B14F-4D97-AF65-F5344CB8AC3E}">
        <p14:creationId xmlns:p14="http://schemas.microsoft.com/office/powerpoint/2010/main" val="3102104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n-MN" sz="1200" dirty="0">
                <a:solidFill>
                  <a:srgbClr val="002060"/>
                </a:solidFill>
              </a:rPr>
              <a:t>Төсөл нь “projectum" буюу “санаа” гэсэн латин үгнээс гаралтай бөгөөд “proceire” гэсэн үйл үг болж хувирахдаа “ямар нэг зүйлийг урагшлуулах, шидэх» гэсэн утгыг агуулдаг. Харин “project” гэдэг үгийг утгачилбал ямар нэг үйл явдал өрнөхөөс өмнө бий болсон шинэ санал, санаачилга гэж үзэж олно.</a:t>
            </a:r>
            <a:endParaRPr lang="en-US" sz="1200" dirty="0">
              <a:solidFill>
                <a:srgbClr val="002060"/>
              </a:solidFill>
            </a:endParaRP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4</a:t>
            </a:fld>
            <a:endParaRPr lang="en-US" dirty="0"/>
          </a:p>
        </p:txBody>
      </p:sp>
    </p:spTree>
    <p:extLst>
      <p:ext uri="{BB962C8B-B14F-4D97-AF65-F5344CB8AC3E}">
        <p14:creationId xmlns:p14="http://schemas.microsoft.com/office/powerpoint/2010/main" val="4035038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5</a:t>
            </a:fld>
            <a:endParaRPr lang="en-US" dirty="0"/>
          </a:p>
        </p:txBody>
      </p:sp>
    </p:spTree>
    <p:extLst>
      <p:ext uri="{BB962C8B-B14F-4D97-AF65-F5344CB8AC3E}">
        <p14:creationId xmlns:p14="http://schemas.microsoft.com/office/powerpoint/2010/main" val="1316754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6</a:t>
            </a:fld>
            <a:endParaRPr lang="en-US" dirty="0"/>
          </a:p>
        </p:txBody>
      </p:sp>
    </p:spTree>
    <p:extLst>
      <p:ext uri="{BB962C8B-B14F-4D97-AF65-F5344CB8AC3E}">
        <p14:creationId xmlns:p14="http://schemas.microsoft.com/office/powerpoint/2010/main" val="1930234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7</a:t>
            </a:fld>
            <a:endParaRPr lang="en-US" dirty="0"/>
          </a:p>
        </p:txBody>
      </p:sp>
    </p:spTree>
    <p:extLst>
      <p:ext uri="{BB962C8B-B14F-4D97-AF65-F5344CB8AC3E}">
        <p14:creationId xmlns:p14="http://schemas.microsoft.com/office/powerpoint/2010/main" val="2204172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8</a:t>
            </a:fld>
            <a:endParaRPr lang="en-US" dirty="0"/>
          </a:p>
        </p:txBody>
      </p:sp>
    </p:spTree>
    <p:extLst>
      <p:ext uri="{BB962C8B-B14F-4D97-AF65-F5344CB8AC3E}">
        <p14:creationId xmlns:p14="http://schemas.microsoft.com/office/powerpoint/2010/main" val="3065162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Санаачлах</a:t>
            </a:r>
          </a:p>
          <a:p>
            <a:r>
              <a:rPr lang="mn-MN" dirty="0"/>
              <a:t>Төлөвлөх</a:t>
            </a:r>
          </a:p>
          <a:p>
            <a:r>
              <a:rPr lang="mn-MN" dirty="0"/>
              <a:t>Гүйцэтгэх</a:t>
            </a:r>
          </a:p>
          <a:p>
            <a:r>
              <a:rPr lang="mn-MN" dirty="0"/>
              <a:t>Хянах</a:t>
            </a:r>
          </a:p>
          <a:p>
            <a:r>
              <a:rPr lang="mn-MN" dirty="0"/>
              <a:t>Удирдах</a:t>
            </a:r>
          </a:p>
          <a:p>
            <a:r>
              <a:rPr lang="mn-MN" dirty="0"/>
              <a:t>Дуусгах </a:t>
            </a:r>
          </a:p>
          <a:p>
            <a:pPr marL="0" indent="0">
              <a:buNone/>
            </a:pPr>
            <a:r>
              <a:rPr lang="mn-MN" dirty="0"/>
              <a:t>Гэсэн төслийн удирдлагын үйл явцуудыг нэгтгэн хэрэглэснээр биелэгддэг.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9</a:t>
            </a:fld>
            <a:endParaRPr lang="en-US" dirty="0"/>
          </a:p>
        </p:txBody>
      </p:sp>
    </p:spTree>
    <p:extLst>
      <p:ext uri="{BB962C8B-B14F-4D97-AF65-F5344CB8AC3E}">
        <p14:creationId xmlns:p14="http://schemas.microsoft.com/office/powerpoint/2010/main" val="66839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10</a:t>
            </a:fld>
            <a:endParaRPr lang="en-US" dirty="0"/>
          </a:p>
        </p:txBody>
      </p:sp>
    </p:spTree>
    <p:extLst>
      <p:ext uri="{BB962C8B-B14F-4D97-AF65-F5344CB8AC3E}">
        <p14:creationId xmlns:p14="http://schemas.microsoft.com/office/powerpoint/2010/main" val="3858074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11</a:t>
            </a:fld>
            <a:endParaRPr lang="en-US" dirty="0"/>
          </a:p>
        </p:txBody>
      </p:sp>
    </p:spTree>
    <p:extLst>
      <p:ext uri="{BB962C8B-B14F-4D97-AF65-F5344CB8AC3E}">
        <p14:creationId xmlns:p14="http://schemas.microsoft.com/office/powerpoint/2010/main" val="2048930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12</a:t>
            </a:fld>
            <a:endParaRPr lang="en-US" dirty="0"/>
          </a:p>
        </p:txBody>
      </p:sp>
    </p:spTree>
    <p:extLst>
      <p:ext uri="{BB962C8B-B14F-4D97-AF65-F5344CB8AC3E}">
        <p14:creationId xmlns:p14="http://schemas.microsoft.com/office/powerpoint/2010/main" val="1275899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13</a:t>
            </a:fld>
            <a:endParaRPr lang="en-US" dirty="0"/>
          </a:p>
        </p:txBody>
      </p:sp>
    </p:spTree>
    <p:extLst>
      <p:ext uri="{BB962C8B-B14F-4D97-AF65-F5344CB8AC3E}">
        <p14:creationId xmlns:p14="http://schemas.microsoft.com/office/powerpoint/2010/main" val="1543963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14</a:t>
            </a:fld>
            <a:endParaRPr lang="en-US" dirty="0"/>
          </a:p>
        </p:txBody>
      </p:sp>
    </p:spTree>
    <p:extLst>
      <p:ext uri="{BB962C8B-B14F-4D97-AF65-F5344CB8AC3E}">
        <p14:creationId xmlns:p14="http://schemas.microsoft.com/office/powerpoint/2010/main" val="175966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15</a:t>
            </a:fld>
            <a:endParaRPr lang="en-US" dirty="0"/>
          </a:p>
        </p:txBody>
      </p:sp>
    </p:spTree>
    <p:extLst>
      <p:ext uri="{BB962C8B-B14F-4D97-AF65-F5344CB8AC3E}">
        <p14:creationId xmlns:p14="http://schemas.microsoft.com/office/powerpoint/2010/main" val="2438404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t>Цаг хугацаа</a:t>
            </a:r>
          </a:p>
          <a:p>
            <a:r>
              <a:rPr lang="mn-MN" dirty="0"/>
              <a:t>Нөөц </a:t>
            </a:r>
            <a:r>
              <a:rPr lang="en-US" dirty="0"/>
              <a:t>(</a:t>
            </a:r>
            <a:r>
              <a:rPr lang="mn-MN" dirty="0"/>
              <a:t>төсөв, зардал</a:t>
            </a:r>
            <a:r>
              <a:rPr lang="en-US" dirty="0"/>
              <a:t>) </a:t>
            </a:r>
            <a:endParaRPr lang="mn-MN" dirty="0"/>
          </a:p>
          <a:p>
            <a:r>
              <a:rPr lang="mn-MN" dirty="0"/>
              <a:t>Хамрах хүрээ </a:t>
            </a:r>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16</a:t>
            </a:fld>
            <a:endParaRPr lang="en-US" dirty="0"/>
          </a:p>
        </p:txBody>
      </p:sp>
    </p:spTree>
    <p:extLst>
      <p:ext uri="{BB962C8B-B14F-4D97-AF65-F5344CB8AC3E}">
        <p14:creationId xmlns:p14="http://schemas.microsoft.com/office/powerpoint/2010/main" val="14191959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mn-MN" dirty="0">
                <a:solidFill>
                  <a:srgbClr val="002060"/>
                </a:solidFill>
              </a:rPr>
              <a:t>Төслийн бусад оролцогчид</a:t>
            </a:r>
          </a:p>
          <a:p>
            <a:pPr marL="171450" indent="-171450">
              <a:buFont typeface="Arial" panose="020B0604020202020204" pitchFamily="34" charset="0"/>
              <a:buChar char="•"/>
            </a:pPr>
            <a:r>
              <a:rPr lang="mn-MN" sz="1200" dirty="0">
                <a:solidFill>
                  <a:srgbClr val="002060"/>
                </a:solidFill>
              </a:rPr>
              <a:t>Өрсөлдөгчид</a:t>
            </a:r>
          </a:p>
          <a:p>
            <a:pPr marL="171450" indent="-171450">
              <a:buFont typeface="Arial" panose="020B0604020202020204" pitchFamily="34" charset="0"/>
              <a:buChar char="•"/>
            </a:pPr>
            <a:r>
              <a:rPr lang="mn-MN" sz="1200" dirty="0">
                <a:solidFill>
                  <a:srgbClr val="002060"/>
                </a:solidFill>
              </a:rPr>
              <a:t>Гүйцэтгэгчид</a:t>
            </a:r>
          </a:p>
          <a:p>
            <a:pPr marL="171450" indent="-171450">
              <a:buFont typeface="Arial" panose="020B0604020202020204" pitchFamily="34" charset="0"/>
              <a:buChar char="•"/>
            </a:pPr>
            <a:r>
              <a:rPr lang="mn-MN" sz="1200" dirty="0">
                <a:solidFill>
                  <a:srgbClr val="002060"/>
                </a:solidFill>
              </a:rPr>
              <a:t>Засаг захиргааны байгууллагууд</a:t>
            </a:r>
          </a:p>
          <a:p>
            <a:pPr marL="171450" indent="-171450">
              <a:buFont typeface="Arial" panose="020B0604020202020204" pitchFamily="34" charset="0"/>
              <a:buChar char="•"/>
            </a:pPr>
            <a:r>
              <a:rPr lang="mn-MN" sz="1200" dirty="0">
                <a:solidFill>
                  <a:srgbClr val="002060"/>
                </a:solidFill>
              </a:rPr>
              <a:t>Лиценз олгогч байгууллагууд</a:t>
            </a:r>
          </a:p>
          <a:p>
            <a:pPr marL="171450" indent="-171450">
              <a:buFont typeface="Arial" panose="020B0604020202020204" pitchFamily="34" charset="0"/>
              <a:buChar char="•"/>
            </a:pPr>
            <a:r>
              <a:rPr lang="mn-MN" sz="1200" dirty="0">
                <a:solidFill>
                  <a:srgbClr val="002060"/>
                </a:solidFill>
              </a:rPr>
              <a:t>Нутгийн иргэд</a:t>
            </a:r>
          </a:p>
          <a:p>
            <a:pPr marL="171450" indent="-171450">
              <a:buFont typeface="Arial" panose="020B0604020202020204" pitchFamily="34" charset="0"/>
              <a:buChar char="•"/>
            </a:pPr>
            <a:r>
              <a:rPr lang="mn-MN" sz="1200" dirty="0">
                <a:solidFill>
                  <a:srgbClr val="002060"/>
                </a:solidFill>
              </a:rPr>
              <a:t>Олон нийтийн мэдээллийн хэрэгсэл</a:t>
            </a:r>
          </a:p>
          <a:p>
            <a:endParaRPr lang="en-US" dirty="0"/>
          </a:p>
        </p:txBody>
      </p:sp>
      <p:sp>
        <p:nvSpPr>
          <p:cNvPr id="4" name="Slide Number Placeholder 3"/>
          <p:cNvSpPr>
            <a:spLocks noGrp="1"/>
          </p:cNvSpPr>
          <p:nvPr>
            <p:ph type="sldNum" sz="quarter" idx="5"/>
          </p:nvPr>
        </p:nvSpPr>
        <p:spPr/>
        <p:txBody>
          <a:bodyPr/>
          <a:lstStyle/>
          <a:p>
            <a:fld id="{E4CFEF27-99CE-459F-8C01-F12FB244F5E1}" type="slidenum">
              <a:rPr lang="en-US" smtClean="0"/>
              <a:t>17</a:t>
            </a:fld>
            <a:endParaRPr lang="en-US" dirty="0"/>
          </a:p>
        </p:txBody>
      </p:sp>
    </p:spTree>
    <p:extLst>
      <p:ext uri="{BB962C8B-B14F-4D97-AF65-F5344CB8AC3E}">
        <p14:creationId xmlns:p14="http://schemas.microsoft.com/office/powerpoint/2010/main" val="29267550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18</a:t>
            </a:fld>
            <a:endParaRPr lang="en-US" dirty="0"/>
          </a:p>
        </p:txBody>
      </p:sp>
    </p:spTree>
    <p:extLst>
      <p:ext uri="{BB962C8B-B14F-4D97-AF65-F5344CB8AC3E}">
        <p14:creationId xmlns:p14="http://schemas.microsoft.com/office/powerpoint/2010/main" val="2494495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19</a:t>
            </a:fld>
            <a:endParaRPr lang="en-US" dirty="0"/>
          </a:p>
        </p:txBody>
      </p:sp>
    </p:spTree>
    <p:extLst>
      <p:ext uri="{BB962C8B-B14F-4D97-AF65-F5344CB8AC3E}">
        <p14:creationId xmlns:p14="http://schemas.microsoft.com/office/powerpoint/2010/main" val="2136825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20</a:t>
            </a:fld>
            <a:endParaRPr lang="en-US" dirty="0"/>
          </a:p>
        </p:txBody>
      </p:sp>
    </p:spTree>
    <p:extLst>
      <p:ext uri="{BB962C8B-B14F-4D97-AF65-F5344CB8AC3E}">
        <p14:creationId xmlns:p14="http://schemas.microsoft.com/office/powerpoint/2010/main" val="3666087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21</a:t>
            </a:fld>
            <a:endParaRPr lang="en-US" dirty="0"/>
          </a:p>
        </p:txBody>
      </p:sp>
    </p:spTree>
    <p:extLst>
      <p:ext uri="{BB962C8B-B14F-4D97-AF65-F5344CB8AC3E}">
        <p14:creationId xmlns:p14="http://schemas.microsoft.com/office/powerpoint/2010/main" val="872028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22</a:t>
            </a:fld>
            <a:endParaRPr lang="en-US" dirty="0"/>
          </a:p>
        </p:txBody>
      </p:sp>
    </p:spTree>
    <p:extLst>
      <p:ext uri="{BB962C8B-B14F-4D97-AF65-F5344CB8AC3E}">
        <p14:creationId xmlns:p14="http://schemas.microsoft.com/office/powerpoint/2010/main" val="1624711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23</a:t>
            </a:fld>
            <a:endParaRPr lang="en-US" dirty="0"/>
          </a:p>
        </p:txBody>
      </p:sp>
    </p:spTree>
    <p:extLst>
      <p:ext uri="{BB962C8B-B14F-4D97-AF65-F5344CB8AC3E}">
        <p14:creationId xmlns:p14="http://schemas.microsoft.com/office/powerpoint/2010/main" val="21212052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24</a:t>
            </a:fld>
            <a:endParaRPr lang="en-US" dirty="0"/>
          </a:p>
        </p:txBody>
      </p:sp>
    </p:spTree>
    <p:extLst>
      <p:ext uri="{BB962C8B-B14F-4D97-AF65-F5344CB8AC3E}">
        <p14:creationId xmlns:p14="http://schemas.microsoft.com/office/powerpoint/2010/main" val="1298906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25</a:t>
            </a:fld>
            <a:endParaRPr lang="en-US" dirty="0"/>
          </a:p>
        </p:txBody>
      </p:sp>
    </p:spTree>
    <p:extLst>
      <p:ext uri="{BB962C8B-B14F-4D97-AF65-F5344CB8AC3E}">
        <p14:creationId xmlns:p14="http://schemas.microsoft.com/office/powerpoint/2010/main" val="42236723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26</a:t>
            </a:fld>
            <a:endParaRPr lang="en-US" dirty="0"/>
          </a:p>
        </p:txBody>
      </p:sp>
    </p:spTree>
    <p:extLst>
      <p:ext uri="{BB962C8B-B14F-4D97-AF65-F5344CB8AC3E}">
        <p14:creationId xmlns:p14="http://schemas.microsoft.com/office/powerpoint/2010/main" val="26734541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27</a:t>
            </a:fld>
            <a:endParaRPr lang="en-US" dirty="0"/>
          </a:p>
        </p:txBody>
      </p:sp>
    </p:spTree>
    <p:extLst>
      <p:ext uri="{BB962C8B-B14F-4D97-AF65-F5344CB8AC3E}">
        <p14:creationId xmlns:p14="http://schemas.microsoft.com/office/powerpoint/2010/main" val="21664144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28</a:t>
            </a:fld>
            <a:endParaRPr lang="en-US" dirty="0"/>
          </a:p>
        </p:txBody>
      </p:sp>
    </p:spTree>
    <p:extLst>
      <p:ext uri="{BB962C8B-B14F-4D97-AF65-F5344CB8AC3E}">
        <p14:creationId xmlns:p14="http://schemas.microsoft.com/office/powerpoint/2010/main" val="15236592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29</a:t>
            </a:fld>
            <a:endParaRPr lang="en-US" dirty="0"/>
          </a:p>
        </p:txBody>
      </p:sp>
    </p:spTree>
    <p:extLst>
      <p:ext uri="{BB962C8B-B14F-4D97-AF65-F5344CB8AC3E}">
        <p14:creationId xmlns:p14="http://schemas.microsoft.com/office/powerpoint/2010/main" val="38269712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30</a:t>
            </a:fld>
            <a:endParaRPr lang="en-US" dirty="0"/>
          </a:p>
        </p:txBody>
      </p:sp>
    </p:spTree>
    <p:extLst>
      <p:ext uri="{BB962C8B-B14F-4D97-AF65-F5344CB8AC3E}">
        <p14:creationId xmlns:p14="http://schemas.microsoft.com/office/powerpoint/2010/main" val="1459872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31</a:t>
            </a:fld>
            <a:endParaRPr lang="en-US" dirty="0"/>
          </a:p>
        </p:txBody>
      </p:sp>
    </p:spTree>
    <p:extLst>
      <p:ext uri="{BB962C8B-B14F-4D97-AF65-F5344CB8AC3E}">
        <p14:creationId xmlns:p14="http://schemas.microsoft.com/office/powerpoint/2010/main" val="1404774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32</a:t>
            </a:fld>
            <a:endParaRPr lang="en-US" dirty="0"/>
          </a:p>
        </p:txBody>
      </p:sp>
    </p:spTree>
    <p:extLst>
      <p:ext uri="{BB962C8B-B14F-4D97-AF65-F5344CB8AC3E}">
        <p14:creationId xmlns:p14="http://schemas.microsoft.com/office/powerpoint/2010/main" val="28641768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33</a:t>
            </a:fld>
            <a:endParaRPr lang="en-US" dirty="0"/>
          </a:p>
        </p:txBody>
      </p:sp>
    </p:spTree>
    <p:extLst>
      <p:ext uri="{BB962C8B-B14F-4D97-AF65-F5344CB8AC3E}">
        <p14:creationId xmlns:p14="http://schemas.microsoft.com/office/powerpoint/2010/main" val="6646244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RACI – </a:t>
            </a:r>
            <a:r>
              <a:rPr lang="mn-MN" dirty="0"/>
              <a:t>Үүрэг, хариуцлагын матриц</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 – Responsible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 Accountable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 - Consulted</a:t>
            </a:r>
            <a:endParaRPr lang="mn-M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Informed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RACISD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 – Support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 - Drive</a:t>
            </a:r>
          </a:p>
        </p:txBody>
      </p:sp>
      <p:sp>
        <p:nvSpPr>
          <p:cNvPr id="4" name="Slide Number Placeholder 3"/>
          <p:cNvSpPr>
            <a:spLocks noGrp="1"/>
          </p:cNvSpPr>
          <p:nvPr>
            <p:ph type="sldNum" sz="quarter" idx="5"/>
          </p:nvPr>
        </p:nvSpPr>
        <p:spPr/>
        <p:txBody>
          <a:bodyPr/>
          <a:lstStyle/>
          <a:p>
            <a:fld id="{E4CFEF27-99CE-459F-8C01-F12FB244F5E1}" type="slidenum">
              <a:rPr lang="en-US" smtClean="0"/>
              <a:t>34</a:t>
            </a:fld>
            <a:endParaRPr lang="en-US" dirty="0"/>
          </a:p>
        </p:txBody>
      </p:sp>
    </p:spTree>
    <p:extLst>
      <p:ext uri="{BB962C8B-B14F-4D97-AF65-F5344CB8AC3E}">
        <p14:creationId xmlns:p14="http://schemas.microsoft.com/office/powerpoint/2010/main" val="6703961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35</a:t>
            </a:fld>
            <a:endParaRPr lang="en-US" dirty="0"/>
          </a:p>
        </p:txBody>
      </p:sp>
    </p:spTree>
    <p:extLst>
      <p:ext uri="{BB962C8B-B14F-4D97-AF65-F5344CB8AC3E}">
        <p14:creationId xmlns:p14="http://schemas.microsoft.com/office/powerpoint/2010/main" val="33594489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36</a:t>
            </a:fld>
            <a:endParaRPr lang="en-US" dirty="0"/>
          </a:p>
        </p:txBody>
      </p:sp>
    </p:spTree>
    <p:extLst>
      <p:ext uri="{BB962C8B-B14F-4D97-AF65-F5344CB8AC3E}">
        <p14:creationId xmlns:p14="http://schemas.microsoft.com/office/powerpoint/2010/main" val="13382438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37</a:t>
            </a:fld>
            <a:endParaRPr lang="en-US" dirty="0"/>
          </a:p>
        </p:txBody>
      </p:sp>
    </p:spTree>
    <p:extLst>
      <p:ext uri="{BB962C8B-B14F-4D97-AF65-F5344CB8AC3E}">
        <p14:creationId xmlns:p14="http://schemas.microsoft.com/office/powerpoint/2010/main" val="7466453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38</a:t>
            </a:fld>
            <a:endParaRPr lang="en-US" dirty="0"/>
          </a:p>
        </p:txBody>
      </p:sp>
    </p:spTree>
    <p:extLst>
      <p:ext uri="{BB962C8B-B14F-4D97-AF65-F5344CB8AC3E}">
        <p14:creationId xmlns:p14="http://schemas.microsoft.com/office/powerpoint/2010/main" val="20985998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39</a:t>
            </a:fld>
            <a:endParaRPr lang="en-US" dirty="0"/>
          </a:p>
        </p:txBody>
      </p:sp>
    </p:spTree>
    <p:extLst>
      <p:ext uri="{BB962C8B-B14F-4D97-AF65-F5344CB8AC3E}">
        <p14:creationId xmlns:p14="http://schemas.microsoft.com/office/powerpoint/2010/main" val="33520952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40</a:t>
            </a:fld>
            <a:endParaRPr lang="en-US" dirty="0"/>
          </a:p>
        </p:txBody>
      </p:sp>
    </p:spTree>
    <p:extLst>
      <p:ext uri="{BB962C8B-B14F-4D97-AF65-F5344CB8AC3E}">
        <p14:creationId xmlns:p14="http://schemas.microsoft.com/office/powerpoint/2010/main" val="374744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4CFEF27-99CE-459F-8C01-F12FB244F5E1}" type="slidenum">
              <a:rPr lang="en-US" smtClean="0"/>
              <a:t>41</a:t>
            </a:fld>
            <a:endParaRPr lang="en-US" dirty="0"/>
          </a:p>
        </p:txBody>
      </p:sp>
    </p:spTree>
    <p:extLst>
      <p:ext uri="{BB962C8B-B14F-4D97-AF65-F5344CB8AC3E}">
        <p14:creationId xmlns:p14="http://schemas.microsoft.com/office/powerpoint/2010/main" val="3807099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E7D8C-4D35-6BE7-8913-EE48165F65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E3668D-C2DB-80DC-A1DD-F60A137AF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3D1920-FED3-D39C-539E-7B5A566391DD}"/>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5" name="Footer Placeholder 4">
            <a:extLst>
              <a:ext uri="{FF2B5EF4-FFF2-40B4-BE49-F238E27FC236}">
                <a16:creationId xmlns:a16="http://schemas.microsoft.com/office/drawing/2014/main" id="{8E53230D-E594-D7A5-32EC-9616DF2086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421CD8-BAE7-5A75-5A6C-4A94631F2DE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091586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BC744-581C-A465-D5AD-698E5735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0F86A-AA32-A112-1308-F20B349FFD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C6181-E825-1285-E416-EE218D446D42}"/>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5" name="Footer Placeholder 4">
            <a:extLst>
              <a:ext uri="{FF2B5EF4-FFF2-40B4-BE49-F238E27FC236}">
                <a16:creationId xmlns:a16="http://schemas.microsoft.com/office/drawing/2014/main" id="{572C597F-71A2-6113-48B7-23FBF239C2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B3508B-421D-3159-299D-6A50E1BB8ADB}"/>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87891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790E7-AF98-583B-B3C9-E30B90DF8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172DBB-25A0-77B9-56E0-E617E9D7AD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DC2C-A214-4BAD-37A9-2AF51A57E355}"/>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5" name="Footer Placeholder 4">
            <a:extLst>
              <a:ext uri="{FF2B5EF4-FFF2-40B4-BE49-F238E27FC236}">
                <a16:creationId xmlns:a16="http://schemas.microsoft.com/office/drawing/2014/main" id="{091C845C-023D-8EAD-81C8-4BBE5DA6C6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E7C64A-2365-EABC-5F33-CDA3D6CE0229}"/>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2041445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0046-0812-2CE0-21AB-F2D471CDD3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F84E91-81BA-B0C8-43E2-0C1FB07087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61BD2-1A58-7C56-D7A7-135866A4D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83FC1E-148B-EB6A-533C-A895CE8A2DE2}"/>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6" name="Footer Placeholder 5">
            <a:extLst>
              <a:ext uri="{FF2B5EF4-FFF2-40B4-BE49-F238E27FC236}">
                <a16:creationId xmlns:a16="http://schemas.microsoft.com/office/drawing/2014/main" id="{41E110CF-5980-BE5D-9406-39F27D7591C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E86073-4A93-20AE-0F86-129975236E0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17067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A182-292F-33B0-9A13-21D03CA661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CB62B1-B0F4-D60D-9CE6-4D0E730C7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70E5CA-EE3A-F3E7-7FBE-BB5ADF5C6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79186F-B8E2-72F3-72AE-3FA8848ED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688BD3-5740-E308-43A7-9518ACE588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B1AE7A-40F2-FDED-EA7F-916E5163350B}"/>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8" name="Footer Placeholder 7">
            <a:extLst>
              <a:ext uri="{FF2B5EF4-FFF2-40B4-BE49-F238E27FC236}">
                <a16:creationId xmlns:a16="http://schemas.microsoft.com/office/drawing/2014/main" id="{276873A7-8D41-C1BE-DFF8-172CB3F3BF4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C8E814-2557-C6DE-8A25-A4EF60D29B40}"/>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4133822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7397D-71F1-CCDC-44C6-DBC5BFE1CF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7B16D-F9FC-BCE6-1B42-BDE141D9DF5D}"/>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4" name="Footer Placeholder 3">
            <a:extLst>
              <a:ext uri="{FF2B5EF4-FFF2-40B4-BE49-F238E27FC236}">
                <a16:creationId xmlns:a16="http://schemas.microsoft.com/office/drawing/2014/main" id="{0B6116CF-3051-29AA-D7A5-D541C877A31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5D2961-87BC-269D-8A12-082DD2B0C414}"/>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86081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42EFB-3455-988C-4371-6A02EC617A67}"/>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3" name="Footer Placeholder 2">
            <a:extLst>
              <a:ext uri="{FF2B5EF4-FFF2-40B4-BE49-F238E27FC236}">
                <a16:creationId xmlns:a16="http://schemas.microsoft.com/office/drawing/2014/main" id="{E1023196-D0D5-1737-480A-AC1B231A720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8AA5807-4B8C-8F0B-1E78-8808049AAFDC}"/>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162293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8877-E86E-7B34-444B-E143B1819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B929B-DC3D-522B-D048-3021588858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23059F-6707-DF7E-1BE4-62F707BB9E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24B2-E883-95C9-6B96-0C3CA02A0AC4}"/>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6" name="Footer Placeholder 5">
            <a:extLst>
              <a:ext uri="{FF2B5EF4-FFF2-40B4-BE49-F238E27FC236}">
                <a16:creationId xmlns:a16="http://schemas.microsoft.com/office/drawing/2014/main" id="{14C2D7E2-C7A6-E14A-739A-278F59E25B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64A7BBE-F519-5822-9D2B-941BE610F1AE}"/>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54896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29B-0D66-F795-85BE-7E78BDADB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DEC4CF0-08AB-1C0A-815A-2BA203A8A2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363B9B51-C177-2817-1D1A-C92F903B4C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A76B8-0006-54B6-EC79-B119F0FF5ABE}"/>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6" name="Footer Placeholder 5">
            <a:extLst>
              <a:ext uri="{FF2B5EF4-FFF2-40B4-BE49-F238E27FC236}">
                <a16:creationId xmlns:a16="http://schemas.microsoft.com/office/drawing/2014/main" id="{C3DF90E3-24E4-AFFB-E554-B66EC265A2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FB57FE3-ECEA-4E08-D41E-EA19B38B4AEF}"/>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042817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9902-7CD5-F898-A3C7-EA33606C1F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88072-5629-164B-6FBB-FD7D6676D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54E99-671D-9C4B-5F52-93E666ABDFA2}"/>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5" name="Footer Placeholder 4">
            <a:extLst>
              <a:ext uri="{FF2B5EF4-FFF2-40B4-BE49-F238E27FC236}">
                <a16:creationId xmlns:a16="http://schemas.microsoft.com/office/drawing/2014/main" id="{D3052A27-D855-9487-5850-AA12D3CC7A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AB33CC-E6C6-4390-2D7D-F9F348F4AFE6}"/>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064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627C86-B539-8330-A66A-0FE29628B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18C975-ECBF-3772-1D5D-5F4B5DD65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A6307C-889B-74E9-03D3-079595FBAA0C}"/>
              </a:ext>
            </a:extLst>
          </p:cNvPr>
          <p:cNvSpPr>
            <a:spLocks noGrp="1"/>
          </p:cNvSpPr>
          <p:nvPr>
            <p:ph type="dt" sz="half" idx="10"/>
          </p:nvPr>
        </p:nvSpPr>
        <p:spPr/>
        <p:txBody>
          <a:bodyPr/>
          <a:lstStyle/>
          <a:p>
            <a:fld id="{83867F83-6740-47E4-93AE-3D5AB4AA4876}" type="datetimeFigureOut">
              <a:rPr lang="en-US" smtClean="0"/>
              <a:t>12/6/2025</a:t>
            </a:fld>
            <a:endParaRPr lang="en-US" dirty="0"/>
          </a:p>
        </p:txBody>
      </p:sp>
      <p:sp>
        <p:nvSpPr>
          <p:cNvPr id="5" name="Footer Placeholder 4">
            <a:extLst>
              <a:ext uri="{FF2B5EF4-FFF2-40B4-BE49-F238E27FC236}">
                <a16:creationId xmlns:a16="http://schemas.microsoft.com/office/drawing/2014/main" id="{0F71C601-CDCF-8113-0351-6229FE21451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145360-2CBE-551F-CCEE-8E997F9ABDA1}"/>
              </a:ext>
            </a:extLst>
          </p:cNvPr>
          <p:cNvSpPr>
            <a:spLocks noGrp="1"/>
          </p:cNvSpPr>
          <p:nvPr>
            <p:ph type="sldNum" sz="quarter" idx="12"/>
          </p:nvPr>
        </p:nvSpPr>
        <p:spPr/>
        <p:txBody>
          <a:bodyPr/>
          <a:lstStyle/>
          <a:p>
            <a:fld id="{92E28A5F-89C8-4E63-9CC2-CD7E02775F2F}" type="slidenum">
              <a:rPr lang="en-US" smtClean="0"/>
              <a:t>‹#›</a:t>
            </a:fld>
            <a:endParaRPr lang="en-US" dirty="0"/>
          </a:p>
        </p:txBody>
      </p:sp>
    </p:spTree>
    <p:extLst>
      <p:ext uri="{BB962C8B-B14F-4D97-AF65-F5344CB8AC3E}">
        <p14:creationId xmlns:p14="http://schemas.microsoft.com/office/powerpoint/2010/main" val="321597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787FCA-762D-6470-BFF4-B2C55CEA1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24B729-E129-522C-12D0-6FFCA7620B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80C4F-690A-D0BF-6490-9F27DEC2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867F83-6740-47E4-93AE-3D5AB4AA4876}" type="datetimeFigureOut">
              <a:rPr lang="en-US" smtClean="0"/>
              <a:t>12/6/2025</a:t>
            </a:fld>
            <a:endParaRPr lang="en-US" dirty="0"/>
          </a:p>
        </p:txBody>
      </p:sp>
      <p:sp>
        <p:nvSpPr>
          <p:cNvPr id="5" name="Footer Placeholder 4">
            <a:extLst>
              <a:ext uri="{FF2B5EF4-FFF2-40B4-BE49-F238E27FC236}">
                <a16:creationId xmlns:a16="http://schemas.microsoft.com/office/drawing/2014/main" id="{AB97EBD5-0880-276D-00D3-BDE8B6BCD3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2495C48-2E4B-20AA-E642-20DF5BE9E6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28A5F-89C8-4E63-9CC2-CD7E02775F2F}" type="slidenum">
              <a:rPr lang="en-US" smtClean="0"/>
              <a:t>‹#›</a:t>
            </a:fld>
            <a:endParaRPr lang="en-US" dirty="0"/>
          </a:p>
        </p:txBody>
      </p:sp>
    </p:spTree>
    <p:extLst>
      <p:ext uri="{BB962C8B-B14F-4D97-AF65-F5344CB8AC3E}">
        <p14:creationId xmlns:p14="http://schemas.microsoft.com/office/powerpoint/2010/main" val="1887561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21.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83" y="1786737"/>
            <a:ext cx="11180072" cy="2249581"/>
          </a:xfrm>
        </p:spPr>
        <p:txBody>
          <a:bodyPr>
            <a:normAutofit/>
          </a:bodyPr>
          <a:lstStyle/>
          <a:p>
            <a:r>
              <a:rPr lang="mn-MN" altLang="en-US" sz="4400" b="1" dirty="0">
                <a:solidFill>
                  <a:srgbClr val="002060"/>
                </a:solidFill>
                <a:latin typeface="Times New Roman" panose="02020603050405020304" pitchFamily="18" charset="0"/>
                <a:cs typeface="Times New Roman" panose="02020603050405020304" pitchFamily="18" charset="0"/>
              </a:rPr>
              <a:t>ЛЕКЦ №</a:t>
            </a:r>
            <a:r>
              <a:rPr lang="en-US" altLang="en-US" sz="4400" b="1" dirty="0">
                <a:solidFill>
                  <a:srgbClr val="002060"/>
                </a:solidFill>
                <a:latin typeface="Times New Roman" panose="02020603050405020304" pitchFamily="18" charset="0"/>
                <a:cs typeface="Times New Roman" panose="02020603050405020304" pitchFamily="18" charset="0"/>
              </a:rPr>
              <a:t>1</a:t>
            </a:r>
            <a:r>
              <a:rPr lang="mn-MN" altLang="en-US" sz="4400" b="1" dirty="0">
                <a:solidFill>
                  <a:srgbClr val="002060"/>
                </a:solidFill>
                <a:latin typeface="Times New Roman" panose="02020603050405020304" pitchFamily="18" charset="0"/>
                <a:cs typeface="Times New Roman" panose="02020603050405020304" pitchFamily="18" charset="0"/>
              </a:rPr>
              <a:t>4</a:t>
            </a:r>
            <a:br>
              <a:rPr lang="en-US" altLang="en-US" sz="4400" dirty="0">
                <a:solidFill>
                  <a:srgbClr val="002060"/>
                </a:solidFill>
                <a:latin typeface="Times New Roman" panose="02020603050405020304" pitchFamily="18" charset="0"/>
                <a:cs typeface="Times New Roman" panose="02020603050405020304" pitchFamily="18" charset="0"/>
              </a:rPr>
            </a:br>
            <a:r>
              <a:rPr lang="mn-MN" sz="4000" b="1" dirty="0">
                <a:solidFill>
                  <a:srgbClr val="002060"/>
                </a:solidFill>
                <a:latin typeface="Times New Roman" panose="02020603050405020304" pitchFamily="18" charset="0"/>
                <a:cs typeface="Times New Roman" panose="02020603050405020304" pitchFamily="18" charset="0"/>
              </a:rPr>
              <a:t>Төслийн удирдлага (менежмент)</a:t>
            </a:r>
            <a:br>
              <a:rPr lang="mn-MN" sz="4000" b="1" dirty="0">
                <a:solidFill>
                  <a:srgbClr val="002060"/>
                </a:solidFill>
                <a:latin typeface="Times New Roman" panose="02020603050405020304" pitchFamily="18" charset="0"/>
                <a:cs typeface="Times New Roman" panose="02020603050405020304" pitchFamily="18" charset="0"/>
              </a:rPr>
            </a:br>
            <a:r>
              <a:rPr lang="mn-MN" sz="4000" b="1" dirty="0">
                <a:solidFill>
                  <a:srgbClr val="002060"/>
                </a:solidFill>
                <a:latin typeface="Times New Roman" panose="02020603050405020304" pitchFamily="18" charset="0"/>
                <a:cs typeface="Times New Roman" panose="02020603050405020304" pitchFamily="18" charset="0"/>
              </a:rPr>
              <a:t>түүний арга хэрэгслүүд</a:t>
            </a:r>
            <a:endParaRPr lang="en-US" sz="4400" dirty="0">
              <a:solidFill>
                <a:schemeClr val="tx2"/>
              </a:solidFill>
              <a:effectLst>
                <a:outerShdw blurRad="63500" dist="38100" dir="5400000" algn="t" rotWithShape="0">
                  <a:prstClr val="black">
                    <a:alpha val="25000"/>
                  </a:prstClr>
                </a:outerShdw>
              </a:effectLst>
              <a:latin typeface="Times New Roman" panose="02020603050405020304" pitchFamily="18" charset="0"/>
              <a:ea typeface="+mn-ea"/>
              <a:cs typeface="Times New Roman" panose="02020603050405020304" pitchFamily="18" charset="0"/>
            </a:endParaRPr>
          </a:p>
        </p:txBody>
      </p:sp>
      <p:sp>
        <p:nvSpPr>
          <p:cNvPr id="3" name="Subtitle 2"/>
          <p:cNvSpPr>
            <a:spLocks noGrp="1"/>
          </p:cNvSpPr>
          <p:nvPr>
            <p:ph type="subTitle" idx="1"/>
          </p:nvPr>
        </p:nvSpPr>
        <p:spPr>
          <a:xfrm>
            <a:off x="1751012" y="4210050"/>
            <a:ext cx="8689976" cy="1339541"/>
          </a:xfrm>
        </p:spPr>
        <p:txBody>
          <a:bodyPr vert="horz" lIns="91440" tIns="45720" rIns="91440" bIns="45720" rtlCol="0">
            <a:normAutofit/>
          </a:bodyPr>
          <a:lstStyle/>
          <a:p>
            <a:r>
              <a:rPr lang="en-US"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S.EEM101</a:t>
            </a:r>
            <a:br>
              <a:rPr lang="en-US" altLang="en-US" i="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mn-MN"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Инженерийн эдийн засаг</a:t>
            </a:r>
            <a:br>
              <a:rPr lang="mn-MN"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br>
            <a:r>
              <a:rPr lang="en-US" altLang="en-US" sz="2800" b="1" dirty="0">
                <a:solidFill>
                  <a:schemeClr val="tx2"/>
                </a:solidFill>
                <a:effectLst>
                  <a:outerShdw blurRad="63500" dist="38100" dir="5400000" algn="t" rotWithShape="0">
                    <a:prstClr val="black">
                      <a:alpha val="25000"/>
                    </a:prstClr>
                  </a:outerShdw>
                </a:effectLst>
                <a:latin typeface="Times New Roman" panose="02020603050405020304" pitchFamily="18" charset="0"/>
                <a:cs typeface="Times New Roman" panose="02020603050405020304" pitchFamily="18" charset="0"/>
              </a:rPr>
              <a:t>Engineering Economy</a:t>
            </a:r>
            <a:endParaRPr lang="mn-MN" altLang="en-US" sz="2800" b="1" dirty="0">
              <a:solidFill>
                <a:srgbClr val="00206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9CC73B9C-8601-4C97-A368-5C8122BF1745}" type="slidenum">
              <a:rPr lang="en-US" altLang="en-US" smtClean="0">
                <a:solidFill>
                  <a:srgbClr val="5FCBEF"/>
                </a:solidFill>
                <a:latin typeface="Times New Roman" panose="02020603050405020304" pitchFamily="18" charset="0"/>
                <a:cs typeface="Times New Roman" panose="02020603050405020304" pitchFamily="18" charset="0"/>
              </a:rPr>
              <a:pPr>
                <a:defRPr/>
              </a:pPr>
              <a:t>1</a:t>
            </a:fld>
            <a:endParaRPr lang="en-US" altLang="en-US">
              <a:solidFill>
                <a:srgbClr val="5FCBEF"/>
              </a:solidFill>
              <a:latin typeface="Times New Roman" panose="02020603050405020304" pitchFamily="18" charset="0"/>
              <a:cs typeface="Times New Roman" panose="02020603050405020304" pitchFamily="18" charset="0"/>
            </a:endParaRPr>
          </a:p>
        </p:txBody>
      </p:sp>
      <p:pic>
        <p:nvPicPr>
          <p:cNvPr id="5" name="Picture 2" descr="Logo"/>
          <p:cNvPicPr>
            <a:picLocks noChangeAspect="1" noChangeArrowheads="1"/>
          </p:cNvPicPr>
          <p:nvPr/>
        </p:nvPicPr>
        <p:blipFill>
          <a:blip r:embed="rId3">
            <a:extLst>
              <a:ext uri="{28A0092B-C50C-407E-A947-70E740481C1C}">
                <a14:useLocalDpi xmlns:a14="http://schemas.microsoft.com/office/drawing/2010/main" val="0"/>
              </a:ext>
            </a:extLst>
          </a:blip>
          <a:srcRect r="86166"/>
          <a:stretch>
            <a:fillRect/>
          </a:stretch>
        </p:blipFill>
        <p:spPr bwMode="auto">
          <a:xfrm>
            <a:off x="10173953" y="61544"/>
            <a:ext cx="1444330" cy="213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2"/>
          <p:cNvSpPr txBox="1">
            <a:spLocks/>
          </p:cNvSpPr>
          <p:nvPr/>
        </p:nvSpPr>
        <p:spPr bwMode="auto">
          <a:xfrm>
            <a:off x="524750" y="128634"/>
            <a:ext cx="9649203" cy="146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ts val="1000"/>
              </a:spcBef>
              <a:buSzPct val="125000"/>
              <a:buFont typeface="Arial" panose="020B0604020202020204" pitchFamily="34" charset="0"/>
              <a:buChar char="•"/>
              <a:defRPr sz="2400">
                <a:solidFill>
                  <a:schemeClr val="tx1"/>
                </a:solidFill>
                <a:latin typeface="Tw Cen MT" panose="020B0602020104020603" pitchFamily="34" charset="0"/>
              </a:defRPr>
            </a:lvl1pPr>
            <a:lvl2pPr marL="685800" indent="-228600">
              <a:lnSpc>
                <a:spcPct val="120000"/>
              </a:lnSpc>
              <a:spcBef>
                <a:spcPts val="500"/>
              </a:spcBef>
              <a:buSzPct val="125000"/>
              <a:buFont typeface="Arial" panose="020B0604020202020204" pitchFamily="34" charset="0"/>
              <a:buChar char="•"/>
              <a:defRPr sz="2000">
                <a:solidFill>
                  <a:schemeClr val="tx1"/>
                </a:solidFill>
                <a:latin typeface="Tw Cen MT" panose="020B0602020104020603" pitchFamily="34" charset="0"/>
              </a:defRPr>
            </a:lvl2pPr>
            <a:lvl3pPr marL="1143000" indent="-228600">
              <a:lnSpc>
                <a:spcPct val="120000"/>
              </a:lnSpc>
              <a:spcBef>
                <a:spcPts val="500"/>
              </a:spcBef>
              <a:buSzPct val="125000"/>
              <a:buFont typeface="Arial" panose="020B0604020202020204" pitchFamily="34" charset="0"/>
              <a:buChar char="•"/>
              <a:defRPr>
                <a:solidFill>
                  <a:schemeClr val="tx1"/>
                </a:solidFill>
                <a:latin typeface="Tw Cen MT" panose="020B0602020104020603" pitchFamily="34" charset="0"/>
              </a:defRPr>
            </a:lvl3pPr>
            <a:lvl4pPr marL="16002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4pPr>
            <a:lvl5pPr marL="2057400" indent="-228600">
              <a:lnSpc>
                <a:spcPct val="120000"/>
              </a:lnSpc>
              <a:spcBef>
                <a:spcPts val="500"/>
              </a:spcBef>
              <a:buSzPct val="125000"/>
              <a:buFont typeface="Arial" panose="020B0604020202020204" pitchFamily="34" charset="0"/>
              <a:buChar char="•"/>
              <a:defRPr sz="16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SzPct val="125000"/>
              <a:buFont typeface="Arial" panose="020B0604020202020204" pitchFamily="34" charset="0"/>
              <a:buChar char="•"/>
              <a:defRPr sz="1600">
                <a:solidFill>
                  <a:schemeClr val="tx1"/>
                </a:solidFill>
                <a:latin typeface="Tw Cen MT" panose="020B0602020104020603" pitchFamily="34" charset="0"/>
              </a:defRPr>
            </a:lvl9pPr>
          </a:lstStyle>
          <a:p>
            <a:pPr algn="ctr" fontAlgn="base">
              <a:lnSpc>
                <a:spcPct val="100000"/>
              </a:lnSpc>
              <a:spcBef>
                <a:spcPct val="0"/>
              </a:spcBef>
              <a:spcAft>
                <a:spcPct val="0"/>
              </a:spcAft>
              <a:buFont typeface="Arial" panose="020B0604020202020204" pitchFamily="34" charset="0"/>
              <a:buNone/>
            </a:pPr>
            <a:r>
              <a:rPr lang="mn-MN" altLang="en-US" sz="2800" b="1" dirty="0">
                <a:solidFill>
                  <a:srgbClr val="002060"/>
                </a:solidFill>
                <a:latin typeface="Times New Roman" panose="02020603050405020304" pitchFamily="18" charset="0"/>
                <a:cs typeface="Times New Roman" panose="02020603050405020304" pitchFamily="18" charset="0"/>
              </a:rPr>
              <a:t>ШИНЖЛЭХ УХААН</a:t>
            </a:r>
            <a:r>
              <a:rPr lang="en-US" altLang="en-US" sz="2800" b="1" dirty="0">
                <a:solidFill>
                  <a:srgbClr val="002060"/>
                </a:solidFill>
                <a:latin typeface="Times New Roman" panose="02020603050405020304" pitchFamily="18" charset="0"/>
                <a:cs typeface="Times New Roman" panose="02020603050405020304" pitchFamily="18" charset="0"/>
              </a:rPr>
              <a:t>,</a:t>
            </a:r>
            <a:r>
              <a:rPr lang="mn-MN" altLang="en-US" sz="2800" b="1" dirty="0">
                <a:solidFill>
                  <a:srgbClr val="002060"/>
                </a:solidFill>
                <a:latin typeface="Times New Roman" panose="02020603050405020304" pitchFamily="18" charset="0"/>
                <a:cs typeface="Times New Roman" panose="02020603050405020304" pitchFamily="18" charset="0"/>
              </a:rPr>
              <a:t> ТЕХНОЛОГИЙН ИХ СУРГУУЛЬ</a:t>
            </a:r>
          </a:p>
          <a:p>
            <a:pPr algn="ctr" fontAlgn="base">
              <a:lnSpc>
                <a:spcPct val="100000"/>
              </a:lnSpc>
              <a:spcBef>
                <a:spcPct val="0"/>
              </a:spcBef>
              <a:spcAft>
                <a:spcPct val="0"/>
              </a:spcAft>
              <a:buFont typeface="Arial" panose="020B0604020202020204" pitchFamily="34" charset="0"/>
              <a:buNone/>
            </a:pPr>
            <a:r>
              <a:rPr lang="mn-MN" altLang="en-US" sz="2800" b="1" dirty="0">
                <a:solidFill>
                  <a:srgbClr val="002060"/>
                </a:solidFill>
                <a:latin typeface="Times New Roman" panose="02020603050405020304" pitchFamily="18" charset="0"/>
                <a:cs typeface="Times New Roman" panose="02020603050405020304" pitchFamily="18" charset="0"/>
              </a:rPr>
              <a:t>МЭДЭЭЛЭЛ</a:t>
            </a:r>
            <a:r>
              <a:rPr lang="en-US" altLang="en-US" sz="2800" b="1" dirty="0">
                <a:solidFill>
                  <a:srgbClr val="002060"/>
                </a:solidFill>
                <a:latin typeface="Times New Roman" panose="02020603050405020304" pitchFamily="18" charset="0"/>
                <a:cs typeface="Times New Roman" panose="02020603050405020304" pitchFamily="18" charset="0"/>
              </a:rPr>
              <a:t>,</a:t>
            </a:r>
            <a:r>
              <a:rPr lang="mn-MN" altLang="en-US" sz="2800" b="1" dirty="0">
                <a:solidFill>
                  <a:srgbClr val="002060"/>
                </a:solidFill>
                <a:latin typeface="Times New Roman" panose="02020603050405020304" pitchFamily="18" charset="0"/>
                <a:cs typeface="Times New Roman" panose="02020603050405020304" pitchFamily="18" charset="0"/>
              </a:rPr>
              <a:t> ХОЛБООНЫ ТЕХНОЛОГИЙН СУРГУУЛЬ</a:t>
            </a:r>
          </a:p>
        </p:txBody>
      </p:sp>
      <p:sp>
        <p:nvSpPr>
          <p:cNvPr id="8" name="Subtitle 2">
            <a:extLst>
              <a:ext uri="{FF2B5EF4-FFF2-40B4-BE49-F238E27FC236}">
                <a16:creationId xmlns:a16="http://schemas.microsoft.com/office/drawing/2014/main" id="{BF113D12-AC11-4AC5-B21C-E90CB9AA525E}"/>
              </a:ext>
            </a:extLst>
          </p:cNvPr>
          <p:cNvSpPr txBox="1">
            <a:spLocks/>
          </p:cNvSpPr>
          <p:nvPr/>
        </p:nvSpPr>
        <p:spPr>
          <a:xfrm>
            <a:off x="1751012" y="5763201"/>
            <a:ext cx="8689976" cy="625889"/>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r>
              <a:rPr lang="mn-MN" altLang="en-US" sz="2900" cap="none" dirty="0">
                <a:solidFill>
                  <a:srgbClr val="002060"/>
                </a:solidFill>
                <a:latin typeface="Times New Roman" panose="02020603050405020304" pitchFamily="18" charset="0"/>
                <a:cs typeface="Times New Roman" panose="02020603050405020304" pitchFamily="18" charset="0"/>
              </a:rPr>
              <a:t>Холбооны салбарын багш, дэд проф.,</a:t>
            </a:r>
            <a:r>
              <a:rPr lang="en-US" altLang="en-US" sz="2900" cap="none" dirty="0">
                <a:solidFill>
                  <a:srgbClr val="002060"/>
                </a:solidFill>
                <a:latin typeface="Times New Roman" panose="02020603050405020304" pitchFamily="18" charset="0"/>
                <a:cs typeface="Times New Roman" panose="02020603050405020304" pitchFamily="18" charset="0"/>
              </a:rPr>
              <a:t> </a:t>
            </a:r>
            <a:r>
              <a:rPr lang="mn-MN" altLang="en-US" sz="2900" cap="none" dirty="0">
                <a:solidFill>
                  <a:srgbClr val="002060"/>
                </a:solidFill>
                <a:latin typeface="Times New Roman" panose="02020603050405020304" pitchFamily="18" charset="0"/>
                <a:cs typeface="Times New Roman" panose="02020603050405020304" pitchFamily="18" charset="0"/>
              </a:rPr>
              <a:t>Ц.Балжинням</a:t>
            </a:r>
            <a:endParaRPr lang="mn-MN" altLang="en-US" sz="2400" cap="none" dirty="0">
              <a:solidFill>
                <a:srgbClr val="002060"/>
              </a:solidFill>
              <a:latin typeface="Times New Roman" panose="02020603050405020304" pitchFamily="18" charset="0"/>
              <a:cs typeface="Times New Roman" panose="02020603050405020304" pitchFamily="18" charset="0"/>
            </a:endParaRPr>
          </a:p>
          <a:p>
            <a:r>
              <a:rPr lang="mn-MN" altLang="en-US" sz="2400" cap="none" dirty="0">
                <a:solidFill>
                  <a:srgbClr val="002060"/>
                </a:solidFill>
                <a:latin typeface="Times New Roman" panose="02020603050405020304" pitchFamily="18" charset="0"/>
                <a:cs typeface="Times New Roman" panose="02020603050405020304" pitchFamily="18" charset="0"/>
              </a:rPr>
              <a:t>Улаанбаатар</a:t>
            </a:r>
          </a:p>
        </p:txBody>
      </p:sp>
    </p:spTree>
    <p:extLst>
      <p:ext uri="{BB962C8B-B14F-4D97-AF65-F5344CB8AC3E}">
        <p14:creationId xmlns:p14="http://schemas.microsoft.com/office/powerpoint/2010/main" val="3190798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8F32-BFE1-C21B-C995-8F54A877F02F}"/>
              </a:ext>
            </a:extLst>
          </p:cNvPr>
          <p:cNvSpPr>
            <a:spLocks noGrp="1"/>
          </p:cNvSpPr>
          <p:nvPr>
            <p:ph type="title"/>
          </p:nvPr>
        </p:nvSpPr>
        <p:spPr>
          <a:xfrm>
            <a:off x="216408" y="152709"/>
            <a:ext cx="11619034" cy="737307"/>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Хичээлийн суралцахуйн үр дүнгүүд </a:t>
            </a:r>
            <a:br>
              <a:rPr lang="mn-MN" b="1" dirty="0">
                <a:solidFill>
                  <a:srgbClr val="002060"/>
                </a:solidFill>
                <a:latin typeface="Times New Roman" panose="02020603050405020304" pitchFamily="18" charset="0"/>
                <a:cs typeface="Times New Roman" panose="02020603050405020304" pitchFamily="18" charset="0"/>
              </a:rPr>
            </a:br>
            <a:r>
              <a:rPr lang="mn-MN" sz="2700" b="1" dirty="0">
                <a:solidFill>
                  <a:srgbClr val="002060"/>
                </a:solidFill>
                <a:latin typeface="Times New Roman" panose="02020603050405020304" pitchFamily="18" charset="0"/>
                <a:cs typeface="Times New Roman" panose="02020603050405020304" pitchFamily="18" charset="0"/>
              </a:rPr>
              <a:t>Оюутан энэ сэдвийг судалснаар дараах ур чадваруудтай болсон байна. </a:t>
            </a:r>
            <a:endParaRPr lang="en-US" b="1" dirty="0">
              <a:solidFill>
                <a:srgbClr val="00206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DFE0557-5EF0-6AAF-FD86-D7A6892F3C29}"/>
              </a:ext>
            </a:extLst>
          </p:cNvPr>
          <p:cNvGraphicFramePr>
            <a:graphicFrameLocks noGrp="1"/>
          </p:cNvGraphicFramePr>
          <p:nvPr>
            <p:ph idx="1"/>
            <p:extLst>
              <p:ext uri="{D42A27DB-BD31-4B8C-83A1-F6EECF244321}">
                <p14:modId xmlns:p14="http://schemas.microsoft.com/office/powerpoint/2010/main" val="2477438843"/>
              </p:ext>
            </p:extLst>
          </p:nvPr>
        </p:nvGraphicFramePr>
        <p:xfrm>
          <a:off x="216408" y="1036320"/>
          <a:ext cx="11817096" cy="4928174"/>
        </p:xfrm>
        <a:graphic>
          <a:graphicData uri="http://schemas.openxmlformats.org/drawingml/2006/table">
            <a:tbl>
              <a:tblPr firstRow="1" bandRow="1">
                <a:tableStyleId>{5C22544A-7EE6-4342-B048-85BDC9FD1C3A}</a:tableStyleId>
              </a:tblPr>
              <a:tblGrid>
                <a:gridCol w="698068">
                  <a:extLst>
                    <a:ext uri="{9D8B030D-6E8A-4147-A177-3AD203B41FA5}">
                      <a16:colId xmlns:a16="http://schemas.microsoft.com/office/drawing/2014/main" val="78146492"/>
                    </a:ext>
                  </a:extLst>
                </a:gridCol>
                <a:gridCol w="5174452">
                  <a:extLst>
                    <a:ext uri="{9D8B030D-6E8A-4147-A177-3AD203B41FA5}">
                      <a16:colId xmlns:a16="http://schemas.microsoft.com/office/drawing/2014/main" val="2993372031"/>
                    </a:ext>
                  </a:extLst>
                </a:gridCol>
                <a:gridCol w="2431872">
                  <a:extLst>
                    <a:ext uri="{9D8B030D-6E8A-4147-A177-3AD203B41FA5}">
                      <a16:colId xmlns:a16="http://schemas.microsoft.com/office/drawing/2014/main" val="3377302877"/>
                    </a:ext>
                  </a:extLst>
                </a:gridCol>
                <a:gridCol w="2179677">
                  <a:extLst>
                    <a:ext uri="{9D8B030D-6E8A-4147-A177-3AD203B41FA5}">
                      <a16:colId xmlns:a16="http://schemas.microsoft.com/office/drawing/2014/main" val="574671118"/>
                    </a:ext>
                  </a:extLst>
                </a:gridCol>
                <a:gridCol w="1333027">
                  <a:extLst>
                    <a:ext uri="{9D8B030D-6E8A-4147-A177-3AD203B41FA5}">
                      <a16:colId xmlns:a16="http://schemas.microsoft.com/office/drawing/2014/main" val="1155244748"/>
                    </a:ext>
                  </a:extLst>
                </a:gridCol>
              </a:tblGrid>
              <a:tr h="424112">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д/д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дүнгүүд</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 илэрхийлэх үйл үг</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gn="ctr">
                        <a:lnSpc>
                          <a:spcPct val="115000"/>
                        </a:lnSpc>
                        <a:spcAft>
                          <a:spcPts val="0"/>
                        </a:spcAft>
                      </a:pP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Суралцахуйн үр дүнгийн түвшин</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Блумын</a:t>
                      </a: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solidFill>
                      <a:schemeClr val="accent1">
                        <a:lumMod val="20000"/>
                        <a:lumOff val="80000"/>
                      </a:schemeClr>
                    </a:solidFill>
                  </a:tcPr>
                </a:tc>
                <a:tc>
                  <a:txBody>
                    <a:bodyPr/>
                    <a:lstStyle/>
                    <a:p>
                      <a:pPr algn="ctr">
                        <a:lnSpc>
                          <a:spcPct val="115000"/>
                        </a:lnSpc>
                        <a:spcAft>
                          <a:spcPts val="0"/>
                        </a:spcAft>
                      </a:pPr>
                      <a:r>
                        <a:rPr lang="en-US"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CLOs</a:t>
                      </a:r>
                      <a:r>
                        <a:rPr lang="mn-MN" sz="2000" b="1"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 хамаарал</a:t>
                      </a:r>
                      <a:endParaRPr lang="en-US" sz="20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extLst>
                  <a:ext uri="{0D108BD9-81ED-4DB2-BD59-A6C34878D82A}">
                    <a16:rowId xmlns:a16="http://schemas.microsoft.com/office/drawing/2014/main" val="2494423415"/>
                  </a:ext>
                </a:extLst>
              </a:tr>
              <a:tr h="396255">
                <a:tc>
                  <a:txBody>
                    <a:bodyPr/>
                    <a:lstStyle/>
                    <a:p>
                      <a:pPr algn="ctr">
                        <a:lnSpc>
                          <a:spcPct val="115000"/>
                        </a:lnSpc>
                        <a:spcAft>
                          <a:spcPts val="0"/>
                        </a:spcAft>
                      </a:pPr>
                      <a:r>
                        <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1</a:t>
                      </a: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Төслийн удирдлагын үндсэн ойлголтуудыг </a:t>
                      </a:r>
                      <a:r>
                        <a:rPr lang="mn-MN" sz="2400" dirty="0">
                          <a:effectLst/>
                          <a:latin typeface="Times New Roman" panose="02020603050405020304" pitchFamily="18" charset="0"/>
                          <a:cs typeface="Times New Roman" panose="02020603050405020304" pitchFamily="18" charset="0"/>
                        </a:rPr>
                        <a:t>тайлбарлах, </a:t>
                      </a:r>
                      <a:r>
                        <a:rPr lang="mn-MN" sz="2400" kern="1200" dirty="0">
                          <a:solidFill>
                            <a:schemeClr val="dk1"/>
                          </a:solidFill>
                          <a:effectLst/>
                          <a:latin typeface="Times New Roman" panose="02020603050405020304" pitchFamily="18" charset="0"/>
                          <a:ea typeface="+mn-ea"/>
                          <a:cs typeface="Times New Roman" panose="02020603050405020304" pitchFamily="18" charset="0"/>
                        </a:rPr>
                        <a:t>ашиглах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2000" dirty="0">
                          <a:effectLst/>
                          <a:latin typeface="Times New Roman" panose="02020603050405020304" pitchFamily="18" charset="0"/>
                          <a:ea typeface="Times New Roman" panose="02020603050405020304" pitchFamily="18" charset="0"/>
                          <a:cs typeface="Times New Roman" panose="02020603050405020304" pitchFamily="18" charset="0"/>
                        </a:rPr>
                        <a:t>Хэрэглэх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(Apply)</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r>
                        <a:rPr lang="mn-MN"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cs typeface="Times New Roman" panose="02020603050405020304" pitchFamily="18" charset="0"/>
                        </a:rPr>
                        <a:t>1, 3</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954028067"/>
                  </a:ext>
                </a:extLst>
              </a:tr>
              <a:tr h="0">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2</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Төслийн амжилттай удирдлагад </a:t>
                      </a:r>
                      <a:r>
                        <a:rPr lang="mn-MN" sz="2400" dirty="0">
                          <a:effectLst/>
                          <a:latin typeface="Times New Roman" panose="02020603050405020304" pitchFamily="18" charset="0"/>
                          <a:cs typeface="Times New Roman" panose="02020603050405020304" pitchFamily="18" charset="0"/>
                        </a:rPr>
                        <a:t>нөлөөлөх хүчин зүйлсийг ойлгох, тайлбарлах</a:t>
                      </a: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20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cs typeface="Times New Roman" panose="02020603050405020304" pitchFamily="18" charset="0"/>
                        </a:rPr>
                        <a:t>1, 3</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810878109"/>
                  </a:ext>
                </a:extLst>
              </a:tr>
              <a:tr h="116681">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3</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mn-MN" sz="2400" dirty="0">
                          <a:effectLst/>
                          <a:latin typeface="Times New Roman" panose="02020603050405020304" pitchFamily="18" charset="0"/>
                          <a:cs typeface="Times New Roman" panose="02020603050405020304" pitchFamily="18" charset="0"/>
                        </a:rPr>
                        <a:t>Төслийн удирдлагын аргачлалыг төслийн гүйцэтгэл, үнэлгээнд хэрэглэх</a:t>
                      </a: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cs typeface="Times New Roman" panose="02020603050405020304" pitchFamily="18" charset="0"/>
                        </a:rPr>
                        <a:t>Тайлбарлах </a:t>
                      </a:r>
                      <a:r>
                        <a:rPr lang="en-US" sz="2000" dirty="0">
                          <a:effectLst/>
                          <a:latin typeface="Times New Roman" panose="02020603050405020304" pitchFamily="18" charset="0"/>
                          <a:cs typeface="Times New Roman" panose="02020603050405020304" pitchFamily="18" charset="0"/>
                        </a:rPr>
                        <a:t>(Explain)</a:t>
                      </a:r>
                      <a:endParaRPr lang="mn-MN" sz="2000" dirty="0">
                        <a:effectLst/>
                        <a:latin typeface="Times New Roman" panose="02020603050405020304" pitchFamily="18" charset="0"/>
                        <a:cs typeface="Times New Roman" panose="02020603050405020304" pitchFamily="18" charset="0"/>
                      </a:endParaRPr>
                    </a:p>
                    <a:p>
                      <a:pPr algn="ctr">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(Apply)</a:t>
                      </a:r>
                      <a:endParaRPr lang="mn-MN" sz="2000" kern="1200" dirty="0">
                        <a:solidFill>
                          <a:schemeClr val="dk1"/>
                        </a:solidFill>
                        <a:effectLst/>
                        <a:latin typeface="Times New Roman" panose="02020603050405020304" pitchFamily="18" charset="0"/>
                        <a:ea typeface="+mn-ea"/>
                        <a:cs typeface="Times New Roman" panose="02020603050405020304" pitchFamily="18" charset="0"/>
                      </a:endParaRPr>
                    </a:p>
                    <a:p>
                      <a:pPr algn="ctr">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Шийдэх</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 /Solve/</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cs typeface="Times New Roman" panose="02020603050405020304" pitchFamily="18" charset="0"/>
                        </a:rPr>
                        <a:t>1, 3</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3656165348"/>
                  </a:ext>
                </a:extLst>
              </a:tr>
              <a:tr h="0">
                <a:tc>
                  <a:txBody>
                    <a:bodyPr/>
                    <a:lstStyle/>
                    <a:p>
                      <a:pPr algn="ctr">
                        <a:lnSpc>
                          <a:spcPct val="115000"/>
                        </a:lnSpc>
                        <a:spcAft>
                          <a:spcPts val="0"/>
                        </a:spcAft>
                      </a:pPr>
                      <a:r>
                        <a:rPr lang="mn-MN"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rPr>
                        <a:t>4</a:t>
                      </a:r>
                      <a:endParaRPr lang="en-US" sz="2400" dirty="0">
                        <a:solidFill>
                          <a:srgbClr val="002060"/>
                        </a:solidFill>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68586" marR="68586" marT="0" marB="0" anchor="ctr">
                    <a:solidFill>
                      <a:schemeClr val="accent1">
                        <a:lumMod val="20000"/>
                        <a:lumOff val="80000"/>
                      </a:schemeClr>
                    </a:solidFill>
                  </a:tcPr>
                </a:tc>
                <a:tc>
                  <a:txBody>
                    <a:bodyPr/>
                    <a:lstStyle/>
                    <a:p>
                      <a:pPr>
                        <a:lnSpc>
                          <a:spcPct val="115000"/>
                        </a:lnSpc>
                        <a:spcAft>
                          <a:spcPts val="0"/>
                        </a:spcAft>
                      </a:pPr>
                      <a:r>
                        <a:rPr lang="mn-MN" sz="2400" kern="1200" dirty="0">
                          <a:solidFill>
                            <a:schemeClr val="dk1"/>
                          </a:solidFill>
                          <a:effectLst/>
                          <a:latin typeface="Times New Roman" panose="02020603050405020304" pitchFamily="18" charset="0"/>
                          <a:ea typeface="+mn-ea"/>
                          <a:cs typeface="Times New Roman" panose="02020603050405020304" pitchFamily="18" charset="0"/>
                        </a:rPr>
                        <a:t>Сэдэвтэй холбоотой материалуудыг ашиглах</a:t>
                      </a:r>
                      <a:endParaRPr lang="en-US" sz="2400" kern="1200" dirty="0">
                        <a:solidFill>
                          <a:schemeClr val="dk1"/>
                        </a:solidFill>
                        <a:effectLst/>
                        <a:latin typeface="Times New Roman" panose="02020603050405020304" pitchFamily="18" charset="0"/>
                        <a:ea typeface="+mn-ea"/>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Гүйцэтгэх </a:t>
                      </a:r>
                      <a:r>
                        <a:rPr lang="en-US" sz="2000" kern="1200" dirty="0">
                          <a:solidFill>
                            <a:schemeClr val="dk1"/>
                          </a:solidFill>
                          <a:effectLst/>
                          <a:latin typeface="Times New Roman" panose="02020603050405020304" pitchFamily="18" charset="0"/>
                          <a:ea typeface="+mn-ea"/>
                          <a:cs typeface="Times New Roman" panose="02020603050405020304" pitchFamily="18" charset="0"/>
                        </a:rPr>
                        <a:t>(Function)</a:t>
                      </a:r>
                    </a:p>
                  </a:txBody>
                  <a:tcPr marL="52070" marR="52070" marT="9525" marB="0" anchor="ctr">
                    <a:solidFill>
                      <a:schemeClr val="accent1">
                        <a:lumMod val="20000"/>
                        <a:lumOff val="80000"/>
                      </a:schemeClr>
                    </a:solidFill>
                  </a:tcPr>
                </a:tc>
                <a:tc>
                  <a:txBody>
                    <a:bodyPr/>
                    <a:lstStyle/>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Ойлгох,</a:t>
                      </a:r>
                      <a:endParaRPr lang="en-US" sz="2000" kern="1200" dirty="0">
                        <a:solidFill>
                          <a:schemeClr val="dk1"/>
                        </a:solidFill>
                        <a:effectLst/>
                        <a:latin typeface="Times New Roman" panose="02020603050405020304" pitchFamily="18" charset="0"/>
                        <a:ea typeface="+mn-ea"/>
                        <a:cs typeface="Times New Roman" panose="02020603050405020304" pitchFamily="18" charset="0"/>
                      </a:endParaRPr>
                    </a:p>
                    <a:p>
                      <a:pPr marL="0" algn="ctr" defTabSz="914400" rtl="0" eaLnBrk="1" latinLnBrk="0" hangingPunct="1">
                        <a:lnSpc>
                          <a:spcPct val="115000"/>
                        </a:lnSpc>
                        <a:spcAft>
                          <a:spcPts val="0"/>
                        </a:spcAft>
                      </a:pPr>
                      <a:r>
                        <a:rPr lang="mn-MN" sz="2000" kern="1200" dirty="0">
                          <a:solidFill>
                            <a:schemeClr val="dk1"/>
                          </a:solidFill>
                          <a:effectLst/>
                          <a:latin typeface="Times New Roman" panose="02020603050405020304" pitchFamily="18" charset="0"/>
                          <a:ea typeface="+mn-ea"/>
                          <a:cs typeface="Times New Roman" panose="02020603050405020304" pitchFamily="18" charset="0"/>
                        </a:rPr>
                        <a:t>Хэрэглэх</a:t>
                      </a:r>
                      <a:endParaRPr lang="en-US" sz="2000" kern="1200" dirty="0">
                        <a:solidFill>
                          <a:schemeClr val="dk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tc>
                  <a:txBody>
                    <a:bodyPr/>
                    <a:lstStyle/>
                    <a:p>
                      <a:pPr algn="ctr">
                        <a:lnSpc>
                          <a:spcPct val="115000"/>
                        </a:lnSpc>
                        <a:spcAft>
                          <a:spcPts val="0"/>
                        </a:spcAft>
                      </a:pPr>
                      <a:r>
                        <a:rPr lang="mn-MN" sz="2000" dirty="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2070" marR="52070" marT="9525" marB="0" anchor="ctr">
                    <a:solidFill>
                      <a:schemeClr val="accent1">
                        <a:lumMod val="20000"/>
                        <a:lumOff val="80000"/>
                      </a:schemeClr>
                    </a:solidFill>
                  </a:tcPr>
                </a:tc>
                <a:extLst>
                  <a:ext uri="{0D108BD9-81ED-4DB2-BD59-A6C34878D82A}">
                    <a16:rowId xmlns:a16="http://schemas.microsoft.com/office/drawing/2014/main" val="1746794371"/>
                  </a:ext>
                </a:extLst>
              </a:tr>
            </a:tbl>
          </a:graphicData>
        </a:graphic>
      </p:graphicFrame>
    </p:spTree>
    <p:extLst>
      <p:ext uri="{BB962C8B-B14F-4D97-AF65-F5344CB8AC3E}">
        <p14:creationId xmlns:p14="http://schemas.microsoft.com/office/powerpoint/2010/main" val="2758320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84979-432A-FF79-CEB4-02905EE440F1}"/>
              </a:ext>
            </a:extLst>
          </p:cNvPr>
          <p:cNvSpPr>
            <a:spLocks noGrp="1"/>
          </p:cNvSpPr>
          <p:nvPr>
            <p:ph type="title"/>
          </p:nvPr>
        </p:nvSpPr>
        <p:spPr>
          <a:xfrm>
            <a:off x="231648" y="158496"/>
            <a:ext cx="11826240" cy="499872"/>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Хичээлийн агуулга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314662-AB2C-97F1-A468-80697FD949D7}"/>
              </a:ext>
            </a:extLst>
          </p:cNvPr>
          <p:cNvSpPr>
            <a:spLocks noGrp="1"/>
          </p:cNvSpPr>
          <p:nvPr>
            <p:ph idx="1"/>
          </p:nvPr>
        </p:nvSpPr>
        <p:spPr>
          <a:xfrm>
            <a:off x="231648" y="803049"/>
            <a:ext cx="11826240" cy="5251902"/>
          </a:xfrm>
        </p:spPr>
        <p:txBody>
          <a:bodyPr>
            <a:normAutofit fontScale="85000" lnSpcReduction="20000"/>
          </a:bodyPr>
          <a:lstStyle/>
          <a:p>
            <a:pPr algn="just"/>
            <a:r>
              <a:rPr lang="mn-MN" sz="3200" dirty="0">
                <a:solidFill>
                  <a:srgbClr val="002060"/>
                </a:solidFill>
                <a:latin typeface="Times New Roman" panose="02020603050405020304" pitchFamily="18" charset="0"/>
                <a:cs typeface="Times New Roman" panose="02020603050405020304" pitchFamily="18" charset="0"/>
              </a:rPr>
              <a:t>Төсөл, үндсэн ойлголт, тодорхойлолтууд, ач холбогдол</a:t>
            </a:r>
          </a:p>
          <a:p>
            <a:pPr algn="just"/>
            <a:r>
              <a:rPr lang="mn-MN" sz="3200" dirty="0">
                <a:solidFill>
                  <a:srgbClr val="002060"/>
                </a:solidFill>
                <a:latin typeface="Times New Roman" panose="02020603050405020304" pitchFamily="18" charset="0"/>
                <a:cs typeface="Times New Roman" panose="02020603050405020304" pitchFamily="18" charset="0"/>
              </a:rPr>
              <a:t>Төслийн ангилал</a:t>
            </a:r>
          </a:p>
          <a:p>
            <a:pPr algn="just"/>
            <a:r>
              <a:rPr lang="mn-MN" sz="3200" dirty="0">
                <a:solidFill>
                  <a:srgbClr val="002060"/>
                </a:solidFill>
                <a:latin typeface="Times New Roman" panose="02020603050405020304" pitchFamily="18" charset="0"/>
                <a:cs typeface="Times New Roman" panose="02020603050405020304" pitchFamily="18" charset="0"/>
              </a:rPr>
              <a:t>Төслийн хамрах хүрээ </a:t>
            </a:r>
            <a:r>
              <a:rPr lang="en-US" sz="3200" dirty="0">
                <a:solidFill>
                  <a:srgbClr val="002060"/>
                </a:solidFill>
                <a:latin typeface="Times New Roman" panose="02020603050405020304" pitchFamily="18" charset="0"/>
                <a:cs typeface="Times New Roman" panose="02020603050405020304" pitchFamily="18" charset="0"/>
              </a:rPr>
              <a:t>(scope)</a:t>
            </a:r>
          </a:p>
          <a:p>
            <a:pPr algn="just"/>
            <a:r>
              <a:rPr lang="mn-MN" sz="3200" dirty="0">
                <a:solidFill>
                  <a:srgbClr val="002060"/>
                </a:solidFill>
                <a:latin typeface="Times New Roman" panose="02020603050405020304" pitchFamily="18" charset="0"/>
                <a:cs typeface="Times New Roman" panose="02020603050405020304" pitchFamily="18" charset="0"/>
              </a:rPr>
              <a:t>Төслийн амьдралын мөчлөг</a:t>
            </a:r>
          </a:p>
          <a:p>
            <a:pPr algn="just"/>
            <a:r>
              <a:rPr lang="mn-MN" sz="3200" dirty="0">
                <a:solidFill>
                  <a:srgbClr val="002060"/>
                </a:solidFill>
                <a:latin typeface="Times New Roman" panose="02020603050405020304" pitchFamily="18" charset="0"/>
                <a:cs typeface="Times New Roman" panose="02020603050405020304" pitchFamily="18" charset="0"/>
              </a:rPr>
              <a:t>Төслийн удирдлага</a:t>
            </a:r>
          </a:p>
          <a:p>
            <a:pPr algn="just"/>
            <a:r>
              <a:rPr lang="mn-MN" sz="3200" dirty="0">
                <a:solidFill>
                  <a:srgbClr val="002060"/>
                </a:solidFill>
                <a:latin typeface="Times New Roman" panose="02020603050405020304" pitchFamily="18" charset="0"/>
                <a:cs typeface="Times New Roman" panose="02020603050405020304" pitchFamily="18" charset="0"/>
              </a:rPr>
              <a:t>Төслийн хязгаарлалт </a:t>
            </a:r>
          </a:p>
          <a:p>
            <a:pPr algn="just"/>
            <a:r>
              <a:rPr lang="mn-MN" sz="3200" dirty="0">
                <a:solidFill>
                  <a:srgbClr val="002060"/>
                </a:solidFill>
                <a:latin typeface="Times New Roman" panose="02020603050405020304" pitchFamily="18" charset="0"/>
                <a:cs typeface="Times New Roman" panose="02020603050405020304" pitchFamily="18" charset="0"/>
              </a:rPr>
              <a:t>Төслийн удирдлагын аргачлал</a:t>
            </a:r>
          </a:p>
          <a:p>
            <a:pPr algn="just"/>
            <a:r>
              <a:rPr lang="mn-MN" sz="3200" dirty="0">
                <a:solidFill>
                  <a:srgbClr val="002060"/>
                </a:solidFill>
                <a:latin typeface="Times New Roman" panose="02020603050405020304" pitchFamily="18" charset="0"/>
                <a:cs typeface="Times New Roman" panose="02020603050405020304" pitchFamily="18" charset="0"/>
              </a:rPr>
              <a:t>Төслийн хуваарь төлөвлөлт, төлөвлөгөө, хяналт</a:t>
            </a:r>
          </a:p>
          <a:p>
            <a:pPr algn="just"/>
            <a:r>
              <a:rPr lang="ru-RU" sz="3200" dirty="0">
                <a:solidFill>
                  <a:srgbClr val="002060"/>
                </a:solidFill>
                <a:latin typeface="Times New Roman" panose="02020603050405020304" pitchFamily="18" charset="0"/>
                <a:cs typeface="Times New Roman" panose="02020603050405020304" pitchFamily="18" charset="0"/>
              </a:rPr>
              <a:t>Ажлын график </a:t>
            </a:r>
            <a:r>
              <a:rPr lang="mn-MN" sz="3200" dirty="0">
                <a:solidFill>
                  <a:srgbClr val="002060"/>
                </a:solidFill>
                <a:latin typeface="Times New Roman" panose="02020603050405020304" pitchFamily="18" charset="0"/>
                <a:cs typeface="Times New Roman" panose="02020603050405020304" pitchFamily="18" charset="0"/>
              </a:rPr>
              <a:t>зураглал </a:t>
            </a:r>
            <a:r>
              <a:rPr lang="ru-RU" sz="3200" dirty="0">
                <a:solidFill>
                  <a:srgbClr val="002060"/>
                </a:solidFill>
                <a:latin typeface="Times New Roman" panose="02020603050405020304" pitchFamily="18" charset="0"/>
                <a:cs typeface="Times New Roman" panose="02020603050405020304" pitchFamily="18" charset="0"/>
              </a:rPr>
              <a:t>(Гантын </a:t>
            </a:r>
            <a:r>
              <a:rPr lang="mn-MN" sz="3200" dirty="0">
                <a:solidFill>
                  <a:srgbClr val="002060"/>
                </a:solidFill>
                <a:latin typeface="Times New Roman" panose="02020603050405020304" pitchFamily="18" charset="0"/>
                <a:cs typeface="Times New Roman" panose="02020603050405020304" pitchFamily="18" charset="0"/>
              </a:rPr>
              <a:t>диаграм</a:t>
            </a:r>
            <a:r>
              <a:rPr lang="ru-RU" sz="3200" dirty="0">
                <a:solidFill>
                  <a:srgbClr val="002060"/>
                </a:solidFill>
                <a:latin typeface="Times New Roman" panose="02020603050405020304" pitchFamily="18" charset="0"/>
                <a:cs typeface="Times New Roman" panose="02020603050405020304" pitchFamily="18" charset="0"/>
              </a:rPr>
              <a:t>)</a:t>
            </a:r>
            <a:endParaRPr lang="mn-MN" sz="3200" dirty="0">
              <a:solidFill>
                <a:srgbClr val="002060"/>
              </a:solidFill>
              <a:latin typeface="Times New Roman" panose="02020603050405020304" pitchFamily="18" charset="0"/>
              <a:cs typeface="Times New Roman" panose="02020603050405020304" pitchFamily="18" charset="0"/>
            </a:endParaRPr>
          </a:p>
          <a:p>
            <a:pPr algn="just"/>
            <a:r>
              <a:rPr lang="mn-MN" sz="3100" dirty="0">
                <a:solidFill>
                  <a:srgbClr val="002060"/>
                </a:solidFill>
                <a:latin typeface="Times New Roman" panose="02020603050405020304" pitchFamily="18" charset="0"/>
                <a:cs typeface="Times New Roman" panose="02020603050405020304" pitchFamily="18" charset="0"/>
              </a:rPr>
              <a:t>Ажлын задаргааны бүтэц – </a:t>
            </a:r>
            <a:r>
              <a:rPr lang="en-US" altLang="en-US" sz="3100" dirty="0">
                <a:solidFill>
                  <a:srgbClr val="002060"/>
                </a:solidFill>
                <a:latin typeface="Times New Roman" panose="02020603050405020304" pitchFamily="18" charset="0"/>
                <a:cs typeface="Times New Roman" panose="02020603050405020304" pitchFamily="18" charset="0"/>
              </a:rPr>
              <a:t>Work Breakdown Structure (WBS)</a:t>
            </a:r>
            <a:endParaRPr lang="mn-MN" altLang="en-US" sz="3100" dirty="0">
              <a:solidFill>
                <a:srgbClr val="002060"/>
              </a:solidFill>
              <a:latin typeface="Times New Roman" panose="02020603050405020304" pitchFamily="18" charset="0"/>
              <a:cs typeface="Times New Roman" panose="02020603050405020304" pitchFamily="18" charset="0"/>
            </a:endParaRPr>
          </a:p>
          <a:p>
            <a:pPr lvl="1" algn="just"/>
            <a:r>
              <a:rPr lang="mn-MN" altLang="en-US" sz="2700" dirty="0">
                <a:solidFill>
                  <a:srgbClr val="002060"/>
                </a:solidFill>
                <a:latin typeface="Times New Roman" panose="02020603050405020304" pitchFamily="18" charset="0"/>
                <a:cs typeface="Times New Roman" panose="02020603050405020304" pitchFamily="18" charset="0"/>
              </a:rPr>
              <a:t>Үүрэг, хариуцлагын матриц</a:t>
            </a:r>
          </a:p>
          <a:p>
            <a:pPr algn="just"/>
            <a:r>
              <a:rPr lang="mn-MN" sz="3300" dirty="0">
                <a:solidFill>
                  <a:srgbClr val="002060"/>
                </a:solidFill>
                <a:latin typeface="Times New Roman" panose="02020603050405020304" pitchFamily="18" charset="0"/>
                <a:cs typeface="Times New Roman" panose="02020603050405020304" pitchFamily="18" charset="0"/>
              </a:rPr>
              <a:t>Тооцооллын арга – </a:t>
            </a:r>
            <a:r>
              <a:rPr lang="en-US" sz="3300" dirty="0">
                <a:solidFill>
                  <a:srgbClr val="002060"/>
                </a:solidFill>
                <a:latin typeface="Times New Roman" panose="02020603050405020304" pitchFamily="18" charset="0"/>
                <a:cs typeface="Times New Roman" panose="02020603050405020304" pitchFamily="18" charset="0"/>
              </a:rPr>
              <a:t>Estimation Techniques</a:t>
            </a:r>
            <a:r>
              <a:rPr lang="mn-MN" sz="3300" dirty="0">
                <a:solidFill>
                  <a:srgbClr val="002060"/>
                </a:solidFill>
                <a:latin typeface="Times New Roman" panose="02020603050405020304" pitchFamily="18" charset="0"/>
                <a:cs typeface="Times New Roman" panose="02020603050405020304" pitchFamily="18" charset="0"/>
              </a:rPr>
              <a:t> </a:t>
            </a:r>
            <a:r>
              <a:rPr lang="en-US" sz="3300" dirty="0">
                <a:solidFill>
                  <a:srgbClr val="002060"/>
                </a:solidFill>
                <a:latin typeface="Times New Roman" panose="02020603050405020304" pitchFamily="18" charset="0"/>
                <a:cs typeface="Times New Roman" panose="02020603050405020304" pitchFamily="18" charset="0"/>
              </a:rPr>
              <a:t>– </a:t>
            </a:r>
            <a:r>
              <a:rPr lang="mn-MN" sz="3300" dirty="0">
                <a:solidFill>
                  <a:srgbClr val="002060"/>
                </a:solidFill>
                <a:latin typeface="Times New Roman" panose="02020603050405020304" pitchFamily="18" charset="0"/>
                <a:cs typeface="Times New Roman" panose="02020603050405020304" pitchFamily="18" charset="0"/>
              </a:rPr>
              <a:t>Төслийн удирдлагын аргууд</a:t>
            </a:r>
          </a:p>
        </p:txBody>
      </p:sp>
    </p:spTree>
    <p:extLst>
      <p:ext uri="{BB962C8B-B14F-4D97-AF65-F5344CB8AC3E}">
        <p14:creationId xmlns:p14="http://schemas.microsoft.com/office/powerpoint/2010/main" val="232091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6EBD4-7A90-205E-1BFB-79A67F1AA754}"/>
              </a:ext>
            </a:extLst>
          </p:cNvPr>
          <p:cNvSpPr>
            <a:spLocks noGrp="1"/>
          </p:cNvSpPr>
          <p:nvPr>
            <p:ph type="title"/>
          </p:nvPr>
        </p:nvSpPr>
        <p:spPr>
          <a:xfrm>
            <a:off x="155448" y="121285"/>
            <a:ext cx="11780520" cy="415163"/>
          </a:xfrm>
        </p:spPr>
        <p:txBody>
          <a:bodyPr>
            <a:normAutofit fontScale="90000"/>
          </a:bodyPr>
          <a:lstStyle/>
          <a:p>
            <a:pPr algn="just"/>
            <a:r>
              <a:rPr lang="mn-MN" sz="3600" b="1" dirty="0">
                <a:solidFill>
                  <a:srgbClr val="002060"/>
                </a:solidFill>
                <a:latin typeface="Times New Roman" panose="02020603050405020304" pitchFamily="18" charset="0"/>
                <a:cs typeface="Times New Roman" panose="02020603050405020304" pitchFamily="18" charset="0"/>
              </a:rPr>
              <a:t>Төсөл, үндсэн ойлголт, тодорхойлолтууд</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21FDD3-7CA8-CDEF-6E8E-B2A9291D2D61}"/>
              </a:ext>
            </a:extLst>
          </p:cNvPr>
          <p:cNvSpPr>
            <a:spLocks noGrp="1"/>
          </p:cNvSpPr>
          <p:nvPr>
            <p:ph idx="1"/>
          </p:nvPr>
        </p:nvSpPr>
        <p:spPr>
          <a:xfrm>
            <a:off x="155448" y="536448"/>
            <a:ext cx="11780520" cy="5535386"/>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Төслийг маш олон талаас нь тодорхойлж болно. </a:t>
            </a:r>
            <a:r>
              <a:rPr lang="mn-MN" sz="3200" b="1" dirty="0">
                <a:solidFill>
                  <a:srgbClr val="002060"/>
                </a:solidFill>
                <a:latin typeface="Times New Roman" panose="02020603050405020304" pitchFamily="18" charset="0"/>
                <a:cs typeface="Times New Roman" panose="02020603050405020304" pitchFamily="18" charset="0"/>
              </a:rPr>
              <a:t>Төсөл гэж:</a:t>
            </a:r>
          </a:p>
          <a:p>
            <a:pPr lvl="1" algn="just"/>
            <a:r>
              <a:rPr lang="mn-MN" sz="2800" dirty="0">
                <a:solidFill>
                  <a:srgbClr val="002060"/>
                </a:solidFill>
                <a:latin typeface="Times New Roman" panose="02020603050405020304" pitchFamily="18" charset="0"/>
                <a:cs typeface="Times New Roman" panose="02020603050405020304" pitchFamily="18" charset="0"/>
              </a:rPr>
              <a:t>Ирээдүйд төлөвлөсөн үйл ажиллагааг өнөөгийн байгаа нөөцдөө тулгуурлан бүх талаас нь урьдчилан төлөвлөгөөтэйгээр харах цонх.</a:t>
            </a:r>
          </a:p>
          <a:p>
            <a:pPr lvl="1" algn="just"/>
            <a:r>
              <a:rPr lang="mn-MN" sz="2800" dirty="0">
                <a:solidFill>
                  <a:srgbClr val="002060"/>
                </a:solidFill>
                <a:latin typeface="Times New Roman" panose="02020603050405020304" pitchFamily="18" charset="0"/>
                <a:cs typeface="Times New Roman" panose="02020603050405020304" pitchFamily="18" charset="0"/>
              </a:rPr>
              <a:t>Тодорхой зорилгоор урьдчилан төлөвлөсөн нөөцөд үндэслэн зориуд сонгосон арга барилаар өгөгдсөн хугацаанд явуулах хувь хүний болон багийн хамтын бүтээлч үйл ажиллагаа.</a:t>
            </a:r>
          </a:p>
          <a:p>
            <a:pPr lvl="1" algn="just"/>
            <a:r>
              <a:rPr lang="mn-MN" sz="2800" dirty="0">
                <a:solidFill>
                  <a:srgbClr val="002060"/>
                </a:solidFill>
                <a:latin typeface="Times New Roman" panose="02020603050405020304" pitchFamily="18" charset="0"/>
                <a:cs typeface="Times New Roman" panose="02020603050405020304" pitchFamily="18" charset="0"/>
              </a:rPr>
              <a:t>Урьдчилан боловсруулсан аргын тусламжтайгаар тодорхой зорилгод хүрэх байнгын бус, өгөгдсөн хугацаатай ажлын хэлбэр бөгөөд </a:t>
            </a:r>
            <a:r>
              <a:rPr lang="mn-MN" sz="2800" b="1" i="1" dirty="0">
                <a:solidFill>
                  <a:srgbClr val="002060"/>
                </a:solidFill>
                <a:latin typeface="Times New Roman" panose="02020603050405020304" pitchFamily="18" charset="0"/>
                <a:cs typeface="Times New Roman" panose="02020603050405020304" pitchFamily="18" charset="0"/>
              </a:rPr>
              <a:t>зорилго, хугацаа, нөөц, ажиллах арга </a:t>
            </a:r>
            <a:r>
              <a:rPr lang="mn-MN" sz="2800" dirty="0">
                <a:solidFill>
                  <a:srgbClr val="002060"/>
                </a:solidFill>
                <a:latin typeface="Times New Roman" panose="02020603050405020304" pitchFamily="18" charset="0"/>
                <a:cs typeface="Times New Roman" panose="02020603050405020304" pitchFamily="18" charset="0"/>
              </a:rPr>
              <a:t>гэсэн 4 үндсэн шалгууртай.</a:t>
            </a:r>
          </a:p>
          <a:p>
            <a:pPr lvl="1" algn="just"/>
            <a:r>
              <a:rPr lang="mn-MN" sz="2800" b="1" i="1" dirty="0">
                <a:solidFill>
                  <a:srgbClr val="002060"/>
                </a:solidFill>
                <a:latin typeface="Times New Roman" panose="02020603050405020304" pitchFamily="18" charset="0"/>
                <a:cs typeface="Times New Roman" panose="02020603050405020304" pitchFamily="18" charset="0"/>
              </a:rPr>
              <a:t>Нийгэм, эдийн засгийн салбарт болон байгууллагын удирдлагын зохион байгуулалт, техник технологид өөрчлөлт, шинэчлэлт, сайжруулалт, шинэ зүйл нэвтрүүлэх замаар нийгэм, эдийн засгийн тодорхой үр дүнд хүрэх үйл ажиллагааг төсөл гэнэ.</a:t>
            </a:r>
          </a:p>
        </p:txBody>
      </p:sp>
    </p:spTree>
    <p:extLst>
      <p:ext uri="{BB962C8B-B14F-4D97-AF65-F5344CB8AC3E}">
        <p14:creationId xmlns:p14="http://schemas.microsoft.com/office/powerpoint/2010/main" val="936955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6EBD4-7A90-205E-1BFB-79A67F1AA754}"/>
              </a:ext>
            </a:extLst>
          </p:cNvPr>
          <p:cNvSpPr>
            <a:spLocks noGrp="1"/>
          </p:cNvSpPr>
          <p:nvPr>
            <p:ph type="title"/>
          </p:nvPr>
        </p:nvSpPr>
        <p:spPr>
          <a:xfrm>
            <a:off x="167640" y="133478"/>
            <a:ext cx="11756136" cy="463297"/>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Төслийн ач холбогдол</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21FDD3-7CA8-CDEF-6E8E-B2A9291D2D61}"/>
              </a:ext>
            </a:extLst>
          </p:cNvPr>
          <p:cNvSpPr>
            <a:spLocks noGrp="1"/>
          </p:cNvSpPr>
          <p:nvPr>
            <p:ph idx="1"/>
          </p:nvPr>
        </p:nvSpPr>
        <p:spPr>
          <a:xfrm>
            <a:off x="217932" y="596775"/>
            <a:ext cx="11756136" cy="5023303"/>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Байгаа хүч, нөөц бололцоогоо зөв хувиарлан, үр өгөөжтэйгөөр хамтран ажиллах;</a:t>
            </a:r>
          </a:p>
          <a:p>
            <a:pPr algn="just"/>
            <a:r>
              <a:rPr lang="mn-MN" sz="3200" dirty="0">
                <a:solidFill>
                  <a:srgbClr val="002060"/>
                </a:solidFill>
                <a:latin typeface="Times New Roman" panose="02020603050405020304" pitchFamily="18" charset="0"/>
                <a:cs typeface="Times New Roman" panose="02020603050405020304" pitchFamily="18" charset="0"/>
              </a:rPr>
              <a:t>Хүчээ төвлөрүүлж, нөөцөө зөв ашиглах; </a:t>
            </a:r>
          </a:p>
          <a:p>
            <a:pPr algn="just"/>
            <a:r>
              <a:rPr lang="mn-MN" sz="3200" dirty="0">
                <a:solidFill>
                  <a:srgbClr val="002060"/>
                </a:solidFill>
                <a:latin typeface="Times New Roman" panose="02020603050405020304" pitchFamily="18" charset="0"/>
                <a:cs typeface="Times New Roman" panose="02020603050405020304" pitchFamily="18" charset="0"/>
              </a:rPr>
              <a:t>Өнөөгийн байдалд үнэлэлт өгөх, эрсдэлийг урьдчилан харах; </a:t>
            </a:r>
          </a:p>
          <a:p>
            <a:pPr algn="just"/>
            <a:r>
              <a:rPr lang="mn-MN" sz="3200" dirty="0">
                <a:solidFill>
                  <a:srgbClr val="002060"/>
                </a:solidFill>
                <a:latin typeface="Times New Roman" panose="02020603050405020304" pitchFamily="18" charset="0"/>
                <a:cs typeface="Times New Roman" panose="02020603050405020304" pitchFamily="18" charset="0"/>
              </a:rPr>
              <a:t>Хамтран ажиллаж, асуудлын ач холбогдлыг ойлгох; </a:t>
            </a:r>
          </a:p>
          <a:p>
            <a:pPr algn="just"/>
            <a:r>
              <a:rPr lang="mn-MN" sz="3200" dirty="0">
                <a:solidFill>
                  <a:srgbClr val="002060"/>
                </a:solidFill>
                <a:latin typeface="Times New Roman" panose="02020603050405020304" pitchFamily="18" charset="0"/>
                <a:cs typeface="Times New Roman" panose="02020603050405020304" pitchFamily="18" charset="0"/>
              </a:rPr>
              <a:t>Тулгамдсан асуудлуудыг олж харж, шийдвэрлэх арга замыг олох; </a:t>
            </a:r>
          </a:p>
          <a:p>
            <a:pPr algn="just"/>
            <a:r>
              <a:rPr lang="mn-MN" sz="3200" dirty="0">
                <a:solidFill>
                  <a:srgbClr val="002060"/>
                </a:solidFill>
                <a:latin typeface="Times New Roman" panose="02020603050405020304" pitchFamily="18" charset="0"/>
                <a:cs typeface="Times New Roman" panose="02020603050405020304" pitchFamily="18" charset="0"/>
              </a:rPr>
              <a:t>Бизнесийн амжилт олох, өрсөлдөөнд ялах зэрэгт оршино.</a:t>
            </a:r>
          </a:p>
        </p:txBody>
      </p:sp>
    </p:spTree>
    <p:extLst>
      <p:ext uri="{BB962C8B-B14F-4D97-AF65-F5344CB8AC3E}">
        <p14:creationId xmlns:p14="http://schemas.microsoft.com/office/powerpoint/2010/main" val="1102207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6EBD4-7A90-205E-1BFB-79A67F1AA754}"/>
              </a:ext>
            </a:extLst>
          </p:cNvPr>
          <p:cNvSpPr>
            <a:spLocks noGrp="1"/>
          </p:cNvSpPr>
          <p:nvPr>
            <p:ph type="title"/>
          </p:nvPr>
        </p:nvSpPr>
        <p:spPr>
          <a:xfrm>
            <a:off x="326136" y="145670"/>
            <a:ext cx="11536680" cy="438913"/>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Төслийн ангилал, төрөл</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21FDD3-7CA8-CDEF-6E8E-B2A9291D2D61}"/>
              </a:ext>
            </a:extLst>
          </p:cNvPr>
          <p:cNvSpPr>
            <a:spLocks noGrp="1"/>
          </p:cNvSpPr>
          <p:nvPr>
            <p:ph idx="1"/>
          </p:nvPr>
        </p:nvSpPr>
        <p:spPr>
          <a:xfrm>
            <a:off x="327660" y="584583"/>
            <a:ext cx="11536680" cy="5023303"/>
          </a:xfrm>
        </p:spPr>
        <p:txBody>
          <a:bodyPr>
            <a:normAutofit lnSpcReduction="10000"/>
          </a:bodyPr>
          <a:lstStyle/>
          <a:p>
            <a:pPr marL="514350" indent="-514350" algn="just">
              <a:buFont typeface="+mj-lt"/>
              <a:buAutoNum type="arabicPeriod"/>
            </a:pPr>
            <a:r>
              <a:rPr lang="mn-MN" sz="3600" dirty="0">
                <a:solidFill>
                  <a:srgbClr val="002060"/>
                </a:solidFill>
                <a:latin typeface="Times New Roman" panose="02020603050405020304" pitchFamily="18" charset="0"/>
                <a:cs typeface="Times New Roman" panose="02020603050405020304" pitchFamily="18" charset="0"/>
              </a:rPr>
              <a:t>Нийгмийн </a:t>
            </a:r>
            <a:r>
              <a:rPr lang="en-US" sz="3600" dirty="0">
                <a:solidFill>
                  <a:srgbClr val="002060"/>
                </a:solidFill>
                <a:latin typeface="Times New Roman" panose="02020603050405020304" pitchFamily="18" charset="0"/>
                <a:cs typeface="Times New Roman" panose="02020603050405020304" pitchFamily="18" charset="0"/>
              </a:rPr>
              <a:t>(</a:t>
            </a:r>
            <a:r>
              <a:rPr lang="mn-MN" sz="3600" dirty="0">
                <a:solidFill>
                  <a:srgbClr val="002060"/>
                </a:solidFill>
                <a:latin typeface="Times New Roman" panose="02020603050405020304" pitchFamily="18" charset="0"/>
                <a:cs typeface="Times New Roman" panose="02020603050405020304" pitchFamily="18" charset="0"/>
              </a:rPr>
              <a:t>олон нийтийн</a:t>
            </a:r>
            <a:r>
              <a:rPr lang="en-US" sz="3600" dirty="0">
                <a:solidFill>
                  <a:srgbClr val="002060"/>
                </a:solidFill>
                <a:latin typeface="Times New Roman" panose="02020603050405020304" pitchFamily="18" charset="0"/>
                <a:cs typeface="Times New Roman" panose="02020603050405020304" pitchFamily="18" charset="0"/>
              </a:rPr>
              <a:t>)</a:t>
            </a:r>
            <a:r>
              <a:rPr lang="mn-MN" sz="3600" dirty="0">
                <a:solidFill>
                  <a:srgbClr val="002060"/>
                </a:solidFill>
                <a:latin typeface="Times New Roman" panose="02020603050405020304" pitchFamily="18" charset="0"/>
                <a:cs typeface="Times New Roman" panose="02020603050405020304" pitchFamily="18" charset="0"/>
              </a:rPr>
              <a:t> төсөл; </a:t>
            </a:r>
          </a:p>
          <a:p>
            <a:pPr marL="514350" indent="-514350" algn="just">
              <a:buFont typeface="+mj-lt"/>
              <a:buAutoNum type="arabicPeriod"/>
            </a:pPr>
            <a:r>
              <a:rPr lang="mn-MN" sz="3600" dirty="0">
                <a:solidFill>
                  <a:srgbClr val="002060"/>
                </a:solidFill>
                <a:latin typeface="Times New Roman" panose="02020603050405020304" pitchFamily="18" charset="0"/>
                <a:cs typeface="Times New Roman" panose="02020603050405020304" pitchFamily="18" charset="0"/>
              </a:rPr>
              <a:t>Бизнесийн төсөл; </a:t>
            </a:r>
          </a:p>
          <a:p>
            <a:pPr marL="514350" indent="-514350" algn="just">
              <a:buFont typeface="+mj-lt"/>
              <a:buAutoNum type="arabicPeriod"/>
            </a:pPr>
            <a:r>
              <a:rPr lang="mn-MN" sz="3600" dirty="0">
                <a:solidFill>
                  <a:srgbClr val="002060"/>
                </a:solidFill>
                <a:latin typeface="Times New Roman" panose="02020603050405020304" pitchFamily="18" charset="0"/>
                <a:cs typeface="Times New Roman" panose="02020603050405020304" pitchFamily="18" charset="0"/>
              </a:rPr>
              <a:t>Зохион байгуулалтын төсөл;</a:t>
            </a:r>
          </a:p>
          <a:p>
            <a:pPr marL="514350" indent="-514350" algn="just">
              <a:buFont typeface="+mj-lt"/>
              <a:buAutoNum type="arabicPeriod"/>
            </a:pPr>
            <a:r>
              <a:rPr lang="mn-MN" sz="3600" dirty="0">
                <a:solidFill>
                  <a:srgbClr val="002060"/>
                </a:solidFill>
                <a:latin typeface="Times New Roman" panose="02020603050405020304" pitchFamily="18" charset="0"/>
                <a:cs typeface="Times New Roman" panose="02020603050405020304" pitchFamily="18" charset="0"/>
              </a:rPr>
              <a:t>Техник технологийн төсөл; </a:t>
            </a:r>
          </a:p>
          <a:p>
            <a:pPr marL="514350" indent="-514350" algn="just">
              <a:buFont typeface="+mj-lt"/>
              <a:buAutoNum type="arabicPeriod"/>
            </a:pPr>
            <a:r>
              <a:rPr lang="mn-MN" sz="3600" dirty="0">
                <a:solidFill>
                  <a:srgbClr val="002060"/>
                </a:solidFill>
                <a:latin typeface="Times New Roman" panose="02020603050405020304" pitchFamily="18" charset="0"/>
                <a:cs typeface="Times New Roman" panose="02020603050405020304" pitchFamily="18" charset="0"/>
              </a:rPr>
              <a:t>Хосолсон төсөл.</a:t>
            </a:r>
          </a:p>
          <a:p>
            <a:pPr marL="0" indent="0" algn="just">
              <a:buNone/>
            </a:pPr>
            <a:r>
              <a:rPr lang="mn-MN" sz="3600" dirty="0">
                <a:solidFill>
                  <a:srgbClr val="002060"/>
                </a:solidFill>
                <a:latin typeface="Times New Roman" panose="02020603050405020304" pitchFamily="18" charset="0"/>
                <a:cs typeface="Times New Roman" panose="02020603050405020304" pitchFamily="18" charset="0"/>
              </a:rPr>
              <a:t>Хугацаагаар нь: </a:t>
            </a:r>
          </a:p>
          <a:p>
            <a:pPr lvl="1" algn="just"/>
            <a:r>
              <a:rPr lang="mn-MN" sz="3200" dirty="0">
                <a:solidFill>
                  <a:srgbClr val="002060"/>
                </a:solidFill>
                <a:latin typeface="Times New Roman" panose="02020603050405020304" pitchFamily="18" charset="0"/>
                <a:cs typeface="Times New Roman" panose="02020603050405020304" pitchFamily="18" charset="0"/>
              </a:rPr>
              <a:t>Богино, </a:t>
            </a:r>
          </a:p>
          <a:p>
            <a:pPr lvl="1" algn="just"/>
            <a:r>
              <a:rPr lang="mn-MN" sz="3200" dirty="0">
                <a:solidFill>
                  <a:srgbClr val="002060"/>
                </a:solidFill>
                <a:latin typeface="Times New Roman" panose="02020603050405020304" pitchFamily="18" charset="0"/>
                <a:cs typeface="Times New Roman" panose="02020603050405020304" pitchFamily="18" charset="0"/>
              </a:rPr>
              <a:t>Дунд, </a:t>
            </a:r>
          </a:p>
          <a:p>
            <a:pPr lvl="1" algn="just"/>
            <a:r>
              <a:rPr lang="mn-MN" sz="3200" dirty="0">
                <a:solidFill>
                  <a:srgbClr val="002060"/>
                </a:solidFill>
                <a:latin typeface="Times New Roman" panose="02020603050405020304" pitchFamily="18" charset="0"/>
                <a:cs typeface="Times New Roman" panose="02020603050405020304" pitchFamily="18" charset="0"/>
              </a:rPr>
              <a:t>Урт хугацаатай төсөл гэж ангилна.</a:t>
            </a:r>
          </a:p>
        </p:txBody>
      </p:sp>
    </p:spTree>
    <p:extLst>
      <p:ext uri="{BB962C8B-B14F-4D97-AF65-F5344CB8AC3E}">
        <p14:creationId xmlns:p14="http://schemas.microsoft.com/office/powerpoint/2010/main" val="855858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6EBD4-7A90-205E-1BFB-79A67F1AA754}"/>
              </a:ext>
            </a:extLst>
          </p:cNvPr>
          <p:cNvSpPr>
            <a:spLocks noGrp="1"/>
          </p:cNvSpPr>
          <p:nvPr>
            <p:ph type="title"/>
          </p:nvPr>
        </p:nvSpPr>
        <p:spPr>
          <a:xfrm>
            <a:off x="188976" y="96902"/>
            <a:ext cx="11814048" cy="366394"/>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Төслийн хамрах хүрээ</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21FDD3-7CA8-CDEF-6E8E-B2A9291D2D61}"/>
              </a:ext>
            </a:extLst>
          </p:cNvPr>
          <p:cNvSpPr>
            <a:spLocks noGrp="1"/>
          </p:cNvSpPr>
          <p:nvPr>
            <p:ph idx="1"/>
          </p:nvPr>
        </p:nvSpPr>
        <p:spPr>
          <a:xfrm>
            <a:off x="188976" y="573025"/>
            <a:ext cx="11814048" cy="2855976"/>
          </a:xfrm>
        </p:spPr>
        <p:txBody>
          <a:bodyPr>
            <a:noAutofit/>
          </a:bodyPr>
          <a:lstStyle/>
          <a:p>
            <a:pPr algn="just"/>
            <a:r>
              <a:rPr lang="mn-MN" sz="2900" dirty="0">
                <a:solidFill>
                  <a:srgbClr val="002060"/>
                </a:solidFill>
                <a:latin typeface="Times New Roman" panose="02020603050405020304" pitchFamily="18" charset="0"/>
                <a:cs typeface="Times New Roman" panose="02020603050405020304" pitchFamily="18" charset="0"/>
              </a:rPr>
              <a:t>Төслийн хамрах хүрээ нь зорилго, хэлбэр, ангилалаас хамаарч янз бүр байх бөгөөд оролцогчдын тоо зөвхөн нэг хүн байж болохоос гадна хэдэн мянган хүнийг ч хамрах боломжтой бөгөөд хэдэн саяар хэмжигдэх цагт ч хэрэгжиж байдаг. </a:t>
            </a:r>
          </a:p>
          <a:p>
            <a:pPr algn="just"/>
            <a:r>
              <a:rPr lang="mn-MN" sz="2900" dirty="0">
                <a:solidFill>
                  <a:srgbClr val="002060"/>
                </a:solidFill>
                <a:latin typeface="Times New Roman" panose="02020603050405020304" pitchFamily="18" charset="0"/>
                <a:cs typeface="Times New Roman" panose="02020603050405020304" pitchFamily="18" charset="0"/>
              </a:rPr>
              <a:t>Өвөрмөц байдал, онцлогоос хамаараад төслүүд нь ялгаатай байж болох ч бүтээгдэхүүн эсвэл үйлчилгээний нэгдмэл шинж чанарыг тодорхой цаг хугацаанд хангахыг зорьж байдгаараа бүгд ижил. </a:t>
            </a:r>
          </a:p>
        </p:txBody>
      </p:sp>
      <p:graphicFrame>
        <p:nvGraphicFramePr>
          <p:cNvPr id="4" name="Object 3">
            <a:extLst>
              <a:ext uri="{FF2B5EF4-FFF2-40B4-BE49-F238E27FC236}">
                <a16:creationId xmlns:a16="http://schemas.microsoft.com/office/drawing/2014/main" id="{D1688788-7FDB-E146-39CC-625663631EF9}"/>
              </a:ext>
            </a:extLst>
          </p:cNvPr>
          <p:cNvGraphicFramePr>
            <a:graphicFrameLocks noChangeAspect="1"/>
          </p:cNvGraphicFramePr>
          <p:nvPr>
            <p:extLst>
              <p:ext uri="{D42A27DB-BD31-4B8C-83A1-F6EECF244321}">
                <p14:modId xmlns:p14="http://schemas.microsoft.com/office/powerpoint/2010/main" val="2512999178"/>
              </p:ext>
            </p:extLst>
          </p:nvPr>
        </p:nvGraphicFramePr>
        <p:xfrm>
          <a:off x="1069844" y="3453384"/>
          <a:ext cx="10158988" cy="2855976"/>
        </p:xfrm>
        <a:graphic>
          <a:graphicData uri="http://schemas.openxmlformats.org/presentationml/2006/ole">
            <mc:AlternateContent xmlns:mc="http://schemas.openxmlformats.org/markup-compatibility/2006">
              <mc:Choice xmlns:v="urn:schemas-microsoft-com:vml" Requires="v">
                <p:oleObj name="Visio" r:id="rId3" imgW="4602622" imgH="1249711" progId="Visio.Drawing.15">
                  <p:embed/>
                </p:oleObj>
              </mc:Choice>
              <mc:Fallback>
                <p:oleObj name="Visio" r:id="rId3" imgW="4602622" imgH="1249711" progId="Visio.Drawing.15">
                  <p:embed/>
                  <p:pic>
                    <p:nvPicPr>
                      <p:cNvPr id="4" name="Object 3">
                        <a:extLst>
                          <a:ext uri="{FF2B5EF4-FFF2-40B4-BE49-F238E27FC236}">
                            <a16:creationId xmlns:a16="http://schemas.microsoft.com/office/drawing/2014/main" id="{D1688788-7FDB-E146-39CC-625663631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844" y="3453384"/>
                        <a:ext cx="10158988" cy="2855976"/>
                      </a:xfrm>
                      <a:prstGeom prst="rect">
                        <a:avLst/>
                      </a:prstGeom>
                      <a:noFill/>
                    </p:spPr>
                  </p:pic>
                </p:oleObj>
              </mc:Fallback>
            </mc:AlternateContent>
          </a:graphicData>
        </a:graphic>
      </p:graphicFrame>
    </p:spTree>
    <p:extLst>
      <p:ext uri="{BB962C8B-B14F-4D97-AF65-F5344CB8AC3E}">
        <p14:creationId xmlns:p14="http://schemas.microsoft.com/office/powerpoint/2010/main" val="2751858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9053E1-87FA-CD1B-BFF4-4FED8815C57C}"/>
              </a:ext>
            </a:extLst>
          </p:cNvPr>
          <p:cNvSpPr>
            <a:spLocks noGrp="1"/>
          </p:cNvSpPr>
          <p:nvPr>
            <p:ph type="title"/>
          </p:nvPr>
        </p:nvSpPr>
        <p:spPr>
          <a:xfrm>
            <a:off x="298580" y="141190"/>
            <a:ext cx="11588620" cy="1668949"/>
          </a:xfrm>
        </p:spPr>
        <p:txBody>
          <a:bodyPr>
            <a:noAutofit/>
          </a:bodyPr>
          <a:lstStyle/>
          <a:p>
            <a:pPr algn="just"/>
            <a:r>
              <a:rPr lang="mn-MN" sz="2800" b="1" dirty="0">
                <a:solidFill>
                  <a:srgbClr val="002060"/>
                </a:solidFill>
                <a:latin typeface="Times New Roman" panose="02020603050405020304" pitchFamily="18" charset="0"/>
                <a:cs typeface="Times New Roman" panose="02020603050405020304" pitchFamily="18" charset="0"/>
              </a:rPr>
              <a:t>Төсөл боловсруулах шаардлага нь бүтээгдэхүүний загвар дизайн, нэр төрлийн өөрчлөлт, хэрэглэгчдийн эрэлт, салбарын хөгжил ба зах зээлийн өсөлт, тулгамдаж байгаа болон тулгарч болзошгүй асуудал бэрхшээлээс үүсч бий болдог.</a:t>
            </a:r>
            <a:endParaRPr lang="en-US" sz="28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8D97C9D-3DDE-CE5A-337D-A78367780048}"/>
              </a:ext>
            </a:extLst>
          </p:cNvPr>
          <p:cNvSpPr>
            <a:spLocks noGrp="1"/>
          </p:cNvSpPr>
          <p:nvPr>
            <p:ph sz="half" idx="1"/>
          </p:nvPr>
        </p:nvSpPr>
        <p:spPr>
          <a:xfrm>
            <a:off x="298580" y="1810140"/>
            <a:ext cx="5467738" cy="4702627"/>
          </a:xfrm>
        </p:spPr>
        <p:txBody>
          <a:bodyPr>
            <a:normAutofit lnSpcReduction="10000"/>
          </a:bodyPr>
          <a:lstStyle/>
          <a:p>
            <a:pPr lvl="0" algn="just"/>
            <a:r>
              <a:rPr lang="mn-MN" dirty="0">
                <a:solidFill>
                  <a:srgbClr val="002060"/>
                </a:solidFill>
                <a:latin typeface="Times New Roman" panose="02020603050405020304" pitchFamily="18" charset="0"/>
                <a:cs typeface="Times New Roman" panose="02020603050405020304" pitchFamily="18" charset="0"/>
              </a:rPr>
              <a:t>Шинэ бараа, бүтээгдэхүүн, үйлчилгээг бий болгох;</a:t>
            </a:r>
            <a:endParaRPr lang="en-US" dirty="0">
              <a:solidFill>
                <a:srgbClr val="002060"/>
              </a:solidFill>
              <a:latin typeface="Times New Roman" panose="02020603050405020304" pitchFamily="18" charset="0"/>
              <a:cs typeface="Times New Roman" panose="02020603050405020304" pitchFamily="18" charset="0"/>
            </a:endParaRPr>
          </a:p>
          <a:p>
            <a:pPr lvl="0" algn="just"/>
            <a:r>
              <a:rPr lang="mn-MN" dirty="0">
                <a:solidFill>
                  <a:srgbClr val="002060"/>
                </a:solidFill>
                <a:latin typeface="Times New Roman" panose="02020603050405020304" pitchFamily="18" charset="0"/>
                <a:cs typeface="Times New Roman" panose="02020603050405020304" pitchFamily="18" charset="0"/>
              </a:rPr>
              <a:t>Байгууллагын бүтэц, зохион байгуулалтын үр нөлөөг сайжруулах;</a:t>
            </a:r>
            <a:endParaRPr lang="en-US" dirty="0">
              <a:solidFill>
                <a:srgbClr val="002060"/>
              </a:solidFill>
              <a:latin typeface="Times New Roman" panose="02020603050405020304" pitchFamily="18" charset="0"/>
              <a:cs typeface="Times New Roman" panose="02020603050405020304" pitchFamily="18" charset="0"/>
            </a:endParaRPr>
          </a:p>
          <a:p>
            <a:pPr lvl="0" algn="just"/>
            <a:r>
              <a:rPr lang="mn-MN" dirty="0">
                <a:solidFill>
                  <a:srgbClr val="002060"/>
                </a:solidFill>
                <a:latin typeface="Times New Roman" panose="02020603050405020304" pitchFamily="18" charset="0"/>
                <a:cs typeface="Times New Roman" panose="02020603050405020304" pitchFamily="18" charset="0"/>
              </a:rPr>
              <a:t>Шинэ бодлогыг хэрэгжүүлэх;</a:t>
            </a:r>
            <a:endParaRPr lang="en-US" dirty="0">
              <a:solidFill>
                <a:srgbClr val="002060"/>
              </a:solidFill>
              <a:latin typeface="Times New Roman" panose="02020603050405020304" pitchFamily="18" charset="0"/>
              <a:cs typeface="Times New Roman" panose="02020603050405020304" pitchFamily="18" charset="0"/>
            </a:endParaRPr>
          </a:p>
          <a:p>
            <a:pPr lvl="0" algn="just"/>
            <a:r>
              <a:rPr lang="mn-MN" dirty="0">
                <a:solidFill>
                  <a:srgbClr val="002060"/>
                </a:solidFill>
                <a:latin typeface="Times New Roman" panose="02020603050405020304" pitchFamily="18" charset="0"/>
                <a:cs typeface="Times New Roman" panose="02020603050405020304" pitchFamily="18" charset="0"/>
              </a:rPr>
              <a:t>Мэдээллийн системийг шинэчлэх, сайжруулах;</a:t>
            </a:r>
            <a:endParaRPr lang="en-US" dirty="0">
              <a:solidFill>
                <a:srgbClr val="002060"/>
              </a:solidFill>
              <a:latin typeface="Times New Roman" panose="02020603050405020304" pitchFamily="18" charset="0"/>
              <a:cs typeface="Times New Roman" panose="02020603050405020304" pitchFamily="18" charset="0"/>
            </a:endParaRPr>
          </a:p>
          <a:p>
            <a:pPr lvl="0" algn="just"/>
            <a:r>
              <a:rPr lang="mn-MN" dirty="0">
                <a:solidFill>
                  <a:srgbClr val="002060"/>
                </a:solidFill>
                <a:latin typeface="Times New Roman" panose="02020603050405020304" pitchFamily="18" charset="0"/>
                <a:cs typeface="Times New Roman" panose="02020603050405020304" pitchFamily="18" charset="0"/>
              </a:rPr>
              <a:t>Барилга, байгууламж, зам зэрэг нийтийн барааг бүтээн байгуулах;</a:t>
            </a:r>
            <a:endParaRPr lang="en-US" dirty="0">
              <a:solidFill>
                <a:srgbClr val="002060"/>
              </a:solidFill>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61DA7B9E-C0FF-6E08-040F-166FEDD063F5}"/>
              </a:ext>
            </a:extLst>
          </p:cNvPr>
          <p:cNvSpPr>
            <a:spLocks noGrp="1"/>
          </p:cNvSpPr>
          <p:nvPr>
            <p:ph sz="half" idx="2"/>
          </p:nvPr>
        </p:nvSpPr>
        <p:spPr>
          <a:xfrm>
            <a:off x="5952930" y="1810139"/>
            <a:ext cx="5934269" cy="4702627"/>
          </a:xfrm>
        </p:spPr>
        <p:txBody>
          <a:bodyPr>
            <a:normAutofit lnSpcReduction="10000"/>
          </a:bodyPr>
          <a:lstStyle/>
          <a:p>
            <a:pPr lvl="0" algn="just"/>
            <a:r>
              <a:rPr lang="mn-MN" dirty="0">
                <a:solidFill>
                  <a:srgbClr val="002060"/>
                </a:solidFill>
                <a:latin typeface="Times New Roman" panose="02020603050405020304" pitchFamily="18" charset="0"/>
                <a:cs typeface="Times New Roman" panose="02020603050405020304" pitchFamily="18" charset="0"/>
              </a:rPr>
              <a:t>Тоног төхөөрөмжийг шинэчлэх;</a:t>
            </a:r>
            <a:endParaRPr lang="en-US" dirty="0">
              <a:solidFill>
                <a:srgbClr val="002060"/>
              </a:solidFill>
              <a:latin typeface="Times New Roman" panose="02020603050405020304" pitchFamily="18" charset="0"/>
              <a:cs typeface="Times New Roman" panose="02020603050405020304" pitchFamily="18" charset="0"/>
            </a:endParaRPr>
          </a:p>
          <a:p>
            <a:pPr lvl="0" algn="just"/>
            <a:r>
              <a:rPr lang="mn-MN" dirty="0">
                <a:solidFill>
                  <a:srgbClr val="002060"/>
                </a:solidFill>
                <a:latin typeface="Times New Roman" panose="02020603050405020304" pitchFamily="18" charset="0"/>
                <a:cs typeface="Times New Roman" panose="02020603050405020304" pitchFamily="18" charset="0"/>
              </a:rPr>
              <a:t>Шинэ технологи нэвтрүүлэх, дамжуулах;</a:t>
            </a:r>
            <a:endParaRPr lang="en-US" dirty="0">
              <a:solidFill>
                <a:srgbClr val="002060"/>
              </a:solidFill>
              <a:latin typeface="Times New Roman" panose="02020603050405020304" pitchFamily="18" charset="0"/>
              <a:cs typeface="Times New Roman" panose="02020603050405020304" pitchFamily="18" charset="0"/>
            </a:endParaRPr>
          </a:p>
          <a:p>
            <a:pPr lvl="0" algn="just"/>
            <a:r>
              <a:rPr lang="mn-MN" dirty="0">
                <a:solidFill>
                  <a:srgbClr val="002060"/>
                </a:solidFill>
                <a:latin typeface="Times New Roman" panose="02020603050405020304" pitchFamily="18" charset="0"/>
                <a:cs typeface="Times New Roman" panose="02020603050405020304" pitchFamily="18" charset="0"/>
              </a:rPr>
              <a:t>Нийгмийн тулгамдсан асуудлуудыг шийдвэрлэх;</a:t>
            </a:r>
            <a:endParaRPr lang="en-US" dirty="0">
              <a:solidFill>
                <a:srgbClr val="002060"/>
              </a:solidFill>
              <a:latin typeface="Times New Roman" panose="02020603050405020304" pitchFamily="18" charset="0"/>
              <a:cs typeface="Times New Roman" panose="02020603050405020304" pitchFamily="18" charset="0"/>
            </a:endParaRPr>
          </a:p>
          <a:p>
            <a:pPr lvl="0" algn="just"/>
            <a:r>
              <a:rPr lang="mn-MN" dirty="0">
                <a:solidFill>
                  <a:srgbClr val="002060"/>
                </a:solidFill>
                <a:latin typeface="Times New Roman" panose="02020603050405020304" pitchFamily="18" charset="0"/>
                <a:cs typeface="Times New Roman" panose="02020603050405020304" pitchFamily="18" charset="0"/>
              </a:rPr>
              <a:t>Байгаль орчныг хамгаалах, нөхөн сэргээх;</a:t>
            </a:r>
            <a:endParaRPr lang="en-US" dirty="0">
              <a:solidFill>
                <a:srgbClr val="002060"/>
              </a:solidFill>
              <a:latin typeface="Times New Roman" panose="02020603050405020304" pitchFamily="18" charset="0"/>
              <a:cs typeface="Times New Roman" panose="02020603050405020304" pitchFamily="18" charset="0"/>
            </a:endParaRPr>
          </a:p>
          <a:p>
            <a:pPr lvl="0" algn="just"/>
            <a:r>
              <a:rPr lang="mn-MN" dirty="0">
                <a:solidFill>
                  <a:srgbClr val="002060"/>
                </a:solidFill>
                <a:latin typeface="Times New Roman" panose="02020603050405020304" pitchFamily="18" charset="0"/>
                <a:cs typeface="Times New Roman" panose="02020603050405020304" pitchFamily="18" charset="0"/>
              </a:rPr>
              <a:t>Мэдлэгийн менежмент, инновацийг нэвтрүүлэх;</a:t>
            </a:r>
            <a:endParaRPr lang="en-US" dirty="0">
              <a:solidFill>
                <a:srgbClr val="002060"/>
              </a:solidFill>
              <a:latin typeface="Times New Roman" panose="02020603050405020304" pitchFamily="18" charset="0"/>
              <a:cs typeface="Times New Roman" panose="02020603050405020304" pitchFamily="18" charset="0"/>
            </a:endParaRPr>
          </a:p>
          <a:p>
            <a:pPr algn="just"/>
            <a:r>
              <a:rPr lang="mn-MN" dirty="0">
                <a:solidFill>
                  <a:srgbClr val="002060"/>
                </a:solidFill>
                <a:latin typeface="Times New Roman" panose="02020603050405020304" pitchFamily="18" charset="0"/>
                <a:cs typeface="Times New Roman" panose="02020603050405020304" pitchFamily="18" charset="0"/>
              </a:rPr>
              <a:t>Шинэ бизнесийн үйл явцыг хэрэгжүүлэх зэрэг байж болно.</a:t>
            </a:r>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4688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52990A4-12AA-3A79-338F-CD2188B9C3F2}"/>
              </a:ext>
            </a:extLst>
          </p:cNvPr>
          <p:cNvSpPr>
            <a:spLocks noGrp="1"/>
          </p:cNvSpPr>
          <p:nvPr>
            <p:ph type="title"/>
          </p:nvPr>
        </p:nvSpPr>
        <p:spPr>
          <a:xfrm>
            <a:off x="168922" y="91698"/>
            <a:ext cx="10515600" cy="434381"/>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Төслийн амьдралын мөчлөг</a:t>
            </a:r>
            <a:endParaRPr lang="en-US" b="1" dirty="0">
              <a:solidFill>
                <a:srgbClr val="002060"/>
              </a:solidFill>
              <a:latin typeface="Times New Roman" panose="02020603050405020304" pitchFamily="18" charset="0"/>
              <a:cs typeface="Times New Roman" panose="02020603050405020304" pitchFamily="18" charset="0"/>
            </a:endParaRPr>
          </a:p>
        </p:txBody>
      </p:sp>
      <p:pic>
        <p:nvPicPr>
          <p:cNvPr id="9" name="Picture 2" descr="C:\Users\Eng.Baha Abu halid\Pictures\project-lifecycle.jpg">
            <a:extLst>
              <a:ext uri="{FF2B5EF4-FFF2-40B4-BE49-F238E27FC236}">
                <a16:creationId xmlns:a16="http://schemas.microsoft.com/office/drawing/2014/main" id="{58AA97B0-EF17-4AE1-CC7B-58E75AA879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2988" y="2391631"/>
            <a:ext cx="3980090" cy="3940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Content Placeholder 6">
            <a:extLst>
              <a:ext uri="{FF2B5EF4-FFF2-40B4-BE49-F238E27FC236}">
                <a16:creationId xmlns:a16="http://schemas.microsoft.com/office/drawing/2014/main" id="{29BAE8E4-8A95-FE90-7EC3-B35A3193370C}"/>
              </a:ext>
            </a:extLst>
          </p:cNvPr>
          <p:cNvPicPr>
            <a:picLocks noChangeAspect="1"/>
          </p:cNvPicPr>
          <p:nvPr/>
        </p:nvPicPr>
        <p:blipFill>
          <a:blip r:embed="rId4"/>
          <a:stretch>
            <a:fillRect/>
          </a:stretch>
        </p:blipFill>
        <p:spPr>
          <a:xfrm>
            <a:off x="168922" y="526079"/>
            <a:ext cx="11477175" cy="4878301"/>
          </a:xfrm>
          <a:prstGeom prst="rect">
            <a:avLst/>
          </a:prstGeom>
        </p:spPr>
      </p:pic>
    </p:spTree>
    <p:extLst>
      <p:ext uri="{BB962C8B-B14F-4D97-AF65-F5344CB8AC3E}">
        <p14:creationId xmlns:p14="http://schemas.microsoft.com/office/powerpoint/2010/main" val="1290155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A2297-8333-CD39-B7CC-33F2341BD9BF}"/>
              </a:ext>
            </a:extLst>
          </p:cNvPr>
          <p:cNvSpPr>
            <a:spLocks noGrp="1"/>
          </p:cNvSpPr>
          <p:nvPr>
            <p:ph type="title"/>
          </p:nvPr>
        </p:nvSpPr>
        <p:spPr>
          <a:xfrm>
            <a:off x="256032" y="163287"/>
            <a:ext cx="11315162" cy="909609"/>
          </a:xfrm>
        </p:spPr>
        <p:txBody>
          <a:bodyPr>
            <a:noAutofit/>
          </a:bodyPr>
          <a:lstStyle/>
          <a:p>
            <a:pPr algn="just"/>
            <a:r>
              <a:rPr lang="mn-MN" sz="3200" b="1" dirty="0">
                <a:solidFill>
                  <a:srgbClr val="002060"/>
                </a:solidFill>
                <a:latin typeface="Times New Roman" panose="02020603050405020304" pitchFamily="18" charset="0"/>
                <a:cs typeface="Times New Roman" panose="02020603050405020304" pitchFamily="18" charset="0"/>
              </a:rPr>
              <a:t>Төслийн дараах зорилгуудыг биелүүлсэн бол төслийн удирдлага амжилттай хэрэгжсэн гэж тодорхойлж болно:</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15C140-2D2B-F90C-24A6-E917C2657742}"/>
              </a:ext>
            </a:extLst>
          </p:cNvPr>
          <p:cNvSpPr>
            <a:spLocks noGrp="1"/>
          </p:cNvSpPr>
          <p:nvPr>
            <p:ph idx="1"/>
          </p:nvPr>
        </p:nvSpPr>
        <p:spPr>
          <a:xfrm>
            <a:off x="256033" y="1126672"/>
            <a:ext cx="5535168" cy="4604656"/>
          </a:xfrm>
        </p:spPr>
        <p:txBody>
          <a:bodyPr>
            <a:normAutofit/>
          </a:bodyPr>
          <a:lstStyle/>
          <a:p>
            <a:r>
              <a:rPr lang="mn-MN" dirty="0">
                <a:solidFill>
                  <a:srgbClr val="002060"/>
                </a:solidFill>
                <a:latin typeface="Times New Roman" panose="02020603050405020304" pitchFamily="18" charset="0"/>
                <a:cs typeface="Times New Roman" panose="02020603050405020304" pitchFamily="18" charset="0"/>
              </a:rPr>
              <a:t>Цаг хугацаандаа багтсан</a:t>
            </a:r>
          </a:p>
          <a:p>
            <a:r>
              <a:rPr lang="mn-MN" dirty="0">
                <a:solidFill>
                  <a:srgbClr val="002060"/>
                </a:solidFill>
                <a:latin typeface="Times New Roman" panose="02020603050405020304" pitchFamily="18" charset="0"/>
                <a:cs typeface="Times New Roman" panose="02020603050405020304" pitchFamily="18" charset="0"/>
              </a:rPr>
              <a:t>Төлөвлөсөн Зардлын хүрээнд хийж гүйцэтгэсэн</a:t>
            </a:r>
          </a:p>
          <a:p>
            <a:r>
              <a:rPr lang="mn-MN" dirty="0">
                <a:solidFill>
                  <a:srgbClr val="002060"/>
                </a:solidFill>
                <a:latin typeface="Times New Roman" panose="02020603050405020304" pitchFamily="18" charset="0"/>
                <a:cs typeface="Times New Roman" panose="02020603050405020304" pitchFamily="18" charset="0"/>
              </a:rPr>
              <a:t>Хүссэн үр дүндээ хүрсэн / хүссэн технологийн түвшинд хийж гүйцэтгэсэн</a:t>
            </a:r>
          </a:p>
          <a:p>
            <a:r>
              <a:rPr lang="mn-MN" dirty="0">
                <a:solidFill>
                  <a:srgbClr val="002060"/>
                </a:solidFill>
                <a:latin typeface="Times New Roman" panose="02020603050405020304" pitchFamily="18" charset="0"/>
                <a:cs typeface="Times New Roman" panose="02020603050405020304" pitchFamily="18" charset="0"/>
              </a:rPr>
              <a:t>Өгөгдсөн нөөцийг үр дүнтэй, үр ашигтай ашигласан</a:t>
            </a:r>
          </a:p>
          <a:p>
            <a:r>
              <a:rPr lang="mn-MN" dirty="0">
                <a:solidFill>
                  <a:srgbClr val="002060"/>
                </a:solidFill>
                <a:latin typeface="Times New Roman" panose="02020603050405020304" pitchFamily="18" charset="0"/>
                <a:cs typeface="Times New Roman" panose="02020603050405020304" pitchFamily="18" charset="0"/>
              </a:rPr>
              <a:t>Үйлчлүүлэгч сэтгэл хангалуун хүлээн авсан</a:t>
            </a:r>
          </a:p>
        </p:txBody>
      </p:sp>
      <p:pic>
        <p:nvPicPr>
          <p:cNvPr id="4" name="Picture 3">
            <a:extLst>
              <a:ext uri="{FF2B5EF4-FFF2-40B4-BE49-F238E27FC236}">
                <a16:creationId xmlns:a16="http://schemas.microsoft.com/office/drawing/2014/main" id="{3046FD04-7E21-F574-4E2F-E22E7181B99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01512" y="971876"/>
            <a:ext cx="6051151" cy="533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8288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77556-EE28-78E3-59F7-D0343479115A}"/>
              </a:ext>
            </a:extLst>
          </p:cNvPr>
          <p:cNvSpPr>
            <a:spLocks noGrp="1"/>
          </p:cNvSpPr>
          <p:nvPr>
            <p:ph type="title"/>
          </p:nvPr>
        </p:nvSpPr>
        <p:spPr>
          <a:xfrm>
            <a:off x="179832" y="130629"/>
            <a:ext cx="10515600" cy="378586"/>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Төслийн мэдлэгийн хүрээ, арга ухаан</a:t>
            </a:r>
            <a:endParaRPr lang="en-US" b="1"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E2D4CF3-209B-80F2-C61C-764834344D89}"/>
              </a:ext>
            </a:extLst>
          </p:cNvPr>
          <p:cNvPicPr>
            <a:picLocks noChangeAspect="1"/>
          </p:cNvPicPr>
          <p:nvPr/>
        </p:nvPicPr>
        <p:blipFill>
          <a:blip r:embed="rId3"/>
          <a:stretch>
            <a:fillRect/>
          </a:stretch>
        </p:blipFill>
        <p:spPr>
          <a:xfrm>
            <a:off x="1133856" y="646175"/>
            <a:ext cx="10314432" cy="5966157"/>
          </a:xfrm>
          <a:prstGeom prst="rect">
            <a:avLst/>
          </a:prstGeom>
        </p:spPr>
      </p:pic>
    </p:spTree>
    <p:extLst>
      <p:ext uri="{BB962C8B-B14F-4D97-AF65-F5344CB8AC3E}">
        <p14:creationId xmlns:p14="http://schemas.microsoft.com/office/powerpoint/2010/main" val="3208325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FA4377-E3A5-C711-7760-BBD28761CC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01952"/>
            <a:ext cx="10497311" cy="4588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684D3111-EE52-E501-E359-FE2208798A24}"/>
              </a:ext>
            </a:extLst>
          </p:cNvPr>
          <p:cNvSpPr>
            <a:spLocks noGrp="1"/>
          </p:cNvSpPr>
          <p:nvPr>
            <p:ph type="title"/>
          </p:nvPr>
        </p:nvSpPr>
        <p:spPr>
          <a:xfrm>
            <a:off x="167640" y="103868"/>
            <a:ext cx="11902440" cy="264069"/>
          </a:xfrm>
        </p:spPr>
        <p:txBody>
          <a:bodyPr>
            <a:normAutofit fontScale="90000"/>
          </a:bodyPr>
          <a:lstStyle/>
          <a:p>
            <a:pPr algn="just"/>
            <a:r>
              <a:rPr lang="mn-MN" sz="3200" b="1" dirty="0">
                <a:solidFill>
                  <a:srgbClr val="002060"/>
                </a:solidFill>
                <a:latin typeface="Times New Roman" panose="02020603050405020304" pitchFamily="18" charset="0"/>
                <a:cs typeface="Times New Roman" panose="02020603050405020304" pitchFamily="18" charset="0"/>
              </a:rPr>
              <a:t>Төслийн удирдлага (төслийн менежмент)</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74F866-B1DF-047B-7BDC-A1A7D920E8F4}"/>
              </a:ext>
            </a:extLst>
          </p:cNvPr>
          <p:cNvSpPr>
            <a:spLocks noGrp="1"/>
          </p:cNvSpPr>
          <p:nvPr>
            <p:ph idx="1"/>
          </p:nvPr>
        </p:nvSpPr>
        <p:spPr>
          <a:xfrm>
            <a:off x="167640" y="367937"/>
            <a:ext cx="11902440" cy="2481943"/>
          </a:xfrm>
        </p:spPr>
        <p:txBody>
          <a:bodyPr>
            <a:normAutofit lnSpcReduction="10000"/>
          </a:bodyPr>
          <a:lstStyle/>
          <a:p>
            <a:pPr algn="just"/>
            <a:r>
              <a:rPr lang="mn-MN" dirty="0">
                <a:solidFill>
                  <a:srgbClr val="002060"/>
                </a:solidFill>
                <a:latin typeface="Times New Roman" panose="02020603050405020304" pitchFamily="18" charset="0"/>
                <a:cs typeface="Times New Roman" panose="02020603050405020304" pitchFamily="18" charset="0"/>
              </a:rPr>
              <a:t>Мэдлэг чадвар, туршлага, арга, аргачлал, нөөц, хэрэгсэл, технологи зэргийг ашиглан, тавьсан шаардлагын дагуу төслийг хэрэгжүүлж зорилгодоо хүрэхийг хэлнэ.</a:t>
            </a:r>
          </a:p>
          <a:p>
            <a:pPr algn="just"/>
            <a:r>
              <a:rPr lang="mn-MN" dirty="0">
                <a:solidFill>
                  <a:srgbClr val="002060"/>
                </a:solidFill>
                <a:latin typeface="Times New Roman" panose="02020603050405020304" pitchFamily="18" charset="0"/>
                <a:cs typeface="Times New Roman" panose="02020603050405020304" pitchFamily="18" charset="0"/>
              </a:rPr>
              <a:t>Тодорхой зорилго, зорилтыг хэрэгжүүлэхийн тулд байгуулагдсан харьцангуй богино хугацааны зорилгын хүрээнд компанийн нөөцийг төлөвлөх, зохион байгуулах, чиглүүлэх, хянах үйл ажиллагааг хэлнэ. </a:t>
            </a:r>
          </a:p>
          <a:p>
            <a:pPr algn="just"/>
            <a:endParaRPr 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0995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9EF70-995E-7B8E-5BBE-0D26EA4890ED}"/>
              </a:ext>
            </a:extLst>
          </p:cNvPr>
          <p:cNvSpPr>
            <a:spLocks noGrp="1"/>
          </p:cNvSpPr>
          <p:nvPr>
            <p:ph type="title"/>
          </p:nvPr>
        </p:nvSpPr>
        <p:spPr>
          <a:xfrm>
            <a:off x="213360" y="168338"/>
            <a:ext cx="11765280" cy="512699"/>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Төслийн удирдлагад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92A7DF-97F2-94E4-497A-963260B0182C}"/>
              </a:ext>
            </a:extLst>
          </p:cNvPr>
          <p:cNvSpPr>
            <a:spLocks noGrp="1"/>
          </p:cNvSpPr>
          <p:nvPr>
            <p:ph idx="1"/>
          </p:nvPr>
        </p:nvSpPr>
        <p:spPr>
          <a:xfrm>
            <a:off x="213360" y="681037"/>
            <a:ext cx="11765280" cy="4351338"/>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Тавигдах шаардлагуудыг тодорхойлох </a:t>
            </a:r>
          </a:p>
          <a:p>
            <a:pPr algn="just"/>
            <a:r>
              <a:rPr lang="mn-MN" sz="3600" dirty="0">
                <a:solidFill>
                  <a:srgbClr val="002060"/>
                </a:solidFill>
                <a:latin typeface="Times New Roman" panose="02020603050405020304" pitchFamily="18" charset="0"/>
                <a:cs typeface="Times New Roman" panose="02020603050405020304" pitchFamily="18" charset="0"/>
              </a:rPr>
              <a:t>Хүрэхүйц тодорхой зорилгуудыг тавих</a:t>
            </a:r>
          </a:p>
          <a:p>
            <a:pPr algn="just"/>
            <a:r>
              <a:rPr lang="mn-MN" sz="3600" dirty="0">
                <a:solidFill>
                  <a:srgbClr val="002060"/>
                </a:solidFill>
                <a:latin typeface="Times New Roman" panose="02020603050405020304" pitchFamily="18" charset="0"/>
                <a:cs typeface="Times New Roman" panose="02020603050405020304" pitchFamily="18" charset="0"/>
              </a:rPr>
              <a:t>Чанар, өртөг, хугацааны тал дээр зөрчилдөөнтэй шаардлагуудыг тэнцвэржүүлэх</a:t>
            </a:r>
          </a:p>
          <a:p>
            <a:pPr algn="just"/>
            <a:r>
              <a:rPr lang="mn-MN" sz="3600" dirty="0">
                <a:solidFill>
                  <a:srgbClr val="002060"/>
                </a:solidFill>
                <a:latin typeface="Times New Roman" panose="02020603050405020304" pitchFamily="18" charset="0"/>
                <a:cs typeface="Times New Roman" panose="02020603050405020304" pitchFamily="18" charset="0"/>
              </a:rPr>
              <a:t>Төслийн үзүүлэлт, төлөвлөгөө, бодлогыг оролцогчдын санал, хүлээлтэнд тохирохуйцаар засварлах ажлууд багтана. </a:t>
            </a:r>
          </a:p>
        </p:txBody>
      </p:sp>
    </p:spTree>
    <p:extLst>
      <p:ext uri="{BB962C8B-B14F-4D97-AF65-F5344CB8AC3E}">
        <p14:creationId xmlns:p14="http://schemas.microsoft.com/office/powerpoint/2010/main" val="3883522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255A9-78D0-9D00-90C0-E47C0D96A0B4}"/>
              </a:ext>
            </a:extLst>
          </p:cNvPr>
          <p:cNvSpPr>
            <a:spLocks noGrp="1"/>
          </p:cNvSpPr>
          <p:nvPr>
            <p:ph type="title"/>
          </p:nvPr>
        </p:nvSpPr>
        <p:spPr>
          <a:xfrm>
            <a:off x="182880" y="156147"/>
            <a:ext cx="11850624" cy="622427"/>
          </a:xfrm>
        </p:spPr>
        <p:txBody>
          <a:bodyPr>
            <a:noAutofit/>
          </a:bodyPr>
          <a:lstStyle/>
          <a:p>
            <a:pPr algn="just"/>
            <a:r>
              <a:rPr lang="mn-MN" sz="2800" b="1" dirty="0">
                <a:solidFill>
                  <a:srgbClr val="002060"/>
                </a:solidFill>
                <a:latin typeface="Times New Roman" panose="02020603050405020304" pitchFamily="18" charset="0"/>
                <a:cs typeface="Times New Roman" panose="02020603050405020304" pitchFamily="18" charset="0"/>
              </a:rPr>
              <a:t>Дээрх тодорхойлолт нь нэмэлт тайлбар шаарддаг. Сонгодог менежментийг ихэвчлэн таван чиг үүрэг, зарчимтай гэж үздэг.</a:t>
            </a:r>
            <a:endParaRPr lang="en-US" sz="2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6259B7-A2D1-A413-BC13-3357D416D307}"/>
              </a:ext>
            </a:extLst>
          </p:cNvPr>
          <p:cNvSpPr>
            <a:spLocks noGrp="1"/>
          </p:cNvSpPr>
          <p:nvPr>
            <p:ph idx="1"/>
          </p:nvPr>
        </p:nvSpPr>
        <p:spPr>
          <a:xfrm>
            <a:off x="182881" y="932469"/>
            <a:ext cx="6096000" cy="3939949"/>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Төлөвлөх</a:t>
            </a:r>
          </a:p>
          <a:p>
            <a:pPr algn="just"/>
            <a:r>
              <a:rPr lang="mn-MN" sz="3600" dirty="0">
                <a:solidFill>
                  <a:srgbClr val="002060"/>
                </a:solidFill>
                <a:latin typeface="Times New Roman" panose="02020603050405020304" pitchFamily="18" charset="0"/>
                <a:cs typeface="Times New Roman" panose="02020603050405020304" pitchFamily="18" charset="0"/>
              </a:rPr>
              <a:t>Зохион байгуулах</a:t>
            </a:r>
          </a:p>
          <a:p>
            <a:pPr algn="just"/>
            <a:r>
              <a:rPr lang="mn-MN" sz="3600" dirty="0">
                <a:solidFill>
                  <a:srgbClr val="002060"/>
                </a:solidFill>
                <a:latin typeface="Times New Roman" panose="02020603050405020304" pitchFamily="18" charset="0"/>
                <a:cs typeface="Times New Roman" panose="02020603050405020304" pitchFamily="18" charset="0"/>
              </a:rPr>
              <a:t>Багийн гишүүдэд ажил үүргийг хуваарилах</a:t>
            </a:r>
          </a:p>
          <a:p>
            <a:pPr algn="just"/>
            <a:r>
              <a:rPr lang="mn-MN" sz="3600" dirty="0">
                <a:solidFill>
                  <a:srgbClr val="002060"/>
                </a:solidFill>
                <a:latin typeface="Times New Roman" panose="02020603050405020304" pitchFamily="18" charset="0"/>
                <a:cs typeface="Times New Roman" panose="02020603050405020304" pitchFamily="18" charset="0"/>
              </a:rPr>
              <a:t>Хяналт тавих</a:t>
            </a:r>
          </a:p>
          <a:p>
            <a:pPr algn="just"/>
            <a:r>
              <a:rPr lang="mn-MN" sz="3600" dirty="0">
                <a:solidFill>
                  <a:srgbClr val="002060"/>
                </a:solidFill>
                <a:latin typeface="Times New Roman" panose="02020603050405020304" pitchFamily="18" charset="0"/>
                <a:cs typeface="Times New Roman" panose="02020603050405020304" pitchFamily="18" charset="0"/>
              </a:rPr>
              <a:t>Удирдан чиглүүлэх</a:t>
            </a:r>
          </a:p>
        </p:txBody>
      </p:sp>
      <p:pic>
        <p:nvPicPr>
          <p:cNvPr id="4" name="Picture 3" descr="A circular diagram with text&#10;&#10;Description automatically generated">
            <a:extLst>
              <a:ext uri="{FF2B5EF4-FFF2-40B4-BE49-F238E27FC236}">
                <a16:creationId xmlns:a16="http://schemas.microsoft.com/office/drawing/2014/main" id="{11E41F82-7B41-EFC3-85DD-E9634F6B46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78880" y="1165696"/>
            <a:ext cx="5730239" cy="5076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1471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91F9B-30E2-4DBE-1A4C-67657E58182D}"/>
              </a:ext>
            </a:extLst>
          </p:cNvPr>
          <p:cNvSpPr>
            <a:spLocks noGrp="1"/>
          </p:cNvSpPr>
          <p:nvPr>
            <p:ph type="title"/>
          </p:nvPr>
        </p:nvSpPr>
        <p:spPr>
          <a:xfrm>
            <a:off x="121920" y="121285"/>
            <a:ext cx="11948160" cy="573659"/>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Удирдлагын ур чадвар</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4A22642-DA99-EFDA-AFC3-37DB743BC57C}"/>
              </a:ext>
            </a:extLst>
          </p:cNvPr>
          <p:cNvSpPr>
            <a:spLocks noGrp="1"/>
          </p:cNvSpPr>
          <p:nvPr>
            <p:ph idx="1"/>
          </p:nvPr>
        </p:nvSpPr>
        <p:spPr>
          <a:xfrm>
            <a:off x="121920" y="694944"/>
            <a:ext cx="11948160" cy="4351338"/>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Концептуаль чадвар – Тухайн байгууллагыг бүхэлд нь болон түүний хэсгүүдийн хоорондын уялдаа холбоог харах чадвар.</a:t>
            </a:r>
          </a:p>
          <a:p>
            <a:pPr algn="just"/>
            <a:r>
              <a:rPr lang="mn-MN" sz="3600" dirty="0">
                <a:solidFill>
                  <a:srgbClr val="002060"/>
                </a:solidFill>
                <a:latin typeface="Times New Roman" panose="02020603050405020304" pitchFamily="18" charset="0"/>
                <a:cs typeface="Times New Roman" panose="02020603050405020304" pitchFamily="18" charset="0"/>
              </a:rPr>
              <a:t>Хувь хүний ур чадвар – Хүмүүстэй хамтран ажиллах чадвар.</a:t>
            </a:r>
          </a:p>
          <a:p>
            <a:pPr algn="just"/>
            <a:r>
              <a:rPr lang="mn-MN" sz="3600" dirty="0">
                <a:solidFill>
                  <a:srgbClr val="002060"/>
                </a:solidFill>
                <a:latin typeface="Times New Roman" panose="02020603050405020304" pitchFamily="18" charset="0"/>
                <a:cs typeface="Times New Roman" panose="02020603050405020304" pitchFamily="18" charset="0"/>
              </a:rPr>
              <a:t>Техникийн ур чадвар – Тодорхой чиг үүрэг, мэргэжлийн мэдлэг, чадварыг эзэмшсэн байх</a:t>
            </a:r>
          </a:p>
          <a:p>
            <a:pPr algn="just"/>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1223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BDB8E-CAEA-0526-3F00-34F0337F5FE2}"/>
              </a:ext>
            </a:extLst>
          </p:cNvPr>
          <p:cNvSpPr>
            <a:spLocks noGrp="1"/>
          </p:cNvSpPr>
          <p:nvPr>
            <p:ph type="title"/>
          </p:nvPr>
        </p:nvSpPr>
        <p:spPr>
          <a:xfrm>
            <a:off x="146124" y="145669"/>
            <a:ext cx="11811586" cy="342011"/>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Төслийн хязгаарлалт</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3A5E1C-8A68-AE95-EDC6-BD99BA62FF96}"/>
              </a:ext>
            </a:extLst>
          </p:cNvPr>
          <p:cNvSpPr>
            <a:spLocks noGrp="1"/>
          </p:cNvSpPr>
          <p:nvPr>
            <p:ph idx="1"/>
          </p:nvPr>
        </p:nvSpPr>
        <p:spPr>
          <a:xfrm>
            <a:off x="234290" y="487680"/>
            <a:ext cx="11899392" cy="2286000"/>
          </a:xfrm>
        </p:spPr>
        <p:txBody>
          <a:bodyPr>
            <a:normAutofit/>
          </a:bodyPr>
          <a:lstStyle/>
          <a:p>
            <a:r>
              <a:rPr lang="mn-MN" dirty="0">
                <a:solidFill>
                  <a:srgbClr val="002060"/>
                </a:solidFill>
                <a:latin typeface="Times New Roman" panose="02020603050405020304" pitchFamily="18" charset="0"/>
                <a:cs typeface="Times New Roman" panose="02020603050405020304" pitchFamily="18" charset="0"/>
              </a:rPr>
              <a:t>Төслийн менежмент нь тухайн үйл ажиллагаа, цаг хугацаа, зардал, гүйцэтгэлийн хүрээнд компанийн нөөцийг удирдах, хянах зорилготой. </a:t>
            </a:r>
          </a:p>
          <a:p>
            <a:r>
              <a:rPr lang="mn-MN" b="1" dirty="0">
                <a:solidFill>
                  <a:srgbClr val="FF0000"/>
                </a:solidFill>
                <a:latin typeface="Times New Roman" panose="02020603050405020304" pitchFamily="18" charset="0"/>
                <a:cs typeface="Times New Roman" panose="02020603050405020304" pitchFamily="18" charset="0"/>
              </a:rPr>
              <a:t>Цаг хугацаа, өртөг зардал, гүйцэтгэл (Зарим тохиолдолд </a:t>
            </a:r>
            <a:r>
              <a:rPr lang="en-US" b="1" dirty="0">
                <a:solidFill>
                  <a:srgbClr val="FF0000"/>
                </a:solidFill>
                <a:latin typeface="Times New Roman" panose="02020603050405020304" pitchFamily="18" charset="0"/>
                <a:cs typeface="Times New Roman" panose="02020603050405020304" pitchFamily="18" charset="0"/>
              </a:rPr>
              <a:t>scope </a:t>
            </a:r>
            <a:r>
              <a:rPr lang="mn-MN" b="1" dirty="0">
                <a:solidFill>
                  <a:srgbClr val="FF0000"/>
                </a:solidFill>
                <a:latin typeface="Times New Roman" panose="02020603050405020304" pitchFamily="18" charset="0"/>
                <a:cs typeface="Times New Roman" panose="02020603050405020304" pitchFamily="18" charset="0"/>
              </a:rPr>
              <a:t>буюу хамрах хүрээ гэж тодорхойлсон байдаг) </a:t>
            </a:r>
            <a:r>
              <a:rPr lang="mn-MN" dirty="0">
                <a:solidFill>
                  <a:srgbClr val="002060"/>
                </a:solidFill>
                <a:latin typeface="Times New Roman" panose="02020603050405020304" pitchFamily="18" charset="0"/>
                <a:cs typeface="Times New Roman" panose="02020603050405020304" pitchFamily="18" charset="0"/>
              </a:rPr>
              <a:t>нь </a:t>
            </a:r>
            <a:r>
              <a:rPr lang="mn-MN" b="1" dirty="0">
                <a:solidFill>
                  <a:srgbClr val="002060"/>
                </a:solidFill>
                <a:latin typeface="Times New Roman" panose="02020603050405020304" pitchFamily="18" charset="0"/>
                <a:cs typeface="Times New Roman" panose="02020603050405020304" pitchFamily="18" charset="0"/>
              </a:rPr>
              <a:t>төслийн хязгаарлалт </a:t>
            </a:r>
            <a:r>
              <a:rPr lang="mn-MN" dirty="0">
                <a:solidFill>
                  <a:srgbClr val="002060"/>
                </a:solidFill>
                <a:latin typeface="Times New Roman" panose="02020603050405020304" pitchFamily="18" charset="0"/>
                <a:cs typeface="Times New Roman" panose="02020603050405020304" pitchFamily="18" charset="0"/>
              </a:rPr>
              <a:t>болно.</a:t>
            </a:r>
            <a:endParaRPr lang="en-US"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312B97-98F0-9F72-6599-50A5D35648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290" y="2206633"/>
            <a:ext cx="5327376" cy="4493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C:\Users\Eng.Baha Abu halid\Pictures\projmng.jpg">
            <a:extLst>
              <a:ext uri="{FF2B5EF4-FFF2-40B4-BE49-F238E27FC236}">
                <a16:creationId xmlns:a16="http://schemas.microsoft.com/office/drawing/2014/main" id="{BD5ADAAC-DD9D-5DDB-093D-9C1EB4FBC3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2001" y="2206633"/>
            <a:ext cx="4555311" cy="4242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6932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97FAC9-2E39-A5B2-42AD-CBCE78B35E6B}"/>
              </a:ext>
            </a:extLst>
          </p:cNvPr>
          <p:cNvSpPr>
            <a:spLocks noGrp="1"/>
          </p:cNvSpPr>
          <p:nvPr>
            <p:ph idx="1"/>
          </p:nvPr>
        </p:nvSpPr>
        <p:spPr>
          <a:xfrm>
            <a:off x="170688" y="130470"/>
            <a:ext cx="6786983" cy="6133760"/>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Төслийг удирдахын тулд мэдэх шаардлагатай зүйлс</a:t>
            </a:r>
          </a:p>
          <a:p>
            <a:pPr lvl="1" algn="just"/>
            <a:r>
              <a:rPr lang="mn-MN" sz="2800" dirty="0">
                <a:solidFill>
                  <a:srgbClr val="002060"/>
                </a:solidFill>
                <a:latin typeface="Times New Roman" panose="02020603050405020304" pitchFamily="18" charset="0"/>
                <a:cs typeface="Times New Roman" panose="02020603050405020304" pitchFamily="18" charset="0"/>
              </a:rPr>
              <a:t>Ерөнхий менежментийн арга, аргачлал</a:t>
            </a:r>
          </a:p>
          <a:p>
            <a:pPr lvl="1" algn="just"/>
            <a:r>
              <a:rPr lang="mn-MN" sz="2800" dirty="0">
                <a:solidFill>
                  <a:srgbClr val="002060"/>
                </a:solidFill>
                <a:latin typeface="Times New Roman" panose="02020603050405020304" pitchFamily="18" charset="0"/>
                <a:cs typeface="Times New Roman" panose="02020603050405020304" pitchFamily="18" charset="0"/>
              </a:rPr>
              <a:t>Салбарын онцлог</a:t>
            </a:r>
          </a:p>
          <a:p>
            <a:pPr lvl="1" algn="just"/>
            <a:r>
              <a:rPr lang="mn-MN" sz="2800" dirty="0">
                <a:solidFill>
                  <a:srgbClr val="002060"/>
                </a:solidFill>
                <a:latin typeface="Times New Roman" panose="02020603050405020304" pitchFamily="18" charset="0"/>
                <a:cs typeface="Times New Roman" panose="02020603050405020304" pitchFamily="18" charset="0"/>
              </a:rPr>
              <a:t>Салбарын стандарт, хууль эрх зүй</a:t>
            </a:r>
          </a:p>
          <a:p>
            <a:pPr lvl="1" algn="just"/>
            <a:r>
              <a:rPr lang="mn-MN" sz="2800" dirty="0">
                <a:solidFill>
                  <a:srgbClr val="002060"/>
                </a:solidFill>
                <a:latin typeface="Times New Roman" panose="02020603050405020304" pitchFamily="18" charset="0"/>
                <a:cs typeface="Times New Roman" panose="02020603050405020304" pitchFamily="18" charset="0"/>
              </a:rPr>
              <a:t>Төслийн үндсэн ойлголтууд</a:t>
            </a:r>
          </a:p>
          <a:p>
            <a:pPr algn="just"/>
            <a:r>
              <a:rPr lang="mn-MN" sz="3200" dirty="0">
                <a:solidFill>
                  <a:srgbClr val="002060"/>
                </a:solidFill>
                <a:latin typeface="Times New Roman" panose="02020603050405020304" pitchFamily="18" charset="0"/>
                <a:cs typeface="Times New Roman" panose="02020603050405020304" pitchFamily="18" charset="0"/>
              </a:rPr>
              <a:t>Төслийн оролцогчид</a:t>
            </a:r>
          </a:p>
          <a:p>
            <a:pPr lvl="1" algn="just"/>
            <a:r>
              <a:rPr lang="mn-MN" sz="2800" dirty="0">
                <a:solidFill>
                  <a:srgbClr val="002060"/>
                </a:solidFill>
                <a:latin typeface="Times New Roman" panose="02020603050405020304" pitchFamily="18" charset="0"/>
                <a:cs typeface="Times New Roman" panose="02020603050405020304" pitchFamily="18" charset="0"/>
              </a:rPr>
              <a:t>Төсөл хэрэгжих явцад ашиг сонирхол нь хөндөгдөх, төслийн үйл ажиллагаанд шууд болон шууд бусаар хамрагдсан, төслийн үйл ажиллагаанд идэвхтэй оролцож, үр дүнд нь нөлөөлөх хувь хүн, албан байгууллага. </a:t>
            </a:r>
            <a:endParaRPr lang="en-US" sz="2800" dirty="0">
              <a:solidFill>
                <a:srgbClr val="00206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3374192-7D82-D5D0-D624-744AE81C873A}"/>
              </a:ext>
            </a:extLst>
          </p:cNvPr>
          <p:cNvPicPr>
            <a:picLocks noChangeAspect="1"/>
          </p:cNvPicPr>
          <p:nvPr/>
        </p:nvPicPr>
        <p:blipFill>
          <a:blip r:embed="rId3"/>
          <a:stretch>
            <a:fillRect/>
          </a:stretch>
        </p:blipFill>
        <p:spPr>
          <a:xfrm>
            <a:off x="6957670" y="593770"/>
            <a:ext cx="5063641" cy="5026742"/>
          </a:xfrm>
          <a:prstGeom prst="rect">
            <a:avLst/>
          </a:prstGeom>
        </p:spPr>
      </p:pic>
    </p:spTree>
    <p:extLst>
      <p:ext uri="{BB962C8B-B14F-4D97-AF65-F5344CB8AC3E}">
        <p14:creationId xmlns:p14="http://schemas.microsoft.com/office/powerpoint/2010/main" val="2278138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B7E70-6DFB-3209-793E-CC9D54438446}"/>
              </a:ext>
            </a:extLst>
          </p:cNvPr>
          <p:cNvSpPr>
            <a:spLocks noGrp="1"/>
          </p:cNvSpPr>
          <p:nvPr>
            <p:ph type="title"/>
          </p:nvPr>
        </p:nvSpPr>
        <p:spPr>
          <a:xfrm>
            <a:off x="109728" y="102168"/>
            <a:ext cx="11765280" cy="518990"/>
          </a:xfrm>
        </p:spPr>
        <p:txBody>
          <a:bodyPr>
            <a:noAutofit/>
          </a:bodyPr>
          <a:lstStyle/>
          <a:p>
            <a:r>
              <a:rPr lang="mn-MN" sz="3800" b="1" dirty="0">
                <a:solidFill>
                  <a:srgbClr val="002060"/>
                </a:solidFill>
                <a:latin typeface="Times New Roman" panose="02020603050405020304" pitchFamily="18" charset="0"/>
                <a:cs typeface="Times New Roman" panose="02020603050405020304" pitchFamily="18" charset="0"/>
              </a:rPr>
              <a:t>Төслийн хуваарь төлөвлөлт, төлөвлөгөө, хяналт</a:t>
            </a:r>
            <a:endParaRPr lang="en-US" sz="38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40C2A7E-E2DF-5005-1152-EACA5491AC2F}"/>
              </a:ext>
            </a:extLst>
          </p:cNvPr>
          <p:cNvSpPr>
            <a:spLocks noGrp="1"/>
          </p:cNvSpPr>
          <p:nvPr>
            <p:ph idx="1"/>
          </p:nvPr>
        </p:nvSpPr>
        <p:spPr>
          <a:xfrm>
            <a:off x="109728" y="621158"/>
            <a:ext cx="11765280" cy="5310251"/>
          </a:xfrm>
        </p:spPr>
        <p:txBody>
          <a:bodyPr>
            <a:norm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Төлөвлөгөө</a:t>
            </a:r>
            <a:r>
              <a:rPr lang="mn-MN" sz="3600" dirty="0">
                <a:solidFill>
                  <a:srgbClr val="002060"/>
                </a:solidFill>
                <a:latin typeface="Times New Roman" panose="02020603050405020304" pitchFamily="18" charset="0"/>
                <a:cs typeface="Times New Roman" panose="02020603050405020304" pitchFamily="18" charset="0"/>
              </a:rPr>
              <a:t> ба </a:t>
            </a:r>
            <a:r>
              <a:rPr lang="mn-MN" sz="3600" b="1" dirty="0">
                <a:solidFill>
                  <a:srgbClr val="002060"/>
                </a:solidFill>
                <a:latin typeface="Times New Roman" panose="02020603050405020304" pitchFamily="18" charset="0"/>
                <a:cs typeface="Times New Roman" panose="02020603050405020304" pitchFamily="18" charset="0"/>
              </a:rPr>
              <a:t>хуваар</a:t>
            </a:r>
            <a:r>
              <a:rPr lang="mn-MN" sz="3600" dirty="0">
                <a:solidFill>
                  <a:srgbClr val="002060"/>
                </a:solidFill>
                <a:latin typeface="Times New Roman" panose="02020603050405020304" pitchFamily="18" charset="0"/>
                <a:cs typeface="Times New Roman" panose="02020603050405020304" pitchFamily="18" charset="0"/>
              </a:rPr>
              <a:t>ийг ихэвчлэн ижил утгатай нэр томъёо гэж үзэх хандлага байдаг. </a:t>
            </a:r>
          </a:p>
          <a:p>
            <a:pPr lvl="1" algn="just"/>
            <a:r>
              <a:rPr lang="mn-MN" sz="3200" dirty="0">
                <a:solidFill>
                  <a:srgbClr val="002060"/>
                </a:solidFill>
                <a:latin typeface="Times New Roman" panose="02020603050405020304" pitchFamily="18" charset="0"/>
                <a:cs typeface="Times New Roman" panose="02020603050405020304" pitchFamily="18" charset="0"/>
              </a:rPr>
              <a:t>Гэтэл тэд ижил нэр томъёо биш юм!</a:t>
            </a:r>
          </a:p>
          <a:p>
            <a:pPr lvl="1" algn="just"/>
            <a:r>
              <a:rPr lang="mn-MN" sz="3200" dirty="0">
                <a:solidFill>
                  <a:srgbClr val="002060"/>
                </a:solidFill>
                <a:latin typeface="Times New Roman" panose="02020603050405020304" pitchFamily="18" charset="0"/>
                <a:cs typeface="Times New Roman" panose="02020603050405020304" pitchFamily="18" charset="0"/>
              </a:rPr>
              <a:t>Хуваарь нь төлөвлөгөөний зөвхөн нэг хэсэг болдог.</a:t>
            </a:r>
            <a:endParaRPr lang="en-US" sz="3200" dirty="0">
              <a:solidFill>
                <a:srgbClr val="002060"/>
              </a:solidFill>
              <a:latin typeface="Times New Roman" panose="02020603050405020304" pitchFamily="18" charset="0"/>
              <a:cs typeface="Times New Roman" panose="02020603050405020304" pitchFamily="18" charset="0"/>
            </a:endParaRPr>
          </a:p>
          <a:p>
            <a:pPr algn="just"/>
            <a:r>
              <a:rPr lang="mn-MN" sz="3600" b="1" dirty="0">
                <a:solidFill>
                  <a:srgbClr val="002060"/>
                </a:solidFill>
                <a:latin typeface="Times New Roman" panose="02020603050405020304" pitchFamily="18" charset="0"/>
                <a:cs typeface="Times New Roman" panose="02020603050405020304" pitchFamily="18" charset="0"/>
              </a:rPr>
              <a:t>Төслийн төлөвлөгөө –</a:t>
            </a:r>
            <a:r>
              <a:rPr lang="mn-MN" sz="3600" dirty="0">
                <a:solidFill>
                  <a:srgbClr val="002060"/>
                </a:solidFill>
                <a:latin typeface="Times New Roman" panose="02020603050405020304" pitchFamily="18" charset="0"/>
                <a:cs typeface="Times New Roman" panose="02020603050405020304" pitchFamily="18" charset="0"/>
              </a:rPr>
              <a:t> зардлын тооцоо, хуваарь, төслийн хяналт зэрэг хоорондоо хамааралтай хэд хэдэн чиг үүргийн үндэс суурь болдог.</a:t>
            </a:r>
          </a:p>
          <a:p>
            <a:pPr algn="just"/>
            <a:r>
              <a:rPr lang="mn-MN" sz="3600" b="1" dirty="0">
                <a:solidFill>
                  <a:srgbClr val="002060"/>
                </a:solidFill>
                <a:latin typeface="Times New Roman" panose="02020603050405020304" pitchFamily="18" charset="0"/>
                <a:cs typeface="Times New Roman" panose="02020603050405020304" pitchFamily="18" charset="0"/>
              </a:rPr>
              <a:t>Төслийн хуваарь – </a:t>
            </a:r>
            <a:r>
              <a:rPr lang="mn-MN" sz="3600" dirty="0">
                <a:solidFill>
                  <a:srgbClr val="002060"/>
                </a:solidFill>
                <a:latin typeface="Times New Roman" panose="02020603050405020304" pitchFamily="18" charset="0"/>
                <a:cs typeface="Times New Roman" panose="02020603050405020304" pitchFamily="18" charset="0"/>
              </a:rPr>
              <a:t>төсөл дэх үйл ажиллагааны хугацаа, дарааллыг тодорхойлсоноор төслийн нийт хугацааг тодорхойлох явдал юм.</a:t>
            </a:r>
          </a:p>
        </p:txBody>
      </p:sp>
    </p:spTree>
    <p:extLst>
      <p:ext uri="{BB962C8B-B14F-4D97-AF65-F5344CB8AC3E}">
        <p14:creationId xmlns:p14="http://schemas.microsoft.com/office/powerpoint/2010/main" val="3379595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BFEDC-33AF-86E4-2344-BECBC404569F}"/>
              </a:ext>
            </a:extLst>
          </p:cNvPr>
          <p:cNvSpPr>
            <a:spLocks noGrp="1"/>
          </p:cNvSpPr>
          <p:nvPr>
            <p:ph type="title"/>
          </p:nvPr>
        </p:nvSpPr>
        <p:spPr>
          <a:xfrm>
            <a:off x="109728" y="109728"/>
            <a:ext cx="11801856" cy="510795"/>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Төслийн төлөвлөгөө (</a:t>
            </a:r>
            <a:r>
              <a:rPr lang="en-US" b="1" dirty="0">
                <a:solidFill>
                  <a:srgbClr val="002060"/>
                </a:solidFill>
                <a:latin typeface="Times New Roman" panose="02020603050405020304" pitchFamily="18" charset="0"/>
                <a:cs typeface="Times New Roman" panose="02020603050405020304" pitchFamily="18" charset="0"/>
              </a:rPr>
              <a:t>Planning) </a:t>
            </a:r>
          </a:p>
        </p:txBody>
      </p:sp>
      <p:sp>
        <p:nvSpPr>
          <p:cNvPr id="3" name="Content Placeholder 2">
            <a:extLst>
              <a:ext uri="{FF2B5EF4-FFF2-40B4-BE49-F238E27FC236}">
                <a16:creationId xmlns:a16="http://schemas.microsoft.com/office/drawing/2014/main" id="{DA058FA6-9DD5-7CC7-6ADA-D7FED4C3D50C}"/>
              </a:ext>
            </a:extLst>
          </p:cNvPr>
          <p:cNvSpPr>
            <a:spLocks noGrp="1"/>
          </p:cNvSpPr>
          <p:nvPr>
            <p:ph idx="1"/>
          </p:nvPr>
        </p:nvSpPr>
        <p:spPr>
          <a:xfrm>
            <a:off x="109728" y="620523"/>
            <a:ext cx="11801856" cy="5072289"/>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Төлөвлөгөө нь төслийг хэрхэн хэрэгжүүлэхийг тодорхойлох үйл явц юм. </a:t>
            </a:r>
          </a:p>
          <a:p>
            <a:pPr algn="just"/>
            <a:r>
              <a:rPr lang="mn-MN" sz="3600" dirty="0">
                <a:solidFill>
                  <a:srgbClr val="002060"/>
                </a:solidFill>
                <a:latin typeface="Times New Roman" panose="02020603050405020304" pitchFamily="18" charset="0"/>
                <a:cs typeface="Times New Roman" panose="02020603050405020304" pitchFamily="18" charset="0"/>
              </a:rPr>
              <a:t>дараах асуултанд хариулна.</a:t>
            </a:r>
          </a:p>
          <a:p>
            <a:pPr marL="971550" lvl="1" indent="-514350" algn="just">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“Юу” хийх гэж байна</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эцсийн үр дүн ямар байх вэ?</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a:t>
            </a:r>
          </a:p>
          <a:p>
            <a:pPr marL="971550" lvl="1" indent="-514350" algn="just">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“Яаж“ хийх вэ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төслийн ажлын зорилтууд</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a:t>
            </a:r>
          </a:p>
          <a:p>
            <a:pPr marL="971550" lvl="1" indent="-514350" algn="just">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“Хэд</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байх вэ?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төслийн төсөв, санхүү, нөөц</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a:t>
            </a:r>
          </a:p>
          <a:p>
            <a:pPr marL="971550" lvl="1" indent="-514350" algn="just">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"Хэн" хийх вэ?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төслийн зохион байгуулалт</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a:t>
            </a:r>
          </a:p>
          <a:p>
            <a:pPr marL="971550" lvl="1" indent="-514350" algn="just">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“Хэзээ" (ерөнхийдөө: эхлэх ба дуусгах)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хуваарь гаргах</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a:t>
            </a:r>
          </a:p>
          <a:p>
            <a:pPr marL="971550" lvl="1" indent="-514350" algn="just">
              <a:buFont typeface="+mj-lt"/>
              <a:buAutoNum type="arabicPeriod"/>
            </a:pP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Хэр сайн</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 хийх вэ?</a:t>
            </a:r>
            <a:r>
              <a:rPr lang="en-US" sz="3200" dirty="0">
                <a:solidFill>
                  <a:srgbClr val="002060"/>
                </a:solidFill>
                <a:latin typeface="Times New Roman" panose="02020603050405020304" pitchFamily="18" charset="0"/>
                <a:cs typeface="Times New Roman" panose="02020603050405020304" pitchFamily="18" charset="0"/>
              </a:rPr>
              <a:t> (</a:t>
            </a:r>
            <a:r>
              <a:rPr lang="mn-MN" sz="3200" dirty="0">
                <a:solidFill>
                  <a:srgbClr val="002060"/>
                </a:solidFill>
                <a:latin typeface="Times New Roman" panose="02020603050405020304" pitchFamily="18" charset="0"/>
                <a:cs typeface="Times New Roman" panose="02020603050405020304" pitchFamily="18" charset="0"/>
              </a:rPr>
              <a:t>төслийн хяналт</a:t>
            </a:r>
            <a:r>
              <a:rPr lang="en-US" sz="3200"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54082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6A4F-D1E4-8F05-9D90-18D4B9B595E1}"/>
              </a:ext>
            </a:extLst>
          </p:cNvPr>
          <p:cNvSpPr>
            <a:spLocks noGrp="1"/>
          </p:cNvSpPr>
          <p:nvPr>
            <p:ph type="title"/>
          </p:nvPr>
        </p:nvSpPr>
        <p:spPr>
          <a:xfrm>
            <a:off x="179832" y="121285"/>
            <a:ext cx="11634216" cy="415163"/>
          </a:xfrm>
        </p:spPr>
        <p:txBody>
          <a:bodyPr>
            <a:normAutofit fontScale="90000"/>
          </a:bodyPr>
          <a:lstStyle/>
          <a:p>
            <a:r>
              <a:rPr lang="mn-MN" b="1" dirty="0">
                <a:solidFill>
                  <a:srgbClr val="002060"/>
                </a:solidFill>
                <a:latin typeface="Times New Roman" panose="02020603050405020304" pitchFamily="18" charset="0"/>
                <a:cs typeface="Times New Roman" panose="02020603050405020304" pitchFamily="18" charset="0"/>
              </a:rPr>
              <a:t>Төслийн хуваарь (</a:t>
            </a:r>
            <a:r>
              <a:rPr lang="en-US" b="1" dirty="0">
                <a:solidFill>
                  <a:srgbClr val="002060"/>
                </a:solidFill>
                <a:latin typeface="Times New Roman" panose="02020603050405020304" pitchFamily="18" charset="0"/>
                <a:cs typeface="Times New Roman" panose="02020603050405020304" pitchFamily="18" charset="0"/>
              </a:rPr>
              <a:t>Scheduling) </a:t>
            </a:r>
          </a:p>
        </p:txBody>
      </p:sp>
      <p:sp>
        <p:nvSpPr>
          <p:cNvPr id="3" name="Content Placeholder 2">
            <a:extLst>
              <a:ext uri="{FF2B5EF4-FFF2-40B4-BE49-F238E27FC236}">
                <a16:creationId xmlns:a16="http://schemas.microsoft.com/office/drawing/2014/main" id="{E81386FD-E0AF-2575-A312-12417B86B584}"/>
              </a:ext>
            </a:extLst>
          </p:cNvPr>
          <p:cNvSpPr>
            <a:spLocks noGrp="1"/>
          </p:cNvSpPr>
          <p:nvPr>
            <p:ph idx="1"/>
          </p:nvPr>
        </p:nvSpPr>
        <p:spPr>
          <a:xfrm>
            <a:off x="105935" y="552515"/>
            <a:ext cx="11634216" cy="4609420"/>
          </a:xfrm>
        </p:spPr>
        <p:txBody>
          <a:bodyPr/>
          <a:lstStyle/>
          <a:p>
            <a:r>
              <a:rPr lang="mn-MN" sz="2800" dirty="0">
                <a:solidFill>
                  <a:srgbClr val="002060"/>
                </a:solidFill>
                <a:latin typeface="Times New Roman" panose="02020603050405020304" pitchFamily="18" charset="0"/>
                <a:cs typeface="Times New Roman" panose="02020603050405020304" pitchFamily="18" charset="0"/>
              </a:rPr>
              <a:t>Хуваарь нь "хэзээ" -г илүү нарийвчилсан түвшинд авч үздэг.</a:t>
            </a:r>
            <a:endParaRPr lang="en-US" sz="2800" dirty="0">
              <a:solidFill>
                <a:srgbClr val="002060"/>
              </a:solidFill>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grpSp>
        <p:nvGrpSpPr>
          <p:cNvPr id="4" name="Group 19">
            <a:extLst>
              <a:ext uri="{FF2B5EF4-FFF2-40B4-BE49-F238E27FC236}">
                <a16:creationId xmlns:a16="http://schemas.microsoft.com/office/drawing/2014/main" id="{2ECAF1DF-5A72-AB48-82BC-E655CB4F31B5}"/>
              </a:ext>
            </a:extLst>
          </p:cNvPr>
          <p:cNvGrpSpPr>
            <a:grpSpLocks/>
          </p:cNvGrpSpPr>
          <p:nvPr/>
        </p:nvGrpSpPr>
        <p:grpSpPr bwMode="auto">
          <a:xfrm>
            <a:off x="189894" y="1080790"/>
            <a:ext cx="11746073" cy="5527274"/>
            <a:chOff x="251520" y="1988840"/>
            <a:chExt cx="8604448" cy="3528392"/>
          </a:xfrm>
        </p:grpSpPr>
        <p:pic>
          <p:nvPicPr>
            <p:cNvPr id="5" name="Picture 2" descr="C:\Users\Eng.Baha Abu halid\Uni\Capture.JPG">
              <a:extLst>
                <a:ext uri="{FF2B5EF4-FFF2-40B4-BE49-F238E27FC236}">
                  <a16:creationId xmlns:a16="http://schemas.microsoft.com/office/drawing/2014/main" id="{5D4D4098-BC0F-DB71-3B18-FB92D5172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988840"/>
              <a:ext cx="3294309" cy="2786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a:extLst>
                <a:ext uri="{FF2B5EF4-FFF2-40B4-BE49-F238E27FC236}">
                  <a16:creationId xmlns:a16="http://schemas.microsoft.com/office/drawing/2014/main" id="{9E5EDBD1-0EB3-1274-F70E-998072802689}"/>
                </a:ext>
              </a:extLst>
            </p:cNvPr>
            <p:cNvGrpSpPr>
              <a:grpSpLocks/>
            </p:cNvGrpSpPr>
            <p:nvPr/>
          </p:nvGrpSpPr>
          <p:grpSpPr bwMode="auto">
            <a:xfrm>
              <a:off x="1691680" y="2074916"/>
              <a:ext cx="7164288" cy="3442316"/>
              <a:chOff x="1691680" y="2074916"/>
              <a:chExt cx="7164288" cy="3442316"/>
            </a:xfrm>
          </p:grpSpPr>
          <p:grpSp>
            <p:nvGrpSpPr>
              <p:cNvPr id="7" name="Group 16">
                <a:extLst>
                  <a:ext uri="{FF2B5EF4-FFF2-40B4-BE49-F238E27FC236}">
                    <a16:creationId xmlns:a16="http://schemas.microsoft.com/office/drawing/2014/main" id="{BC8577EB-10E8-B721-205C-119E7776028D}"/>
                  </a:ext>
                </a:extLst>
              </p:cNvPr>
              <p:cNvGrpSpPr>
                <a:grpSpLocks/>
              </p:cNvGrpSpPr>
              <p:nvPr/>
            </p:nvGrpSpPr>
            <p:grpSpPr bwMode="auto">
              <a:xfrm>
                <a:off x="3851920" y="2780928"/>
                <a:ext cx="5004048" cy="2736304"/>
                <a:chOff x="3851920" y="2780928"/>
                <a:chExt cx="5004048" cy="2736304"/>
              </a:xfrm>
            </p:grpSpPr>
            <p:sp>
              <p:nvSpPr>
                <p:cNvPr id="10" name="Oval 9">
                  <a:extLst>
                    <a:ext uri="{FF2B5EF4-FFF2-40B4-BE49-F238E27FC236}">
                      <a16:creationId xmlns:a16="http://schemas.microsoft.com/office/drawing/2014/main" id="{9EEA4F3D-F56A-33CF-B451-0137A9ABDD3F}"/>
                    </a:ext>
                  </a:extLst>
                </p:cNvPr>
                <p:cNvSpPr/>
                <p:nvPr/>
              </p:nvSpPr>
              <p:spPr>
                <a:xfrm>
                  <a:off x="3852252" y="2780644"/>
                  <a:ext cx="5003716" cy="27365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r>
                    <a:rPr lang="en-US" sz="3200" b="1" dirty="0">
                      <a:solidFill>
                        <a:schemeClr val="bg1"/>
                      </a:solidFill>
                      <a:latin typeface="Times New Roman" panose="02020603050405020304" pitchFamily="18" charset="0"/>
                      <a:cs typeface="Times New Roman" panose="02020603050405020304" pitchFamily="18" charset="0"/>
                    </a:rPr>
                    <a:t>The Plan</a:t>
                  </a:r>
                  <a:endParaRPr lang="ar-SA" sz="3200" b="1" dirty="0">
                    <a:solidFill>
                      <a:schemeClr val="bg1"/>
                    </a:solidFill>
                    <a:latin typeface="Times New Roman" panose="02020603050405020304" pitchFamily="18" charset="0"/>
                    <a:cs typeface="Times New Roman" panose="02020603050405020304" pitchFamily="18" charset="0"/>
                  </a:endParaRPr>
                </a:p>
              </p:txBody>
            </p:sp>
            <p:sp>
              <p:nvSpPr>
                <p:cNvPr id="11" name="Oval 10">
                  <a:extLst>
                    <a:ext uri="{FF2B5EF4-FFF2-40B4-BE49-F238E27FC236}">
                      <a16:creationId xmlns:a16="http://schemas.microsoft.com/office/drawing/2014/main" id="{BCCE9724-2117-3FE0-A9E4-FCBFE7C552D1}"/>
                    </a:ext>
                  </a:extLst>
                </p:cNvPr>
                <p:cNvSpPr/>
                <p:nvPr/>
              </p:nvSpPr>
              <p:spPr>
                <a:xfrm>
                  <a:off x="5042045" y="2997349"/>
                  <a:ext cx="1296389" cy="5751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r>
                    <a:rPr lang="mn-MN" dirty="0">
                      <a:solidFill>
                        <a:srgbClr val="002060"/>
                      </a:solidFill>
                      <a:latin typeface="Times New Roman" panose="02020603050405020304" pitchFamily="18" charset="0"/>
                      <a:cs typeface="Times New Roman" panose="02020603050405020304" pitchFamily="18" charset="0"/>
                    </a:rPr>
                    <a:t>Юу</a:t>
                  </a:r>
                  <a:endParaRPr lang="ar-SA" dirty="0">
                    <a:solidFill>
                      <a:srgbClr val="002060"/>
                    </a:solidFill>
                    <a:latin typeface="Times New Roman" panose="02020603050405020304" pitchFamily="18" charset="0"/>
                    <a:cs typeface="Times New Roman" panose="02020603050405020304" pitchFamily="18" charset="0"/>
                  </a:endParaRPr>
                </a:p>
              </p:txBody>
            </p:sp>
            <p:sp>
              <p:nvSpPr>
                <p:cNvPr id="12" name="Oval 11">
                  <a:extLst>
                    <a:ext uri="{FF2B5EF4-FFF2-40B4-BE49-F238E27FC236}">
                      <a16:creationId xmlns:a16="http://schemas.microsoft.com/office/drawing/2014/main" id="{4507E54E-3AC5-DE8C-229A-839A512704BC}"/>
                    </a:ext>
                  </a:extLst>
                </p:cNvPr>
                <p:cNvSpPr/>
                <p:nvPr/>
              </p:nvSpPr>
              <p:spPr>
                <a:xfrm>
                  <a:off x="6445030" y="2997349"/>
                  <a:ext cx="1294821" cy="5751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r>
                    <a:rPr lang="mn-MN" dirty="0">
                      <a:solidFill>
                        <a:srgbClr val="002060"/>
                      </a:solidFill>
                      <a:latin typeface="Times New Roman" panose="02020603050405020304" pitchFamily="18" charset="0"/>
                      <a:cs typeface="Times New Roman" panose="02020603050405020304" pitchFamily="18" charset="0"/>
                    </a:rPr>
                    <a:t>Хэдээр </a:t>
                  </a:r>
                  <a:r>
                    <a:rPr lang="en-US" dirty="0">
                      <a:solidFill>
                        <a:srgbClr val="002060"/>
                      </a:solidFill>
                      <a:latin typeface="Times New Roman" panose="02020603050405020304" pitchFamily="18" charset="0"/>
                      <a:cs typeface="Times New Roman" panose="02020603050405020304" pitchFamily="18" charset="0"/>
                    </a:rPr>
                    <a:t>(</a:t>
                  </a:r>
                  <a:r>
                    <a:rPr lang="mn-MN" dirty="0">
                      <a:solidFill>
                        <a:srgbClr val="002060"/>
                      </a:solidFill>
                      <a:latin typeface="Times New Roman" panose="02020603050405020304" pitchFamily="18" charset="0"/>
                      <a:cs typeface="Times New Roman" panose="02020603050405020304" pitchFamily="18" charset="0"/>
                    </a:rPr>
                    <a:t>зардал</a:t>
                  </a:r>
                  <a:r>
                    <a:rPr lang="en-US" dirty="0">
                      <a:solidFill>
                        <a:srgbClr val="002060"/>
                      </a:solidFill>
                      <a:latin typeface="Times New Roman" panose="02020603050405020304" pitchFamily="18" charset="0"/>
                      <a:cs typeface="Times New Roman" panose="02020603050405020304" pitchFamily="18" charset="0"/>
                    </a:rPr>
                    <a:t>)</a:t>
                  </a:r>
                  <a:endParaRPr lang="ar-SA" dirty="0">
                    <a:solidFill>
                      <a:srgbClr val="002060"/>
                    </a:solidFill>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5003B2EF-8E5A-6FBF-B182-7F9E42A937D4}"/>
                    </a:ext>
                  </a:extLst>
                </p:cNvPr>
                <p:cNvSpPr/>
                <p:nvPr/>
              </p:nvSpPr>
              <p:spPr>
                <a:xfrm>
                  <a:off x="7197468" y="3572449"/>
                  <a:ext cx="1296388" cy="57649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r>
                    <a:rPr lang="mn-MN" dirty="0">
                      <a:solidFill>
                        <a:srgbClr val="002060"/>
                      </a:solidFill>
                      <a:latin typeface="Times New Roman" panose="02020603050405020304" pitchFamily="18" charset="0"/>
                      <a:cs typeface="Times New Roman" panose="02020603050405020304" pitchFamily="18" charset="0"/>
                    </a:rPr>
                    <a:t>Хэнээр</a:t>
                  </a:r>
                  <a:endParaRPr lang="ar-SA" dirty="0">
                    <a:solidFill>
                      <a:srgbClr val="002060"/>
                    </a:solidFill>
                    <a:latin typeface="Times New Roman" panose="02020603050405020304" pitchFamily="18" charset="0"/>
                    <a:cs typeface="Times New Roman" panose="02020603050405020304" pitchFamily="18" charset="0"/>
                  </a:endParaRPr>
                </a:p>
              </p:txBody>
            </p:sp>
            <p:sp>
              <p:nvSpPr>
                <p:cNvPr id="14" name="Oval 13">
                  <a:extLst>
                    <a:ext uri="{FF2B5EF4-FFF2-40B4-BE49-F238E27FC236}">
                      <a16:creationId xmlns:a16="http://schemas.microsoft.com/office/drawing/2014/main" id="{A9D811EB-881B-7FEE-238D-BE03DBB966EA}"/>
                    </a:ext>
                  </a:extLst>
                </p:cNvPr>
                <p:cNvSpPr/>
                <p:nvPr/>
              </p:nvSpPr>
              <p:spPr>
                <a:xfrm>
                  <a:off x="7164548" y="4365643"/>
                  <a:ext cx="1296389" cy="5751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r>
                    <a:rPr lang="mn-MN" dirty="0">
                      <a:solidFill>
                        <a:srgbClr val="002060"/>
                      </a:solidFill>
                      <a:latin typeface="Times New Roman" panose="02020603050405020304" pitchFamily="18" charset="0"/>
                      <a:cs typeface="Times New Roman" panose="02020603050405020304" pitchFamily="18" charset="0"/>
                    </a:rPr>
                    <a:t>Хаана</a:t>
                  </a:r>
                  <a:endParaRPr lang="ar-SA" dirty="0">
                    <a:solidFill>
                      <a:srgbClr val="002060"/>
                    </a:solidFill>
                    <a:latin typeface="Times New Roman" panose="02020603050405020304" pitchFamily="18" charset="0"/>
                    <a:cs typeface="Times New Roman" panose="02020603050405020304" pitchFamily="18" charset="0"/>
                  </a:endParaRPr>
                </a:p>
              </p:txBody>
            </p:sp>
            <p:sp>
              <p:nvSpPr>
                <p:cNvPr id="15" name="Oval 14">
                  <a:extLst>
                    <a:ext uri="{FF2B5EF4-FFF2-40B4-BE49-F238E27FC236}">
                      <a16:creationId xmlns:a16="http://schemas.microsoft.com/office/drawing/2014/main" id="{25E34BE7-DFB7-B9F7-B421-20E851C03562}"/>
                    </a:ext>
                  </a:extLst>
                </p:cNvPr>
                <p:cNvSpPr/>
                <p:nvPr/>
              </p:nvSpPr>
              <p:spPr>
                <a:xfrm>
                  <a:off x="5902647" y="4796274"/>
                  <a:ext cx="1294821" cy="57648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r>
                    <a:rPr lang="mn-MN" dirty="0">
                      <a:solidFill>
                        <a:srgbClr val="002060"/>
                      </a:solidFill>
                      <a:latin typeface="Times New Roman" panose="02020603050405020304" pitchFamily="18" charset="0"/>
                      <a:cs typeface="Times New Roman" panose="02020603050405020304" pitchFamily="18" charset="0"/>
                    </a:rPr>
                    <a:t>Яагаад</a:t>
                  </a:r>
                  <a:endParaRPr lang="ar-SA" dirty="0">
                    <a:solidFill>
                      <a:srgbClr val="002060"/>
                    </a:solidFill>
                    <a:latin typeface="Times New Roman" panose="02020603050405020304" pitchFamily="18" charset="0"/>
                    <a:cs typeface="Times New Roman" panose="02020603050405020304" pitchFamily="18" charset="0"/>
                  </a:endParaRPr>
                </a:p>
              </p:txBody>
            </p:sp>
            <p:sp>
              <p:nvSpPr>
                <p:cNvPr id="16" name="Oval 15">
                  <a:extLst>
                    <a:ext uri="{FF2B5EF4-FFF2-40B4-BE49-F238E27FC236}">
                      <a16:creationId xmlns:a16="http://schemas.microsoft.com/office/drawing/2014/main" id="{E3A1A134-5965-B1B6-FCC5-A89A504548EC}"/>
                    </a:ext>
                  </a:extLst>
                </p:cNvPr>
                <p:cNvSpPr/>
                <p:nvPr/>
              </p:nvSpPr>
              <p:spPr>
                <a:xfrm>
                  <a:off x="4427553" y="4436488"/>
                  <a:ext cx="1296389" cy="57649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r>
                    <a:rPr lang="mn-MN" dirty="0">
                      <a:solidFill>
                        <a:srgbClr val="002060"/>
                      </a:solidFill>
                      <a:latin typeface="Times New Roman" panose="02020603050405020304" pitchFamily="18" charset="0"/>
                      <a:cs typeface="Times New Roman" panose="02020603050405020304" pitchFamily="18" charset="0"/>
                    </a:rPr>
                    <a:t>Яаж</a:t>
                  </a:r>
                  <a:endParaRPr lang="ar-SA" dirty="0">
                    <a:solidFill>
                      <a:srgbClr val="002060"/>
                    </a:solidFill>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id="{FF96FC94-A084-0D1A-A1E6-2F3CA69B4A49}"/>
                    </a:ext>
                  </a:extLst>
                </p:cNvPr>
                <p:cNvSpPr/>
                <p:nvPr/>
              </p:nvSpPr>
              <p:spPr>
                <a:xfrm>
                  <a:off x="4148524" y="3572449"/>
                  <a:ext cx="1296389" cy="57649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fontAlgn="auto">
                    <a:spcBef>
                      <a:spcPts val="0"/>
                    </a:spcBef>
                    <a:spcAft>
                      <a:spcPts val="0"/>
                    </a:spcAft>
                    <a:defRPr/>
                  </a:pPr>
                  <a:r>
                    <a:rPr lang="mn-MN" dirty="0">
                      <a:solidFill>
                        <a:srgbClr val="002060"/>
                      </a:solidFill>
                      <a:latin typeface="Times New Roman" panose="02020603050405020304" pitchFamily="18" charset="0"/>
                      <a:cs typeface="Times New Roman" panose="02020603050405020304" pitchFamily="18" charset="0"/>
                    </a:rPr>
                    <a:t>Хэзээ</a:t>
                  </a:r>
                  <a:endParaRPr lang="ar-SA" dirty="0">
                    <a:solidFill>
                      <a:srgbClr val="002060"/>
                    </a:solidFill>
                    <a:latin typeface="Times New Roman" panose="02020603050405020304" pitchFamily="18" charset="0"/>
                    <a:cs typeface="Times New Roman" panose="02020603050405020304" pitchFamily="18" charset="0"/>
                  </a:endParaRPr>
                </a:p>
              </p:txBody>
            </p:sp>
          </p:grpSp>
          <p:cxnSp>
            <p:nvCxnSpPr>
              <p:cNvPr id="8" name="Straight Connector 7">
                <a:extLst>
                  <a:ext uri="{FF2B5EF4-FFF2-40B4-BE49-F238E27FC236}">
                    <a16:creationId xmlns:a16="http://schemas.microsoft.com/office/drawing/2014/main" id="{20EB6A2E-E1AC-C1C2-72D3-451613C19BDA}"/>
                  </a:ext>
                </a:extLst>
              </p:cNvPr>
              <p:cNvCxnSpPr/>
              <p:nvPr/>
            </p:nvCxnSpPr>
            <p:spPr>
              <a:xfrm flipH="1" flipV="1">
                <a:off x="1692126" y="2074966"/>
                <a:ext cx="3103809" cy="1512764"/>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1348D36-A00E-140E-8E8A-681C08411FF4}"/>
                  </a:ext>
                </a:extLst>
              </p:cNvPr>
              <p:cNvCxnSpPr/>
              <p:nvPr/>
            </p:nvCxnSpPr>
            <p:spPr>
              <a:xfrm flipH="1">
                <a:off x="2483754" y="4162830"/>
                <a:ext cx="2312181" cy="504254"/>
              </a:xfrm>
              <a:prstGeom prst="line">
                <a:avLst/>
              </a:prstGeom>
              <a:ln w="25400" cmpd="sng">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400078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A7A01-2C83-CF34-ED54-90ECA70242F2}"/>
              </a:ext>
            </a:extLst>
          </p:cNvPr>
          <p:cNvSpPr>
            <a:spLocks noGrp="1"/>
          </p:cNvSpPr>
          <p:nvPr>
            <p:ph type="title"/>
          </p:nvPr>
        </p:nvSpPr>
        <p:spPr>
          <a:xfrm>
            <a:off x="85344" y="109093"/>
            <a:ext cx="11850624" cy="310225"/>
          </a:xfrm>
        </p:spPr>
        <p:txBody>
          <a:bodyPr>
            <a:normAutofit fontScale="90000"/>
          </a:bodyPr>
          <a:lstStyle/>
          <a:p>
            <a:pPr algn="just">
              <a:spcBef>
                <a:spcPts val="0"/>
              </a:spcBef>
            </a:pPr>
            <a:r>
              <a:rPr lang="mn-MN" b="1" dirty="0">
                <a:solidFill>
                  <a:srgbClr val="002060"/>
                </a:solidFill>
                <a:latin typeface="Times New Roman" panose="02020603050405020304" pitchFamily="18" charset="0"/>
                <a:cs typeface="Times New Roman" panose="02020603050405020304" pitchFamily="18" charset="0"/>
              </a:rPr>
              <a:t>Төлөвлөгөө </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9BD452-E157-8C8D-D204-171DB2C5CF47}"/>
              </a:ext>
            </a:extLst>
          </p:cNvPr>
          <p:cNvSpPr>
            <a:spLocks noGrp="1"/>
          </p:cNvSpPr>
          <p:nvPr>
            <p:ph idx="1"/>
          </p:nvPr>
        </p:nvSpPr>
        <p:spPr>
          <a:xfrm>
            <a:off x="85344" y="521426"/>
            <a:ext cx="11850624" cy="1551214"/>
          </a:xfrm>
        </p:spPr>
        <p:txBody>
          <a:bodyPr>
            <a:normAutofit fontScale="92500" lnSpcReduction="10000"/>
          </a:bodyPr>
          <a:lstStyle/>
          <a:p>
            <a:pPr algn="just">
              <a:spcBef>
                <a:spcPts val="0"/>
              </a:spcBef>
            </a:pPr>
            <a:r>
              <a:rPr lang="mn-MN" sz="3200" dirty="0">
                <a:solidFill>
                  <a:srgbClr val="002060"/>
                </a:solidFill>
                <a:latin typeface="Times New Roman" panose="02020603050405020304" pitchFamily="18" charset="0"/>
                <a:cs typeface="Times New Roman" panose="02020603050405020304" pitchFamily="18" charset="0"/>
              </a:rPr>
              <a:t>Төслийн удирдлагын хүрээлэнгээс Төслийн удирдлагын төлөвлөгөөг </a:t>
            </a:r>
          </a:p>
          <a:p>
            <a:pPr lvl="1" algn="just">
              <a:spcBef>
                <a:spcPts val="0"/>
              </a:spcBef>
            </a:pPr>
            <a:r>
              <a:rPr lang="mn-MN" sz="2800" b="1" i="1" dirty="0">
                <a:solidFill>
                  <a:srgbClr val="002060"/>
                </a:solidFill>
                <a:latin typeface="Times New Roman" panose="02020603050405020304" pitchFamily="18" charset="0"/>
                <a:cs typeface="Times New Roman" panose="02020603050405020304" pitchFamily="18" charset="0"/>
              </a:rPr>
              <a:t>төслийг хэрхэн гүйцэтгэх, хяналт, шалгалт хийх талаар тодорхойлсон албан ёсны, батлагдсан баримт бичиг</a:t>
            </a:r>
          </a:p>
          <a:p>
            <a:pPr marL="0" indent="0" algn="just">
              <a:spcBef>
                <a:spcPts val="0"/>
              </a:spcBef>
              <a:buNone/>
            </a:pPr>
            <a:r>
              <a:rPr lang="mn-MN" sz="3200" dirty="0">
                <a:solidFill>
                  <a:srgbClr val="002060"/>
                </a:solidFill>
                <a:latin typeface="Times New Roman" panose="02020603050405020304" pitchFamily="18" charset="0"/>
                <a:cs typeface="Times New Roman" panose="02020603050405020304" pitchFamily="18" charset="0"/>
              </a:rPr>
              <a:t>	</a:t>
            </a:r>
            <a:r>
              <a:rPr lang="mn-MN" dirty="0">
                <a:solidFill>
                  <a:srgbClr val="002060"/>
                </a:solidFill>
                <a:latin typeface="Times New Roman" panose="02020603050405020304" pitchFamily="18" charset="0"/>
                <a:cs typeface="Times New Roman" panose="02020603050405020304" pitchFamily="18" charset="0"/>
              </a:rPr>
              <a:t>гэж тодорхойлсон байдаг.</a:t>
            </a:r>
          </a:p>
        </p:txBody>
      </p:sp>
      <p:pic>
        <p:nvPicPr>
          <p:cNvPr id="4" name="Picture 5">
            <a:extLst>
              <a:ext uri="{FF2B5EF4-FFF2-40B4-BE49-F238E27FC236}">
                <a16:creationId xmlns:a16="http://schemas.microsoft.com/office/drawing/2014/main" id="{A1A7B081-9132-164C-3FDA-59BA508502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40145" y="1572793"/>
            <a:ext cx="5695823" cy="3849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2">
            <a:extLst>
              <a:ext uri="{FF2B5EF4-FFF2-40B4-BE49-F238E27FC236}">
                <a16:creationId xmlns:a16="http://schemas.microsoft.com/office/drawing/2014/main" id="{3D6ECF1B-D1D4-45E9-8E36-D94BDB02BF03}"/>
              </a:ext>
            </a:extLst>
          </p:cNvPr>
          <p:cNvSpPr txBox="1">
            <a:spLocks/>
          </p:cNvSpPr>
          <p:nvPr/>
        </p:nvSpPr>
        <p:spPr>
          <a:xfrm>
            <a:off x="201168" y="1832066"/>
            <a:ext cx="12192000" cy="55027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spcBef>
                <a:spcPts val="0"/>
              </a:spcBef>
            </a:pPr>
            <a:r>
              <a:rPr lang="mn-MN" sz="3200" dirty="0">
                <a:solidFill>
                  <a:srgbClr val="002060"/>
                </a:solidFill>
                <a:latin typeface="Times New Roman" panose="02020603050405020304" pitchFamily="18" charset="0"/>
                <a:cs typeface="Times New Roman" panose="02020603050405020304" pitchFamily="18" charset="0"/>
              </a:rPr>
              <a:t>Төлөвлөгөөнд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Хамрах хүрээ,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Зураг төсөл буюу загварчлал,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Бусад хувилбарууд,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Өртөг зардал,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Цаг хугацаа,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Санхүү,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Газар,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Худалдан авалт, </a:t>
            </a:r>
          </a:p>
          <a:p>
            <a:pPr lvl="1" algn="just">
              <a:lnSpc>
                <a:spcPct val="110000"/>
              </a:lnSpc>
              <a:spcBef>
                <a:spcPts val="0"/>
              </a:spcBef>
            </a:pPr>
            <a:r>
              <a:rPr lang="mn-MN" sz="2800" dirty="0">
                <a:solidFill>
                  <a:srgbClr val="002060"/>
                </a:solidFill>
                <a:latin typeface="Times New Roman" panose="02020603050405020304" pitchFamily="18" charset="0"/>
                <a:cs typeface="Times New Roman" panose="02020603050405020304" pitchFamily="18" charset="0"/>
              </a:rPr>
              <a:t>Үйл ажиллагаа зэрэг элементүүдийг багтааж болно.</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9231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AC3E-25BA-5331-3F94-7DCDE692EC82}"/>
              </a:ext>
            </a:extLst>
          </p:cNvPr>
          <p:cNvSpPr>
            <a:spLocks noGrp="1"/>
          </p:cNvSpPr>
          <p:nvPr>
            <p:ph type="title"/>
          </p:nvPr>
        </p:nvSpPr>
        <p:spPr>
          <a:xfrm>
            <a:off x="158496" y="121286"/>
            <a:ext cx="11777472" cy="315912"/>
          </a:xfrm>
        </p:spPr>
        <p:txBody>
          <a:bodyPr>
            <a:normAutofit fontScale="90000"/>
          </a:bodyPr>
          <a:lstStyle/>
          <a:p>
            <a:pPr algn="just"/>
            <a:r>
              <a:rPr lang="mn-MN" b="1" dirty="0">
                <a:solidFill>
                  <a:srgbClr val="002060"/>
                </a:solidFill>
                <a:latin typeface="Times New Roman" panose="02020603050405020304" pitchFamily="18" charset="0"/>
                <a:cs typeface="Times New Roman" panose="02020603050405020304" pitchFamily="18" charset="0"/>
              </a:rPr>
              <a:t>Төлөвлөгөө</a:t>
            </a:r>
            <a:r>
              <a:rPr lang="mn-MN" dirty="0">
                <a:solidFill>
                  <a:srgbClr val="00206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D8DF0C-BE72-0AE6-28DD-5FD26D6BD216}"/>
              </a:ext>
            </a:extLst>
          </p:cNvPr>
          <p:cNvSpPr>
            <a:spLocks noGrp="1"/>
          </p:cNvSpPr>
          <p:nvPr>
            <p:ph idx="1"/>
          </p:nvPr>
        </p:nvSpPr>
        <p:spPr>
          <a:xfrm>
            <a:off x="207264" y="606425"/>
            <a:ext cx="11777472" cy="4351338"/>
          </a:xfrm>
        </p:spPr>
        <p:txBody>
          <a:bodyPr>
            <a:normAutofit/>
          </a:bodyPr>
          <a:lstStyle/>
          <a:p>
            <a:pPr algn="just"/>
            <a:r>
              <a:rPr lang="mn-MN" sz="3600" dirty="0">
                <a:solidFill>
                  <a:srgbClr val="002060"/>
                </a:solidFill>
                <a:latin typeface="Times New Roman" panose="02020603050405020304" pitchFamily="18" charset="0"/>
                <a:cs typeface="Times New Roman" panose="02020603050405020304" pitchFamily="18" charset="0"/>
              </a:rPr>
              <a:t>Төслийн удирдлагын хамгийн чухал үе шат юм. </a:t>
            </a:r>
            <a:endParaRPr lang="en-US" sz="3600" dirty="0">
              <a:solidFill>
                <a:srgbClr val="002060"/>
              </a:solidFill>
              <a:latin typeface="Times New Roman" panose="02020603050405020304" pitchFamily="18" charset="0"/>
              <a:cs typeface="Times New Roman" panose="02020603050405020304" pitchFamily="18" charset="0"/>
            </a:endParaRPr>
          </a:p>
          <a:p>
            <a:pPr algn="just"/>
            <a:r>
              <a:rPr lang="mn-MN" sz="3600" dirty="0">
                <a:solidFill>
                  <a:srgbClr val="002060"/>
                </a:solidFill>
                <a:latin typeface="Times New Roman" panose="02020603050405020304" pitchFamily="18" charset="0"/>
                <a:cs typeface="Times New Roman" panose="02020603050405020304" pitchFamily="18" charset="0"/>
              </a:rPr>
              <a:t>Төлөвлөсөн төлөвлөгөөнд өөрчлөлт оруулах шаардлага бага байлгахын тулд зохион байгуулалттайгаар, урьдчилан таамагласан байдлаар хийж гүйцэтгэсэн цуврал алхмуудаар дамжуулан тодорхой зорилтуудыг бодит байдалд шилжүүлэх урлаг буюу шинжлэх ухаан юм.</a:t>
            </a:r>
          </a:p>
          <a:p>
            <a:pPr algn="just"/>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9246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B90E0-720B-4BF3-F4B4-463A8A378044}"/>
              </a:ext>
            </a:extLst>
          </p:cNvPr>
          <p:cNvSpPr>
            <a:spLocks noGrp="1"/>
          </p:cNvSpPr>
          <p:nvPr>
            <p:ph type="title"/>
          </p:nvPr>
        </p:nvSpPr>
        <p:spPr>
          <a:xfrm>
            <a:off x="109728" y="84710"/>
            <a:ext cx="11814048" cy="488314"/>
          </a:xfrm>
        </p:spPr>
        <p:txBody>
          <a:bodyPr>
            <a:normAutofit fontScale="90000"/>
          </a:bodyPr>
          <a:lstStyle/>
          <a:p>
            <a:r>
              <a:rPr lang="mn-MN" sz="3600" b="1" dirty="0">
                <a:solidFill>
                  <a:srgbClr val="002060"/>
                </a:solidFill>
                <a:latin typeface="Times New Roman" panose="02020603050405020304" pitchFamily="18" charset="0"/>
                <a:cs typeface="Times New Roman" panose="02020603050405020304" pitchFamily="18" charset="0"/>
              </a:rPr>
              <a:t>Хуваарь гаргах үе шат</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2C6634-EDFE-09D5-566E-EDB39A260F4D}"/>
              </a:ext>
            </a:extLst>
          </p:cNvPr>
          <p:cNvSpPr>
            <a:spLocks noGrp="1"/>
          </p:cNvSpPr>
          <p:nvPr>
            <p:ph idx="1"/>
          </p:nvPr>
        </p:nvSpPr>
        <p:spPr>
          <a:xfrm>
            <a:off x="109728" y="573024"/>
            <a:ext cx="11814048" cy="5600699"/>
          </a:xfrm>
        </p:spPr>
        <p:txBody>
          <a:bodyPr>
            <a:normAutofit lnSpcReduction="10000"/>
          </a:bodyPr>
          <a:lstStyle/>
          <a:p>
            <a:pPr algn="just"/>
            <a:r>
              <a:rPr lang="mn-MN" sz="2800" dirty="0">
                <a:solidFill>
                  <a:srgbClr val="002060"/>
                </a:solidFill>
                <a:latin typeface="Times New Roman" panose="02020603050405020304" pitchFamily="18" charset="0"/>
                <a:cs typeface="Times New Roman" panose="02020603050405020304" pitchFamily="18" charset="0"/>
              </a:rPr>
              <a:t>Хуваарь гаргах үе шат нь төлөвлөгөөний үйл ажиллагааг албан ёсны болгох, үргэлжлэх хугацааг тодорхойлох, нөөц болон дарааллыг багийн гишүүдтэй зөвлөлдсөний үндсэн дээр хуваарилах үйл явц юм.</a:t>
            </a:r>
          </a:p>
          <a:p>
            <a:pPr algn="just"/>
            <a:r>
              <a:rPr lang="mn-MN" sz="2800" dirty="0">
                <a:solidFill>
                  <a:srgbClr val="002060"/>
                </a:solidFill>
                <a:latin typeface="Times New Roman" panose="02020603050405020304" pitchFamily="18" charset="0"/>
                <a:cs typeface="Times New Roman" panose="02020603050405020304" pitchFamily="18" charset="0"/>
              </a:rPr>
              <a:t>Төлөвлөлт, хуваарь гаргах үе шатууд нь бодит төсөл эхлэхээс өмнө хийгддэг.</a:t>
            </a:r>
            <a:endParaRPr lang="en-US" sz="2800" dirty="0">
              <a:solidFill>
                <a:srgbClr val="002060"/>
              </a:solidFill>
              <a:latin typeface="Times New Roman" panose="02020603050405020304" pitchFamily="18" charset="0"/>
              <a:cs typeface="Times New Roman" panose="02020603050405020304" pitchFamily="18" charset="0"/>
            </a:endParaRPr>
          </a:p>
          <a:p>
            <a:pPr algn="just"/>
            <a:r>
              <a:rPr lang="mn-MN" dirty="0">
                <a:solidFill>
                  <a:srgbClr val="002060"/>
                </a:solidFill>
                <a:latin typeface="Times New Roman" panose="02020603050405020304" pitchFamily="18" charset="0"/>
                <a:cs typeface="Times New Roman" panose="02020603050405020304" pitchFamily="18" charset="0"/>
              </a:rPr>
              <a:t>Яагаад төслийн хуваарь хийх шаардлагатай вэ?</a:t>
            </a:r>
          </a:p>
          <a:p>
            <a:pPr marL="914400"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Төслийн гүйцэтгэлийг тооцоолоход;</a:t>
            </a:r>
          </a:p>
          <a:p>
            <a:pPr marL="914400"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Тодорхой үйл ажиллагааны эхлэл болон төгсгөлийг тооцоолоход;</a:t>
            </a:r>
          </a:p>
          <a:p>
            <a:pPr marL="914400"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Арилжаа хийгч талууд, эсвэл туслан гүйцэтгэгчдийн хоорондын зөрчлийг илрүүлж, зохицуулалт хийхэд (тохируулах);</a:t>
            </a:r>
          </a:p>
          <a:p>
            <a:pPr marL="914400"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Мөнгөн урсгалыг урьдчилан тооцоолох, мөнгөн урсгалын тооцоо хийхэд;</a:t>
            </a:r>
          </a:p>
          <a:p>
            <a:pPr marL="914400"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захиалгыг өөрчлөлтийн үр нөлөөг үнэлэхэд;</a:t>
            </a:r>
          </a:p>
          <a:p>
            <a:pPr marL="914400"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Ажлын үр ашгийг дээшлүүлэхэд.</a:t>
            </a:r>
          </a:p>
          <a:p>
            <a:pPr marL="914400"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Хойшлогдсон (хоцорсон) нэхэмжлэлийг шийдвэрлэхэд; </a:t>
            </a:r>
          </a:p>
          <a:p>
            <a:pPr marL="914400" lvl="1" indent="-457200" algn="just">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Төслийн хяналтын үр дүнтэй хэрэгслийг сонгон ашиглахад.</a:t>
            </a:r>
          </a:p>
        </p:txBody>
      </p:sp>
    </p:spTree>
    <p:extLst>
      <p:ext uri="{BB962C8B-B14F-4D97-AF65-F5344CB8AC3E}">
        <p14:creationId xmlns:p14="http://schemas.microsoft.com/office/powerpoint/2010/main" val="3626063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5FC2-A4B4-B2E2-86DF-588533F029D1}"/>
              </a:ext>
            </a:extLst>
          </p:cNvPr>
          <p:cNvSpPr>
            <a:spLocks noGrp="1"/>
          </p:cNvSpPr>
          <p:nvPr>
            <p:ph type="title"/>
          </p:nvPr>
        </p:nvSpPr>
        <p:spPr>
          <a:xfrm>
            <a:off x="131064" y="96901"/>
            <a:ext cx="11878056" cy="488315"/>
          </a:xfrm>
        </p:spPr>
        <p:txBody>
          <a:bodyPr>
            <a:normAutofit fontScale="90000"/>
          </a:bodyPr>
          <a:lstStyle/>
          <a:p>
            <a:r>
              <a:rPr lang="ru-RU" b="1" dirty="0">
                <a:solidFill>
                  <a:srgbClr val="002060"/>
                </a:solidFill>
                <a:latin typeface="Times New Roman" panose="02020603050405020304" pitchFamily="18" charset="0"/>
                <a:cs typeface="Times New Roman" panose="02020603050405020304" pitchFamily="18" charset="0"/>
              </a:rPr>
              <a:t>Сайн хуваарийн системийн 3 хүчин зүйл</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36D785-3C09-8E48-6039-2AFD70FE81D3}"/>
              </a:ext>
            </a:extLst>
          </p:cNvPr>
          <p:cNvSpPr>
            <a:spLocks noGrp="1"/>
          </p:cNvSpPr>
          <p:nvPr>
            <p:ph idx="1"/>
          </p:nvPr>
        </p:nvSpPr>
        <p:spPr>
          <a:xfrm>
            <a:off x="156972" y="585216"/>
            <a:ext cx="11878056" cy="2999232"/>
          </a:xfrm>
        </p:spPr>
        <p:txBody>
          <a:bodyPr>
            <a:normAutofit/>
          </a:bodyPr>
          <a:lstStyle/>
          <a:p>
            <a:pPr marL="457200" indent="-457200">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Хүний хүчин зүйл: Ур чадвартай хуваарь гаргагч эсвэл хуваарь гаргах баг.</a:t>
            </a:r>
          </a:p>
          <a:p>
            <a:pPr marL="457200" indent="-457200">
              <a:buFont typeface="+mj-lt"/>
              <a:buAutoNum type="arabicPeriod"/>
            </a:pPr>
            <a:r>
              <a:rPr lang="ru-RU" sz="3200" dirty="0">
                <a:solidFill>
                  <a:srgbClr val="002060"/>
                </a:solidFill>
                <a:latin typeface="Times New Roman" panose="02020603050405020304" pitchFamily="18" charset="0"/>
                <a:cs typeface="Times New Roman" panose="02020603050405020304" pitchFamily="18" charset="0"/>
              </a:rPr>
              <a:t>Технологи: сайн</a:t>
            </a:r>
            <a:r>
              <a:rPr lang="mn-MN" sz="3200" dirty="0">
                <a:solidFill>
                  <a:srgbClr val="002060"/>
                </a:solidFill>
                <a:latin typeface="Times New Roman" panose="02020603050405020304" pitchFamily="18" charset="0"/>
                <a:cs typeface="Times New Roman" panose="02020603050405020304" pitchFamily="18" charset="0"/>
              </a:rPr>
              <a:t> хуваарийн</a:t>
            </a:r>
            <a:r>
              <a:rPr lang="ru-RU" sz="3200" dirty="0">
                <a:solidFill>
                  <a:srgbClr val="002060"/>
                </a:solidFill>
                <a:latin typeface="Times New Roman" panose="02020603050405020304" pitchFamily="18" charset="0"/>
                <a:cs typeface="Times New Roman" panose="02020603050405020304" pitchFamily="18" charset="0"/>
              </a:rPr>
              <a:t> компьютерийн систем (програм хангамж, техник хангамж)</a:t>
            </a:r>
            <a:endParaRPr lang="mn-MN" sz="3200" dirty="0">
              <a:solidFill>
                <a:srgbClr val="002060"/>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mn-MN" sz="3200" dirty="0">
                <a:solidFill>
                  <a:srgbClr val="002060"/>
                </a:solidFill>
                <a:latin typeface="Times New Roman" panose="02020603050405020304" pitchFamily="18" charset="0"/>
                <a:cs typeface="Times New Roman" panose="02020603050405020304" pitchFamily="18" charset="0"/>
              </a:rPr>
              <a:t>Удирдлага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менежмент</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 Эрчтэй, мэдрэмжтэй, дэмжлэг үзүүлэх удирдлага.</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5CA4624C-C474-1C1B-73F7-6C7C28C48E37}"/>
              </a:ext>
            </a:extLst>
          </p:cNvPr>
          <p:cNvSpPr/>
          <p:nvPr/>
        </p:nvSpPr>
        <p:spPr>
          <a:xfrm>
            <a:off x="156972" y="3534154"/>
            <a:ext cx="11681416" cy="1200329"/>
          </a:xfrm>
          <a:prstGeom prst="rect">
            <a:avLst/>
          </a:prstGeom>
        </p:spPr>
        <p:txBody>
          <a:bodyPr wrap="square">
            <a:spAutoFit/>
          </a:bodyPr>
          <a:lstStyle/>
          <a:p>
            <a:pPr algn="ctr"/>
            <a:r>
              <a:rPr lang="en-US" sz="3600" b="1" dirty="0" err="1">
                <a:solidFill>
                  <a:srgbClr val="FF0000"/>
                </a:solidFill>
                <a:latin typeface="Times New Roman" panose="02020603050405020304" pitchFamily="18" charset="0"/>
                <a:cs typeface="Times New Roman" panose="02020603050405020304" pitchFamily="18" charset="0"/>
              </a:rPr>
              <a:t>Хэрэв</a:t>
            </a:r>
            <a:r>
              <a:rPr lang="en-US" sz="3600" b="1" dirty="0">
                <a:solidFill>
                  <a:srgbClr val="FF0000"/>
                </a:solidFill>
                <a:latin typeface="Times New Roman" panose="02020603050405020304" pitchFamily="18" charset="0"/>
                <a:cs typeface="Times New Roman" panose="02020603050405020304" pitchFamily="18" charset="0"/>
              </a:rPr>
              <a:t> </a:t>
            </a:r>
            <a:r>
              <a:rPr lang="mn-MN" sz="3600" b="1" dirty="0">
                <a:solidFill>
                  <a:srgbClr val="FF0000"/>
                </a:solidFill>
                <a:latin typeface="Times New Roman" panose="02020603050405020304" pitchFamily="18" charset="0"/>
                <a:cs typeface="Times New Roman" panose="02020603050405020304" pitchFamily="18" charset="0"/>
              </a:rPr>
              <a:t>энэ </a:t>
            </a:r>
            <a:r>
              <a:rPr lang="en-US" sz="3600" b="1" dirty="0" err="1">
                <a:solidFill>
                  <a:srgbClr val="FF0000"/>
                </a:solidFill>
                <a:latin typeface="Times New Roman" panose="02020603050405020304" pitchFamily="18" charset="0"/>
                <a:cs typeface="Times New Roman" panose="02020603050405020304" pitchFamily="18" charset="0"/>
              </a:rPr>
              <a:t>гурван</a:t>
            </a:r>
            <a:r>
              <a:rPr lang="en-US" sz="3600" b="1" dirty="0">
                <a:solidFill>
                  <a:srgbClr val="FF0000"/>
                </a:solidFill>
                <a:latin typeface="Times New Roman" panose="02020603050405020304" pitchFamily="18" charset="0"/>
                <a:cs typeface="Times New Roman" panose="02020603050405020304" pitchFamily="18" charset="0"/>
              </a:rPr>
              <a:t> “</a:t>
            </a:r>
            <a:r>
              <a:rPr lang="mn-MN" sz="3600" b="1" dirty="0">
                <a:solidFill>
                  <a:srgbClr val="FF0000"/>
                </a:solidFill>
                <a:latin typeface="Times New Roman" panose="02020603050405020304" pitchFamily="18" charset="0"/>
                <a:cs typeface="Times New Roman" panose="02020603050405020304" pitchFamily="18" charset="0"/>
              </a:rPr>
              <a:t>баганы</a:t>
            </a:r>
            <a:r>
              <a:rPr lang="en-US" sz="3600" b="1" dirty="0">
                <a:solidFill>
                  <a:srgbClr val="FF0000"/>
                </a:solidFill>
                <a:latin typeface="Times New Roman" panose="02020603050405020304" pitchFamily="18" charset="0"/>
                <a:cs typeface="Times New Roman" panose="02020603050405020304" pitchFamily="18" charset="0"/>
              </a:rPr>
              <a:t>” </a:t>
            </a:r>
            <a:r>
              <a:rPr lang="mn-MN" sz="3600" b="1" dirty="0">
                <a:solidFill>
                  <a:srgbClr val="FF0000"/>
                </a:solidFill>
                <a:latin typeface="Times New Roman" panose="02020603050405020304" pitchFamily="18" charset="0"/>
                <a:cs typeface="Times New Roman" panose="02020603050405020304" pitchFamily="18" charset="0"/>
              </a:rPr>
              <a:t>аль нэг н</a:t>
            </a:r>
            <a:r>
              <a:rPr lang="en-US" sz="3600" b="1" dirty="0">
                <a:solidFill>
                  <a:srgbClr val="FF0000"/>
                </a:solidFill>
                <a:latin typeface="Times New Roman" panose="02020603050405020304" pitchFamily="18" charset="0"/>
                <a:cs typeface="Times New Roman" panose="02020603050405020304" pitchFamily="18" charset="0"/>
              </a:rPr>
              <a:t>ь </a:t>
            </a:r>
            <a:r>
              <a:rPr lang="en-US" sz="3600" b="1" dirty="0" err="1">
                <a:solidFill>
                  <a:srgbClr val="FF0000"/>
                </a:solidFill>
                <a:latin typeface="Times New Roman" panose="02020603050405020304" pitchFamily="18" charset="0"/>
                <a:cs typeface="Times New Roman" panose="02020603050405020304" pitchFamily="18" charset="0"/>
              </a:rPr>
              <a:t>байхгүй</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бол</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систем</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доголдох</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болно</a:t>
            </a:r>
            <a:r>
              <a:rPr lang="en-US" sz="3600" b="1"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45510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81948-AD2E-47CE-1D1B-3FBEEC8024D4}"/>
              </a:ext>
            </a:extLst>
          </p:cNvPr>
          <p:cNvSpPr>
            <a:spLocks noGrp="1"/>
          </p:cNvSpPr>
          <p:nvPr>
            <p:ph type="title"/>
          </p:nvPr>
        </p:nvSpPr>
        <p:spPr>
          <a:xfrm>
            <a:off x="170688" y="85345"/>
            <a:ext cx="11850624" cy="414528"/>
          </a:xfrm>
        </p:spPr>
        <p:txBody>
          <a:bodyPr>
            <a:normAutofit fontScale="90000"/>
          </a:bodyPr>
          <a:lstStyle/>
          <a:p>
            <a:pPr algn="just">
              <a:spcBef>
                <a:spcPts val="0"/>
              </a:spcBef>
            </a:pPr>
            <a:r>
              <a:rPr lang="mn-MN" b="1" dirty="0">
                <a:solidFill>
                  <a:srgbClr val="002060"/>
                </a:solidFill>
                <a:latin typeface="Times New Roman" panose="02020603050405020304" pitchFamily="18" charset="0"/>
                <a:cs typeface="Times New Roman" panose="02020603050405020304" pitchFamily="18" charset="0"/>
              </a:rPr>
              <a:t>Хуваарь ба төслийн удирдлага</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0B76C5-E552-3241-8CF8-AE82EBA15437}"/>
              </a:ext>
            </a:extLst>
          </p:cNvPr>
          <p:cNvSpPr>
            <a:spLocks noGrp="1"/>
          </p:cNvSpPr>
          <p:nvPr>
            <p:ph idx="1"/>
          </p:nvPr>
        </p:nvSpPr>
        <p:spPr>
          <a:xfrm>
            <a:off x="170688" y="631444"/>
            <a:ext cx="11850624" cy="4667250"/>
          </a:xfrm>
        </p:spPr>
        <p:txBody>
          <a:bodyPr>
            <a:normAutofit/>
          </a:bodyPr>
          <a:lstStyle/>
          <a:p>
            <a:pPr algn="just">
              <a:spcBef>
                <a:spcPts val="0"/>
              </a:spcBef>
            </a:pPr>
            <a:r>
              <a:rPr lang="mn-MN" sz="3200" dirty="0">
                <a:solidFill>
                  <a:srgbClr val="002060"/>
                </a:solidFill>
                <a:latin typeface="Times New Roman" panose="02020603050405020304" pitchFamily="18" charset="0"/>
                <a:cs typeface="Times New Roman" panose="02020603050405020304" pitchFamily="18" charset="0"/>
              </a:rPr>
              <a:t>Төлөвлөгөө, хуваарь, төслийн хяналт нь төслийн удирдлагын маш чухал бүрэлдэхүүн хэсэг юм.</a:t>
            </a:r>
          </a:p>
          <a:p>
            <a:pPr algn="just">
              <a:spcBef>
                <a:spcPts val="0"/>
              </a:spcBef>
            </a:pPr>
            <a:r>
              <a:rPr lang="mn-MN" sz="3200" dirty="0">
                <a:solidFill>
                  <a:srgbClr val="002060"/>
                </a:solidFill>
                <a:latin typeface="Times New Roman" panose="02020603050405020304" pitchFamily="18" charset="0"/>
                <a:cs typeface="Times New Roman" panose="02020603050405020304" pitchFamily="18" charset="0"/>
              </a:rPr>
              <a:t>Төслийн удирдлага нь дараах бусад бүрэлдэхүүн хэсгүүдийг агуулна:</a:t>
            </a:r>
          </a:p>
          <a:p>
            <a:pPr lvl="1"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Зардлын тооцоо, удирдлага,</a:t>
            </a:r>
          </a:p>
          <a:p>
            <a:pPr lvl="1"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Худалдан авалт,</a:t>
            </a:r>
          </a:p>
          <a:p>
            <a:pPr lvl="1"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Төсөл / гэрээний удирдлага,</a:t>
            </a:r>
          </a:p>
          <a:p>
            <a:pPr lvl="1"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Чанарын менежмент,</a:t>
            </a:r>
          </a:p>
          <a:p>
            <a:pPr lvl="1" algn="just">
              <a:spcBef>
                <a:spcPts val="0"/>
              </a:spcBef>
            </a:pPr>
            <a:r>
              <a:rPr lang="mn-MN" sz="2800" dirty="0">
                <a:solidFill>
                  <a:srgbClr val="002060"/>
                </a:solidFill>
                <a:latin typeface="Times New Roman" panose="02020603050405020304" pitchFamily="18" charset="0"/>
                <a:cs typeface="Times New Roman" panose="02020603050405020304" pitchFamily="18" charset="0"/>
              </a:rPr>
              <a:t>Аюулгүй байдлын менежмент.</a:t>
            </a:r>
          </a:p>
          <a:p>
            <a:pPr algn="just">
              <a:spcBef>
                <a:spcPts val="0"/>
              </a:spcBef>
            </a:pPr>
            <a:r>
              <a:rPr lang="mn-MN" dirty="0">
                <a:solidFill>
                  <a:srgbClr val="002060"/>
                </a:solidFill>
                <a:latin typeface="Times New Roman" panose="02020603050405020304" pitchFamily="18" charset="0"/>
                <a:cs typeface="Times New Roman" panose="02020603050405020304" pitchFamily="18" charset="0"/>
              </a:rPr>
              <a:t>Эдгээр бүрэлдэхүүн хэсэг бүгд хоорондоо харилцан уялдаатай байна.</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3600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6F40-41F7-9732-CC4C-6C4332846D62}"/>
              </a:ext>
            </a:extLst>
          </p:cNvPr>
          <p:cNvSpPr>
            <a:spLocks noGrp="1"/>
          </p:cNvSpPr>
          <p:nvPr>
            <p:ph type="title"/>
          </p:nvPr>
        </p:nvSpPr>
        <p:spPr>
          <a:xfrm>
            <a:off x="131064" y="109094"/>
            <a:ext cx="11804904" cy="512064"/>
          </a:xfrm>
        </p:spPr>
        <p:txBody>
          <a:bodyPr>
            <a:normAutofit fontScale="90000"/>
          </a:bodyPr>
          <a:lstStyle/>
          <a:p>
            <a:pPr algn="just">
              <a:spcBef>
                <a:spcPts val="0"/>
              </a:spcBef>
            </a:pPr>
            <a:r>
              <a:rPr lang="ru-RU" b="1" dirty="0">
                <a:solidFill>
                  <a:srgbClr val="002060"/>
                </a:solidFill>
                <a:latin typeface="Times New Roman" panose="02020603050405020304" pitchFamily="18" charset="0"/>
                <a:cs typeface="Times New Roman" panose="02020603050405020304" pitchFamily="18" charset="0"/>
              </a:rPr>
              <a:t>Ажлын график </a:t>
            </a:r>
            <a:r>
              <a:rPr lang="mn-MN" b="1" dirty="0">
                <a:solidFill>
                  <a:srgbClr val="002060"/>
                </a:solidFill>
                <a:latin typeface="Times New Roman" panose="02020603050405020304" pitchFamily="18" charset="0"/>
                <a:cs typeface="Times New Roman" panose="02020603050405020304" pitchFamily="18" charset="0"/>
              </a:rPr>
              <a:t>зураглал </a:t>
            </a:r>
            <a:r>
              <a:rPr lang="ru-RU" b="1" dirty="0">
                <a:solidFill>
                  <a:srgbClr val="002060"/>
                </a:solidFill>
                <a:latin typeface="Times New Roman" panose="02020603050405020304" pitchFamily="18" charset="0"/>
                <a:cs typeface="Times New Roman" panose="02020603050405020304" pitchFamily="18" charset="0"/>
              </a:rPr>
              <a:t>(Гантын </a:t>
            </a:r>
            <a:r>
              <a:rPr lang="mn-MN" b="1" dirty="0">
                <a:solidFill>
                  <a:srgbClr val="002060"/>
                </a:solidFill>
                <a:latin typeface="Times New Roman" panose="02020603050405020304" pitchFamily="18" charset="0"/>
                <a:cs typeface="Times New Roman" panose="02020603050405020304" pitchFamily="18" charset="0"/>
              </a:rPr>
              <a:t>диаграм</a:t>
            </a:r>
            <a:r>
              <a:rPr lang="ru-RU" b="1" dirty="0">
                <a:solidFill>
                  <a:srgbClr val="002060"/>
                </a:solidFill>
                <a:latin typeface="Times New Roman" panose="02020603050405020304" pitchFamily="18" charset="0"/>
                <a:cs typeface="Times New Roman" panose="02020603050405020304" pitchFamily="18" charset="0"/>
              </a:rPr>
              <a:t>)</a:t>
            </a:r>
            <a:endParaRPr lang="en-US"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639BCE-A7E7-0442-2E05-E82D0EF3255A}"/>
              </a:ext>
            </a:extLst>
          </p:cNvPr>
          <p:cNvSpPr>
            <a:spLocks noGrp="1"/>
          </p:cNvSpPr>
          <p:nvPr>
            <p:ph idx="1"/>
          </p:nvPr>
        </p:nvSpPr>
        <p:spPr>
          <a:xfrm>
            <a:off x="131064" y="621158"/>
            <a:ext cx="11804904" cy="4667250"/>
          </a:xfrm>
        </p:spPr>
        <p:txBody>
          <a:bodyPr>
            <a:normAutofit/>
          </a:bodyPr>
          <a:lstStyle/>
          <a:p>
            <a:pPr algn="just">
              <a:spcBef>
                <a:spcPts val="0"/>
              </a:spcBef>
            </a:pPr>
            <a:r>
              <a:rPr lang="mn-MN" sz="3600" dirty="0">
                <a:solidFill>
                  <a:srgbClr val="002060"/>
                </a:solidFill>
                <a:latin typeface="Times New Roman" panose="02020603050405020304" pitchFamily="18" charset="0"/>
                <a:cs typeface="Times New Roman" panose="02020603050405020304" pitchFamily="18" charset="0"/>
              </a:rPr>
              <a:t>Төслийн үйл ажиллагааны график дүрслэл бөгөөд үйл ажиллагааны хоорондох холбоосгүйгээр цаг хугацааны масштабын дагуу харуулсан байх графикийг хэлнэ. </a:t>
            </a:r>
          </a:p>
          <a:p>
            <a:pPr lvl="1" algn="just">
              <a:spcBef>
                <a:spcPts val="0"/>
              </a:spcBef>
            </a:pPr>
            <a:r>
              <a:rPr lang="mn-MN" sz="3200" dirty="0">
                <a:solidFill>
                  <a:srgbClr val="002060"/>
                </a:solidFill>
                <a:latin typeface="Times New Roman" panose="02020603050405020304" pitchFamily="18" charset="0"/>
                <a:cs typeface="Times New Roman" panose="02020603050405020304" pitchFamily="18" charset="0"/>
              </a:rPr>
              <a:t>Багана нь үйл ажиллагаа эхлэхээс дуустал тасралтгүй ажиллахыг заагаагүй байж болно.</a:t>
            </a:r>
          </a:p>
          <a:p>
            <a:pPr algn="just">
              <a:spcBef>
                <a:spcPts val="0"/>
              </a:spcBef>
            </a:pPr>
            <a:r>
              <a:rPr lang="mn-MN" sz="3600" dirty="0">
                <a:solidFill>
                  <a:srgbClr val="002060"/>
                </a:solidFill>
                <a:latin typeface="Times New Roman" panose="02020603050405020304" pitchFamily="18" charset="0"/>
                <a:cs typeface="Times New Roman" panose="02020603050405020304" pitchFamily="18" charset="0"/>
              </a:rPr>
              <a:t>эсвэл</a:t>
            </a:r>
          </a:p>
          <a:p>
            <a:pPr lvl="1" algn="just">
              <a:spcBef>
                <a:spcPts val="0"/>
              </a:spcBef>
            </a:pPr>
            <a:r>
              <a:rPr lang="mn-MN" sz="3200" dirty="0">
                <a:solidFill>
                  <a:srgbClr val="002060"/>
                </a:solidFill>
                <a:latin typeface="Times New Roman" panose="02020603050405020304" pitchFamily="18" charset="0"/>
                <a:cs typeface="Times New Roman" panose="02020603050405020304" pitchFamily="18" charset="0"/>
              </a:rPr>
              <a:t>Байнгын биш (тасархай) баганыг заримдаа бодит ажил (бүдүүн шугам) ба идэвхгүй үе (бүдүүн шугамуудын хоорондох зай) -ийг ялгахад ашигладаг.</a:t>
            </a:r>
            <a:endParaRPr 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7023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4BA03-E4F9-6286-8E7D-5FE3DEADDBB9}"/>
              </a:ext>
            </a:extLst>
          </p:cNvPr>
          <p:cNvSpPr>
            <a:spLocks noGrp="1"/>
          </p:cNvSpPr>
          <p:nvPr>
            <p:ph type="title"/>
          </p:nvPr>
        </p:nvSpPr>
        <p:spPr>
          <a:xfrm>
            <a:off x="243839" y="212271"/>
            <a:ext cx="11704321" cy="1097915"/>
          </a:xfrm>
        </p:spPr>
        <p:txBody>
          <a:bodyPr>
            <a:noAutofit/>
          </a:bodyPr>
          <a:lstStyle/>
          <a:p>
            <a:pPr algn="just"/>
            <a:r>
              <a:rPr lang="mn-MN" sz="2800" dirty="0">
                <a:solidFill>
                  <a:srgbClr val="002060"/>
                </a:solidFill>
                <a:latin typeface="Times New Roman" panose="02020603050405020304" pitchFamily="18" charset="0"/>
                <a:cs typeface="Times New Roman" panose="02020603050405020304" pitchFamily="18" charset="0"/>
              </a:rPr>
              <a:t>Төслийн ажлын графикийг байгуулахаас өмнө тухайн төслийг жижиг, ихэвчлэн нэг төрлийн бүрэлдэхүүн хэсгүүдэд хуваах ба тэдгээрийг тус бүрийг </a:t>
            </a:r>
            <a:r>
              <a:rPr lang="mn-MN" sz="2800" b="1" dirty="0">
                <a:solidFill>
                  <a:srgbClr val="002060"/>
                </a:solidFill>
                <a:latin typeface="Times New Roman" panose="02020603050405020304" pitchFamily="18" charset="0"/>
                <a:cs typeface="Times New Roman" panose="02020603050405020304" pitchFamily="18" charset="0"/>
              </a:rPr>
              <a:t>үйл ажиллагаа </a:t>
            </a:r>
            <a:r>
              <a:rPr lang="en-US" sz="2800" b="1" dirty="0">
                <a:solidFill>
                  <a:srgbClr val="002060"/>
                </a:solidFill>
                <a:latin typeface="Times New Roman" panose="02020603050405020304" pitchFamily="18" charset="0"/>
                <a:cs typeface="Times New Roman" panose="02020603050405020304" pitchFamily="18" charset="0"/>
              </a:rPr>
              <a:t>(Activity) </a:t>
            </a:r>
            <a:r>
              <a:rPr lang="mn-MN" sz="2800" dirty="0">
                <a:solidFill>
                  <a:srgbClr val="002060"/>
                </a:solidFill>
                <a:latin typeface="Times New Roman" panose="02020603050405020304" pitchFamily="18" charset="0"/>
                <a:cs typeface="Times New Roman" panose="02020603050405020304" pitchFamily="18" charset="0"/>
              </a:rPr>
              <a:t>эсвэл </a:t>
            </a:r>
            <a:r>
              <a:rPr lang="mn-MN" sz="2800" b="1" dirty="0">
                <a:solidFill>
                  <a:srgbClr val="002060"/>
                </a:solidFill>
                <a:latin typeface="Times New Roman" panose="02020603050405020304" pitchFamily="18" charset="0"/>
                <a:cs typeface="Times New Roman" panose="02020603050405020304" pitchFamily="18" charset="0"/>
              </a:rPr>
              <a:t>даалгавар </a:t>
            </a:r>
            <a:r>
              <a:rPr lang="en-US" sz="2800" b="1" dirty="0">
                <a:solidFill>
                  <a:srgbClr val="002060"/>
                </a:solidFill>
                <a:latin typeface="Times New Roman" panose="02020603050405020304" pitchFamily="18" charset="0"/>
                <a:cs typeface="Times New Roman" panose="02020603050405020304" pitchFamily="18" charset="0"/>
              </a:rPr>
              <a:t>(Task) </a:t>
            </a:r>
            <a:r>
              <a:rPr lang="mn-MN" sz="2800" dirty="0">
                <a:solidFill>
                  <a:srgbClr val="002060"/>
                </a:solidFill>
                <a:latin typeface="Times New Roman" panose="02020603050405020304" pitchFamily="18" charset="0"/>
                <a:cs typeface="Times New Roman" panose="02020603050405020304" pitchFamily="18" charset="0"/>
              </a:rPr>
              <a:t>гэж нэрлэдэг.</a:t>
            </a:r>
            <a:endParaRPr lang="en-US" sz="2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24C4816-74FA-044A-99AF-C7A4B2C062F7}"/>
              </a:ext>
            </a:extLst>
          </p:cNvPr>
          <p:cNvSpPr>
            <a:spLocks noGrp="1"/>
          </p:cNvSpPr>
          <p:nvPr>
            <p:ph sz="half" idx="1"/>
          </p:nvPr>
        </p:nvSpPr>
        <p:spPr>
          <a:xfrm>
            <a:off x="371421" y="1314450"/>
            <a:ext cx="6492675" cy="5098542"/>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Гантын диаграмын давуу тал: </a:t>
            </a:r>
          </a:p>
          <a:p>
            <a:pPr marL="800100" lvl="1" indent="-342900">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Цаг хугацааны хэмжээстэй</a:t>
            </a:r>
            <a:r>
              <a:rPr lang="en-US" sz="2800" dirty="0">
                <a:solidFill>
                  <a:srgbClr val="002060"/>
                </a:solidFill>
                <a:latin typeface="Times New Roman" panose="02020603050405020304" pitchFamily="18" charset="0"/>
                <a:cs typeface="Times New Roman" panose="02020603050405020304" pitchFamily="18" charset="0"/>
              </a:rPr>
              <a:t>;</a:t>
            </a:r>
            <a:endParaRPr lang="mn-MN" sz="2800" dirty="0">
              <a:solidFill>
                <a:srgbClr val="002060"/>
              </a:solidFill>
              <a:latin typeface="Times New Roman" panose="02020603050405020304" pitchFamily="18" charset="0"/>
              <a:cs typeface="Times New Roman" panose="02020603050405020304" pitchFamily="18" charset="0"/>
            </a:endParaRPr>
          </a:p>
          <a:p>
            <a:pPr marL="800100" lvl="1" indent="-342900">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Бэлтгэхэд хялбар</a:t>
            </a:r>
            <a:r>
              <a:rPr lang="en-US" sz="2800" dirty="0">
                <a:solidFill>
                  <a:srgbClr val="002060"/>
                </a:solidFill>
                <a:latin typeface="Times New Roman" panose="02020603050405020304" pitchFamily="18" charset="0"/>
                <a:cs typeface="Times New Roman" panose="02020603050405020304" pitchFamily="18" charset="0"/>
              </a:rPr>
              <a:t>;</a:t>
            </a:r>
            <a:endParaRPr lang="mn-MN" sz="2800" dirty="0">
              <a:solidFill>
                <a:srgbClr val="002060"/>
              </a:solidFill>
              <a:latin typeface="Times New Roman" panose="02020603050405020304" pitchFamily="18" charset="0"/>
              <a:cs typeface="Times New Roman" panose="02020603050405020304" pitchFamily="18" charset="0"/>
            </a:endParaRPr>
          </a:p>
          <a:p>
            <a:pPr marL="800100" lvl="1" indent="-342900">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Гол замын арга буюу </a:t>
            </a:r>
            <a:r>
              <a:rPr lang="en-US" sz="2800" dirty="0">
                <a:solidFill>
                  <a:srgbClr val="002060"/>
                </a:solidFill>
                <a:latin typeface="Times New Roman" panose="02020603050405020304" pitchFamily="18" charset="0"/>
                <a:cs typeface="Times New Roman" panose="02020603050405020304" pitchFamily="18" charset="0"/>
              </a:rPr>
              <a:t>CPM - Critical Path Method </a:t>
            </a:r>
            <a:r>
              <a:rPr lang="mn-MN" sz="2800" dirty="0">
                <a:solidFill>
                  <a:srgbClr val="002060"/>
                </a:solidFill>
                <a:latin typeface="Times New Roman" panose="02020603050405020304" pitchFamily="18" charset="0"/>
                <a:cs typeface="Times New Roman" panose="02020603050405020304" pitchFamily="18" charset="0"/>
              </a:rPr>
              <a:t>дээр суурилсан бол илүү үр ашигтай, үр дүнтэй байх боломжтой</a:t>
            </a:r>
            <a:r>
              <a:rPr lang="en-US" sz="2800" dirty="0">
                <a:solidFill>
                  <a:srgbClr val="002060"/>
                </a:solidFill>
                <a:latin typeface="Times New Roman" panose="02020603050405020304" pitchFamily="18" charset="0"/>
                <a:cs typeface="Times New Roman" panose="02020603050405020304" pitchFamily="18" charset="0"/>
              </a:rPr>
              <a:t>;</a:t>
            </a:r>
            <a:endParaRPr lang="mn-MN" sz="2800" dirty="0">
              <a:solidFill>
                <a:srgbClr val="002060"/>
              </a:solidFill>
              <a:latin typeface="Times New Roman" panose="02020603050405020304" pitchFamily="18" charset="0"/>
              <a:cs typeface="Times New Roman" panose="02020603050405020304" pitchFamily="18" charset="0"/>
            </a:endParaRPr>
          </a:p>
          <a:p>
            <a:pPr lvl="2">
              <a:buFont typeface="Courier New" panose="02070309020205020404" pitchFamily="49" charset="0"/>
              <a:buChar char="o"/>
            </a:pPr>
            <a:r>
              <a:rPr lang="mn-MN" sz="2400" dirty="0">
                <a:solidFill>
                  <a:srgbClr val="002060"/>
                </a:solidFill>
                <a:latin typeface="Times New Roman" panose="02020603050405020304" pitchFamily="18" charset="0"/>
                <a:cs typeface="Times New Roman" panose="02020603050405020304" pitchFamily="18" charset="0"/>
              </a:rPr>
              <a:t>Хамгийн түгээмэл ашигладаг арга хэвээр байна</a:t>
            </a:r>
            <a:r>
              <a:rPr lang="en-US" sz="2400" dirty="0">
                <a:solidFill>
                  <a:srgbClr val="002060"/>
                </a:solidFill>
                <a:latin typeface="Times New Roman" panose="02020603050405020304" pitchFamily="18" charset="0"/>
                <a:cs typeface="Times New Roman" panose="02020603050405020304" pitchFamily="18" charset="0"/>
              </a:rPr>
              <a:t>.</a:t>
            </a:r>
            <a:endParaRPr lang="mn-MN" sz="2400" dirty="0">
              <a:solidFill>
                <a:srgbClr val="002060"/>
              </a:solidFill>
              <a:latin typeface="Times New Roman" panose="02020603050405020304" pitchFamily="18" charset="0"/>
              <a:cs typeface="Times New Roman" panose="02020603050405020304" pitchFamily="18" charset="0"/>
            </a:endParaRPr>
          </a:p>
          <a:p>
            <a:pPr marL="800100" lvl="1" indent="-342900">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Ажил зогссоныг илэрхийлэхийн тулд баганыг тасалж болно</a:t>
            </a:r>
            <a:r>
              <a:rPr lang="en-US" sz="2800" dirty="0">
                <a:solidFill>
                  <a:srgbClr val="002060"/>
                </a:solidFill>
                <a:latin typeface="Times New Roman" panose="02020603050405020304" pitchFamily="18" charset="0"/>
                <a:cs typeface="Times New Roman" panose="02020603050405020304" pitchFamily="18" charset="0"/>
              </a:rPr>
              <a:t>;</a:t>
            </a:r>
            <a:endParaRPr lang="mn-MN" sz="2800" dirty="0">
              <a:solidFill>
                <a:srgbClr val="002060"/>
              </a:solidFill>
              <a:latin typeface="Times New Roman" panose="02020603050405020304" pitchFamily="18" charset="0"/>
              <a:cs typeface="Times New Roman" panose="02020603050405020304" pitchFamily="18" charset="0"/>
            </a:endParaRPr>
          </a:p>
          <a:p>
            <a:pPr marL="800100" lvl="1" indent="-342900">
              <a:buFont typeface="+mj-lt"/>
              <a:buAutoNum type="arabicPeriod"/>
            </a:pPr>
            <a:r>
              <a:rPr lang="mn-MN" sz="2800" dirty="0">
                <a:solidFill>
                  <a:srgbClr val="002060"/>
                </a:solidFill>
                <a:latin typeface="Times New Roman" panose="02020603050405020304" pitchFamily="18" charset="0"/>
                <a:cs typeface="Times New Roman" panose="02020603050405020304" pitchFamily="18" charset="0"/>
              </a:rPr>
              <a:t>Бусад мэдээллийг (</a:t>
            </a:r>
            <a:r>
              <a:rPr lang="mn-MN" sz="2800" b="1" dirty="0">
                <a:solidFill>
                  <a:srgbClr val="FF0000"/>
                </a:solidFill>
                <a:latin typeface="Times New Roman" panose="02020603050405020304" pitchFamily="18" charset="0"/>
                <a:cs typeface="Times New Roman" panose="02020603050405020304" pitchFamily="18" charset="0"/>
              </a:rPr>
              <a:t>төсөв</a:t>
            </a:r>
            <a:r>
              <a:rPr lang="mn-MN" sz="2800" dirty="0">
                <a:solidFill>
                  <a:srgbClr val="FF0000"/>
                </a:solidFill>
                <a:latin typeface="Times New Roman" panose="02020603050405020304" pitchFamily="18" charset="0"/>
                <a:cs typeface="Times New Roman" panose="02020603050405020304" pitchFamily="18" charset="0"/>
              </a:rPr>
              <a:t>, </a:t>
            </a:r>
            <a:r>
              <a:rPr lang="mn-MN" sz="2800" b="1" dirty="0">
                <a:solidFill>
                  <a:srgbClr val="FF0000"/>
                </a:solidFill>
                <a:latin typeface="Times New Roman" panose="02020603050405020304" pitchFamily="18" charset="0"/>
                <a:cs typeface="Times New Roman" panose="02020603050405020304" pitchFamily="18" charset="0"/>
              </a:rPr>
              <a:t>хүн-цаг</a:t>
            </a:r>
            <a:r>
              <a:rPr lang="mn-MN" sz="2800" dirty="0">
                <a:solidFill>
                  <a:srgbClr val="FF0000"/>
                </a:solidFill>
                <a:latin typeface="Times New Roman" panose="02020603050405020304" pitchFamily="18" charset="0"/>
                <a:cs typeface="Times New Roman" panose="02020603050405020304" pitchFamily="18" charset="0"/>
              </a:rPr>
              <a:t>, </a:t>
            </a:r>
            <a:r>
              <a:rPr lang="mn-MN" sz="2800" b="1" dirty="0">
                <a:solidFill>
                  <a:srgbClr val="FF0000"/>
                </a:solidFill>
                <a:latin typeface="Times New Roman" panose="02020603050405020304" pitchFamily="18" charset="0"/>
                <a:cs typeface="Times New Roman" panose="02020603050405020304" pitchFamily="18" charset="0"/>
              </a:rPr>
              <a:t>нөөц</a:t>
            </a:r>
            <a:r>
              <a:rPr lang="mn-MN" sz="2800" dirty="0">
                <a:solidFill>
                  <a:srgbClr val="002060"/>
                </a:solidFill>
                <a:latin typeface="Times New Roman" panose="02020603050405020304" pitchFamily="18" charset="0"/>
                <a:cs typeface="Times New Roman" panose="02020603050405020304" pitchFamily="18" charset="0"/>
              </a:rPr>
              <a:t> гэх мэт) оруулах боломжтой.</a:t>
            </a:r>
            <a:endParaRPr lang="en-US" sz="2800" dirty="0">
              <a:solidFill>
                <a:srgbClr val="00206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0C91220-0470-96B2-2A76-6F89C0CE9CB4}"/>
              </a:ext>
            </a:extLst>
          </p:cNvPr>
          <p:cNvSpPr>
            <a:spLocks noGrp="1"/>
          </p:cNvSpPr>
          <p:nvPr>
            <p:ph sz="half" idx="2"/>
          </p:nvPr>
        </p:nvSpPr>
        <p:spPr>
          <a:xfrm>
            <a:off x="6864096" y="1314450"/>
            <a:ext cx="4980867" cy="5098542"/>
          </a:xfrm>
        </p:spPr>
        <p:txBody>
          <a:bodyPr>
            <a:normAutofit lnSpcReduction="10000"/>
          </a:bodyPr>
          <a:lstStyle/>
          <a:p>
            <a:r>
              <a:rPr lang="mn-MN" dirty="0">
                <a:solidFill>
                  <a:srgbClr val="002060"/>
                </a:solidFill>
                <a:latin typeface="Times New Roman" panose="02020603050405020304" pitchFamily="18" charset="0"/>
                <a:cs typeface="Times New Roman" panose="02020603050405020304" pitchFamily="18" charset="0"/>
              </a:rPr>
              <a:t>Гантын диаграмын дутагдалтай тал: </a:t>
            </a:r>
          </a:p>
          <a:p>
            <a:pPr marL="800100" lvl="1" indent="-342900">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Логик холбоог харуулдаггүй</a:t>
            </a:r>
            <a:r>
              <a:rPr lang="en-US" dirty="0">
                <a:solidFill>
                  <a:srgbClr val="002060"/>
                </a:solidFill>
                <a:latin typeface="Times New Roman" panose="02020603050405020304" pitchFamily="18" charset="0"/>
                <a:cs typeface="Times New Roman" panose="02020603050405020304" pitchFamily="18" charset="0"/>
              </a:rPr>
              <a:t>;</a:t>
            </a:r>
            <a:endParaRPr lang="mn-MN" dirty="0">
              <a:solidFill>
                <a:srgbClr val="002060"/>
              </a:solidFill>
              <a:latin typeface="Times New Roman" panose="02020603050405020304" pitchFamily="18" charset="0"/>
              <a:cs typeface="Times New Roman" panose="02020603050405020304" pitchFamily="18" charset="0"/>
            </a:endParaRPr>
          </a:p>
          <a:p>
            <a:pPr marL="800100" lvl="1" indent="-342900">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Хэт их үйл ажиллагаатай төслүүдэд тохиромжгүй.</a:t>
            </a:r>
          </a:p>
          <a:p>
            <a:r>
              <a:rPr lang="mn-MN" dirty="0">
                <a:solidFill>
                  <a:srgbClr val="002060"/>
                </a:solidFill>
                <a:latin typeface="Times New Roman" panose="02020603050405020304" pitchFamily="18" charset="0"/>
                <a:cs typeface="Times New Roman" panose="02020603050405020304" pitchFamily="18" charset="0"/>
              </a:rPr>
              <a:t>Үүнийг арилгахын тулд:</a:t>
            </a:r>
          </a:p>
          <a:p>
            <a:pPr marL="914400" lvl="1" indent="-457200">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Үйл ажиллагааны жижиг бүлэг (дэд хэсэг) үүсгэх</a:t>
            </a:r>
            <a:r>
              <a:rPr lang="en-US" dirty="0">
                <a:solidFill>
                  <a:srgbClr val="002060"/>
                </a:solidFill>
                <a:latin typeface="Times New Roman" panose="02020603050405020304" pitchFamily="18" charset="0"/>
                <a:cs typeface="Times New Roman" panose="02020603050405020304" pitchFamily="18" charset="0"/>
              </a:rPr>
              <a:t>;</a:t>
            </a:r>
            <a:endParaRPr lang="mn-MN" dirty="0">
              <a:solidFill>
                <a:srgbClr val="002060"/>
              </a:solidFill>
              <a:latin typeface="Times New Roman" panose="02020603050405020304" pitchFamily="18" charset="0"/>
              <a:cs typeface="Times New Roman" panose="02020603050405020304" pitchFamily="18" charset="0"/>
            </a:endParaRPr>
          </a:p>
          <a:p>
            <a:pPr marL="914400" lvl="1" indent="-457200">
              <a:buFont typeface="+mj-lt"/>
              <a:buAutoNum type="arabicPeriod"/>
            </a:pPr>
            <a:r>
              <a:rPr lang="mn-MN" dirty="0">
                <a:solidFill>
                  <a:srgbClr val="002060"/>
                </a:solidFill>
                <a:latin typeface="Times New Roman" panose="02020603050405020304" pitchFamily="18" charset="0"/>
                <a:cs typeface="Times New Roman" panose="02020603050405020304" pitchFamily="18" charset="0"/>
              </a:rPr>
              <a:t>Хураангуй хуваарь хийх</a:t>
            </a:r>
            <a:r>
              <a:rPr lang="en-US" dirty="0">
                <a:solidFill>
                  <a:srgbClr val="002060"/>
                </a:solidFill>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09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DD60B-C926-F986-72E4-AB805F0AB578}"/>
              </a:ext>
            </a:extLst>
          </p:cNvPr>
          <p:cNvSpPr>
            <a:spLocks noGrp="1"/>
          </p:cNvSpPr>
          <p:nvPr>
            <p:ph type="title"/>
          </p:nvPr>
        </p:nvSpPr>
        <p:spPr>
          <a:xfrm>
            <a:off x="123432" y="113876"/>
            <a:ext cx="6288022" cy="810532"/>
          </a:xfrm>
        </p:spPr>
        <p:txBody>
          <a:bodyPr>
            <a:noAutofit/>
          </a:bodyPr>
          <a:lstStyle/>
          <a:p>
            <a:pPr algn="just"/>
            <a:r>
              <a:rPr lang="mn-MN" sz="3600" b="1" dirty="0">
                <a:solidFill>
                  <a:srgbClr val="002060"/>
                </a:solidFill>
                <a:latin typeface="Times New Roman" panose="02020603050405020304" pitchFamily="18" charset="0"/>
                <a:cs typeface="Times New Roman" panose="02020603050405020304" pitchFamily="18" charset="0"/>
              </a:rPr>
              <a:t>Гантын диаграмын жишээ</a:t>
            </a:r>
            <a:endParaRPr lang="en-US" sz="3600" b="1" dirty="0">
              <a:solidFill>
                <a:srgbClr val="00206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A73367F-2F36-EE04-DE42-110734157752}"/>
              </a:ext>
            </a:extLst>
          </p:cNvPr>
          <p:cNvPicPr>
            <a:picLocks noChangeAspect="1"/>
          </p:cNvPicPr>
          <p:nvPr/>
        </p:nvPicPr>
        <p:blipFill>
          <a:blip r:embed="rId3"/>
          <a:stretch>
            <a:fillRect/>
          </a:stretch>
        </p:blipFill>
        <p:spPr>
          <a:xfrm>
            <a:off x="6411454" y="65119"/>
            <a:ext cx="5542353" cy="3552352"/>
          </a:xfrm>
          <a:prstGeom prst="rect">
            <a:avLst/>
          </a:prstGeom>
        </p:spPr>
      </p:pic>
      <p:pic>
        <p:nvPicPr>
          <p:cNvPr id="6" name="Picture 3">
            <a:extLst>
              <a:ext uri="{FF2B5EF4-FFF2-40B4-BE49-F238E27FC236}">
                <a16:creationId xmlns:a16="http://schemas.microsoft.com/office/drawing/2014/main" id="{DF93EB1A-40FF-6522-74AC-4A6D0A0F37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353568" y="973165"/>
            <a:ext cx="6288022" cy="4135283"/>
          </a:xfrm>
          <a:prstGeom prst="rect">
            <a:avLst/>
          </a:prstGeom>
          <a:noFill/>
        </p:spPr>
      </p:pic>
      <p:pic>
        <p:nvPicPr>
          <p:cNvPr id="10" name="Picture 9">
            <a:extLst>
              <a:ext uri="{FF2B5EF4-FFF2-40B4-BE49-F238E27FC236}">
                <a16:creationId xmlns:a16="http://schemas.microsoft.com/office/drawing/2014/main" id="{B83739F5-A193-ED26-7DEE-67908B8D8C3F}"/>
              </a:ext>
            </a:extLst>
          </p:cNvPr>
          <p:cNvPicPr>
            <a:picLocks noChangeAspect="1"/>
          </p:cNvPicPr>
          <p:nvPr/>
        </p:nvPicPr>
        <p:blipFill>
          <a:blip r:embed="rId5"/>
          <a:stretch>
            <a:fillRect/>
          </a:stretch>
        </p:blipFill>
        <p:spPr>
          <a:xfrm>
            <a:off x="6288022" y="3523527"/>
            <a:ext cx="5789219" cy="3220597"/>
          </a:xfrm>
          <a:prstGeom prst="rect">
            <a:avLst/>
          </a:prstGeom>
        </p:spPr>
      </p:pic>
    </p:spTree>
    <p:extLst>
      <p:ext uri="{BB962C8B-B14F-4D97-AF65-F5344CB8AC3E}">
        <p14:creationId xmlns:p14="http://schemas.microsoft.com/office/powerpoint/2010/main" val="37794083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A1411-6685-2502-5F12-5564030A0651}"/>
              </a:ext>
            </a:extLst>
          </p:cNvPr>
          <p:cNvSpPr>
            <a:spLocks noGrp="1"/>
          </p:cNvSpPr>
          <p:nvPr>
            <p:ph type="title"/>
          </p:nvPr>
        </p:nvSpPr>
        <p:spPr>
          <a:xfrm>
            <a:off x="192024" y="212271"/>
            <a:ext cx="11743944" cy="702129"/>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Ажлын задаргааны бүтэц</a:t>
            </a:r>
            <a:br>
              <a:rPr lang="mn-MN" sz="3600" b="1" dirty="0">
                <a:solidFill>
                  <a:srgbClr val="002060"/>
                </a:solidFill>
                <a:latin typeface="Times New Roman" panose="02020603050405020304" pitchFamily="18" charset="0"/>
                <a:cs typeface="Times New Roman" panose="02020603050405020304" pitchFamily="18" charset="0"/>
              </a:rPr>
            </a:br>
            <a:r>
              <a:rPr lang="en-US" altLang="en-US" sz="3600" b="1" dirty="0">
                <a:solidFill>
                  <a:srgbClr val="002060"/>
                </a:solidFill>
                <a:latin typeface="Times New Roman" panose="02020603050405020304" pitchFamily="18" charset="0"/>
                <a:cs typeface="Times New Roman" panose="02020603050405020304" pitchFamily="18" charset="0"/>
              </a:rPr>
              <a:t>Work Breakdown Structure (WBS)</a:t>
            </a:r>
            <a:endParaRPr lang="en-US" sz="3600" b="1" dirty="0">
              <a:solidFill>
                <a:srgbClr val="00206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D8B4BC7-7374-B0C2-39C7-094EA1AED4E9}"/>
              </a:ext>
            </a:extLst>
          </p:cNvPr>
          <p:cNvSpPr>
            <a:spLocks noGrp="1"/>
          </p:cNvSpPr>
          <p:nvPr>
            <p:ph sz="half" idx="1"/>
          </p:nvPr>
        </p:nvSpPr>
        <p:spPr>
          <a:xfrm>
            <a:off x="290430" y="1018948"/>
            <a:ext cx="5595257" cy="4820104"/>
          </a:xfrm>
        </p:spPr>
        <p:txBody>
          <a:bodyPr>
            <a:normAutofit fontScale="92500"/>
          </a:bodyPr>
          <a:lstStyle/>
          <a:p>
            <a:pPr algn="just"/>
            <a:r>
              <a:rPr lang="mn-MN" sz="3200" dirty="0">
                <a:solidFill>
                  <a:srgbClr val="002060"/>
                </a:solidFill>
                <a:latin typeface="Times New Roman" panose="02020603050405020304" pitchFamily="18" charset="0"/>
                <a:cs typeface="Times New Roman" panose="02020603050405020304" pitchFamily="18" charset="0"/>
              </a:rPr>
              <a:t>Төслийн төлөвлөгөөг гаргахдаа </a:t>
            </a:r>
            <a:r>
              <a:rPr lang="mn-MN" sz="3200" b="1" i="1" dirty="0">
                <a:solidFill>
                  <a:srgbClr val="002060"/>
                </a:solidFill>
                <a:latin typeface="Times New Roman" panose="02020603050405020304" pitchFamily="18" charset="0"/>
                <a:cs typeface="Times New Roman" panose="02020603050405020304" pitchFamily="18" charset="0"/>
              </a:rPr>
              <a:t>ажлын задаргааны бүтэц </a:t>
            </a:r>
            <a:r>
              <a:rPr lang="en-US" sz="3200" b="1" i="1" dirty="0">
                <a:solidFill>
                  <a:srgbClr val="002060"/>
                </a:solidFill>
                <a:latin typeface="Times New Roman" panose="02020603050405020304" pitchFamily="18" charset="0"/>
                <a:cs typeface="Times New Roman" panose="02020603050405020304" pitchFamily="18" charset="0"/>
              </a:rPr>
              <a:t>(</a:t>
            </a:r>
            <a:r>
              <a:rPr lang="en-US" altLang="en-US" sz="3200" b="1" i="1" dirty="0">
                <a:solidFill>
                  <a:srgbClr val="002060"/>
                </a:solidFill>
                <a:latin typeface="Times New Roman" panose="02020603050405020304" pitchFamily="18" charset="0"/>
                <a:cs typeface="Times New Roman" panose="02020603050405020304" pitchFamily="18" charset="0"/>
              </a:rPr>
              <a:t>Work Breakdown Structure (WBS)</a:t>
            </a:r>
            <a:r>
              <a:rPr lang="en-US" sz="3200" b="1" i="1"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-ийг ашигладаг. </a:t>
            </a:r>
          </a:p>
          <a:p>
            <a:pPr algn="just"/>
            <a:r>
              <a:rPr lang="en-US" sz="3200" dirty="0">
                <a:solidFill>
                  <a:srgbClr val="002060"/>
                </a:solidFill>
                <a:latin typeface="Times New Roman" panose="02020603050405020304" pitchFamily="18" charset="0"/>
                <a:cs typeface="Times New Roman" panose="02020603050405020304" pitchFamily="18" charset="0"/>
              </a:rPr>
              <a:t>WBS </a:t>
            </a:r>
            <a:r>
              <a:rPr lang="mn-MN" sz="3200" dirty="0">
                <a:solidFill>
                  <a:srgbClr val="002060"/>
                </a:solidFill>
                <a:latin typeface="Times New Roman" panose="02020603050405020304" pitchFamily="18" charset="0"/>
                <a:cs typeface="Times New Roman" panose="02020603050405020304" pitchFamily="18" charset="0"/>
              </a:rPr>
              <a:t>нь төслийн гүйцэтгэх ажлын логик задаргааг илэрхийлдэг бөгөөд бүтээгдэхүүн, үйлчилгээ эсвэл үр дүнг хэрхэн хуваах тал дээр анхаарлаа төвлөрүүлдэг. </a:t>
            </a:r>
          </a:p>
        </p:txBody>
      </p:sp>
      <p:sp>
        <p:nvSpPr>
          <p:cNvPr id="6" name="Content Placeholder 5">
            <a:extLst>
              <a:ext uri="{FF2B5EF4-FFF2-40B4-BE49-F238E27FC236}">
                <a16:creationId xmlns:a16="http://schemas.microsoft.com/office/drawing/2014/main" id="{671086F2-D03C-56DF-D0B6-B45784B9E92A}"/>
              </a:ext>
            </a:extLst>
          </p:cNvPr>
          <p:cNvSpPr>
            <a:spLocks noGrp="1"/>
          </p:cNvSpPr>
          <p:nvPr>
            <p:ph sz="half" idx="2"/>
          </p:nvPr>
        </p:nvSpPr>
        <p:spPr>
          <a:xfrm>
            <a:off x="6038087" y="1018948"/>
            <a:ext cx="5717067" cy="4820104"/>
          </a:xfrm>
        </p:spPr>
        <p:txBody>
          <a:bodyPr>
            <a:normAutofit fontScale="92500"/>
          </a:bodyPr>
          <a:lstStyle/>
          <a:p>
            <a:pPr algn="just"/>
            <a:r>
              <a:rPr lang="mn-MN" sz="3200" dirty="0">
                <a:solidFill>
                  <a:srgbClr val="002060"/>
                </a:solidFill>
                <a:latin typeface="Times New Roman" panose="02020603050405020304" pitchFamily="18" charset="0"/>
                <a:cs typeface="Times New Roman" panose="02020603050405020304" pitchFamily="18" charset="0"/>
              </a:rPr>
              <a:t>Ажлын задаргааг хэрхэн хийж  гүйцэтгэхийг дараах байдлаар тоймлон харуулав. </a:t>
            </a:r>
            <a:endParaRPr lang="en-US" sz="3200" dirty="0">
              <a:solidFill>
                <a:srgbClr val="002060"/>
              </a:solidFill>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3B073778-C350-15A1-7B5A-2DEDFDD6A401}"/>
              </a:ext>
            </a:extLst>
          </p:cNvPr>
          <p:cNvGraphicFramePr>
            <a:graphicFrameLocks noGrp="1"/>
          </p:cNvGraphicFramePr>
          <p:nvPr>
            <p:extLst>
              <p:ext uri="{D42A27DB-BD31-4B8C-83A1-F6EECF244321}">
                <p14:modId xmlns:p14="http://schemas.microsoft.com/office/powerpoint/2010/main" val="561861885"/>
              </p:ext>
            </p:extLst>
          </p:nvPr>
        </p:nvGraphicFramePr>
        <p:xfrm>
          <a:off x="6301412" y="2300169"/>
          <a:ext cx="5453742" cy="3078662"/>
        </p:xfrm>
        <a:graphic>
          <a:graphicData uri="http://schemas.openxmlformats.org/drawingml/2006/table">
            <a:tbl>
              <a:tblPr firstRow="1" bandRow="1">
                <a:tableStyleId>{93296810-A885-4BE3-A3E7-6D5BEEA58F35}</a:tableStyleId>
              </a:tblPr>
              <a:tblGrid>
                <a:gridCol w="1989236">
                  <a:extLst>
                    <a:ext uri="{9D8B030D-6E8A-4147-A177-3AD203B41FA5}">
                      <a16:colId xmlns:a16="http://schemas.microsoft.com/office/drawing/2014/main" val="20000"/>
                    </a:ext>
                  </a:extLst>
                </a:gridCol>
                <a:gridCol w="3464506">
                  <a:extLst>
                    <a:ext uri="{9D8B030D-6E8A-4147-A177-3AD203B41FA5}">
                      <a16:colId xmlns:a16="http://schemas.microsoft.com/office/drawing/2014/main" val="20001"/>
                    </a:ext>
                  </a:extLst>
                </a:gridCol>
              </a:tblGrid>
              <a:tr h="370946">
                <a:tc>
                  <a:txBody>
                    <a:bodyPr/>
                    <a:lstStyle/>
                    <a:p>
                      <a:pPr algn="just"/>
                      <a:r>
                        <a:rPr lang="mn-MN" sz="2000" b="1" dirty="0">
                          <a:latin typeface="Times New Roman" panose="02020603050405020304" pitchFamily="18" charset="0"/>
                          <a:cs typeface="Times New Roman" panose="02020603050405020304" pitchFamily="18" charset="0"/>
                        </a:rPr>
                        <a:t>ТҮВШИН</a:t>
                      </a:r>
                      <a:endParaRPr lang="en-IN" sz="2000" b="1" dirty="0">
                        <a:latin typeface="Times New Roman" panose="02020603050405020304" pitchFamily="18" charset="0"/>
                        <a:cs typeface="Times New Roman" panose="02020603050405020304" pitchFamily="18" charset="0"/>
                      </a:endParaRPr>
                    </a:p>
                  </a:txBody>
                  <a:tcPr marT="45733" marB="45733" anchor="ctr"/>
                </a:tc>
                <a:tc>
                  <a:txBody>
                    <a:bodyPr/>
                    <a:lstStyle/>
                    <a:p>
                      <a:pPr algn="just"/>
                      <a:r>
                        <a:rPr lang="mn-MN" sz="2000" b="1" dirty="0">
                          <a:latin typeface="Times New Roman" panose="02020603050405020304" pitchFamily="18" charset="0"/>
                          <a:cs typeface="Times New Roman" panose="02020603050405020304" pitchFamily="18" charset="0"/>
                        </a:rPr>
                        <a:t>ТҮВШИНГИЙН</a:t>
                      </a:r>
                      <a:r>
                        <a:rPr lang="mn-MN" sz="2000" b="1" baseline="0" dirty="0">
                          <a:latin typeface="Times New Roman" panose="02020603050405020304" pitchFamily="18" charset="0"/>
                          <a:cs typeface="Times New Roman" panose="02020603050405020304" pitchFamily="18" charset="0"/>
                        </a:rPr>
                        <a:t> ТОДОРХОЙЛОЛТ</a:t>
                      </a:r>
                      <a:endParaRPr lang="en-IN" sz="2000" b="1" dirty="0">
                        <a:latin typeface="Times New Roman" panose="02020603050405020304" pitchFamily="18" charset="0"/>
                        <a:cs typeface="Times New Roman" panose="02020603050405020304" pitchFamily="18" charset="0"/>
                      </a:endParaRPr>
                    </a:p>
                  </a:txBody>
                  <a:tcPr marT="45733" marB="45733" anchor="ctr"/>
                </a:tc>
                <a:extLst>
                  <a:ext uri="{0D108BD9-81ED-4DB2-BD59-A6C34878D82A}">
                    <a16:rowId xmlns:a16="http://schemas.microsoft.com/office/drawing/2014/main" val="10000"/>
                  </a:ext>
                </a:extLst>
              </a:tr>
              <a:tr h="370946">
                <a:tc>
                  <a:txBody>
                    <a:bodyPr/>
                    <a:lstStyle/>
                    <a:p>
                      <a:pPr algn="just"/>
                      <a:r>
                        <a:rPr lang="en-US" sz="2000" b="1" dirty="0">
                          <a:latin typeface="Times New Roman" panose="02020603050405020304" pitchFamily="18" charset="0"/>
                          <a:cs typeface="Times New Roman" panose="02020603050405020304" pitchFamily="18" charset="0"/>
                        </a:rPr>
                        <a:t>1</a:t>
                      </a:r>
                      <a:endParaRPr lang="en-IN" sz="2000" b="1" dirty="0">
                        <a:latin typeface="Times New Roman" panose="02020603050405020304" pitchFamily="18" charset="0"/>
                        <a:cs typeface="Times New Roman" panose="02020603050405020304" pitchFamily="18" charset="0"/>
                      </a:endParaRPr>
                    </a:p>
                  </a:txBody>
                  <a:tcPr marT="45733" marB="45733"/>
                </a:tc>
                <a:tc>
                  <a:txBody>
                    <a:bodyPr/>
                    <a:lstStyle/>
                    <a:p>
                      <a:pPr algn="just"/>
                      <a:r>
                        <a:rPr lang="mn-MN" sz="2000" b="1" kern="1200" dirty="0">
                          <a:solidFill>
                            <a:schemeClr val="dk1"/>
                          </a:solidFill>
                          <a:latin typeface="Times New Roman" panose="02020603050405020304" pitchFamily="18" charset="0"/>
                          <a:ea typeface="+mn-ea"/>
                          <a:cs typeface="Times New Roman" panose="02020603050405020304" pitchFamily="18" charset="0"/>
                        </a:rPr>
                        <a:t>Төсөл </a:t>
                      </a:r>
                      <a:endParaRPr lang="en-IN" sz="2000" b="1" kern="1200" dirty="0">
                        <a:solidFill>
                          <a:schemeClr val="dk1"/>
                        </a:solidFill>
                        <a:latin typeface="Times New Roman" panose="02020603050405020304" pitchFamily="18" charset="0"/>
                        <a:ea typeface="+mn-ea"/>
                        <a:cs typeface="Times New Roman" panose="02020603050405020304" pitchFamily="18" charset="0"/>
                      </a:endParaRPr>
                    </a:p>
                  </a:txBody>
                  <a:tcPr marT="45733" marB="45733"/>
                </a:tc>
                <a:extLst>
                  <a:ext uri="{0D108BD9-81ED-4DB2-BD59-A6C34878D82A}">
                    <a16:rowId xmlns:a16="http://schemas.microsoft.com/office/drawing/2014/main" val="10001"/>
                  </a:ext>
                </a:extLst>
              </a:tr>
              <a:tr h="370946">
                <a:tc>
                  <a:txBody>
                    <a:bodyPr/>
                    <a:lstStyle/>
                    <a:p>
                      <a:pPr algn="just"/>
                      <a:r>
                        <a:rPr lang="en-US" sz="2000" b="1" dirty="0">
                          <a:latin typeface="Times New Roman" panose="02020603050405020304" pitchFamily="18" charset="0"/>
                          <a:cs typeface="Times New Roman" panose="02020603050405020304" pitchFamily="18" charset="0"/>
                        </a:rPr>
                        <a:t>2</a:t>
                      </a:r>
                      <a:endParaRPr lang="en-IN" sz="2000" b="1" dirty="0">
                        <a:latin typeface="Times New Roman" panose="02020603050405020304" pitchFamily="18" charset="0"/>
                        <a:cs typeface="Times New Roman" panose="02020603050405020304" pitchFamily="18" charset="0"/>
                      </a:endParaRPr>
                    </a:p>
                  </a:txBody>
                  <a:tcPr marT="45733" marB="45733"/>
                </a:tc>
                <a:tc>
                  <a:txBody>
                    <a:bodyPr/>
                    <a:lstStyle/>
                    <a:p>
                      <a:pPr algn="just"/>
                      <a:r>
                        <a:rPr lang="mn-MN" sz="2000" b="1" kern="1200" dirty="0">
                          <a:solidFill>
                            <a:schemeClr val="dk1"/>
                          </a:solidFill>
                          <a:latin typeface="Times New Roman" panose="02020603050405020304" pitchFamily="18" charset="0"/>
                          <a:ea typeface="+mn-ea"/>
                          <a:cs typeface="Times New Roman" panose="02020603050405020304" pitchFamily="18" charset="0"/>
                        </a:rPr>
                        <a:t>Төслийн дэд бүлэг</a:t>
                      </a:r>
                      <a:endParaRPr lang="en-IN" sz="2000" b="1" kern="1200" dirty="0">
                        <a:solidFill>
                          <a:schemeClr val="dk1"/>
                        </a:solidFill>
                        <a:latin typeface="Times New Roman" panose="02020603050405020304" pitchFamily="18" charset="0"/>
                        <a:ea typeface="+mn-ea"/>
                        <a:cs typeface="Times New Roman" panose="02020603050405020304" pitchFamily="18" charset="0"/>
                      </a:endParaRPr>
                    </a:p>
                  </a:txBody>
                  <a:tcPr marT="45733" marB="45733"/>
                </a:tc>
                <a:extLst>
                  <a:ext uri="{0D108BD9-81ED-4DB2-BD59-A6C34878D82A}">
                    <a16:rowId xmlns:a16="http://schemas.microsoft.com/office/drawing/2014/main" val="10002"/>
                  </a:ext>
                </a:extLst>
              </a:tr>
              <a:tr h="370946">
                <a:tc>
                  <a:txBody>
                    <a:bodyPr/>
                    <a:lstStyle/>
                    <a:p>
                      <a:pPr algn="just"/>
                      <a:r>
                        <a:rPr lang="en-US" sz="2000" b="1" dirty="0">
                          <a:latin typeface="Times New Roman" panose="02020603050405020304" pitchFamily="18" charset="0"/>
                          <a:cs typeface="Times New Roman" panose="02020603050405020304" pitchFamily="18" charset="0"/>
                        </a:rPr>
                        <a:t>3</a:t>
                      </a:r>
                      <a:endParaRPr lang="en-IN" sz="2000" b="1" dirty="0">
                        <a:latin typeface="Times New Roman" panose="02020603050405020304" pitchFamily="18" charset="0"/>
                        <a:cs typeface="Times New Roman" panose="02020603050405020304" pitchFamily="18" charset="0"/>
                      </a:endParaRPr>
                    </a:p>
                  </a:txBody>
                  <a:tcPr marT="45733" marB="45733"/>
                </a:tc>
                <a:tc>
                  <a:txBody>
                    <a:bodyPr/>
                    <a:lstStyle/>
                    <a:p>
                      <a:pPr algn="just"/>
                      <a:r>
                        <a:rPr lang="mn-MN" sz="2000" b="1" kern="1200" dirty="0">
                          <a:solidFill>
                            <a:schemeClr val="dk1"/>
                          </a:solidFill>
                          <a:latin typeface="Times New Roman" panose="02020603050405020304" pitchFamily="18" charset="0"/>
                          <a:ea typeface="+mn-ea"/>
                          <a:cs typeface="Times New Roman" panose="02020603050405020304" pitchFamily="18" charset="0"/>
                        </a:rPr>
                        <a:t>Хүрэх үр дүнгүүд</a:t>
                      </a:r>
                      <a:endParaRPr lang="en-IN" sz="2000" b="1" kern="1200" dirty="0">
                        <a:solidFill>
                          <a:schemeClr val="dk1"/>
                        </a:solidFill>
                        <a:latin typeface="Times New Roman" panose="02020603050405020304" pitchFamily="18" charset="0"/>
                        <a:ea typeface="+mn-ea"/>
                        <a:cs typeface="Times New Roman" panose="02020603050405020304" pitchFamily="18" charset="0"/>
                      </a:endParaRPr>
                    </a:p>
                  </a:txBody>
                  <a:tcPr marT="45733" marB="45733"/>
                </a:tc>
                <a:extLst>
                  <a:ext uri="{0D108BD9-81ED-4DB2-BD59-A6C34878D82A}">
                    <a16:rowId xmlns:a16="http://schemas.microsoft.com/office/drawing/2014/main" val="10003"/>
                  </a:ext>
                </a:extLst>
              </a:tr>
              <a:tr h="370946">
                <a:tc>
                  <a:txBody>
                    <a:bodyPr/>
                    <a:lstStyle/>
                    <a:p>
                      <a:pPr algn="just"/>
                      <a:r>
                        <a:rPr lang="en-US" sz="2000" b="1" dirty="0">
                          <a:latin typeface="Times New Roman" panose="02020603050405020304" pitchFamily="18" charset="0"/>
                          <a:cs typeface="Times New Roman" panose="02020603050405020304" pitchFamily="18" charset="0"/>
                        </a:rPr>
                        <a:t>4</a:t>
                      </a:r>
                      <a:endParaRPr lang="en-IN" sz="2000" b="1" dirty="0">
                        <a:latin typeface="Times New Roman" panose="02020603050405020304" pitchFamily="18" charset="0"/>
                        <a:cs typeface="Times New Roman" panose="02020603050405020304" pitchFamily="18" charset="0"/>
                      </a:endParaRPr>
                    </a:p>
                  </a:txBody>
                  <a:tcPr marT="45733" marB="45733"/>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mn-MN" sz="2000" b="1" kern="1200" dirty="0">
                          <a:solidFill>
                            <a:schemeClr val="dk1"/>
                          </a:solidFill>
                          <a:latin typeface="Times New Roman" panose="02020603050405020304" pitchFamily="18" charset="0"/>
                          <a:ea typeface="+mn-ea"/>
                          <a:cs typeface="Times New Roman" panose="02020603050405020304" pitchFamily="18" charset="0"/>
                        </a:rPr>
                        <a:t>Дэд хүрэх</a:t>
                      </a:r>
                      <a:r>
                        <a:rPr lang="mn-MN" sz="2000" b="1" kern="1200" baseline="0" dirty="0">
                          <a:solidFill>
                            <a:schemeClr val="dk1"/>
                          </a:solidFill>
                          <a:latin typeface="Times New Roman" panose="02020603050405020304" pitchFamily="18" charset="0"/>
                          <a:ea typeface="+mn-ea"/>
                          <a:cs typeface="Times New Roman" panose="02020603050405020304" pitchFamily="18" charset="0"/>
                        </a:rPr>
                        <a:t> үр дүнгүүд</a:t>
                      </a:r>
                      <a:endParaRPr lang="en-IN" sz="2000" b="1" kern="1200" dirty="0">
                        <a:solidFill>
                          <a:schemeClr val="dk1"/>
                        </a:solidFill>
                        <a:latin typeface="Times New Roman" panose="02020603050405020304" pitchFamily="18" charset="0"/>
                        <a:ea typeface="+mn-ea"/>
                        <a:cs typeface="Times New Roman" panose="02020603050405020304" pitchFamily="18" charset="0"/>
                      </a:endParaRPr>
                    </a:p>
                  </a:txBody>
                  <a:tcPr marT="45733" marB="45733"/>
                </a:tc>
                <a:extLst>
                  <a:ext uri="{0D108BD9-81ED-4DB2-BD59-A6C34878D82A}">
                    <a16:rowId xmlns:a16="http://schemas.microsoft.com/office/drawing/2014/main" val="10004"/>
                  </a:ext>
                </a:extLst>
              </a:tr>
              <a:tr h="370946">
                <a:tc>
                  <a:txBody>
                    <a:bodyPr/>
                    <a:lstStyle/>
                    <a:p>
                      <a:pPr algn="just"/>
                      <a:r>
                        <a:rPr lang="en-US" sz="2000" b="1" dirty="0">
                          <a:latin typeface="Times New Roman" panose="02020603050405020304" pitchFamily="18" charset="0"/>
                          <a:cs typeface="Times New Roman" panose="02020603050405020304" pitchFamily="18" charset="0"/>
                        </a:rPr>
                        <a:t>5</a:t>
                      </a:r>
                      <a:endParaRPr lang="en-IN" sz="2000" b="1" dirty="0">
                        <a:latin typeface="Times New Roman" panose="02020603050405020304" pitchFamily="18" charset="0"/>
                        <a:cs typeface="Times New Roman" panose="02020603050405020304" pitchFamily="18" charset="0"/>
                      </a:endParaRPr>
                    </a:p>
                  </a:txBody>
                  <a:tcPr marT="45733" marB="45733"/>
                </a:tc>
                <a:tc>
                  <a:txBody>
                    <a:bodyPr/>
                    <a:lstStyle/>
                    <a:p>
                      <a:pPr algn="just"/>
                      <a:r>
                        <a:rPr lang="mn-MN" sz="2000" b="1" kern="1200" dirty="0">
                          <a:solidFill>
                            <a:schemeClr val="dk1"/>
                          </a:solidFill>
                          <a:latin typeface="Times New Roman" panose="02020603050405020304" pitchFamily="18" charset="0"/>
                          <a:ea typeface="+mn-ea"/>
                          <a:cs typeface="Times New Roman" panose="02020603050405020304" pitchFamily="18" charset="0"/>
                        </a:rPr>
                        <a:t>Ажлын багц</a:t>
                      </a:r>
                      <a:endParaRPr lang="en-IN" sz="2000" b="1" kern="1200" dirty="0">
                        <a:solidFill>
                          <a:schemeClr val="dk1"/>
                        </a:solidFill>
                        <a:latin typeface="Times New Roman" panose="02020603050405020304" pitchFamily="18" charset="0"/>
                        <a:ea typeface="+mn-ea"/>
                        <a:cs typeface="Times New Roman" panose="02020603050405020304" pitchFamily="18" charset="0"/>
                      </a:endParaRPr>
                    </a:p>
                  </a:txBody>
                  <a:tcPr marT="45733" marB="45733"/>
                </a:tc>
                <a:extLst>
                  <a:ext uri="{0D108BD9-81ED-4DB2-BD59-A6C34878D82A}">
                    <a16:rowId xmlns:a16="http://schemas.microsoft.com/office/drawing/2014/main" val="10005"/>
                  </a:ext>
                </a:extLst>
              </a:tr>
              <a:tr h="370946">
                <a:tc>
                  <a:txBody>
                    <a:bodyPr/>
                    <a:lstStyle/>
                    <a:p>
                      <a:pPr algn="just"/>
                      <a:r>
                        <a:rPr lang="en-IN" sz="2000" b="1" dirty="0">
                          <a:latin typeface="Times New Roman" panose="02020603050405020304" pitchFamily="18" charset="0"/>
                          <a:cs typeface="Times New Roman" panose="02020603050405020304" pitchFamily="18" charset="0"/>
                        </a:rPr>
                        <a:t>6</a:t>
                      </a:r>
                    </a:p>
                  </a:txBody>
                  <a:tcPr marT="45733" marB="45733"/>
                </a:tc>
                <a:tc>
                  <a:txBody>
                    <a:bodyPr/>
                    <a:lstStyle/>
                    <a:p>
                      <a:pPr algn="just"/>
                      <a:r>
                        <a:rPr lang="mn-MN" sz="2000" b="1" kern="1200" dirty="0">
                          <a:solidFill>
                            <a:schemeClr val="dk1"/>
                          </a:solidFill>
                          <a:latin typeface="Times New Roman" panose="02020603050405020304" pitchFamily="18" charset="0"/>
                          <a:ea typeface="+mn-ea"/>
                          <a:cs typeface="Times New Roman" panose="02020603050405020304" pitchFamily="18" charset="0"/>
                        </a:rPr>
                        <a:t>Нэгж ажил</a:t>
                      </a:r>
                      <a:endParaRPr lang="en-IN" sz="2000" b="1" kern="1200" dirty="0">
                        <a:solidFill>
                          <a:schemeClr val="dk1"/>
                        </a:solidFill>
                        <a:latin typeface="Times New Roman" panose="02020603050405020304" pitchFamily="18" charset="0"/>
                        <a:ea typeface="+mn-ea"/>
                        <a:cs typeface="Times New Roman" panose="02020603050405020304" pitchFamily="18" charset="0"/>
                      </a:endParaRPr>
                    </a:p>
                  </a:txBody>
                  <a:tcPr marT="45733" marB="45733"/>
                </a:tc>
                <a:extLst>
                  <a:ext uri="{0D108BD9-81ED-4DB2-BD59-A6C34878D82A}">
                    <a16:rowId xmlns:a16="http://schemas.microsoft.com/office/drawing/2014/main" val="237518274"/>
                  </a:ext>
                </a:extLst>
              </a:tr>
            </a:tbl>
          </a:graphicData>
        </a:graphic>
      </p:graphicFrame>
    </p:spTree>
    <p:extLst>
      <p:ext uri="{BB962C8B-B14F-4D97-AF65-F5344CB8AC3E}">
        <p14:creationId xmlns:p14="http://schemas.microsoft.com/office/powerpoint/2010/main" val="592390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descr="http://creately.com/blog/wp-content/uploads/2012/03/work-breakdown-structure-templates-1024x357.png">
            <a:extLst>
              <a:ext uri="{FF2B5EF4-FFF2-40B4-BE49-F238E27FC236}">
                <a16:creationId xmlns:a16="http://schemas.microsoft.com/office/drawing/2014/main" id="{6D2A364A-05B1-6382-DA63-3CD627CC24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3660" y="129222"/>
            <a:ext cx="6022432" cy="3540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06f01">
            <a:extLst>
              <a:ext uri="{FF2B5EF4-FFF2-40B4-BE49-F238E27FC236}">
                <a16:creationId xmlns:a16="http://schemas.microsoft.com/office/drawing/2014/main" id="{1F67B9A5-3C03-7406-0D5B-6CFFF1DEA1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176" y="841782"/>
            <a:ext cx="5558484" cy="357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5066584-2654-A011-90A4-8B404468A1F1}"/>
              </a:ext>
            </a:extLst>
          </p:cNvPr>
          <p:cNvSpPr>
            <a:spLocks noGrp="1"/>
          </p:cNvSpPr>
          <p:nvPr>
            <p:ph type="title"/>
          </p:nvPr>
        </p:nvSpPr>
        <p:spPr>
          <a:xfrm>
            <a:off x="265176" y="129222"/>
            <a:ext cx="3358243" cy="712561"/>
          </a:xfrm>
        </p:spPr>
        <p:txBody>
          <a:bodyPr/>
          <a:lstStyle/>
          <a:p>
            <a:r>
              <a:rPr lang="en-US" altLang="en-US" b="1" dirty="0">
                <a:solidFill>
                  <a:srgbClr val="002060"/>
                </a:solidFill>
                <a:latin typeface="Times New Roman" panose="02020603050405020304" pitchFamily="18" charset="0"/>
                <a:cs typeface="Times New Roman" panose="02020603050405020304" pitchFamily="18" charset="0"/>
              </a:rPr>
              <a:t>WBS</a:t>
            </a:r>
            <a:r>
              <a:rPr lang="mn-MN" altLang="en-US" b="1" dirty="0">
                <a:solidFill>
                  <a:srgbClr val="002060"/>
                </a:solidFill>
                <a:latin typeface="Times New Roman" panose="02020603050405020304" pitchFamily="18" charset="0"/>
                <a:cs typeface="Times New Roman" panose="02020603050405020304" pitchFamily="18" charset="0"/>
              </a:rPr>
              <a:t> жишээ </a:t>
            </a: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6AB3996-7E43-1340-CBC1-AB5B056ED23E}"/>
              </a:ext>
            </a:extLst>
          </p:cNvPr>
          <p:cNvPicPr>
            <a:picLocks noChangeAspect="1"/>
          </p:cNvPicPr>
          <p:nvPr/>
        </p:nvPicPr>
        <p:blipFill>
          <a:blip r:embed="rId5"/>
          <a:stretch>
            <a:fillRect/>
          </a:stretch>
        </p:blipFill>
        <p:spPr>
          <a:xfrm>
            <a:off x="4783492" y="3703126"/>
            <a:ext cx="7062600" cy="2992041"/>
          </a:xfrm>
          <a:prstGeom prst="rect">
            <a:avLst/>
          </a:prstGeom>
        </p:spPr>
      </p:pic>
    </p:spTree>
    <p:extLst>
      <p:ext uri="{BB962C8B-B14F-4D97-AF65-F5344CB8AC3E}">
        <p14:creationId xmlns:p14="http://schemas.microsoft.com/office/powerpoint/2010/main" val="2370477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FF157-FC91-4746-AE93-9675D12A4DDC}"/>
              </a:ext>
            </a:extLst>
          </p:cNvPr>
          <p:cNvSpPr>
            <a:spLocks noGrp="1"/>
          </p:cNvSpPr>
          <p:nvPr>
            <p:ph type="title"/>
          </p:nvPr>
        </p:nvSpPr>
        <p:spPr>
          <a:xfrm>
            <a:off x="106680" y="96901"/>
            <a:ext cx="11865864" cy="756539"/>
          </a:xfrm>
        </p:spPr>
        <p:txBody>
          <a:bodyPr>
            <a:normAutofit fontScale="90000"/>
          </a:bodyPr>
          <a:lstStyle/>
          <a:p>
            <a:r>
              <a:rPr lang="mn-MN" sz="3200" b="1" dirty="0">
                <a:solidFill>
                  <a:srgbClr val="002060"/>
                </a:solidFill>
                <a:latin typeface="Times New Roman" panose="02020603050405020304" pitchFamily="18" charset="0"/>
                <a:cs typeface="Times New Roman" panose="02020603050405020304" pitchFamily="18" charset="0"/>
              </a:rPr>
              <a:t>Хүрэх үр дүн ба хяналтын цэг (хугацаа)</a:t>
            </a:r>
            <a:br>
              <a:rPr lang="mn-MN" sz="3200" b="1" dirty="0">
                <a:solidFill>
                  <a:srgbClr val="002060"/>
                </a:solidFill>
                <a:latin typeface="Times New Roman" panose="02020603050405020304" pitchFamily="18" charset="0"/>
                <a:cs typeface="Times New Roman" panose="02020603050405020304" pitchFamily="18" charset="0"/>
              </a:rPr>
            </a:br>
            <a:r>
              <a:rPr lang="en-US" sz="3200" b="1" dirty="0">
                <a:solidFill>
                  <a:srgbClr val="002060"/>
                </a:solidFill>
                <a:latin typeface="Times New Roman" panose="02020603050405020304" pitchFamily="18" charset="0"/>
                <a:cs typeface="Times New Roman" panose="02020603050405020304" pitchFamily="18" charset="0"/>
              </a:rPr>
              <a:t>Deliverables and Milestones </a:t>
            </a:r>
          </a:p>
        </p:txBody>
      </p:sp>
      <p:sp>
        <p:nvSpPr>
          <p:cNvPr id="3" name="Content Placeholder 2">
            <a:extLst>
              <a:ext uri="{FF2B5EF4-FFF2-40B4-BE49-F238E27FC236}">
                <a16:creationId xmlns:a16="http://schemas.microsoft.com/office/drawing/2014/main" id="{BD0A7F57-170B-2500-E942-7C8B2B52366A}"/>
              </a:ext>
            </a:extLst>
          </p:cNvPr>
          <p:cNvSpPr>
            <a:spLocks noGrp="1"/>
          </p:cNvSpPr>
          <p:nvPr>
            <p:ph idx="1"/>
          </p:nvPr>
        </p:nvSpPr>
        <p:spPr>
          <a:xfrm>
            <a:off x="106680" y="853440"/>
            <a:ext cx="11865864" cy="4667250"/>
          </a:xfrm>
        </p:spPr>
        <p:txBody>
          <a:bodyPr>
            <a:normAutofit/>
          </a:bodyPr>
          <a:lstStyle/>
          <a:p>
            <a:pPr algn="just"/>
            <a:r>
              <a:rPr lang="mn-MN" sz="3200" dirty="0">
                <a:solidFill>
                  <a:srgbClr val="002060"/>
                </a:solidFill>
                <a:latin typeface="Times New Roman" panose="02020603050405020304" pitchFamily="18" charset="0"/>
                <a:cs typeface="Times New Roman" panose="02020603050405020304" pitchFamily="18" charset="0"/>
              </a:rPr>
              <a:t>Хүрэх үр дүн</a:t>
            </a:r>
          </a:p>
          <a:p>
            <a:pPr lvl="1" algn="just"/>
            <a:r>
              <a:rPr lang="mn-MN" sz="2800" dirty="0">
                <a:solidFill>
                  <a:srgbClr val="002060"/>
                </a:solidFill>
                <a:latin typeface="Times New Roman" panose="02020603050405020304" pitchFamily="18" charset="0"/>
                <a:cs typeface="Times New Roman" panose="02020603050405020304" pitchFamily="18" charset="0"/>
              </a:rPr>
              <a:t>Материаллаг, баталгаажсан ажлын бүтээгдэхүүн</a:t>
            </a:r>
          </a:p>
          <a:p>
            <a:pPr lvl="1" algn="just"/>
            <a:r>
              <a:rPr lang="mn-MN" sz="2800" dirty="0">
                <a:solidFill>
                  <a:srgbClr val="002060"/>
                </a:solidFill>
                <a:latin typeface="Times New Roman" panose="02020603050405020304" pitchFamily="18" charset="0"/>
                <a:cs typeface="Times New Roman" panose="02020603050405020304" pitchFamily="18" charset="0"/>
              </a:rPr>
              <a:t>Тайлан, танилцуулга, эх загвар гэх мэт.</a:t>
            </a:r>
          </a:p>
          <a:p>
            <a:pPr algn="just"/>
            <a:r>
              <a:rPr lang="mn-MN" sz="3200" dirty="0">
                <a:solidFill>
                  <a:srgbClr val="002060"/>
                </a:solidFill>
                <a:latin typeface="Times New Roman" panose="02020603050405020304" pitchFamily="18" charset="0"/>
                <a:cs typeface="Times New Roman" panose="02020603050405020304" pitchFamily="18" charset="0"/>
              </a:rPr>
              <a:t>Хяналтын цэг </a:t>
            </a:r>
            <a:r>
              <a:rPr lang="en-US" sz="3200" dirty="0">
                <a:solidFill>
                  <a:srgbClr val="002060"/>
                </a:solidFill>
                <a:latin typeface="Times New Roman" panose="02020603050405020304" pitchFamily="18" charset="0"/>
                <a:cs typeface="Times New Roman" panose="02020603050405020304" pitchFamily="18" charset="0"/>
              </a:rPr>
              <a:t>(</a:t>
            </a:r>
            <a:r>
              <a:rPr lang="mn-MN" sz="3200" dirty="0">
                <a:solidFill>
                  <a:srgbClr val="002060"/>
                </a:solidFill>
                <a:latin typeface="Times New Roman" panose="02020603050405020304" pitchFamily="18" charset="0"/>
                <a:cs typeface="Times New Roman" panose="02020603050405020304" pitchFamily="18" charset="0"/>
              </a:rPr>
              <a:t>хугацаа</a:t>
            </a:r>
            <a:r>
              <a:rPr lang="en-US" sz="3200" dirty="0">
                <a:solidFill>
                  <a:srgbClr val="002060"/>
                </a:solidFill>
                <a:latin typeface="Times New Roman" panose="02020603050405020304" pitchFamily="18" charset="0"/>
                <a:cs typeface="Times New Roman" panose="02020603050405020304" pitchFamily="18" charset="0"/>
              </a:rPr>
              <a:t>) </a:t>
            </a:r>
            <a:endParaRPr lang="mn-MN" sz="3200" dirty="0">
              <a:solidFill>
                <a:srgbClr val="002060"/>
              </a:solidFill>
              <a:latin typeface="Times New Roman" panose="02020603050405020304" pitchFamily="18" charset="0"/>
              <a:cs typeface="Times New Roman" panose="02020603050405020304" pitchFamily="18" charset="0"/>
            </a:endParaRPr>
          </a:p>
          <a:p>
            <a:pPr lvl="1" algn="just"/>
            <a:r>
              <a:rPr lang="mn-MN" sz="2800" dirty="0">
                <a:solidFill>
                  <a:srgbClr val="002060"/>
                </a:solidFill>
                <a:latin typeface="Times New Roman" panose="02020603050405020304" pitchFamily="18" charset="0"/>
                <a:cs typeface="Times New Roman" panose="02020603050405020304" pitchFamily="18" charset="0"/>
              </a:rPr>
              <a:t>Чухал үйл явдал эсвэл ололт амжилт</a:t>
            </a:r>
          </a:p>
          <a:p>
            <a:pPr lvl="1" algn="just"/>
            <a:r>
              <a:rPr lang="mn-MN" sz="2800" dirty="0">
                <a:solidFill>
                  <a:srgbClr val="002060"/>
                </a:solidFill>
                <a:latin typeface="Times New Roman" panose="02020603050405020304" pitchFamily="18" charset="0"/>
                <a:cs typeface="Times New Roman" panose="02020603050405020304" pitchFamily="18" charset="0"/>
              </a:rPr>
              <a:t>Үр дүнг хүлээн авах эсвэл үе шатыг дуусгах</a:t>
            </a:r>
          </a:p>
          <a:p>
            <a:pPr lvl="1" algn="just"/>
            <a:r>
              <a:rPr lang="mn-MN" sz="2800" dirty="0">
                <a:solidFill>
                  <a:srgbClr val="002060"/>
                </a:solidFill>
                <a:latin typeface="Times New Roman" panose="02020603050405020304" pitchFamily="18" charset="0"/>
                <a:cs typeface="Times New Roman" panose="02020603050405020304" pitchFamily="18" charset="0"/>
              </a:rPr>
              <a:t>Бэрхшээл, шийдвэрлэх шаардлагатай зүйлс</a:t>
            </a:r>
            <a:r>
              <a:rPr lang="en-US" sz="2800" dirty="0">
                <a:solidFill>
                  <a:srgbClr val="002060"/>
                </a:solidFill>
                <a:latin typeface="Times New Roman" panose="02020603050405020304" pitchFamily="18" charset="0"/>
                <a:cs typeface="Times New Roman" panose="02020603050405020304" pitchFamily="18" charset="0"/>
              </a:rPr>
              <a:t> (</a:t>
            </a:r>
            <a:r>
              <a:rPr lang="mn-MN" sz="2800" dirty="0">
                <a:solidFill>
                  <a:srgbClr val="002060"/>
                </a:solidFill>
                <a:latin typeface="Times New Roman" panose="02020603050405020304" pitchFamily="18" charset="0"/>
                <a:cs typeface="Times New Roman" panose="02020603050405020304" pitchFamily="18" charset="0"/>
              </a:rPr>
              <a:t>үзэл баримтлалын нотолгоо)</a:t>
            </a:r>
          </a:p>
          <a:p>
            <a:pPr lvl="1" algn="just"/>
            <a:r>
              <a:rPr lang="mn-MN" sz="2800" dirty="0">
                <a:solidFill>
                  <a:srgbClr val="002060"/>
                </a:solidFill>
                <a:latin typeface="Times New Roman" panose="02020603050405020304" pitchFamily="18" charset="0"/>
                <a:cs typeface="Times New Roman" panose="02020603050405020304" pitchFamily="18" charset="0"/>
              </a:rPr>
              <a:t>Чанарын хяналт, шалгалт</a:t>
            </a:r>
          </a:p>
          <a:p>
            <a:pPr lvl="1" algn="just"/>
            <a:r>
              <a:rPr lang="mn-MN" sz="2800" dirty="0">
                <a:solidFill>
                  <a:srgbClr val="002060"/>
                </a:solidFill>
                <a:latin typeface="Times New Roman" panose="02020603050405020304" pitchFamily="18" charset="0"/>
                <a:cs typeface="Times New Roman" panose="02020603050405020304" pitchFamily="18" charset="0"/>
              </a:rPr>
              <a:t>Багийн анхаарал төвлөрөлт</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432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06f02">
            <a:extLst>
              <a:ext uri="{FF2B5EF4-FFF2-40B4-BE49-F238E27FC236}">
                <a16:creationId xmlns:a16="http://schemas.microsoft.com/office/drawing/2014/main" id="{0D3F53C8-4067-294B-2D2D-C4D08B8D5C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2543" y="114982"/>
            <a:ext cx="6038072" cy="3981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83E34D4-B0DF-E3A4-7974-7D6D944FE24D}"/>
              </a:ext>
            </a:extLst>
          </p:cNvPr>
          <p:cNvSpPr>
            <a:spLocks noGrp="1"/>
          </p:cNvSpPr>
          <p:nvPr>
            <p:ph type="title"/>
          </p:nvPr>
        </p:nvSpPr>
        <p:spPr>
          <a:xfrm>
            <a:off x="201385" y="114982"/>
            <a:ext cx="10515600" cy="470234"/>
          </a:xfrm>
        </p:spPr>
        <p:txBody>
          <a:bodyPr>
            <a:normAutofit fontScale="90000"/>
          </a:bodyPr>
          <a:lstStyle/>
          <a:p>
            <a:r>
              <a:rPr lang="en-US" altLang="en-US" b="1" dirty="0">
                <a:solidFill>
                  <a:srgbClr val="002060"/>
                </a:solidFill>
                <a:latin typeface="Times New Roman" panose="02020603050405020304" pitchFamily="18" charset="0"/>
                <a:ea typeface="MS Mincho" pitchFamily="49" charset="-128"/>
                <a:cs typeface="Times New Roman" panose="02020603050405020304" pitchFamily="18" charset="0"/>
              </a:rPr>
              <a:t>WBS</a:t>
            </a:r>
            <a:r>
              <a:rPr lang="mn-MN" altLang="en-US" b="1" dirty="0">
                <a:solidFill>
                  <a:srgbClr val="002060"/>
                </a:solidFill>
                <a:latin typeface="Times New Roman" panose="02020603050405020304" pitchFamily="18" charset="0"/>
                <a:ea typeface="MS Mincho" pitchFamily="49" charset="-128"/>
                <a:cs typeface="Times New Roman" panose="02020603050405020304" pitchFamily="18" charset="0"/>
              </a:rPr>
              <a:t>-ийн хөгжүүлэлт</a:t>
            </a:r>
            <a:r>
              <a:rPr lang="en-US" altLang="en-US" b="1" dirty="0">
                <a:solidFill>
                  <a:srgbClr val="002060"/>
                </a:solidFill>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pic>
        <p:nvPicPr>
          <p:cNvPr id="5" name="Picture 3" descr="c06f03">
            <a:extLst>
              <a:ext uri="{FF2B5EF4-FFF2-40B4-BE49-F238E27FC236}">
                <a16:creationId xmlns:a16="http://schemas.microsoft.com/office/drawing/2014/main" id="{FBC0E1CE-AAD2-33C2-B7C3-E92705F09B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385" y="737398"/>
            <a:ext cx="5611586" cy="589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c06f01">
            <a:extLst>
              <a:ext uri="{FF2B5EF4-FFF2-40B4-BE49-F238E27FC236}">
                <a16:creationId xmlns:a16="http://schemas.microsoft.com/office/drawing/2014/main" id="{538F0E9A-9942-DE07-DCDE-BF943BBB47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6279" y="4096512"/>
            <a:ext cx="5888560" cy="253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870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1C260-C057-0E4B-89D0-C23C24BEB7A3}"/>
              </a:ext>
            </a:extLst>
          </p:cNvPr>
          <p:cNvSpPr>
            <a:spLocks noGrp="1"/>
          </p:cNvSpPr>
          <p:nvPr>
            <p:ph type="title"/>
          </p:nvPr>
        </p:nvSpPr>
        <p:spPr>
          <a:xfrm>
            <a:off x="164592" y="121285"/>
            <a:ext cx="11862816" cy="415163"/>
          </a:xfrm>
        </p:spPr>
        <p:txBody>
          <a:bodyPr>
            <a:normAutofit fontScale="90000"/>
          </a:bodyPr>
          <a:lstStyle/>
          <a:p>
            <a:pPr algn="just"/>
            <a:r>
              <a:rPr lang="en-US" altLang="en-US" b="1" dirty="0">
                <a:solidFill>
                  <a:srgbClr val="002060"/>
                </a:solidFill>
                <a:latin typeface="Times New Roman" panose="02020603050405020304" pitchFamily="18" charset="0"/>
                <a:cs typeface="Times New Roman" panose="02020603050405020304" pitchFamily="18" charset="0"/>
              </a:rPr>
              <a:t>WBS</a:t>
            </a:r>
            <a:r>
              <a:rPr lang="mn-MN" altLang="en-US" b="1" dirty="0">
                <a:solidFill>
                  <a:srgbClr val="002060"/>
                </a:solidFill>
                <a:latin typeface="Times New Roman" panose="02020603050405020304" pitchFamily="18" charset="0"/>
                <a:cs typeface="Times New Roman" panose="02020603050405020304" pitchFamily="18" charset="0"/>
              </a:rPr>
              <a:t>-ийн хөгжүүлэлт </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3CEF7A-8379-9877-5C37-262582D57649}"/>
              </a:ext>
            </a:extLst>
          </p:cNvPr>
          <p:cNvSpPr>
            <a:spLocks noGrp="1"/>
          </p:cNvSpPr>
          <p:nvPr>
            <p:ph idx="1"/>
          </p:nvPr>
        </p:nvSpPr>
        <p:spPr>
          <a:xfrm>
            <a:off x="164592" y="536448"/>
            <a:ext cx="11862816" cy="5274128"/>
          </a:xfrm>
        </p:spPr>
        <p:txBody>
          <a:bodyPr>
            <a:normAutofit lnSpcReduction="10000"/>
          </a:bodyPr>
          <a:lstStyle/>
          <a:p>
            <a:pPr algn="just">
              <a:lnSpc>
                <a:spcPct val="90000"/>
              </a:lnSpc>
              <a:defRPr/>
            </a:pPr>
            <a:r>
              <a:rPr lang="en-US" sz="3200" dirty="0">
                <a:solidFill>
                  <a:srgbClr val="002060"/>
                </a:solidFill>
                <a:latin typeface="Times New Roman" panose="02020603050405020304" pitchFamily="18" charset="0"/>
                <a:cs typeface="Times New Roman" panose="02020603050405020304" pitchFamily="18" charset="0"/>
              </a:rPr>
              <a:t>WBS </a:t>
            </a:r>
            <a:r>
              <a:rPr lang="mn-MN" sz="3200" dirty="0">
                <a:solidFill>
                  <a:srgbClr val="002060"/>
                </a:solidFill>
                <a:latin typeface="Times New Roman" panose="02020603050405020304" pitchFamily="18" charset="0"/>
                <a:cs typeface="Times New Roman" panose="02020603050405020304" pitchFamily="18" charset="0"/>
              </a:rPr>
              <a:t>нь тодорхой үр дүнд хүрэх боломжтой байх ёстой</a:t>
            </a:r>
          </a:p>
          <a:p>
            <a:pPr algn="just">
              <a:lnSpc>
                <a:spcPct val="90000"/>
              </a:lnSpc>
              <a:defRPr/>
            </a:pPr>
            <a:r>
              <a:rPr lang="en-US" sz="3200" dirty="0">
                <a:solidFill>
                  <a:srgbClr val="002060"/>
                </a:solidFill>
                <a:latin typeface="Times New Roman" panose="02020603050405020304" pitchFamily="18" charset="0"/>
                <a:cs typeface="Times New Roman" panose="02020603050405020304" pitchFamily="18" charset="0"/>
              </a:rPr>
              <a:t>WBS </a:t>
            </a:r>
            <a:r>
              <a:rPr lang="mn-MN" sz="3200" dirty="0">
                <a:solidFill>
                  <a:srgbClr val="002060"/>
                </a:solidFill>
                <a:latin typeface="Times New Roman" panose="02020603050405020304" pitchFamily="18" charset="0"/>
                <a:cs typeface="Times New Roman" panose="02020603050405020304" pitchFamily="18" charset="0"/>
              </a:rPr>
              <a:t>нь төслийн үйл ажиллагааны хэмжигдэхүйц үр дүнг дэмжих ёстой</a:t>
            </a:r>
          </a:p>
          <a:p>
            <a:pPr lvl="1" algn="just">
              <a:lnSpc>
                <a:spcPct val="90000"/>
              </a:lnSpc>
              <a:defRPr/>
            </a:pPr>
            <a:r>
              <a:rPr lang="en-US" sz="2800" dirty="0">
                <a:solidFill>
                  <a:srgbClr val="002060"/>
                </a:solidFill>
                <a:latin typeface="Times New Roman" panose="02020603050405020304" pitchFamily="18" charset="0"/>
                <a:cs typeface="Times New Roman" panose="02020603050405020304" pitchFamily="18" charset="0"/>
              </a:rPr>
              <a:t>WBS </a:t>
            </a:r>
            <a:r>
              <a:rPr lang="mn-MN" sz="2800" dirty="0">
                <a:solidFill>
                  <a:srgbClr val="002060"/>
                </a:solidFill>
                <a:latin typeface="Times New Roman" panose="02020603050405020304" pitchFamily="18" charset="0"/>
                <a:cs typeface="Times New Roman" panose="02020603050405020304" pitchFamily="18" charset="0"/>
              </a:rPr>
              <a:t>нь төслийн хүрээнд тодорхойлогдсон төслийн бүх үр дүнд хүрэх боломжийг олгосон байх ёстой. </a:t>
            </a:r>
          </a:p>
          <a:p>
            <a:pPr lvl="1" algn="just">
              <a:lnSpc>
                <a:spcPct val="90000"/>
              </a:lnSpc>
              <a:defRPr/>
            </a:pPr>
            <a:r>
              <a:rPr lang="mn-MN" sz="2800" dirty="0">
                <a:solidFill>
                  <a:srgbClr val="002060"/>
                </a:solidFill>
                <a:latin typeface="Times New Roman" panose="02020603050405020304" pitchFamily="18" charset="0"/>
                <a:cs typeface="Times New Roman" panose="02020603050405020304" pitchFamily="18" charset="0"/>
              </a:rPr>
              <a:t>100 хувь удирдах боломжтой байх ёстой.</a:t>
            </a:r>
          </a:p>
          <a:p>
            <a:pPr algn="just">
              <a:lnSpc>
                <a:spcPct val="90000"/>
              </a:lnSpc>
              <a:defRPr/>
            </a:pPr>
            <a:r>
              <a:rPr lang="mn-MN" sz="3200" dirty="0">
                <a:solidFill>
                  <a:srgbClr val="002060"/>
                </a:solidFill>
                <a:latin typeface="Times New Roman" panose="02020603050405020304" pitchFamily="18" charset="0"/>
                <a:cs typeface="Times New Roman" panose="02020603050405020304" pitchFamily="18" charset="0"/>
              </a:rPr>
              <a:t>Нарийвчлалын түвшин нь төлөвлөгөө, хяналтыг дэмжих ёстой.</a:t>
            </a:r>
          </a:p>
          <a:p>
            <a:pPr algn="just">
              <a:lnSpc>
                <a:spcPct val="90000"/>
              </a:lnSpc>
              <a:defRPr/>
            </a:pPr>
            <a:r>
              <a:rPr lang="en-US" sz="3200" dirty="0">
                <a:solidFill>
                  <a:srgbClr val="002060"/>
                </a:solidFill>
                <a:latin typeface="Times New Roman" panose="02020603050405020304" pitchFamily="18" charset="0"/>
                <a:cs typeface="Times New Roman" panose="02020603050405020304" pitchFamily="18" charset="0"/>
              </a:rPr>
              <a:t>WBS-</a:t>
            </a:r>
            <a:r>
              <a:rPr lang="mn-MN" sz="3200" dirty="0">
                <a:solidFill>
                  <a:srgbClr val="002060"/>
                </a:solidFill>
                <a:latin typeface="Times New Roman" panose="02020603050405020304" pitchFamily="18" charset="0"/>
                <a:cs typeface="Times New Roman" panose="02020603050405020304" pitchFamily="18" charset="0"/>
              </a:rPr>
              <a:t>ийг хөгжүүлэхдээ ажлыг хийж гүйцэтгэх хүмүүсийг оролцуулах ёстой.</a:t>
            </a:r>
          </a:p>
          <a:p>
            <a:pPr algn="just">
              <a:lnSpc>
                <a:spcPct val="90000"/>
              </a:lnSpc>
              <a:defRPr/>
            </a:pPr>
            <a:r>
              <a:rPr lang="mn-MN" sz="3200" dirty="0">
                <a:solidFill>
                  <a:srgbClr val="002060"/>
                </a:solidFill>
                <a:latin typeface="Times New Roman" panose="02020603050405020304" pitchFamily="18" charset="0"/>
                <a:cs typeface="Times New Roman" panose="02020603050405020304" pitchFamily="18" charset="0"/>
              </a:rPr>
              <a:t>Сургалтын мөчлөг, сурч мэдсэн зүйл нь </a:t>
            </a:r>
            <a:r>
              <a:rPr lang="en-US" sz="3200" dirty="0">
                <a:solidFill>
                  <a:srgbClr val="002060"/>
                </a:solidFill>
                <a:latin typeface="Times New Roman" panose="02020603050405020304" pitchFamily="18" charset="0"/>
                <a:cs typeface="Times New Roman" panose="02020603050405020304" pitchFamily="18" charset="0"/>
              </a:rPr>
              <a:t>WBS</a:t>
            </a:r>
            <a:r>
              <a:rPr lang="mn-MN" sz="3200" dirty="0">
                <a:solidFill>
                  <a:srgbClr val="002060"/>
                </a:solidFill>
                <a:latin typeface="Times New Roman" panose="02020603050405020304" pitchFamily="18" charset="0"/>
                <a:cs typeface="Times New Roman" panose="02020603050405020304" pitchFamily="18" charset="0"/>
              </a:rPr>
              <a:t>-ийн хөгжлийг дэмжиж чадна</a:t>
            </a:r>
            <a:r>
              <a:rPr lang="en-US" sz="3200"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15095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4E83-DB2A-868E-0292-D47F8A3F42F7}"/>
              </a:ext>
            </a:extLst>
          </p:cNvPr>
          <p:cNvSpPr>
            <a:spLocks noGrp="1"/>
          </p:cNvSpPr>
          <p:nvPr>
            <p:ph type="title"/>
          </p:nvPr>
        </p:nvSpPr>
        <p:spPr>
          <a:xfrm>
            <a:off x="131062" y="133477"/>
            <a:ext cx="10202162" cy="451739"/>
          </a:xfrm>
        </p:spPr>
        <p:txBody>
          <a:bodyPr>
            <a:normAutofit fontScale="90000"/>
          </a:bodyPr>
          <a:lstStyle/>
          <a:p>
            <a:pPr algn="just"/>
            <a:r>
              <a:rPr lang="mn-MN" altLang="en-US" b="1" dirty="0">
                <a:solidFill>
                  <a:srgbClr val="002060"/>
                </a:solidFill>
                <a:latin typeface="Times New Roman" panose="02020603050405020304" pitchFamily="18" charset="0"/>
                <a:cs typeface="Times New Roman" panose="02020603050405020304" pitchFamily="18" charset="0"/>
              </a:rPr>
              <a:t>Үүрэг, хариуцлагын матриц</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1B80BF-3884-2105-49EE-ED5061EDE55F}"/>
              </a:ext>
            </a:extLst>
          </p:cNvPr>
          <p:cNvSpPr>
            <a:spLocks noGrp="1"/>
          </p:cNvSpPr>
          <p:nvPr>
            <p:ph idx="1"/>
          </p:nvPr>
        </p:nvSpPr>
        <p:spPr>
          <a:xfrm>
            <a:off x="131064" y="685364"/>
            <a:ext cx="3953256" cy="5922700"/>
          </a:xfrm>
        </p:spPr>
        <p:txBody>
          <a:bodyPr>
            <a:normAutofit fontScale="92500"/>
          </a:bodyPr>
          <a:lstStyle/>
          <a:p>
            <a:pPr algn="just"/>
            <a:r>
              <a:rPr lang="en-US" sz="3600" dirty="0">
                <a:solidFill>
                  <a:srgbClr val="002060"/>
                </a:solidFill>
                <a:latin typeface="Times New Roman" panose="02020603050405020304" pitchFamily="18" charset="0"/>
                <a:cs typeface="Times New Roman" panose="02020603050405020304" pitchFamily="18" charset="0"/>
              </a:rPr>
              <a:t>WBS </a:t>
            </a:r>
            <a:r>
              <a:rPr lang="mn-MN" sz="3600" dirty="0">
                <a:solidFill>
                  <a:srgbClr val="002060"/>
                </a:solidFill>
                <a:latin typeface="Times New Roman" panose="02020603050405020304" pitchFamily="18" charset="0"/>
                <a:cs typeface="Times New Roman" panose="02020603050405020304" pitchFamily="18" charset="0"/>
              </a:rPr>
              <a:t>ба зохион байгуулалтын бүтцийн огтлолцол</a:t>
            </a:r>
          </a:p>
          <a:p>
            <a:pPr algn="just"/>
            <a:r>
              <a:rPr lang="mn-MN" sz="3600" dirty="0">
                <a:solidFill>
                  <a:srgbClr val="002060"/>
                </a:solidFill>
                <a:latin typeface="Times New Roman" panose="02020603050405020304" pitchFamily="18" charset="0"/>
                <a:cs typeface="Times New Roman" panose="02020603050405020304" pitchFamily="18" charset="0"/>
              </a:rPr>
              <a:t>Мөр = хүн, эсвэл үйл ажиллагаа</a:t>
            </a:r>
          </a:p>
          <a:p>
            <a:pPr algn="just"/>
            <a:r>
              <a:rPr lang="mn-MN" sz="3600" dirty="0">
                <a:solidFill>
                  <a:srgbClr val="002060"/>
                </a:solidFill>
                <a:latin typeface="Times New Roman" panose="02020603050405020304" pitchFamily="18" charset="0"/>
                <a:cs typeface="Times New Roman" panose="02020603050405020304" pitchFamily="18" charset="0"/>
              </a:rPr>
              <a:t>Багана = ажилтан бүрийн хариуцах ажлын даалгавар эсвэл ажлын багц</a:t>
            </a:r>
          </a:p>
          <a:p>
            <a:pPr algn="just"/>
            <a:r>
              <a:rPr lang="mn-MN" sz="3600" dirty="0">
                <a:solidFill>
                  <a:srgbClr val="002060"/>
                </a:solidFill>
                <a:latin typeface="Times New Roman" panose="02020603050405020304" pitchFamily="18" charset="0"/>
                <a:cs typeface="Times New Roman" panose="02020603050405020304" pitchFamily="18" charset="0"/>
              </a:rPr>
              <a:t>Хяналт, шалгалт хийхэд түгээмэл хэрэглэдэг.</a:t>
            </a:r>
            <a:endParaRPr lang="en-US" sz="3600" dirty="0">
              <a:solidFill>
                <a:srgbClr val="002060"/>
              </a:solidFill>
              <a:latin typeface="Times New Roman" panose="02020603050405020304" pitchFamily="18" charset="0"/>
              <a:cs typeface="Times New Roman" panose="02020603050405020304" pitchFamily="18" charset="0"/>
            </a:endParaRPr>
          </a:p>
        </p:txBody>
      </p:sp>
      <p:pic>
        <p:nvPicPr>
          <p:cNvPr id="4" name="Picture 4">
            <a:extLst>
              <a:ext uri="{FF2B5EF4-FFF2-40B4-BE49-F238E27FC236}">
                <a16:creationId xmlns:a16="http://schemas.microsoft.com/office/drawing/2014/main" id="{FB2E8D88-2C62-F9EE-5F1D-4E9665040A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2544" y="604491"/>
            <a:ext cx="7400544" cy="5273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1330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D3467-F1E0-FE9C-0950-7B6E977A70E8}"/>
              </a:ext>
            </a:extLst>
          </p:cNvPr>
          <p:cNvSpPr>
            <a:spLocks noGrp="1"/>
          </p:cNvSpPr>
          <p:nvPr>
            <p:ph type="title"/>
          </p:nvPr>
        </p:nvSpPr>
        <p:spPr>
          <a:xfrm>
            <a:off x="109728" y="143039"/>
            <a:ext cx="11814048" cy="807937"/>
          </a:xfrm>
        </p:spPr>
        <p:txBody>
          <a:bodyPr>
            <a:normAutofit fontScale="90000"/>
          </a:bodyPr>
          <a:lstStyle/>
          <a:p>
            <a:r>
              <a:rPr lang="mn-MN" sz="3200" b="1" dirty="0">
                <a:solidFill>
                  <a:srgbClr val="002060"/>
                </a:solidFill>
                <a:latin typeface="Times New Roman" panose="02020603050405020304" pitchFamily="18" charset="0"/>
                <a:cs typeface="Times New Roman" panose="02020603050405020304" pitchFamily="18" charset="0"/>
              </a:rPr>
              <a:t>Тооцооллын арга - </a:t>
            </a:r>
            <a:r>
              <a:rPr lang="en-US" sz="3200" b="1" dirty="0">
                <a:solidFill>
                  <a:srgbClr val="002060"/>
                </a:solidFill>
                <a:latin typeface="Times New Roman" panose="02020603050405020304" pitchFamily="18" charset="0"/>
                <a:cs typeface="Times New Roman" panose="02020603050405020304" pitchFamily="18" charset="0"/>
              </a:rPr>
              <a:t>Estimation Techniques</a:t>
            </a:r>
            <a:br>
              <a:rPr lang="en-US" sz="3200" b="1" dirty="0">
                <a:solidFill>
                  <a:srgbClr val="002060"/>
                </a:solidFill>
                <a:latin typeface="Times New Roman" panose="02020603050405020304" pitchFamily="18" charset="0"/>
                <a:cs typeface="Times New Roman" panose="02020603050405020304" pitchFamily="18" charset="0"/>
              </a:rPr>
            </a:br>
            <a:r>
              <a:rPr lang="en-US" sz="3200" b="1" dirty="0">
                <a:solidFill>
                  <a:srgbClr val="002060"/>
                </a:solidFill>
                <a:latin typeface="Times New Roman" panose="02020603050405020304" pitchFamily="18" charset="0"/>
                <a:cs typeface="Times New Roman" panose="02020603050405020304" pitchFamily="18" charset="0"/>
              </a:rPr>
              <a:t>- </a:t>
            </a:r>
            <a:r>
              <a:rPr lang="mn-MN" sz="3200" b="1" dirty="0">
                <a:solidFill>
                  <a:srgbClr val="002060"/>
                </a:solidFill>
                <a:latin typeface="Times New Roman" panose="02020603050405020304" pitchFamily="18" charset="0"/>
                <a:cs typeface="Times New Roman" panose="02020603050405020304" pitchFamily="18" charset="0"/>
              </a:rPr>
              <a:t>Төслийн удирдлагын аргууд</a:t>
            </a:r>
            <a:endParaRPr lang="en-US"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7464DD-888B-84CB-E177-1D4A78F986EA}"/>
              </a:ext>
            </a:extLst>
          </p:cNvPr>
          <p:cNvSpPr>
            <a:spLocks noGrp="1"/>
          </p:cNvSpPr>
          <p:nvPr>
            <p:ph idx="1"/>
          </p:nvPr>
        </p:nvSpPr>
        <p:spPr>
          <a:xfrm>
            <a:off x="188976" y="950976"/>
            <a:ext cx="11814048" cy="4852761"/>
          </a:xfrm>
        </p:spPr>
        <p:txBody>
          <a:bodyPr>
            <a:normAutofit/>
          </a:bodyPr>
          <a:lstStyle/>
          <a:p>
            <a:pPr algn="just"/>
            <a:r>
              <a:rPr lang="mn-MN" altLang="en-US" sz="3200" dirty="0">
                <a:solidFill>
                  <a:srgbClr val="002060"/>
                </a:solidFill>
                <a:latin typeface="Times New Roman" panose="02020603050405020304" pitchFamily="18" charset="0"/>
                <a:cs typeface="Times New Roman" panose="02020603050405020304" pitchFamily="18" charset="0"/>
              </a:rPr>
              <a:t>Мэдрэмжийн шинжилгээ </a:t>
            </a:r>
            <a:r>
              <a:rPr lang="en-US" altLang="en-US" sz="3200" dirty="0">
                <a:solidFill>
                  <a:srgbClr val="002060"/>
                </a:solidFill>
                <a:latin typeface="Times New Roman" panose="02020603050405020304" pitchFamily="18" charset="0"/>
                <a:cs typeface="Times New Roman" panose="02020603050405020304" pitchFamily="18" charset="0"/>
              </a:rPr>
              <a:t>(Optimistic – Most Likely – Pessimistic)</a:t>
            </a:r>
            <a:endParaRPr lang="mn-MN" altLang="en-US" sz="3200" dirty="0">
              <a:solidFill>
                <a:srgbClr val="002060"/>
              </a:solidFill>
              <a:latin typeface="Times New Roman" panose="02020603050405020304" pitchFamily="18" charset="0"/>
              <a:cs typeface="Times New Roman" panose="02020603050405020304" pitchFamily="18" charset="0"/>
            </a:endParaRPr>
          </a:p>
          <a:p>
            <a:pPr algn="just"/>
            <a:r>
              <a:rPr lang="en-US" altLang="en-US" sz="3200" dirty="0">
                <a:solidFill>
                  <a:srgbClr val="002060"/>
                </a:solidFill>
                <a:latin typeface="Times New Roman" panose="02020603050405020304" pitchFamily="18" charset="0"/>
                <a:cs typeface="Times New Roman" panose="02020603050405020304" pitchFamily="18" charset="0"/>
              </a:rPr>
              <a:t>Delphi </a:t>
            </a:r>
            <a:r>
              <a:rPr lang="mn-MN" altLang="en-US" sz="3200" dirty="0">
                <a:solidFill>
                  <a:srgbClr val="002060"/>
                </a:solidFill>
                <a:latin typeface="Times New Roman" panose="02020603050405020304" pitchFamily="18" charset="0"/>
                <a:cs typeface="Times New Roman" panose="02020603050405020304" pitchFamily="18" charset="0"/>
              </a:rPr>
              <a:t>арга</a:t>
            </a:r>
            <a:endParaRPr lang="en-US" altLang="en-US" sz="3200" dirty="0">
              <a:solidFill>
                <a:srgbClr val="002060"/>
              </a:solidFill>
              <a:latin typeface="Times New Roman" panose="02020603050405020304" pitchFamily="18" charset="0"/>
              <a:cs typeface="Times New Roman" panose="02020603050405020304" pitchFamily="18" charset="0"/>
            </a:endParaRPr>
          </a:p>
          <a:p>
            <a:pPr algn="just"/>
            <a:r>
              <a:rPr lang="mn-MN" altLang="en-US" sz="3200" dirty="0">
                <a:solidFill>
                  <a:srgbClr val="002060"/>
                </a:solidFill>
                <a:latin typeface="Times New Roman" panose="02020603050405020304" pitchFamily="18" charset="0"/>
                <a:cs typeface="Times New Roman" panose="02020603050405020304" pitchFamily="18" charset="0"/>
              </a:rPr>
              <a:t>Цагийн хайрцаглалт</a:t>
            </a:r>
          </a:p>
          <a:p>
            <a:pPr algn="just"/>
            <a:r>
              <a:rPr lang="mn-MN" altLang="en-US" sz="3200" dirty="0">
                <a:solidFill>
                  <a:srgbClr val="002060"/>
                </a:solidFill>
                <a:latin typeface="Times New Roman" panose="02020603050405020304" pitchFamily="18" charset="0"/>
                <a:cs typeface="Times New Roman" panose="02020603050405020304" pitchFamily="18" charset="0"/>
              </a:rPr>
              <a:t>Дээрээс доош харах хандлага </a:t>
            </a:r>
            <a:r>
              <a:rPr lang="en-US" altLang="en-US" sz="3200" dirty="0">
                <a:solidFill>
                  <a:srgbClr val="002060"/>
                </a:solidFill>
                <a:latin typeface="Times New Roman" panose="02020603050405020304" pitchFamily="18" charset="0"/>
                <a:cs typeface="Times New Roman" panose="02020603050405020304" pitchFamily="18" charset="0"/>
              </a:rPr>
              <a:t>(Top-Down </a:t>
            </a:r>
            <a:r>
              <a:rPr lang="en-US" sz="3200" dirty="0">
                <a:solidFill>
                  <a:srgbClr val="002060"/>
                </a:solidFill>
                <a:latin typeface="Times New Roman" panose="02020603050405020304" pitchFamily="18" charset="0"/>
                <a:cs typeface="Times New Roman" panose="02020603050405020304" pitchFamily="18" charset="0"/>
              </a:rPr>
              <a:t>Approach</a:t>
            </a:r>
            <a:r>
              <a:rPr lang="en-US" altLang="en-US" sz="3200" dirty="0">
                <a:solidFill>
                  <a:srgbClr val="002060"/>
                </a:solidFill>
                <a:latin typeface="Times New Roman" panose="02020603050405020304" pitchFamily="18" charset="0"/>
                <a:cs typeface="Times New Roman" panose="02020603050405020304" pitchFamily="18" charset="0"/>
              </a:rPr>
              <a:t>)</a:t>
            </a:r>
            <a:endParaRPr lang="mn-MN" altLang="en-US" sz="3200" dirty="0">
              <a:solidFill>
                <a:srgbClr val="002060"/>
              </a:solidFill>
              <a:latin typeface="Times New Roman" panose="02020603050405020304" pitchFamily="18" charset="0"/>
              <a:cs typeface="Times New Roman" panose="02020603050405020304" pitchFamily="18" charset="0"/>
            </a:endParaRPr>
          </a:p>
          <a:p>
            <a:pPr algn="just"/>
            <a:r>
              <a:rPr lang="mn-MN" altLang="en-US" sz="3200" dirty="0">
                <a:solidFill>
                  <a:srgbClr val="002060"/>
                </a:solidFill>
                <a:latin typeface="Times New Roman" panose="02020603050405020304" pitchFamily="18" charset="0"/>
                <a:cs typeface="Times New Roman" panose="02020603050405020304" pitchFamily="18" charset="0"/>
              </a:rPr>
              <a:t>Доороос дээш харах хандлага </a:t>
            </a:r>
            <a:r>
              <a:rPr lang="en-US" altLang="en-US" sz="3200" dirty="0">
                <a:solidFill>
                  <a:srgbClr val="002060"/>
                </a:solidFill>
                <a:latin typeface="Times New Roman" panose="02020603050405020304" pitchFamily="18" charset="0"/>
                <a:cs typeface="Times New Roman" panose="02020603050405020304" pitchFamily="18" charset="0"/>
              </a:rPr>
              <a:t>(Bottom</a:t>
            </a:r>
            <a:r>
              <a:rPr lang="mn-MN" altLang="en-US" sz="3200" dirty="0">
                <a:solidFill>
                  <a:srgbClr val="002060"/>
                </a:solidFill>
                <a:latin typeface="Times New Roman" panose="02020603050405020304" pitchFamily="18" charset="0"/>
                <a:cs typeface="Times New Roman" panose="02020603050405020304" pitchFamily="18" charset="0"/>
              </a:rPr>
              <a:t>-</a:t>
            </a:r>
            <a:r>
              <a:rPr lang="en-US" altLang="en-US" sz="3200" dirty="0">
                <a:solidFill>
                  <a:srgbClr val="002060"/>
                </a:solidFill>
                <a:latin typeface="Times New Roman" panose="02020603050405020304" pitchFamily="18" charset="0"/>
                <a:cs typeface="Times New Roman" panose="02020603050405020304" pitchFamily="18" charset="0"/>
              </a:rPr>
              <a:t>Up </a:t>
            </a:r>
            <a:r>
              <a:rPr lang="en-US" sz="3200" dirty="0">
                <a:solidFill>
                  <a:srgbClr val="002060"/>
                </a:solidFill>
                <a:latin typeface="Times New Roman" panose="02020603050405020304" pitchFamily="18" charset="0"/>
                <a:cs typeface="Times New Roman" panose="02020603050405020304" pitchFamily="18" charset="0"/>
              </a:rPr>
              <a:t>Approach</a:t>
            </a:r>
            <a:r>
              <a:rPr lang="en-US" altLang="en-US" sz="3200" dirty="0">
                <a:solidFill>
                  <a:srgbClr val="002060"/>
                </a:solidFill>
                <a:latin typeface="Times New Roman" panose="02020603050405020304" pitchFamily="18" charset="0"/>
                <a:cs typeface="Times New Roman" panose="02020603050405020304" pitchFamily="18" charset="0"/>
              </a:rPr>
              <a:t>)</a:t>
            </a:r>
            <a:endParaRPr lang="mn-MN" altLang="en-US" sz="3200" dirty="0">
              <a:solidFill>
                <a:srgbClr val="002060"/>
              </a:solidFill>
              <a:latin typeface="Times New Roman" panose="02020603050405020304" pitchFamily="18" charset="0"/>
              <a:cs typeface="Times New Roman" panose="02020603050405020304" pitchFamily="18" charset="0"/>
            </a:endParaRPr>
          </a:p>
          <a:p>
            <a:pPr algn="just"/>
            <a:r>
              <a:rPr lang="mn-MN" altLang="en-US" sz="3200" dirty="0">
                <a:solidFill>
                  <a:srgbClr val="002060"/>
                </a:solidFill>
                <a:latin typeface="Times New Roman" panose="02020603050405020304" pitchFamily="18" charset="0"/>
                <a:cs typeface="Times New Roman" panose="02020603050405020304" pitchFamily="18" charset="0"/>
              </a:rPr>
              <a:t>Аналог тооцоолол (Өнгөрсөн туршлага дээр тулгуурласан)</a:t>
            </a:r>
          </a:p>
          <a:p>
            <a:pPr algn="just"/>
            <a:r>
              <a:rPr lang="mn-MN" altLang="en-US" sz="3200" dirty="0">
                <a:solidFill>
                  <a:srgbClr val="002060"/>
                </a:solidFill>
                <a:latin typeface="Times New Roman" panose="02020603050405020304" pitchFamily="18" charset="0"/>
                <a:cs typeface="Times New Roman" panose="02020603050405020304" pitchFamily="18" charset="0"/>
              </a:rPr>
              <a:t>Параметрик загварчлал (Статистик аргачлал)</a:t>
            </a:r>
            <a:endParaRPr lang="en-US" altLang="en-US" sz="3200" dirty="0">
              <a:solidFill>
                <a:srgbClr val="002060"/>
              </a:solidFill>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968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C7C06-7945-4174-BBE9-9B7D16F170CE}"/>
              </a:ext>
            </a:extLst>
          </p:cNvPr>
          <p:cNvSpPr>
            <a:spLocks noGrp="1"/>
          </p:cNvSpPr>
          <p:nvPr>
            <p:ph type="title"/>
          </p:nvPr>
        </p:nvSpPr>
        <p:spPr>
          <a:xfrm>
            <a:off x="134112" y="133477"/>
            <a:ext cx="11704320" cy="683387"/>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Тооцооллын арга - </a:t>
            </a:r>
            <a:r>
              <a:rPr lang="en-US" sz="3600" b="1" dirty="0">
                <a:solidFill>
                  <a:srgbClr val="002060"/>
                </a:solidFill>
                <a:latin typeface="Times New Roman" panose="02020603050405020304" pitchFamily="18" charset="0"/>
                <a:cs typeface="Times New Roman" panose="02020603050405020304" pitchFamily="18" charset="0"/>
              </a:rPr>
              <a:t>Estimation Techniques</a:t>
            </a:r>
            <a:br>
              <a:rPr lang="mn-MN" sz="3600" b="1" dirty="0">
                <a:solidFill>
                  <a:srgbClr val="002060"/>
                </a:solidFill>
                <a:latin typeface="Times New Roman" panose="02020603050405020304" pitchFamily="18" charset="0"/>
                <a:cs typeface="Times New Roman" panose="02020603050405020304" pitchFamily="18" charset="0"/>
              </a:rPr>
            </a:br>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Төслийн удирдлагын аргууд</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362D6F-24B7-0C72-8ADC-77DF486423A2}"/>
              </a:ext>
            </a:extLst>
          </p:cNvPr>
          <p:cNvSpPr>
            <a:spLocks noGrp="1"/>
          </p:cNvSpPr>
          <p:nvPr>
            <p:ph idx="1"/>
          </p:nvPr>
        </p:nvSpPr>
        <p:spPr>
          <a:xfrm>
            <a:off x="134112" y="996569"/>
            <a:ext cx="11704320" cy="4667250"/>
          </a:xfrm>
        </p:spPr>
        <p:txBody>
          <a:bodyPr>
            <a:normAutofit/>
          </a:bodyPr>
          <a:lstStyle/>
          <a:p>
            <a:pPr algn="just" eaLnBrk="1" hangingPunct="1">
              <a:lnSpc>
                <a:spcPct val="90000"/>
              </a:lnSpc>
            </a:pPr>
            <a:r>
              <a:rPr lang="mn-MN" altLang="en-US" sz="3200" b="1" dirty="0">
                <a:solidFill>
                  <a:srgbClr val="002060"/>
                </a:solidFill>
                <a:latin typeface="Times New Roman" panose="02020603050405020304" pitchFamily="18" charset="0"/>
                <a:cs typeface="Times New Roman" panose="02020603050405020304" pitchFamily="18" charset="0"/>
              </a:rPr>
              <a:t>Мэдрэмжийн шинжилгээ </a:t>
            </a:r>
            <a:endParaRPr lang="en-US" altLang="en-US" sz="3200" b="1" dirty="0">
              <a:solidFill>
                <a:srgbClr val="002060"/>
              </a:solidFill>
              <a:latin typeface="Times New Roman" panose="02020603050405020304" pitchFamily="18" charset="0"/>
              <a:cs typeface="Times New Roman" panose="02020603050405020304" pitchFamily="18" charset="0"/>
            </a:endParaRPr>
          </a:p>
          <a:p>
            <a:pPr lvl="1" algn="just">
              <a:lnSpc>
                <a:spcPct val="90000"/>
              </a:lnSpc>
            </a:pPr>
            <a:r>
              <a:rPr lang="mn-MN" altLang="en-US" sz="2800" dirty="0">
                <a:solidFill>
                  <a:srgbClr val="002060"/>
                </a:solidFill>
                <a:latin typeface="Times New Roman" panose="02020603050405020304" pitchFamily="18" charset="0"/>
                <a:cs typeface="Times New Roman" panose="02020603050405020304" pitchFamily="18" charset="0"/>
              </a:rPr>
              <a:t>Баримт биш мэдрэмж дээр суурилсан</a:t>
            </a:r>
          </a:p>
          <a:p>
            <a:pPr lvl="1" algn="just">
              <a:lnSpc>
                <a:spcPct val="90000"/>
              </a:lnSpc>
            </a:pPr>
            <a:r>
              <a:rPr lang="mn-MN" altLang="en-US" sz="2800" dirty="0">
                <a:solidFill>
                  <a:srgbClr val="002060"/>
                </a:solidFill>
                <a:latin typeface="Times New Roman" panose="02020603050405020304" pitchFamily="18" charset="0"/>
                <a:cs typeface="Times New Roman" panose="02020603050405020304" pitchFamily="18" charset="0"/>
              </a:rPr>
              <a:t>Тооцоолох сайн арга биш боловч туршлагагүй төслийн менежерүүд ихэвчлэн ашигладаг</a:t>
            </a:r>
          </a:p>
          <a:p>
            <a:pPr algn="just">
              <a:lnSpc>
                <a:spcPct val="90000"/>
              </a:lnSpc>
            </a:pPr>
            <a:r>
              <a:rPr lang="en-US" altLang="en-US" sz="3200" b="1" dirty="0">
                <a:solidFill>
                  <a:srgbClr val="002060"/>
                </a:solidFill>
                <a:latin typeface="Times New Roman" panose="02020603050405020304" pitchFamily="18" charset="0"/>
                <a:cs typeface="Times New Roman" panose="02020603050405020304" pitchFamily="18" charset="0"/>
              </a:rPr>
              <a:t>Delphi </a:t>
            </a:r>
            <a:r>
              <a:rPr lang="mn-MN" altLang="en-US" sz="3200" b="1" dirty="0">
                <a:solidFill>
                  <a:srgbClr val="002060"/>
                </a:solidFill>
                <a:latin typeface="Times New Roman" panose="02020603050405020304" pitchFamily="18" charset="0"/>
                <a:cs typeface="Times New Roman" panose="02020603050405020304" pitchFamily="18" charset="0"/>
              </a:rPr>
              <a:t>арга</a:t>
            </a:r>
            <a:endParaRPr lang="en-US" altLang="en-US" sz="3200" b="1" dirty="0">
              <a:solidFill>
                <a:srgbClr val="002060"/>
              </a:solidFill>
              <a:latin typeface="Times New Roman" panose="02020603050405020304" pitchFamily="18" charset="0"/>
              <a:cs typeface="Times New Roman" panose="02020603050405020304" pitchFamily="18" charset="0"/>
            </a:endParaRPr>
          </a:p>
          <a:p>
            <a:pPr lvl="1" algn="just">
              <a:lnSpc>
                <a:spcPct val="90000"/>
              </a:lnSpc>
            </a:pPr>
            <a:r>
              <a:rPr lang="mn-MN" altLang="en-US" sz="2800" dirty="0">
                <a:solidFill>
                  <a:srgbClr val="002060"/>
                </a:solidFill>
                <a:latin typeface="Times New Roman" panose="02020603050405020304" pitchFamily="18" charset="0"/>
                <a:cs typeface="Times New Roman" panose="02020603050405020304" pitchFamily="18" charset="0"/>
              </a:rPr>
              <a:t>Нэр нь үл мэдэгдэх олон шинжээчдийг оролцуулдаг</a:t>
            </a:r>
          </a:p>
          <a:p>
            <a:pPr lvl="1" algn="just">
              <a:lnSpc>
                <a:spcPct val="90000"/>
              </a:lnSpc>
            </a:pPr>
            <a:r>
              <a:rPr lang="mn-MN" altLang="en-US" sz="2800" dirty="0">
                <a:solidFill>
                  <a:srgbClr val="002060"/>
                </a:solidFill>
                <a:latin typeface="Times New Roman" panose="02020603050405020304" pitchFamily="18" charset="0"/>
                <a:cs typeface="Times New Roman" panose="02020603050405020304" pitchFamily="18" charset="0"/>
              </a:rPr>
              <a:t>Мэргэжилтэн бүр тооцоогоо гаргадаг</a:t>
            </a:r>
          </a:p>
          <a:p>
            <a:pPr lvl="1" algn="just">
              <a:lnSpc>
                <a:spcPct val="90000"/>
              </a:lnSpc>
            </a:pPr>
            <a:r>
              <a:rPr lang="mn-MN" altLang="en-US" sz="2800" dirty="0">
                <a:solidFill>
                  <a:srgbClr val="002060"/>
                </a:solidFill>
                <a:latin typeface="Times New Roman" panose="02020603050405020304" pitchFamily="18" charset="0"/>
                <a:cs typeface="Times New Roman" panose="02020603050405020304" pitchFamily="18" charset="0"/>
              </a:rPr>
              <a:t>Тооцооллыг харьцуулна</a:t>
            </a:r>
          </a:p>
          <a:p>
            <a:pPr lvl="2" algn="just">
              <a:lnSpc>
                <a:spcPct val="90000"/>
              </a:lnSpc>
            </a:pPr>
            <a:r>
              <a:rPr lang="mn-MN" altLang="en-US" sz="2800" dirty="0">
                <a:solidFill>
                  <a:srgbClr val="002060"/>
                </a:solidFill>
                <a:latin typeface="Times New Roman" panose="02020603050405020304" pitchFamily="18" charset="0"/>
                <a:cs typeface="Times New Roman" panose="02020603050405020304" pitchFamily="18" charset="0"/>
              </a:rPr>
              <a:t>Хэрэв харьцуулалт ойрхон байвал дунджаар тооцож болно</a:t>
            </a:r>
          </a:p>
          <a:p>
            <a:pPr lvl="2" algn="just">
              <a:lnSpc>
                <a:spcPct val="90000"/>
              </a:lnSpc>
            </a:pPr>
            <a:r>
              <a:rPr lang="mn-MN" altLang="en-US" sz="2800" dirty="0">
                <a:solidFill>
                  <a:srgbClr val="002060"/>
                </a:solidFill>
                <a:latin typeface="Times New Roman" panose="02020603050405020304" pitchFamily="18" charset="0"/>
                <a:cs typeface="Times New Roman" panose="02020603050405020304" pitchFamily="18" charset="0"/>
              </a:rPr>
              <a:t>Зөвшилцөлд хүрэх хүртэл давтана</a:t>
            </a:r>
            <a:r>
              <a:rPr lang="en-US" altLang="en-US" sz="2800" dirty="0">
                <a:solidFill>
                  <a:srgbClr val="00206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57424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09321-D089-0D7B-FEEC-B096445F007D}"/>
              </a:ext>
            </a:extLst>
          </p:cNvPr>
          <p:cNvSpPr>
            <a:spLocks noGrp="1"/>
          </p:cNvSpPr>
          <p:nvPr>
            <p:ph type="title"/>
          </p:nvPr>
        </p:nvSpPr>
        <p:spPr>
          <a:xfrm>
            <a:off x="158496" y="182881"/>
            <a:ext cx="11740896" cy="865632"/>
          </a:xfrm>
        </p:spPr>
        <p:txBody>
          <a:bodyPr>
            <a:noAutofit/>
          </a:bodyPr>
          <a:lstStyle/>
          <a:p>
            <a:r>
              <a:rPr lang="mn-MN" sz="4000" b="1" dirty="0">
                <a:solidFill>
                  <a:srgbClr val="002060"/>
                </a:solidFill>
                <a:latin typeface="Times New Roman" panose="02020603050405020304" pitchFamily="18" charset="0"/>
                <a:cs typeface="Times New Roman" panose="02020603050405020304" pitchFamily="18" charset="0"/>
              </a:rPr>
              <a:t>Тооцооллын арга - </a:t>
            </a:r>
            <a:r>
              <a:rPr lang="en-US" sz="4000" b="1" dirty="0">
                <a:solidFill>
                  <a:srgbClr val="002060"/>
                </a:solidFill>
                <a:latin typeface="Times New Roman" panose="02020603050405020304" pitchFamily="18" charset="0"/>
                <a:cs typeface="Times New Roman" panose="02020603050405020304" pitchFamily="18" charset="0"/>
              </a:rPr>
              <a:t>Estimation Techniques</a:t>
            </a:r>
            <a:br>
              <a:rPr lang="en-US" sz="4000" b="1" dirty="0">
                <a:solidFill>
                  <a:srgbClr val="002060"/>
                </a:solidFill>
                <a:latin typeface="Times New Roman" panose="02020603050405020304" pitchFamily="18" charset="0"/>
                <a:cs typeface="Times New Roman" panose="02020603050405020304" pitchFamily="18" charset="0"/>
              </a:rPr>
            </a:br>
            <a:r>
              <a:rPr lang="en-US" sz="4000" b="1" dirty="0">
                <a:solidFill>
                  <a:srgbClr val="002060"/>
                </a:solidFill>
                <a:latin typeface="Times New Roman" panose="02020603050405020304" pitchFamily="18" charset="0"/>
                <a:cs typeface="Times New Roman" panose="02020603050405020304" pitchFamily="18" charset="0"/>
              </a:rPr>
              <a:t>- </a:t>
            </a:r>
            <a:r>
              <a:rPr lang="mn-MN" sz="4000" b="1" dirty="0">
                <a:solidFill>
                  <a:srgbClr val="002060"/>
                </a:solidFill>
                <a:latin typeface="Times New Roman" panose="02020603050405020304" pitchFamily="18" charset="0"/>
                <a:cs typeface="Times New Roman" panose="02020603050405020304" pitchFamily="18" charset="0"/>
              </a:rPr>
              <a:t>Төслийн удирдлагын аргууд</a:t>
            </a:r>
            <a:endParaRPr lang="en-US"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BBE593-6C0F-8826-DEEC-B1BB819504B0}"/>
              </a:ext>
            </a:extLst>
          </p:cNvPr>
          <p:cNvSpPr>
            <a:spLocks noGrp="1"/>
          </p:cNvSpPr>
          <p:nvPr>
            <p:ph idx="1"/>
          </p:nvPr>
        </p:nvSpPr>
        <p:spPr>
          <a:xfrm>
            <a:off x="158496" y="1255777"/>
            <a:ext cx="11740896" cy="4667250"/>
          </a:xfrm>
        </p:spPr>
        <p:txBody>
          <a:bodyPr>
            <a:normAutofit/>
          </a:bodyPr>
          <a:lstStyle/>
          <a:p>
            <a:pPr algn="just" eaLnBrk="1" hangingPunct="1"/>
            <a:r>
              <a:rPr lang="mn-MN" altLang="en-US" sz="4000" b="1" dirty="0">
                <a:solidFill>
                  <a:srgbClr val="002060"/>
                </a:solidFill>
                <a:latin typeface="Times New Roman" panose="02020603050405020304" pitchFamily="18" charset="0"/>
                <a:cs typeface="Times New Roman" panose="02020603050405020304" pitchFamily="18" charset="0"/>
              </a:rPr>
              <a:t>Цагийн хайрцаглалт </a:t>
            </a:r>
            <a:endParaRPr lang="en-US" altLang="en-US" sz="4000" b="1" dirty="0">
              <a:solidFill>
                <a:srgbClr val="002060"/>
              </a:solidFill>
              <a:latin typeface="Times New Roman" panose="02020603050405020304" pitchFamily="18" charset="0"/>
              <a:cs typeface="Times New Roman" panose="02020603050405020304" pitchFamily="18" charset="0"/>
            </a:endParaRPr>
          </a:p>
          <a:p>
            <a:pPr lvl="1" algn="just"/>
            <a:r>
              <a:rPr lang="mn-MN" altLang="en-US" sz="3600" dirty="0">
                <a:solidFill>
                  <a:srgbClr val="002060"/>
                </a:solidFill>
                <a:latin typeface="Times New Roman" panose="02020603050405020304" pitchFamily="18" charset="0"/>
                <a:cs typeface="Times New Roman" panose="02020603050405020304" pitchFamily="18" charset="0"/>
              </a:rPr>
              <a:t>Тодорхой үйл ажиллагаа, даалгавар эсвэл хүрэх үр дүнд зориулж "хайрцаг" цагийг хуваарилдаг</a:t>
            </a:r>
          </a:p>
          <a:p>
            <a:pPr lvl="1" algn="just"/>
            <a:r>
              <a:rPr lang="mn-MN" altLang="en-US" sz="3600" dirty="0">
                <a:solidFill>
                  <a:srgbClr val="002060"/>
                </a:solidFill>
                <a:latin typeface="Times New Roman" panose="02020603050405020304" pitchFamily="18" charset="0"/>
                <a:cs typeface="Times New Roman" panose="02020603050405020304" pitchFamily="18" charset="0"/>
              </a:rPr>
              <a:t>Үр дүнтэй ашиглавал багаа төвлөрүүлж чадна</a:t>
            </a:r>
          </a:p>
          <a:p>
            <a:pPr lvl="1" algn="just"/>
            <a:r>
              <a:rPr lang="mn-MN" altLang="en-US" sz="3600" dirty="0">
                <a:solidFill>
                  <a:srgbClr val="002060"/>
                </a:solidFill>
                <a:latin typeface="Times New Roman" panose="02020603050405020304" pitchFamily="18" charset="0"/>
                <a:cs typeface="Times New Roman" panose="02020603050405020304" pitchFamily="18" charset="0"/>
              </a:rPr>
              <a:t>Хэт олон удаа эсвэл үр дүнгүй ашиглавал төслийн багт стресс ихэсдэг, эсвэл ажил хийлгэх дарамт шахалт ихэсдэг тул багаа сэтгэл санааны хямралд оруулж болзошгүй.</a:t>
            </a:r>
            <a:endParaRPr lang="en-US" altLang="en-US" sz="3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539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09321-D089-0D7B-FEEC-B096445F007D}"/>
              </a:ext>
            </a:extLst>
          </p:cNvPr>
          <p:cNvSpPr>
            <a:spLocks noGrp="1"/>
          </p:cNvSpPr>
          <p:nvPr>
            <p:ph type="title"/>
          </p:nvPr>
        </p:nvSpPr>
        <p:spPr>
          <a:xfrm>
            <a:off x="176784" y="109093"/>
            <a:ext cx="11838432" cy="683387"/>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Тооцооллын арга - </a:t>
            </a:r>
            <a:r>
              <a:rPr lang="en-US" sz="3600" b="1" dirty="0">
                <a:solidFill>
                  <a:srgbClr val="002060"/>
                </a:solidFill>
                <a:latin typeface="Times New Roman" panose="02020603050405020304" pitchFamily="18" charset="0"/>
                <a:cs typeface="Times New Roman" panose="02020603050405020304" pitchFamily="18" charset="0"/>
              </a:rPr>
              <a:t>Estimation Techniques</a:t>
            </a:r>
            <a:br>
              <a:rPr lang="en-US" sz="3600" b="1" dirty="0">
                <a:solidFill>
                  <a:srgbClr val="002060"/>
                </a:solidFill>
                <a:latin typeface="Times New Roman" panose="02020603050405020304" pitchFamily="18" charset="0"/>
                <a:cs typeface="Times New Roman" panose="02020603050405020304" pitchFamily="18" charset="0"/>
              </a:rPr>
            </a:br>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Төслийн удирдлагын аргууд</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BBE593-6C0F-8826-DEEC-B1BB819504B0}"/>
              </a:ext>
            </a:extLst>
          </p:cNvPr>
          <p:cNvSpPr>
            <a:spLocks noGrp="1"/>
          </p:cNvSpPr>
          <p:nvPr>
            <p:ph idx="1"/>
          </p:nvPr>
        </p:nvSpPr>
        <p:spPr>
          <a:xfrm>
            <a:off x="176784" y="1095375"/>
            <a:ext cx="11838432" cy="4667250"/>
          </a:xfrm>
        </p:spPr>
        <p:txBody>
          <a:bodyPr>
            <a:normAutofit fontScale="92500" lnSpcReduction="10000"/>
          </a:bodyPr>
          <a:lstStyle/>
          <a:p>
            <a:pPr algn="just"/>
            <a:r>
              <a:rPr lang="mn-MN" altLang="en-US" sz="3600" b="1" dirty="0">
                <a:solidFill>
                  <a:srgbClr val="002060"/>
                </a:solidFill>
                <a:latin typeface="Times New Roman" panose="02020603050405020304" pitchFamily="18" charset="0"/>
                <a:cs typeface="Times New Roman" panose="02020603050405020304" pitchFamily="18" charset="0"/>
              </a:rPr>
              <a:t>Дээрээс доош харах хандлага </a:t>
            </a:r>
            <a:r>
              <a:rPr lang="en-US" altLang="en-US" sz="3600" b="1" dirty="0">
                <a:solidFill>
                  <a:srgbClr val="002060"/>
                </a:solidFill>
                <a:latin typeface="Times New Roman" panose="02020603050405020304" pitchFamily="18" charset="0"/>
                <a:cs typeface="Times New Roman" panose="02020603050405020304" pitchFamily="18" charset="0"/>
              </a:rPr>
              <a:t>(Top-Down </a:t>
            </a:r>
            <a:r>
              <a:rPr lang="en-US" sz="3600" b="1" dirty="0">
                <a:solidFill>
                  <a:srgbClr val="002060"/>
                </a:solidFill>
                <a:latin typeface="Times New Roman" panose="02020603050405020304" pitchFamily="18" charset="0"/>
                <a:cs typeface="Times New Roman" panose="02020603050405020304" pitchFamily="18" charset="0"/>
              </a:rPr>
              <a:t>Approach</a:t>
            </a:r>
            <a:r>
              <a:rPr lang="en-US" altLang="en-US" sz="3600" b="1" dirty="0">
                <a:solidFill>
                  <a:srgbClr val="002060"/>
                </a:solidFill>
                <a:latin typeface="Times New Roman" panose="02020603050405020304" pitchFamily="18" charset="0"/>
                <a:cs typeface="Times New Roman" panose="02020603050405020304" pitchFamily="18" charset="0"/>
              </a:rPr>
              <a:t>)</a:t>
            </a:r>
            <a:endParaRPr lang="mn-MN" altLang="en-US" sz="3600" b="1" dirty="0">
              <a:solidFill>
                <a:srgbClr val="002060"/>
              </a:solidFill>
              <a:latin typeface="Times New Roman" panose="02020603050405020304" pitchFamily="18" charset="0"/>
              <a:cs typeface="Times New Roman" panose="02020603050405020304" pitchFamily="18" charset="0"/>
            </a:endParaRPr>
          </a:p>
          <a:p>
            <a:pPr lvl="1" algn="just">
              <a:defRPr/>
            </a:pPr>
            <a:r>
              <a:rPr lang="mn-MN" sz="3400" dirty="0">
                <a:solidFill>
                  <a:srgbClr val="002060"/>
                </a:solidFill>
                <a:latin typeface="Times New Roman" panose="02020603050405020304" pitchFamily="18" charset="0"/>
                <a:ea typeface="MS Mincho" charset="-128"/>
                <a:cs typeface="Times New Roman" panose="02020603050405020304" pitchFamily="18" charset="0"/>
              </a:rPr>
              <a:t>Дээд болон дунд шатны менежерүүд төслийн ерөнхий хуваарь ба/эсвэл зардлыг тодорхойлдог.</a:t>
            </a:r>
          </a:p>
          <a:p>
            <a:pPr lvl="1" algn="just">
              <a:defRPr/>
            </a:pPr>
            <a:r>
              <a:rPr lang="mn-MN" sz="3400" dirty="0">
                <a:solidFill>
                  <a:srgbClr val="002060"/>
                </a:solidFill>
                <a:latin typeface="Times New Roman" panose="02020603050405020304" pitchFamily="18" charset="0"/>
                <a:ea typeface="MS Mincho" charset="-128"/>
                <a:cs typeface="Times New Roman" panose="02020603050405020304" pitchFamily="18" charset="0"/>
              </a:rPr>
              <a:t>Доод түвшний менежерүүд хуваарь/төсвийн тооцоог тодорхой үйл ажиллагаанд хуваах төлөвтэй байна (</a:t>
            </a:r>
            <a:r>
              <a:rPr lang="en-US" sz="3400" dirty="0">
                <a:solidFill>
                  <a:srgbClr val="002060"/>
                </a:solidFill>
                <a:latin typeface="Times New Roman" panose="02020603050405020304" pitchFamily="18" charset="0"/>
                <a:ea typeface="MS Mincho" charset="-128"/>
                <a:cs typeface="Times New Roman" panose="02020603050405020304" pitchFamily="18" charset="0"/>
              </a:rPr>
              <a:t>WBS).</a:t>
            </a:r>
          </a:p>
          <a:p>
            <a:pPr lvl="1" algn="just">
              <a:defRPr/>
            </a:pPr>
            <a:r>
              <a:rPr lang="mn-MN" sz="3400" dirty="0">
                <a:solidFill>
                  <a:srgbClr val="002060"/>
                </a:solidFill>
                <a:latin typeface="Times New Roman" panose="02020603050405020304" pitchFamily="18" charset="0"/>
                <a:ea typeface="MS Mincho" charset="-128"/>
                <a:cs typeface="Times New Roman" panose="02020603050405020304" pitchFamily="18" charset="0"/>
              </a:rPr>
              <a:t>эдгээр параметрүүдийг тохиромжтой гэж үзсэн дээд менежментийн гишүүний тогтоолоор Төсөл ямар өртөгтэй байх, хэр удаан хугацаа шаардагдах вэ гэдэг дээр ихэвчлэн харилцан тохиролцдог.</a:t>
            </a:r>
          </a:p>
          <a:p>
            <a:pPr lvl="1" algn="just">
              <a:defRPr/>
            </a:pPr>
            <a:r>
              <a:rPr lang="mn-MN" sz="3400" dirty="0">
                <a:solidFill>
                  <a:srgbClr val="002060"/>
                </a:solidFill>
                <a:latin typeface="Times New Roman" panose="02020603050405020304" pitchFamily="18" charset="0"/>
                <a:ea typeface="MS Mincho" charset="-128"/>
                <a:cs typeface="Times New Roman" panose="02020603050405020304" pitchFamily="18" charset="0"/>
              </a:rPr>
              <a:t>Бизнесийн орчны хариу арга хэмжээ байж болох юм.</a:t>
            </a:r>
          </a:p>
          <a:p>
            <a:pPr lvl="1" algn="just">
              <a:defRPr/>
            </a:pPr>
            <a:r>
              <a:rPr lang="mn-MN" sz="3400" dirty="0">
                <a:solidFill>
                  <a:srgbClr val="002060"/>
                </a:solidFill>
                <a:latin typeface="Times New Roman" panose="02020603050405020304" pitchFamily="18" charset="0"/>
                <a:ea typeface="MS Mincho" charset="-128"/>
                <a:cs typeface="Times New Roman" panose="02020603050405020304" pitchFamily="18" charset="0"/>
              </a:rPr>
              <a:t>Үхлийн </a:t>
            </a:r>
            <a:r>
              <a:rPr lang="en-US" sz="3400" dirty="0">
                <a:solidFill>
                  <a:srgbClr val="002060"/>
                </a:solidFill>
                <a:latin typeface="Times New Roman" panose="02020603050405020304" pitchFamily="18" charset="0"/>
                <a:ea typeface="MS Mincho" charset="-128"/>
                <a:cs typeface="Times New Roman" panose="02020603050405020304" pitchFamily="18" charset="0"/>
              </a:rPr>
              <a:t>(</a:t>
            </a:r>
            <a:r>
              <a:rPr lang="mn-MN" sz="3400" dirty="0">
                <a:solidFill>
                  <a:srgbClr val="002060"/>
                </a:solidFill>
                <a:latin typeface="Times New Roman" panose="02020603050405020304" pitchFamily="18" charset="0"/>
                <a:ea typeface="MS Mincho" charset="-128"/>
                <a:cs typeface="Times New Roman" panose="02020603050405020304" pitchFamily="18" charset="0"/>
              </a:rPr>
              <a:t>явуургүй</a:t>
            </a:r>
            <a:r>
              <a:rPr lang="en-US" sz="3400" dirty="0">
                <a:solidFill>
                  <a:srgbClr val="002060"/>
                </a:solidFill>
                <a:latin typeface="Times New Roman" panose="02020603050405020304" pitchFamily="18" charset="0"/>
                <a:ea typeface="MS Mincho" charset="-128"/>
                <a:cs typeface="Times New Roman" panose="02020603050405020304" pitchFamily="18" charset="0"/>
              </a:rPr>
              <a:t>) </a:t>
            </a:r>
            <a:r>
              <a:rPr lang="mn-MN" sz="3400" dirty="0">
                <a:solidFill>
                  <a:srgbClr val="002060"/>
                </a:solidFill>
                <a:latin typeface="Times New Roman" panose="02020603050405020304" pitchFamily="18" charset="0"/>
                <a:ea typeface="MS Mincho" charset="-128"/>
                <a:cs typeface="Times New Roman" panose="02020603050405020304" pitchFamily="18" charset="0"/>
              </a:rPr>
              <a:t>жагсаалтын төсөлд хүргэж болзошгүй.</a:t>
            </a:r>
            <a:endParaRPr lang="en-US" sz="2200" dirty="0">
              <a:solidFill>
                <a:srgbClr val="002060"/>
              </a:solidFill>
              <a:latin typeface="Times New Roman" panose="02020603050405020304" pitchFamily="18" charset="0"/>
              <a:ea typeface="MS Mincho" charset="-128"/>
              <a:cs typeface="Times New Roman" panose="02020603050405020304" pitchFamily="18" charset="0"/>
            </a:endParaRPr>
          </a:p>
        </p:txBody>
      </p:sp>
    </p:spTree>
    <p:extLst>
      <p:ext uri="{BB962C8B-B14F-4D97-AF65-F5344CB8AC3E}">
        <p14:creationId xmlns:p14="http://schemas.microsoft.com/office/powerpoint/2010/main" val="20611787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09321-D089-0D7B-FEEC-B096445F007D}"/>
              </a:ext>
            </a:extLst>
          </p:cNvPr>
          <p:cNvSpPr>
            <a:spLocks noGrp="1"/>
          </p:cNvSpPr>
          <p:nvPr>
            <p:ph type="title"/>
          </p:nvPr>
        </p:nvSpPr>
        <p:spPr>
          <a:xfrm>
            <a:off x="109728" y="157861"/>
            <a:ext cx="11801856" cy="793115"/>
          </a:xfrm>
        </p:spPr>
        <p:txBody>
          <a:bodyPr>
            <a:noAutofit/>
          </a:bodyPr>
          <a:lstStyle/>
          <a:p>
            <a:r>
              <a:rPr lang="mn-MN" sz="3600" b="1" dirty="0">
                <a:solidFill>
                  <a:srgbClr val="002060"/>
                </a:solidFill>
                <a:latin typeface="Times New Roman" panose="02020603050405020304" pitchFamily="18" charset="0"/>
                <a:cs typeface="Times New Roman" panose="02020603050405020304" pitchFamily="18" charset="0"/>
              </a:rPr>
              <a:t>Тооцооллын арга - </a:t>
            </a:r>
            <a:r>
              <a:rPr lang="en-US" sz="3600" b="1" dirty="0">
                <a:solidFill>
                  <a:srgbClr val="002060"/>
                </a:solidFill>
                <a:latin typeface="Times New Roman" panose="02020603050405020304" pitchFamily="18" charset="0"/>
                <a:cs typeface="Times New Roman" panose="02020603050405020304" pitchFamily="18" charset="0"/>
              </a:rPr>
              <a:t>Estimation Techniques</a:t>
            </a:r>
            <a:br>
              <a:rPr lang="en-US" sz="3600" b="1" dirty="0">
                <a:solidFill>
                  <a:srgbClr val="002060"/>
                </a:solidFill>
                <a:latin typeface="Times New Roman" panose="02020603050405020304" pitchFamily="18" charset="0"/>
                <a:cs typeface="Times New Roman" panose="02020603050405020304" pitchFamily="18" charset="0"/>
              </a:rPr>
            </a:br>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Төслийн удирдлагын аргууд</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BBE593-6C0F-8826-DEEC-B1BB819504B0}"/>
              </a:ext>
            </a:extLst>
          </p:cNvPr>
          <p:cNvSpPr>
            <a:spLocks noGrp="1"/>
          </p:cNvSpPr>
          <p:nvPr>
            <p:ph idx="1"/>
          </p:nvPr>
        </p:nvSpPr>
        <p:spPr>
          <a:xfrm>
            <a:off x="109728" y="1095375"/>
            <a:ext cx="11801856" cy="4667250"/>
          </a:xfrm>
        </p:spPr>
        <p:txBody>
          <a:bodyPr>
            <a:normAutofit/>
          </a:bodyPr>
          <a:lstStyle/>
          <a:p>
            <a:pPr algn="just"/>
            <a:r>
              <a:rPr lang="mn-MN" altLang="en-US" sz="4000" b="1" dirty="0">
                <a:solidFill>
                  <a:srgbClr val="002060"/>
                </a:solidFill>
                <a:latin typeface="Times New Roman" panose="02020603050405020304" pitchFamily="18" charset="0"/>
                <a:cs typeface="Times New Roman" panose="02020603050405020304" pitchFamily="18" charset="0"/>
              </a:rPr>
              <a:t>Доороос дээш харах хандлага </a:t>
            </a:r>
            <a:r>
              <a:rPr lang="en-US" altLang="en-US" sz="4000" b="1" dirty="0">
                <a:solidFill>
                  <a:srgbClr val="002060"/>
                </a:solidFill>
                <a:latin typeface="Times New Roman" panose="02020603050405020304" pitchFamily="18" charset="0"/>
                <a:cs typeface="Times New Roman" panose="02020603050405020304" pitchFamily="18" charset="0"/>
              </a:rPr>
              <a:t>(Bottom</a:t>
            </a:r>
            <a:r>
              <a:rPr lang="mn-MN" altLang="en-US" sz="4000" b="1" dirty="0">
                <a:solidFill>
                  <a:srgbClr val="002060"/>
                </a:solidFill>
                <a:latin typeface="Times New Roman" panose="02020603050405020304" pitchFamily="18" charset="0"/>
                <a:cs typeface="Times New Roman" panose="02020603050405020304" pitchFamily="18" charset="0"/>
              </a:rPr>
              <a:t>-</a:t>
            </a:r>
            <a:r>
              <a:rPr lang="en-US" altLang="en-US" sz="4000" b="1" dirty="0">
                <a:solidFill>
                  <a:srgbClr val="002060"/>
                </a:solidFill>
                <a:latin typeface="Times New Roman" panose="02020603050405020304" pitchFamily="18" charset="0"/>
                <a:cs typeface="Times New Roman" panose="02020603050405020304" pitchFamily="18" charset="0"/>
              </a:rPr>
              <a:t>Up </a:t>
            </a:r>
            <a:r>
              <a:rPr lang="en-US" sz="4000" b="1" dirty="0">
                <a:solidFill>
                  <a:srgbClr val="002060"/>
                </a:solidFill>
                <a:latin typeface="Times New Roman" panose="02020603050405020304" pitchFamily="18" charset="0"/>
                <a:cs typeface="Times New Roman" panose="02020603050405020304" pitchFamily="18" charset="0"/>
              </a:rPr>
              <a:t>Approach</a:t>
            </a:r>
            <a:r>
              <a:rPr lang="en-US" altLang="en-US" sz="4000" b="1" dirty="0">
                <a:solidFill>
                  <a:srgbClr val="002060"/>
                </a:solidFill>
                <a:latin typeface="Times New Roman" panose="02020603050405020304" pitchFamily="18" charset="0"/>
                <a:cs typeface="Times New Roman" panose="02020603050405020304" pitchFamily="18" charset="0"/>
              </a:rPr>
              <a:t>)</a:t>
            </a:r>
            <a:endParaRPr lang="mn-MN" altLang="en-US" sz="4000" b="1" dirty="0">
              <a:solidFill>
                <a:srgbClr val="002060"/>
              </a:solidFill>
              <a:latin typeface="Times New Roman" panose="02020603050405020304" pitchFamily="18" charset="0"/>
              <a:cs typeface="Times New Roman" panose="02020603050405020304" pitchFamily="18" charset="0"/>
            </a:endParaRPr>
          </a:p>
          <a:p>
            <a:pPr lvl="1" algn="just"/>
            <a:r>
              <a:rPr lang="mn-MN" altLang="en-US" sz="3600" dirty="0">
                <a:solidFill>
                  <a:srgbClr val="002060"/>
                </a:solidFill>
                <a:latin typeface="Times New Roman" panose="02020603050405020304" pitchFamily="18" charset="0"/>
                <a:ea typeface="MS Mincho" pitchFamily="49" charset="-128"/>
                <a:cs typeface="Times New Roman" panose="02020603050405020304" pitchFamily="18" charset="0"/>
              </a:rPr>
              <a:t>Төслийн тооцооллын хамгийн түгээмэл хэлбэр</a:t>
            </a:r>
          </a:p>
          <a:p>
            <a:pPr lvl="1" algn="just"/>
            <a:r>
              <a:rPr lang="mn-MN" altLang="en-US" sz="3600" dirty="0">
                <a:solidFill>
                  <a:srgbClr val="002060"/>
                </a:solidFill>
                <a:latin typeface="Times New Roman" panose="02020603050405020304" pitchFamily="18" charset="0"/>
                <a:ea typeface="MS Mincho" pitchFamily="49" charset="-128"/>
                <a:cs typeface="Times New Roman" panose="02020603050405020304" pitchFamily="18" charset="0"/>
              </a:rPr>
              <a:t>Хуваарь ба төсвийг </a:t>
            </a:r>
            <a:r>
              <a:rPr lang="en-US" altLang="en-US" sz="3600" dirty="0">
                <a:solidFill>
                  <a:srgbClr val="002060"/>
                </a:solidFill>
                <a:latin typeface="Times New Roman" panose="02020603050405020304" pitchFamily="18" charset="0"/>
                <a:ea typeface="MS Mincho" pitchFamily="49" charset="-128"/>
                <a:cs typeface="Times New Roman" panose="02020603050405020304" pitchFamily="18" charset="0"/>
              </a:rPr>
              <a:t>WBS-</a:t>
            </a:r>
            <a:r>
              <a:rPr lang="mn-MN" altLang="en-US" sz="3600" dirty="0">
                <a:solidFill>
                  <a:srgbClr val="002060"/>
                </a:solidFill>
                <a:latin typeface="Times New Roman" panose="02020603050405020304" pitchFamily="18" charset="0"/>
                <a:ea typeface="MS Mincho" pitchFamily="49" charset="-128"/>
                <a:cs typeface="Times New Roman" panose="02020603050405020304" pitchFamily="18" charset="0"/>
              </a:rPr>
              <a:t>ээс боловсруулдаг</a:t>
            </a:r>
          </a:p>
          <a:p>
            <a:pPr lvl="1" algn="just"/>
            <a:r>
              <a:rPr lang="mn-MN" altLang="en-US" sz="3600" dirty="0">
                <a:solidFill>
                  <a:srgbClr val="002060"/>
                </a:solidFill>
                <a:latin typeface="Times New Roman" panose="02020603050405020304" pitchFamily="18" charset="0"/>
                <a:ea typeface="MS Mincho" pitchFamily="49" charset="-128"/>
                <a:cs typeface="Times New Roman" panose="02020603050405020304" pitchFamily="18" charset="0"/>
              </a:rPr>
              <a:t>Ажил гүйцэтгэх хүмүүсээс эхэлнэ</a:t>
            </a:r>
          </a:p>
          <a:p>
            <a:pPr lvl="1" algn="just"/>
            <a:r>
              <a:rPr lang="mn-MN" altLang="en-US" sz="3600" dirty="0">
                <a:solidFill>
                  <a:srgbClr val="002060"/>
                </a:solidFill>
                <a:latin typeface="Times New Roman" panose="02020603050405020304" pitchFamily="18" charset="0"/>
                <a:ea typeface="MS Mincho" pitchFamily="49" charset="-128"/>
                <a:cs typeface="Times New Roman" panose="02020603050405020304" pitchFamily="18" charset="0"/>
              </a:rPr>
              <a:t>Хуваарь ба төсөв нь дэлгэрэнгүй үйл ажиллагаа, зардлын нийлбэр байна</a:t>
            </a:r>
            <a:endParaRPr lang="en-US" alt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443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09321-D089-0D7B-FEEC-B096445F007D}"/>
              </a:ext>
            </a:extLst>
          </p:cNvPr>
          <p:cNvSpPr>
            <a:spLocks noGrp="1"/>
          </p:cNvSpPr>
          <p:nvPr>
            <p:ph type="title"/>
          </p:nvPr>
        </p:nvSpPr>
        <p:spPr>
          <a:xfrm>
            <a:off x="109728" y="133477"/>
            <a:ext cx="11789664" cy="890651"/>
          </a:xfrm>
        </p:spPr>
        <p:txBody>
          <a:bodyPr>
            <a:normAutofit fontScale="90000"/>
          </a:bodyPr>
          <a:lstStyle/>
          <a:p>
            <a:pPr>
              <a:spcBef>
                <a:spcPts val="0"/>
              </a:spcBef>
            </a:pPr>
            <a:r>
              <a:rPr lang="mn-MN" sz="3600" b="1" dirty="0">
                <a:solidFill>
                  <a:srgbClr val="002060"/>
                </a:solidFill>
                <a:latin typeface="Times New Roman" panose="02020603050405020304" pitchFamily="18" charset="0"/>
                <a:cs typeface="Times New Roman" panose="02020603050405020304" pitchFamily="18" charset="0"/>
              </a:rPr>
              <a:t>Тооцооллын арга - </a:t>
            </a:r>
            <a:r>
              <a:rPr lang="en-US" sz="3600" b="1" dirty="0">
                <a:solidFill>
                  <a:srgbClr val="002060"/>
                </a:solidFill>
                <a:latin typeface="Times New Roman" panose="02020603050405020304" pitchFamily="18" charset="0"/>
                <a:cs typeface="Times New Roman" panose="02020603050405020304" pitchFamily="18" charset="0"/>
              </a:rPr>
              <a:t>Estimation Techniques</a:t>
            </a:r>
            <a:br>
              <a:rPr lang="en-US" sz="3600" b="1" dirty="0">
                <a:solidFill>
                  <a:srgbClr val="002060"/>
                </a:solidFill>
                <a:latin typeface="Times New Roman" panose="02020603050405020304" pitchFamily="18" charset="0"/>
                <a:cs typeface="Times New Roman" panose="02020603050405020304" pitchFamily="18" charset="0"/>
              </a:rPr>
            </a:br>
            <a:r>
              <a:rPr lang="en-US" sz="3600" b="1" dirty="0">
                <a:solidFill>
                  <a:srgbClr val="002060"/>
                </a:solidFill>
                <a:latin typeface="Times New Roman" panose="02020603050405020304" pitchFamily="18" charset="0"/>
                <a:cs typeface="Times New Roman" panose="02020603050405020304" pitchFamily="18" charset="0"/>
              </a:rPr>
              <a:t>- </a:t>
            </a:r>
            <a:r>
              <a:rPr lang="mn-MN" sz="3600" b="1" dirty="0">
                <a:solidFill>
                  <a:srgbClr val="002060"/>
                </a:solidFill>
                <a:latin typeface="Times New Roman" panose="02020603050405020304" pitchFamily="18" charset="0"/>
                <a:cs typeface="Times New Roman" panose="02020603050405020304" pitchFamily="18" charset="0"/>
              </a:rPr>
              <a:t>Төслийн удирдлагын аргууд</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BBE593-6C0F-8826-DEEC-B1BB819504B0}"/>
              </a:ext>
            </a:extLst>
          </p:cNvPr>
          <p:cNvSpPr>
            <a:spLocks noGrp="1"/>
          </p:cNvSpPr>
          <p:nvPr>
            <p:ph idx="1"/>
          </p:nvPr>
        </p:nvSpPr>
        <p:spPr>
          <a:xfrm>
            <a:off x="109728" y="1203833"/>
            <a:ext cx="11789664" cy="4667250"/>
          </a:xfrm>
        </p:spPr>
        <p:txBody>
          <a:bodyPr>
            <a:normAutofit/>
          </a:bodyPr>
          <a:lstStyle/>
          <a:p>
            <a:pPr algn="just">
              <a:spcBef>
                <a:spcPts val="0"/>
              </a:spcBef>
            </a:pPr>
            <a:r>
              <a:rPr lang="mn-MN" altLang="en-US" sz="3200" b="1" dirty="0">
                <a:solidFill>
                  <a:srgbClr val="002060"/>
                </a:solidFill>
                <a:latin typeface="Times New Roman" panose="02020603050405020304" pitchFamily="18" charset="0"/>
                <a:cs typeface="Times New Roman" panose="02020603050405020304" pitchFamily="18" charset="0"/>
              </a:rPr>
              <a:t>Аналог тооцоолол (Өнгөрсөн туршлага дээр тулгуурласан)</a:t>
            </a:r>
          </a:p>
          <a:p>
            <a:pPr lvl="1" algn="just">
              <a:spcBef>
                <a:spcPts val="0"/>
              </a:spcBef>
            </a:pPr>
            <a:r>
              <a:rPr lang="mn-MN" altLang="en-US" sz="3100" dirty="0">
                <a:solidFill>
                  <a:srgbClr val="002060"/>
                </a:solidFill>
                <a:latin typeface="Times New Roman" panose="02020603050405020304" pitchFamily="18" charset="0"/>
                <a:ea typeface="MS Mincho" pitchFamily="49" charset="-128"/>
                <a:cs typeface="Times New Roman" panose="02020603050405020304" pitchFamily="18" charset="0"/>
              </a:rPr>
              <a:t>Одоогийн төслүүд болон бусад төслүүдийн ижил төстэй байдал дээр үндэслэсэн</a:t>
            </a:r>
          </a:p>
          <a:p>
            <a:pPr lvl="1" algn="just">
              <a:spcBef>
                <a:spcPts val="0"/>
              </a:spcBef>
            </a:pPr>
            <a:r>
              <a:rPr lang="mn-MN" altLang="en-US" sz="3100" dirty="0">
                <a:solidFill>
                  <a:srgbClr val="002060"/>
                </a:solidFill>
                <a:latin typeface="Times New Roman" panose="02020603050405020304" pitchFamily="18" charset="0"/>
                <a:ea typeface="MS Mincho" pitchFamily="49" charset="-128"/>
                <a:cs typeface="Times New Roman" panose="02020603050405020304" pitchFamily="18" charset="0"/>
              </a:rPr>
              <a:t>Өмнөх, ижил төстэй төслүүдийн мэдээллийг тооцооллын үндэс болгон ашигладаг. </a:t>
            </a:r>
          </a:p>
          <a:p>
            <a:pPr algn="just">
              <a:spcBef>
                <a:spcPts val="0"/>
              </a:spcBef>
            </a:pPr>
            <a:r>
              <a:rPr lang="mn-MN" altLang="en-US" sz="3200" b="1" dirty="0">
                <a:solidFill>
                  <a:srgbClr val="002060"/>
                </a:solidFill>
                <a:latin typeface="Times New Roman" panose="02020603050405020304" pitchFamily="18" charset="0"/>
                <a:cs typeface="Times New Roman" panose="02020603050405020304" pitchFamily="18" charset="0"/>
              </a:rPr>
              <a:t>Параметрик загварчлал (Статистик аргачлал)</a:t>
            </a:r>
            <a:endParaRPr lang="en-US" altLang="en-US" sz="3200" b="1" dirty="0">
              <a:solidFill>
                <a:srgbClr val="002060"/>
              </a:solidFill>
              <a:latin typeface="Times New Roman" panose="02020603050405020304" pitchFamily="18" charset="0"/>
              <a:cs typeface="Times New Roman" panose="02020603050405020304" pitchFamily="18" charset="0"/>
            </a:endParaRPr>
          </a:p>
          <a:p>
            <a:pPr marL="669925" lvl="1" indent="-325438" algn="just">
              <a:spcBef>
                <a:spcPts val="0"/>
              </a:spcBef>
            </a:pPr>
            <a:r>
              <a:rPr lang="mn-MN" altLang="en-US" sz="3100" dirty="0">
                <a:solidFill>
                  <a:srgbClr val="002060"/>
                </a:solidFill>
                <a:latin typeface="Times New Roman" panose="02020603050405020304" pitchFamily="18" charset="0"/>
                <a:ea typeface="MS Mincho" pitchFamily="49" charset="-128"/>
                <a:cs typeface="Times New Roman" panose="02020603050405020304" pitchFamily="18" charset="0"/>
              </a:rPr>
              <a:t>Тооцоолохдоо төслийн шинж чанар (параметр) -ийг математик загвар болгон ашигладаг. </a:t>
            </a:r>
            <a:endParaRPr lang="en-US" altLang="en-US" sz="3100" dirty="0">
              <a:solidFill>
                <a:srgbClr val="002060"/>
              </a:solidFill>
              <a:latin typeface="Times New Roman" panose="02020603050405020304" pitchFamily="18" charset="0"/>
              <a:ea typeface="MS Mincho" pitchFamily="49" charset="-128"/>
              <a:cs typeface="Times New Roman" panose="02020603050405020304" pitchFamily="18" charset="0"/>
            </a:endParaRPr>
          </a:p>
          <a:p>
            <a:pPr algn="just">
              <a:spcBef>
                <a:spcPts val="0"/>
              </a:spcBef>
            </a:pPr>
            <a:endParaRPr lang="en-US" altLang="en-US"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380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EB99C4FA-7FF9-AF4B-1EC1-2FF43FDE8BC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43467" y="1520612"/>
            <a:ext cx="10905066" cy="3816774"/>
          </a:xfrm>
          <a:prstGeom prst="rect">
            <a:avLst/>
          </a:prstGeom>
          <a:ln>
            <a:noFill/>
          </a:ln>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42642163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B3E05C0-8585-4873-93DE-20D995269CB2"/>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FFFD12\u001E{5CDD3A6F-82E0-49E5-B476-77BB91554EEC}&quot;,&quot;C:\\Users\\217\\Download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S.EEM101_Lecture14_2023-24.A_ByTs.B_2023.11.27"/>
  <p:tag name="ISPRING_FIRST_PUBLI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5509</TotalTime>
  <Words>2479</Words>
  <Application>Microsoft Office PowerPoint</Application>
  <PresentationFormat>Widescreen</PresentationFormat>
  <Paragraphs>371</Paragraphs>
  <Slides>41</Slides>
  <Notes>41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8" baseType="lpstr">
      <vt:lpstr>Arial</vt:lpstr>
      <vt:lpstr>Calibri</vt:lpstr>
      <vt:lpstr>Calibri Light</vt:lpstr>
      <vt:lpstr>Courier New</vt:lpstr>
      <vt:lpstr>Times New Roman</vt:lpstr>
      <vt:lpstr>Office Theme</vt:lpstr>
      <vt:lpstr>Visio</vt:lpstr>
      <vt:lpstr>ЛЕКЦ №14 Төслийн удирдлага (менежмент) түүний арга хэрэгслүүд</vt:lpstr>
      <vt:lpstr>Хичээлийн суралцахуйн үр дүнгүүд  Оюутан энэ сэдвийг судалснаар дараах ур чадваруудтай болсон байна. </vt:lpstr>
      <vt:lpstr>Хичээлийн агуулга </vt:lpstr>
      <vt:lpstr>Төсөл, үндсэн ойлголт, тодорхойлолтууд</vt:lpstr>
      <vt:lpstr>Төслийн ач холбогдол</vt:lpstr>
      <vt:lpstr>Төслийн ангилал, төрөл</vt:lpstr>
      <vt:lpstr>Төслийн хамрах хүрээ</vt:lpstr>
      <vt:lpstr>Төсөл боловсруулах шаардлага нь бүтээгдэхүүний загвар дизайн, нэр төрлийн өөрчлөлт, хэрэглэгчдийн эрэлт, салбарын хөгжил ба зах зээлийн өсөлт, тулгамдаж байгаа болон тулгарч болзошгүй асуудал бэрхшээлээс үүсч бий болдог.</vt:lpstr>
      <vt:lpstr>Төслийн амьдралын мөчлөг</vt:lpstr>
      <vt:lpstr>Төслийн дараах зорилгуудыг биелүүлсэн бол төслийн удирдлага амжилттай хэрэгжсэн гэж тодорхойлж болно:</vt:lpstr>
      <vt:lpstr>Төслийн мэдлэгийн хүрээ, арга ухаан</vt:lpstr>
      <vt:lpstr>Төслийн удирдлага (төслийн менежмент)</vt:lpstr>
      <vt:lpstr>Төслийн удирдлагад </vt:lpstr>
      <vt:lpstr>Дээрх тодорхойлолт нь нэмэлт тайлбар шаарддаг. Сонгодог менежментийг ихэвчлэн таван чиг үүрэг, зарчимтай гэж үздэг.</vt:lpstr>
      <vt:lpstr>Удирдлагын ур чадвар</vt:lpstr>
      <vt:lpstr>Төслийн хязгаарлалт</vt:lpstr>
      <vt:lpstr>PowerPoint Presentation</vt:lpstr>
      <vt:lpstr>Төслийн хуваарь төлөвлөлт, төлөвлөгөө, хяналт</vt:lpstr>
      <vt:lpstr>Төслийн төлөвлөгөө (Planning) </vt:lpstr>
      <vt:lpstr>Төслийн хуваарь (Scheduling) </vt:lpstr>
      <vt:lpstr>Төлөвлөгөө </vt:lpstr>
      <vt:lpstr>Төлөвлөгөө </vt:lpstr>
      <vt:lpstr>Хуваарь гаргах үе шат</vt:lpstr>
      <vt:lpstr>Сайн хуваарийн системийн 3 хүчин зүйл</vt:lpstr>
      <vt:lpstr>Хуваарь ба төслийн удирдлага</vt:lpstr>
      <vt:lpstr>Ажлын график зураглал (Гантын диаграм)</vt:lpstr>
      <vt:lpstr>Төслийн ажлын графикийг байгуулахаас өмнө тухайн төслийг жижиг, ихэвчлэн нэг төрлийн бүрэлдэхүүн хэсгүүдэд хуваах ба тэдгээрийг тус бүрийг үйл ажиллагаа (Activity) эсвэл даалгавар (Task) гэж нэрлэдэг.</vt:lpstr>
      <vt:lpstr>Гантын диаграмын жишээ</vt:lpstr>
      <vt:lpstr>Ажлын задаргааны бүтэц Work Breakdown Structure (WBS)</vt:lpstr>
      <vt:lpstr>WBS жишээ </vt:lpstr>
      <vt:lpstr>Хүрэх үр дүн ба хяналтын цэг (хугацаа) Deliverables and Milestones </vt:lpstr>
      <vt:lpstr>WBS-ийн хөгжүүлэлт </vt:lpstr>
      <vt:lpstr>WBS-ийн хөгжүүлэлт </vt:lpstr>
      <vt:lpstr>Үүрэг, хариуцлагын матриц</vt:lpstr>
      <vt:lpstr>Тооцооллын арга - Estimation Techniques - Төслийн удирдлагын аргууд</vt:lpstr>
      <vt:lpstr>Тооцооллын арга - Estimation Techniques - Төслийн удирдлагын аргууд</vt:lpstr>
      <vt:lpstr>Тооцооллын арга - Estimation Techniques - Төслийн удирдлагын аргууд</vt:lpstr>
      <vt:lpstr>Тооцооллын арга - Estimation Techniques - Төслийн удирдлагын аргууд</vt:lpstr>
      <vt:lpstr>Тооцооллын арга - Estimation Techniques - Төслийн удирдлагын аргууд</vt:lpstr>
      <vt:lpstr>Тооцооллын арга - Estimation Techniques - Төслийн удирдлагын аргууд</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S.EEM101_Lecture14_2023-24.A_ByTs.B_2023.11.27</dc:title>
  <dc:creator>Oyu Chuluun</dc:creator>
  <cp:lastModifiedBy>Nominjin Tsogtbayar</cp:lastModifiedBy>
  <cp:revision>180</cp:revision>
  <cp:lastPrinted>2023-11-01T06:47:32Z</cp:lastPrinted>
  <dcterms:created xsi:type="dcterms:W3CDTF">2023-09-05T14:21:28Z</dcterms:created>
  <dcterms:modified xsi:type="dcterms:W3CDTF">2025-12-06T07:30:11Z</dcterms:modified>
</cp:coreProperties>
</file>