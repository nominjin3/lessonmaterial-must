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88" r:id="rId2"/>
    <p:sldId id="348" r:id="rId3"/>
    <p:sldId id="257" r:id="rId4"/>
    <p:sldId id="372" r:id="rId5"/>
    <p:sldId id="349" r:id="rId6"/>
    <p:sldId id="350" r:id="rId7"/>
    <p:sldId id="351" r:id="rId8"/>
    <p:sldId id="352" r:id="rId9"/>
    <p:sldId id="353" r:id="rId10"/>
    <p:sldId id="354" r:id="rId11"/>
    <p:sldId id="355"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368" r:id="rId25"/>
    <p:sldId id="369" r:id="rId26"/>
    <p:sldId id="370" r:id="rId27"/>
    <p:sldId id="371" r:id="rId28"/>
    <p:sldId id="286" r:id="rId29"/>
  </p:sldIdLst>
  <p:sldSz cx="12192000" cy="6858000"/>
  <p:notesSz cx="7315200" cy="96012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11" autoAdjust="0"/>
    <p:restoredTop sz="72310" autoAdjust="0"/>
  </p:normalViewPr>
  <p:slideViewPr>
    <p:cSldViewPr snapToGrid="0">
      <p:cViewPr varScale="1">
        <p:scale>
          <a:sx n="80" d="100"/>
          <a:sy n="80" d="100"/>
        </p:scale>
        <p:origin x="1806" y="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C622D43-C65E-428A-89C7-8C19C0C28B05}" type="datetimeFigureOut">
              <a:rPr lang="en-US" smtClean="0"/>
              <a:t>12/15/2024</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EDF642-B262-430D-B430-4F661DAD0EEB}" type="slidenum">
              <a:rPr lang="en-US" smtClean="0"/>
              <a:pPr/>
              <a:t>1</a:t>
            </a:fld>
            <a:endParaRPr lang="en-US"/>
          </a:p>
        </p:txBody>
      </p:sp>
    </p:spTree>
    <p:extLst>
      <p:ext uri="{BB962C8B-B14F-4D97-AF65-F5344CB8AC3E}">
        <p14:creationId xmlns:p14="http://schemas.microsoft.com/office/powerpoint/2010/main" val="1255196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4074469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777861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696441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2473338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3172927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3645370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673203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2669991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887331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3231726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281588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21081010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sz="1200" dirty="0">
                <a:solidFill>
                  <a:srgbClr val="002060"/>
                </a:solidFill>
              </a:rPr>
              <a:t>ОУҮС – Олон улсын үнэлгээний стандарт</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537758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92244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38081430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2599042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1735206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3574618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34711462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2117883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345253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1015687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6347633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68214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789309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4065913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2414566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12/15/2024</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12/15/2024</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83" y="1786737"/>
            <a:ext cx="11180072" cy="2249581"/>
          </a:xfrm>
        </p:spPr>
        <p:txBody>
          <a:bodyPr>
            <a:normAutofit/>
          </a:bodyPr>
          <a:lstStyle/>
          <a:p>
            <a:r>
              <a:rPr lang="mn-MN" altLang="en-US" sz="4400" b="1" dirty="0">
                <a:solidFill>
                  <a:srgbClr val="002060"/>
                </a:solidFill>
                <a:latin typeface="Times New Roman" panose="02020603050405020304" pitchFamily="18" charset="0"/>
                <a:cs typeface="Times New Roman" panose="02020603050405020304" pitchFamily="18" charset="0"/>
              </a:rPr>
              <a:t>ЛЕКЦ №</a:t>
            </a:r>
            <a:r>
              <a:rPr lang="en-US" altLang="en-US" sz="4400" b="1" dirty="0">
                <a:solidFill>
                  <a:srgbClr val="002060"/>
                </a:solidFill>
                <a:latin typeface="Times New Roman" panose="02020603050405020304" pitchFamily="18" charset="0"/>
                <a:cs typeface="Times New Roman" panose="02020603050405020304" pitchFamily="18" charset="0"/>
              </a:rPr>
              <a:t>15</a:t>
            </a:r>
            <a:br>
              <a:rPr lang="en-US" altLang="en-US" sz="4400" dirty="0">
                <a:solidFill>
                  <a:srgbClr val="002060"/>
                </a:solidFill>
                <a:latin typeface="Times New Roman" panose="02020603050405020304" pitchFamily="18" charset="0"/>
                <a:cs typeface="Times New Roman" panose="02020603050405020304" pitchFamily="18" charset="0"/>
              </a:rPr>
            </a:br>
            <a:r>
              <a:rPr lang="mn-MN" b="1" dirty="0">
                <a:solidFill>
                  <a:srgbClr val="002060"/>
                </a:solidFill>
                <a:latin typeface="Times New Roman" panose="02020603050405020304" pitchFamily="18" charset="0"/>
                <a:cs typeface="Times New Roman" panose="02020603050405020304" pitchFamily="18" charset="0"/>
              </a:rPr>
              <a:t>Бизнесийн үнэлгээ</a:t>
            </a:r>
            <a:endParaRPr lang="en-US" sz="4400" dirty="0">
              <a:solidFill>
                <a:schemeClr val="tx2"/>
              </a:solidFill>
              <a:effectLst>
                <a:outerShdw blurRad="63500" dist="38100" dir="5400000" algn="t" rotWithShape="0">
                  <a:prstClr val="black">
                    <a:alpha val="25000"/>
                  </a:prstClr>
                </a:outerShdw>
              </a:effectLst>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751012" y="4210050"/>
            <a:ext cx="8689976" cy="1339541"/>
          </a:xfrm>
        </p:spPr>
        <p:txBody>
          <a:bodyPr vert="horz" lIns="91440" tIns="45720" rIns="91440" bIns="45720" rtlCol="0">
            <a:normAutofit/>
          </a:bodyPr>
          <a:lstStyle/>
          <a:p>
            <a:r>
              <a:rPr lang="en-US"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S.EEM101</a:t>
            </a:r>
            <a:br>
              <a:rPr lang="en-US" altLang="en-US" i="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Инженерийн эдийн засаг</a:t>
            </a:r>
            <a:br>
              <a:rPr lang="mn-MN"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2800" b="1" dirty="0">
              <a:solidFill>
                <a:srgbClr val="00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9CC73B9C-8601-4C97-A368-5C8122BF1745}" type="slidenum">
              <a:rPr lang="en-US" altLang="en-US" smtClean="0">
                <a:solidFill>
                  <a:srgbClr val="5FCBEF"/>
                </a:solidFill>
                <a:latin typeface="Times New Roman" panose="02020603050405020304" pitchFamily="18" charset="0"/>
                <a:cs typeface="Times New Roman" panose="02020603050405020304" pitchFamily="18" charset="0"/>
              </a:rPr>
              <a:pPr>
                <a:defRPr/>
              </a:pPr>
              <a:t>1</a:t>
            </a:fld>
            <a:endParaRPr lang="en-US" altLang="en-US">
              <a:solidFill>
                <a:srgbClr val="5FCBEF"/>
              </a:solidFill>
              <a:latin typeface="Times New Roman" panose="02020603050405020304" pitchFamily="18" charset="0"/>
              <a:cs typeface="Times New Roman" panose="02020603050405020304" pitchFamily="18" charset="0"/>
            </a:endParaRPr>
          </a:p>
        </p:txBody>
      </p:sp>
      <p:pic>
        <p:nvPicPr>
          <p:cNvPr id="5"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r="86166"/>
          <a:stretch>
            <a:fillRect/>
          </a:stretch>
        </p:blipFill>
        <p:spPr bwMode="auto">
          <a:xfrm>
            <a:off x="10173953" y="61544"/>
            <a:ext cx="1444330" cy="213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2"/>
          <p:cNvSpPr txBox="1">
            <a:spLocks/>
          </p:cNvSpPr>
          <p:nvPr/>
        </p:nvSpPr>
        <p:spPr bwMode="auto">
          <a:xfrm>
            <a:off x="524750" y="128634"/>
            <a:ext cx="9649203" cy="146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SzPct val="125000"/>
              <a:buFont typeface="Arial" panose="020B0604020202020204" pitchFamily="34" charset="0"/>
              <a:buChar char="•"/>
              <a:defRPr sz="2400">
                <a:solidFill>
                  <a:schemeClr val="tx1"/>
                </a:solidFill>
                <a:latin typeface="Tw Cen MT" panose="020B0602020104020603" pitchFamily="34" charset="0"/>
              </a:defRPr>
            </a:lvl1pPr>
            <a:lvl2pPr marL="685800" indent="-228600">
              <a:lnSpc>
                <a:spcPct val="120000"/>
              </a:lnSpc>
              <a:spcBef>
                <a:spcPts val="500"/>
              </a:spcBef>
              <a:buSzPct val="125000"/>
              <a:buFont typeface="Arial" panose="020B0604020202020204" pitchFamily="34" charset="0"/>
              <a:buChar char="•"/>
              <a:defRPr sz="2000">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buChar char="•"/>
              <a:defRPr>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9pPr>
          </a:lstStyle>
          <a:p>
            <a:pPr algn="ctr" fontAlgn="base">
              <a:lnSpc>
                <a:spcPct val="100000"/>
              </a:lnSpc>
              <a:spcBef>
                <a:spcPct val="0"/>
              </a:spcBef>
              <a:spcAft>
                <a:spcPct val="0"/>
              </a:spcAft>
              <a:buFont typeface="Arial" panose="020B0604020202020204" pitchFamily="34" charset="0"/>
              <a:buNone/>
            </a:pPr>
            <a:r>
              <a:rPr lang="mn-MN" altLang="en-US" sz="2800" b="1" dirty="0">
                <a:solidFill>
                  <a:srgbClr val="002060"/>
                </a:solidFill>
                <a:latin typeface="Times New Roman" panose="02020603050405020304" pitchFamily="18" charset="0"/>
                <a:cs typeface="Times New Roman" panose="02020603050405020304" pitchFamily="18" charset="0"/>
              </a:rPr>
              <a:t>ШИНЖЛЭХ УХААН</a:t>
            </a:r>
            <a:r>
              <a:rPr lang="en-US" altLang="en-US" sz="2800" b="1" dirty="0">
                <a:solidFill>
                  <a:srgbClr val="002060"/>
                </a:solidFill>
                <a:latin typeface="Times New Roman" panose="02020603050405020304" pitchFamily="18" charset="0"/>
                <a:cs typeface="Times New Roman" panose="02020603050405020304" pitchFamily="18" charset="0"/>
              </a:rPr>
              <a:t>,</a:t>
            </a:r>
            <a:r>
              <a:rPr lang="mn-MN" altLang="en-US" sz="2800" b="1" dirty="0">
                <a:solidFill>
                  <a:srgbClr val="002060"/>
                </a:solidFill>
                <a:latin typeface="Times New Roman" panose="02020603050405020304" pitchFamily="18" charset="0"/>
                <a:cs typeface="Times New Roman" panose="02020603050405020304" pitchFamily="18" charset="0"/>
              </a:rPr>
              <a:t> ТЕХНОЛОГИЙН ИХ СУРГУУЛЬ</a:t>
            </a:r>
          </a:p>
          <a:p>
            <a:pPr algn="ctr" fontAlgn="base">
              <a:lnSpc>
                <a:spcPct val="100000"/>
              </a:lnSpc>
              <a:spcBef>
                <a:spcPct val="0"/>
              </a:spcBef>
              <a:spcAft>
                <a:spcPct val="0"/>
              </a:spcAft>
              <a:buFont typeface="Arial" panose="020B0604020202020204" pitchFamily="34" charset="0"/>
              <a:buNone/>
            </a:pPr>
            <a:r>
              <a:rPr lang="mn-MN" altLang="en-US" sz="2800" b="1" dirty="0">
                <a:solidFill>
                  <a:srgbClr val="002060"/>
                </a:solidFill>
                <a:latin typeface="Times New Roman" panose="02020603050405020304" pitchFamily="18" charset="0"/>
                <a:cs typeface="Times New Roman" panose="02020603050405020304" pitchFamily="18" charset="0"/>
              </a:rPr>
              <a:t>МЭДЭЭЛЭЛ</a:t>
            </a:r>
            <a:r>
              <a:rPr lang="en-US" altLang="en-US" sz="2800" b="1" dirty="0">
                <a:solidFill>
                  <a:srgbClr val="002060"/>
                </a:solidFill>
                <a:latin typeface="Times New Roman" panose="02020603050405020304" pitchFamily="18" charset="0"/>
                <a:cs typeface="Times New Roman" panose="02020603050405020304" pitchFamily="18" charset="0"/>
              </a:rPr>
              <a:t>,</a:t>
            </a:r>
            <a:r>
              <a:rPr lang="mn-MN" altLang="en-US" sz="2800" b="1" dirty="0">
                <a:solidFill>
                  <a:srgbClr val="002060"/>
                </a:solidFill>
                <a:latin typeface="Times New Roman" panose="02020603050405020304" pitchFamily="18" charset="0"/>
                <a:cs typeface="Times New Roman" panose="02020603050405020304" pitchFamily="18" charset="0"/>
              </a:rPr>
              <a:t> ХОЛБООНЫ ТЕХНОЛОГИЙН СУРГУУЛЬ</a:t>
            </a:r>
          </a:p>
        </p:txBody>
      </p:sp>
      <p:sp>
        <p:nvSpPr>
          <p:cNvPr id="8" name="Subtitle 2">
            <a:extLst>
              <a:ext uri="{FF2B5EF4-FFF2-40B4-BE49-F238E27FC236}">
                <a16:creationId xmlns:a16="http://schemas.microsoft.com/office/drawing/2014/main" id="{BF113D12-AC11-4AC5-B21C-E90CB9AA525E}"/>
              </a:ext>
            </a:extLst>
          </p:cNvPr>
          <p:cNvSpPr txBox="1">
            <a:spLocks/>
          </p:cNvSpPr>
          <p:nvPr/>
        </p:nvSpPr>
        <p:spPr>
          <a:xfrm>
            <a:off x="1751012" y="5763201"/>
            <a:ext cx="8689976" cy="625889"/>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r>
              <a:rPr lang="mn-MN" altLang="en-US" sz="2900" cap="none" dirty="0">
                <a:solidFill>
                  <a:srgbClr val="002060"/>
                </a:solidFill>
                <a:latin typeface="Times New Roman" panose="02020603050405020304" pitchFamily="18" charset="0"/>
                <a:cs typeface="Times New Roman" panose="02020603050405020304" pitchFamily="18" charset="0"/>
              </a:rPr>
              <a:t>Холбооны салбарын багш, дэд проф.,</a:t>
            </a:r>
            <a:r>
              <a:rPr lang="en-US" altLang="en-US" sz="2900" cap="none" dirty="0">
                <a:solidFill>
                  <a:srgbClr val="002060"/>
                </a:solidFill>
                <a:latin typeface="Times New Roman" panose="02020603050405020304" pitchFamily="18" charset="0"/>
                <a:cs typeface="Times New Roman" panose="02020603050405020304" pitchFamily="18" charset="0"/>
              </a:rPr>
              <a:t> </a:t>
            </a:r>
            <a:r>
              <a:rPr lang="mn-MN" altLang="en-US" sz="2900" cap="none" dirty="0">
                <a:solidFill>
                  <a:srgbClr val="002060"/>
                </a:solidFill>
                <a:latin typeface="Times New Roman" panose="02020603050405020304" pitchFamily="18" charset="0"/>
                <a:cs typeface="Times New Roman" panose="02020603050405020304" pitchFamily="18" charset="0"/>
              </a:rPr>
              <a:t>Ц.Балжинням</a:t>
            </a:r>
            <a:endParaRPr lang="mn-MN" altLang="en-US" sz="2400" cap="none" dirty="0">
              <a:solidFill>
                <a:srgbClr val="002060"/>
              </a:solidFill>
              <a:latin typeface="Times New Roman" panose="02020603050405020304" pitchFamily="18" charset="0"/>
              <a:cs typeface="Times New Roman" panose="02020603050405020304" pitchFamily="18" charset="0"/>
            </a:endParaRPr>
          </a:p>
          <a:p>
            <a:r>
              <a:rPr lang="mn-MN" altLang="en-US" sz="2400" cap="none" dirty="0">
                <a:solidFill>
                  <a:srgbClr val="002060"/>
                </a:solidFill>
                <a:latin typeface="Times New Roman" panose="02020603050405020304" pitchFamily="18" charset="0"/>
                <a:cs typeface="Times New Roman" panose="02020603050405020304" pitchFamily="18" charset="0"/>
              </a:rPr>
              <a:t>Улаанбаатар</a:t>
            </a:r>
          </a:p>
        </p:txBody>
      </p:sp>
    </p:spTree>
    <p:extLst>
      <p:ext uri="{BB962C8B-B14F-4D97-AF65-F5344CB8AC3E}">
        <p14:creationId xmlns:p14="http://schemas.microsoft.com/office/powerpoint/2010/main" val="3190798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153445" y="103941"/>
            <a:ext cx="11916635" cy="761691"/>
          </a:xfrm>
        </p:spPr>
        <p:txBody>
          <a:bodyPr>
            <a:noAutofit/>
          </a:bodyPr>
          <a:lstStyle/>
          <a:p>
            <a:r>
              <a:rPr lang="mn-MN" sz="3200"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sz="3200" b="1" dirty="0">
                <a:solidFill>
                  <a:srgbClr val="002060"/>
                </a:solidFill>
                <a:latin typeface="Times New Roman" panose="02020603050405020304" pitchFamily="18" charset="0"/>
                <a:cs typeface="Times New Roman" panose="02020603050405020304" pitchFamily="18" charset="0"/>
              </a:rPr>
            </a:br>
            <a:r>
              <a:rPr lang="mn-MN" sz="18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sz="32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extLst>
              <p:ext uri="{D42A27DB-BD31-4B8C-83A1-F6EECF244321}">
                <p14:modId xmlns:p14="http://schemas.microsoft.com/office/powerpoint/2010/main" val="3990695590"/>
              </p:ext>
            </p:extLst>
          </p:nvPr>
        </p:nvGraphicFramePr>
        <p:xfrm>
          <a:off x="153445" y="865632"/>
          <a:ext cx="11806907" cy="4518852"/>
        </p:xfrm>
        <a:graphic>
          <a:graphicData uri="http://schemas.openxmlformats.org/drawingml/2006/table">
            <a:tbl>
              <a:tblPr firstRow="1" bandRow="1">
                <a:tableStyleId>{5C22544A-7EE6-4342-B048-85BDC9FD1C3A}</a:tableStyleId>
              </a:tblPr>
              <a:tblGrid>
                <a:gridCol w="697467">
                  <a:extLst>
                    <a:ext uri="{9D8B030D-6E8A-4147-A177-3AD203B41FA5}">
                      <a16:colId xmlns:a16="http://schemas.microsoft.com/office/drawing/2014/main" val="78146492"/>
                    </a:ext>
                  </a:extLst>
                </a:gridCol>
                <a:gridCol w="5169990">
                  <a:extLst>
                    <a:ext uri="{9D8B030D-6E8A-4147-A177-3AD203B41FA5}">
                      <a16:colId xmlns:a16="http://schemas.microsoft.com/office/drawing/2014/main" val="2993372031"/>
                    </a:ext>
                  </a:extLst>
                </a:gridCol>
                <a:gridCol w="2429775">
                  <a:extLst>
                    <a:ext uri="{9D8B030D-6E8A-4147-A177-3AD203B41FA5}">
                      <a16:colId xmlns:a16="http://schemas.microsoft.com/office/drawing/2014/main" val="3377302877"/>
                    </a:ext>
                  </a:extLst>
                </a:gridCol>
                <a:gridCol w="2177798">
                  <a:extLst>
                    <a:ext uri="{9D8B030D-6E8A-4147-A177-3AD203B41FA5}">
                      <a16:colId xmlns:a16="http://schemas.microsoft.com/office/drawing/2014/main" val="574671118"/>
                    </a:ext>
                  </a:extLst>
                </a:gridCol>
                <a:gridCol w="1331877">
                  <a:extLst>
                    <a:ext uri="{9D8B030D-6E8A-4147-A177-3AD203B41FA5}">
                      <a16:colId xmlns:a16="http://schemas.microsoft.com/office/drawing/2014/main" val="1155244748"/>
                    </a:ext>
                  </a:extLst>
                </a:gridCol>
              </a:tblGrid>
              <a:tr h="963168">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791458">
                <a:tc>
                  <a:txBody>
                    <a:bodyPr/>
                    <a:lstStyle/>
                    <a:p>
                      <a:pPr algn="ctr">
                        <a:lnSpc>
                          <a:spcPct val="115000"/>
                        </a:lnSpc>
                        <a:spcAft>
                          <a:spcPts val="0"/>
                        </a:spcAft>
                      </a:pPr>
                      <a:r>
                        <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Бизнесийн үнэлгээний үндсэн ойлголтуудыг </a:t>
                      </a:r>
                      <a:r>
                        <a:rPr lang="mn-MN" sz="2400" dirty="0">
                          <a:effectLst/>
                          <a:latin typeface="Times New Roman" panose="02020603050405020304" pitchFamily="18" charset="0"/>
                          <a:cs typeface="Times New Roman" panose="02020603050405020304" pitchFamily="18" charset="0"/>
                        </a:rPr>
                        <a:t>тайлбарлах, </a:t>
                      </a:r>
                      <a:r>
                        <a:rPr lang="mn-MN" sz="2400" kern="1200" dirty="0">
                          <a:solidFill>
                            <a:schemeClr val="dk1"/>
                          </a:solidFill>
                          <a:effectLst/>
                          <a:latin typeface="Times New Roman" panose="02020603050405020304" pitchFamily="18" charset="0"/>
                          <a:ea typeface="+mn-ea"/>
                          <a:cs typeface="Times New Roman" panose="02020603050405020304" pitchFamily="18" charset="0"/>
                        </a:rPr>
                        <a:t>ашиглах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1800" dirty="0">
                          <a:effectLst/>
                          <a:latin typeface="Times New Roman" panose="02020603050405020304" pitchFamily="18" charset="0"/>
                          <a:cs typeface="Times New Roman" panose="02020603050405020304" pitchFamily="18" charset="0"/>
                        </a:rPr>
                        <a:t>Тайлбарлах </a:t>
                      </a:r>
                      <a:r>
                        <a:rPr lang="en-US" sz="1800" dirty="0">
                          <a:effectLst/>
                          <a:latin typeface="Times New Roman" panose="02020603050405020304" pitchFamily="18" charset="0"/>
                          <a:cs typeface="Times New Roman" panose="02020603050405020304" pitchFamily="18" charset="0"/>
                        </a:rPr>
                        <a:t>(Explain)</a:t>
                      </a:r>
                      <a:endParaRPr lang="mn-MN" sz="1800" dirty="0">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1800" dirty="0">
                          <a:effectLst/>
                          <a:latin typeface="Times New Roman" panose="02020603050405020304" pitchFamily="18" charset="0"/>
                          <a:ea typeface="Times New Roman" panose="02020603050405020304" pitchFamily="18" charset="0"/>
                          <a:cs typeface="Times New Roman" panose="02020603050405020304" pitchFamily="18" charset="0"/>
                        </a:rPr>
                        <a:t>Хэрэглэх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(Apply)</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r>
                        <a:rPr lang="mn-MN"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a:effectLst/>
                          <a:latin typeface="Times New Roman" panose="02020603050405020304" pitchFamily="18" charset="0"/>
                          <a:cs typeface="Times New Roman" panose="02020603050405020304" pitchFamily="18" charset="0"/>
                        </a:rPr>
                        <a:t>1, 3</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954028067"/>
                  </a:ext>
                </a:extLst>
              </a:tr>
              <a:tr h="683259">
                <a:tc>
                  <a:txBody>
                    <a:bodyPr/>
                    <a:lstStyle/>
                    <a:p>
                      <a:pPr algn="ctr">
                        <a:lnSpc>
                          <a:spcPct val="115000"/>
                        </a:lnSpc>
                        <a:spcAft>
                          <a:spcPts val="0"/>
                        </a:spcAft>
                      </a:pPr>
                      <a:r>
                        <a:rPr lang="mn-MN"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Бизнесийн үнэлгээний үндсэн аргачлалыг </a:t>
                      </a:r>
                      <a:r>
                        <a:rPr lang="mn-MN" sz="2400" dirty="0">
                          <a:effectLst/>
                          <a:latin typeface="Times New Roman" panose="02020603050405020304" pitchFamily="18" charset="0"/>
                          <a:cs typeface="Times New Roman" panose="02020603050405020304" pitchFamily="18" charset="0"/>
                        </a:rPr>
                        <a:t>ойлгох, тайлбарлах</a:t>
                      </a: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1800" dirty="0">
                          <a:effectLst/>
                          <a:latin typeface="Times New Roman" panose="02020603050405020304" pitchFamily="18" charset="0"/>
                          <a:cs typeface="Times New Roman" panose="02020603050405020304" pitchFamily="18" charset="0"/>
                        </a:rPr>
                        <a:t>Тайлбарлах </a:t>
                      </a:r>
                      <a:r>
                        <a:rPr lang="en-US" sz="1800" dirty="0">
                          <a:effectLst/>
                          <a:latin typeface="Times New Roman" panose="02020603050405020304" pitchFamily="18" charset="0"/>
                          <a:cs typeface="Times New Roman" panose="02020603050405020304" pitchFamily="18" charset="0"/>
                        </a:rPr>
                        <a:t>(Explain)</a:t>
                      </a:r>
                      <a:endParaRPr lang="mn-MN" sz="1800" dirty="0">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18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18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115000"/>
                        </a:lnSpc>
                        <a:spcAft>
                          <a:spcPts val="0"/>
                        </a:spcAft>
                      </a:pPr>
                      <a:r>
                        <a:rPr lang="mn-MN" sz="18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cs typeface="Times New Roman" panose="02020603050405020304" pitchFamily="18" charset="0"/>
                        </a:rPr>
                        <a:t>1, 3</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810878109"/>
                  </a:ext>
                </a:extLst>
              </a:tr>
              <a:tr h="813307">
                <a:tc>
                  <a:txBody>
                    <a:bodyPr/>
                    <a:lstStyle/>
                    <a:p>
                      <a:pPr algn="ctr">
                        <a:lnSpc>
                          <a:spcPct val="115000"/>
                        </a:lnSpc>
                        <a:spcAft>
                          <a:spcPts val="0"/>
                        </a:spcAft>
                      </a:pPr>
                      <a:r>
                        <a:rPr lang="mn-MN"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mn-MN" sz="2400" dirty="0">
                          <a:effectLst/>
                          <a:latin typeface="Times New Roman" panose="02020603050405020304" pitchFamily="18" charset="0"/>
                          <a:cs typeface="Times New Roman" panose="02020603050405020304" pitchFamily="18" charset="0"/>
                        </a:rPr>
                        <a:t>Бизнесийн үнэлгээний аргачлалыг төслийн гүйцэтгэл, үнэлгээнд хэрэглэх</a:t>
                      </a: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1800" dirty="0">
                          <a:effectLst/>
                          <a:latin typeface="Times New Roman" panose="02020603050405020304" pitchFamily="18" charset="0"/>
                          <a:cs typeface="Times New Roman" panose="02020603050405020304" pitchFamily="18" charset="0"/>
                        </a:rPr>
                        <a:t>Тайлбарлах </a:t>
                      </a:r>
                      <a:r>
                        <a:rPr lang="en-US" sz="1800" dirty="0">
                          <a:effectLst/>
                          <a:latin typeface="Times New Roman" panose="02020603050405020304" pitchFamily="18" charset="0"/>
                          <a:cs typeface="Times New Roman" panose="02020603050405020304" pitchFamily="18" charset="0"/>
                        </a:rPr>
                        <a:t>(Explain)</a:t>
                      </a:r>
                      <a:endParaRPr lang="mn-MN" sz="1800" dirty="0">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18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18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115000"/>
                        </a:lnSpc>
                        <a:spcAft>
                          <a:spcPts val="0"/>
                        </a:spcAft>
                      </a:pPr>
                      <a:r>
                        <a:rPr lang="mn-MN" sz="18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cs typeface="Times New Roman" panose="02020603050405020304" pitchFamily="18" charset="0"/>
                        </a:rPr>
                        <a:t>1, 3</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656165348"/>
                  </a:ext>
                </a:extLst>
              </a:tr>
              <a:tr h="791458">
                <a:tc>
                  <a:txBody>
                    <a:bodyPr/>
                    <a:lstStyle/>
                    <a:p>
                      <a:pPr algn="ctr">
                        <a:lnSpc>
                          <a:spcPct val="115000"/>
                        </a:lnSpc>
                        <a:spcAft>
                          <a:spcPts val="0"/>
                        </a:spcAft>
                      </a:pPr>
                      <a:r>
                        <a:rPr lang="mn-MN"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Сэдэвтэй холбоотой материалуудыг ашиглах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1800" kern="1200" dirty="0">
                          <a:solidFill>
                            <a:schemeClr val="dk1"/>
                          </a:solidFill>
                          <a:effectLst/>
                          <a:latin typeface="Times New Roman" panose="02020603050405020304" pitchFamily="18" charset="0"/>
                          <a:ea typeface="+mn-ea"/>
                          <a:cs typeface="Times New Roman" panose="02020603050405020304" pitchFamily="18" charset="0"/>
                        </a:rPr>
                        <a:t>Гүйцэтгэх </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(Function)</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188976" y="121286"/>
            <a:ext cx="11814048" cy="875846"/>
          </a:xfrm>
        </p:spPr>
        <p:txBody>
          <a:bodyPr/>
          <a:lstStyle/>
          <a:p>
            <a:pPr algn="just"/>
            <a:r>
              <a:rPr lang="mn-MN" b="1" dirty="0">
                <a:solidFill>
                  <a:srgbClr val="002060"/>
                </a:solidFill>
                <a:latin typeface="Times New Roman" panose="02020603050405020304" pitchFamily="18" charset="0"/>
                <a:cs typeface="Times New Roman" panose="02020603050405020304" pitchFamily="18" charset="0"/>
              </a:rPr>
              <a:t>Хичээлийн агуулга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188976" y="1013461"/>
            <a:ext cx="11814048" cy="5251902"/>
          </a:xfrm>
        </p:spPr>
        <p:txBody>
          <a:bodyPr>
            <a:normAutofit/>
          </a:bodyPr>
          <a:lstStyle/>
          <a:p>
            <a:pPr algn="just"/>
            <a:r>
              <a:rPr lang="mn-MN" sz="3300" dirty="0">
                <a:solidFill>
                  <a:srgbClr val="002060"/>
                </a:solidFill>
                <a:latin typeface="Times New Roman" panose="02020603050405020304" pitchFamily="18" charset="0"/>
                <a:cs typeface="Times New Roman" panose="02020603050405020304" pitchFamily="18" charset="0"/>
              </a:rPr>
              <a:t>Үнэлгээний олон улсын стандартын тодорхойлолтууд </a:t>
            </a:r>
          </a:p>
          <a:p>
            <a:pPr algn="just"/>
            <a:r>
              <a:rPr lang="mn-MN" sz="3300" dirty="0">
                <a:solidFill>
                  <a:srgbClr val="002060"/>
                </a:solidFill>
                <a:latin typeface="Times New Roman" panose="02020603050405020304" pitchFamily="18" charset="0"/>
                <a:cs typeface="Times New Roman" panose="02020603050405020304" pitchFamily="18" charset="0"/>
              </a:rPr>
              <a:t>Бизнесийн үнэлгээ хийхэд тавигдах шаардлага</a:t>
            </a:r>
          </a:p>
          <a:p>
            <a:pPr algn="just"/>
            <a:r>
              <a:rPr lang="mn-MN" sz="3300" dirty="0">
                <a:solidFill>
                  <a:srgbClr val="002060"/>
                </a:solidFill>
                <a:latin typeface="Times New Roman" panose="02020603050405020304" pitchFamily="18" charset="0"/>
                <a:cs typeface="Times New Roman" panose="02020603050405020304" pitchFamily="18" charset="0"/>
              </a:rPr>
              <a:t>Бизнесийг зах зээлийн хандлагаар үнэлэх нь</a:t>
            </a:r>
          </a:p>
          <a:p>
            <a:pPr algn="just"/>
            <a:r>
              <a:rPr lang="mn-MN" sz="3300" dirty="0">
                <a:solidFill>
                  <a:srgbClr val="002060"/>
                </a:solidFill>
                <a:latin typeface="Times New Roman" panose="02020603050405020304" pitchFamily="18" charset="0"/>
                <a:cs typeface="Times New Roman" panose="02020603050405020304" pitchFamily="18" charset="0"/>
              </a:rPr>
              <a:t>Бизнесийг орлогын хандлагаар үнэлэх нь</a:t>
            </a:r>
          </a:p>
          <a:p>
            <a:pPr algn="just"/>
            <a:r>
              <a:rPr lang="mn-MN" sz="3300" dirty="0">
                <a:solidFill>
                  <a:srgbClr val="002060"/>
                </a:solidFill>
                <a:latin typeface="Times New Roman" panose="02020603050405020304" pitchFamily="18" charset="0"/>
                <a:cs typeface="Times New Roman" panose="02020603050405020304" pitchFamily="18" charset="0"/>
              </a:rPr>
              <a:t>Бизнесийг хөрөнгөд суурилсан хандлагаар үнэлэх нь</a:t>
            </a:r>
          </a:p>
        </p:txBody>
      </p:sp>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E849D-6B97-76A3-D0AD-DBCD65FD817B}"/>
              </a:ext>
            </a:extLst>
          </p:cNvPr>
          <p:cNvSpPr>
            <a:spLocks noGrp="1"/>
          </p:cNvSpPr>
          <p:nvPr>
            <p:ph type="title"/>
          </p:nvPr>
        </p:nvSpPr>
        <p:spPr>
          <a:xfrm>
            <a:off x="158496" y="109093"/>
            <a:ext cx="11765280" cy="549275"/>
          </a:xfrm>
        </p:spPr>
        <p:txBody>
          <a:bodyPr>
            <a:normAutofit fontScale="9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Үнэлгээний олон улсын стандартын тодорхойлолтууд </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F89E68-F4E3-7977-D49C-BDCA3043C599}"/>
              </a:ext>
            </a:extLst>
          </p:cNvPr>
          <p:cNvSpPr>
            <a:spLocks noGrp="1"/>
          </p:cNvSpPr>
          <p:nvPr>
            <p:ph idx="1"/>
          </p:nvPr>
        </p:nvSpPr>
        <p:spPr>
          <a:xfrm>
            <a:off x="213360" y="658368"/>
            <a:ext cx="11765280" cy="5596128"/>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Тохирох үнэ цэнийн сууриар тодорхойлогдох үнэ цэнийг тогтооход нэг буюу түүнээс дээш тооны үнэлгээний хандлагуудыг ашигладаг. </a:t>
            </a:r>
          </a:p>
          <a:p>
            <a:pPr algn="just"/>
            <a:r>
              <a:rPr lang="mn-MN" sz="3200" dirty="0">
                <a:solidFill>
                  <a:srgbClr val="002060"/>
                </a:solidFill>
                <a:latin typeface="Times New Roman" panose="02020603050405020304" pitchFamily="18" charset="0"/>
                <a:cs typeface="Times New Roman" panose="02020603050405020304" pitchFamily="18" charset="0"/>
              </a:rPr>
              <a:t>Бизнесийн үнэлгээнд хэрэглэгддэг 3 үндсэн хандлага бол: </a:t>
            </a:r>
          </a:p>
          <a:p>
            <a:pPr lvl="1" algn="just"/>
            <a:r>
              <a:rPr lang="mn-MN" sz="2800" b="1" dirty="0">
                <a:solidFill>
                  <a:srgbClr val="002060"/>
                </a:solidFill>
                <a:latin typeface="Times New Roman" panose="02020603050405020304" pitchFamily="18" charset="0"/>
                <a:cs typeface="Times New Roman" panose="02020603050405020304" pitchFamily="18" charset="0"/>
              </a:rPr>
              <a:t>Өртгийн хандлага </a:t>
            </a:r>
            <a:r>
              <a:rPr lang="mn-MN" sz="2800" dirty="0">
                <a:solidFill>
                  <a:srgbClr val="002060"/>
                </a:solidFill>
                <a:latin typeface="Times New Roman" panose="02020603050405020304" pitchFamily="18" charset="0"/>
                <a:cs typeface="Times New Roman" panose="02020603050405020304" pitchFamily="18" charset="0"/>
              </a:rPr>
              <a:t>– Худалдан авагч тухайн хөрөнгөд түүнтэй ижил төрлийн ашиглалт бүхий хөрөнгийг худалдан авах, барьж босгоход гарах өртгөөс илүүг хэзээ ч төлөхгүй гэсэн эдийн засгийн зарчимд үндэслэн үнэ цэнийг тогтоодог хандлага.</a:t>
            </a:r>
          </a:p>
          <a:p>
            <a:pPr lvl="1" algn="just"/>
            <a:r>
              <a:rPr lang="mn-MN" sz="2800" b="1" dirty="0">
                <a:solidFill>
                  <a:srgbClr val="002060"/>
                </a:solidFill>
                <a:latin typeface="Times New Roman" panose="02020603050405020304" pitchFamily="18" charset="0"/>
                <a:cs typeface="Times New Roman" panose="02020603050405020304" pitchFamily="18" charset="0"/>
              </a:rPr>
              <a:t>Орлогын хандлага </a:t>
            </a:r>
            <a:r>
              <a:rPr lang="mn-MN" sz="2800" dirty="0">
                <a:solidFill>
                  <a:srgbClr val="002060"/>
                </a:solidFill>
                <a:latin typeface="Times New Roman" panose="02020603050405020304" pitchFamily="18" charset="0"/>
                <a:cs typeface="Times New Roman" panose="02020603050405020304" pitchFamily="18" charset="0"/>
              </a:rPr>
              <a:t>– Ирээдүйн мөнгөн урсгалыг өнөөгийн үнэ цэнд хувиргах замаар үнэ цэнийг тогтоодог хандлага.</a:t>
            </a:r>
          </a:p>
          <a:p>
            <a:pPr lvl="1" algn="just"/>
            <a:r>
              <a:rPr lang="mn-MN" sz="2800" b="1" dirty="0">
                <a:solidFill>
                  <a:srgbClr val="002060"/>
                </a:solidFill>
                <a:latin typeface="Times New Roman" panose="02020603050405020304" pitchFamily="18" charset="0"/>
                <a:cs typeface="Times New Roman" panose="02020603050405020304" pitchFamily="18" charset="0"/>
              </a:rPr>
              <a:t>Зах зээлийн хандлага </a:t>
            </a:r>
            <a:r>
              <a:rPr lang="mn-MN" sz="2800" dirty="0">
                <a:solidFill>
                  <a:srgbClr val="002060"/>
                </a:solidFill>
                <a:latin typeface="Times New Roman" panose="02020603050405020304" pitchFamily="18" charset="0"/>
                <a:cs typeface="Times New Roman" panose="02020603050405020304" pitchFamily="18" charset="0"/>
              </a:rPr>
              <a:t>– Тухайн хөрөнгийг үнийн мэдээлэл хангалттай олдох ижил төстэй болон орлуулагч хөрөнгөтэй харьцуулан үнэ цэнийг тогтоодог хандлага.</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669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5659D-CC7D-45E1-DA0B-C9DCE200AD45}"/>
              </a:ext>
            </a:extLst>
          </p:cNvPr>
          <p:cNvSpPr>
            <a:spLocks noGrp="1"/>
          </p:cNvSpPr>
          <p:nvPr>
            <p:ph type="title"/>
          </p:nvPr>
        </p:nvSpPr>
        <p:spPr>
          <a:xfrm>
            <a:off x="181356" y="65151"/>
            <a:ext cx="11829288" cy="665099"/>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Бизнесийн үнэлгээ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8A5100-4403-A58F-BBFF-AE16EC3BF116}"/>
              </a:ext>
            </a:extLst>
          </p:cNvPr>
          <p:cNvSpPr>
            <a:spLocks noGrp="1"/>
          </p:cNvSpPr>
          <p:nvPr>
            <p:ph idx="1"/>
          </p:nvPr>
        </p:nvSpPr>
        <p:spPr>
          <a:xfrm>
            <a:off x="155448" y="762635"/>
            <a:ext cx="11829288" cy="4833493"/>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Сангийн сайд, Санхүүгийн зохицуулах хорооны даргын хамтарсан №274/240 тоот тушаалын хавсралтаар </a:t>
            </a:r>
            <a:r>
              <a:rPr lang="mn-MN" sz="3200" b="1" dirty="0">
                <a:solidFill>
                  <a:srgbClr val="002060"/>
                </a:solidFill>
                <a:latin typeface="Times New Roman" panose="02020603050405020304" pitchFamily="18" charset="0"/>
                <a:cs typeface="Times New Roman" panose="02020603050405020304" pitchFamily="18" charset="0"/>
              </a:rPr>
              <a:t>Бизнесийн үнэлгээ хийх аргачлал</a:t>
            </a:r>
            <a:r>
              <a:rPr lang="mn-MN" sz="3200" dirty="0">
                <a:solidFill>
                  <a:srgbClr val="002060"/>
                </a:solidFill>
                <a:latin typeface="Times New Roman" panose="02020603050405020304" pitchFamily="18" charset="0"/>
                <a:cs typeface="Times New Roman" panose="02020603050405020304" pitchFamily="18" charset="0"/>
              </a:rPr>
              <a:t>ыг тодорхойлсон байдаг. </a:t>
            </a:r>
          </a:p>
          <a:p>
            <a:pPr algn="just"/>
            <a:r>
              <a:rPr lang="mn-MN" sz="3200" dirty="0">
                <a:solidFill>
                  <a:srgbClr val="002060"/>
                </a:solidFill>
                <a:latin typeface="Times New Roman" panose="02020603050405020304" pitchFamily="18" charset="0"/>
                <a:cs typeface="Times New Roman" panose="02020603050405020304" pitchFamily="18" charset="0"/>
              </a:rPr>
              <a:t>Энэ аргачлалын зорилго нь үнэлгээчдийг нэгдсэн аргачлалаар хангах, аргачлалын хэрэгжилтийг хянах, үнэлгээчдийн ажлын хариуцлагыг дээшлүүлэхэд оршдог. </a:t>
            </a:r>
          </a:p>
          <a:p>
            <a:pPr algn="just"/>
            <a:r>
              <a:rPr lang="mn-MN" sz="3200" dirty="0">
                <a:solidFill>
                  <a:srgbClr val="002060"/>
                </a:solidFill>
                <a:latin typeface="Times New Roman" panose="02020603050405020304" pitchFamily="18" charset="0"/>
                <a:cs typeface="Times New Roman" panose="02020603050405020304" pitchFamily="18" charset="0"/>
              </a:rPr>
              <a:t>Бизнесийн үнэлгээ хийхэд Монгол улсын “Хөрөнгийн үнэлгээний тухай” хууль, Олон улсын үнэлгээний стандарт болон бусад холбогдох хууль, стандарт, журмыг удирдлага болгоно. </a:t>
            </a:r>
          </a:p>
          <a:p>
            <a:pPr algn="just"/>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6172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BB2D-619E-E5B5-79D5-81EB80C127F0}"/>
              </a:ext>
            </a:extLst>
          </p:cNvPr>
          <p:cNvSpPr>
            <a:spLocks noGrp="1"/>
          </p:cNvSpPr>
          <p:nvPr>
            <p:ph type="title"/>
          </p:nvPr>
        </p:nvSpPr>
        <p:spPr>
          <a:xfrm>
            <a:off x="179832" y="117634"/>
            <a:ext cx="11756136" cy="577310"/>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Бизнесийн үнэлгээ хийхэд тавигдах шаардлага</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782ACA-3B5D-591C-0AAA-F718487C5A33}"/>
              </a:ext>
            </a:extLst>
          </p:cNvPr>
          <p:cNvSpPr>
            <a:spLocks noGrp="1"/>
          </p:cNvSpPr>
          <p:nvPr>
            <p:ph idx="1"/>
          </p:nvPr>
        </p:nvSpPr>
        <p:spPr>
          <a:xfrm>
            <a:off x="179832" y="792481"/>
            <a:ext cx="11756136" cy="5010912"/>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Бизнесийн үнэлгээг дараах үе шатуудаар хийж гүйцэтгэнэ. </a:t>
            </a:r>
          </a:p>
          <a:p>
            <a:pPr marL="971550" lvl="1" indent="-514350" algn="just">
              <a:buFont typeface="+mj-lt"/>
              <a:buAutoNum type="romanUcPeriod"/>
            </a:pPr>
            <a:r>
              <a:rPr lang="mn-MN" sz="2800" dirty="0">
                <a:solidFill>
                  <a:srgbClr val="002060"/>
                </a:solidFill>
                <a:latin typeface="Times New Roman" panose="02020603050405020304" pitchFamily="18" charset="0"/>
                <a:cs typeface="Times New Roman" panose="02020603050405020304" pitchFamily="18" charset="0"/>
              </a:rPr>
              <a:t>Үнэлгээний ажлын зорилго, хүрээг тодорхойлно. </a:t>
            </a:r>
          </a:p>
          <a:p>
            <a:pPr marL="971550" lvl="1" indent="-514350" algn="just">
              <a:buFont typeface="+mj-lt"/>
              <a:buAutoNum type="romanUcPeriod"/>
            </a:pPr>
            <a:r>
              <a:rPr lang="mn-MN" sz="2800" dirty="0">
                <a:solidFill>
                  <a:srgbClr val="002060"/>
                </a:solidFill>
                <a:latin typeface="Times New Roman" panose="02020603050405020304" pitchFamily="18" charset="0"/>
                <a:cs typeface="Times New Roman" panose="02020603050405020304" pitchFamily="18" charset="0"/>
              </a:rPr>
              <a:t>Аж ахуйн нэгжийн ажил байдалтай заавал биеэр танилцаж, үнэлгээний ажлын төлөвлөгөөг боловсруулна. </a:t>
            </a:r>
          </a:p>
          <a:p>
            <a:pPr marL="971550" lvl="1" indent="-514350" algn="just">
              <a:buFont typeface="+mj-lt"/>
              <a:buAutoNum type="romanUcPeriod"/>
            </a:pPr>
            <a:r>
              <a:rPr lang="mn-MN" sz="2800" dirty="0">
                <a:solidFill>
                  <a:srgbClr val="002060"/>
                </a:solidFill>
                <a:latin typeface="Times New Roman" panose="02020603050405020304" pitchFamily="18" charset="0"/>
                <a:cs typeface="Times New Roman" panose="02020603050405020304" pitchFamily="18" charset="0"/>
              </a:rPr>
              <a:t>Бизнесийн үнэлгээнд шаардлагатай мэдээллийг цуглуулж, судалгаа хийнэ. </a:t>
            </a:r>
          </a:p>
          <a:p>
            <a:pPr marL="971550" lvl="1" indent="-514350" algn="just">
              <a:buFont typeface="+mj-lt"/>
              <a:buAutoNum type="romanUcPeriod"/>
            </a:pPr>
            <a:r>
              <a:rPr lang="mn-MN" sz="2800" dirty="0">
                <a:solidFill>
                  <a:srgbClr val="002060"/>
                </a:solidFill>
                <a:latin typeface="Times New Roman" panose="02020603050405020304" pitchFamily="18" charset="0"/>
                <a:cs typeface="Times New Roman" panose="02020603050405020304" pitchFamily="18" charset="0"/>
              </a:rPr>
              <a:t>Цуглуулсан мэдээлэлдээ бизнесийн болон санхүүгийн шинжилгээ хийнэ. </a:t>
            </a:r>
          </a:p>
          <a:p>
            <a:pPr marL="971550" lvl="1" indent="-514350" algn="just">
              <a:buFont typeface="+mj-lt"/>
              <a:buAutoNum type="romanUcPeriod"/>
            </a:pPr>
            <a:r>
              <a:rPr lang="mn-MN" sz="2800" dirty="0">
                <a:solidFill>
                  <a:srgbClr val="002060"/>
                </a:solidFill>
                <a:latin typeface="Times New Roman" panose="02020603050405020304" pitchFamily="18" charset="0"/>
                <a:cs typeface="Times New Roman" panose="02020603050405020304" pitchFamily="18" charset="0"/>
              </a:rPr>
              <a:t>Бизнесийн үнэлгээнд ашиглагдах хандлага, аргуудыг сонгож, үнэлгээний тооцооллыг хийнэ. </a:t>
            </a:r>
          </a:p>
          <a:p>
            <a:pPr marL="971550" lvl="1" indent="-514350" algn="just">
              <a:buFont typeface="+mj-lt"/>
              <a:buAutoNum type="romanUcPeriod"/>
            </a:pPr>
            <a:r>
              <a:rPr lang="mn-MN" sz="2800" dirty="0">
                <a:solidFill>
                  <a:srgbClr val="002060"/>
                </a:solidFill>
                <a:latin typeface="Times New Roman" panose="02020603050405020304" pitchFamily="18" charset="0"/>
                <a:cs typeface="Times New Roman" panose="02020603050405020304" pitchFamily="18" charset="0"/>
              </a:rPr>
              <a:t>Бизнесийн үнэлгээний үр дүнг нэгтгэж, тайлан бэлтгэх, үйлчлүүлэгчид хүргэх ажлыг хийнэ. </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2731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998B1-7EE8-3C3F-33EF-9AD4496FF700}"/>
              </a:ext>
            </a:extLst>
          </p:cNvPr>
          <p:cNvSpPr>
            <a:spLocks noGrp="1"/>
          </p:cNvSpPr>
          <p:nvPr>
            <p:ph type="title"/>
          </p:nvPr>
        </p:nvSpPr>
        <p:spPr>
          <a:xfrm>
            <a:off x="158496" y="157861"/>
            <a:ext cx="11655552" cy="561467"/>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Бизнесийн үнэлгээ хийхэд тавигдах шаардлага</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59AEA0-3FAF-87E8-8A6F-6BEF23F099E0}"/>
              </a:ext>
            </a:extLst>
          </p:cNvPr>
          <p:cNvSpPr>
            <a:spLocks noGrp="1"/>
          </p:cNvSpPr>
          <p:nvPr>
            <p:ph idx="1"/>
          </p:nvPr>
        </p:nvSpPr>
        <p:spPr>
          <a:xfrm>
            <a:off x="158496" y="751114"/>
            <a:ext cx="11655552" cy="5355771"/>
          </a:xfrm>
        </p:spPr>
        <p:txBody>
          <a:bodyPr>
            <a:normAutofit fontScale="92500" lnSpcReduction="10000"/>
          </a:bodyPr>
          <a:lstStyle/>
          <a:p>
            <a:pPr algn="just"/>
            <a:r>
              <a:rPr lang="mn-MN" sz="3600" dirty="0">
                <a:solidFill>
                  <a:srgbClr val="002060"/>
                </a:solidFill>
                <a:latin typeface="Times New Roman" panose="02020603050405020304" pitchFamily="18" charset="0"/>
                <a:cs typeface="Times New Roman" panose="02020603050405020304" pitchFamily="18" charset="0"/>
              </a:rPr>
              <a:t>Үнэ цэнийг үнэлгээний цаг хугацааны тодорхой үеэр буюу үнэлгээний өдрөөр тооцоолж гаргана.</a:t>
            </a:r>
            <a:endParaRPr lang="en-US" sz="3600" dirty="0">
              <a:solidFill>
                <a:srgbClr val="002060"/>
              </a:solidFill>
              <a:latin typeface="Times New Roman" panose="02020603050405020304" pitchFamily="18" charset="0"/>
              <a:cs typeface="Times New Roman" panose="02020603050405020304" pitchFamily="18" charset="0"/>
            </a:endParaRPr>
          </a:p>
          <a:p>
            <a:pPr algn="just"/>
            <a:r>
              <a:rPr lang="mn-MN" sz="3600" dirty="0">
                <a:solidFill>
                  <a:srgbClr val="002060"/>
                </a:solidFill>
                <a:latin typeface="Times New Roman" panose="02020603050405020304" pitchFamily="18" charset="0"/>
                <a:cs typeface="Times New Roman" panose="02020603050405020304" pitchFamily="18" charset="0"/>
              </a:rPr>
              <a:t>Бизнесийн үнэлгээг дараах үндсэн хоёр төсөөлөлд үндэслэн хийнэ.</a:t>
            </a:r>
          </a:p>
          <a:p>
            <a:pPr lvl="1" algn="just"/>
            <a:r>
              <a:rPr lang="mn-MN" sz="3200" b="1" dirty="0">
                <a:solidFill>
                  <a:srgbClr val="002060"/>
                </a:solidFill>
                <a:latin typeface="Times New Roman" panose="02020603050405020304" pitchFamily="18" charset="0"/>
                <a:cs typeface="Times New Roman" panose="02020603050405020304" pitchFamily="18" charset="0"/>
              </a:rPr>
              <a:t>Тасралтгүй байх төсөөлөл </a:t>
            </a:r>
            <a:r>
              <a:rPr lang="mn-MN" sz="3200" dirty="0">
                <a:solidFill>
                  <a:srgbClr val="002060"/>
                </a:solidFill>
                <a:latin typeface="Times New Roman" panose="02020603050405020304" pitchFamily="18" charset="0"/>
                <a:cs typeface="Times New Roman" panose="02020603050405020304" pitchFamily="18" charset="0"/>
              </a:rPr>
              <a:t>– тухайн аж ахуйн нэгж оршин байгаа, бизнесийн үйл ажиллагаа нь үргэлжилнэ, цаашид татан буугдах, үйл ажиллагааны хамрах хүрээгээ багасгах шаардлага байхгүй гэж үзнэ. Энэ таамаглал нь бизнесийн үнэ цэнийг татан буугдах үнэ цэнээс дээгүүр үнэлж зах зээлийн үнэ цэнийг тодорхойлохыг зөвшөөрдөг.</a:t>
            </a:r>
          </a:p>
          <a:p>
            <a:pPr lvl="1" algn="just"/>
            <a:r>
              <a:rPr lang="mn-MN" sz="3200" b="1" dirty="0">
                <a:solidFill>
                  <a:srgbClr val="002060"/>
                </a:solidFill>
                <a:latin typeface="Times New Roman" panose="02020603050405020304" pitchFamily="18" charset="0"/>
                <a:cs typeface="Times New Roman" panose="02020603050405020304" pitchFamily="18" charset="0"/>
              </a:rPr>
              <a:t>Татан буугдах төсөөлөл</a:t>
            </a:r>
            <a:r>
              <a:rPr lang="mn-MN" sz="3200" dirty="0">
                <a:solidFill>
                  <a:srgbClr val="002060"/>
                </a:solidFill>
                <a:latin typeface="Times New Roman" panose="02020603050405020304" pitchFamily="18" charset="0"/>
                <a:cs typeface="Times New Roman" panose="02020603050405020304" pitchFamily="18" charset="0"/>
              </a:rPr>
              <a:t> – аж ахуй нэгж, бизнес нь үйл ажиллагаагаа зогсоох тухай ойлголт бөгөөд бизнесийн үнэ цэнэ нь тасралтгүй байх төсөөллөөр хийгдсэн үнэ цэнээс бага байна.</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5519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2CFBE-648D-E74F-92D6-92F04FF29541}"/>
              </a:ext>
            </a:extLst>
          </p:cNvPr>
          <p:cNvSpPr>
            <a:spLocks noGrp="1"/>
          </p:cNvSpPr>
          <p:nvPr>
            <p:ph type="title"/>
          </p:nvPr>
        </p:nvSpPr>
        <p:spPr>
          <a:xfrm>
            <a:off x="355147" y="116931"/>
            <a:ext cx="10998653" cy="541437"/>
          </a:xfrm>
        </p:spPr>
        <p:txBody>
          <a:bodyPr>
            <a:normAutofit fontScale="9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Бизнесийн үнэлгээ хийхэд тавигдах шаардлага</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ABC3A1-8C73-8BF6-D1B1-84E215A2CBBD}"/>
              </a:ext>
            </a:extLst>
          </p:cNvPr>
          <p:cNvSpPr>
            <a:spLocks noGrp="1"/>
          </p:cNvSpPr>
          <p:nvPr>
            <p:ph idx="1"/>
          </p:nvPr>
        </p:nvSpPr>
        <p:spPr>
          <a:xfrm>
            <a:off x="219456" y="595992"/>
            <a:ext cx="11544245" cy="5666015"/>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Бизнесийн үнэлгээ хийхэд үнэлгээчний анхаарч үзэх хүчин зүйлс:</a:t>
            </a:r>
          </a:p>
          <a:p>
            <a:pPr lvl="1" algn="just"/>
            <a:r>
              <a:rPr lang="mn-MN" dirty="0">
                <a:solidFill>
                  <a:srgbClr val="002060"/>
                </a:solidFill>
                <a:latin typeface="Times New Roman" panose="02020603050405020304" pitchFamily="18" charset="0"/>
                <a:cs typeface="Times New Roman" panose="02020603050405020304" pitchFamily="18" charset="0"/>
              </a:rPr>
              <a:t>Аж ахуй нэгж, компаний өмчлөлийн хувь оролцоог даган үүсэх эрх, давуу эрх болон бусад нөхцөлүүдийг судлана;</a:t>
            </a:r>
          </a:p>
          <a:p>
            <a:pPr lvl="1" algn="just"/>
            <a:r>
              <a:rPr lang="mn-MN" dirty="0">
                <a:solidFill>
                  <a:srgbClr val="002060"/>
                </a:solidFill>
                <a:latin typeface="Times New Roman" panose="02020603050405020304" pitchFamily="18" charset="0"/>
                <a:cs typeface="Times New Roman" panose="02020603050405020304" pitchFamily="18" charset="0"/>
              </a:rPr>
              <a:t>Тухайн бизнесийн мөн чанар, бизнесийн түүх;</a:t>
            </a:r>
          </a:p>
          <a:p>
            <a:pPr lvl="1" algn="just"/>
            <a:r>
              <a:rPr lang="mn-MN" dirty="0">
                <a:solidFill>
                  <a:srgbClr val="002060"/>
                </a:solidFill>
                <a:latin typeface="Times New Roman" panose="02020603050405020304" pitchFamily="18" charset="0"/>
                <a:cs typeface="Times New Roman" panose="02020603050405020304" pitchFamily="18" charset="0"/>
              </a:rPr>
              <a:t>Бизнест нөлөө үзүүлж болохуйц эдийн засгийн хэтийн төлөв байдал.</a:t>
            </a:r>
          </a:p>
          <a:p>
            <a:pPr lvl="1" algn="just"/>
            <a:r>
              <a:rPr lang="mn-MN" dirty="0">
                <a:solidFill>
                  <a:srgbClr val="002060"/>
                </a:solidFill>
                <a:latin typeface="Times New Roman" panose="02020603050405020304" pitchFamily="18" charset="0"/>
                <a:cs typeface="Times New Roman" panose="02020603050405020304" pitchFamily="18" charset="0"/>
              </a:rPr>
              <a:t>Бизнест нөлөө үзүүлж болохуйц тодорхой салбарын нөхцөл байдал, хэтийн төлөв</a:t>
            </a:r>
          </a:p>
          <a:p>
            <a:pPr lvl="1" algn="just"/>
            <a:r>
              <a:rPr lang="mn-MN" dirty="0">
                <a:solidFill>
                  <a:srgbClr val="002060"/>
                </a:solidFill>
                <a:latin typeface="Times New Roman" panose="02020603050405020304" pitchFamily="18" charset="0"/>
                <a:cs typeface="Times New Roman" panose="02020603050405020304" pitchFamily="18" charset="0"/>
              </a:rPr>
              <a:t>Бизнесийн байгууллагын хөрөнгө түүний эх үүсвэр, санхүүгийн байдал</a:t>
            </a:r>
          </a:p>
          <a:p>
            <a:pPr lvl="1" algn="just"/>
            <a:r>
              <a:rPr lang="mn-MN" dirty="0">
                <a:solidFill>
                  <a:srgbClr val="002060"/>
                </a:solidFill>
                <a:latin typeface="Times New Roman" panose="02020603050405020304" pitchFamily="18" charset="0"/>
                <a:cs typeface="Times New Roman" panose="02020603050405020304" pitchFamily="18" charset="0"/>
              </a:rPr>
              <a:t>Санхүүгийн тайлан нь аудит хийгдсэн, баталгаажсан эсэх</a:t>
            </a:r>
          </a:p>
          <a:p>
            <a:pPr lvl="1" algn="just"/>
            <a:r>
              <a:rPr lang="mn-MN" dirty="0">
                <a:solidFill>
                  <a:srgbClr val="002060"/>
                </a:solidFill>
                <a:latin typeface="Times New Roman" panose="02020603050405020304" pitchFamily="18" charset="0"/>
                <a:cs typeface="Times New Roman" panose="02020603050405020304" pitchFamily="18" charset="0"/>
              </a:rPr>
              <a:t>Бизнесийн ашиг олох чадвар, ноогдол ашиг төлөх чадвар бий эсэх</a:t>
            </a:r>
          </a:p>
          <a:p>
            <a:pPr lvl="1" algn="just"/>
            <a:r>
              <a:rPr lang="mn-MN" dirty="0">
                <a:solidFill>
                  <a:srgbClr val="002060"/>
                </a:solidFill>
                <a:latin typeface="Times New Roman" panose="02020603050405020304" pitchFamily="18" charset="0"/>
                <a:cs typeface="Times New Roman" panose="02020603050405020304" pitchFamily="18" charset="0"/>
              </a:rPr>
              <a:t>Бизнес нь биет бус үнэ цэнэтэй эсэх</a:t>
            </a:r>
          </a:p>
          <a:p>
            <a:pPr lvl="1" algn="just"/>
            <a:r>
              <a:rPr lang="mn-MN" dirty="0">
                <a:solidFill>
                  <a:srgbClr val="002060"/>
                </a:solidFill>
                <a:latin typeface="Times New Roman" panose="02020603050405020304" pitchFamily="18" charset="0"/>
                <a:cs typeface="Times New Roman" panose="02020603050405020304" pitchFamily="18" charset="0"/>
              </a:rPr>
              <a:t>Үнэлэгдэх өмчлөлийн эрхийн хувь хэмжээ нь хяналтын эсвэл хяналтын бус багц эсэх</a:t>
            </a:r>
          </a:p>
          <a:p>
            <a:pPr lvl="1" algn="just"/>
            <a:r>
              <a:rPr lang="mn-MN" dirty="0">
                <a:solidFill>
                  <a:srgbClr val="002060"/>
                </a:solidFill>
                <a:latin typeface="Times New Roman" panose="02020603050405020304" pitchFamily="18" charset="0"/>
                <a:cs typeface="Times New Roman" panose="02020603050405020304" pitchFamily="18" charset="0"/>
              </a:rPr>
              <a:t>Нийтэд зориулан худалдаалагдаж буй хувьцааны зах зээлийн үнэ цэнийн талаарх мэдээлэл, бизнес төлөвлөгөө, хөрөнгө оруулалтын төсөл, өгөөжийн түвшин</a:t>
            </a:r>
          </a:p>
          <a:p>
            <a:pPr lvl="1" algn="just"/>
            <a:r>
              <a:rPr lang="mn-MN" dirty="0">
                <a:solidFill>
                  <a:srgbClr val="002060"/>
                </a:solidFill>
                <a:latin typeface="Times New Roman" panose="02020603050405020304" pitchFamily="18" charset="0"/>
                <a:cs typeface="Times New Roman" panose="02020603050405020304" pitchFamily="18" charset="0"/>
              </a:rPr>
              <a:t>Үнэлгээчин шаардлагатай гэж үзсэн бусад мэдээллүүд</a:t>
            </a:r>
          </a:p>
          <a:p>
            <a:pPr algn="just"/>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2682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B7D8-D12F-73DD-14CD-0C402E3FA935}"/>
              </a:ext>
            </a:extLst>
          </p:cNvPr>
          <p:cNvSpPr>
            <a:spLocks noGrp="1"/>
          </p:cNvSpPr>
          <p:nvPr>
            <p:ph type="title"/>
          </p:nvPr>
        </p:nvSpPr>
        <p:spPr>
          <a:xfrm>
            <a:off x="121920" y="109093"/>
            <a:ext cx="11525044" cy="549275"/>
          </a:xfrm>
        </p:spPr>
        <p:txBody>
          <a:bodyPr>
            <a:normAutofit fontScale="9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Бизнесийн үнэлгээ хийхэд тавигдах шаардлага</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B6EC35-A01B-6790-69D3-0D8989608184}"/>
              </a:ext>
            </a:extLst>
          </p:cNvPr>
          <p:cNvSpPr>
            <a:spLocks noGrp="1"/>
          </p:cNvSpPr>
          <p:nvPr>
            <p:ph idx="1"/>
          </p:nvPr>
        </p:nvSpPr>
        <p:spPr>
          <a:xfrm>
            <a:off x="121920" y="658368"/>
            <a:ext cx="11692128" cy="4803775"/>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Бизнесийн үнэлгээнд санхүүгийн тайлан хэрэглэх нь</a:t>
            </a:r>
          </a:p>
          <a:p>
            <a:pPr lvl="1" algn="just"/>
            <a:r>
              <a:rPr lang="mn-MN" sz="3200" dirty="0">
                <a:solidFill>
                  <a:srgbClr val="002060"/>
                </a:solidFill>
                <a:latin typeface="Times New Roman" panose="02020603050405020304" pitchFamily="18" charset="0"/>
                <a:cs typeface="Times New Roman" panose="02020603050405020304" pitchFamily="18" charset="0"/>
              </a:rPr>
              <a:t>Бизнесийн үйл ажиллагааны үр дүнгийн талаарх мөнгөн урсгалыг шинжлэхдээ үнэлгээ хийж буй үеэс өмнөх 3 жил, хойш 5 жилийн санхүүгийи тайлангийн мэдээллийг ашиглана.</a:t>
            </a:r>
          </a:p>
          <a:p>
            <a:pPr lvl="1" algn="just"/>
            <a:r>
              <a:rPr lang="mn-MN" sz="3200" dirty="0">
                <a:solidFill>
                  <a:srgbClr val="002060"/>
                </a:solidFill>
                <a:latin typeface="Times New Roman" panose="02020603050405020304" pitchFamily="18" charset="0"/>
                <a:cs typeface="Times New Roman" panose="02020603050405020304" pitchFamily="18" charset="0"/>
              </a:rPr>
              <a:t>Шаардлагатай бол санхүүгийн тайланд тохируулга хийж болно. Тохируулга хийсэн бол үндэслэлийг тайлбарласан байна.</a:t>
            </a:r>
          </a:p>
          <a:p>
            <a:pPr algn="just"/>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902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B7D8-D12F-73DD-14CD-0C402E3FA935}"/>
              </a:ext>
            </a:extLst>
          </p:cNvPr>
          <p:cNvSpPr>
            <a:spLocks noGrp="1"/>
          </p:cNvSpPr>
          <p:nvPr>
            <p:ph type="title"/>
          </p:nvPr>
        </p:nvSpPr>
        <p:spPr>
          <a:xfrm>
            <a:off x="231648" y="170053"/>
            <a:ext cx="11679936" cy="537083"/>
          </a:xfrm>
        </p:spPr>
        <p:txBody>
          <a:bodyPr>
            <a:normAutofit fontScale="90000"/>
          </a:bodyPr>
          <a:lstStyle/>
          <a:p>
            <a:pPr algn="just"/>
            <a:r>
              <a:rPr lang="mn-MN" sz="4000" b="1" dirty="0">
                <a:solidFill>
                  <a:srgbClr val="002060"/>
                </a:solidFill>
                <a:latin typeface="Times New Roman" panose="02020603050405020304" pitchFamily="18" charset="0"/>
                <a:cs typeface="Times New Roman" panose="02020603050405020304" pitchFamily="18" charset="0"/>
              </a:rPr>
              <a:t>Бизнесийн үнэлгээ хийхэд тавигдах шаардлага</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B6EC35-A01B-6790-69D3-0D8989608184}"/>
              </a:ext>
            </a:extLst>
          </p:cNvPr>
          <p:cNvSpPr>
            <a:spLocks noGrp="1"/>
          </p:cNvSpPr>
          <p:nvPr>
            <p:ph idx="1"/>
          </p:nvPr>
        </p:nvSpPr>
        <p:spPr>
          <a:xfrm>
            <a:off x="256032" y="719328"/>
            <a:ext cx="11679936" cy="4803775"/>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Зарим үнэлгээнд зайлшгүй харгалзан үзсэн байх зүйлс</a:t>
            </a:r>
          </a:p>
          <a:p>
            <a:pPr lvl="1" algn="just"/>
            <a:r>
              <a:rPr lang="mn-MN" sz="2800" dirty="0">
                <a:solidFill>
                  <a:srgbClr val="002060"/>
                </a:solidFill>
                <a:latin typeface="Times New Roman" panose="02020603050405020304" pitchFamily="18" charset="0"/>
                <a:cs typeface="Times New Roman" panose="02020603050405020304" pitchFamily="18" charset="0"/>
              </a:rPr>
              <a:t>Ашигт малтмалын тухай хуулийн 5.6-д заасан шаардлагын дагуу хувьцаагаа нийтэд санал болгон худалдах үед бизнесийн үнэлгээ хийхдээ орд газрын нөөцийг бүртгэх тухай “Эрдэс баялагийн мэргэжлийн зөвлөл”-ийн дүгнэлт, түүний үндэслэл болсон хайгуул судалгааны ажлын тайлангууд, бодит нөөцөд үндэслэсэн техник эдийн засгийн үндэслэлд тулгуурласан байна.</a:t>
            </a:r>
          </a:p>
          <a:p>
            <a:pPr lvl="1" algn="just"/>
            <a:r>
              <a:rPr lang="mn-MN" sz="2800" dirty="0">
                <a:solidFill>
                  <a:srgbClr val="002060"/>
                </a:solidFill>
                <a:latin typeface="Times New Roman" panose="02020603050405020304" pitchFamily="18" charset="0"/>
                <a:cs typeface="Times New Roman" panose="02020603050405020304" pitchFamily="18" charset="0"/>
              </a:rPr>
              <a:t>Гадаадын хөрөнгө оруулалттай олборлох үйлдвэрийн үнэлгээг уг төрлийн үнэлгээгээр мэргэшсэн үнэлгээний үндэсний багаар хийлгэнэ. Олон улсын нэр хүнд бүхий багаар хийлгэх шаардлага гарвал үндэсний багийг оролцуулна. Үндэсний баг гэдэгт Монголын хөрөнгийн үнэлгээний мэргэжлийн байгууллагаас хүлээн зөвшөөрч, санал болгосон мэргэшсэн үнэлгээчдийг ойлгоно.</a:t>
            </a:r>
          </a:p>
          <a:p>
            <a:pPr algn="just"/>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664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B7D8-D12F-73DD-14CD-0C402E3FA935}"/>
              </a:ext>
            </a:extLst>
          </p:cNvPr>
          <p:cNvSpPr>
            <a:spLocks noGrp="1"/>
          </p:cNvSpPr>
          <p:nvPr>
            <p:ph type="title"/>
          </p:nvPr>
        </p:nvSpPr>
        <p:spPr>
          <a:xfrm>
            <a:off x="243840" y="133477"/>
            <a:ext cx="11679936" cy="451739"/>
          </a:xfrm>
        </p:spPr>
        <p:txBody>
          <a:bodyPr>
            <a:normAutofit fontScale="90000"/>
          </a:bodyPr>
          <a:lstStyle/>
          <a:p>
            <a:pPr algn="just"/>
            <a:r>
              <a:rPr lang="mn-MN" sz="4000" b="1" dirty="0">
                <a:solidFill>
                  <a:srgbClr val="002060"/>
                </a:solidFill>
                <a:latin typeface="Times New Roman" panose="02020603050405020304" pitchFamily="18" charset="0"/>
                <a:cs typeface="Times New Roman" panose="02020603050405020304" pitchFamily="18" charset="0"/>
              </a:rPr>
              <a:t>Бизнесийн үнэлгээ хийхэд тавигдах шаардлага</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B6EC35-A01B-6790-69D3-0D8989608184}"/>
              </a:ext>
            </a:extLst>
          </p:cNvPr>
          <p:cNvSpPr>
            <a:spLocks noGrp="1"/>
          </p:cNvSpPr>
          <p:nvPr>
            <p:ph idx="1"/>
          </p:nvPr>
        </p:nvSpPr>
        <p:spPr>
          <a:xfrm>
            <a:off x="243840" y="691768"/>
            <a:ext cx="11679936" cy="4803775"/>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Зарим үнэлгээнд зайлшгүй харгалзан үзсэн байх зүйлс</a:t>
            </a:r>
          </a:p>
          <a:p>
            <a:pPr lvl="1" algn="just"/>
            <a:r>
              <a:rPr lang="mn-MN" sz="2800" dirty="0">
                <a:solidFill>
                  <a:srgbClr val="002060"/>
                </a:solidFill>
                <a:latin typeface="Times New Roman" panose="02020603050405020304" pitchFamily="18" charset="0"/>
                <a:cs typeface="Times New Roman" panose="02020603050405020304" pitchFamily="18" charset="0"/>
              </a:rPr>
              <a:t>Тодорхой төсөл хэрэгжүүлэхээр үнэт цаас гаргаж байгаа бол төсөл, түүний техник эдийн засгийн үндэслэл, үр ашгийг тооцоо, төслийг хэрэгжүүлэх бодит нөхцөлийг хангасан тухай танилцуулга, тусгай зөвшөөрөл шаардагдах үйл ажиллагаа эрхлэх бол тусгай зөвшөөрөл, газрын зөвшөөрөл, байгаль орчинд нөлөөлөх байдлын нарийвчилсан үнэлгээ, уг үнэлгээний талаарх холбогдох терийн байгууллагын дүгнэлтийг заавал авч үзсэн байна.</a:t>
            </a:r>
          </a:p>
          <a:p>
            <a:pPr lvl="1" algn="just"/>
            <a:r>
              <a:rPr lang="mn-MN" sz="2800" dirty="0">
                <a:solidFill>
                  <a:srgbClr val="002060"/>
                </a:solidFill>
                <a:latin typeface="Times New Roman" panose="02020603050405020304" pitchFamily="18" charset="0"/>
                <a:cs typeface="Times New Roman" panose="02020603050405020304" pitchFamily="18" charset="0"/>
              </a:rPr>
              <a:t>Үнэт цаасыг хаалттай хүрээнд санал болгон гаргах үед төлбөрийг эд хөрөнгө болон эд хөрөнгийн эрхийн хэлбэрээр хийхийг зөвшөөрсөн бол төлбөрт хүлээн авч буй хөрөнгийн жагсаалт, эдгээр хөрөнгө нь компанид ямар шалтгаанаар зайлшгүй хэрэгтэй болох тухай тайлбар, танилцуулгыг судлан үзнэ.</a:t>
            </a:r>
          </a:p>
          <a:p>
            <a:pPr algn="just"/>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73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B7D8-D12F-73DD-14CD-0C402E3FA935}"/>
              </a:ext>
            </a:extLst>
          </p:cNvPr>
          <p:cNvSpPr>
            <a:spLocks noGrp="1"/>
          </p:cNvSpPr>
          <p:nvPr>
            <p:ph type="title"/>
          </p:nvPr>
        </p:nvSpPr>
        <p:spPr>
          <a:xfrm>
            <a:off x="219456" y="170053"/>
            <a:ext cx="11655552" cy="610235"/>
          </a:xfrm>
        </p:spPr>
        <p:txBody>
          <a:bodyPr>
            <a:norm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Олон улсын үнэлгээний стандартаас гажих нөхцөлүүд</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B6EC35-A01B-6790-69D3-0D8989608184}"/>
              </a:ext>
            </a:extLst>
          </p:cNvPr>
          <p:cNvSpPr>
            <a:spLocks noGrp="1"/>
          </p:cNvSpPr>
          <p:nvPr>
            <p:ph idx="1"/>
          </p:nvPr>
        </p:nvSpPr>
        <p:spPr>
          <a:xfrm>
            <a:off x="219456" y="780288"/>
            <a:ext cx="11655552" cy="4803775"/>
          </a:xfrm>
        </p:spPr>
        <p:txBody>
          <a:bodyPr>
            <a:normAutofit fontScale="92500" lnSpcReduction="20000"/>
          </a:bodyPr>
          <a:lstStyle/>
          <a:p>
            <a:pPr algn="just"/>
            <a:r>
              <a:rPr lang="mn-MN" sz="3200" dirty="0">
                <a:solidFill>
                  <a:srgbClr val="002060"/>
                </a:solidFill>
                <a:latin typeface="Times New Roman" panose="02020603050405020304" pitchFamily="18" charset="0"/>
                <a:cs typeface="Times New Roman" panose="02020603050405020304" pitchFamily="18" charset="0"/>
              </a:rPr>
              <a:t>Бизнесийн үнэлгээ хийхдээ хяналттайн нэмэгдүүлэг, хяналтгүйн болон хөрвөх чадваргүйн хорогдуулгыг тооцно. Нэмэгдүүлэг, хорогдуулгын хувийг эрх бүхий мэргэжлийн байгууллагаас шинжлэн тогтоосон хязгаар дотор сонгоно.</a:t>
            </a:r>
          </a:p>
          <a:p>
            <a:pPr algn="just"/>
            <a:r>
              <a:rPr lang="mn-MN" sz="3200" dirty="0">
                <a:solidFill>
                  <a:srgbClr val="002060"/>
                </a:solidFill>
                <a:latin typeface="Times New Roman" panose="02020603050405020304" pitchFamily="18" charset="0"/>
                <a:cs typeface="Times New Roman" panose="02020603050405020304" pitchFamily="18" charset="0"/>
              </a:rPr>
              <a:t>Нийтэд худалдагдаж байгаа хувьцааны зах зээлийн үнийг тогтоохдоо үнэлгээний огнооноос омнөх 6 сард тухайн үнэт цаас идэвхитэй арилжаалагдаагүй бол тус компаний хөрөнгөд суурилсан хандлагаар үнэлсэн бизнесийн үнэлгээг үндэслэнэ. Уул уурхайн компаний хувьд нөөцийн үнэлгээг тусад нь тооцож үнэлгээнд оруулна.</a:t>
            </a:r>
          </a:p>
          <a:p>
            <a:pPr algn="just"/>
            <a:r>
              <a:rPr lang="mn-MN" sz="3200" dirty="0">
                <a:solidFill>
                  <a:srgbClr val="002060"/>
                </a:solidFill>
                <a:latin typeface="Times New Roman" panose="02020603050405020304" pitchFamily="18" charset="0"/>
                <a:cs typeface="Times New Roman" panose="02020603050405020304" pitchFamily="18" charset="0"/>
              </a:rPr>
              <a:t>Хөрөнгийн биржид бүртгэлтэй хувьцаат компани хэлбэрээ өөрчлөн үнэт цаасаа хөрөнгийн зах зээлийн бүртгэлээс хасаж хувь нийлүүлэгчдэд олгох ногдол хувийг тодорхойлох үнэлгээ хийхдээ хяналтын багцын тохируулга хийхгүй.</a:t>
            </a:r>
          </a:p>
          <a:p>
            <a:pPr algn="just"/>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35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B7D8-D12F-73DD-14CD-0C402E3FA935}"/>
              </a:ext>
            </a:extLst>
          </p:cNvPr>
          <p:cNvSpPr>
            <a:spLocks noGrp="1"/>
          </p:cNvSpPr>
          <p:nvPr>
            <p:ph type="title"/>
          </p:nvPr>
        </p:nvSpPr>
        <p:spPr>
          <a:xfrm>
            <a:off x="182880" y="218821"/>
            <a:ext cx="11704320" cy="500507"/>
          </a:xfrm>
        </p:spPr>
        <p:txBody>
          <a:bodyPr>
            <a:normAutofit fontScale="9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Олон улсын үнэлгээний стандартаас гажих нөхцөлүүд</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B6EC35-A01B-6790-69D3-0D8989608184}"/>
              </a:ext>
            </a:extLst>
          </p:cNvPr>
          <p:cNvSpPr>
            <a:spLocks noGrp="1"/>
          </p:cNvSpPr>
          <p:nvPr>
            <p:ph idx="1"/>
          </p:nvPr>
        </p:nvSpPr>
        <p:spPr>
          <a:xfrm>
            <a:off x="182880" y="719328"/>
            <a:ext cx="11704320" cy="4803775"/>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Компани татан буугдаж байгаа болон түүнтэй дүйцэхүйц нөхцөл үүссэнг эрх бүхий байгууллага тогтоосон бол устгалын аргаар үнэлж хяналттайн нэмэгдүүлэг, хяналтгүйн болон хөрвөх чадваргүйн хорогдуулгын тохируулга тооцохгүй.</a:t>
            </a:r>
          </a:p>
          <a:p>
            <a:pPr algn="just"/>
            <a:r>
              <a:rPr lang="mn-MN" sz="3200" dirty="0">
                <a:solidFill>
                  <a:srgbClr val="002060"/>
                </a:solidFill>
                <a:latin typeface="Times New Roman" panose="02020603050405020304" pitchFamily="18" charset="0"/>
                <a:cs typeface="Times New Roman" panose="02020603050405020304" pitchFamily="18" charset="0"/>
              </a:rPr>
              <a:t>Бизнесийн үнэлгээнд тухайн аж ахуй нэгжийн газар эзэмших болон ашиглах эрхийг өртгийн болон жишиг үнийн хандлагаар үнэлж оруулна.</a:t>
            </a:r>
          </a:p>
          <a:p>
            <a:pPr algn="just"/>
            <a:r>
              <a:rPr lang="mn-MN" sz="3200" dirty="0">
                <a:solidFill>
                  <a:srgbClr val="002060"/>
                </a:solidFill>
                <a:latin typeface="Times New Roman" panose="02020603050405020304" pitchFamily="18" charset="0"/>
                <a:cs typeface="Times New Roman" panose="02020603050405020304" pitchFamily="18" charset="0"/>
              </a:rPr>
              <a:t>ОУҮС-аас гажих бусад нөхцөлүүдийг төрийн эрх бүхий байгууллагаас гаргасан нэмэлт аргачлал журмаар зохицуулж болно.</a:t>
            </a:r>
          </a:p>
        </p:txBody>
      </p:sp>
    </p:spTree>
    <p:extLst>
      <p:ext uri="{BB962C8B-B14F-4D97-AF65-F5344CB8AC3E}">
        <p14:creationId xmlns:p14="http://schemas.microsoft.com/office/powerpoint/2010/main" val="3388784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E29A-E4DF-A09F-3E8A-771F02DFF7C8}"/>
              </a:ext>
            </a:extLst>
          </p:cNvPr>
          <p:cNvSpPr>
            <a:spLocks noGrp="1"/>
          </p:cNvSpPr>
          <p:nvPr>
            <p:ph type="title"/>
          </p:nvPr>
        </p:nvSpPr>
        <p:spPr>
          <a:xfrm>
            <a:off x="219456" y="206629"/>
            <a:ext cx="11753088" cy="598043"/>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Бизнесийн үнэлгээний хандлага, аргууд</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1415C7-81E5-7CDE-00D5-5C928AD35FD8}"/>
              </a:ext>
            </a:extLst>
          </p:cNvPr>
          <p:cNvSpPr>
            <a:spLocks noGrp="1"/>
          </p:cNvSpPr>
          <p:nvPr>
            <p:ph idx="1"/>
          </p:nvPr>
        </p:nvSpPr>
        <p:spPr>
          <a:xfrm>
            <a:off x="219456" y="804672"/>
            <a:ext cx="11753088" cy="5186589"/>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Бизнесийн үнэлгээнд ОУҮС болон хуулинд заасны дагуу </a:t>
            </a:r>
          </a:p>
          <a:p>
            <a:pPr lvl="1" algn="just"/>
            <a:r>
              <a:rPr lang="mn-MN" sz="2800" dirty="0">
                <a:solidFill>
                  <a:srgbClr val="002060"/>
                </a:solidFill>
                <a:latin typeface="Times New Roman" panose="02020603050405020304" pitchFamily="18" charset="0"/>
                <a:cs typeface="Times New Roman" panose="02020603050405020304" pitchFamily="18" charset="0"/>
              </a:rPr>
              <a:t>Зах зээлийн харьцуулалтын, </a:t>
            </a:r>
          </a:p>
          <a:p>
            <a:pPr lvl="1" algn="just"/>
            <a:r>
              <a:rPr lang="mn-MN" sz="2800" dirty="0">
                <a:solidFill>
                  <a:srgbClr val="002060"/>
                </a:solidFill>
                <a:latin typeface="Times New Roman" panose="02020603050405020304" pitchFamily="18" charset="0"/>
                <a:cs typeface="Times New Roman" panose="02020603050405020304" pitchFamily="18" charset="0"/>
              </a:rPr>
              <a:t>Хөрөнгөд суурилсан, </a:t>
            </a:r>
          </a:p>
          <a:p>
            <a:pPr lvl="1" algn="just"/>
            <a:r>
              <a:rPr lang="mn-MN" sz="2800" dirty="0">
                <a:solidFill>
                  <a:srgbClr val="002060"/>
                </a:solidFill>
                <a:latin typeface="Times New Roman" panose="02020603050405020304" pitchFamily="18" charset="0"/>
                <a:cs typeface="Times New Roman" panose="02020603050405020304" pitchFamily="18" charset="0"/>
              </a:rPr>
              <a:t>Орлогын хандлагуудыг хослуулан хэрэглэнэ. </a:t>
            </a:r>
          </a:p>
          <a:p>
            <a:pPr marL="457200" lvl="1" indent="0" algn="just">
              <a:buNone/>
            </a:pPr>
            <a:r>
              <a:rPr lang="mn-MN" sz="2800" dirty="0">
                <a:solidFill>
                  <a:srgbClr val="002060"/>
                </a:solidFill>
                <a:latin typeface="Times New Roman" panose="02020603050405020304" pitchFamily="18" charset="0"/>
                <a:cs typeface="Times New Roman" panose="02020603050405020304" pitchFamily="18" charset="0"/>
              </a:rPr>
              <a:t>Эдгээр хандлага, аргуудын аль нэгийг үнэлгээнд ашиглаагүй бол үндэслэлээ тайлбарлана.</a:t>
            </a:r>
          </a:p>
          <a:p>
            <a:pPr algn="just"/>
            <a:r>
              <a:rPr lang="mn-MN" sz="3200" dirty="0">
                <a:solidFill>
                  <a:srgbClr val="002060"/>
                </a:solidFill>
                <a:latin typeface="Times New Roman" panose="02020603050405020304" pitchFamily="18" charset="0"/>
                <a:cs typeface="Times New Roman" panose="02020603050405020304" pitchFamily="18" charset="0"/>
              </a:rPr>
              <a:t>Үнэлгээний дүнг тогтоохдоо тухайн хандлага арга бүрийн хувьд үнэлгээний зорилго, зориулалт, үнэлгээний ажлын онцлог байдлаас хамааруулан ач холбогдол өгч мэргэжлийн байр сууринаас хандана.</a:t>
            </a:r>
          </a:p>
          <a:p>
            <a:pPr algn="just"/>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519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58496" y="170053"/>
            <a:ext cx="11716512" cy="476123"/>
          </a:xfrm>
        </p:spPr>
        <p:txBody>
          <a:bodyPr>
            <a:normAutofit fontScale="90000"/>
          </a:bodyPr>
          <a:lstStyle/>
          <a:p>
            <a:pPr algn="just"/>
            <a:r>
              <a:rPr lang="ru-RU" sz="3200"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sz="3200" b="1" dirty="0">
                <a:solidFill>
                  <a:srgbClr val="002060"/>
                </a:solidFill>
                <a:latin typeface="Times New Roman" panose="02020603050405020304" pitchFamily="18" charset="0"/>
                <a:cs typeface="Times New Roman" panose="02020603050405020304" pitchFamily="18" charset="0"/>
              </a:rPr>
              <a:t>з</a:t>
            </a:r>
            <a:r>
              <a:rPr lang="ru-RU" sz="3200" b="1" dirty="0">
                <a:solidFill>
                  <a:srgbClr val="002060"/>
                </a:solidFill>
                <a:latin typeface="Times New Roman" panose="02020603050405020304" pitchFamily="18" charset="0"/>
                <a:cs typeface="Times New Roman" panose="02020603050405020304" pitchFamily="18" charset="0"/>
              </a:rPr>
              <a:t>ах зээлийн харьцуулалтын хандлага</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58496" y="646176"/>
            <a:ext cx="11716512" cy="5547360"/>
          </a:xfrm>
        </p:spPr>
        <p:txBody>
          <a:bodyPr>
            <a:normAutofit/>
          </a:bodyPr>
          <a:lstStyle/>
          <a:p>
            <a:pPr algn="just"/>
            <a:r>
              <a:rPr lang="mn-MN" dirty="0">
                <a:solidFill>
                  <a:srgbClr val="002060"/>
                </a:solidFill>
                <a:latin typeface="Times New Roman" panose="02020603050405020304" pitchFamily="18" charset="0"/>
                <a:cs typeface="Times New Roman" panose="02020603050405020304" pitchFamily="18" charset="0"/>
              </a:rPr>
              <a:t>Зах зээлийн жишиг үнийн хандлагаар үнэлэгдэж буй аж ахуй нэгж, бизнесийг зах зээлд борлогдож байгаа ижил төсөөтэй бизнесүүд, бизнесийн өмчлөлийн эрх болон нотолгоотой харьцуулах замаар үнэлгээг хийнэ.</a:t>
            </a:r>
          </a:p>
          <a:p>
            <a:pPr algn="just"/>
            <a:r>
              <a:rPr lang="mn-MN" dirty="0">
                <a:solidFill>
                  <a:srgbClr val="002060"/>
                </a:solidFill>
                <a:latin typeface="Times New Roman" panose="02020603050405020304" pitchFamily="18" charset="0"/>
                <a:cs typeface="Times New Roman" panose="02020603050405020304" pitchFamily="18" charset="0"/>
              </a:rPr>
              <a:t>Энэ хандлагын дагуу түгээмэл мэдээллийн эх сурвалжид дараах зүйлс орно. Үүнд:</a:t>
            </a:r>
          </a:p>
          <a:p>
            <a:pPr lvl="1" algn="just"/>
            <a:r>
              <a:rPr lang="mn-MN" dirty="0">
                <a:solidFill>
                  <a:srgbClr val="002060"/>
                </a:solidFill>
                <a:latin typeface="Times New Roman" panose="02020603050405020304" pitchFamily="18" charset="0"/>
                <a:cs typeface="Times New Roman" panose="02020603050405020304" pitchFamily="18" charset="0"/>
              </a:rPr>
              <a:t>Ижил төстэй бизнесийн нийтэд зориулан худалдсан бизнесийн өмчлөлийн эрхийн талаарх хөрөнгийн зах зээлийн буюу хувьцааны талаарх мэдээлэл</a:t>
            </a:r>
          </a:p>
          <a:p>
            <a:pPr lvl="1" algn="just"/>
            <a:r>
              <a:rPr lang="mn-MN" dirty="0">
                <a:solidFill>
                  <a:srgbClr val="002060"/>
                </a:solidFill>
                <a:latin typeface="Times New Roman" panose="02020603050405020304" pitchFamily="18" charset="0"/>
                <a:cs typeface="Times New Roman" panose="02020603050405020304" pitchFamily="18" charset="0"/>
              </a:rPr>
              <a:t>Ижил төстэй бизнесийг зах зээл дээр худалдсан ба худалдан авсан ажил гүйлгээний талаарх мэдээлэл</a:t>
            </a:r>
          </a:p>
          <a:p>
            <a:pPr lvl="1" algn="just"/>
            <a:r>
              <a:rPr lang="mn-MN" dirty="0">
                <a:solidFill>
                  <a:srgbClr val="002060"/>
                </a:solidFill>
                <a:latin typeface="Times New Roman" panose="02020603050405020304" pitchFamily="18" charset="0"/>
                <a:cs typeface="Times New Roman" panose="02020603050405020304" pitchFamily="18" charset="0"/>
              </a:rPr>
              <a:t>Тухайн субьектийн бизнесийн өмчлөл дэх өмнөх үеийн ажил гүйлгээний талаарх мэдээлэл</a:t>
            </a:r>
          </a:p>
          <a:p>
            <a:pPr lvl="1" algn="just"/>
            <a:r>
              <a:rPr lang="mn-MN" dirty="0">
                <a:solidFill>
                  <a:srgbClr val="002060"/>
                </a:solidFill>
                <a:latin typeface="Times New Roman" panose="02020603050405020304" pitchFamily="18" charset="0"/>
                <a:cs typeface="Times New Roman" panose="02020603050405020304" pitchFamily="18" charset="0"/>
              </a:rPr>
              <a:t>Эрх бүхий байгууллагын болон ижил төстэй бүтээгдэхүүний мэдээллийн сан</a:t>
            </a:r>
          </a:p>
          <a:p>
            <a:pPr lvl="1" algn="just"/>
            <a:r>
              <a:rPr lang="mn-MN" dirty="0">
                <a:solidFill>
                  <a:srgbClr val="002060"/>
                </a:solidFill>
                <a:latin typeface="Times New Roman" panose="02020603050405020304" pitchFamily="18" charset="0"/>
                <a:cs typeface="Times New Roman" panose="02020603050405020304" pitchFamily="18" charset="0"/>
              </a:rPr>
              <a:t>Үнэлгээчний хувийн мэдээллийн сан орно.</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908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34112" y="109093"/>
            <a:ext cx="11692128" cy="512699"/>
          </a:xfrm>
        </p:spPr>
        <p:txBody>
          <a:bodyPr>
            <a:normAutofit fontScale="90000"/>
          </a:bodyPr>
          <a:lstStyle/>
          <a:p>
            <a:pPr algn="just"/>
            <a:r>
              <a:rPr lang="ru-RU" sz="3200"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sz="3200" b="1" dirty="0">
                <a:solidFill>
                  <a:srgbClr val="002060"/>
                </a:solidFill>
                <a:latin typeface="Times New Roman" panose="02020603050405020304" pitchFamily="18" charset="0"/>
                <a:cs typeface="Times New Roman" panose="02020603050405020304" pitchFamily="18" charset="0"/>
              </a:rPr>
              <a:t>з</a:t>
            </a:r>
            <a:r>
              <a:rPr lang="ru-RU" sz="3200" b="1" dirty="0">
                <a:solidFill>
                  <a:srgbClr val="002060"/>
                </a:solidFill>
                <a:latin typeface="Times New Roman" panose="02020603050405020304" pitchFamily="18" charset="0"/>
                <a:cs typeface="Times New Roman" panose="02020603050405020304" pitchFamily="18" charset="0"/>
              </a:rPr>
              <a:t>ах зээлийн харьцуулалтын хандлага</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34112" y="621792"/>
            <a:ext cx="11692128" cy="5718048"/>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Зах зээлийн харьцуулалтын хандлагын үед үнэлгээчин тухайн бизнесийг ижил төсөөтэй бизнесүүдтэй харьцуулахдаа үндэслэлтэй аргаар төөрөгдөлд оруулахааргүй зохистой суурийн дагуу шалгаж үзэх шаардлагатай.</a:t>
            </a:r>
          </a:p>
          <a:p>
            <a:pPr lvl="1" algn="just"/>
            <a:r>
              <a:rPr lang="mn-MN" dirty="0">
                <a:solidFill>
                  <a:srgbClr val="002060"/>
                </a:solidFill>
                <a:latin typeface="Times New Roman" panose="02020603050405020304" pitchFamily="18" charset="0"/>
                <a:cs typeface="Times New Roman" panose="02020603050405020304" pitchFamily="18" charset="0"/>
              </a:rPr>
              <a:t>Ижил төстэй бизнесүүд нь ижил салбарынх буюу эдийн засгийн ижил үзүүлэлтүүд бүхий салбарынх байна.</a:t>
            </a:r>
          </a:p>
          <a:p>
            <a:pPr lvl="1" algn="just"/>
            <a:r>
              <a:rPr lang="mn-MN" dirty="0">
                <a:solidFill>
                  <a:srgbClr val="002060"/>
                </a:solidFill>
                <a:latin typeface="Times New Roman" panose="02020603050405020304" pitchFamily="18" charset="0"/>
                <a:cs typeface="Times New Roman" panose="02020603050405020304" pitchFamily="18" charset="0"/>
              </a:rPr>
              <a:t>Төсөөтэй бизнесүүд нь тоон болон чанарын үзүүлэлтүүдийн хувьд тухайн бизнестэй ижил төстэй байна.</a:t>
            </a:r>
          </a:p>
          <a:p>
            <a:pPr algn="just"/>
            <a:r>
              <a:rPr lang="mn-MN" dirty="0">
                <a:solidFill>
                  <a:srgbClr val="002060"/>
                </a:solidFill>
                <a:latin typeface="Times New Roman" panose="02020603050405020304" pitchFamily="18" charset="0"/>
                <a:cs typeface="Times New Roman" panose="02020603050405020304" pitchFamily="18" charset="0"/>
              </a:rPr>
              <a:t>Энэхүү хандлагаар бизнесийн өмнөх үеийн ажил гүйлгээн дэх бизнесийн үнэ цэнэ болон нийтэд зориулан худалдсан, худалдан авсан ижил төстэй бизнесийн үнэ цэнийн дүнг орлого, нийт хөрөнгө, цэвэр хөрөнгө зэрэг суурь үзүүлэлтүүдэд харьцуулан гаргасан нэг эсвэл хэд хэдэн үржүүлэгчийг тооцно.</a:t>
            </a:r>
          </a:p>
          <a:p>
            <a:pPr algn="just"/>
            <a:r>
              <a:rPr lang="mn-MN" dirty="0">
                <a:solidFill>
                  <a:srgbClr val="002060"/>
                </a:solidFill>
                <a:latin typeface="Times New Roman" panose="02020603050405020304" pitchFamily="18" charset="0"/>
                <a:cs typeface="Times New Roman" panose="02020603050405020304" pitchFamily="18" charset="0"/>
              </a:rPr>
              <a:t>Тухайн бизнесийн суурь үзүүлэлтийг ижил төстэй бизнесийн үржүүлэгчээр үржүүлж бизнесийн үнэлгээг гаргана.</a:t>
            </a:r>
          </a:p>
        </p:txBody>
      </p:sp>
    </p:spTree>
    <p:extLst>
      <p:ext uri="{BB962C8B-B14F-4D97-AF65-F5344CB8AC3E}">
        <p14:creationId xmlns:p14="http://schemas.microsoft.com/office/powerpoint/2010/main" val="506114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21920" y="182245"/>
            <a:ext cx="11801856" cy="439547"/>
          </a:xfrm>
        </p:spPr>
        <p:txBody>
          <a:bodyPr>
            <a:normAutofit fontScale="90000"/>
          </a:bodyPr>
          <a:lstStyle/>
          <a:p>
            <a:pPr algn="just"/>
            <a:r>
              <a:rPr lang="ru-RU" sz="3600"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sz="3600" b="1" dirty="0">
                <a:solidFill>
                  <a:srgbClr val="002060"/>
                </a:solidFill>
                <a:latin typeface="Times New Roman" panose="02020603050405020304" pitchFamily="18" charset="0"/>
                <a:cs typeface="Times New Roman" panose="02020603050405020304" pitchFamily="18" charset="0"/>
              </a:rPr>
              <a:t>з</a:t>
            </a:r>
            <a:r>
              <a:rPr lang="ru-RU" sz="3600" b="1" dirty="0">
                <a:solidFill>
                  <a:srgbClr val="002060"/>
                </a:solidFill>
                <a:latin typeface="Times New Roman" panose="02020603050405020304" pitchFamily="18" charset="0"/>
                <a:cs typeface="Times New Roman" panose="02020603050405020304" pitchFamily="18" charset="0"/>
              </a:rPr>
              <a:t>ах зээлийн харьцуулалтын хандлага</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21920" y="621792"/>
            <a:ext cx="11801856" cy="4852761"/>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Зах зээлийн харьцуулалтын хандлагаар бизнесийн үнэлгээг тооцохдоо дараах аргуудыг ашиглана.</a:t>
            </a:r>
          </a:p>
          <a:p>
            <a:pPr lvl="1" algn="just"/>
            <a:r>
              <a:rPr lang="mn-MN" sz="3200" dirty="0">
                <a:solidFill>
                  <a:srgbClr val="002060"/>
                </a:solidFill>
                <a:latin typeface="Times New Roman" panose="02020603050405020304" pitchFamily="18" charset="0"/>
                <a:cs typeface="Times New Roman" panose="02020603050405020304" pitchFamily="18" charset="0"/>
              </a:rPr>
              <a:t>Арилжааны буюу жишиг хэлцлийн.</a:t>
            </a:r>
          </a:p>
          <a:p>
            <a:pPr lvl="1" algn="just"/>
            <a:r>
              <a:rPr lang="mn-MN" sz="3200" dirty="0">
                <a:solidFill>
                  <a:srgbClr val="002060"/>
                </a:solidFill>
                <a:latin typeface="Times New Roman" panose="02020603050405020304" pitchFamily="18" charset="0"/>
                <a:cs typeface="Times New Roman" panose="02020603050405020304" pitchFamily="18" charset="0"/>
              </a:rPr>
              <a:t>Жишиг компанитай харьцуулах.</a:t>
            </a:r>
          </a:p>
          <a:p>
            <a:pPr algn="just"/>
            <a:r>
              <a:rPr lang="mn-MN" sz="3600" dirty="0">
                <a:solidFill>
                  <a:srgbClr val="002060"/>
                </a:solidFill>
                <a:latin typeface="Times New Roman" panose="02020603050405020304" pitchFamily="18" charset="0"/>
                <a:cs typeface="Times New Roman" panose="02020603050405020304" pitchFamily="18" charset="0"/>
              </a:rPr>
              <a:t>Бизнесийн үнэлгээг хийхдээ хэд хэдэн үржүүлэгчийг ашиглаж байгаа эсвэл хэд хэдэн арыг хослуулан хэрэглэж байгаа бол үнэлгээчин тэдгээрийг ач холбогдлын хувиар жинлэж зах зээлийн хандлагаарх үнэлгээний дүнг тооцож болно.</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8207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79832" y="133477"/>
            <a:ext cx="11658600" cy="561467"/>
          </a:xfrm>
        </p:spPr>
        <p:txBody>
          <a:bodyPr>
            <a:normAutofit/>
          </a:bodyPr>
          <a:lstStyle/>
          <a:p>
            <a:pPr algn="just"/>
            <a:r>
              <a:rPr lang="ru-RU" sz="3200"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sz="3200" b="1" dirty="0">
                <a:solidFill>
                  <a:srgbClr val="002060"/>
                </a:solidFill>
                <a:latin typeface="Times New Roman" panose="02020603050405020304" pitchFamily="18" charset="0"/>
                <a:cs typeface="Times New Roman" panose="02020603050405020304" pitchFamily="18" charset="0"/>
              </a:rPr>
              <a:t>з</a:t>
            </a:r>
            <a:r>
              <a:rPr lang="ru-RU" sz="3200" b="1" dirty="0">
                <a:solidFill>
                  <a:srgbClr val="002060"/>
                </a:solidFill>
                <a:latin typeface="Times New Roman" panose="02020603050405020304" pitchFamily="18" charset="0"/>
                <a:cs typeface="Times New Roman" panose="02020603050405020304" pitchFamily="18" charset="0"/>
              </a:rPr>
              <a:t>ах зээлийн харьцуулалтын хандлага</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79832" y="694944"/>
            <a:ext cx="11658600" cy="4852761"/>
          </a:xfrm>
        </p:spPr>
        <p:txBody>
          <a:bodyPr>
            <a:normAutofit lnSpcReduction="10000"/>
          </a:bodyPr>
          <a:lstStyle/>
          <a:p>
            <a:pPr algn="just"/>
            <a:r>
              <a:rPr lang="mn-MN" sz="3200" dirty="0">
                <a:solidFill>
                  <a:srgbClr val="002060"/>
                </a:solidFill>
                <a:latin typeface="Times New Roman" panose="02020603050405020304" pitchFamily="18" charset="0"/>
                <a:cs typeface="Times New Roman" panose="02020603050405020304" pitchFamily="18" charset="0"/>
              </a:rPr>
              <a:t>Үнэлгээчин зах зээлийн харьцуулалтын хандлагаар үржүүлэгчийг тооцохдоо дараах зүйлсийг анхаарч үзнэ.</a:t>
            </a:r>
          </a:p>
          <a:p>
            <a:pPr lvl="1" algn="just"/>
            <a:r>
              <a:rPr lang="mn-MN" sz="2800" dirty="0">
                <a:solidFill>
                  <a:srgbClr val="002060"/>
                </a:solidFill>
                <a:latin typeface="Times New Roman" panose="02020603050405020304" pitchFamily="18" charset="0"/>
                <a:cs typeface="Times New Roman" panose="02020603050405020304" pitchFamily="18" charset="0"/>
              </a:rPr>
              <a:t>Үржүүлэгч нь зөв тооцоологдсон бодитой байх</a:t>
            </a:r>
          </a:p>
          <a:p>
            <a:pPr lvl="1" algn="just"/>
            <a:r>
              <a:rPr lang="mn-MN" sz="2800" dirty="0">
                <a:solidFill>
                  <a:srgbClr val="002060"/>
                </a:solidFill>
                <a:latin typeface="Times New Roman" panose="02020603050405020304" pitchFamily="18" charset="0"/>
                <a:cs typeface="Times New Roman" panose="02020603050405020304" pitchFamily="18" charset="0"/>
              </a:rPr>
              <a:t>Үржүүлэгч нь үнэлгээний өдрөөр цаг хугацааны тохируулга хийгдсэн байх</a:t>
            </a:r>
          </a:p>
          <a:p>
            <a:pPr lvl="1" algn="just"/>
            <a:r>
              <a:rPr lang="mn-MN" sz="2800" dirty="0">
                <a:solidFill>
                  <a:srgbClr val="002060"/>
                </a:solidFill>
                <a:latin typeface="Times New Roman" panose="02020603050405020304" pitchFamily="18" charset="0"/>
                <a:cs typeface="Times New Roman" panose="02020603050405020304" pitchFamily="18" charset="0"/>
              </a:rPr>
              <a:t>Ижил төстэй ба тухайн бизнесийг харьцуулагдахуйц болгохын тулд шаардлагатай гэж үзвэл боломжтой тохируулгыг хийж болно. Энд хэвийн бус, байнга давтагддаггүй, үйл ажиллагааны бус шинжтэй зүйлсэд хийсэн тохируулга байх</a:t>
            </a:r>
          </a:p>
          <a:p>
            <a:pPr lvl="1" algn="just"/>
            <a:r>
              <a:rPr lang="mn-MN" sz="2800" dirty="0">
                <a:solidFill>
                  <a:srgbClr val="002060"/>
                </a:solidFill>
                <a:latin typeface="Times New Roman" panose="02020603050405020304" pitchFamily="18" charset="0"/>
                <a:cs typeface="Times New Roman" panose="02020603050405020304" pitchFamily="18" charset="0"/>
              </a:rPr>
              <a:t>Тооцоололд дундаж үзүүлэлтийг ашигласан бол цаг хугацааны үе болон дундажлах аргыг зохистой байдлаар сонгож авах</a:t>
            </a:r>
          </a:p>
          <a:p>
            <a:pPr lvl="1" algn="just"/>
            <a:r>
              <a:rPr lang="mn-MN" sz="2800" dirty="0">
                <a:solidFill>
                  <a:srgbClr val="002060"/>
                </a:solidFill>
                <a:latin typeface="Times New Roman" panose="02020603050405020304" pitchFamily="18" charset="0"/>
                <a:cs typeface="Times New Roman" panose="02020603050405020304" pitchFamily="18" charset="0"/>
              </a:rPr>
              <a:t>Шаардлагатай гэж үзвэл бусад тохируулгыг хийж болно.</a:t>
            </a:r>
          </a:p>
          <a:p>
            <a:pPr algn="just"/>
            <a:endParaRPr lang="en-US"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478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92024" y="109093"/>
            <a:ext cx="11804904" cy="585851"/>
          </a:xfrm>
        </p:spPr>
        <p:txBody>
          <a:bodyPr>
            <a:noAutofit/>
          </a:bodyPr>
          <a:lstStyle/>
          <a:p>
            <a:pPr algn="just"/>
            <a:r>
              <a:rPr lang="ru-RU" sz="3800"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sz="3800" b="1" dirty="0">
                <a:solidFill>
                  <a:srgbClr val="002060"/>
                </a:solidFill>
                <a:latin typeface="Times New Roman" panose="02020603050405020304" pitchFamily="18" charset="0"/>
                <a:cs typeface="Times New Roman" panose="02020603050405020304" pitchFamily="18" charset="0"/>
              </a:rPr>
              <a:t>орлогын</a:t>
            </a:r>
            <a:r>
              <a:rPr lang="ru-RU" sz="3800" b="1" dirty="0">
                <a:solidFill>
                  <a:srgbClr val="002060"/>
                </a:solidFill>
                <a:latin typeface="Times New Roman" panose="02020603050405020304" pitchFamily="18" charset="0"/>
                <a:cs typeface="Times New Roman" panose="02020603050405020304" pitchFamily="18" charset="0"/>
              </a:rPr>
              <a:t> хандлага</a:t>
            </a:r>
            <a:endParaRPr lang="en-US" sz="3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92024" y="694944"/>
            <a:ext cx="11804904" cy="4681728"/>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Орлогын хандлага нь бизнесээс олох ашиг, орлогыг үнэ цэнэд хувиргах замаар бизнес, бизнесийн өмчлөлийн хувь оролцоо, үнэт цаасны үнэ цэнийг тооцоолох ерөнхий арга юм.</a:t>
            </a:r>
          </a:p>
          <a:p>
            <a:pPr algn="just"/>
            <a:r>
              <a:rPr lang="mn-MN" sz="3200" dirty="0">
                <a:solidFill>
                  <a:srgbClr val="002060"/>
                </a:solidFill>
                <a:latin typeface="Times New Roman" panose="02020603050405020304" pitchFamily="18" charset="0"/>
                <a:cs typeface="Times New Roman" panose="02020603050405020304" pitchFamily="18" charset="0"/>
              </a:rPr>
              <a:t>Орлогын хандлагаар бизнесийн үнэлгээг хийхдээ үндсэн хоёр арга болох </a:t>
            </a:r>
          </a:p>
          <a:p>
            <a:pPr lvl="1" algn="just"/>
            <a:r>
              <a:rPr lang="mn-MN" sz="2800" dirty="0">
                <a:solidFill>
                  <a:srgbClr val="002060"/>
                </a:solidFill>
                <a:latin typeface="Times New Roman" panose="02020603050405020304" pitchFamily="18" charset="0"/>
                <a:cs typeface="Times New Roman" panose="02020603050405020304" pitchFamily="18" charset="0"/>
              </a:rPr>
              <a:t>Орлого капиталжуулалтын </a:t>
            </a:r>
          </a:p>
          <a:p>
            <a:pPr lvl="1" algn="just"/>
            <a:r>
              <a:rPr lang="mn-MN" sz="2800" dirty="0">
                <a:solidFill>
                  <a:srgbClr val="002060"/>
                </a:solidFill>
                <a:latin typeface="Times New Roman" panose="02020603050405020304" pitchFamily="18" charset="0"/>
                <a:cs typeface="Times New Roman" panose="02020603050405020304" pitchFamily="18" charset="0"/>
              </a:rPr>
              <a:t>Хорогдуулсан мөнгөн гүйлгээний шинжилгээний аргуудыг ашиглана. </a:t>
            </a:r>
          </a:p>
          <a:p>
            <a:pPr algn="just"/>
            <a:r>
              <a:rPr lang="mn-MN" sz="3200" dirty="0">
                <a:solidFill>
                  <a:srgbClr val="002060"/>
                </a:solidFill>
                <a:latin typeface="Times New Roman" panose="02020603050405020304" pitchFamily="18" charset="0"/>
                <a:cs typeface="Times New Roman" panose="02020603050405020304" pitchFamily="18" charset="0"/>
              </a:rPr>
              <a:t>Бизнесийн онцлоготой холбогдуулж бусад аргыг ашиглаж болно.</a:t>
            </a:r>
          </a:p>
        </p:txBody>
      </p:sp>
    </p:spTree>
    <p:extLst>
      <p:ext uri="{BB962C8B-B14F-4D97-AF65-F5344CB8AC3E}">
        <p14:creationId xmlns:p14="http://schemas.microsoft.com/office/powerpoint/2010/main" val="1851194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216408" y="96901"/>
            <a:ext cx="11658600" cy="512699"/>
          </a:xfrm>
        </p:spPr>
        <p:txBody>
          <a:bodyPr>
            <a:normAutofit fontScale="90000"/>
          </a:bodyPr>
          <a:lstStyle/>
          <a:p>
            <a:pPr algn="just"/>
            <a:r>
              <a:rPr lang="ru-RU"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b="1" dirty="0">
                <a:solidFill>
                  <a:srgbClr val="002060"/>
                </a:solidFill>
                <a:latin typeface="Times New Roman" panose="02020603050405020304" pitchFamily="18" charset="0"/>
                <a:cs typeface="Times New Roman" panose="02020603050405020304" pitchFamily="18" charset="0"/>
              </a:rPr>
              <a:t>орлогын</a:t>
            </a:r>
            <a:r>
              <a:rPr lang="ru-RU" b="1" dirty="0">
                <a:solidFill>
                  <a:srgbClr val="002060"/>
                </a:solidFill>
                <a:latin typeface="Times New Roman" panose="02020603050405020304" pitchFamily="18" charset="0"/>
                <a:cs typeface="Times New Roman" panose="02020603050405020304" pitchFamily="18" charset="0"/>
              </a:rPr>
              <a:t> хандлага</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216408" y="609600"/>
            <a:ext cx="11658600" cy="5827776"/>
          </a:xfrm>
        </p:spPr>
        <p:txBody>
          <a:bodyPr>
            <a:normAutofit fontScale="92500" lnSpcReduction="1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Орлого капиталжуулалтын арга. </a:t>
            </a:r>
            <a:r>
              <a:rPr lang="mn-MN" sz="3200" dirty="0">
                <a:solidFill>
                  <a:srgbClr val="002060"/>
                </a:solidFill>
                <a:latin typeface="Times New Roman" panose="02020603050405020304" pitchFamily="18" charset="0"/>
                <a:cs typeface="Times New Roman" panose="02020603050405020304" pitchFamily="18" charset="0"/>
              </a:rPr>
              <a:t>Бизнесийн тогтвортой байдал, үргэлжлэх цаг хугацаа болон өгөөжийг харгалзан үзсэний үндсэн дээр тогтвортой байх үйл ажиллагааны цэвэр орлогын дүнг тодорхойлж түүнийг капиталжуулах хувьд хувааж эсвэл орлогын үржүулэгчээр үржүүлж бизнесийн үнэ цэнийг тооцно. </a:t>
            </a:r>
          </a:p>
          <a:p>
            <a:pPr lvl="1" algn="just"/>
            <a:r>
              <a:rPr lang="mn-MN" sz="2800" dirty="0">
                <a:solidFill>
                  <a:srgbClr val="002060"/>
                </a:solidFill>
                <a:latin typeface="Times New Roman" panose="02020603050405020304" pitchFamily="18" charset="0"/>
                <a:cs typeface="Times New Roman" panose="02020603050405020304" pitchFamily="18" charset="0"/>
              </a:rPr>
              <a:t>Үйл ажиллагааны цэвэр орлого гэдгийг элэгдэл хасаагүй дүнг ойлгоно.</a:t>
            </a:r>
          </a:p>
          <a:p>
            <a:pPr lvl="1" algn="just"/>
            <a:r>
              <a:rPr lang="mn-MN" sz="2800" dirty="0">
                <a:solidFill>
                  <a:srgbClr val="002060"/>
                </a:solidFill>
                <a:latin typeface="Times New Roman" panose="02020603050405020304" pitchFamily="18" charset="0"/>
                <a:cs typeface="Times New Roman" panose="02020603050405020304" pitchFamily="18" charset="0"/>
              </a:rPr>
              <a:t>Капиталжуулах хувийг хөрөнгө оруулалтын өгөөжийн хувиас ирээдүйн ашгийн өсөлтийн хувийг хасаж тооцох</a:t>
            </a:r>
          </a:p>
          <a:p>
            <a:pPr lvl="1" algn="just"/>
            <a:r>
              <a:rPr lang="mn-MN" sz="2800" dirty="0">
                <a:solidFill>
                  <a:srgbClr val="002060"/>
                </a:solidFill>
                <a:latin typeface="Times New Roman" panose="02020603050405020304" pitchFamily="18" charset="0"/>
                <a:cs typeface="Times New Roman" panose="02020603050405020304" pitchFamily="18" charset="0"/>
              </a:rPr>
              <a:t>Ирээдүйн тодорхой хугацаанд бизнесийн ажиллагааны цэвэр орлого тогтвортой байна гэдгийг ойрын 5-10 жилд орлогын өсөлт тогтвортой байхыг ойлгоно.</a:t>
            </a:r>
          </a:p>
          <a:p>
            <a:pPr lvl="1" algn="just"/>
            <a:r>
              <a:rPr lang="mn-MN" sz="2800" dirty="0">
                <a:solidFill>
                  <a:srgbClr val="002060"/>
                </a:solidFill>
                <a:latin typeface="Times New Roman" panose="02020603050405020304" pitchFamily="18" charset="0"/>
                <a:cs typeface="Times New Roman" panose="02020603050405020304" pitchFamily="18" charset="0"/>
              </a:rPr>
              <a:t>Орлого капиталжуулах аргаар бизнесийн үнэлгээг тодорхойлох үед ижил төстэй компаниудын зах зээлийн мэдээллийн үндсэн дээр капиталжуулалтын түвшин буюу үржүүлэгчийг тодорхойлно. Энэ тохиолдолд орлогын хэмжээг үржүүлэгчээр үржүүлж бизнесийн үнэ цэнийн дүнг тооцно.</a:t>
            </a:r>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4500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43256" y="96901"/>
            <a:ext cx="11841480" cy="500507"/>
          </a:xfrm>
        </p:spPr>
        <p:txBody>
          <a:bodyPr>
            <a:normAutofit fontScale="90000"/>
          </a:bodyPr>
          <a:lstStyle/>
          <a:p>
            <a:pPr algn="just"/>
            <a:r>
              <a:rPr lang="ru-RU"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b="1" dirty="0">
                <a:solidFill>
                  <a:srgbClr val="002060"/>
                </a:solidFill>
                <a:latin typeface="Times New Roman" panose="02020603050405020304" pitchFamily="18" charset="0"/>
                <a:cs typeface="Times New Roman" panose="02020603050405020304" pitchFamily="18" charset="0"/>
              </a:rPr>
              <a:t>орлогын</a:t>
            </a:r>
            <a:r>
              <a:rPr lang="ru-RU" b="1" dirty="0">
                <a:solidFill>
                  <a:srgbClr val="002060"/>
                </a:solidFill>
                <a:latin typeface="Times New Roman" panose="02020603050405020304" pitchFamily="18" charset="0"/>
                <a:cs typeface="Times New Roman" panose="02020603050405020304" pitchFamily="18" charset="0"/>
              </a:rPr>
              <a:t> хандлага</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43256" y="602869"/>
            <a:ext cx="11841480" cy="5306785"/>
          </a:xfrm>
        </p:spPr>
        <p:txBody>
          <a:bodyPr>
            <a:normAutofit fontScale="85000" lnSpcReduction="1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Хорогдуулсан мөнгөн гүйлгээний арга. </a:t>
            </a:r>
            <a:r>
              <a:rPr lang="mn-MN" sz="3200" dirty="0">
                <a:solidFill>
                  <a:srgbClr val="002060"/>
                </a:solidFill>
                <a:latin typeface="Times New Roman" panose="02020603050405020304" pitchFamily="18" charset="0"/>
                <a:cs typeface="Times New Roman" panose="02020603050405020304" pitchFamily="18" charset="0"/>
              </a:rPr>
              <a:t>Ирээдүйн тодорхой үеүдэд ашиг, орлогын хэмжээ нь тогтвортой бус, хугацааны төгсгөлд бизнесийн үлдэх өртөгтэй байна гэж үзвэл бизнес, бизнесийн хувь оролцооны үнэ цэнийг тодорхойлохдоо ирээдүйн мөнгөн урсгалын төлөвлөгөөг ашиглана.</a:t>
            </a:r>
          </a:p>
          <a:p>
            <a:pPr algn="just"/>
            <a:r>
              <a:rPr lang="mn-MN" sz="3200" dirty="0">
                <a:solidFill>
                  <a:srgbClr val="002060"/>
                </a:solidFill>
                <a:latin typeface="Times New Roman" panose="02020603050405020304" pitchFamily="18" charset="0"/>
                <a:cs typeface="Times New Roman" panose="02020603050405020304" pitchFamily="18" charset="0"/>
              </a:rPr>
              <a:t>Энэ тохиолдолд бизнесийн үнэ цэнэ нь мөнгөн урсгалын өнөөгийн үнэ цэнэ ба тооцооны хамгийн сүүлийн жилийн орлогын капиталжуулсан дүнгийн өнөөгийн үнэ цэнүүдийн нийлбэрээр тодорхойлогдоно.</a:t>
            </a:r>
          </a:p>
          <a:p>
            <a:pPr algn="just"/>
            <a:r>
              <a:rPr lang="mn-MN" sz="3200" dirty="0">
                <a:solidFill>
                  <a:srgbClr val="002060"/>
                </a:solidFill>
                <a:latin typeface="Times New Roman" panose="02020603050405020304" pitchFamily="18" charset="0"/>
                <a:cs typeface="Times New Roman" panose="02020603050405020304" pitchFamily="18" charset="0"/>
              </a:rPr>
              <a:t>Үнэлгээчин дараах зүйлсийг анхаарч үзсэний үндсэн дээр ирээдүйн мөнгөн урсгалыг тодорхойлно.</a:t>
            </a:r>
          </a:p>
          <a:p>
            <a:pPr lvl="1" algn="just"/>
            <a:r>
              <a:rPr lang="mn-MN" sz="2800" dirty="0">
                <a:solidFill>
                  <a:srgbClr val="002060"/>
                </a:solidFill>
                <a:latin typeface="Times New Roman" panose="02020603050405020304" pitchFamily="18" charset="0"/>
                <a:cs typeface="Times New Roman" panose="02020603050405020304" pitchFamily="18" charset="0"/>
              </a:rPr>
              <a:t>Ирээдүйн цэвэр мөнгөн урсгалыг татварын дараах байдлаар зөвхөн мөнгөн сууриар, тухайн бизнест хамаарах мөнгөн урсгалаар тодорхойлох</a:t>
            </a:r>
          </a:p>
          <a:p>
            <a:pPr lvl="1" algn="just"/>
            <a:r>
              <a:rPr lang="mn-MN" sz="2800" dirty="0">
                <a:solidFill>
                  <a:srgbClr val="002060"/>
                </a:solidFill>
                <a:latin typeface="Times New Roman" panose="02020603050405020304" pitchFamily="18" charset="0"/>
                <a:cs typeface="Times New Roman" panose="02020603050405020304" pitchFamily="18" charset="0"/>
              </a:rPr>
              <a:t>Тухайн бизнесийг санхүүжүүлэхэд зээл ашигласан бол өөрийн капиталд хамаарах мөнгөн урсгалыг тооцох.</a:t>
            </a:r>
          </a:p>
          <a:p>
            <a:pPr lvl="1" algn="just"/>
            <a:r>
              <a:rPr lang="mn-MN" sz="2800" dirty="0">
                <a:solidFill>
                  <a:srgbClr val="002060"/>
                </a:solidFill>
                <a:latin typeface="Times New Roman" panose="02020603050405020304" pitchFamily="18" charset="0"/>
                <a:cs typeface="Times New Roman" panose="02020603050405020304" pitchFamily="18" charset="0"/>
              </a:rPr>
              <a:t>Орлогын хандлагаарх бизнесийн үнэлгээний дүнг гаргахдаа зээлийн дүнг нэмнэ.</a:t>
            </a:r>
          </a:p>
          <a:p>
            <a:pPr algn="just"/>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1969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67640" y="133477"/>
            <a:ext cx="11768328" cy="524891"/>
          </a:xfrm>
        </p:spPr>
        <p:txBody>
          <a:bodyPr>
            <a:normAutofit fontScale="90000"/>
          </a:bodyPr>
          <a:lstStyle/>
          <a:p>
            <a:pPr algn="just"/>
            <a:r>
              <a:rPr lang="ru-RU"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b="1" dirty="0">
                <a:solidFill>
                  <a:srgbClr val="002060"/>
                </a:solidFill>
                <a:latin typeface="Times New Roman" panose="02020603050405020304" pitchFamily="18" charset="0"/>
                <a:cs typeface="Times New Roman" panose="02020603050405020304" pitchFamily="18" charset="0"/>
              </a:rPr>
              <a:t>орлогын</a:t>
            </a:r>
            <a:r>
              <a:rPr lang="ru-RU" b="1" dirty="0">
                <a:solidFill>
                  <a:srgbClr val="002060"/>
                </a:solidFill>
                <a:latin typeface="Times New Roman" panose="02020603050405020304" pitchFamily="18" charset="0"/>
                <a:cs typeface="Times New Roman" panose="02020603050405020304" pitchFamily="18" charset="0"/>
              </a:rPr>
              <a:t> хандлага</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67640" y="658368"/>
            <a:ext cx="11768328" cy="5876544"/>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Хорогдуулгын хувийг дараах хоёр аргаар тооцож болно.</a:t>
            </a:r>
          </a:p>
          <a:p>
            <a:pPr lvl="1" algn="just"/>
            <a:r>
              <a:rPr lang="mn-MN" dirty="0">
                <a:solidFill>
                  <a:srgbClr val="002060"/>
                </a:solidFill>
                <a:latin typeface="Times New Roman" panose="02020603050405020304" pitchFamily="18" charset="0"/>
                <a:cs typeface="Times New Roman" panose="02020603050405020304" pitchFamily="18" charset="0"/>
              </a:rPr>
              <a:t>Капиталын жинлэсэн дундаж өртгийн арга </a:t>
            </a:r>
            <a:r>
              <a:rPr lang="en-US" dirty="0">
                <a:solidFill>
                  <a:srgbClr val="002060"/>
                </a:solidFill>
                <a:latin typeface="Times New Roman" panose="02020603050405020304" pitchFamily="18" charset="0"/>
                <a:cs typeface="Times New Roman" panose="02020603050405020304" pitchFamily="18" charset="0"/>
              </a:rPr>
              <a:t>(WACC)</a:t>
            </a:r>
            <a:endParaRPr lang="mn-MN" dirty="0">
              <a:solidFill>
                <a:srgbClr val="002060"/>
              </a:solidFill>
              <a:latin typeface="Times New Roman" panose="02020603050405020304" pitchFamily="18" charset="0"/>
              <a:cs typeface="Times New Roman" panose="02020603050405020304" pitchFamily="18" charset="0"/>
            </a:endParaRPr>
          </a:p>
          <a:p>
            <a:pPr lvl="1" algn="just"/>
            <a:r>
              <a:rPr lang="mn-MN" dirty="0">
                <a:solidFill>
                  <a:srgbClr val="002060"/>
                </a:solidFill>
                <a:latin typeface="Times New Roman" panose="02020603050405020304" pitchFamily="18" charset="0"/>
                <a:cs typeface="Times New Roman" panose="02020603050405020304" pitchFamily="18" charset="0"/>
              </a:rPr>
              <a:t>Нийлбэрийн арга.</a:t>
            </a:r>
          </a:p>
          <a:p>
            <a:pPr algn="just"/>
            <a:r>
              <a:rPr lang="mn-MN" b="1" dirty="0">
                <a:solidFill>
                  <a:srgbClr val="002060"/>
                </a:solidFill>
                <a:latin typeface="Times New Roman" panose="02020603050405020304" pitchFamily="18" charset="0"/>
                <a:cs typeface="Times New Roman" panose="02020603050405020304" pitchFamily="18" charset="0"/>
              </a:rPr>
              <a:t>Капиталын жинлэсэн дундаж өртгийн арга</a:t>
            </a:r>
            <a:r>
              <a:rPr lang="mn-MN" dirty="0">
                <a:solidFill>
                  <a:srgbClr val="002060"/>
                </a:solidFill>
                <a:latin typeface="Times New Roman" panose="02020603050405020304" pitchFamily="18" charset="0"/>
                <a:cs typeface="Times New Roman" panose="02020603050405020304" pitchFamily="18" charset="0"/>
              </a:rPr>
              <a:t>ар хорогдуулах хувийг тооцохдоо өөрийн капиталын хувьд Капитал Хөрөнгө Үнэлгээний Загварыг</a:t>
            </a:r>
            <a:r>
              <a:rPr lang="en-US" dirty="0">
                <a:solidFill>
                  <a:srgbClr val="002060"/>
                </a:solidFill>
                <a:latin typeface="Times New Roman" panose="02020603050405020304" pitchFamily="18" charset="0"/>
                <a:cs typeface="Times New Roman" panose="02020603050405020304" pitchFamily="18" charset="0"/>
              </a:rPr>
              <a:t> (CAPM)</a:t>
            </a:r>
            <a:r>
              <a:rPr lang="mn-MN" dirty="0">
                <a:solidFill>
                  <a:srgbClr val="002060"/>
                </a:solidFill>
                <a:latin typeface="Times New Roman" panose="02020603050405020304" pitchFamily="18" charset="0"/>
                <a:cs typeface="Times New Roman" panose="02020603050405020304" pitchFamily="18" charset="0"/>
              </a:rPr>
              <a:t>, харин гадны буюу зээлийн капиталын хувьд татварын дараах байдлаар хүүний хувиар тус бүрд нь капиталжих хувийг тооцож тэдгээрийн нийт санхүүжилтэд эзлэх хувийн жингээр жинлэж тооцно.</a:t>
            </a:r>
          </a:p>
          <a:p>
            <a:pPr algn="just"/>
            <a:r>
              <a:rPr lang="mn-MN" b="1" dirty="0">
                <a:solidFill>
                  <a:srgbClr val="002060"/>
                </a:solidFill>
                <a:latin typeface="Times New Roman" panose="02020603050405020304" pitchFamily="18" charset="0"/>
                <a:cs typeface="Times New Roman" panose="02020603050405020304" pitchFamily="18" charset="0"/>
              </a:rPr>
              <a:t>Нийлбэрийн арга</a:t>
            </a:r>
            <a:r>
              <a:rPr lang="mn-MN" dirty="0">
                <a:solidFill>
                  <a:srgbClr val="002060"/>
                </a:solidFill>
                <a:latin typeface="Times New Roman" panose="02020603050405020304" pitchFamily="18" charset="0"/>
                <a:cs typeface="Times New Roman" panose="02020603050405020304" pitchFamily="18" charset="0"/>
              </a:rPr>
              <a:t>ар хорогдуулгын хувийг тооцохдоо эрсдэлгүй хүүний хувь дээр дараах эрсдэлийн хүчин зүйлүүдийг хувиар тооцно.</a:t>
            </a:r>
          </a:p>
          <a:p>
            <a:pPr lvl="1" algn="just"/>
            <a:r>
              <a:rPr lang="mn-MN" dirty="0">
                <a:solidFill>
                  <a:srgbClr val="002060"/>
                </a:solidFill>
                <a:latin typeface="Times New Roman" panose="02020603050405020304" pitchFamily="18" charset="0"/>
                <a:cs typeface="Times New Roman" panose="02020603050405020304" pitchFamily="18" charset="0"/>
              </a:rPr>
              <a:t>Бизнесийн макро, микро эдийн засгийн хүчин зүйлүүд</a:t>
            </a:r>
          </a:p>
          <a:p>
            <a:pPr lvl="1" algn="just"/>
            <a:r>
              <a:rPr lang="mn-MN" dirty="0">
                <a:solidFill>
                  <a:srgbClr val="002060"/>
                </a:solidFill>
                <a:latin typeface="Times New Roman" panose="02020603050405020304" pitchFamily="18" charset="0"/>
                <a:cs typeface="Times New Roman" panose="02020603050405020304" pitchFamily="18" charset="0"/>
              </a:rPr>
              <a:t>Салбар болон компаний үйл ажиллагааны онцлог, хүчин зүйлүүд</a:t>
            </a:r>
          </a:p>
          <a:p>
            <a:pPr lvl="1" algn="just"/>
            <a:r>
              <a:rPr lang="mn-MN" dirty="0">
                <a:solidFill>
                  <a:srgbClr val="002060"/>
                </a:solidFill>
                <a:latin typeface="Times New Roman" panose="02020603050405020304" pitchFamily="18" charset="0"/>
                <a:cs typeface="Times New Roman" panose="02020603050405020304" pitchFamily="18" charset="0"/>
              </a:rPr>
              <a:t>Хөрөнгө, санхүү, боловсон хүчний чадавхи, хүчин зүйлүүд</a:t>
            </a:r>
          </a:p>
          <a:p>
            <a:pPr lvl="1" algn="just"/>
            <a:r>
              <a:rPr lang="mn-MN" dirty="0">
                <a:solidFill>
                  <a:srgbClr val="002060"/>
                </a:solidFill>
                <a:latin typeface="Times New Roman" panose="02020603050405020304" pitchFamily="18" charset="0"/>
                <a:cs typeface="Times New Roman" panose="02020603050405020304" pitchFamily="18" charset="0"/>
              </a:rPr>
              <a:t>Гадаад хүчин зүйлс, инфляцийн нөлөөлөл, хүчин зүйлүүд</a:t>
            </a:r>
          </a:p>
          <a:p>
            <a:pPr lvl="1" algn="just"/>
            <a:r>
              <a:rPr lang="mn-MN" dirty="0">
                <a:solidFill>
                  <a:srgbClr val="002060"/>
                </a:solidFill>
                <a:latin typeface="Times New Roman" panose="02020603050405020304" pitchFamily="18" charset="0"/>
                <a:cs typeface="Times New Roman" panose="02020603050405020304" pitchFamily="18" charset="0"/>
              </a:rPr>
              <a:t>Хөрөнгө оруулалтын бусад эрсдлүүдийн хүчин зүйлүүд</a:t>
            </a:r>
          </a:p>
        </p:txBody>
      </p:sp>
    </p:spTree>
    <p:extLst>
      <p:ext uri="{BB962C8B-B14F-4D97-AF65-F5344CB8AC3E}">
        <p14:creationId xmlns:p14="http://schemas.microsoft.com/office/powerpoint/2010/main" val="2288979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31064" y="96901"/>
            <a:ext cx="11817096" cy="512699"/>
          </a:xfrm>
        </p:spPr>
        <p:txBody>
          <a:bodyPr>
            <a:normAutofit fontScale="90000"/>
          </a:bodyPr>
          <a:lstStyle/>
          <a:p>
            <a:pPr algn="just"/>
            <a:r>
              <a:rPr lang="ru-RU" sz="3600"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sz="3600" b="1" dirty="0">
                <a:solidFill>
                  <a:srgbClr val="002060"/>
                </a:solidFill>
                <a:latin typeface="Times New Roman" panose="02020603050405020304" pitchFamily="18" charset="0"/>
                <a:cs typeface="Times New Roman" panose="02020603050405020304" pitchFamily="18" charset="0"/>
              </a:rPr>
              <a:t>хөрөнгөд суурилсан</a:t>
            </a:r>
            <a:r>
              <a:rPr lang="ru-RU" sz="3600" b="1" dirty="0">
                <a:solidFill>
                  <a:srgbClr val="002060"/>
                </a:solidFill>
                <a:latin typeface="Times New Roman" panose="02020603050405020304" pitchFamily="18" charset="0"/>
                <a:cs typeface="Times New Roman" panose="02020603050405020304" pitchFamily="18" charset="0"/>
              </a:rPr>
              <a:t> хандлага</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31064" y="609600"/>
            <a:ext cx="11817096" cy="4351338"/>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Бизнесийн үнэлгээний “Хөрөнгөд суурилсан хандлага” нь аж ахуй нэгж, бизнесийн хөрөнгийн бүх бүрэлдэхүүн хэсгүүдийг нөхөн сэргээх өртгөөс ихгүй үнэ цэнэтэй байна гэсэн орлуулалтын зарчимд үндэслэнэ.</a:t>
            </a:r>
          </a:p>
          <a:p>
            <a:pPr algn="just"/>
            <a:r>
              <a:rPr lang="mn-MN" sz="3200" dirty="0">
                <a:solidFill>
                  <a:srgbClr val="002060"/>
                </a:solidFill>
                <a:latin typeface="Times New Roman" panose="02020603050405020304" pitchFamily="18" charset="0"/>
                <a:cs typeface="Times New Roman" panose="02020603050405020304" pitchFamily="18" charset="0"/>
              </a:rPr>
              <a:t>“Хөрөнгөнд суурилсан хандлага”-аар бизнесийг үнэлэхдээ биет ба биет бус бүх хөрөнгүүдийг, мөн бүх өр төлбөрийн үзүүлэлтүүдийг зах зээлийн үнэ цэнэ, эсвэл тухайн үеийн зохистой үнэ цэнээр илэрхийлж бизнесийн цэвэр хөрөнгийн үнэ цэнийг тодорхойлно.</a:t>
            </a:r>
          </a:p>
          <a:p>
            <a:pPr algn="just"/>
            <a:endParaRPr lang="mn-M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501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18872" y="121285"/>
            <a:ext cx="11817096" cy="573659"/>
          </a:xfrm>
        </p:spPr>
        <p:txBody>
          <a:bodyPr>
            <a:normAutofit fontScale="90000"/>
          </a:bodyPr>
          <a:lstStyle/>
          <a:p>
            <a:pPr algn="just"/>
            <a:r>
              <a:rPr lang="ru-RU" sz="3600"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sz="3600" b="1" dirty="0">
                <a:solidFill>
                  <a:srgbClr val="002060"/>
                </a:solidFill>
                <a:latin typeface="Times New Roman" panose="02020603050405020304" pitchFamily="18" charset="0"/>
                <a:cs typeface="Times New Roman" panose="02020603050405020304" pitchFamily="18" charset="0"/>
              </a:rPr>
              <a:t>хөрөнгөд суурилсан</a:t>
            </a:r>
            <a:r>
              <a:rPr lang="ru-RU" sz="3600" b="1" dirty="0">
                <a:solidFill>
                  <a:srgbClr val="002060"/>
                </a:solidFill>
                <a:latin typeface="Times New Roman" panose="02020603050405020304" pitchFamily="18" charset="0"/>
                <a:cs typeface="Times New Roman" panose="02020603050405020304" pitchFamily="18" charset="0"/>
              </a:rPr>
              <a:t> хандлага</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18872" y="694944"/>
            <a:ext cx="11817096" cy="5827776"/>
          </a:xfrm>
        </p:spPr>
        <p:txBody>
          <a:bodyPr>
            <a:normAutofit fontScale="92500" lnSpcReduction="20000"/>
          </a:bodyPr>
          <a:lstStyle/>
          <a:p>
            <a:pPr algn="just"/>
            <a:r>
              <a:rPr lang="mn-MN" sz="3200" dirty="0">
                <a:solidFill>
                  <a:srgbClr val="002060"/>
                </a:solidFill>
                <a:latin typeface="Times New Roman" panose="02020603050405020304" pitchFamily="18" charset="0"/>
                <a:cs typeface="Times New Roman" panose="02020603050405020304" pitchFamily="18" charset="0"/>
              </a:rPr>
              <a:t>“Хөрөнгөнд суурилсан хандлага” нь тухайн бизнесийн орлого олох чадварыг харуулж чаддаггүй учир тасралтгүй байх төсөөллөөр үйл ажиллагаа нь үргэлжилж буй бизнесийн үнэлгээнд ашиглах цорын ганц арга биш бөгөөд дараах тохиолдлуудад энэхүү хандлагын аргуудыг бизнес, бизнесийн үнэлгээний хувь оролцоог үнэлэхэд хэрэглэх нь илүү тохиромжтой. Үүнд:</a:t>
            </a:r>
          </a:p>
          <a:p>
            <a:pPr lvl="1" algn="just"/>
            <a:r>
              <a:rPr lang="mn-MN" sz="2800" dirty="0">
                <a:solidFill>
                  <a:srgbClr val="002060"/>
                </a:solidFill>
                <a:latin typeface="Times New Roman" panose="02020603050405020304" pitchFamily="18" charset="0"/>
                <a:cs typeface="Times New Roman" panose="02020603050405020304" pitchFamily="18" charset="0"/>
              </a:rPr>
              <a:t>Шинэ эзэмшигч бизнесийг өөрчлөн зохион байгуулж байгаа</a:t>
            </a:r>
          </a:p>
          <a:p>
            <a:pPr lvl="1" algn="just"/>
            <a:r>
              <a:rPr lang="mn-MN" sz="2800" dirty="0">
                <a:solidFill>
                  <a:srgbClr val="002060"/>
                </a:solidFill>
                <a:latin typeface="Times New Roman" panose="02020603050405020304" pitchFamily="18" charset="0"/>
                <a:cs typeface="Times New Roman" panose="02020603050405020304" pitchFamily="18" charset="0"/>
              </a:rPr>
              <a:t>Бизнесийг өргөжүүлэх, олон салбар бий болгох зэрэгт хөрөнгө нь уян хатан бол</a:t>
            </a:r>
          </a:p>
          <a:p>
            <a:pPr lvl="1" algn="just"/>
            <a:r>
              <a:rPr lang="mn-MN" sz="2800" dirty="0">
                <a:solidFill>
                  <a:srgbClr val="002060"/>
                </a:solidFill>
                <a:latin typeface="Times New Roman" panose="02020603050405020304" pitchFamily="18" charset="0"/>
                <a:cs typeface="Times New Roman" panose="02020603050405020304" pitchFamily="18" charset="0"/>
              </a:rPr>
              <a:t>Компани харьцангуй саяхан үйл ажиллагаагаа эхэлсэн бол</a:t>
            </a:r>
          </a:p>
          <a:p>
            <a:pPr lvl="1" algn="just"/>
            <a:r>
              <a:rPr lang="mn-MN" sz="2800" dirty="0">
                <a:solidFill>
                  <a:srgbClr val="002060"/>
                </a:solidFill>
                <a:latin typeface="Times New Roman" panose="02020603050405020304" pitchFamily="18" charset="0"/>
                <a:cs typeface="Times New Roman" panose="02020603050405020304" pitchFamily="18" charset="0"/>
              </a:rPr>
              <a:t>Тасралтгүй байх төсөөллөөс өөр сууриар буюу бизнесийг татан буулгах, зогсоох үед үнэлгээ хийж байгаа бол</a:t>
            </a:r>
          </a:p>
          <a:p>
            <a:pPr lvl="1" algn="just"/>
            <a:r>
              <a:rPr lang="mn-MN" sz="2800" dirty="0">
                <a:solidFill>
                  <a:srgbClr val="002060"/>
                </a:solidFill>
                <a:latin typeface="Times New Roman" panose="02020603050405020304" pitchFamily="18" charset="0"/>
                <a:cs typeface="Times New Roman" panose="02020603050405020304" pitchFamily="18" charset="0"/>
              </a:rPr>
              <a:t>Үл хөдлөх хөрөнгийн, фермериин гэх мэт хөрөнгө оруулалт эсвэл эзэмшлийн шинжтэй бизнесииг үнэлж  байгаа бол</a:t>
            </a:r>
          </a:p>
          <a:p>
            <a:pPr lvl="1" algn="just"/>
            <a:r>
              <a:rPr lang="mn-MN" sz="2800" dirty="0">
                <a:solidFill>
                  <a:srgbClr val="002060"/>
                </a:solidFill>
                <a:latin typeface="Times New Roman" panose="02020603050405020304" pitchFamily="18" charset="0"/>
                <a:cs typeface="Times New Roman" panose="02020603050405020304" pitchFamily="18" charset="0"/>
              </a:rPr>
              <a:t>Тухайн бизнес, бизнесийн хувь оролцоог худалдагч ба худалдан авагч нар энэхүү хандлагыг дэмжиж буй тохиолдолд</a:t>
            </a:r>
          </a:p>
        </p:txBody>
      </p:sp>
    </p:spTree>
    <p:extLst>
      <p:ext uri="{BB962C8B-B14F-4D97-AF65-F5344CB8AC3E}">
        <p14:creationId xmlns:p14="http://schemas.microsoft.com/office/powerpoint/2010/main" val="679961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204216" y="121285"/>
            <a:ext cx="11707368" cy="573659"/>
          </a:xfrm>
        </p:spPr>
        <p:txBody>
          <a:bodyPr>
            <a:normAutofit fontScale="90000"/>
          </a:bodyPr>
          <a:lstStyle/>
          <a:p>
            <a:pPr algn="just"/>
            <a:r>
              <a:rPr lang="ru-RU" sz="3600" b="1" dirty="0">
                <a:solidFill>
                  <a:srgbClr val="002060"/>
                </a:solidFill>
                <a:latin typeface="Times New Roman" panose="02020603050405020304" pitchFamily="18" charset="0"/>
                <a:cs typeface="Times New Roman" panose="02020603050405020304" pitchFamily="18" charset="0"/>
              </a:rPr>
              <a:t>Бизнесийн үнэлгээний </a:t>
            </a:r>
            <a:r>
              <a:rPr lang="mn-MN" sz="3600" b="1" dirty="0">
                <a:solidFill>
                  <a:srgbClr val="002060"/>
                </a:solidFill>
                <a:latin typeface="Times New Roman" panose="02020603050405020304" pitchFamily="18" charset="0"/>
                <a:cs typeface="Times New Roman" panose="02020603050405020304" pitchFamily="18" charset="0"/>
              </a:rPr>
              <a:t>хөрөнгөд суурилсан</a:t>
            </a:r>
            <a:r>
              <a:rPr lang="ru-RU" sz="3600" b="1" dirty="0">
                <a:solidFill>
                  <a:srgbClr val="002060"/>
                </a:solidFill>
                <a:latin typeface="Times New Roman" panose="02020603050405020304" pitchFamily="18" charset="0"/>
                <a:cs typeface="Times New Roman" panose="02020603050405020304" pitchFamily="18" charset="0"/>
              </a:rPr>
              <a:t> хандлага</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204216" y="694944"/>
            <a:ext cx="11707368" cy="4787446"/>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“Хөрөнгөд суурилсан хандлага”-аар бизнесийг үнэлэхдээ дараах аргуудыг ашиглаж болно.</a:t>
            </a:r>
          </a:p>
          <a:p>
            <a:pPr lvl="1" algn="just"/>
            <a:r>
              <a:rPr lang="mn-MN" sz="3200" dirty="0">
                <a:solidFill>
                  <a:srgbClr val="002060"/>
                </a:solidFill>
                <a:latin typeface="Times New Roman" panose="02020603050405020304" pitchFamily="18" charset="0"/>
                <a:cs typeface="Times New Roman" panose="02020603050405020304" pitchFamily="18" charset="0"/>
              </a:rPr>
              <a:t>Цэвэр хөрөнгийн өртгийн арга</a:t>
            </a:r>
          </a:p>
          <a:p>
            <a:pPr lvl="1" algn="just"/>
            <a:r>
              <a:rPr lang="mn-MN" sz="3200" dirty="0">
                <a:solidFill>
                  <a:srgbClr val="002060"/>
                </a:solidFill>
                <a:latin typeface="Times New Roman" panose="02020603050405020304" pitchFamily="18" charset="0"/>
                <a:cs typeface="Times New Roman" panose="02020603050405020304" pitchFamily="18" charset="0"/>
              </a:rPr>
              <a:t>Татан буулгах өртгийн арга</a:t>
            </a:r>
          </a:p>
          <a:p>
            <a:pPr algn="just"/>
            <a:endParaRPr lang="mn-M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6985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43256" y="145669"/>
            <a:ext cx="11743944" cy="561467"/>
          </a:xfrm>
        </p:spPr>
        <p:txBody>
          <a:bodyPr>
            <a:normAutofit fontScale="90000"/>
          </a:bodyPr>
          <a:lstStyle/>
          <a:p>
            <a:pPr algn="just"/>
            <a:r>
              <a:rPr lang="ru-RU" sz="4000" b="1" dirty="0">
                <a:solidFill>
                  <a:srgbClr val="002060"/>
                </a:solidFill>
                <a:latin typeface="Times New Roman" panose="02020603050405020304" pitchFamily="18" charset="0"/>
                <a:cs typeface="Times New Roman" panose="02020603050405020304" pitchFamily="18" charset="0"/>
              </a:rPr>
              <a:t>Бизнесийн үнэлгээн</a:t>
            </a:r>
            <a:r>
              <a:rPr lang="mn-MN" sz="4000" b="1" dirty="0">
                <a:solidFill>
                  <a:srgbClr val="002060"/>
                </a:solidFill>
                <a:latin typeface="Times New Roman" panose="02020603050405020304" pitchFamily="18" charset="0"/>
                <a:cs typeface="Times New Roman" panose="02020603050405020304" pitchFamily="18" charset="0"/>
              </a:rPr>
              <a:t>и</a:t>
            </a:r>
            <a:r>
              <a:rPr lang="ru-RU" sz="4000" b="1" dirty="0">
                <a:solidFill>
                  <a:srgbClr val="002060"/>
                </a:solidFill>
                <a:latin typeface="Times New Roman" panose="02020603050405020304" pitchFamily="18" charset="0"/>
                <a:cs typeface="Times New Roman" panose="02020603050405020304" pitchFamily="18" charset="0"/>
              </a:rPr>
              <a:t>й нэгдсэн дүг</a:t>
            </a:r>
            <a:r>
              <a:rPr lang="mn-MN" sz="4000" b="1" dirty="0">
                <a:solidFill>
                  <a:srgbClr val="002060"/>
                </a:solidFill>
                <a:latin typeface="Times New Roman" panose="02020603050405020304" pitchFamily="18" charset="0"/>
                <a:cs typeface="Times New Roman" panose="02020603050405020304" pitchFamily="18" charset="0"/>
              </a:rPr>
              <a:t>н</a:t>
            </a:r>
            <a:r>
              <a:rPr lang="ru-RU" sz="4000" b="1" dirty="0">
                <a:solidFill>
                  <a:srgbClr val="002060"/>
                </a:solidFill>
                <a:latin typeface="Times New Roman" panose="02020603050405020304" pitchFamily="18" charset="0"/>
                <a:cs typeface="Times New Roman" panose="02020603050405020304" pitchFamily="18" charset="0"/>
              </a:rPr>
              <a:t>элт, тайлан</a:t>
            </a:r>
            <a:endParaRPr lang="en-US" sz="4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43256" y="707136"/>
            <a:ext cx="11743944" cy="4787446"/>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Үнэлгээчин үнэлгээний тайланг бэлтгэж, захиалагч, хэрэглэгчид хүргүүлнэ.</a:t>
            </a:r>
          </a:p>
          <a:p>
            <a:pPr algn="just"/>
            <a:r>
              <a:rPr lang="mn-MN" sz="3600" dirty="0">
                <a:solidFill>
                  <a:srgbClr val="002060"/>
                </a:solidFill>
                <a:latin typeface="Times New Roman" panose="02020603050405020304" pitchFamily="18" charset="0"/>
                <a:cs typeface="Times New Roman" panose="02020603050405020304" pitchFamily="18" charset="0"/>
              </a:rPr>
              <a:t>Үнэлгээний тайлан нь ОУҮС, Монгол улсын “Хөрөнгийн үнэлгээний тухай” хууль болон олон улсын практикт хэрэглэгддэг бизнесийн үнэлгээнд тавигддаг нийтлэг шаардлагуудыг хангасан байна.</a:t>
            </a:r>
          </a:p>
          <a:p>
            <a:pPr algn="just"/>
            <a:endParaRPr lang="mn-M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2129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593F-A923-3578-4D72-7921C217097A}"/>
              </a:ext>
            </a:extLst>
          </p:cNvPr>
          <p:cNvSpPr>
            <a:spLocks noGrp="1"/>
          </p:cNvSpPr>
          <p:nvPr>
            <p:ph type="title"/>
          </p:nvPr>
        </p:nvSpPr>
        <p:spPr>
          <a:xfrm>
            <a:off x="141079" y="0"/>
            <a:ext cx="11794888" cy="761545"/>
          </a:xfrm>
        </p:spPr>
        <p:txBody>
          <a:bodyPr>
            <a:noAutofit/>
          </a:bodyPr>
          <a:lstStyle/>
          <a:p>
            <a:pPr algn="just"/>
            <a:r>
              <a:rPr lang="ru-RU" sz="3600" b="1" dirty="0">
                <a:solidFill>
                  <a:srgbClr val="002060"/>
                </a:solidFill>
                <a:latin typeface="Times New Roman" panose="02020603050405020304" pitchFamily="18" charset="0"/>
                <a:cs typeface="Times New Roman" panose="02020603050405020304" pitchFamily="18" charset="0"/>
              </a:rPr>
              <a:t>Үнэлгээний аргачлалын хэрэгжилтэд тавих хяналт</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922D7-BCB9-9AB3-10FE-1D3BF6698751}"/>
              </a:ext>
            </a:extLst>
          </p:cNvPr>
          <p:cNvSpPr>
            <a:spLocks noGrp="1"/>
          </p:cNvSpPr>
          <p:nvPr>
            <p:ph idx="1"/>
          </p:nvPr>
        </p:nvSpPr>
        <p:spPr>
          <a:xfrm>
            <a:off x="141078" y="761545"/>
            <a:ext cx="11794889" cy="5486400"/>
          </a:xfrm>
        </p:spPr>
        <p:txBody>
          <a:bodyPr>
            <a:normAutofit fontScale="92500"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Энэхүү аргачлалын хэрэгжилтэнд эрх бүхий байгууллага хяналт тавьж, дараах арга хэмжээг авна. Үүнд:</a:t>
            </a:r>
          </a:p>
          <a:p>
            <a:pPr lvl="1" algn="just"/>
            <a:r>
              <a:rPr lang="mn-MN" dirty="0">
                <a:solidFill>
                  <a:srgbClr val="002060"/>
                </a:solidFill>
                <a:latin typeface="Times New Roman" panose="02020603050405020304" pitchFamily="18" charset="0"/>
                <a:cs typeface="Times New Roman" panose="02020603050405020304" pitchFamily="18" charset="0"/>
              </a:rPr>
              <a:t>Хэрэв үнэлгээний тайлангийн баримт нотолгоо, дэвшүүлсэн таамаглал, арга аргачлал, санал, дүгнэлтийн талаар зөрчил илэрсэн тохиолдолд үнэлгээчидтэй уулзан тайлбар авах, санал зөрөлдсөн үндэслэлийг тогтооно.</a:t>
            </a:r>
          </a:p>
          <a:p>
            <a:pPr lvl="1" algn="just"/>
            <a:r>
              <a:rPr lang="mn-MN" dirty="0">
                <a:solidFill>
                  <a:srgbClr val="002060"/>
                </a:solidFill>
                <a:latin typeface="Times New Roman" panose="02020603050405020304" pitchFamily="18" charset="0"/>
                <a:cs typeface="Times New Roman" panose="02020603050405020304" pitchFamily="18" charset="0"/>
              </a:rPr>
              <a:t>Энэхүү аргачлалын дагуу үнэлгээг хийгээгүй тохиолдолд үнэлгээний ажлыг дахин хийхийг болон орхигдсон мэдээллийг нэмж шаардаж болно.</a:t>
            </a:r>
          </a:p>
          <a:p>
            <a:pPr lvl="1" algn="just"/>
            <a:r>
              <a:rPr lang="mn-MN" dirty="0">
                <a:solidFill>
                  <a:srgbClr val="002060"/>
                </a:solidFill>
                <a:latin typeface="Times New Roman" panose="02020603050405020304" pitchFamily="18" charset="0"/>
                <a:cs typeface="Times New Roman" panose="02020603050405020304" pitchFamily="18" charset="0"/>
              </a:rPr>
              <a:t>Үнэлгээг үндэслэлгүй гэж үзсэн, үнэлгээний хандлагуудаарх дүнгүүд их хэмжээгээр зөрүүтэй, төслийн үндэслэл бүдэг, итгэл төрүүлэхээргүй байвал экспертиз хийлгэхийг шаардаж болно.</a:t>
            </a:r>
          </a:p>
          <a:p>
            <a:pPr lvl="1" algn="just"/>
            <a:r>
              <a:rPr lang="mn-MN" dirty="0">
                <a:solidFill>
                  <a:srgbClr val="002060"/>
                </a:solidFill>
                <a:latin typeface="Times New Roman" panose="02020603050405020304" pitchFamily="18" charset="0"/>
                <a:cs typeface="Times New Roman" panose="02020603050405020304" pitchFamily="18" charset="0"/>
              </a:rPr>
              <a:t>Үнэлгээний үнэн бодитой эсэхийг үнэлгээ хийсэн болон экспертиз хийсэн баг хариуцна. Экспертизийн ажлын хөлсийг үнэлгээ хийлгэсэн хуулийн этгээд хариуцна.</a:t>
            </a:r>
          </a:p>
          <a:p>
            <a:pPr lvl="1" algn="just"/>
            <a:r>
              <a:rPr lang="mn-MN" dirty="0">
                <a:solidFill>
                  <a:srgbClr val="002060"/>
                </a:solidFill>
                <a:latin typeface="Times New Roman" panose="02020603050405020304" pitchFamily="18" charset="0"/>
                <a:cs typeface="Times New Roman" panose="02020603050405020304" pitchFamily="18" charset="0"/>
              </a:rPr>
              <a:t>Экспертизийн дүгнэлтийг зөвшөөрөхгүй бол хуулийн дагуу мэргэжлийн зөвлөлд хандана.</a:t>
            </a:r>
          </a:p>
          <a:p>
            <a:pPr lvl="1" algn="just"/>
            <a:r>
              <a:rPr lang="mn-MN" dirty="0">
                <a:solidFill>
                  <a:srgbClr val="002060"/>
                </a:solidFill>
                <a:latin typeface="Times New Roman" panose="02020603050405020304" pitchFamily="18" charset="0"/>
                <a:cs typeface="Times New Roman" panose="02020603050405020304" pitchFamily="18" charset="0"/>
              </a:rPr>
              <a:t>Эрх бүхий байгууллагын тавьсан шаардлагыг удаа дараа биелүүлээгүй, үнэлгээний үр дүнг санаатайгаар гуйвуулсан, үйлчлүүлэгчийн эрх ашгийг хохироосон тохиолдолд тухайн үнэлгээчний тусгай зөвшөөрлийг хүчингүй болгох хүртэл арга хэмжээ авахыг Сангиийн яам, үнэлгээний мэргэжлийн байгууллагад санал болгоно.</a:t>
            </a:r>
          </a:p>
          <a:p>
            <a:pPr algn="just"/>
            <a:endParaRPr lang="mn-M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035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
        <p:nvSpPr>
          <p:cNvPr id="3" name="Content Placeholder 2">
            <a:extLst>
              <a:ext uri="{FF2B5EF4-FFF2-40B4-BE49-F238E27FC236}">
                <a16:creationId xmlns:a16="http://schemas.microsoft.com/office/drawing/2014/main" id="{1EC01C95-B2E7-4EC5-91EE-99ACF65026AB}"/>
              </a:ext>
            </a:extLst>
          </p:cNvPr>
          <p:cNvSpPr txBox="1">
            <a:spLocks/>
          </p:cNvSpPr>
          <p:nvPr/>
        </p:nvSpPr>
        <p:spPr>
          <a:xfrm>
            <a:off x="838200" y="388710"/>
            <a:ext cx="10515600" cy="8242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mn-MN" sz="4000">
                <a:latin typeface="Times New Roman" panose="02020603050405020304" pitchFamily="18" charset="0"/>
                <a:cs typeface="Times New Roman" panose="02020603050405020304" pitchFamily="18" charset="0"/>
              </a:rPr>
              <a:t>Анхаарал хандуулсанд баярлалаа</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A19F58CA-5207-480C-90C1-5E7A94F27D3F"/>
  <p:tag name="ISPRING_CMI5_LAUNCH_METHOD" val="any window"/>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PRESENTATION_TITLE" val="S.EEM101_Lecture15_2023-24.A_ByTs.B_2023.12.05"/>
  <p:tag name="ISPRING_FIRST_PUBLISH" val="1"/>
  <p:tag name="ISPRING_SCORM_ENDPOINT" val="&lt;endpoint&gt;&lt;enable&gt;0&lt;/enable&gt;&lt;lrs&gt;http://&lt;/lrs&gt;&lt;auth&gt;0&lt;/auth&gt;&lt;login&gt;&lt;/login&gt;&lt;password&gt;&lt;/password&gt;&lt;key&gt;&lt;/key&gt;&lt;name&gt;&lt;/name&gt;&lt;email&gt;&lt;/email&gt;&lt;/endpoint&gt;&#10;"/>
  <p:tag name="ISPRING_SCORM_RATE_QUIZZES"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5649</TotalTime>
  <Words>2440</Words>
  <Application>Microsoft Office PowerPoint</Application>
  <PresentationFormat>Widescreen</PresentationFormat>
  <Paragraphs>224</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ЛЕКЦ №15 Бизнесийн үнэлгээ</vt:lpstr>
      <vt:lpstr>Хичээлийн суралцахуйн үр дүнгүүд  Оюутан энэ сэдвийг судалснаар дараах ур чадваруудтай болсон байна. </vt:lpstr>
      <vt:lpstr>Хичээлийн агуулга </vt:lpstr>
      <vt:lpstr>Үнэлгээний олон улсын стандартын тодорхойлолтууд </vt:lpstr>
      <vt:lpstr>Бизнесийн үнэлгээ </vt:lpstr>
      <vt:lpstr>Бизнесийн үнэлгээ хийхэд тавигдах шаардлага</vt:lpstr>
      <vt:lpstr>Бизнесийн үнэлгээ хийхэд тавигдах шаардлага</vt:lpstr>
      <vt:lpstr>Бизнесийн үнэлгээ хийхэд тавигдах шаардлага</vt:lpstr>
      <vt:lpstr>Бизнесийн үнэлгээ хийхэд тавигдах шаардлага</vt:lpstr>
      <vt:lpstr>Бизнесийн үнэлгээ хийхэд тавигдах шаардлага</vt:lpstr>
      <vt:lpstr>Бизнесийн үнэлгээ хийхэд тавигдах шаардлага</vt:lpstr>
      <vt:lpstr>Олон улсын үнэлгээний стандартаас гажих нөхцөлүүд</vt:lpstr>
      <vt:lpstr>Олон улсын үнэлгээний стандартаас гажих нөхцөлүүд</vt:lpstr>
      <vt:lpstr>Бизнесийн үнэлгээний хандлага, аргууд</vt:lpstr>
      <vt:lpstr>Бизнесийн үнэлгээний зах зээлийн харьцуулалтын хандлага</vt:lpstr>
      <vt:lpstr>Бизнесийн үнэлгээний зах зээлийн харьцуулалтын хандлага</vt:lpstr>
      <vt:lpstr>Бизнесийн үнэлгээний зах зээлийн харьцуулалтын хандлага</vt:lpstr>
      <vt:lpstr>Бизнесийн үнэлгээний зах зээлийн харьцуулалтын хандлага</vt:lpstr>
      <vt:lpstr>Бизнесийн үнэлгээний орлогын хандлага</vt:lpstr>
      <vt:lpstr>Бизнесийн үнэлгээний орлогын хандлага</vt:lpstr>
      <vt:lpstr>Бизнесийн үнэлгээний орлогын хандлага</vt:lpstr>
      <vt:lpstr>Бизнесийн үнэлгээний орлогын хандлага</vt:lpstr>
      <vt:lpstr>Бизнесийн үнэлгээний хөрөнгөд суурилсан хандлага</vt:lpstr>
      <vt:lpstr>Бизнесийн үнэлгээний хөрөнгөд суурилсан хандлага</vt:lpstr>
      <vt:lpstr>Бизнесийн үнэлгээний хөрөнгөд суурилсан хандлага</vt:lpstr>
      <vt:lpstr>Бизнесийн үнэлгээний нэгдсэн дүгнэлт, тайлан</vt:lpstr>
      <vt:lpstr>Үнэлгээний аргачлалын хэрэгжилтэд тавих хяналт</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S.EEM101_Lecture15_2023-24.A_ByTs.B_2023.12.05</dc:title>
  <dc:creator>Oyu Chuluun</dc:creator>
  <cp:lastModifiedBy>Ganaa begzsuren</cp:lastModifiedBy>
  <cp:revision>190</cp:revision>
  <cp:lastPrinted>2023-11-01T06:47:32Z</cp:lastPrinted>
  <dcterms:created xsi:type="dcterms:W3CDTF">2023-09-05T14:21:28Z</dcterms:created>
  <dcterms:modified xsi:type="dcterms:W3CDTF">2024-12-15T13:48:48Z</dcterms:modified>
</cp:coreProperties>
</file>