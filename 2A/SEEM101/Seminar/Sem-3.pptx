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48" r:id="rId3"/>
    <p:sldId id="349" r:id="rId4"/>
    <p:sldId id="374" r:id="rId5"/>
    <p:sldId id="371" r:id="rId6"/>
    <p:sldId id="265" r:id="rId7"/>
    <p:sldId id="346" r:id="rId8"/>
    <p:sldId id="363" r:id="rId9"/>
    <p:sldId id="364" r:id="rId10"/>
    <p:sldId id="365" r:id="rId11"/>
    <p:sldId id="366" r:id="rId12"/>
    <p:sldId id="368" r:id="rId13"/>
    <p:sldId id="367" r:id="rId14"/>
    <p:sldId id="376" r:id="rId15"/>
    <p:sldId id="377" r:id="rId16"/>
    <p:sldId id="378" r:id="rId17"/>
    <p:sldId id="375" r:id="rId18"/>
    <p:sldId id="379" r:id="rId19"/>
    <p:sldId id="3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BB20A-9AC9-4FB2-A382-834D0C8DCB43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10C95D-E3DA-4881-BBD4-E5DE25028C37}">
      <dgm:prSet phldrT="[Text]"/>
      <dgm:spPr/>
      <dgm:t>
        <a:bodyPr/>
        <a:lstStyle/>
        <a:p>
          <a:pPr algn="ctr"/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Байгаль орчны судалгаа</a:t>
          </a:r>
          <a:endParaRPr lang="en-US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3A4D93-764A-41FA-8A56-0251D0799611}" type="parTrans" cxnId="{78A69AE3-75BA-41B0-8DE0-21CC6D91033D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4323A8-BF97-4E52-9A6C-CF543BD53A52}" type="sibTrans" cxnId="{78A69AE3-75BA-41B0-8DE0-21CC6D91033D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557801-6EE9-4424-A81E-A42A43EC1B33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Зорилгоо тавь</a:t>
          </a:r>
          <a:endParaRPr lang="en-US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0C8C09-0ED2-4FB2-AF0C-56B246E05FF3}" type="parTrans" cxnId="{7D071B1B-B385-4007-85EB-974AC154EFCA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27E750-F5F2-428C-A4F4-E017EDC8CAA8}" type="sibTrans" cxnId="{7D071B1B-B385-4007-85EB-974AC154EFCA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B8EFC5-6A60-4BE9-BB1F-6DC228BB9345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Стратегийг тодорхойлох</a:t>
          </a:r>
          <a:endParaRPr lang="en-US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0A5370-893E-4E2C-B20A-663F33ACD091}" type="parTrans" cxnId="{727D4770-4E31-46A7-A57D-11EAC2427E7F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287BF1-5F35-4824-B6C3-131BB7BBF711}" type="sibTrans" cxnId="{727D4770-4E31-46A7-A57D-11EAC2427E7F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8D7E56-1568-40BE-8559-858612544348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Байгууллагын бодлого боловсруулах</a:t>
          </a:r>
          <a:endParaRPr lang="en-US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BEB1BD-47B0-42DD-A836-0AF60E8CACD4}" type="parTrans" cxnId="{9294748D-4F48-4A26-A706-F9FBBFEE8C64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79C2E7-6BEE-4F61-AAE8-A7A2B1EC9205}" type="sibTrans" cxnId="{9294748D-4F48-4A26-A706-F9FBBFEE8C64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103461-5E0B-42E8-8C12-012505B378C2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Хуваарь тодорхойл</a:t>
          </a:r>
          <a:endParaRPr lang="en-US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6D3F58-1120-4213-8259-BE8178E248E2}" type="parTrans" cxnId="{94D2D384-31A1-41BF-B0D0-55A34E0D0909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A238B7-3874-461F-9192-EECAAE1A4DC2}" type="sibTrans" cxnId="{94D2D384-31A1-41BF-B0D0-55A34E0D0909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7FFA46-01FB-44AF-A769-8362BE53A4A7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Төсвийг тооцоолох буюу тооцоолох</a:t>
          </a:r>
          <a:endParaRPr lang="en-US" b="1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A773B9-0CD3-41EF-90D3-8E03C71DC1C1}" type="parTrans" cxnId="{6898DBCF-83E6-41EB-9FBE-4B99CD539A1B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66D1A6-462C-4B14-883B-32878C830686}" type="sibTrans" cxnId="{6898DBCF-83E6-41EB-9FBE-4B99CD539A1B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727807-041D-480D-A4ED-C3A894E58D89}">
      <dgm:prSet phldrT="[Text]"/>
      <dgm:spPr/>
      <dgm:t>
        <a:bodyPr/>
        <a:lstStyle/>
        <a:p>
          <a:r>
            <a:rPr lang="mn-MN" b="1" i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Хяналтын механизмыг тодорхойлох</a:t>
          </a:r>
          <a:endParaRPr lang="en-US" b="1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873A75-69AE-4F62-A313-156ADF2A9DF7}" type="parTrans" cxnId="{8E512DE8-F7AE-4511-872A-9AC246261EEB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A457F0-152B-4F38-A4B2-19DC190F12C4}" type="sibTrans" cxnId="{8E512DE8-F7AE-4511-872A-9AC246261EEB}">
      <dgm:prSet/>
      <dgm:spPr/>
      <dgm:t>
        <a:bodyPr/>
        <a:lstStyle/>
        <a:p>
          <a:endParaRPr lang="en-US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020F7B-B65C-452B-82C6-1CE5F2415FEF}" type="pres">
      <dgm:prSet presAssocID="{699BB20A-9AC9-4FB2-A382-834D0C8DCB43}" presName="rootnode" presStyleCnt="0">
        <dgm:presLayoutVars>
          <dgm:chMax/>
          <dgm:chPref/>
          <dgm:dir/>
          <dgm:animLvl val="lvl"/>
        </dgm:presLayoutVars>
      </dgm:prSet>
      <dgm:spPr/>
    </dgm:pt>
    <dgm:pt modelId="{B54FBF08-4B60-48BA-8DE8-9D218449E5D3}" type="pres">
      <dgm:prSet presAssocID="{7A10C95D-E3DA-4881-BBD4-E5DE25028C37}" presName="composite" presStyleCnt="0"/>
      <dgm:spPr/>
    </dgm:pt>
    <dgm:pt modelId="{56CEE93E-1663-4D4B-98D0-133E77BC26BD}" type="pres">
      <dgm:prSet presAssocID="{7A10C95D-E3DA-4881-BBD4-E5DE25028C37}" presName="LShape" presStyleLbl="alignNode1" presStyleIdx="0" presStyleCnt="13"/>
      <dgm:spPr/>
    </dgm:pt>
    <dgm:pt modelId="{4CD4D276-0420-458C-B8F6-75DED268C5A4}" type="pres">
      <dgm:prSet presAssocID="{7A10C95D-E3DA-4881-BBD4-E5DE25028C37}" presName="ParentText" presStyleLbl="revTx" presStyleIdx="0" presStyleCnt="7">
        <dgm:presLayoutVars>
          <dgm:chMax val="0"/>
          <dgm:chPref val="0"/>
          <dgm:bulletEnabled val="1"/>
        </dgm:presLayoutVars>
      </dgm:prSet>
      <dgm:spPr/>
    </dgm:pt>
    <dgm:pt modelId="{44852C69-343F-4E47-A11C-27ED13D1E3A2}" type="pres">
      <dgm:prSet presAssocID="{7A10C95D-E3DA-4881-BBD4-E5DE25028C37}" presName="Triangle" presStyleLbl="alignNode1" presStyleIdx="1" presStyleCnt="13"/>
      <dgm:spPr/>
    </dgm:pt>
    <dgm:pt modelId="{6B0F4F41-2727-4EBB-BE0A-8CE1E7757EAE}" type="pres">
      <dgm:prSet presAssocID="{A14323A8-BF97-4E52-9A6C-CF543BD53A52}" presName="sibTrans" presStyleCnt="0"/>
      <dgm:spPr/>
    </dgm:pt>
    <dgm:pt modelId="{1F692EE7-EE0A-4885-A97E-0512F2637048}" type="pres">
      <dgm:prSet presAssocID="{A14323A8-BF97-4E52-9A6C-CF543BD53A52}" presName="space" presStyleCnt="0"/>
      <dgm:spPr/>
    </dgm:pt>
    <dgm:pt modelId="{440ABC10-4965-4AFC-9DBC-EEBD0D07FB86}" type="pres">
      <dgm:prSet presAssocID="{6A557801-6EE9-4424-A81E-A42A43EC1B33}" presName="composite" presStyleCnt="0"/>
      <dgm:spPr/>
    </dgm:pt>
    <dgm:pt modelId="{90069181-72F9-43B7-A84C-82F452E18CBE}" type="pres">
      <dgm:prSet presAssocID="{6A557801-6EE9-4424-A81E-A42A43EC1B33}" presName="LShape" presStyleLbl="alignNode1" presStyleIdx="2" presStyleCnt="13"/>
      <dgm:spPr/>
    </dgm:pt>
    <dgm:pt modelId="{D9BA8248-7A30-4469-857D-9164BC4C0280}" type="pres">
      <dgm:prSet presAssocID="{6A557801-6EE9-4424-A81E-A42A43EC1B33}" presName="ParentText" presStyleLbl="revTx" presStyleIdx="1" presStyleCnt="7">
        <dgm:presLayoutVars>
          <dgm:chMax val="0"/>
          <dgm:chPref val="0"/>
          <dgm:bulletEnabled val="1"/>
        </dgm:presLayoutVars>
      </dgm:prSet>
      <dgm:spPr/>
    </dgm:pt>
    <dgm:pt modelId="{30E5B63F-2638-4978-B11B-927A9AACA849}" type="pres">
      <dgm:prSet presAssocID="{6A557801-6EE9-4424-A81E-A42A43EC1B33}" presName="Triangle" presStyleLbl="alignNode1" presStyleIdx="3" presStyleCnt="13"/>
      <dgm:spPr/>
    </dgm:pt>
    <dgm:pt modelId="{36AA6FC3-B34F-42E4-9715-33A8B6766669}" type="pres">
      <dgm:prSet presAssocID="{EC27E750-F5F2-428C-A4F4-E017EDC8CAA8}" presName="sibTrans" presStyleCnt="0"/>
      <dgm:spPr/>
    </dgm:pt>
    <dgm:pt modelId="{83DEB16D-17E7-4C0E-9747-BFB83CECBDCB}" type="pres">
      <dgm:prSet presAssocID="{EC27E750-F5F2-428C-A4F4-E017EDC8CAA8}" presName="space" presStyleCnt="0"/>
      <dgm:spPr/>
    </dgm:pt>
    <dgm:pt modelId="{16B86A55-9109-48FB-B33D-253A22278711}" type="pres">
      <dgm:prSet presAssocID="{43B8EFC5-6A60-4BE9-BB1F-6DC228BB9345}" presName="composite" presStyleCnt="0"/>
      <dgm:spPr/>
    </dgm:pt>
    <dgm:pt modelId="{08A0CEB0-345D-4520-9453-1EBFC414ABBC}" type="pres">
      <dgm:prSet presAssocID="{43B8EFC5-6A60-4BE9-BB1F-6DC228BB9345}" presName="LShape" presStyleLbl="alignNode1" presStyleIdx="4" presStyleCnt="13"/>
      <dgm:spPr/>
    </dgm:pt>
    <dgm:pt modelId="{179B4B84-A992-4BE8-B72D-C624641C2AA0}" type="pres">
      <dgm:prSet presAssocID="{43B8EFC5-6A60-4BE9-BB1F-6DC228BB9345}" presName="ParentText" presStyleLbl="revTx" presStyleIdx="2" presStyleCnt="7">
        <dgm:presLayoutVars>
          <dgm:chMax val="0"/>
          <dgm:chPref val="0"/>
          <dgm:bulletEnabled val="1"/>
        </dgm:presLayoutVars>
      </dgm:prSet>
      <dgm:spPr/>
    </dgm:pt>
    <dgm:pt modelId="{EF148C0E-FCD6-4182-8020-91875AAB5252}" type="pres">
      <dgm:prSet presAssocID="{43B8EFC5-6A60-4BE9-BB1F-6DC228BB9345}" presName="Triangle" presStyleLbl="alignNode1" presStyleIdx="5" presStyleCnt="13"/>
      <dgm:spPr/>
    </dgm:pt>
    <dgm:pt modelId="{023717AC-8D3A-4732-8070-79DA9EDC08BD}" type="pres">
      <dgm:prSet presAssocID="{8A287BF1-5F35-4824-B6C3-131BB7BBF711}" presName="sibTrans" presStyleCnt="0"/>
      <dgm:spPr/>
    </dgm:pt>
    <dgm:pt modelId="{79FE8B9C-4837-408B-8BF0-641B4CA4B0B6}" type="pres">
      <dgm:prSet presAssocID="{8A287BF1-5F35-4824-B6C3-131BB7BBF711}" presName="space" presStyleCnt="0"/>
      <dgm:spPr/>
    </dgm:pt>
    <dgm:pt modelId="{9698D710-7322-41FE-8F3C-ADB28AD51DBD}" type="pres">
      <dgm:prSet presAssocID="{008D7E56-1568-40BE-8559-858612544348}" presName="composite" presStyleCnt="0"/>
      <dgm:spPr/>
    </dgm:pt>
    <dgm:pt modelId="{062EC9EF-0F1C-4836-B6F2-B1C793B0EB6C}" type="pres">
      <dgm:prSet presAssocID="{008D7E56-1568-40BE-8559-858612544348}" presName="LShape" presStyleLbl="alignNode1" presStyleIdx="6" presStyleCnt="13"/>
      <dgm:spPr/>
    </dgm:pt>
    <dgm:pt modelId="{64D263AF-674E-4072-991D-8AB69B671031}" type="pres">
      <dgm:prSet presAssocID="{008D7E56-1568-40BE-8559-858612544348}" presName="ParentText" presStyleLbl="revTx" presStyleIdx="3" presStyleCnt="7">
        <dgm:presLayoutVars>
          <dgm:chMax val="0"/>
          <dgm:chPref val="0"/>
          <dgm:bulletEnabled val="1"/>
        </dgm:presLayoutVars>
      </dgm:prSet>
      <dgm:spPr/>
    </dgm:pt>
    <dgm:pt modelId="{178F9C50-B26E-4C37-89F1-AD5CC1EAE905}" type="pres">
      <dgm:prSet presAssocID="{008D7E56-1568-40BE-8559-858612544348}" presName="Triangle" presStyleLbl="alignNode1" presStyleIdx="7" presStyleCnt="13"/>
      <dgm:spPr/>
    </dgm:pt>
    <dgm:pt modelId="{63FBEF54-5605-450C-AFEB-D45A269EDA2C}" type="pres">
      <dgm:prSet presAssocID="{1779C2E7-6BEE-4F61-AAE8-A7A2B1EC9205}" presName="sibTrans" presStyleCnt="0"/>
      <dgm:spPr/>
    </dgm:pt>
    <dgm:pt modelId="{8F1850AB-5BE1-4A1A-95BE-5E6AD3A5B4FC}" type="pres">
      <dgm:prSet presAssocID="{1779C2E7-6BEE-4F61-AAE8-A7A2B1EC9205}" presName="space" presStyleCnt="0"/>
      <dgm:spPr/>
    </dgm:pt>
    <dgm:pt modelId="{F817ABBC-3ABB-446E-A36D-D030E92D4488}" type="pres">
      <dgm:prSet presAssocID="{00103461-5E0B-42E8-8C12-012505B378C2}" presName="composite" presStyleCnt="0"/>
      <dgm:spPr/>
    </dgm:pt>
    <dgm:pt modelId="{4516A3D9-0F38-45B2-9516-4E45C2DB8148}" type="pres">
      <dgm:prSet presAssocID="{00103461-5E0B-42E8-8C12-012505B378C2}" presName="LShape" presStyleLbl="alignNode1" presStyleIdx="8" presStyleCnt="13"/>
      <dgm:spPr/>
    </dgm:pt>
    <dgm:pt modelId="{BEE0EF2D-05A1-4560-87CC-4EF04DEB3CC2}" type="pres">
      <dgm:prSet presAssocID="{00103461-5E0B-42E8-8C12-012505B378C2}" presName="ParentText" presStyleLbl="revTx" presStyleIdx="4" presStyleCnt="7">
        <dgm:presLayoutVars>
          <dgm:chMax val="0"/>
          <dgm:chPref val="0"/>
          <dgm:bulletEnabled val="1"/>
        </dgm:presLayoutVars>
      </dgm:prSet>
      <dgm:spPr/>
    </dgm:pt>
    <dgm:pt modelId="{B46A6D9B-FFFF-43DD-97FE-FDD61CECE60C}" type="pres">
      <dgm:prSet presAssocID="{00103461-5E0B-42E8-8C12-012505B378C2}" presName="Triangle" presStyleLbl="alignNode1" presStyleIdx="9" presStyleCnt="13"/>
      <dgm:spPr/>
    </dgm:pt>
    <dgm:pt modelId="{7CAED035-7E39-4634-94FC-54296B87DDE0}" type="pres">
      <dgm:prSet presAssocID="{CBA238B7-3874-461F-9192-EECAAE1A4DC2}" presName="sibTrans" presStyleCnt="0"/>
      <dgm:spPr/>
    </dgm:pt>
    <dgm:pt modelId="{CF493F11-06B9-4541-8094-AD7027F5785B}" type="pres">
      <dgm:prSet presAssocID="{CBA238B7-3874-461F-9192-EECAAE1A4DC2}" presName="space" presStyleCnt="0"/>
      <dgm:spPr/>
    </dgm:pt>
    <dgm:pt modelId="{555216CE-F68D-4450-9031-EDB0BC9C8B70}" type="pres">
      <dgm:prSet presAssocID="{F47FFA46-01FB-44AF-A769-8362BE53A4A7}" presName="composite" presStyleCnt="0"/>
      <dgm:spPr/>
    </dgm:pt>
    <dgm:pt modelId="{D14E497F-7689-4F37-A53A-7A1FE600EA83}" type="pres">
      <dgm:prSet presAssocID="{F47FFA46-01FB-44AF-A769-8362BE53A4A7}" presName="LShape" presStyleLbl="alignNode1" presStyleIdx="10" presStyleCnt="13"/>
      <dgm:spPr/>
    </dgm:pt>
    <dgm:pt modelId="{C705640B-359F-40F8-A276-6F80D205CF22}" type="pres">
      <dgm:prSet presAssocID="{F47FFA46-01FB-44AF-A769-8362BE53A4A7}" presName="ParentText" presStyleLbl="revTx" presStyleIdx="5" presStyleCnt="7">
        <dgm:presLayoutVars>
          <dgm:chMax val="0"/>
          <dgm:chPref val="0"/>
          <dgm:bulletEnabled val="1"/>
        </dgm:presLayoutVars>
      </dgm:prSet>
      <dgm:spPr/>
    </dgm:pt>
    <dgm:pt modelId="{FF34CA1D-069E-46A7-9FE4-B13A0C651C11}" type="pres">
      <dgm:prSet presAssocID="{F47FFA46-01FB-44AF-A769-8362BE53A4A7}" presName="Triangle" presStyleLbl="alignNode1" presStyleIdx="11" presStyleCnt="13"/>
      <dgm:spPr/>
    </dgm:pt>
    <dgm:pt modelId="{C27D4035-0534-4074-B034-0A1E314CA4AE}" type="pres">
      <dgm:prSet presAssocID="{D766D1A6-462C-4B14-883B-32878C830686}" presName="sibTrans" presStyleCnt="0"/>
      <dgm:spPr/>
    </dgm:pt>
    <dgm:pt modelId="{61967FB7-F707-408F-AFA9-5BFC84AA9B14}" type="pres">
      <dgm:prSet presAssocID="{D766D1A6-462C-4B14-883B-32878C830686}" presName="space" presStyleCnt="0"/>
      <dgm:spPr/>
    </dgm:pt>
    <dgm:pt modelId="{AAA1D059-173D-4D56-A99A-87A6B24778C0}" type="pres">
      <dgm:prSet presAssocID="{63727807-041D-480D-A4ED-C3A894E58D89}" presName="composite" presStyleCnt="0"/>
      <dgm:spPr/>
    </dgm:pt>
    <dgm:pt modelId="{A3C96AA5-B749-45C9-8E0D-6C10C5E17796}" type="pres">
      <dgm:prSet presAssocID="{63727807-041D-480D-A4ED-C3A894E58D89}" presName="LShape" presStyleLbl="alignNode1" presStyleIdx="12" presStyleCnt="13"/>
      <dgm:spPr/>
    </dgm:pt>
    <dgm:pt modelId="{A36A7FD9-4E17-4C33-AF5E-81E5D5F99A0C}" type="pres">
      <dgm:prSet presAssocID="{63727807-041D-480D-A4ED-C3A894E58D89}" presName="ParentText" presStyleLbl="revTx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7D071B1B-B385-4007-85EB-974AC154EFCA}" srcId="{699BB20A-9AC9-4FB2-A382-834D0C8DCB43}" destId="{6A557801-6EE9-4424-A81E-A42A43EC1B33}" srcOrd="1" destOrd="0" parTransId="{510C8C09-0ED2-4FB2-AF0C-56B246E05FF3}" sibTransId="{EC27E750-F5F2-428C-A4F4-E017EDC8CAA8}"/>
    <dgm:cxn modelId="{69E0F821-D4D6-4646-A6B0-C08FE6CA0292}" type="presOf" srcId="{43B8EFC5-6A60-4BE9-BB1F-6DC228BB9345}" destId="{179B4B84-A992-4BE8-B72D-C624641C2AA0}" srcOrd="0" destOrd="0" presId="urn:microsoft.com/office/officeart/2009/3/layout/StepUpProcess"/>
    <dgm:cxn modelId="{908A022C-F3C3-46F3-8A67-07AEF5A4EC02}" type="presOf" srcId="{008D7E56-1568-40BE-8559-858612544348}" destId="{64D263AF-674E-4072-991D-8AB69B671031}" srcOrd="0" destOrd="0" presId="urn:microsoft.com/office/officeart/2009/3/layout/StepUpProcess"/>
    <dgm:cxn modelId="{CD7D832E-F97D-45FB-B5D6-7595F653655E}" type="presOf" srcId="{63727807-041D-480D-A4ED-C3A894E58D89}" destId="{A36A7FD9-4E17-4C33-AF5E-81E5D5F99A0C}" srcOrd="0" destOrd="0" presId="urn:microsoft.com/office/officeart/2009/3/layout/StepUpProcess"/>
    <dgm:cxn modelId="{727D4770-4E31-46A7-A57D-11EAC2427E7F}" srcId="{699BB20A-9AC9-4FB2-A382-834D0C8DCB43}" destId="{43B8EFC5-6A60-4BE9-BB1F-6DC228BB9345}" srcOrd="2" destOrd="0" parTransId="{D20A5370-893E-4E2C-B20A-663F33ACD091}" sibTransId="{8A287BF1-5F35-4824-B6C3-131BB7BBF711}"/>
    <dgm:cxn modelId="{4B398255-5504-4418-9160-D9F058F9DC34}" type="presOf" srcId="{699BB20A-9AC9-4FB2-A382-834D0C8DCB43}" destId="{8B020F7B-B65C-452B-82C6-1CE5F2415FEF}" srcOrd="0" destOrd="0" presId="urn:microsoft.com/office/officeart/2009/3/layout/StepUpProcess"/>
    <dgm:cxn modelId="{D63E1776-AA11-4D48-B131-F7265FFC0A68}" type="presOf" srcId="{F47FFA46-01FB-44AF-A769-8362BE53A4A7}" destId="{C705640B-359F-40F8-A276-6F80D205CF22}" srcOrd="0" destOrd="0" presId="urn:microsoft.com/office/officeart/2009/3/layout/StepUpProcess"/>
    <dgm:cxn modelId="{9BFDF67D-487E-4807-9F4E-1AC20E794743}" type="presOf" srcId="{7A10C95D-E3DA-4881-BBD4-E5DE25028C37}" destId="{4CD4D276-0420-458C-B8F6-75DED268C5A4}" srcOrd="0" destOrd="0" presId="urn:microsoft.com/office/officeart/2009/3/layout/StepUpProcess"/>
    <dgm:cxn modelId="{94D2D384-31A1-41BF-B0D0-55A34E0D0909}" srcId="{699BB20A-9AC9-4FB2-A382-834D0C8DCB43}" destId="{00103461-5E0B-42E8-8C12-012505B378C2}" srcOrd="4" destOrd="0" parTransId="{156D3F58-1120-4213-8259-BE8178E248E2}" sibTransId="{CBA238B7-3874-461F-9192-EECAAE1A4DC2}"/>
    <dgm:cxn modelId="{9294748D-4F48-4A26-A706-F9FBBFEE8C64}" srcId="{699BB20A-9AC9-4FB2-A382-834D0C8DCB43}" destId="{008D7E56-1568-40BE-8559-858612544348}" srcOrd="3" destOrd="0" parTransId="{2CBEB1BD-47B0-42DD-A836-0AF60E8CACD4}" sibTransId="{1779C2E7-6BEE-4F61-AAE8-A7A2B1EC9205}"/>
    <dgm:cxn modelId="{111C378E-A38D-434F-B464-391ADC22E5ED}" type="presOf" srcId="{00103461-5E0B-42E8-8C12-012505B378C2}" destId="{BEE0EF2D-05A1-4560-87CC-4EF04DEB3CC2}" srcOrd="0" destOrd="0" presId="urn:microsoft.com/office/officeart/2009/3/layout/StepUpProcess"/>
    <dgm:cxn modelId="{5B2DBDCD-3024-4890-8574-845EE4459496}" type="presOf" srcId="{6A557801-6EE9-4424-A81E-A42A43EC1B33}" destId="{D9BA8248-7A30-4469-857D-9164BC4C0280}" srcOrd="0" destOrd="0" presId="urn:microsoft.com/office/officeart/2009/3/layout/StepUpProcess"/>
    <dgm:cxn modelId="{6898DBCF-83E6-41EB-9FBE-4B99CD539A1B}" srcId="{699BB20A-9AC9-4FB2-A382-834D0C8DCB43}" destId="{F47FFA46-01FB-44AF-A769-8362BE53A4A7}" srcOrd="5" destOrd="0" parTransId="{7AA773B9-0CD3-41EF-90D3-8E03C71DC1C1}" sibTransId="{D766D1A6-462C-4B14-883B-32878C830686}"/>
    <dgm:cxn modelId="{78A69AE3-75BA-41B0-8DE0-21CC6D91033D}" srcId="{699BB20A-9AC9-4FB2-A382-834D0C8DCB43}" destId="{7A10C95D-E3DA-4881-BBD4-E5DE25028C37}" srcOrd="0" destOrd="0" parTransId="{293A4D93-764A-41FA-8A56-0251D0799611}" sibTransId="{A14323A8-BF97-4E52-9A6C-CF543BD53A52}"/>
    <dgm:cxn modelId="{8E512DE8-F7AE-4511-872A-9AC246261EEB}" srcId="{699BB20A-9AC9-4FB2-A382-834D0C8DCB43}" destId="{63727807-041D-480D-A4ED-C3A894E58D89}" srcOrd="6" destOrd="0" parTransId="{FD873A75-69AE-4F62-A313-156ADF2A9DF7}" sibTransId="{F4A457F0-152B-4F38-A4B2-19DC190F12C4}"/>
    <dgm:cxn modelId="{DAA29E82-A60E-49FA-B382-D82BE3C68EF4}" type="presParOf" srcId="{8B020F7B-B65C-452B-82C6-1CE5F2415FEF}" destId="{B54FBF08-4B60-48BA-8DE8-9D218449E5D3}" srcOrd="0" destOrd="0" presId="urn:microsoft.com/office/officeart/2009/3/layout/StepUpProcess"/>
    <dgm:cxn modelId="{86867356-735C-4172-8662-526CF063FAA8}" type="presParOf" srcId="{B54FBF08-4B60-48BA-8DE8-9D218449E5D3}" destId="{56CEE93E-1663-4D4B-98D0-133E77BC26BD}" srcOrd="0" destOrd="0" presId="urn:microsoft.com/office/officeart/2009/3/layout/StepUpProcess"/>
    <dgm:cxn modelId="{CAD4FB87-365F-454B-A6CB-CC09C3471129}" type="presParOf" srcId="{B54FBF08-4B60-48BA-8DE8-9D218449E5D3}" destId="{4CD4D276-0420-458C-B8F6-75DED268C5A4}" srcOrd="1" destOrd="0" presId="urn:microsoft.com/office/officeart/2009/3/layout/StepUpProcess"/>
    <dgm:cxn modelId="{EF4E6FEE-9024-4607-9730-78CB830BBE5D}" type="presParOf" srcId="{B54FBF08-4B60-48BA-8DE8-9D218449E5D3}" destId="{44852C69-343F-4E47-A11C-27ED13D1E3A2}" srcOrd="2" destOrd="0" presId="urn:microsoft.com/office/officeart/2009/3/layout/StepUpProcess"/>
    <dgm:cxn modelId="{CAF13BED-E3E8-4CE0-95BC-5FC050EEDCFC}" type="presParOf" srcId="{8B020F7B-B65C-452B-82C6-1CE5F2415FEF}" destId="{6B0F4F41-2727-4EBB-BE0A-8CE1E7757EAE}" srcOrd="1" destOrd="0" presId="urn:microsoft.com/office/officeart/2009/3/layout/StepUpProcess"/>
    <dgm:cxn modelId="{20C72E7A-9718-4C5C-8B79-86EB7C39E6F8}" type="presParOf" srcId="{6B0F4F41-2727-4EBB-BE0A-8CE1E7757EAE}" destId="{1F692EE7-EE0A-4885-A97E-0512F2637048}" srcOrd="0" destOrd="0" presId="urn:microsoft.com/office/officeart/2009/3/layout/StepUpProcess"/>
    <dgm:cxn modelId="{2A71BBC0-403B-4A51-9C14-ECEC9158733F}" type="presParOf" srcId="{8B020F7B-B65C-452B-82C6-1CE5F2415FEF}" destId="{440ABC10-4965-4AFC-9DBC-EEBD0D07FB86}" srcOrd="2" destOrd="0" presId="urn:microsoft.com/office/officeart/2009/3/layout/StepUpProcess"/>
    <dgm:cxn modelId="{19FEAC06-EFDB-4297-AE6C-FA0DB28E8D33}" type="presParOf" srcId="{440ABC10-4965-4AFC-9DBC-EEBD0D07FB86}" destId="{90069181-72F9-43B7-A84C-82F452E18CBE}" srcOrd="0" destOrd="0" presId="urn:microsoft.com/office/officeart/2009/3/layout/StepUpProcess"/>
    <dgm:cxn modelId="{50C855DB-3724-481A-A762-DD70005CDD4C}" type="presParOf" srcId="{440ABC10-4965-4AFC-9DBC-EEBD0D07FB86}" destId="{D9BA8248-7A30-4469-857D-9164BC4C0280}" srcOrd="1" destOrd="0" presId="urn:microsoft.com/office/officeart/2009/3/layout/StepUpProcess"/>
    <dgm:cxn modelId="{9AF7D72D-C416-49D2-9F1D-18AD5B82CDCC}" type="presParOf" srcId="{440ABC10-4965-4AFC-9DBC-EEBD0D07FB86}" destId="{30E5B63F-2638-4978-B11B-927A9AACA849}" srcOrd="2" destOrd="0" presId="urn:microsoft.com/office/officeart/2009/3/layout/StepUpProcess"/>
    <dgm:cxn modelId="{5D93F32C-8E36-4440-A267-0847E33F3888}" type="presParOf" srcId="{8B020F7B-B65C-452B-82C6-1CE5F2415FEF}" destId="{36AA6FC3-B34F-42E4-9715-33A8B6766669}" srcOrd="3" destOrd="0" presId="urn:microsoft.com/office/officeart/2009/3/layout/StepUpProcess"/>
    <dgm:cxn modelId="{2AF56248-9DC5-476D-B18A-D0B4D85A3A5C}" type="presParOf" srcId="{36AA6FC3-B34F-42E4-9715-33A8B6766669}" destId="{83DEB16D-17E7-4C0E-9747-BFB83CECBDCB}" srcOrd="0" destOrd="0" presId="urn:microsoft.com/office/officeart/2009/3/layout/StepUpProcess"/>
    <dgm:cxn modelId="{080ECC67-C1AB-4BDE-B363-91031DC0035A}" type="presParOf" srcId="{8B020F7B-B65C-452B-82C6-1CE5F2415FEF}" destId="{16B86A55-9109-48FB-B33D-253A22278711}" srcOrd="4" destOrd="0" presId="urn:microsoft.com/office/officeart/2009/3/layout/StepUpProcess"/>
    <dgm:cxn modelId="{F54C8DF7-DA84-4749-8DBC-B62572167411}" type="presParOf" srcId="{16B86A55-9109-48FB-B33D-253A22278711}" destId="{08A0CEB0-345D-4520-9453-1EBFC414ABBC}" srcOrd="0" destOrd="0" presId="urn:microsoft.com/office/officeart/2009/3/layout/StepUpProcess"/>
    <dgm:cxn modelId="{FD3569A9-0B85-4C25-A03B-7FA27344DBCE}" type="presParOf" srcId="{16B86A55-9109-48FB-B33D-253A22278711}" destId="{179B4B84-A992-4BE8-B72D-C624641C2AA0}" srcOrd="1" destOrd="0" presId="urn:microsoft.com/office/officeart/2009/3/layout/StepUpProcess"/>
    <dgm:cxn modelId="{CBA4BE00-F123-489C-870B-B69FE425DCD0}" type="presParOf" srcId="{16B86A55-9109-48FB-B33D-253A22278711}" destId="{EF148C0E-FCD6-4182-8020-91875AAB5252}" srcOrd="2" destOrd="0" presId="urn:microsoft.com/office/officeart/2009/3/layout/StepUpProcess"/>
    <dgm:cxn modelId="{ED044AD9-09E5-4421-88F0-2C9A21332EA7}" type="presParOf" srcId="{8B020F7B-B65C-452B-82C6-1CE5F2415FEF}" destId="{023717AC-8D3A-4732-8070-79DA9EDC08BD}" srcOrd="5" destOrd="0" presId="urn:microsoft.com/office/officeart/2009/3/layout/StepUpProcess"/>
    <dgm:cxn modelId="{1E748372-48C1-4B5E-A09D-E8E8FC73887C}" type="presParOf" srcId="{023717AC-8D3A-4732-8070-79DA9EDC08BD}" destId="{79FE8B9C-4837-408B-8BF0-641B4CA4B0B6}" srcOrd="0" destOrd="0" presId="urn:microsoft.com/office/officeart/2009/3/layout/StepUpProcess"/>
    <dgm:cxn modelId="{0363577C-8683-4C1F-893F-9AE012F6B32D}" type="presParOf" srcId="{8B020F7B-B65C-452B-82C6-1CE5F2415FEF}" destId="{9698D710-7322-41FE-8F3C-ADB28AD51DBD}" srcOrd="6" destOrd="0" presId="urn:microsoft.com/office/officeart/2009/3/layout/StepUpProcess"/>
    <dgm:cxn modelId="{0AF8F3BE-9EF3-4AFF-8496-3CF53427CB90}" type="presParOf" srcId="{9698D710-7322-41FE-8F3C-ADB28AD51DBD}" destId="{062EC9EF-0F1C-4836-B6F2-B1C793B0EB6C}" srcOrd="0" destOrd="0" presId="urn:microsoft.com/office/officeart/2009/3/layout/StepUpProcess"/>
    <dgm:cxn modelId="{6AFDAB91-B327-4809-8576-ADB9C9C5027F}" type="presParOf" srcId="{9698D710-7322-41FE-8F3C-ADB28AD51DBD}" destId="{64D263AF-674E-4072-991D-8AB69B671031}" srcOrd="1" destOrd="0" presId="urn:microsoft.com/office/officeart/2009/3/layout/StepUpProcess"/>
    <dgm:cxn modelId="{A87C172F-7614-4D1C-9963-2D4DCD523890}" type="presParOf" srcId="{9698D710-7322-41FE-8F3C-ADB28AD51DBD}" destId="{178F9C50-B26E-4C37-89F1-AD5CC1EAE905}" srcOrd="2" destOrd="0" presId="urn:microsoft.com/office/officeart/2009/3/layout/StepUpProcess"/>
    <dgm:cxn modelId="{5E1B7C53-F100-4DA6-A3AE-C40004CDD73C}" type="presParOf" srcId="{8B020F7B-B65C-452B-82C6-1CE5F2415FEF}" destId="{63FBEF54-5605-450C-AFEB-D45A269EDA2C}" srcOrd="7" destOrd="0" presId="urn:microsoft.com/office/officeart/2009/3/layout/StepUpProcess"/>
    <dgm:cxn modelId="{A6EE09B5-85FD-4535-88EF-DC475DCA5D31}" type="presParOf" srcId="{63FBEF54-5605-450C-AFEB-D45A269EDA2C}" destId="{8F1850AB-5BE1-4A1A-95BE-5E6AD3A5B4FC}" srcOrd="0" destOrd="0" presId="urn:microsoft.com/office/officeart/2009/3/layout/StepUpProcess"/>
    <dgm:cxn modelId="{B8A9156E-8981-4DED-853B-0DCAA5813E93}" type="presParOf" srcId="{8B020F7B-B65C-452B-82C6-1CE5F2415FEF}" destId="{F817ABBC-3ABB-446E-A36D-D030E92D4488}" srcOrd="8" destOrd="0" presId="urn:microsoft.com/office/officeart/2009/3/layout/StepUpProcess"/>
    <dgm:cxn modelId="{08D0522D-42A9-4F42-A003-F28361EA0E15}" type="presParOf" srcId="{F817ABBC-3ABB-446E-A36D-D030E92D4488}" destId="{4516A3D9-0F38-45B2-9516-4E45C2DB8148}" srcOrd="0" destOrd="0" presId="urn:microsoft.com/office/officeart/2009/3/layout/StepUpProcess"/>
    <dgm:cxn modelId="{8B08F3A5-5BA7-45F5-B0B7-6432C6CF899A}" type="presParOf" srcId="{F817ABBC-3ABB-446E-A36D-D030E92D4488}" destId="{BEE0EF2D-05A1-4560-87CC-4EF04DEB3CC2}" srcOrd="1" destOrd="0" presId="urn:microsoft.com/office/officeart/2009/3/layout/StepUpProcess"/>
    <dgm:cxn modelId="{8415D583-1A8B-49F6-8B68-6A24F444FFE6}" type="presParOf" srcId="{F817ABBC-3ABB-446E-A36D-D030E92D4488}" destId="{B46A6D9B-FFFF-43DD-97FE-FDD61CECE60C}" srcOrd="2" destOrd="0" presId="urn:microsoft.com/office/officeart/2009/3/layout/StepUpProcess"/>
    <dgm:cxn modelId="{5A39F1B5-23D1-491F-8FA7-C1B25B7E6339}" type="presParOf" srcId="{8B020F7B-B65C-452B-82C6-1CE5F2415FEF}" destId="{7CAED035-7E39-4634-94FC-54296B87DDE0}" srcOrd="9" destOrd="0" presId="urn:microsoft.com/office/officeart/2009/3/layout/StepUpProcess"/>
    <dgm:cxn modelId="{6C60E9A2-A0DD-4489-835F-64D27291081A}" type="presParOf" srcId="{7CAED035-7E39-4634-94FC-54296B87DDE0}" destId="{CF493F11-06B9-4541-8094-AD7027F5785B}" srcOrd="0" destOrd="0" presId="urn:microsoft.com/office/officeart/2009/3/layout/StepUpProcess"/>
    <dgm:cxn modelId="{CA374870-B777-429C-8073-1DD54889EA91}" type="presParOf" srcId="{8B020F7B-B65C-452B-82C6-1CE5F2415FEF}" destId="{555216CE-F68D-4450-9031-EDB0BC9C8B70}" srcOrd="10" destOrd="0" presId="urn:microsoft.com/office/officeart/2009/3/layout/StepUpProcess"/>
    <dgm:cxn modelId="{290C5719-CBE6-4B8C-9203-D278825FB04A}" type="presParOf" srcId="{555216CE-F68D-4450-9031-EDB0BC9C8B70}" destId="{D14E497F-7689-4F37-A53A-7A1FE600EA83}" srcOrd="0" destOrd="0" presId="urn:microsoft.com/office/officeart/2009/3/layout/StepUpProcess"/>
    <dgm:cxn modelId="{F9BE8C07-050C-45D9-966E-1DD8695ADFA5}" type="presParOf" srcId="{555216CE-F68D-4450-9031-EDB0BC9C8B70}" destId="{C705640B-359F-40F8-A276-6F80D205CF22}" srcOrd="1" destOrd="0" presId="urn:microsoft.com/office/officeart/2009/3/layout/StepUpProcess"/>
    <dgm:cxn modelId="{A9CB71EF-5709-444B-A678-5118BEE71FDE}" type="presParOf" srcId="{555216CE-F68D-4450-9031-EDB0BC9C8B70}" destId="{FF34CA1D-069E-46A7-9FE4-B13A0C651C11}" srcOrd="2" destOrd="0" presId="urn:microsoft.com/office/officeart/2009/3/layout/StepUpProcess"/>
    <dgm:cxn modelId="{136B689C-E713-4A57-A1F0-48B57428756E}" type="presParOf" srcId="{8B020F7B-B65C-452B-82C6-1CE5F2415FEF}" destId="{C27D4035-0534-4074-B034-0A1E314CA4AE}" srcOrd="11" destOrd="0" presId="urn:microsoft.com/office/officeart/2009/3/layout/StepUpProcess"/>
    <dgm:cxn modelId="{C088FFF6-1587-4738-AF6A-F74A08141B8E}" type="presParOf" srcId="{C27D4035-0534-4074-B034-0A1E314CA4AE}" destId="{61967FB7-F707-408F-AFA9-5BFC84AA9B14}" srcOrd="0" destOrd="0" presId="urn:microsoft.com/office/officeart/2009/3/layout/StepUpProcess"/>
    <dgm:cxn modelId="{A78E08ED-B0E9-4162-B77A-76B27C4BB3C6}" type="presParOf" srcId="{8B020F7B-B65C-452B-82C6-1CE5F2415FEF}" destId="{AAA1D059-173D-4D56-A99A-87A6B24778C0}" srcOrd="12" destOrd="0" presId="urn:microsoft.com/office/officeart/2009/3/layout/StepUpProcess"/>
    <dgm:cxn modelId="{638E4CCA-0BB6-4989-82BE-42AFFC1AEAAD}" type="presParOf" srcId="{AAA1D059-173D-4D56-A99A-87A6B24778C0}" destId="{A3C96AA5-B749-45C9-8E0D-6C10C5E17796}" srcOrd="0" destOrd="0" presId="urn:microsoft.com/office/officeart/2009/3/layout/StepUpProcess"/>
    <dgm:cxn modelId="{598645E8-E20E-4AEC-8A0B-47500127E09C}" type="presParOf" srcId="{AAA1D059-173D-4D56-A99A-87A6B24778C0}" destId="{A36A7FD9-4E17-4C33-AF5E-81E5D5F99A0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EE93E-1663-4D4B-98D0-133E77BC26BD}">
      <dsp:nvSpPr>
        <dsp:cNvPr id="0" name=""/>
        <dsp:cNvSpPr/>
      </dsp:nvSpPr>
      <dsp:spPr>
        <a:xfrm rot="5400000">
          <a:off x="278588" y="2417429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4D276-0420-458C-B8F6-75DED268C5A4}">
      <dsp:nvSpPr>
        <dsp:cNvPr id="0" name=""/>
        <dsp:cNvSpPr/>
      </dsp:nvSpPr>
      <dsp:spPr>
        <a:xfrm>
          <a:off x="140495" y="2828726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Байгаль орчны судалгаа</a:t>
          </a:r>
          <a:endParaRPr lang="en-US" sz="1200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0495" y="2828726"/>
        <a:ext cx="1242773" cy="1089364"/>
      </dsp:txXfrm>
    </dsp:sp>
    <dsp:sp modelId="{44852C69-343F-4E47-A11C-27ED13D1E3A2}">
      <dsp:nvSpPr>
        <dsp:cNvPr id="0" name=""/>
        <dsp:cNvSpPr/>
      </dsp:nvSpPr>
      <dsp:spPr>
        <a:xfrm>
          <a:off x="1148783" y="2316084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69181-72F9-43B7-A84C-82F452E18CBE}">
      <dsp:nvSpPr>
        <dsp:cNvPr id="0" name=""/>
        <dsp:cNvSpPr/>
      </dsp:nvSpPr>
      <dsp:spPr>
        <a:xfrm rot="5400000">
          <a:off x="1799986" y="2040957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A8248-7A30-4469-857D-9164BC4C0280}">
      <dsp:nvSpPr>
        <dsp:cNvPr id="0" name=""/>
        <dsp:cNvSpPr/>
      </dsp:nvSpPr>
      <dsp:spPr>
        <a:xfrm>
          <a:off x="1661893" y="2452255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Зорилгоо тавь</a:t>
          </a:r>
          <a:endParaRPr lang="en-US" sz="1200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61893" y="2452255"/>
        <a:ext cx="1242773" cy="1089364"/>
      </dsp:txXfrm>
    </dsp:sp>
    <dsp:sp modelId="{30E5B63F-2638-4978-B11B-927A9AACA849}">
      <dsp:nvSpPr>
        <dsp:cNvPr id="0" name=""/>
        <dsp:cNvSpPr/>
      </dsp:nvSpPr>
      <dsp:spPr>
        <a:xfrm>
          <a:off x="2670181" y="1939613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0CEB0-345D-4520-9453-1EBFC414ABBC}">
      <dsp:nvSpPr>
        <dsp:cNvPr id="0" name=""/>
        <dsp:cNvSpPr/>
      </dsp:nvSpPr>
      <dsp:spPr>
        <a:xfrm rot="5400000">
          <a:off x="3321384" y="1664486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B4B84-A992-4BE8-B72D-C624641C2AA0}">
      <dsp:nvSpPr>
        <dsp:cNvPr id="0" name=""/>
        <dsp:cNvSpPr/>
      </dsp:nvSpPr>
      <dsp:spPr>
        <a:xfrm>
          <a:off x="3183291" y="2075783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Стратегийг тодорхойлох</a:t>
          </a:r>
          <a:endParaRPr lang="en-US" sz="1200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83291" y="2075783"/>
        <a:ext cx="1242773" cy="1089364"/>
      </dsp:txXfrm>
    </dsp:sp>
    <dsp:sp modelId="{EF148C0E-FCD6-4182-8020-91875AAB5252}">
      <dsp:nvSpPr>
        <dsp:cNvPr id="0" name=""/>
        <dsp:cNvSpPr/>
      </dsp:nvSpPr>
      <dsp:spPr>
        <a:xfrm>
          <a:off x="4191579" y="1563141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EC9EF-0F1C-4836-B6F2-B1C793B0EB6C}">
      <dsp:nvSpPr>
        <dsp:cNvPr id="0" name=""/>
        <dsp:cNvSpPr/>
      </dsp:nvSpPr>
      <dsp:spPr>
        <a:xfrm rot="5400000">
          <a:off x="4842782" y="1288014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263AF-674E-4072-991D-8AB69B671031}">
      <dsp:nvSpPr>
        <dsp:cNvPr id="0" name=""/>
        <dsp:cNvSpPr/>
      </dsp:nvSpPr>
      <dsp:spPr>
        <a:xfrm>
          <a:off x="4704689" y="1699312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Байгууллагын бодлого боловсруулах</a:t>
          </a:r>
          <a:endParaRPr lang="en-US" sz="1200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04689" y="1699312"/>
        <a:ext cx="1242773" cy="1089364"/>
      </dsp:txXfrm>
    </dsp:sp>
    <dsp:sp modelId="{178F9C50-B26E-4C37-89F1-AD5CC1EAE905}">
      <dsp:nvSpPr>
        <dsp:cNvPr id="0" name=""/>
        <dsp:cNvSpPr/>
      </dsp:nvSpPr>
      <dsp:spPr>
        <a:xfrm>
          <a:off x="5712978" y="1186670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6A3D9-0F38-45B2-9516-4E45C2DB8148}">
      <dsp:nvSpPr>
        <dsp:cNvPr id="0" name=""/>
        <dsp:cNvSpPr/>
      </dsp:nvSpPr>
      <dsp:spPr>
        <a:xfrm rot="5400000">
          <a:off x="6364180" y="911543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0EF2D-05A1-4560-87CC-4EF04DEB3CC2}">
      <dsp:nvSpPr>
        <dsp:cNvPr id="0" name=""/>
        <dsp:cNvSpPr/>
      </dsp:nvSpPr>
      <dsp:spPr>
        <a:xfrm>
          <a:off x="6226087" y="1322840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Хуваарь тодорхойл</a:t>
          </a:r>
          <a:endParaRPr lang="en-US" sz="1200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226087" y="1322840"/>
        <a:ext cx="1242773" cy="1089364"/>
      </dsp:txXfrm>
    </dsp:sp>
    <dsp:sp modelId="{B46A6D9B-FFFF-43DD-97FE-FDD61CECE60C}">
      <dsp:nvSpPr>
        <dsp:cNvPr id="0" name=""/>
        <dsp:cNvSpPr/>
      </dsp:nvSpPr>
      <dsp:spPr>
        <a:xfrm>
          <a:off x="7234376" y="810198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E497F-7689-4F37-A53A-7A1FE600EA83}">
      <dsp:nvSpPr>
        <dsp:cNvPr id="0" name=""/>
        <dsp:cNvSpPr/>
      </dsp:nvSpPr>
      <dsp:spPr>
        <a:xfrm rot="5400000">
          <a:off x="7885578" y="535071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5640B-359F-40F8-A276-6F80D205CF22}">
      <dsp:nvSpPr>
        <dsp:cNvPr id="0" name=""/>
        <dsp:cNvSpPr/>
      </dsp:nvSpPr>
      <dsp:spPr>
        <a:xfrm>
          <a:off x="7747485" y="946369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Төсвийг тооцоолох буюу тооцоолох</a:t>
          </a:r>
          <a:endParaRPr lang="en-US" sz="1200" b="1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747485" y="946369"/>
        <a:ext cx="1242773" cy="1089364"/>
      </dsp:txXfrm>
    </dsp:sp>
    <dsp:sp modelId="{FF34CA1D-069E-46A7-9FE4-B13A0C651C11}">
      <dsp:nvSpPr>
        <dsp:cNvPr id="0" name=""/>
        <dsp:cNvSpPr/>
      </dsp:nvSpPr>
      <dsp:spPr>
        <a:xfrm>
          <a:off x="8755774" y="433727"/>
          <a:ext cx="234485" cy="234485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96AA5-B749-45C9-8E0D-6C10C5E17796}">
      <dsp:nvSpPr>
        <dsp:cNvPr id="0" name=""/>
        <dsp:cNvSpPr/>
      </dsp:nvSpPr>
      <dsp:spPr>
        <a:xfrm rot="5400000">
          <a:off x="9406977" y="158600"/>
          <a:ext cx="827276" cy="137656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A7FD9-4E17-4C33-AF5E-81E5D5F99A0C}">
      <dsp:nvSpPr>
        <dsp:cNvPr id="0" name=""/>
        <dsp:cNvSpPr/>
      </dsp:nvSpPr>
      <dsp:spPr>
        <a:xfrm>
          <a:off x="9268884" y="569898"/>
          <a:ext cx="1242773" cy="1089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b="1" i="0" kern="12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Хяналтын механизмыг тодорхойлох</a:t>
          </a:r>
          <a:endParaRPr lang="en-US" sz="1200" b="1" kern="1200" dirty="0">
            <a:solidFill>
              <a:schemeClr val="accent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68884" y="569898"/>
        <a:ext cx="1242773" cy="1089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AAD3-D387-49EA-91C3-6B89509D932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64752-A427-45D6-8DEF-913DEC5E4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0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18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538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09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0117-6689-C052-5E78-624487E0E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6997-B9AB-7D57-5EF9-F264647A2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32ABF-DF77-D193-9663-661F6BB7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1177F-CA20-3DBE-38FC-605C2B24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874BD-99E9-7338-0DAD-F018F5C5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7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3E00-93EF-5FF7-1DB4-18587F40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C6B2C-90A8-A18F-D2EF-EDB651FF7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0070-75BF-84A4-B8BB-02D3F98D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61533-E37C-2AF3-4611-EEF49EBE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AF5F4-1632-8CB8-E3A8-D9518101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4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1ABA-5CCE-2FDE-C9E7-09950063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15B57-6974-1D7A-8F84-5E016696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DA0C7-E4C7-6D96-6883-93CBD22F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C8D2-0D3D-7B1A-EE53-B212BC49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A0DD-7D85-D986-8957-E2429797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6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37CA-7D43-9055-7174-65E98066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C82AF-769F-B0D5-66A3-B5F471805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E27B3-60AF-F8A5-7CD8-7368381AB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27757-955B-2F33-B8F0-7C59D8A3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E8CA0-40E3-439C-A637-36E84EDC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AFDB6-FE8A-F5F8-D5B0-809D2F23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0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D538B-2EAB-4DD7-6C81-AAF62F85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67A47-793C-2CC8-FBC2-23DAD157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BBCEB-5496-2F31-B7F7-26558209E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AC92F-5C7F-5D57-8081-6F0BF9902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4F0A8-888C-6336-FC52-558D40207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067C8-F530-88BA-9A81-38488AA8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E9C0F5-8131-4996-2D54-9D59CD67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13FBE-BE84-2B21-DDFC-F89F0DFA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3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CE60-B7D7-EDF6-276D-6C8A8249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CE5ED-5456-9660-D812-0402F51C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90C54-CEB1-0A84-3A0A-B161DD3A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84C1A-F387-58CC-9409-00111429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7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A7F80-9BE7-8450-A851-DD883896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2236A-45BA-387D-D214-3AAAD26E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4302A-EE4D-AB2A-46AB-F2E14E81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0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EE5E-2A66-2AB0-D244-64A0F06F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3CBB-4B60-71A0-7E6C-E447FC88C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5DB8D-BFE2-7BDC-3221-D95092BF9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85749-B0EB-B1FA-434D-BE32D391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740A4-CE81-5F85-0C3F-4D9D8B42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83671-1F0D-7B02-440F-7260F131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4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3A9E-4D8D-D282-2292-451AEE0C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6CC35-0A71-0E50-ABB5-63E7C53A3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2C552-8339-660C-6365-E05424C45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CF631-8B3A-00E4-68DC-BF4A4F22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FC132-04BD-5B01-0947-5A2ED55F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28C15-61E3-7766-CDAF-3B5D8FC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6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C6D5-EF3B-366D-0655-2981B81C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2F6A9-85D4-4713-0231-0CE8F81DE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B4D80-1838-F7B8-9F98-0D5D653A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42BA-8FA3-CFBA-B61B-ADF7E226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17F62-9411-EBDF-349E-EC9B5D10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3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6D1F7-734C-B0BB-00E0-B3C0EF681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44790-8CE4-9792-C886-273FDCF0E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85B11-4F46-3C94-7349-931D4E41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B2AD1-8362-FD2C-DD79-5292B6D7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CF92A-BEA3-5DED-AFA7-73D4F14A7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860FA-BCCF-698E-28FA-50A7B7B4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7D428-28B5-DC3D-B980-3BF7B9C2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A7200-DCB7-654B-E661-38229AD68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23E07-AF4B-4765-891C-C4E270C466B9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E42A8-8B60-698F-92B2-A41A5E1CD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8427-7BAE-B2AF-1D9C-0D5F7414D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697D2-9872-49EF-A807-2CF5D4F11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4490-C09C-F2C1-1BED-C30E9C649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8722"/>
            <a:ext cx="9144000" cy="1575881"/>
          </a:xfrm>
        </p:spPr>
        <p:txBody>
          <a:bodyPr>
            <a:noAutofit/>
          </a:bodyPr>
          <a:lstStyle/>
          <a:p>
            <a:r>
              <a:rPr lang="mn-MN" sz="4000" b="1" dirty="0">
                <a:solidFill>
                  <a:srgbClr val="002060"/>
                </a:solidFill>
              </a:rPr>
              <a:t>Семинар-</a:t>
            </a:r>
            <a:r>
              <a:rPr lang="en-US" sz="4000" b="1" dirty="0">
                <a:solidFill>
                  <a:srgbClr val="002060"/>
                </a:solidFill>
              </a:rPr>
              <a:t>3</a:t>
            </a:r>
            <a:br>
              <a:rPr lang="en-US" sz="4000" b="1" dirty="0">
                <a:solidFill>
                  <a:srgbClr val="002060"/>
                </a:solidFill>
              </a:rPr>
            </a:br>
            <a:r>
              <a:rPr lang="mn-MN" sz="4000" b="1" dirty="0">
                <a:solidFill>
                  <a:srgbClr val="002060"/>
                </a:solidFill>
              </a:rPr>
              <a:t>Үйлдвэрлэлийн төлөвлөлт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87C9-0602-4AB3-C68B-47EB63DFD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715"/>
            <a:ext cx="9144000" cy="20817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S.EEM101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mn-MN" dirty="0">
                <a:solidFill>
                  <a:srgbClr val="002060"/>
                </a:solidFill>
              </a:rPr>
              <a:t>Инженерийн эдийн засаг</a:t>
            </a:r>
          </a:p>
          <a:p>
            <a:endParaRPr lang="mn-MN" dirty="0">
              <a:solidFill>
                <a:srgbClr val="002060"/>
              </a:solidFill>
            </a:endParaRPr>
          </a:p>
          <a:p>
            <a:endParaRPr lang="mn-MN" dirty="0">
              <a:solidFill>
                <a:srgbClr val="002060"/>
              </a:solidFill>
            </a:endParaRPr>
          </a:p>
          <a:p>
            <a:r>
              <a:rPr lang="mn-MN" dirty="0">
                <a:solidFill>
                  <a:srgbClr val="002060"/>
                </a:solidFill>
              </a:rPr>
              <a:t>Улаанбаатар хот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551975-1CE2-308D-D250-4B65BD2EF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801" y="245201"/>
            <a:ext cx="5201899" cy="143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76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F32-BFE1-C21B-C995-8F54A87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477"/>
            <a:ext cx="10515600" cy="1530721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</a:rPr>
              <a:t>Хичээлийн суралцахуйн үр дүнгүүд </a:t>
            </a:r>
            <a:br>
              <a:rPr lang="mn-MN" b="1" dirty="0">
                <a:solidFill>
                  <a:srgbClr val="002060"/>
                </a:solidFill>
              </a:rPr>
            </a:br>
            <a:r>
              <a:rPr lang="mn-MN" sz="2700" b="1" dirty="0">
                <a:solidFill>
                  <a:srgbClr val="002060"/>
                </a:solidFill>
              </a:rPr>
              <a:t>Оюутан энэ сэдвийг судалснаар дараах ур чадваруудтай болсон байна. </a:t>
            </a:r>
            <a:endParaRPr 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FE0557-5EF0-6AAF-FD86-D7A6892F3C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77216"/>
          <a:ext cx="10515600" cy="487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637">
                  <a:extLst>
                    <a:ext uri="{9D8B030D-6E8A-4147-A177-3AD203B41FA5}">
                      <a16:colId xmlns:a16="http://schemas.microsoft.com/office/drawing/2014/main" val="78146492"/>
                    </a:ext>
                  </a:extLst>
                </a:gridCol>
                <a:gridCol w="4324027">
                  <a:extLst>
                    <a:ext uri="{9D8B030D-6E8A-4147-A177-3AD203B41FA5}">
                      <a16:colId xmlns:a16="http://schemas.microsoft.com/office/drawing/2014/main" val="2993372031"/>
                    </a:ext>
                  </a:extLst>
                </a:gridCol>
                <a:gridCol w="2510726">
                  <a:extLst>
                    <a:ext uri="{9D8B030D-6E8A-4147-A177-3AD203B41FA5}">
                      <a16:colId xmlns:a16="http://schemas.microsoft.com/office/drawing/2014/main" val="3377302877"/>
                    </a:ext>
                  </a:extLst>
                </a:gridCol>
                <a:gridCol w="1875295">
                  <a:extLst>
                    <a:ext uri="{9D8B030D-6E8A-4147-A177-3AD203B41FA5}">
                      <a16:colId xmlns:a16="http://schemas.microsoft.com/office/drawing/2014/main" val="574671118"/>
                    </a:ext>
                  </a:extLst>
                </a:gridCol>
                <a:gridCol w="1155915">
                  <a:extLst>
                    <a:ext uri="{9D8B030D-6E8A-4147-A177-3AD203B41FA5}">
                      <a16:colId xmlns:a16="http://schemas.microsoft.com/office/drawing/2014/main" val="1155244748"/>
                    </a:ext>
                  </a:extLst>
                </a:gridCol>
              </a:tblGrid>
              <a:tr h="4619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д/д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дүнгүүд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 илэрхийлэх үйл үг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дүнгийн түвшин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Блумын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CLOs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хамаарал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2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</a:rPr>
                        <a:t>Үйлдвэрлэлийн төлөвлөлтийн мөн чанар, төрлүүдийг </a:t>
                      </a:r>
                      <a:r>
                        <a:rPr lang="mn-MN" alt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тайлбарлах, тооцоолох. </a:t>
                      </a:r>
                      <a:endParaRPr lang="en-US" sz="20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Тооцоолох </a:t>
                      </a:r>
                      <a:endParaRPr lang="en-US" sz="200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(compute)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Хэрэглэх</a:t>
                      </a: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28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</a:rPr>
                        <a:t>Үйлдвэрлэлийн хүчин чадлын төрлүүд </a:t>
                      </a:r>
                      <a:r>
                        <a:rPr lang="mn-MN" alt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тайлбарлах, хэрэглэх</a:t>
                      </a:r>
                      <a:endParaRPr lang="en-US" sz="20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Харьцуулах  </a:t>
                      </a: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(compare)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Шинжлэх </a:t>
                      </a:r>
                      <a:endParaRPr lang="en-US" sz="200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28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</a:rPr>
                        <a:t>Хүчин чадлын төлөвлөлт хийхэд ашиглах хугацааны цуваан шинжилгээний аргуудыг </a:t>
                      </a:r>
                      <a:r>
                        <a:rPr lang="mn-MN" altLang="en-US" sz="2000" dirty="0">
                          <a:solidFill>
                            <a:srgbClr val="002060"/>
                          </a:solidFill>
                          <a:latin typeface="+mn-lt"/>
                          <a:cs typeface="Times New Roman" pitchFamily="18" charset="0"/>
                        </a:rPr>
                        <a:t>тайлбарлах, тооцоолох. 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Тооцоолох 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(compute)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Хэрэглэх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7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</a:rPr>
                        <a:t>Үйлдвэрлэлийн прогноз</a:t>
                      </a:r>
                      <a:r>
                        <a:rPr lang="mn-MN" altLang="en-US" sz="2000" dirty="0">
                          <a:solidFill>
                            <a:srgbClr val="002060"/>
                          </a:solidFill>
                          <a:latin typeface="+mn-lt"/>
                          <a:cs typeface="Times New Roman" pitchFamily="18" charset="0"/>
                        </a:rPr>
                        <a:t> хийх аргыг тайлбарлах, хэрэглэх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Харьцуулах  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(compare)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Шинжлэх 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+mn-lt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9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32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979-432A-FF79-CEB4-02905EE4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mn-MN" b="1" dirty="0">
                <a:solidFill>
                  <a:srgbClr val="002060"/>
                </a:solidFill>
              </a:rPr>
              <a:t>Хичээлийн агуулга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4662-AB2C-97F1-A468-80697FD94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5347781"/>
          </a:xfrm>
        </p:spPr>
        <p:txBody>
          <a:bodyPr>
            <a:normAutofit fontScale="85000" lnSpcReduction="10000"/>
          </a:bodyPr>
          <a:lstStyle/>
          <a:p>
            <a:r>
              <a:rPr lang="mn-MN" dirty="0">
                <a:solidFill>
                  <a:srgbClr val="002060"/>
                </a:solidFill>
              </a:rPr>
              <a:t>Үйлдвэрлэлийн төлөвлөлтийн мөн чанар, төрлүүд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Төлөвлөлт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Төлөвлөгөөний тодорхойлолтууд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Төлөвлөлтийн түвшин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Бизнес төлөвлөлт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Нэгтгэсэн төлөвлөлт</a:t>
            </a:r>
          </a:p>
          <a:p>
            <a:r>
              <a:rPr lang="mn-MN" dirty="0">
                <a:solidFill>
                  <a:srgbClr val="002060"/>
                </a:solidFill>
              </a:rPr>
              <a:t>Үйлдвэрлэлийн хүчин чадал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Төслийн хүчин чадал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Ашиглалтын хүчин чадал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Бодит хүчин чадал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Хугарлын цэгийн шинжилгээ</a:t>
            </a:r>
          </a:p>
          <a:p>
            <a:r>
              <a:rPr lang="mn-MN" dirty="0">
                <a:solidFill>
                  <a:srgbClr val="002060"/>
                </a:solidFill>
              </a:rPr>
              <a:t>Үйлдвэрлэлийн прогноз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Хүчин чадлын төлөвлөлт хийхэд ашиглах хугацааны цуваан шинжилгээний аргууд: </a:t>
            </a:r>
          </a:p>
          <a:p>
            <a:pPr lvl="2"/>
            <a:r>
              <a:rPr lang="mn-MN" sz="1800" dirty="0">
                <a:solidFill>
                  <a:srgbClr val="002060"/>
                </a:solidFill>
              </a:rPr>
              <a:t>Гулсах дундаж, жигнэсэн гулсах дундаж, экспоненциаль тэгшрүүлэлтийн аргууд</a:t>
            </a:r>
          </a:p>
          <a:p>
            <a:pPr lvl="2"/>
            <a:r>
              <a:rPr lang="mn-MN" sz="1800" dirty="0">
                <a:solidFill>
                  <a:srgbClr val="002060"/>
                </a:solidFill>
              </a:rPr>
              <a:t>Хандлагын тэгшитгэл </a:t>
            </a:r>
          </a:p>
          <a:p>
            <a:pPr lvl="2"/>
            <a:r>
              <a:rPr lang="mn-MN" sz="1800" dirty="0">
                <a:solidFill>
                  <a:srgbClr val="002060"/>
                </a:solidFill>
              </a:rPr>
              <a:t>Регрессийн тэгшитгэл</a:t>
            </a:r>
          </a:p>
          <a:p>
            <a:pPr lvl="2"/>
            <a:r>
              <a:rPr lang="mn-MN" sz="1800" dirty="0">
                <a:solidFill>
                  <a:srgbClr val="002060"/>
                </a:solidFill>
              </a:rPr>
              <a:t>Корреляци</a:t>
            </a:r>
          </a:p>
          <a:p>
            <a:pPr lvl="2"/>
            <a:endParaRPr lang="mn-MN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91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B521-4109-6065-3CFE-41CA15ED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343"/>
          </a:xfrm>
        </p:spPr>
        <p:txBody>
          <a:bodyPr/>
          <a:lstStyle/>
          <a:p>
            <a:r>
              <a:rPr lang="mn-MN" b="1" dirty="0">
                <a:solidFill>
                  <a:srgbClr val="002060"/>
                </a:solidFill>
              </a:rPr>
              <a:t>Төлөвлөгөө зохиох дараалал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424D08E-AD3B-3F2E-B772-F6CEEDC2F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216" y="1245851"/>
            <a:ext cx="9597568" cy="4980807"/>
          </a:xfrm>
        </p:spPr>
      </p:pic>
    </p:spTree>
    <p:extLst>
      <p:ext uri="{BB962C8B-B14F-4D97-AF65-F5344CB8AC3E}">
        <p14:creationId xmlns:p14="http://schemas.microsoft.com/office/powerpoint/2010/main" val="273210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3019-EC08-BCFA-2B56-93138E191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510" y="1592594"/>
            <a:ext cx="1909055" cy="1325563"/>
          </a:xfrm>
        </p:spPr>
        <p:txBody>
          <a:bodyPr>
            <a:noAutofit/>
          </a:bodyPr>
          <a:lstStyle/>
          <a:p>
            <a:pPr algn="ctr"/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Төлөвлөлтийн үйл явцын үе шат бүр нь тухайн үе шатыг биелүүлэх эсвэл биелүүлэхгүй байх шалгуур үзүүлэлтийг шаарддаг. Эдгээр бүрд нийцэж байгаа эсэхийг үнэлэх параметрүүдтэй байх шаардлагатай.</a:t>
            </a:r>
            <a:endParaRPr lang="en-US" sz="1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9F048E-3BBD-3761-759F-7DDEEAD7E3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4002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867F93-8FCF-FB70-C1E3-9BAD5E4EC10B}"/>
              </a:ext>
            </a:extLst>
          </p:cNvPr>
          <p:cNvSpPr txBox="1"/>
          <p:nvPr/>
        </p:nvSpPr>
        <p:spPr>
          <a:xfrm>
            <a:off x="549202" y="3845002"/>
            <a:ext cx="16832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Ө</a:t>
            </a:r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нгөрсөн ба өнөөгийн талаар үнэ цэнэтэй мэдээлэл цуглуулах, ирээдүйн боломжит хувилбаруудыг урьдчилан таамаглах боломжийг олгодог.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8CE8C-1D3F-3ABA-88E3-52398B6CDD3D}"/>
              </a:ext>
            </a:extLst>
          </p:cNvPr>
          <p:cNvSpPr txBox="1"/>
          <p:nvPr/>
        </p:nvSpPr>
        <p:spPr>
          <a:xfrm>
            <a:off x="8407535" y="2047519"/>
            <a:ext cx="1399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Сонгосон стратегийг хэрэгжүүлэхэд шаардагдах зардлыг мэдэх явдал юм.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706626-EA64-FF3D-EA44-3AFA264E65DF}"/>
              </a:ext>
            </a:extLst>
          </p:cNvPr>
          <p:cNvSpPr txBox="1"/>
          <p:nvPr/>
        </p:nvSpPr>
        <p:spPr>
          <a:xfrm>
            <a:off x="6734784" y="2324522"/>
            <a:ext cx="1592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жил бүрийг дуусгахад шаардагдах хугацааг болгоомжтой боловч бодитой тооцоолох ёстой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3051C-88CD-5794-B319-3063C6C6A1B1}"/>
              </a:ext>
            </a:extLst>
          </p:cNvPr>
          <p:cNvSpPr txBox="1"/>
          <p:nvPr/>
        </p:nvSpPr>
        <p:spPr>
          <a:xfrm>
            <a:off x="5305926" y="2066738"/>
            <a:ext cx="14656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Сонгосон стратеги, тодорхой зорилтуудын тусламжтайгаар тухайн үйл ажиллагааг ямар шалгуураар шийдвэрлэхийг шийдэх боломжтой болно.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6A0E1-A670-34E1-18AA-110C072CFDE4}"/>
              </a:ext>
            </a:extLst>
          </p:cNvPr>
          <p:cNvSpPr txBox="1"/>
          <p:nvPr/>
        </p:nvSpPr>
        <p:spPr>
          <a:xfrm>
            <a:off x="3812727" y="2918157"/>
            <a:ext cx="1445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Стратеги нь зорилгодоо хүрэх үндсэн суурь юм</a:t>
            </a:r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Хүн бүр зорилгодоо хүрэх замд өөрсдийн үүргийг мэддэг болно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5A5406-7F87-704F-65B8-FF433F0F533D}"/>
              </a:ext>
            </a:extLst>
          </p:cNvPr>
          <p:cNvSpPr txBox="1"/>
          <p:nvPr/>
        </p:nvSpPr>
        <p:spPr>
          <a:xfrm>
            <a:off x="2165215" y="3981758"/>
            <a:ext cx="16804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Т</a:t>
            </a:r>
            <a:r>
              <a:rPr lang="mn-M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ухайн хугацаанд гарахаар хүлээгдэж буй үр дүнг тодорхойлох юм. </a:t>
            </a:r>
            <a:endParaRPr lang="en-US" sz="1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93E895-D442-246C-F123-D73D2DDE47E1}"/>
              </a:ext>
            </a:extLst>
          </p:cNvPr>
          <p:cNvSpPr txBox="1">
            <a:spLocks/>
          </p:cNvSpPr>
          <p:nvPr/>
        </p:nvSpPr>
        <p:spPr>
          <a:xfrm>
            <a:off x="838200" y="545607"/>
            <a:ext cx="10515600" cy="9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mn-MN" b="1" dirty="0">
                <a:solidFill>
                  <a:srgbClr val="002060"/>
                </a:solidFill>
              </a:rPr>
              <a:t>Төлөвлөлтийн үе шат ба онцлог</a:t>
            </a:r>
          </a:p>
        </p:txBody>
      </p:sp>
    </p:spTree>
    <p:extLst>
      <p:ext uri="{BB962C8B-B14F-4D97-AF65-F5344CB8AC3E}">
        <p14:creationId xmlns:p14="http://schemas.microsoft.com/office/powerpoint/2010/main" val="187918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1DEE-0E70-F28A-13A1-1D5A9DB7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572"/>
            <a:ext cx="10515600" cy="832757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45D91-D4A2-CC7E-CACB-E18066466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329"/>
            <a:ext cx="10515600" cy="5333546"/>
          </a:xfrm>
        </p:spPr>
        <p:txBody>
          <a:bodyPr>
            <a:normAutofit lnSpcReduction="10000"/>
          </a:bodyPr>
          <a:lstStyle/>
          <a:p>
            <a:r>
              <a:rPr lang="mn-MN" dirty="0">
                <a:solidFill>
                  <a:srgbClr val="002060"/>
                </a:solidFill>
              </a:rPr>
              <a:t>Хандлагыг тодорхойлоход 2 арга ашиглана:</a:t>
            </a:r>
          </a:p>
          <a:p>
            <a:pPr lvl="1"/>
            <a:r>
              <a:rPr lang="mn-MN" b="1" dirty="0">
                <a:solidFill>
                  <a:srgbClr val="002060"/>
                </a:solidFill>
              </a:rPr>
              <a:t>Чанарын арга </a:t>
            </a:r>
            <a:r>
              <a:rPr lang="mn-MN" dirty="0">
                <a:solidFill>
                  <a:srgbClr val="002060"/>
                </a:solidFill>
              </a:rPr>
              <a:t>– хүмүүсийн хувийн үзэл бодол, туршлага дээр үндэслэсэн субъектив шинжтэй арга. </a:t>
            </a:r>
          </a:p>
          <a:p>
            <a:pPr lvl="2"/>
            <a:r>
              <a:rPr lang="mn-MN" dirty="0">
                <a:solidFill>
                  <a:srgbClr val="002060"/>
                </a:solidFill>
              </a:rPr>
              <a:t>Шаардагдах тоон мэдээллийг цуглуулах боломжгүй, шинжилгээ хий хугацаа хүрэлцээгүй үед богино хугацааны дотор таамаглал хийх боломж олгодог. </a:t>
            </a:r>
          </a:p>
          <a:p>
            <a:pPr lvl="1"/>
            <a:r>
              <a:rPr lang="mn-MN" b="1" dirty="0">
                <a:solidFill>
                  <a:srgbClr val="002060"/>
                </a:solidFill>
              </a:rPr>
              <a:t>Тоон арга </a:t>
            </a:r>
            <a:r>
              <a:rPr lang="mn-MN" dirty="0">
                <a:solidFill>
                  <a:srgbClr val="002060"/>
                </a:solidFill>
              </a:rPr>
              <a:t>– өнгөрсөн үеийн тоон мэдээлэлд шинжилгээ хийж дундаж үзүүлэлтийг тодорхойлох, тэдгээр үзүүлэлтүүдийн зүй тогтол, нөлөөлж байгаа хүчин зүйлс, тэдгээрийн харилцан нөлөөллийг тодорхойлдог аргууд хамаарна. </a:t>
            </a:r>
          </a:p>
          <a:p>
            <a:r>
              <a:rPr lang="mn-MN" b="1" dirty="0">
                <a:solidFill>
                  <a:srgbClr val="002060"/>
                </a:solidFill>
              </a:rPr>
              <a:t>Хандлага </a:t>
            </a:r>
            <a:r>
              <a:rPr lang="mn-MN" dirty="0">
                <a:solidFill>
                  <a:srgbClr val="002060"/>
                </a:solidFill>
              </a:rPr>
              <a:t>– ямар нэг үзүүлэлт урт хугацаанд хэрхэн өөрчлөгдөж байгааг харуулдаг.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Санамсаргүй тохиолдолтой холбоотой огцом өөрчлөлт – Санамсаргүй өөрчлөлт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Улирлын өөрчлөлт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Үечилсэн өөрчлөлт</a:t>
            </a:r>
          </a:p>
        </p:txBody>
      </p:sp>
      <p:pic>
        <p:nvPicPr>
          <p:cNvPr id="4" name="Picture 2" descr="Image result for Production forecast">
            <a:extLst>
              <a:ext uri="{FF2B5EF4-FFF2-40B4-BE49-F238E27FC236}">
                <a16:creationId xmlns:a16="http://schemas.microsoft.com/office/drawing/2014/main" id="{9EADDD79-8958-C6C7-409A-2FC6CE965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091" y="5155252"/>
            <a:ext cx="2495909" cy="170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12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5BA52-D4E1-0289-0992-D1959778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330"/>
            <a:ext cx="10515600" cy="5345642"/>
          </a:xfrm>
        </p:spPr>
        <p:txBody>
          <a:bodyPr>
            <a:normAutofit fontScale="92500" lnSpcReduction="10000"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mn-MN" b="1" dirty="0">
                <a:solidFill>
                  <a:srgbClr val="002060"/>
                </a:solidFill>
              </a:rPr>
              <a:t>Санамсаргүй өөрчлөлт </a:t>
            </a:r>
            <a:r>
              <a:rPr lang="mn-MN" dirty="0">
                <a:solidFill>
                  <a:srgbClr val="002060"/>
                </a:solidFill>
              </a:rPr>
              <a:t>– гэнэтийн шинжтэй янз бүрийн тохиолдлуудтай холбоотой. 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Бүтээгдэхүүн, үйлчилгээний эрэлт өөрчлөгдөж байгаа шалтгааныг мэдэж байвал нийт эрэлтээс шалтгаан нь тодорхой эрэлтийг хасаж, шалтгаан нь мэдэгдэхгүй байгаа эрэлтийг тодорхойлж болно.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mn-MN" b="1" dirty="0">
                <a:solidFill>
                  <a:srgbClr val="002060"/>
                </a:solidFill>
              </a:rPr>
              <a:t>Автокорреляци </a:t>
            </a:r>
            <a:r>
              <a:rPr lang="mn-MN" dirty="0">
                <a:solidFill>
                  <a:srgbClr val="002060"/>
                </a:solidFill>
              </a:rPr>
              <a:t>– тогтонги шинжтэй өөрчлөлтийг буюу тодорхой хугацааны туршид нэг түвшинд байгаа өөрчлөлтийг харуулна. 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Тодорхой хугацааны хүлээгдэж байгаа эрэлт нь өмнөх үеийнхээ эрэлтийн түвшинтэй корреляцийн өндөр хамааралтай байдаг. </a:t>
            </a:r>
          </a:p>
          <a:p>
            <a:pPr marL="1085850" lvl="2" indent="-171450"/>
            <a:r>
              <a:rPr lang="mn-MN" dirty="0">
                <a:solidFill>
                  <a:srgbClr val="002060"/>
                </a:solidFill>
              </a:rPr>
              <a:t>Өөрөөр хэлбэл, автокорреляци өндөр байвал эрэлтийн өөрчлөлт бага байна. </a:t>
            </a:r>
          </a:p>
          <a:p>
            <a:pPr marL="171450" indent="-171450"/>
            <a:r>
              <a:rPr lang="mn-MN" b="1" dirty="0">
                <a:solidFill>
                  <a:srgbClr val="002060"/>
                </a:solidFill>
              </a:rPr>
              <a:t>Дундаж үзүүлэлтийн арга </a:t>
            </a:r>
            <a:r>
              <a:rPr lang="mn-MN" dirty="0">
                <a:solidFill>
                  <a:srgbClr val="002060"/>
                </a:solidFill>
              </a:rPr>
              <a:t>– өмнөх үеийн тоон мэдээлэлд тулгуурлан ирээдүйн эрэлт ямар байхыг тогтоодог. 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Энгийн арифметик арга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Гулгах дунджын арга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Экспоненциаль тэгшрүүлэлтийн арга </a:t>
            </a:r>
          </a:p>
          <a:p>
            <a:pPr marL="628650" lvl="1" indent="-171450"/>
            <a:r>
              <a:rPr lang="mn-MN" dirty="0">
                <a:solidFill>
                  <a:srgbClr val="002060"/>
                </a:solidFill>
              </a:rPr>
              <a:t>Хандлагыг харгалзсан экспоненциаль тэгшрүүлэлтийн арга </a:t>
            </a:r>
          </a:p>
          <a:p>
            <a:pPr marL="628650" lvl="1" indent="-171450"/>
            <a:endParaRPr lang="mn-MN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29BF6B-7637-3B9E-9974-C8E632ADDE9F}"/>
              </a:ext>
            </a:extLst>
          </p:cNvPr>
          <p:cNvSpPr txBox="1">
            <a:spLocks/>
          </p:cNvSpPr>
          <p:nvPr/>
        </p:nvSpPr>
        <p:spPr>
          <a:xfrm>
            <a:off x="838200" y="326572"/>
            <a:ext cx="10515600" cy="83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51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201B68-D16B-D1EE-1816-D33648211C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9330"/>
                <a:ext cx="10515600" cy="550768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mn-MN" b="1" dirty="0">
                    <a:solidFill>
                      <a:srgbClr val="002060"/>
                    </a:solidFill>
                  </a:rPr>
                  <a:t>Энгийн арифметик арга </a:t>
                </a:r>
                <a:r>
                  <a:rPr lang="mn-MN" dirty="0">
                    <a:solidFill>
                      <a:srgbClr val="002060"/>
                    </a:solidFill>
                  </a:rPr>
                  <a:t>– өмнөх үеийн эрэлт ирээдүйн эрэлттэй тэнцүү гэж үзнэ.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Энэ аргыг эрэлтийн хэмжээ өөрчлөгдөхгүй, тогтонги шинжтэй байгаа үед хэрэглэнэ. </a:t>
                </a:r>
              </a:p>
              <a:p>
                <a:pPr lvl="2"/>
                <a:r>
                  <a:rPr lang="mn-MN" dirty="0">
                    <a:solidFill>
                      <a:srgbClr val="002060"/>
                    </a:solidFill>
                  </a:rPr>
                  <a:t>Жишээ: өнгөрсөн 7 хоногт 5000 талх борлуулсан. Дараа долоо хоногт мөн хэмжээний талх борлуулна. </a:t>
                </a:r>
              </a:p>
              <a:p>
                <a:r>
                  <a:rPr lang="mn-MN" b="1" dirty="0">
                    <a:solidFill>
                      <a:srgbClr val="002060"/>
                    </a:solidFill>
                  </a:rPr>
                  <a:t>Гулгах дунджийн арга </a:t>
                </a:r>
                <a:r>
                  <a:rPr lang="mn-MN" dirty="0">
                    <a:solidFill>
                      <a:srgbClr val="002060"/>
                    </a:solidFill>
                  </a:rPr>
                  <a:t>– өнгөрсөн үеийн тоон мэдээллийг ашиглан эрэлтийн төлөвийг тодорхойлно.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Эрэлт маш бага хэмжээгээр өөрчлөгдөж байгаа, эсвэл улирлаар өөрчлөгдөхгүй байгаа үед хэрэглэнэ.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𝑀𝐴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Эрэлтийг тооцож байгаа үеийн дугаар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 Гулгах дунджийг тооцох үеийн тоо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mn-M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brk m:alnAt="23"/>
                      </m:rP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-р үеийн бодит эрэлт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Давуу тал: тооцоход хялбар, ойлгомжтой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Дутагдалтай тал: их хэмжээний мэдээлэл хадгалах шаардлагатай.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201B68-D16B-D1EE-1816-D33648211C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9330"/>
                <a:ext cx="10515600" cy="5507688"/>
              </a:xfrm>
              <a:blipFill>
                <a:blip r:embed="rId2"/>
                <a:stretch>
                  <a:fillRect l="-928" t="-2212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7886B19F-4519-E238-3D91-F56ABC30838F}"/>
              </a:ext>
            </a:extLst>
          </p:cNvPr>
          <p:cNvSpPr txBox="1">
            <a:spLocks/>
          </p:cNvSpPr>
          <p:nvPr/>
        </p:nvSpPr>
        <p:spPr>
          <a:xfrm>
            <a:off x="838200" y="326572"/>
            <a:ext cx="10515600" cy="83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490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2844DD-FEE2-6CB7-AF88-49EEBBBF0E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9328"/>
                <a:ext cx="10515600" cy="548640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mn-MN" b="1" dirty="0">
                    <a:solidFill>
                      <a:srgbClr val="002060"/>
                    </a:solidFill>
                  </a:rPr>
                  <a:t>Жигнэсэн дундаж үзүүлэлт </a:t>
                </a:r>
                <a:r>
                  <a:rPr lang="mn-MN" dirty="0">
                    <a:solidFill>
                      <a:srgbClr val="002060"/>
                    </a:solidFill>
                  </a:rPr>
                  <a:t>– Гулгах дунджийг тооцоолоход ашигласан үзүүлэлтүүдийг ашиглан тодорхойлох боломжтой.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-</a:t>
                </a:r>
                <a:r>
                  <a:rPr lang="mn-MN" dirty="0">
                    <a:solidFill>
                      <a:srgbClr val="002060"/>
                    </a:solidFill>
                  </a:rPr>
                  <a:t> ирээдүйн эрэлтийг тодорхойлоход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-р үеийн үзүүлэх нөлөөллийг харуулна.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mn-M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brk m:alnAt="23"/>
                      </m:rP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-р үеийн бодит эрэлт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Экспоненциаль тэгшрүүлэлтийн арга – өмнөх үеийн тоон мэдээллийг ашиглан дунджыг тооцоолно.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Гулгах болон жигнэсэн дундаж үзүүлэлтийн аргаас ялгарах давуу тал нь цөөн тооны мэдээлэл дээр тулгуурлан хэтийн төлөвийг тодорхойлох боломжийг олгодог.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mn-M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mn-M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- t </a:t>
                </a:r>
                <a:r>
                  <a:rPr lang="mn-MN" dirty="0">
                    <a:solidFill>
                      <a:srgbClr val="002060"/>
                    </a:solidFill>
                  </a:rPr>
                  <a:t>үеийн экспоненциаль тэгшрүүлэлтийн аргаар тогтоогдсон шинэ таамаглал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өмнөх үеийн экспоненциаль тэгшрүүлэлтийн аргаар тогтоогдсон таамаглал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өмнөх үеийн бодит эрэлт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– тэгшрүүлэлтийн тогтмол буюу хувь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2844DD-FEE2-6CB7-AF88-49EEBBBF0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9328"/>
                <a:ext cx="10515600" cy="5486401"/>
              </a:xfrm>
              <a:blipFill>
                <a:blip r:embed="rId3"/>
                <a:stretch>
                  <a:fillRect l="-928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5303FADF-D6E9-185E-984F-45AE76CA2C71}"/>
              </a:ext>
            </a:extLst>
          </p:cNvPr>
          <p:cNvSpPr txBox="1">
            <a:spLocks/>
          </p:cNvSpPr>
          <p:nvPr/>
        </p:nvSpPr>
        <p:spPr>
          <a:xfrm>
            <a:off x="838200" y="326572"/>
            <a:ext cx="10515600" cy="83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28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181BA-9CD3-7DC2-6313-E271B3A09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462"/>
                <a:ext cx="10515600" cy="53468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mn-MN" b="1" dirty="0">
                    <a:solidFill>
                      <a:srgbClr val="002060"/>
                    </a:solidFill>
                  </a:rPr>
                  <a:t>Хандлагыг харгалзсан экспоненциаль тэгшрүүлэлтийн арга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Гулгах дундаж болон энгийн экспоненциаль тэгшрүүлэлтийн аргуудад хандлагыг харгалздаггүй.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Эрэлтийг бодитоор төлөвлөхийн тулд хандлагын хүчин зүйлсийг харгалзах хэрэгтэй.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𝐹𝐼𝑇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mn-MN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𝐹𝐼𝑇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</a:rPr>
                  <a:t>Хандлагыг тооцсон экспоненциаль тэгшрүүлэлтийн тэгшитгэл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Энгийн экспоненциаль тэгшрүүлэлтээр төлөвлөсөн эрэлт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Хандлага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Хандлагыг дараах тэгшитгэлээр тодорхойлно: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mn-M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mn-M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- t </a:t>
                </a:r>
                <a:r>
                  <a:rPr lang="mn-MN" dirty="0">
                    <a:solidFill>
                      <a:srgbClr val="002060"/>
                    </a:solidFill>
                  </a:rPr>
                  <a:t>үеийн төлөвлөгдсөн эрэлт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өмнөх үеийн төлөвлөгдсөн эрэлтийн хандлага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– хандлагын өөрчлөлтийг харуулсан тогтмол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Энгийн экспоненциаль тэгшрүүлэлтээр төлөвлөсөн эрэлт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mn-MN" dirty="0">
                    <a:solidFill>
                      <a:srgbClr val="002060"/>
                    </a:solidFill>
                  </a:rPr>
                  <a:t> - өмнөх үеийн төлөвлөсөн эрэлт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181BA-9CD3-7DC2-6313-E271B3A09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462"/>
                <a:ext cx="10515600" cy="5346831"/>
              </a:xfrm>
              <a:blipFill>
                <a:blip r:embed="rId2"/>
                <a:stretch>
                  <a:fillRect l="-1043" t="-2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A5D420D-DDA0-A307-4814-874EFEB9D836}"/>
              </a:ext>
            </a:extLst>
          </p:cNvPr>
          <p:cNvSpPr txBox="1">
            <a:spLocks/>
          </p:cNvSpPr>
          <p:nvPr/>
        </p:nvSpPr>
        <p:spPr>
          <a:xfrm>
            <a:off x="838200" y="326572"/>
            <a:ext cx="10515600" cy="83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00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D7CF410-F864-4DB7-ED72-16F6836E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59828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</a:rPr>
              <a:t>Регрессийн арга </a:t>
            </a:r>
            <a:r>
              <a:rPr lang="mn-MN" dirty="0">
                <a:solidFill>
                  <a:srgbClr val="002060"/>
                </a:solidFill>
              </a:rPr>
              <a:t>– эрэлтийг урт хугацаагаар тодорхойло үед хэрэглэнэ.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Хандлагын шинжилгээг харуулдаг тэгшитгэлүүдийг шинжлэх замаар хийнэ.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Төрлүүд: </a:t>
            </a:r>
          </a:p>
          <a:p>
            <a:pPr lvl="2"/>
            <a:r>
              <a:rPr lang="mn-MN" dirty="0">
                <a:solidFill>
                  <a:srgbClr val="002060"/>
                </a:solidFill>
              </a:rPr>
              <a:t>Шугаман </a:t>
            </a:r>
          </a:p>
          <a:p>
            <a:pPr lvl="2"/>
            <a:r>
              <a:rPr lang="mn-MN" dirty="0">
                <a:solidFill>
                  <a:srgbClr val="002060"/>
                </a:solidFill>
              </a:rPr>
              <a:t>Шугаман бус</a:t>
            </a:r>
          </a:p>
          <a:p>
            <a:r>
              <a:rPr lang="mn-MN" b="1" dirty="0">
                <a:solidFill>
                  <a:srgbClr val="002060"/>
                </a:solidFill>
              </a:rPr>
              <a:t>Регресс, корреляцийн шинжилгээний арга </a:t>
            </a:r>
            <a:r>
              <a:rPr lang="mn-MN" dirty="0">
                <a:solidFill>
                  <a:srgbClr val="002060"/>
                </a:solidFill>
              </a:rPr>
              <a:t>– ирээдүйн эрэлтийг бодитойгоор төлөвлөх, юмс үзэгдлийн хоорондын хамаарал, тэдгээрийн нөлөөллийн хүчийг тогтооход хэрэглэнэ.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Өмнөх үеийн мэдээлэл дээр тулгуурлан ирээдүйн хувьсах хэмжигдэхүүний утгыг тодорхойлох боломж олгодог чухал арга.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16318B5-8F28-F73B-33F4-6E1A1C7B5CB7}"/>
              </a:ext>
            </a:extLst>
          </p:cNvPr>
          <p:cNvSpPr txBox="1">
            <a:spLocks/>
          </p:cNvSpPr>
          <p:nvPr/>
        </p:nvSpPr>
        <p:spPr>
          <a:xfrm>
            <a:off x="838200" y="326572"/>
            <a:ext cx="10515600" cy="83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b="1" dirty="0">
                <a:solidFill>
                  <a:srgbClr val="002060"/>
                </a:solidFill>
              </a:rPr>
              <a:t>Хандлагыг тодорхойлох арга, хандлагын хэлбэрүүд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7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F605-781C-36D8-8E4E-0ED312D5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779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</a:rPr>
              <a:t>Хандлагын </a:t>
            </a:r>
            <a:r>
              <a:rPr lang="en-US" sz="3600" b="1" dirty="0">
                <a:solidFill>
                  <a:srgbClr val="002060"/>
                </a:solidFill>
              </a:rPr>
              <a:t>(</a:t>
            </a:r>
            <a:r>
              <a:rPr lang="mn-MN" sz="3600" b="1" dirty="0">
                <a:solidFill>
                  <a:srgbClr val="002060"/>
                </a:solidFill>
              </a:rPr>
              <a:t>прогнозын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  <a:r>
              <a:rPr lang="mn-MN" sz="3600" b="1" dirty="0">
                <a:solidFill>
                  <a:srgbClr val="002060"/>
                </a:solidFill>
              </a:rPr>
              <a:t> алдаа</a:t>
            </a:r>
            <a:endParaRPr lang="en-US" sz="36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1F8B1-A958-E20E-5580-5DDF94C1A1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2939"/>
                <a:ext cx="10515600" cy="533993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mn-MN" dirty="0">
                    <a:solidFill>
                      <a:srgbClr val="002060"/>
                    </a:solidFill>
                  </a:rPr>
                  <a:t>Ямар ч тохиолдолд прогнозын алдааг тооцоолох шаардлагатай. 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Ингэснээр, гаргасан прогноз хэр бодитой байгааг тодорхойлох боломж олгоно. 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Прогнозын алдаа: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mn-MN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Алдаа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n-M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Бодит үзүүлэлт−Прогноз</m:t>
                      </m:r>
                    </m:oMath>
                  </m:oMathPara>
                </a14:m>
                <a:endParaRPr lang="mn-MN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(</a:t>
                </a:r>
                <a:r>
                  <a:rPr lang="mn-MN" dirty="0">
                    <a:solidFill>
                      <a:srgbClr val="002060"/>
                    </a:solidFill>
                  </a:rPr>
                  <a:t>+</a:t>
                </a:r>
                <a:r>
                  <a:rPr lang="en-US" dirty="0">
                    <a:solidFill>
                      <a:srgbClr val="002060"/>
                    </a:solidFill>
                  </a:rPr>
                  <a:t>)</a:t>
                </a:r>
                <a:r>
                  <a:rPr lang="mn-MN" dirty="0">
                    <a:solidFill>
                      <a:srgbClr val="002060"/>
                    </a:solidFill>
                  </a:rPr>
                  <a:t> тэмдэгтэй бол прогноз дээгүүр хийгдсэн.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(</a:t>
                </a:r>
                <a:r>
                  <a:rPr lang="mn-MN" dirty="0">
                    <a:solidFill>
                      <a:srgbClr val="002060"/>
                    </a:solidFill>
                  </a:rPr>
                  <a:t>-</a:t>
                </a:r>
                <a:r>
                  <a:rPr lang="en-US" dirty="0">
                    <a:solidFill>
                      <a:srgbClr val="002060"/>
                    </a:solidFill>
                  </a:rPr>
                  <a:t>)</a:t>
                </a:r>
                <a:r>
                  <a:rPr lang="mn-MN" dirty="0">
                    <a:solidFill>
                      <a:srgbClr val="002060"/>
                    </a:solidFill>
                  </a:rPr>
                  <a:t> тэмдэгтэй бол прогноз доогуур хийгдсэн.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Алдаа гарах шалтгаан: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Загварт хэрэглэх гол хувьсагчаа сонгож чадаагүй.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Хувьсах хэмжигдэхүүн өөрчлөгдсөн. Эсвэл хооронд нь хольж хэрэглэсэн.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Гэнэтийн ямар нэг тохиолдол гарсан.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</a:rPr>
                  <a:t>Прогнозын аргыг зөв сонгоогүй.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1F8B1-A958-E20E-5580-5DDF94C1A1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2939"/>
                <a:ext cx="10515600" cy="5339936"/>
              </a:xfrm>
              <a:blipFill>
                <a:blip r:embed="rId2"/>
                <a:stretch>
                  <a:fillRect l="-928" t="-2283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34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F1CD-AC3D-74A8-424C-3AA048EB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</a:rPr>
              <a:t>Хандлагын </a:t>
            </a:r>
            <a:r>
              <a:rPr lang="en-US" sz="3600" b="1" dirty="0">
                <a:solidFill>
                  <a:srgbClr val="002060"/>
                </a:solidFill>
              </a:rPr>
              <a:t>(</a:t>
            </a:r>
            <a:r>
              <a:rPr lang="mn-MN" sz="3600" b="1" dirty="0">
                <a:solidFill>
                  <a:srgbClr val="002060"/>
                </a:solidFill>
              </a:rPr>
              <a:t>прогнозын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  <a:r>
              <a:rPr lang="mn-MN" sz="3600" b="1" dirty="0">
                <a:solidFill>
                  <a:srgbClr val="002060"/>
                </a:solidFill>
              </a:rPr>
              <a:t> аргын сонголт</a:t>
            </a:r>
            <a:endParaRPr lang="en-US" sz="3600" dirty="0">
              <a:solidFill>
                <a:srgbClr val="002060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4DF3C5F-DAB8-A9CD-CBF9-2B07042CC5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31711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683140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28204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20028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0686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/>
                        <a:t>Хүчин зүйлс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/>
                        <a:t>Богино хугацааны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/>
                        <a:t>Дунд хугацааны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/>
                        <a:t>Урт хугацааны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01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sz="2000" b="1" dirty="0"/>
                        <a:t>Давтамж 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байнга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Тохиолдлоос тохиолдолд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Заримдаа 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703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sz="2000" b="1" dirty="0"/>
                        <a:t>Прогнозчилох объект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Тодорхой бүтээгдэхүүн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Бүлэг бүтээгдэхүүн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Нийт гарц, бүтээгдэхүүн үйлчилгээний төрөл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051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sz="2000" b="1" dirty="0"/>
                        <a:t>Прогнозын аргууд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Тэгшрүүлэлтийн арга, урьдчилан хэлэх, регресс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Урьдчилан хэлэх, улирлын өөрчлөлтийг харгалзах, регресс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Удирдлагын санал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87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sz="2000" b="1" dirty="0"/>
                        <a:t>Удирдлагын оролцооны түвшин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Бага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Дунд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Өндөр 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19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sz="2000" b="1" dirty="0"/>
                        <a:t>Прогноз хийхэд гарах зардал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Бага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/>
                        <a:t>Дунд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000" dirty="0"/>
                        <a:t>өндөр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811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588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F963-4BD6-9F46-CC3F-D2A0C321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46"/>
            <a:ext cx="10515600" cy="5140728"/>
          </a:xfrm>
        </p:spPr>
        <p:txBody>
          <a:bodyPr>
            <a:normAutofit/>
          </a:bodyPr>
          <a:lstStyle/>
          <a:p>
            <a:pPr algn="just"/>
            <a:r>
              <a:rPr lang="mn-MN" sz="2000" dirty="0"/>
              <a:t>Өнгөрсөн 8 долоо хоногийн борлуулалтын үзүүлэлтийг үндэслэн график дээр түүнийг өөрчлөлтийн хандлагыг тодорхойлно уу. Хэрвээ шугаман хандлагатай байвал хандлагын тэгшитгэлийг хэрхэн тодорхойлох вэ.</a:t>
            </a:r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pPr marL="0" indent="0">
              <a:buNone/>
            </a:pPr>
            <a:endParaRPr lang="mn-MN" sz="2000" dirty="0"/>
          </a:p>
          <a:p>
            <a:endParaRPr 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FF73E1F-B384-BE2B-BB22-51EF2C9B4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36347"/>
              </p:ext>
            </p:extLst>
          </p:nvPr>
        </p:nvGraphicFramePr>
        <p:xfrm>
          <a:off x="4483510" y="2628818"/>
          <a:ext cx="3942737" cy="3698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737">
                  <a:extLst>
                    <a:ext uri="{9D8B030D-6E8A-4147-A177-3AD203B41FA5}">
                      <a16:colId xmlns:a16="http://schemas.microsoft.com/office/drawing/2014/main" val="9454493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08261961"/>
                    </a:ext>
                  </a:extLst>
                </a:gridCol>
              </a:tblGrid>
              <a:tr h="732175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7 хоног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Талхны борлуулалт</a:t>
                      </a:r>
                      <a:r>
                        <a:rPr lang="en-US" dirty="0"/>
                        <a:t>(</a:t>
                      </a:r>
                      <a:r>
                        <a:rPr lang="mn-MN" dirty="0"/>
                        <a:t>ш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10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32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1950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6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1200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8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1168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62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1190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92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1250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80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1300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88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1355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40401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8321F13-5B37-EE5C-4883-159C7E0EDB66}"/>
              </a:ext>
            </a:extLst>
          </p:cNvPr>
          <p:cNvSpPr txBox="1">
            <a:spLocks/>
          </p:cNvSpPr>
          <p:nvPr/>
        </p:nvSpPr>
        <p:spPr>
          <a:xfrm>
            <a:off x="0" y="244804"/>
            <a:ext cx="12192000" cy="706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mn-MN" sz="2800"/>
              <a:t>Жишээ бодлого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245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9AA09D-1772-9731-9635-DA86F61DF19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00432" y="851822"/>
                <a:ext cx="10515600" cy="13255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mn-MN" sz="2000" dirty="0"/>
                  <a:t>Талхны борлуулалтын хандлагын шугаман тэгшитгэлийг судалгаанд хамрагдсан үеийн тоо, түүнд харгалзах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mn-MN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mn-MN" sz="2000" dirty="0"/>
                  <a:t>-ын утгыг ашиглан хэрхэн тодорхойлохыг авч үзье. Үүний тулд 8 долоо хоногийн талхны борлуулалтын мэдээлэл дээр үндэслэн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-</a:t>
                </a:r>
                <a:r>
                  <a:rPr lang="mn-MN" sz="2000" dirty="0"/>
                  <a:t>ийн утгыг тодорхойльё.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9AA09D-1772-9731-9635-DA86F61DF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00432" y="851822"/>
                <a:ext cx="10515600" cy="1325563"/>
              </a:xfrm>
              <a:blipFill>
                <a:blip r:embed="rId2"/>
                <a:stretch>
                  <a:fillRect l="-580" t="-4608" r="-638" b="-18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56B794C-04D7-B068-ED04-3258C7059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660676"/>
                  </p:ext>
                </p:extLst>
              </p:nvPr>
            </p:nvGraphicFramePr>
            <p:xfrm>
              <a:off x="2371213" y="2312492"/>
              <a:ext cx="8127999" cy="41099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058076155"/>
                        </a:ext>
                      </a:extLst>
                    </a:gridCol>
                    <a:gridCol w="3414525">
                      <a:extLst>
                        <a:ext uri="{9D8B030D-6E8A-4147-A177-3AD203B41FA5}">
                          <a16:colId xmlns:a16="http://schemas.microsoft.com/office/drawing/2014/main" val="2093889549"/>
                        </a:ext>
                      </a:extLst>
                    </a:gridCol>
                    <a:gridCol w="2004141">
                      <a:extLst>
                        <a:ext uri="{9D8B030D-6E8A-4147-A177-3AD203B41FA5}">
                          <a16:colId xmlns:a16="http://schemas.microsoft.com/office/drawing/2014/main" val="12225335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7 хоног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mn-MN" dirty="0"/>
                            <a:t>Талхны борлуулалт</a:t>
                          </a:r>
                          <a:r>
                            <a:rPr lang="en-US" dirty="0"/>
                            <a:t>(</a:t>
                          </a:r>
                          <a:r>
                            <a:rPr lang="mn-MN" dirty="0"/>
                            <a:t>ш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9355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9049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1950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2100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9283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1200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3600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6153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1168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976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1190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5950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52076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6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1250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7688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7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1300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9100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1249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8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1355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10840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5337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mn-MN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mn-MN" sz="1800" b="0" i="1" smtClean="0"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9513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44762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01502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456B794C-04D7-B068-ED04-3258C7059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660676"/>
                  </p:ext>
                </p:extLst>
              </p:nvPr>
            </p:nvGraphicFramePr>
            <p:xfrm>
              <a:off x="2371213" y="2312492"/>
              <a:ext cx="8127999" cy="41099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4058076155"/>
                        </a:ext>
                      </a:extLst>
                    </a:gridCol>
                    <a:gridCol w="3414525">
                      <a:extLst>
                        <a:ext uri="{9D8B030D-6E8A-4147-A177-3AD203B41FA5}">
                          <a16:colId xmlns:a16="http://schemas.microsoft.com/office/drawing/2014/main" val="2093889549"/>
                        </a:ext>
                      </a:extLst>
                    </a:gridCol>
                    <a:gridCol w="2004141">
                      <a:extLst>
                        <a:ext uri="{9D8B030D-6E8A-4147-A177-3AD203B41FA5}">
                          <a16:colId xmlns:a16="http://schemas.microsoft.com/office/drawing/2014/main" val="1222533505"/>
                        </a:ext>
                      </a:extLst>
                    </a:gridCol>
                  </a:tblGrid>
                  <a:tr h="387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7 хоног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mn-MN" dirty="0"/>
                            <a:t>Талхны борлуулалт</a:t>
                          </a:r>
                          <a:r>
                            <a:rPr lang="en-US" dirty="0"/>
                            <a:t>(</a:t>
                          </a:r>
                          <a:r>
                            <a:rPr lang="mn-MN" dirty="0"/>
                            <a:t>ш</a:t>
                          </a:r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6079" t="-7813" r="-1216" b="-957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55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9049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1950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2100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9283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1200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3600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36153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1168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3976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1190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5950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652076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6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1250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?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76889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7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1300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9100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51249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8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1355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10840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31533738"/>
                      </a:ext>
                    </a:extLst>
                  </a:tr>
                  <a:tr h="7557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" t="-448387" r="-20089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9513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/>
                            <a:t>44762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01502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61CDDCB-82EE-697A-1FD0-1E39CDEF3AF2}"/>
              </a:ext>
            </a:extLst>
          </p:cNvPr>
          <p:cNvSpPr txBox="1">
            <a:spLocks/>
          </p:cNvSpPr>
          <p:nvPr/>
        </p:nvSpPr>
        <p:spPr>
          <a:xfrm>
            <a:off x="0" y="244804"/>
            <a:ext cx="12192000" cy="7065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mn-MN" sz="2800"/>
              <a:t>Жишээ бодлого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946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86FD1D-F1B2-3FDA-D4EA-7D000FDD8C9E}"/>
                  </a:ext>
                </a:extLst>
              </p:cNvPr>
              <p:cNvSpPr txBox="1"/>
              <p:nvPr/>
            </p:nvSpPr>
            <p:spPr>
              <a:xfrm>
                <a:off x="947509" y="1419286"/>
                <a:ext cx="5305807" cy="921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mn-M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mn-M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86FD1D-F1B2-3FDA-D4EA-7D000FDD8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509" y="1419286"/>
                <a:ext cx="5305807" cy="9212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726D9F-689D-B902-5678-F0983C6226A9}"/>
                  </a:ext>
                </a:extLst>
              </p:cNvPr>
              <p:cNvSpPr txBox="1"/>
              <p:nvPr/>
            </p:nvSpPr>
            <p:spPr>
              <a:xfrm>
                <a:off x="5730902" y="1419286"/>
                <a:ext cx="5305807" cy="8182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8∗44762−36∗9513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8∗204−1296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=46.5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726D9F-689D-B902-5678-F0983C622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902" y="1419286"/>
                <a:ext cx="5305807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470F826-50AC-C716-5B87-56AA660F64BF}"/>
              </a:ext>
            </a:extLst>
          </p:cNvPr>
          <p:cNvSpPr txBox="1"/>
          <p:nvPr/>
        </p:nvSpPr>
        <p:spPr>
          <a:xfrm>
            <a:off x="589935" y="2890684"/>
            <a:ext cx="359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sz="2400" dirty="0"/>
              <a:t>Одоо </a:t>
            </a:r>
            <a:r>
              <a:rPr lang="en-US" sz="2400" dirty="0"/>
              <a:t>a-</a:t>
            </a:r>
            <a:r>
              <a:rPr lang="mn-MN" sz="2400" dirty="0"/>
              <a:t>г ольё.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32F15B-9F93-1697-A945-1A5CC5B1F6FA}"/>
                  </a:ext>
                </a:extLst>
              </p:cNvPr>
              <p:cNvSpPr txBox="1"/>
              <p:nvPr/>
            </p:nvSpPr>
            <p:spPr>
              <a:xfrm>
                <a:off x="1099909" y="3458994"/>
                <a:ext cx="5305807" cy="8329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mn-M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</m:num>
                        <m:den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32F15B-9F93-1697-A945-1A5CC5B1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909" y="3458994"/>
                <a:ext cx="5305807" cy="8329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6F6A4-8F5F-4418-096D-9813B82A68A8}"/>
                  </a:ext>
                </a:extLst>
              </p:cNvPr>
              <p:cNvSpPr txBox="1"/>
              <p:nvPr/>
            </p:nvSpPr>
            <p:spPr>
              <a:xfrm>
                <a:off x="6115664" y="3458994"/>
                <a:ext cx="6357858" cy="7065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28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a</m:t>
                    </m:r>
                    <m:r>
                      <a:rPr lang="pt-BR" sz="32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>
                            <a:latin typeface="Cambria Math" panose="02040503050406030204" pitchFamily="18" charset="0"/>
                          </a:rPr>
                          <m:t>9513−46.5∗120</m:t>
                        </m:r>
                      </m:num>
                      <m:den>
                        <m:r>
                          <a:rPr lang="en-US" sz="320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=262.5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66F6A4-8F5F-4418-096D-9813B82A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64" y="3458994"/>
                <a:ext cx="6357858" cy="706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AC7841-0030-DCB9-2F4F-02F4E6E36B77}"/>
                  </a:ext>
                </a:extLst>
              </p:cNvPr>
              <p:cNvSpPr txBox="1"/>
              <p:nvPr/>
            </p:nvSpPr>
            <p:spPr>
              <a:xfrm>
                <a:off x="589935" y="4573820"/>
                <a:ext cx="108695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mn-MN" sz="2400" dirty="0"/>
                  <a:t>Шугаман тэгшитгэл нь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=262.2+46.5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mn-MN" sz="2400" i="1" dirty="0"/>
                  <a:t> </a:t>
                </a:r>
                <a:r>
                  <a:rPr lang="mn-MN" sz="240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AC7841-0030-DCB9-2F4F-02F4E6E3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5" y="4573820"/>
                <a:ext cx="10869562" cy="461665"/>
              </a:xfrm>
              <a:prstGeom prst="rect">
                <a:avLst/>
              </a:prstGeom>
              <a:blipFill>
                <a:blip r:embed="rId6"/>
                <a:stretch>
                  <a:fillRect l="-89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8F187C-10BC-C30C-C3A5-3FB38BCBBA41}"/>
                  </a:ext>
                </a:extLst>
              </p:cNvPr>
              <p:cNvSpPr txBox="1"/>
              <p:nvPr/>
            </p:nvSpPr>
            <p:spPr>
              <a:xfrm>
                <a:off x="589934" y="5410409"/>
                <a:ext cx="1109298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mn-MN" sz="2400" dirty="0"/>
                  <a:t>Тэгшитгэлд хэтийн төлөвийг тодорхойлох хугацаагаа оруулж 16, 17 дахь үеийн төлөвийг дараах байдлаар тогтооно.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mn-M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mn-M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=262.2+46.5</m:t>
                    </m:r>
                    <m:r>
                      <a:rPr lang="mn-MN" sz="2400" b="0" i="1" smtClean="0">
                        <a:latin typeface="Cambria Math" panose="02040503050406030204" pitchFamily="18" charset="0"/>
                      </a:rPr>
                      <m:t>∗16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=1006.5</m:t>
                    </m:r>
                  </m:oMath>
                </a14:m>
                <a:r>
                  <a:rPr lang="mn-MN" sz="2400" i="1" dirty="0"/>
                  <a:t> </a:t>
                </a:r>
                <a:r>
                  <a:rPr lang="en-US" sz="2400" i="1" dirty="0"/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=262.2+46.5</m:t>
                    </m:r>
                    <m:r>
                      <a:rPr lang="mn-MN" sz="2400" b="0" i="1" smtClean="0">
                        <a:latin typeface="Cambria Math" panose="02040503050406030204" pitchFamily="18" charset="0"/>
                      </a:rPr>
                      <m:t>∗1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7=1053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8F187C-10BC-C30C-C3A5-3FB38BCB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" y="5410409"/>
                <a:ext cx="11092985" cy="1200329"/>
              </a:xfrm>
              <a:prstGeom prst="rect">
                <a:avLst/>
              </a:prstGeom>
              <a:blipFill>
                <a:blip r:embed="rId7"/>
                <a:stretch>
                  <a:fillRect l="-880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02B4B1D9-B2DF-B407-B43C-64998415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804"/>
            <a:ext cx="12192000" cy="706540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mn-MN" sz="2800" dirty="0"/>
              <a:t>Жишээ бодлого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960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C25A-AB48-682C-162F-2EA138F9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9518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mn-MN" sz="2800" b="1" dirty="0"/>
              <a:t>Бие даан бодох бодлого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F963-4BD6-9F46-CC3F-D2A0C321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46"/>
            <a:ext cx="10515600" cy="5140728"/>
          </a:xfrm>
        </p:spPr>
        <p:txBody>
          <a:bodyPr>
            <a:normAutofit fontScale="92500" lnSpcReduction="10000"/>
          </a:bodyPr>
          <a:lstStyle/>
          <a:p>
            <a:r>
              <a:rPr lang="mn-MN" sz="2000" dirty="0"/>
              <a:t>Жимс борлуулдаг жижиг мухлагаар сүүлийн 12 хоногт борлуулсан жимсний хэмжээг хүснэгтээр харуулав. </a:t>
            </a:r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endParaRPr lang="mn-MN" sz="2000" dirty="0"/>
          </a:p>
          <a:p>
            <a:pPr marL="457200" indent="-457200">
              <a:buAutoNum type="arabicPeriod"/>
            </a:pPr>
            <a:r>
              <a:rPr lang="mn-MN" sz="2000" dirty="0"/>
              <a:t>Хоёр үетэй гулгах дундажийн арга ашиглавал 3 дахь өдрөөс эхлэн өдөр тутам хичнээн хэмжээний жимс борлуулах вэ.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mn-MN" sz="2000" dirty="0"/>
              <a:t>Дөрвөн үетэй гулгах дундажийн арга ашиглавал 5 дахь өдрөөс эхлэн өдөр тутам хичнээн хэмжээний жимс борлуулах вэ.</a:t>
            </a:r>
          </a:p>
          <a:p>
            <a:pPr marL="457200" indent="-457200">
              <a:buAutoNum type="arabicPeriod"/>
            </a:pPr>
            <a:endParaRPr lang="mn-MN" sz="2000" dirty="0"/>
          </a:p>
          <a:p>
            <a:endParaRPr 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FF73E1F-B384-BE2B-BB22-51EF2C9B4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2426"/>
              </p:ext>
            </p:extLst>
          </p:nvPr>
        </p:nvGraphicFramePr>
        <p:xfrm>
          <a:off x="2462981" y="1950392"/>
          <a:ext cx="8006737" cy="295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737">
                  <a:extLst>
                    <a:ext uri="{9D8B030D-6E8A-4147-A177-3AD203B41FA5}">
                      <a16:colId xmlns:a16="http://schemas.microsoft.com/office/drawing/2014/main" val="9454493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082619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8968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73613441"/>
                    </a:ext>
                  </a:extLst>
                </a:gridCol>
              </a:tblGrid>
              <a:tr h="732175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Өдөр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Борлуулсан жимс</a:t>
                      </a:r>
                      <a:r>
                        <a:rPr lang="en-US" dirty="0"/>
                        <a:t>(</a:t>
                      </a:r>
                      <a:r>
                        <a:rPr lang="mn-MN" dirty="0"/>
                        <a:t>кг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Өдар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dirty="0"/>
                        <a:t>Борлуулсан жимс</a:t>
                      </a:r>
                      <a:r>
                        <a:rPr lang="en-US" dirty="0"/>
                        <a:t>(</a:t>
                      </a:r>
                      <a:r>
                        <a:rPr lang="mn-MN" dirty="0"/>
                        <a:t>кг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10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32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6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82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62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92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803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80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5BCC6-98A7-6815-B2FD-7982D84CC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09" y="1378153"/>
            <a:ext cx="10515600" cy="4351338"/>
          </a:xfrm>
        </p:spPr>
        <p:txBody>
          <a:bodyPr/>
          <a:lstStyle/>
          <a:p>
            <a:pPr algn="just"/>
            <a:r>
              <a:rPr lang="mn-MN" dirty="0"/>
              <a:t>Компаний төлөвлөлтийн хэлтэс 6 сарын хугацаатай төлөвлөгөө боловсруулах зорилгоор дараах мэдээллийг цуглуулжээ.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36FA1D-9DEF-90DD-B6BE-7EB0ECDA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804"/>
            <a:ext cx="12192000" cy="706540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mn-MN" sz="2800" dirty="0"/>
              <a:t>Жишээ бодлого</a:t>
            </a:r>
            <a:endParaRPr lang="en-US" sz="28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741184-43A5-CCBA-37A5-B0E7AF2E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985553"/>
              </p:ext>
            </p:extLst>
          </p:nvPr>
        </p:nvGraphicFramePr>
        <p:xfrm>
          <a:off x="2221450" y="2452167"/>
          <a:ext cx="7885288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928">
                  <a:extLst>
                    <a:ext uri="{9D8B030D-6E8A-4147-A177-3AD203B41FA5}">
                      <a16:colId xmlns:a16="http://schemas.microsoft.com/office/drawing/2014/main" val="2165853322"/>
                    </a:ext>
                  </a:extLst>
                </a:gridCol>
                <a:gridCol w="680936">
                  <a:extLst>
                    <a:ext uri="{9D8B030D-6E8A-4147-A177-3AD203B41FA5}">
                      <a16:colId xmlns:a16="http://schemas.microsoft.com/office/drawing/2014/main" val="1202811120"/>
                    </a:ext>
                  </a:extLst>
                </a:gridCol>
                <a:gridCol w="690664">
                  <a:extLst>
                    <a:ext uri="{9D8B030D-6E8A-4147-A177-3AD203B41FA5}">
                      <a16:colId xmlns:a16="http://schemas.microsoft.com/office/drawing/2014/main" val="831636877"/>
                    </a:ext>
                  </a:extLst>
                </a:gridCol>
                <a:gridCol w="729575">
                  <a:extLst>
                    <a:ext uri="{9D8B030D-6E8A-4147-A177-3AD203B41FA5}">
                      <a16:colId xmlns:a16="http://schemas.microsoft.com/office/drawing/2014/main" val="2599795902"/>
                    </a:ext>
                  </a:extLst>
                </a:gridCol>
                <a:gridCol w="671208">
                  <a:extLst>
                    <a:ext uri="{9D8B030D-6E8A-4147-A177-3AD203B41FA5}">
                      <a16:colId xmlns:a16="http://schemas.microsoft.com/office/drawing/2014/main" val="3573351681"/>
                    </a:ext>
                  </a:extLst>
                </a:gridCol>
                <a:gridCol w="719847">
                  <a:extLst>
                    <a:ext uri="{9D8B030D-6E8A-4147-A177-3AD203B41FA5}">
                      <a16:colId xmlns:a16="http://schemas.microsoft.com/office/drawing/2014/main" val="478842641"/>
                    </a:ext>
                  </a:extLst>
                </a:gridCol>
                <a:gridCol w="654469">
                  <a:extLst>
                    <a:ext uri="{9D8B030D-6E8A-4147-A177-3AD203B41FA5}">
                      <a16:colId xmlns:a16="http://schemas.microsoft.com/office/drawing/2014/main" val="3397804189"/>
                    </a:ext>
                  </a:extLst>
                </a:gridCol>
                <a:gridCol w="985661">
                  <a:extLst>
                    <a:ext uri="{9D8B030D-6E8A-4147-A177-3AD203B41FA5}">
                      <a16:colId xmlns:a16="http://schemas.microsoft.com/office/drawing/2014/main" val="398754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Хугацаа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dirty="0"/>
                        <a:t>Дүн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72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Төлөвлөсөн эрэлт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300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400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1800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049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n-MN" dirty="0"/>
                        <a:t>Нэгж бүтээгдэхүүнд ногдох зардал</a:t>
                      </a:r>
                    </a:p>
                    <a:p>
                      <a:r>
                        <a:rPr lang="mn-MN" dirty="0"/>
                        <a:t>Үндсэн ажлын цагт</a:t>
                      </a:r>
                    </a:p>
                    <a:p>
                      <a:r>
                        <a:rPr lang="mn-MN" dirty="0"/>
                        <a:t>Илүү цагт</a:t>
                      </a:r>
                    </a:p>
                    <a:p>
                      <a:r>
                        <a:rPr lang="mn-MN" dirty="0"/>
                        <a:t>Гэрээгээр ажил гүйцэтгэхэд</a:t>
                      </a:r>
                    </a:p>
                    <a:p>
                      <a:r>
                        <a:rPr lang="mn-MN" dirty="0"/>
                        <a:t>Нөөцийг хадгалахад</a:t>
                      </a:r>
                    </a:p>
                    <a:p>
                      <a:r>
                        <a:rPr lang="mn-MN" dirty="0"/>
                        <a:t>Захиалгыг тасалдуулахад</a:t>
                      </a:r>
                      <a:endParaRPr lang="en-US" dirty="0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r>
                        <a:rPr lang="mn-MN" dirty="0"/>
                        <a:t> </a:t>
                      </a:r>
                    </a:p>
                    <a:p>
                      <a:r>
                        <a:rPr lang="mn-MN" dirty="0"/>
                        <a:t>Нэгж бүтээгдэхүүнд-2</a:t>
                      </a:r>
                      <a:r>
                        <a:rPr lang="en-US" dirty="0"/>
                        <a:t>$</a:t>
                      </a:r>
                    </a:p>
                    <a:p>
                      <a:r>
                        <a:rPr lang="mn-MN" dirty="0"/>
                        <a:t>Нэгж бүтээгдэхүүнд-</a:t>
                      </a:r>
                      <a:r>
                        <a:rPr lang="en-US" dirty="0"/>
                        <a:t>3$</a:t>
                      </a:r>
                    </a:p>
                    <a:p>
                      <a:r>
                        <a:rPr lang="mn-MN" dirty="0"/>
                        <a:t>Нэгж бүтээгдэхүүнд-</a:t>
                      </a:r>
                      <a:r>
                        <a:rPr lang="en-US" dirty="0"/>
                        <a:t>6$</a:t>
                      </a:r>
                    </a:p>
                    <a:p>
                      <a:r>
                        <a:rPr lang="mn-MN" dirty="0"/>
                        <a:t>Хадгалалтын хугацааны туршид нөөцийн дундаж хэмжээнд 1</a:t>
                      </a:r>
                      <a:r>
                        <a:rPr lang="en-US" dirty="0"/>
                        <a:t>$</a:t>
                      </a:r>
                    </a:p>
                    <a:p>
                      <a:r>
                        <a:rPr lang="mn-MN" dirty="0"/>
                        <a:t>Захиалгаар нийлүүлээгүй нэгж бүтээгдэхүүн тутамд-5</a:t>
                      </a:r>
                      <a:r>
                        <a:rPr lang="en-US" dirty="0"/>
                        <a:t>$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55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213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1FEE-395B-4CB3-89AB-2C0424F5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0BC1-84D2-CBB2-5385-1B87341CF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0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1412</Words>
  <Application>Microsoft Office PowerPoint</Application>
  <PresentationFormat>Widescreen</PresentationFormat>
  <Paragraphs>317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Семинар-3 Үйлдвэрлэлийн төлөвлөлт</vt:lpstr>
      <vt:lpstr>Хичээлийн суралцахуйн үр дүнгүүд  Оюутан энэ сэдвийг судалснаар дараах ур чадваруудтай болсон байна. </vt:lpstr>
      <vt:lpstr>Хичээлийн агуулга </vt:lpstr>
      <vt:lpstr>Төлөвлөгөө зохиох дараалал</vt:lpstr>
      <vt:lpstr>Төлөвлөлтийн үйл явцын үе шат бүр нь тухайн үе шатыг биелүүлэх эсвэл биелүүлэхгүй байх шалгуур үзүүлэлтийг шаарддаг. Эдгээр бүрд нийцэж байгаа эсэхийг үнэлэх параметрүүдтэй байх шаардлагатай.</vt:lpstr>
      <vt:lpstr>Хандлагыг тодорхойлох арга, хандлагын хэлбэрүүд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Хандлагын (прогнозын) алдаа</vt:lpstr>
      <vt:lpstr>Хандлагын (прогнозын) аргын сонголт</vt:lpstr>
      <vt:lpstr>PowerPoint Presentation</vt:lpstr>
      <vt:lpstr>Талхны борлуулалтын хандлагын шугаман тэгшитгэлийг судалгаанд хамрагдсан үеийн тоо, түүнд харгалзах ∑▒t, ∑▒t^2 -ын утгыг ашиглан хэрхэн тодорхойлохыг авч үзье. Үүний тулд 8 долоо хоногийн талхны борлуулалтын мэдээлэл дээр үндэслэн t_y-ийн утгыг тодорхойльё.</vt:lpstr>
      <vt:lpstr>Жишээ бодлого</vt:lpstr>
      <vt:lpstr>Бие даан бодох бодлого</vt:lpstr>
      <vt:lpstr>Жишээ бодлого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Nyamsuren P</dc:creator>
  <cp:lastModifiedBy>Ganaa begzsuren</cp:lastModifiedBy>
  <cp:revision>6</cp:revision>
  <dcterms:created xsi:type="dcterms:W3CDTF">2023-09-10T13:49:10Z</dcterms:created>
  <dcterms:modified xsi:type="dcterms:W3CDTF">2025-03-19T13:51:34Z</dcterms:modified>
</cp:coreProperties>
</file>